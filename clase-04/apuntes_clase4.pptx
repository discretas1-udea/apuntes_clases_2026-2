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3" r:id="rId5"/>
    <p:sldId id="294" r:id="rId6"/>
    <p:sldId id="274" r:id="rId7"/>
    <p:sldId id="295" r:id="rId8"/>
    <p:sldId id="296" r:id="rId9"/>
    <p:sldId id="297" r:id="rId10"/>
    <p:sldId id="298" r:id="rId11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6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42770-6FBD-4BB4-A2B9-23B83B79FB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90A678D-ACF8-42CB-B602-771D3671A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CA27A23-4A75-4158-B3E1-3279D54A9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5C36C1-26A3-49BE-A8A8-656951FEA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C69EE2A-0423-43AD-9F4C-5952D9F2F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449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5926FE-A781-4BB8-B275-F95FB8E13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AD71A97-A3C2-4295-8826-D28A126AD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006F645-AB27-4911-BCC9-574BF3670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A8FE45-F388-46E1-847F-D74F2CDFD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E19B6D-4D65-4A9C-873F-E7FFC1C65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24382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6E4C1-EE2C-4DF3-B95E-10353CE8F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936596D-34C7-480C-B7C7-AE611D66A8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FF39E0B-86F6-4DD6-8E06-F04AB91D8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028C16-2CC1-490E-9309-92C8F9A0B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EC182E-E5DD-4074-AA33-D149FC815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12443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6F4A12-1EEC-4400-93DE-671E040EA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44AD98-7D87-40F1-9981-C755DC42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43F4873-7AED-4F9D-9103-5818CC36D2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FEDBBA8-578A-446A-800E-01BDB42C0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82B379-A5D7-4342-86D7-62F9B931F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451239-35D4-4220-9B22-7EE6E22E4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04234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7EBB5A-6224-4348-9B94-4161FF843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CF24BE-9C24-4CA6-8A5C-36DBE9285B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ADEFA7D-A451-44F4-B5C6-2ACBE2F84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EB200E4-6816-4997-87AF-39943A0870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501A54D-0CA9-4172-B839-F19F04CFF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98EF700-2071-4D13-B6EE-34550DBEF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3078420-F81E-408E-A9AB-0F92562DA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306ED8-BF80-4607-B42A-65A6846C6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41987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C3652-A105-4D57-9F69-2D3E81B53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F5AD369-43CB-4B39-8D56-C54136FF9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1DF48D6-33A3-43B8-9361-244B90D5F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7288C44-51DA-4E62-85C0-E253415A6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228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7FBCCC-D27A-4A96-85AB-1BAF64934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1C6C721-C0F1-483D-97A4-E08FDBE34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2EA1B9F-FE52-448D-B841-4A00EEA73E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0978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A02A91-1D28-42A9-B21E-EFA7DDA2B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294BA1-5B56-44D0-B843-FE7B2B25A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F0E838D-4388-42AC-AC13-A32F7F7E4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099FCE-0501-4EC2-A21B-EDDDE2E64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EAC3F1-97ED-4708-B0C0-2A867F739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388FABF-430B-4BBC-AAF0-0C3836E0A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269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943730-08F4-474D-BF3B-2673A2E08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31ADB43-4142-4E41-9C02-2EC1C4EE5F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D40C94E-B1B0-42F9-8668-259526B6FF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67A2EA-ED3A-479F-B942-4062C6647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C577A8-F277-4E96-AC0F-E0581A09E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59C557-34C4-49D7-B43D-1D70DA147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11898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59DA3E-683D-49C3-B835-5DA47B06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82A7221-F084-498B-A2A3-827959A70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5E26429-F5E6-4B51-8B8E-E05BD7856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10D87B-E1BE-4DE4-9F60-CD7364B2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6E0DB5-B959-49A6-9256-FDCF4D4DF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50115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088A24B-644E-406E-86FA-07F4B0DB5A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082AB56-3945-4933-BAEA-72759D3625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F9CA228-69BD-4106-8570-761E9E57B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BA0E29-7829-410A-9C8D-1D51D1C56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341274-8A44-49CB-A1AD-9434CB354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71293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15368ED-5B28-4202-9E33-32EC05B8A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2C0C07D-486C-406F-ABEB-E3692C2CE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61E458E-9971-4F89-8F75-BCD52B5927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E4E5A-E75E-4899-90F5-DDB39F3E781F}" type="datetimeFigureOut">
              <a:rPr lang="es-CO" smtClean="0"/>
              <a:t>13/08/2026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13CD78-927C-4944-A41E-D7C93DAE7B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B0AC53E-55C5-4980-8039-C8B4C48B2B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E450EB-BA4E-4FAC-BF54-AABC0C89B02E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91097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iscretas1-udea.github.io/discretas1-udea-20262/lessons/mod1/clase2/" TargetMode="External"/><Relationship Id="rId2" Type="http://schemas.openxmlformats.org/officeDocument/2006/relationships/hyperlink" Target="https://discretas1-udea.github.io/discretas1-udea-20262/assets/slides/clase2.pdf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51E613-42B3-43C2-8E09-AFBF8FB95B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O" b="1" dirty="0"/>
              <a:t>Matemáticas Discretas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EE98DC3-5DEF-4734-A422-0A017D4D35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CO" sz="4000" b="1" dirty="0"/>
              <a:t>Clase 04 – Tablas de verdad</a:t>
            </a:r>
          </a:p>
          <a:p>
            <a:r>
              <a:rPr lang="es-CO" dirty="0"/>
              <a:t>Universidad de Antioquia</a:t>
            </a:r>
          </a:p>
          <a:p>
            <a:r>
              <a:rPr lang="es-CO" dirty="0"/>
              <a:t>Facultad de Ingeniería</a:t>
            </a:r>
          </a:p>
          <a:p>
            <a:r>
              <a:rPr lang="es-CO" dirty="0"/>
              <a:t>Ingeniería de Sistemas</a:t>
            </a:r>
          </a:p>
        </p:txBody>
      </p:sp>
    </p:spTree>
    <p:extLst>
      <p:ext uri="{BB962C8B-B14F-4D97-AF65-F5344CB8AC3E}">
        <p14:creationId xmlns:p14="http://schemas.microsoft.com/office/powerpoint/2010/main" val="2704810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Recursos de esta clase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CO" sz="2400" b="1" dirty="0"/>
              <a:t>Pagina web</a:t>
            </a:r>
            <a:r>
              <a:rPr lang="es-CO" sz="2400" dirty="0"/>
              <a:t>: </a:t>
            </a:r>
            <a:r>
              <a:rPr lang="es-CO" sz="2400" dirty="0">
                <a:hlinkClick r:id="rId2"/>
              </a:rPr>
              <a:t>https://discretas1-udea.github.io/discretas1-udea-20262/assets/slides/clase2.pdf</a:t>
            </a:r>
            <a:r>
              <a:rPr lang="es-CO" sz="2400" dirty="0"/>
              <a:t> </a:t>
            </a:r>
          </a:p>
          <a:p>
            <a:pPr lvl="1"/>
            <a:r>
              <a:rPr lang="es-CO" sz="2000" b="1" dirty="0"/>
              <a:t>Clase 2</a:t>
            </a:r>
            <a:r>
              <a:rPr lang="es-CO" sz="2000" dirty="0"/>
              <a:t>: </a:t>
            </a:r>
            <a:r>
              <a:rPr lang="es-CO" sz="2000" dirty="0">
                <a:hlinkClick r:id="rId3"/>
              </a:rPr>
              <a:t>https://discretas1-udea.github.io/discretas1-udea-20262/lessons/mod1/clase2/</a:t>
            </a:r>
            <a:endParaRPr lang="es-CO" sz="2000" dirty="0"/>
          </a:p>
          <a:p>
            <a:r>
              <a:rPr lang="es-CO" sz="2400" b="1" dirty="0"/>
              <a:t>Diapositivas</a:t>
            </a:r>
            <a:r>
              <a:rPr lang="es-CO" sz="2400" dirty="0"/>
              <a:t>: </a:t>
            </a:r>
            <a:r>
              <a:rPr lang="es-CO" sz="2400" dirty="0">
                <a:hlinkClick r:id="rId2"/>
              </a:rPr>
              <a:t>https://discretas1-udea.github.io/discretas1-udea-20262/assets/slides/clase2.pdf</a:t>
            </a:r>
            <a:r>
              <a:rPr lang="es-CO" sz="2400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47699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6970"/>
            <a:ext cx="10515600" cy="4351338"/>
          </a:xfrm>
        </p:spPr>
        <p:txBody>
          <a:bodyPr/>
          <a:lstStyle/>
          <a:p>
            <a:r>
              <a:rPr lang="es-CO" dirty="0"/>
              <a:t>Tablas de verdad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96937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1375234"/>
            <a:ext cx="11471563" cy="17420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b="1" dirty="0"/>
              <a:t>Definición</a:t>
            </a:r>
          </a:p>
          <a:p>
            <a:r>
              <a:rPr lang="es-MX" sz="2000" dirty="0">
                <a:solidFill>
                  <a:srgbClr val="131314"/>
                </a:solidFill>
              </a:rPr>
              <a:t>Herramienta tabular empleada para analizar todos los posibles valores de verdad de la expresión que evalúa.</a:t>
            </a:r>
          </a:p>
          <a:p>
            <a:r>
              <a:rPr lang="es-MX" sz="2000" b="0" i="0" dirty="0">
                <a:solidFill>
                  <a:srgbClr val="131314"/>
                </a:solidFill>
                <a:effectLst/>
              </a:rPr>
              <a:t>Alternativa a la evaluación de expresiones lógicas que facilita la tarea de evaluar.</a:t>
            </a:r>
          </a:p>
          <a:p>
            <a:pPr lvl="1"/>
            <a:endParaRPr lang="es-MX" sz="1600" b="0" i="0" dirty="0">
              <a:solidFill>
                <a:srgbClr val="131314"/>
              </a:solidFill>
              <a:effectLst/>
              <a:latin typeface="Google Sans Text"/>
            </a:endParaRPr>
          </a:p>
          <a:p>
            <a:pPr marL="0" indent="0">
              <a:buNone/>
            </a:pPr>
            <a:endParaRPr lang="es-MX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0F501037-3838-4096-B05E-78C31FBAAC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3097949"/>
                  </p:ext>
                </p:extLst>
              </p:nvPr>
            </p:nvGraphicFramePr>
            <p:xfrm>
              <a:off x="1910583" y="3937576"/>
              <a:ext cx="1135628" cy="128016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7814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67814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525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5252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5252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0F501037-3838-4096-B05E-78C31FBAAC9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33097949"/>
                  </p:ext>
                </p:extLst>
              </p:nvPr>
            </p:nvGraphicFramePr>
            <p:xfrm>
              <a:off x="1910583" y="3937576"/>
              <a:ext cx="1135628" cy="128016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67814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67814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52522">
                    <a:tc>
                      <a:txBody>
                        <a:bodyPr/>
                        <a:lstStyle/>
                        <a:p>
                          <a:pPr algn="ctr"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5252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52522">
                    <a:tc>
                      <a:txBody>
                        <a:bodyPr/>
                        <a:lstStyle/>
                        <a:p>
                          <a:pPr algn="ctr"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0FB34195-E2AA-4909-A49F-F91AAE1BF0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911169"/>
                  </p:ext>
                </p:extLst>
              </p:nvPr>
            </p:nvGraphicFramePr>
            <p:xfrm>
              <a:off x="4055592" y="3510856"/>
              <a:ext cx="6261577" cy="21336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44786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544786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0FB34195-E2AA-4909-A49F-F91AAE1BF0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911169"/>
                  </p:ext>
                </p:extLst>
              </p:nvPr>
            </p:nvGraphicFramePr>
            <p:xfrm>
              <a:off x="4055592" y="3510856"/>
              <a:ext cx="6261577" cy="21336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44786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544786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1034401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22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22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34807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 xmlns:a14="http://schemas.microsoft.com/office/drawing/2010/main"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22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22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817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611C1C-AB20-4127-87E3-88401D850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218" y="1375235"/>
            <a:ext cx="11471563" cy="30720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b="1" dirty="0"/>
              <a:t>Pasos</a:t>
            </a:r>
            <a:r>
              <a:rPr lang="es-MX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>
                <a:solidFill>
                  <a:srgbClr val="131314"/>
                </a:solidFill>
              </a:rPr>
              <a:t>Identificar las variables proposicionales.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>
                <a:solidFill>
                  <a:srgbClr val="131314"/>
                </a:solidFill>
              </a:rPr>
              <a:t>Determinar el número de filas necesarias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Construir las columnas de las variables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Agregar columnas auxiliares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Evaluar la expresión lógica paso a paso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b="0" i="0" dirty="0">
                <a:solidFill>
                  <a:srgbClr val="131314"/>
                </a:solidFill>
                <a:effectLst/>
              </a:rPr>
              <a:t>Revisar y validar la tabla</a:t>
            </a:r>
          </a:p>
          <a:p>
            <a:pPr marL="0" indent="0">
              <a:buNone/>
            </a:pPr>
            <a:endParaRPr lang="es-MX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B30BA250-E803-4847-BACF-C2EA1E6FD9D4}"/>
              </a:ext>
            </a:extLst>
          </p:cNvPr>
          <p:cNvSpPr txBox="1"/>
          <p:nvPr/>
        </p:nvSpPr>
        <p:spPr>
          <a:xfrm>
            <a:off x="692726" y="4987636"/>
            <a:ext cx="10661073" cy="646331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s-CO" b="1" dirty="0"/>
              <a:t>Convención</a:t>
            </a:r>
            <a:r>
              <a:rPr lang="es-CO" dirty="0"/>
              <a:t>: Para este curso, en las tablas de verdad, vamos a utilizar la notación binaria en ingeniería, es decir 1 para Verdadero y 0 para falso.</a:t>
            </a:r>
          </a:p>
        </p:txBody>
      </p:sp>
    </p:spTree>
    <p:extLst>
      <p:ext uri="{BB962C8B-B14F-4D97-AF65-F5344CB8AC3E}">
        <p14:creationId xmlns:p14="http://schemas.microsoft.com/office/powerpoint/2010/main" val="738706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4"/>
                <a:ext cx="11471563" cy="2448621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s-MX" b="1" i="0" dirty="0">
                    <a:effectLst/>
                    <a:latin typeface="system-ui"/>
                  </a:rPr>
                  <a:t>Ejemplos</a:t>
                </a:r>
                <a:endParaRPr lang="es-MX" sz="2000" b="1" i="0" dirty="0">
                  <a:effectLst/>
                  <a:latin typeface="system-ui"/>
                </a:endParaRPr>
              </a:p>
              <a:p>
                <a:pPr marL="0" indent="0">
                  <a:buNone/>
                </a:pPr>
                <a:r>
                  <a:rPr lang="es-MX" sz="2200" b="0" i="0" dirty="0">
                    <a:solidFill>
                      <a:schemeClr val="tx1"/>
                    </a:solidFill>
                    <a:effectLst/>
                    <a:latin typeface="system-ui"/>
                  </a:rPr>
                  <a:t>Obtenga la tabla de verdad asociada a cada una de las siguientes expresiones compuestas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200" b="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s-MX" sz="2200" b="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lang="es-MX" sz="2200" b="0" i="1" dirty="0">
                  <a:solidFill>
                    <a:schemeClr val="tx1"/>
                  </a:solidFill>
                  <a:effectLst/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¬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∨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es-MX" sz="2200" b="0" i="0" dirty="0">
                  <a:solidFill>
                    <a:schemeClr val="tx1"/>
                  </a:solidFill>
                  <a:effectLst/>
                  <a:latin typeface="Google Sans Text"/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s-MX" sz="22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2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s-MX" sz="22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s-MX" sz="22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</m:t>
                            </m:r>
                          </m:e>
                        </m:d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∧¬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→¬</m:t>
                    </m:r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lang="es-MX" sz="2200" b="0" i="0" dirty="0">
                  <a:solidFill>
                    <a:schemeClr val="tx1"/>
                  </a:solidFill>
                  <a:effectLst/>
                  <a:latin typeface="Google Sans Text"/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→¬</m:t>
                    </m:r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es-MX" sz="2200" b="0" i="0" dirty="0">
                  <a:solidFill>
                    <a:schemeClr val="tx1"/>
                  </a:solidFill>
                  <a:effectLst/>
                  <a:latin typeface="Google Sans Text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  <a:latin typeface="Google Sans Text"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4"/>
                <a:ext cx="11471563" cy="2448621"/>
              </a:xfrm>
              <a:blipFill>
                <a:blip r:embed="rId2"/>
                <a:stretch>
                  <a:fillRect l="-956" t="-523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975835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9" y="1375235"/>
                <a:ext cx="4665840" cy="4951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200" b="1" i="0" dirty="0">
                    <a:solidFill>
                      <a:schemeClr val="tx1"/>
                    </a:solidFill>
                    <a:effectLst/>
                  </a:rPr>
                  <a:t>Ejemplo 1</a:t>
                </a:r>
                <a:r>
                  <a:rPr lang="es-MX" sz="2200" b="0" i="0" dirty="0">
                    <a:solidFill>
                      <a:schemeClr val="tx1"/>
                    </a:solidFill>
                    <a:effectLst/>
                  </a:rPr>
                  <a:t>: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s-MX" sz="2200" b="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ea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es-MX" sz="2200" b="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ea typeface="Cambria Math" panose="02040503050406030204" pitchFamily="18" charset="0"/>
                      </a:rPr>
                      <m:t>¬</m:t>
                    </m:r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lang="es-MX" sz="2200" b="0" i="1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9" y="1375235"/>
                <a:ext cx="4665840" cy="495130"/>
              </a:xfrm>
              <a:blipFill>
                <a:blip r:embed="rId2"/>
                <a:stretch>
                  <a:fillRect l="-1699" t="-14815" b="-4938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C6548937-4656-4A2E-93D4-ABDA4DC30E3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3515589"/>
                  </p:ext>
                </p:extLst>
              </p:nvPr>
            </p:nvGraphicFramePr>
            <p:xfrm>
              <a:off x="5661379" y="870034"/>
              <a:ext cx="1026582" cy="914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1329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1329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C6548937-4656-4A2E-93D4-ABDA4DC30E3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23515589"/>
                  </p:ext>
                </p:extLst>
              </p:nvPr>
            </p:nvGraphicFramePr>
            <p:xfrm>
              <a:off x="5661379" y="870034"/>
              <a:ext cx="1026582" cy="914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1329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1329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2000" r="-10235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2000" r="-235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100000" r="-102353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100000" r="-2353" b="-10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204000" r="-102353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204000" r="-2353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8D8A3770-30E9-4EC0-8EDA-4B70FB28D2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0465405"/>
                  </p:ext>
                </p:extLst>
              </p:nvPr>
            </p:nvGraphicFramePr>
            <p:xfrm>
              <a:off x="7165943" y="565234"/>
              <a:ext cx="4187856" cy="15240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64363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364363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8D8A3770-30E9-4EC0-8EDA-4B70FB28D25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0465405"/>
                  </p:ext>
                </p:extLst>
              </p:nvPr>
            </p:nvGraphicFramePr>
            <p:xfrm>
              <a:off x="7165943" y="565234"/>
              <a:ext cx="4187856" cy="15240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64363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364363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2000" r="-1050000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2000" r="-950000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2000" r="-404425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2000" r="-300877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2000" r="-200877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2000" r="-102655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2000" r="-1754" b="-4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102000" r="-1050000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102000" r="-950000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102000" r="-404425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102000" r="-300877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102000" r="-200877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102000" r="-102655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102000" r="-1754" b="-3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198039" r="-105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198039" r="-95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198039" r="-4044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198039" r="-30087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198039" r="-20087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198039" r="-10265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198039" r="-1754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304000" r="-1050000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304000" r="-950000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304000" r="-404425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304000" r="-300877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304000" r="-200877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304000" r="-102655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304000" r="-1754" b="-1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404000" r="-1050000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404000" r="-950000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404000" r="-404425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404000" r="-30087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404000" r="-20087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404000" r="-102655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404000" r="-1754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37695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5"/>
                <a:ext cx="4823179" cy="4092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200" b="1" i="0" dirty="0">
                    <a:solidFill>
                      <a:schemeClr val="tx1"/>
                    </a:solidFill>
                    <a:effectLst/>
                  </a:rPr>
                  <a:t>Ejemplo 2</a:t>
                </a:r>
                <a:r>
                  <a:rPr lang="es-MX" sz="2200" b="0" i="0" dirty="0">
                    <a:solidFill>
                      <a:schemeClr val="tx1"/>
                    </a:solidFill>
                    <a:effectLst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s-MX" sz="2200" b="0" i="1" smtClean="0">
                        <a:solidFill>
                          <a:schemeClr val="tx1"/>
                        </a:solidFill>
                        <a:effectLst/>
                        <a:ea typeface="Cambria Math" panose="02040503050406030204" pitchFamily="18" charset="0"/>
                      </a:rPr>
                      <m:t>→</m:t>
                    </m:r>
                    <m:d>
                      <m:dPr>
                        <m:ctrlP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  <m:t>¬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  <m:t>𝑃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  <m:t> ∨</m:t>
                        </m:r>
                        <m:r>
                          <a:rPr lang="es-MX" sz="2200" b="0" i="1" smtClean="0">
                            <a:solidFill>
                              <a:schemeClr val="tx1"/>
                            </a:solidFill>
                            <a:effectLst/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</m:oMath>
                </a14:m>
                <a:endParaRPr lang="es-MX" sz="2200" b="0" i="0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5"/>
                <a:ext cx="4823179" cy="409200"/>
              </a:xfrm>
              <a:blipFill>
                <a:blip r:embed="rId2"/>
                <a:stretch>
                  <a:fillRect l="-1643" t="-17910" b="-2686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4955B8EF-246E-4EB1-833C-26E062961D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422408"/>
                  </p:ext>
                </p:extLst>
              </p:nvPr>
            </p:nvGraphicFramePr>
            <p:xfrm>
              <a:off x="5661379" y="870034"/>
              <a:ext cx="1026582" cy="914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1329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1329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4955B8EF-246E-4EB1-833C-26E062961D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422408"/>
                  </p:ext>
                </p:extLst>
              </p:nvPr>
            </p:nvGraphicFramePr>
            <p:xfrm>
              <a:off x="5661379" y="870034"/>
              <a:ext cx="1026582" cy="914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1329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1329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2000" r="-10235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2000" r="-235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100000" r="-102353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100000" r="-2353" b="-10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204000" r="-102353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204000" r="-2353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64BB9D4A-2DCC-4855-85C2-661EB041B1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921908"/>
                  </p:ext>
                </p:extLst>
              </p:nvPr>
            </p:nvGraphicFramePr>
            <p:xfrm>
              <a:off x="7165943" y="565234"/>
              <a:ext cx="4187856" cy="15240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64363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364363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64BB9D4A-2DCC-4855-85C2-661EB041B13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921908"/>
                  </p:ext>
                </p:extLst>
              </p:nvPr>
            </p:nvGraphicFramePr>
            <p:xfrm>
              <a:off x="7165943" y="565234"/>
              <a:ext cx="4187856" cy="15240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64363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364363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2000" r="-1050000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2000" r="-950000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2000" r="-404425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2000" r="-300877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2000" r="-200877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2000" r="-102655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2000" r="-1754" b="-4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102000" r="-1050000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102000" r="-950000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102000" r="-404425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102000" r="-300877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102000" r="-200877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102000" r="-102655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102000" r="-1754" b="-3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198039" r="-105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198039" r="-95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198039" r="-4044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198039" r="-30087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198039" r="-20087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198039" r="-10265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198039" r="-1754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304000" r="-1050000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304000" r="-950000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304000" r="-404425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304000" r="-300877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304000" r="-200877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304000" r="-102655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304000" r="-1754" b="-1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404000" r="-1050000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404000" r="-950000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404000" r="-404425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404000" r="-30087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404000" r="-20087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404000" r="-102655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404000" r="-1754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52652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3AF66F-7D38-4DEC-A157-5A496140F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26580"/>
            <a:ext cx="10515600" cy="1325563"/>
          </a:xfrm>
        </p:spPr>
        <p:txBody>
          <a:bodyPr/>
          <a:lstStyle/>
          <a:p>
            <a:r>
              <a:rPr lang="es-CO" dirty="0"/>
              <a:t>Tablas de verdad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0218" y="1375234"/>
                <a:ext cx="4987637" cy="43971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s-MX" sz="2000" b="1" i="0" dirty="0">
                    <a:solidFill>
                      <a:schemeClr val="tx1"/>
                    </a:solidFill>
                    <a:effectLst/>
                  </a:rPr>
                  <a:t>Ejemplo 3</a:t>
                </a:r>
                <a:r>
                  <a:rPr lang="es-MX" sz="2000" b="0" i="0" dirty="0">
                    <a:solidFill>
                      <a:schemeClr val="tx1"/>
                    </a:solidFill>
                    <a:effectLst/>
                  </a:rPr>
                  <a:t>: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MX" sz="2000" i="1">
                            <a:solidFill>
                              <a:schemeClr val="tx1"/>
                            </a:solidFill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s-MX" sz="2000" i="1">
                                <a:solidFill>
                                  <a:schemeClr val="tx1"/>
                                </a:solidFill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sz="2000" i="1">
                                <a:solidFill>
                                  <a:schemeClr val="tx1"/>
                                </a:solidFill>
                                <a:ea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s-MX" sz="2000" i="1">
                                <a:solidFill>
                                  <a:schemeClr val="tx1"/>
                                </a:solidFill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es-MX" sz="2000" i="1">
                                <a:solidFill>
                                  <a:schemeClr val="tx1"/>
                                </a:solidFill>
                                <a:ea typeface="Cambria Math" panose="02040503050406030204" pitchFamily="18" charset="0"/>
                              </a:rPr>
                              <m:t>𝑄</m:t>
                            </m:r>
                          </m:e>
                        </m:d>
                        <m:r>
                          <a:rPr lang="es-MX" sz="2000" i="1">
                            <a:solidFill>
                              <a:schemeClr val="tx1"/>
                            </a:solidFill>
                            <a:ea typeface="Cambria Math" panose="02040503050406030204" pitchFamily="18" charset="0"/>
                          </a:rPr>
                          <m:t>∧¬</m:t>
                        </m:r>
                        <m:r>
                          <a:rPr lang="es-MX" sz="2000" i="1">
                            <a:solidFill>
                              <a:schemeClr val="tx1"/>
                            </a:solidFill>
                            <a:ea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s-MX" sz="2000" i="1">
                        <a:solidFill>
                          <a:schemeClr val="tx1"/>
                        </a:solidFill>
                        <a:ea typeface="Cambria Math" panose="02040503050406030204" pitchFamily="18" charset="0"/>
                      </a:rPr>
                      <m:t>→¬</m:t>
                    </m:r>
                    <m:r>
                      <a:rPr lang="es-MX" sz="2000" i="1">
                        <a:solidFill>
                          <a:schemeClr val="tx1"/>
                        </a:solidFill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endParaRPr lang="es-MX" sz="2000" dirty="0">
                  <a:solidFill>
                    <a:schemeClr val="tx1"/>
                  </a:solidFill>
                  <a:ea typeface="Cambria Math" panose="02040503050406030204" pitchFamily="18" charset="0"/>
                </a:endParaRPr>
              </a:p>
              <a:p>
                <a:pPr lvl="1"/>
                <a:endParaRPr lang="es-MX" sz="1600" b="0" i="0" dirty="0">
                  <a:solidFill>
                    <a:srgbClr val="131314"/>
                  </a:solidFill>
                  <a:effectLst/>
                </a:endParaRPr>
              </a:p>
              <a:p>
                <a:pPr marL="0" indent="0">
                  <a:buNone/>
                </a:pPr>
                <a:endParaRPr lang="es-MX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8C611C1C-AB20-4127-87E3-88401D850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0218" y="1375234"/>
                <a:ext cx="4987637" cy="439711"/>
              </a:xfrm>
              <a:blipFill>
                <a:blip r:embed="rId2"/>
                <a:stretch>
                  <a:fillRect l="-1222" t="-15278" b="-833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5F1F62C6-03E8-42AE-ADC4-A73492CAA5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422408"/>
                  </p:ext>
                </p:extLst>
              </p:nvPr>
            </p:nvGraphicFramePr>
            <p:xfrm>
              <a:off x="5661379" y="870034"/>
              <a:ext cx="1026582" cy="914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1329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1329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27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¬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270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2700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a 4">
                <a:extLst>
                  <a:ext uri="{FF2B5EF4-FFF2-40B4-BE49-F238E27FC236}">
                    <a16:creationId xmlns:a16="http://schemas.microsoft.com/office/drawing/2014/main" id="{5F1F62C6-03E8-42AE-ADC4-A73492CAA5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76422408"/>
                  </p:ext>
                </p:extLst>
              </p:nvPr>
            </p:nvGraphicFramePr>
            <p:xfrm>
              <a:off x="5661379" y="870034"/>
              <a:ext cx="1026582" cy="9144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513291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513291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2000" r="-10235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2000" r="-235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100000" r="-102353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100000" r="-2353" b="-10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176" t="-204000" r="-102353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3"/>
                          <a:stretch>
                            <a:fillRect l="-101176" t="-204000" r="-2353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E21BE931-B33C-4DFA-8494-AFEF403CB09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921908"/>
                  </p:ext>
                </p:extLst>
              </p:nvPr>
            </p:nvGraphicFramePr>
            <p:xfrm>
              <a:off x="7165943" y="565234"/>
              <a:ext cx="4187856" cy="15240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64363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364363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𝒑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↔</m:t>
                                </m:r>
                                <m:r>
                                  <a:rPr lang="es-MX" sz="1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𝒒</m:t>
                                </m:r>
                              </m:oMath>
                            </m:oMathPara>
                          </a14:m>
                          <a:endParaRPr lang="es-CO" sz="1400" b="1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16440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400" b="0" i="1" smtClean="0">
                                    <a:latin typeface="Cambria Math" panose="02040503050406030204" pitchFamily="18" charset="0"/>
                                    <a:ea typeface="Roboto" panose="02000000000000000000" pitchFamily="2" charset="0"/>
                                  </a:rPr>
                                  <m:t>𝑉</m:t>
                                </m:r>
                              </m:oMath>
                            </m:oMathPara>
                          </a14:m>
                          <a:endParaRPr lang="es-CO" sz="1400" dirty="0">
                            <a:latin typeface="Roboto" panose="02000000000000000000" pitchFamily="2" charset="0"/>
                            <a:ea typeface="Roboto" panose="02000000000000000000" pitchFamily="2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a 4">
                <a:extLst>
                  <a:ext uri="{FF2B5EF4-FFF2-40B4-BE49-F238E27FC236}">
                    <a16:creationId xmlns:a16="http://schemas.microsoft.com/office/drawing/2014/main" id="{E21BE931-B33C-4DFA-8494-AFEF403CB09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8921908"/>
                  </p:ext>
                </p:extLst>
              </p:nvPr>
            </p:nvGraphicFramePr>
            <p:xfrm>
              <a:off x="7165943" y="565234"/>
              <a:ext cx="4187856" cy="152400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64363">
                      <a:extLst>
                        <a:ext uri="{9D8B030D-6E8A-4147-A177-3AD203B41FA5}">
                          <a16:colId xmlns:a16="http://schemas.microsoft.com/office/drawing/2014/main" val="776375974"/>
                        </a:ext>
                      </a:extLst>
                    </a:gridCol>
                    <a:gridCol w="364363">
                      <a:extLst>
                        <a:ext uri="{9D8B030D-6E8A-4147-A177-3AD203B41FA5}">
                          <a16:colId xmlns:a16="http://schemas.microsoft.com/office/drawing/2014/main" val="384604534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7986929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3347906918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91247465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4025530010"/>
                        </a:ext>
                      </a:extLst>
                    </a:gridCol>
                    <a:gridCol w="691826">
                      <a:extLst>
                        <a:ext uri="{9D8B030D-6E8A-4147-A177-3AD203B41FA5}">
                          <a16:colId xmlns:a16="http://schemas.microsoft.com/office/drawing/2014/main" val="2172254775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2000" r="-1050000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2000" r="-950000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2000" r="-404425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2000" r="-300877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2000" r="-200877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2000" r="-102655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2000" r="-1754" b="-4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367029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102000" r="-1050000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102000" r="-950000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102000" r="-404425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102000" r="-300877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102000" r="-200877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102000" r="-102655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102000" r="-1754" b="-3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055492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198039" r="-105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198039" r="-950000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198039" r="-40442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198039" r="-30087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198039" r="-200877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198039" r="-10265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198039" r="-1754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312700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304000" r="-1050000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304000" r="-950000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304000" r="-404425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304000" r="-300877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304000" r="-200877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304000" r="-102655" b="-10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304000" r="-1754" b="-10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486810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667" t="-404000" r="-1050000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1667" t="-404000" r="-950000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107080" t="-404000" r="-404425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205263" t="-404000" r="-30087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305263" t="-404000" r="-200877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408850" t="-404000" r="-102655" b="-4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4"/>
                          <a:stretch>
                            <a:fillRect l="-504386" t="-404000" r="-1754" b="-4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91364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1186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 descr="Descargar fondos de Looneytunes, Eso Es Todo Amigos. | Wallpapers.com">
            <a:extLst>
              <a:ext uri="{FF2B5EF4-FFF2-40B4-BE49-F238E27FC236}">
                <a16:creationId xmlns:a16="http://schemas.microsoft.com/office/drawing/2014/main" id="{80E56D42-6B08-45CB-A8AD-5B69CC1FD1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9189" y="1300595"/>
            <a:ext cx="8043676" cy="4504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74094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458</Words>
  <Application>Microsoft Office PowerPoint</Application>
  <PresentationFormat>Panorámica</PresentationFormat>
  <Paragraphs>201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Google Sans Text</vt:lpstr>
      <vt:lpstr>Roboto</vt:lpstr>
      <vt:lpstr>system-ui</vt:lpstr>
      <vt:lpstr>Tema de Office</vt:lpstr>
      <vt:lpstr>Matemáticas Discretas 1</vt:lpstr>
      <vt:lpstr>Recursos de esta clase</vt:lpstr>
      <vt:lpstr>Agenda</vt:lpstr>
      <vt:lpstr>Tablas de verdad</vt:lpstr>
      <vt:lpstr>Tablas de verdad</vt:lpstr>
      <vt:lpstr>Tablas de verdad</vt:lpstr>
      <vt:lpstr>Tablas de verdad</vt:lpstr>
      <vt:lpstr>Tablas de verdad</vt:lpstr>
      <vt:lpstr>Tablas de verdad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Matemáticas Discretas 1</dc:title>
  <dc:creator>Henry Arcila</dc:creator>
  <cp:lastModifiedBy>HENRY ALBERTO ARCILA RAMIREZ</cp:lastModifiedBy>
  <cp:revision>5</cp:revision>
  <dcterms:created xsi:type="dcterms:W3CDTF">2026-02-16T23:39:43Z</dcterms:created>
  <dcterms:modified xsi:type="dcterms:W3CDTF">2026-08-13T10:46:47Z</dcterms:modified>
</cp:coreProperties>
</file>