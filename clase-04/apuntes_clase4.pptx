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300" r:id="rId6"/>
    <p:sldId id="273" r:id="rId7"/>
    <p:sldId id="294" r:id="rId8"/>
    <p:sldId id="274" r:id="rId9"/>
    <p:sldId id="295" r:id="rId10"/>
    <p:sldId id="296" r:id="rId11"/>
    <p:sldId id="297" r:id="rId12"/>
    <p:sldId id="299" r:id="rId13"/>
    <p:sldId id="301" r:id="rId14"/>
    <p:sldId id="302" r:id="rId15"/>
    <p:sldId id="303" r:id="rId16"/>
    <p:sldId id="309" r:id="rId17"/>
    <p:sldId id="304" r:id="rId18"/>
    <p:sldId id="305" r:id="rId19"/>
    <p:sldId id="306" r:id="rId20"/>
    <p:sldId id="307" r:id="rId21"/>
    <p:sldId id="308" r:id="rId22"/>
    <p:sldId id="298" r:id="rId2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42770-6FBD-4BB4-A2B9-23B83B79F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0A678D-ACF8-42CB-B602-771D3671A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A27A23-4A75-4158-B3E1-3279D54A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5C36C1-26A3-49BE-A8A8-656951FE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9EE2A-0423-43AD-9F4C-5952D9F2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44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926FE-A781-4BB8-B275-F95FB8E1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D71A97-A3C2-4295-8826-D28A126AD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06F645-AB27-4911-BCC9-574BF367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A8FE45-F388-46E1-847F-D74F2CDF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E19B6D-4D65-4A9C-873F-E7FFC1C6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438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6E4C1-EE2C-4DF3-B95E-10353CE8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6596D-34C7-480C-B7C7-AE611D66A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F39E0B-86F6-4DD6-8E06-F04AB91D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028C16-2CC1-490E-9309-92C8F9A0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EC182E-E5DD-4074-AA33-D149FC81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244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F4A12-1EEC-4400-93DE-671E040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4AD98-7D87-40F1-9981-C755DC426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3F4873-7AED-4F9D-9103-5818CC36D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EDBBA8-578A-446A-800E-01BDB42C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82B379-A5D7-4342-86D7-62F9B931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51239-35D4-4220-9B22-7EE6E22E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423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EBB5A-6224-4348-9B94-4161FF84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CF24BE-9C24-4CA6-8A5C-36DBE9285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DEFA7D-A451-44F4-B5C6-2ACBE2F84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B200E4-6816-4997-87AF-39943A087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01A54D-0CA9-4172-B839-F19F04CFF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8EF700-2071-4D13-B6EE-34550DBE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078420-F81E-408E-A9AB-0F92562D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306ED8-BF80-4607-B42A-65A6846C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198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C3652-A105-4D57-9F69-2D3E81B5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5AD369-43CB-4B39-8D56-C54136FF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DF48D6-33A3-43B8-9361-244B90D5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288C44-51DA-4E62-85C0-E253415A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7FBCCC-D27A-4A96-85AB-1BAF6493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6C721-C0F1-483D-97A4-E08FDBE3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EA1B9F-FE52-448D-B841-4A00EEA7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978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02A91-1D28-42A9-B21E-EFA7DDA2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294BA1-5B56-44D0-B843-FE7B2B25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0E838D-4388-42AC-AC13-A32F7F7E4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099FCE-0501-4EC2-A21B-EDDDE2E6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EAC3F1-97ED-4708-B0C0-2A867F73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88FABF-430B-4BBC-AAF0-0C3836E0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9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43730-08F4-474D-BF3B-2673A2E08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1ADB43-4142-4E41-9C02-2EC1C4EE5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40C94E-B1B0-42F9-8668-259526B6F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67A2EA-ED3A-479F-B942-4062C664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577A8-F277-4E96-AC0F-E0581A09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59C557-34C4-49D7-B43D-1D70DA14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189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9DA3E-683D-49C3-B835-5DA47B06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2A7221-F084-498B-A2A3-827959A70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6429-F5E6-4B51-8B8E-E05BD785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0D87B-E1BE-4DE4-9F60-CD7364B2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6E0DB5-B959-49A6-9256-FDCF4D4D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011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88A24B-644E-406E-86FA-07F4B0DB5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82AB56-3945-4933-BAEA-72759D362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9CA228-69BD-4106-8570-761E9E57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BA0E29-7829-410A-9C8D-1D51D1C5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41274-8A44-49CB-A1AD-9434CB35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29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5368ED-5B28-4202-9E33-32EC05B8A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C0C07D-486C-406F-ABEB-E3692C2CE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1E458E-9971-4F89-8F75-BCD52B592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E4E5A-E75E-4899-90F5-DDB39F3E781F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3CD78-927C-4944-A41E-D7C93DAE7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AC53E-55C5-4980-8039-C8B4C48B2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109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retas1-udea.github.io/discretas1-udea-20262/lessons/mod1/clase2/" TargetMode="External"/><Relationship Id="rId2" Type="http://schemas.openxmlformats.org/officeDocument/2006/relationships/hyperlink" Target="https://discretas1-udea.github.io/discretas1-udea-2026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iscretas1-udea.github.io/discretas1-udea-20262/assets/slides/clase2.pdf" TargetMode="External"/><Relationship Id="rId4" Type="http://schemas.openxmlformats.org/officeDocument/2006/relationships/hyperlink" Target="https://discretas1-udea.github.io/discretas1-udea-20262/lessons/mod1/clase3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1E613-42B3-43C2-8E09-AFBF8FB95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/>
              <a:t>Matemáticas Discretas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E98DC3-5DEF-4734-A422-0A017D4D3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1381" y="3602038"/>
            <a:ext cx="10432473" cy="2244580"/>
          </a:xfrm>
        </p:spPr>
        <p:txBody>
          <a:bodyPr>
            <a:normAutofit fontScale="92500"/>
          </a:bodyPr>
          <a:lstStyle/>
          <a:p>
            <a:r>
              <a:rPr lang="es-CO" sz="4000" b="1" dirty="0"/>
              <a:t>Clase 04 – Tablas de verdad y tipos de proposiciones</a:t>
            </a:r>
          </a:p>
          <a:p>
            <a:r>
              <a:rPr lang="es-CO" dirty="0"/>
              <a:t>Universidad de Antioquia</a:t>
            </a:r>
          </a:p>
          <a:p>
            <a:r>
              <a:rPr lang="es-CO" dirty="0"/>
              <a:t>Facultad de Ingeniería</a:t>
            </a:r>
          </a:p>
          <a:p>
            <a:r>
              <a:rPr lang="es-CO" dirty="0"/>
              <a:t>Ingeniería de Sistemas</a:t>
            </a:r>
          </a:p>
        </p:txBody>
      </p:sp>
    </p:spTree>
    <p:extLst>
      <p:ext uri="{BB962C8B-B14F-4D97-AF65-F5344CB8AC3E}">
        <p14:creationId xmlns:p14="http://schemas.microsoft.com/office/powerpoint/2010/main" val="270481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Recursos de esta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b="1" dirty="0"/>
              <a:t>Pagina web</a:t>
            </a:r>
            <a:r>
              <a:rPr lang="es-CO" sz="2400" dirty="0"/>
              <a:t>: </a:t>
            </a:r>
            <a:r>
              <a:rPr lang="es-CO" sz="2400" dirty="0">
                <a:hlinkClick r:id="rId2"/>
              </a:rPr>
              <a:t>https://discretas1-udea.github.io/discretas1-udea-20262</a:t>
            </a:r>
            <a:r>
              <a:rPr lang="es-CO" sz="2400" dirty="0"/>
              <a:t> </a:t>
            </a:r>
          </a:p>
          <a:p>
            <a:pPr lvl="1"/>
            <a:r>
              <a:rPr lang="es-CO" sz="2200" b="1" dirty="0"/>
              <a:t>Clase 2</a:t>
            </a:r>
            <a:r>
              <a:rPr lang="es-CO" sz="2200" dirty="0"/>
              <a:t>: </a:t>
            </a:r>
          </a:p>
          <a:p>
            <a:pPr lvl="2"/>
            <a:r>
              <a:rPr lang="es-CO" dirty="0">
                <a:hlinkClick r:id="rId3"/>
              </a:rPr>
              <a:t>https://discretas1-udea.github.io/discretas1-udea-20262/lessons/mod1/clase2/</a:t>
            </a:r>
            <a:endParaRPr lang="es-CO" dirty="0"/>
          </a:p>
          <a:p>
            <a:pPr lvl="2"/>
            <a:r>
              <a:rPr lang="es-CO" dirty="0">
                <a:hlinkClick r:id="rId4"/>
              </a:rPr>
              <a:t>https://discretas1-udea.github.io/discretas1-udea-20262/lessons/mod1/clase3/</a:t>
            </a:r>
            <a:r>
              <a:rPr lang="es-CO" dirty="0"/>
              <a:t> </a:t>
            </a:r>
          </a:p>
          <a:p>
            <a:r>
              <a:rPr lang="es-CO" sz="2400" b="1" dirty="0"/>
              <a:t>Diapositivas</a:t>
            </a:r>
            <a:r>
              <a:rPr lang="es-CO" sz="2400" dirty="0"/>
              <a:t>: </a:t>
            </a:r>
            <a:r>
              <a:rPr lang="es-CO" sz="2400" dirty="0">
                <a:hlinkClick r:id="rId5"/>
              </a:rPr>
              <a:t>https://discretas1-udea.github.io/discretas1-udea-20262/assets/slides/clase2.pdf</a:t>
            </a:r>
            <a:r>
              <a:rPr lang="es-CO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699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970"/>
            <a:ext cx="10515600" cy="4351338"/>
          </a:xfrm>
        </p:spPr>
        <p:txBody>
          <a:bodyPr/>
          <a:lstStyle/>
          <a:p>
            <a:r>
              <a:rPr lang="es-CO" dirty="0"/>
              <a:t>Repaso clase anterior</a:t>
            </a:r>
          </a:p>
          <a:p>
            <a:r>
              <a:rPr lang="es-CO" dirty="0"/>
              <a:t>Tablas de verdad</a:t>
            </a:r>
          </a:p>
          <a:p>
            <a:r>
              <a:rPr lang="es-CO" dirty="0"/>
              <a:t>Clasificación de las proposiciones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9693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489"/>
          </a:xfrm>
        </p:spPr>
        <p:txBody>
          <a:bodyPr/>
          <a:lstStyle/>
          <a:p>
            <a:r>
              <a:rPr lang="es-CO" dirty="0"/>
              <a:t>Operadores lógicos – Tablas de verdad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97" y="1172395"/>
            <a:ext cx="11471563" cy="496202"/>
          </a:xfrm>
        </p:spPr>
        <p:txBody>
          <a:bodyPr>
            <a:normAutofit/>
          </a:bodyPr>
          <a:lstStyle/>
          <a:p>
            <a:r>
              <a:rPr lang="es-MX" sz="2200" b="0" i="0" dirty="0">
                <a:effectLst/>
              </a:rPr>
              <a:t>Recordemos las tablas de verdad para cada uno de los operadores lógicos vistos.</a:t>
            </a:r>
            <a:endParaRPr lang="es-MX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9012527"/>
                  </p:ext>
                </p:extLst>
              </p:nvPr>
            </p:nvGraphicFramePr>
            <p:xfrm>
              <a:off x="959878" y="2131367"/>
              <a:ext cx="2152242" cy="11887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9012527"/>
                  </p:ext>
                </p:extLst>
              </p:nvPr>
            </p:nvGraphicFramePr>
            <p:xfrm>
              <a:off x="959878" y="2131367"/>
              <a:ext cx="2152242" cy="11887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1538" r="-101130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1538" r="-1130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100000" r="-101130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100000" r="-1130" b="-1015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203077" r="-10113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203077" r="-1130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64B85BCC-C0B6-4510-8106-FB790B9EE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872380"/>
                  </p:ext>
                </p:extLst>
              </p:nvPr>
            </p:nvGraphicFramePr>
            <p:xfrm>
              <a:off x="4298103" y="2115663"/>
              <a:ext cx="2602515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64B85BCC-C0B6-4510-8106-FB790B9EE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872380"/>
                  </p:ext>
                </p:extLst>
              </p:nvPr>
            </p:nvGraphicFramePr>
            <p:xfrm>
              <a:off x="4298103" y="2115663"/>
              <a:ext cx="2602515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538" r="-202817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538" r="-101399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1408" t="-1538" r="-2113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01538" r="-202817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01538" r="-101399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1408" t="-101538" r="-2113" b="-3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98485" r="-20281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98485" r="-10139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1408" t="-198485" r="-211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4" t="-303077" r="-202817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303077" r="-101399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1408" t="-303077" r="-2113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4" t="-403077" r="-20281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403077" r="-10139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1408" t="-403077" r="-2113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CECB8900-DD43-4366-866A-52B7130B0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7370984"/>
                  </p:ext>
                </p:extLst>
              </p:nvPr>
            </p:nvGraphicFramePr>
            <p:xfrm>
              <a:off x="7834151" y="2119227"/>
              <a:ext cx="2602515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CECB8900-DD43-4366-866A-52B7130B0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7370984"/>
                  </p:ext>
                </p:extLst>
              </p:nvPr>
            </p:nvGraphicFramePr>
            <p:xfrm>
              <a:off x="7834151" y="2119227"/>
              <a:ext cx="2602515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99" t="-1538" r="-200699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408" t="-1538" r="-102113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538" r="-1399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99" t="-101538" r="-200699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408" t="-101538" r="-102113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1538" r="-1399" b="-3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99" t="-198485" r="-20069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408" t="-198485" r="-1021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98485" r="-139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99" t="-303077" r="-200699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408" t="-303077" r="-102113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303077" r="-1399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99" t="-403077" r="-20069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408" t="-403077" r="-102113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403077" r="-1399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4">
                <a:extLst>
                  <a:ext uri="{FF2B5EF4-FFF2-40B4-BE49-F238E27FC236}">
                    <a16:creationId xmlns:a16="http://schemas.microsoft.com/office/drawing/2014/main" id="{367AB169-B43D-4FDE-B933-8A068AC68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3461631"/>
                  </p:ext>
                </p:extLst>
              </p:nvPr>
            </p:nvGraphicFramePr>
            <p:xfrm>
              <a:off x="838200" y="4654287"/>
              <a:ext cx="2602515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4">
                <a:extLst>
                  <a:ext uri="{FF2B5EF4-FFF2-40B4-BE49-F238E27FC236}">
                    <a16:creationId xmlns:a16="http://schemas.microsoft.com/office/drawing/2014/main" id="{367AB169-B43D-4FDE-B933-8A068AC68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3461631"/>
                  </p:ext>
                </p:extLst>
              </p:nvPr>
            </p:nvGraphicFramePr>
            <p:xfrm>
              <a:off x="838200" y="4654287"/>
              <a:ext cx="2602515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699" t="-1538" r="-200699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1408" t="-1538" r="-102113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538" r="-1399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699" t="-101538" r="-200699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1408" t="-101538" r="-102113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01538" r="-1399" b="-3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699" t="-198485" r="-20069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1408" t="-198485" r="-1021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98485" r="-139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699" t="-303077" r="-200699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1408" t="-303077" r="-102113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303077" r="-1399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699" t="-403077" r="-20069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1408" t="-403077" r="-102113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403077" r="-1399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4">
                <a:extLst>
                  <a:ext uri="{FF2B5EF4-FFF2-40B4-BE49-F238E27FC236}">
                    <a16:creationId xmlns:a16="http://schemas.microsoft.com/office/drawing/2014/main" id="{108F8D8B-745F-484A-8307-68D91BA284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406243"/>
                  </p:ext>
                </p:extLst>
              </p:nvPr>
            </p:nvGraphicFramePr>
            <p:xfrm>
              <a:off x="4298103" y="4691780"/>
              <a:ext cx="2602515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4">
                <a:extLst>
                  <a:ext uri="{FF2B5EF4-FFF2-40B4-BE49-F238E27FC236}">
                    <a16:creationId xmlns:a16="http://schemas.microsoft.com/office/drawing/2014/main" id="{108F8D8B-745F-484A-8307-68D91BA284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406243"/>
                  </p:ext>
                </p:extLst>
              </p:nvPr>
            </p:nvGraphicFramePr>
            <p:xfrm>
              <a:off x="4298103" y="4691780"/>
              <a:ext cx="2602515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704" t="-1538" r="-202817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1538" r="-101399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201408" t="-1538" r="-2113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704" t="-101538" r="-202817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101538" r="-101399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201408" t="-101538" r="-2113" b="-3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704" t="-198485" r="-20281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198485" r="-10139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201408" t="-198485" r="-211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704" t="-303077" r="-202817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303077" r="-101399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201408" t="-303077" r="-2113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704" t="-403077" r="-20281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403077" r="-10139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201408" t="-403077" r="-2113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7C1A8C1-7E7A-425A-9AF7-A9B7F3805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7125363"/>
                  </p:ext>
                </p:extLst>
              </p:nvPr>
            </p:nvGraphicFramePr>
            <p:xfrm>
              <a:off x="7886187" y="4654287"/>
              <a:ext cx="2602515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8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178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6691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7C1A8C1-7E7A-425A-9AF7-A9B7F3805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7125363"/>
                  </p:ext>
                </p:extLst>
              </p:nvPr>
            </p:nvGraphicFramePr>
            <p:xfrm>
              <a:off x="7886187" y="4654287"/>
              <a:ext cx="2602515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8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178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6691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746" t="-1538" r="-220896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100000" t="-1538" r="-119259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169811" t="-1538" r="-1258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746" t="-101538" r="-220896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100000" t="-101538" r="-119259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169811" t="-101538" r="-1258" b="-3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746" t="-198485" r="-22089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100000" t="-198485" r="-11925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169811" t="-198485" r="-12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746" t="-303077" r="-220896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100000" t="-303077" r="-119259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169811" t="-303077" r="-1258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746" t="-403077" r="-220896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100000" t="-403077" r="-11925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7"/>
                          <a:stretch>
                            <a:fillRect l="-169811" t="-403077" r="-1258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CuadroTexto 9">
            <a:extLst>
              <a:ext uri="{FF2B5EF4-FFF2-40B4-BE49-F238E27FC236}">
                <a16:creationId xmlns:a16="http://schemas.microsoft.com/office/drawing/2014/main" id="{C48494CF-F1F2-425E-9F9C-C5169348AA49}"/>
              </a:ext>
            </a:extLst>
          </p:cNvPr>
          <p:cNvSpPr txBox="1"/>
          <p:nvPr/>
        </p:nvSpPr>
        <p:spPr>
          <a:xfrm>
            <a:off x="1382438" y="1664056"/>
            <a:ext cx="12715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200" b="1" dirty="0">
                <a:solidFill>
                  <a:schemeClr val="bg2">
                    <a:lumMod val="50000"/>
                  </a:schemeClr>
                </a:solidFill>
              </a:rPr>
              <a:t>Negación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C0F04C0-6FDB-4471-928A-F7435E951C2B}"/>
              </a:ext>
            </a:extLst>
          </p:cNvPr>
          <p:cNvSpPr txBox="1"/>
          <p:nvPr/>
        </p:nvSpPr>
        <p:spPr>
          <a:xfrm>
            <a:off x="4776693" y="1648132"/>
            <a:ext cx="15007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200" b="1" dirty="0">
                <a:solidFill>
                  <a:schemeClr val="bg2">
                    <a:lumMod val="50000"/>
                  </a:schemeClr>
                </a:solidFill>
              </a:rPr>
              <a:t>Conjunción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9E5F45F-EE0C-47D7-ACCB-6543210753D9}"/>
              </a:ext>
            </a:extLst>
          </p:cNvPr>
          <p:cNvSpPr txBox="1"/>
          <p:nvPr/>
        </p:nvSpPr>
        <p:spPr>
          <a:xfrm>
            <a:off x="8506769" y="1672546"/>
            <a:ext cx="14643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200" b="1" dirty="0">
                <a:solidFill>
                  <a:schemeClr val="bg2">
                    <a:lumMod val="50000"/>
                  </a:schemeClr>
                </a:solidFill>
              </a:rPr>
              <a:t>Disyunción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3C07DFB-011D-4E28-AECB-EEE8E2DA0AE0}"/>
              </a:ext>
            </a:extLst>
          </p:cNvPr>
          <p:cNvSpPr txBox="1"/>
          <p:nvPr/>
        </p:nvSpPr>
        <p:spPr>
          <a:xfrm>
            <a:off x="809872" y="4193848"/>
            <a:ext cx="2577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200" b="1" dirty="0">
                <a:solidFill>
                  <a:schemeClr val="bg2">
                    <a:lumMod val="50000"/>
                  </a:schemeClr>
                </a:solidFill>
              </a:rPr>
              <a:t>Disyunción exclusiva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08B981-8D3B-4239-B03D-7EA6E2D801EB}"/>
              </a:ext>
            </a:extLst>
          </p:cNvPr>
          <p:cNvSpPr txBox="1"/>
          <p:nvPr/>
        </p:nvSpPr>
        <p:spPr>
          <a:xfrm>
            <a:off x="4892960" y="4287303"/>
            <a:ext cx="15552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200" b="1" dirty="0">
                <a:solidFill>
                  <a:schemeClr val="bg2">
                    <a:lumMod val="50000"/>
                  </a:schemeClr>
                </a:solidFill>
              </a:rPr>
              <a:t>Condicional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D4A8C9C-2D1F-48CB-B829-C785F3B2A015}"/>
              </a:ext>
            </a:extLst>
          </p:cNvPr>
          <p:cNvSpPr txBox="1"/>
          <p:nvPr/>
        </p:nvSpPr>
        <p:spPr>
          <a:xfrm>
            <a:off x="8387620" y="4236814"/>
            <a:ext cx="17510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200" b="1" dirty="0">
                <a:solidFill>
                  <a:schemeClr val="bg2">
                    <a:lumMod val="50000"/>
                  </a:schemeClr>
                </a:solidFill>
              </a:rPr>
              <a:t>Bicondicional</a:t>
            </a:r>
          </a:p>
        </p:txBody>
      </p:sp>
    </p:spTree>
    <p:extLst>
      <p:ext uri="{BB962C8B-B14F-4D97-AF65-F5344CB8AC3E}">
        <p14:creationId xmlns:p14="http://schemas.microsoft.com/office/powerpoint/2010/main" val="2573958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489"/>
          </a:xfrm>
        </p:spPr>
        <p:txBody>
          <a:bodyPr/>
          <a:lstStyle/>
          <a:p>
            <a:r>
              <a:rPr lang="es-CO" dirty="0"/>
              <a:t>Reglas de prioridad y asociatividad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97" y="1200105"/>
            <a:ext cx="11471563" cy="496202"/>
          </a:xfrm>
        </p:spPr>
        <p:txBody>
          <a:bodyPr>
            <a:normAutofit/>
          </a:bodyPr>
          <a:lstStyle/>
          <a:p>
            <a:r>
              <a:rPr lang="es-MX" sz="2200" b="0" i="0" dirty="0">
                <a:effectLst/>
              </a:rPr>
              <a:t>Definen el orden en el cual se llevan a cabo las operaciones lógica en las proposiciones.</a:t>
            </a:r>
            <a:endParaRPr lang="es-MX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a 2">
                <a:extLst>
                  <a:ext uri="{FF2B5EF4-FFF2-40B4-BE49-F238E27FC236}">
                    <a16:creationId xmlns:a16="http://schemas.microsoft.com/office/drawing/2014/main" id="{DA444DEC-595E-46E9-8998-51CDC4F63C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8163490"/>
                  </p:ext>
                </p:extLst>
              </p:nvPr>
            </p:nvGraphicFramePr>
            <p:xfrm>
              <a:off x="1027486" y="2144780"/>
              <a:ext cx="9795267" cy="3009138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927543">
                      <a:extLst>
                        <a:ext uri="{9D8B030D-6E8A-4147-A177-3AD203B41FA5}">
                          <a16:colId xmlns:a16="http://schemas.microsoft.com/office/drawing/2014/main" val="2912375319"/>
                        </a:ext>
                      </a:extLst>
                    </a:gridCol>
                    <a:gridCol w="1246909">
                      <a:extLst>
                        <a:ext uri="{9D8B030D-6E8A-4147-A177-3AD203B41FA5}">
                          <a16:colId xmlns:a16="http://schemas.microsoft.com/office/drawing/2014/main" val="2830172176"/>
                        </a:ext>
                      </a:extLst>
                    </a:gridCol>
                    <a:gridCol w="2405380">
                      <a:extLst>
                        <a:ext uri="{9D8B030D-6E8A-4147-A177-3AD203B41FA5}">
                          <a16:colId xmlns:a16="http://schemas.microsoft.com/office/drawing/2014/main" val="3163836375"/>
                        </a:ext>
                      </a:extLst>
                    </a:gridCol>
                    <a:gridCol w="4215435">
                      <a:extLst>
                        <a:ext uri="{9D8B030D-6E8A-4147-A177-3AD203B41FA5}">
                          <a16:colId xmlns:a16="http://schemas.microsoft.com/office/drawing/2014/main" val="2124308029"/>
                        </a:ext>
                      </a:extLst>
                    </a:gridCol>
                  </a:tblGrid>
                  <a:tr h="366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Prioridad</a:t>
                          </a: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Operador</a:t>
                          </a: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Ejemplo con paréntesis</a:t>
                          </a: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271441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 (la mas alta)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 aplica (unitario)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19328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∧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588756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∨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133619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⨁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⨁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104284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→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0495079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6 (la mas baja)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↔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↔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153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a 2">
                <a:extLst>
                  <a:ext uri="{FF2B5EF4-FFF2-40B4-BE49-F238E27FC236}">
                    <a16:creationId xmlns:a16="http://schemas.microsoft.com/office/drawing/2014/main" id="{DA444DEC-595E-46E9-8998-51CDC4F63C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8163490"/>
                  </p:ext>
                </p:extLst>
              </p:nvPr>
            </p:nvGraphicFramePr>
            <p:xfrm>
              <a:off x="1027486" y="2144780"/>
              <a:ext cx="9795267" cy="3009138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927543">
                      <a:extLst>
                        <a:ext uri="{9D8B030D-6E8A-4147-A177-3AD203B41FA5}">
                          <a16:colId xmlns:a16="http://schemas.microsoft.com/office/drawing/2014/main" val="2912375319"/>
                        </a:ext>
                      </a:extLst>
                    </a:gridCol>
                    <a:gridCol w="1246909">
                      <a:extLst>
                        <a:ext uri="{9D8B030D-6E8A-4147-A177-3AD203B41FA5}">
                          <a16:colId xmlns:a16="http://schemas.microsoft.com/office/drawing/2014/main" val="2830172176"/>
                        </a:ext>
                      </a:extLst>
                    </a:gridCol>
                    <a:gridCol w="2405380">
                      <a:extLst>
                        <a:ext uri="{9D8B030D-6E8A-4147-A177-3AD203B41FA5}">
                          <a16:colId xmlns:a16="http://schemas.microsoft.com/office/drawing/2014/main" val="3163836375"/>
                        </a:ext>
                      </a:extLst>
                    </a:gridCol>
                    <a:gridCol w="4215435">
                      <a:extLst>
                        <a:ext uri="{9D8B030D-6E8A-4147-A177-3AD203B41FA5}">
                          <a16:colId xmlns:a16="http://schemas.microsoft.com/office/drawing/2014/main" val="21243080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Prioridad</a:t>
                          </a: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Operador</a:t>
                          </a: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Ejemplo con paréntesis</a:t>
                          </a: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271441"/>
                      </a:ext>
                    </a:extLst>
                  </a:tr>
                  <a:tr h="435483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 (la mas alta)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54634" t="-95833" r="-531220" b="-5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 aplica (unitario)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32514" t="-95833" r="-289" b="-5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19328"/>
                      </a:ext>
                    </a:extLst>
                  </a:tr>
                  <a:tr h="435483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54634" t="-198592" r="-531220" b="-4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32152" t="-198592" r="-175696" b="-4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32514" t="-198592" r="-289" b="-4211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588756"/>
                      </a:ext>
                    </a:extLst>
                  </a:tr>
                  <a:tr h="435483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54634" t="-294444" r="-531220" b="-315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32152" t="-294444" r="-175696" b="-315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32514" t="-294444" r="-289" b="-3152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133619"/>
                      </a:ext>
                    </a:extLst>
                  </a:tr>
                  <a:tr h="435483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54634" t="-394444" r="-531220" b="-215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32152" t="-394444" r="-175696" b="-215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32514" t="-394444" r="-289" b="-2152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104284"/>
                      </a:ext>
                    </a:extLst>
                  </a:tr>
                  <a:tr h="435483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54634" t="-501408" r="-531220" b="-1183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32152" t="-501408" r="-175696" b="-1183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32514" t="-501408" r="-289" b="-1183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0495079"/>
                      </a:ext>
                    </a:extLst>
                  </a:tr>
                  <a:tr h="435483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6 (la mas baja)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54634" t="-593056" r="-531220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32152" t="-593056" r="-175696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32514" t="-593056" r="-289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1535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1531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4"/>
            <a:ext cx="11471563" cy="1742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dirty="0"/>
              <a:t>Definición</a:t>
            </a:r>
            <a:endParaRPr lang="es-MX" b="1" dirty="0"/>
          </a:p>
          <a:p>
            <a:r>
              <a:rPr lang="es-MX" sz="2200" dirty="0">
                <a:solidFill>
                  <a:srgbClr val="131314"/>
                </a:solidFill>
              </a:rPr>
              <a:t>Herramienta tabular empleada para analizar todos los posibles valores de verdad de la expresión que evalúa.</a:t>
            </a:r>
          </a:p>
          <a:p>
            <a:r>
              <a:rPr lang="es-MX" sz="2200" b="0" i="0" dirty="0">
                <a:solidFill>
                  <a:srgbClr val="131314"/>
                </a:solidFill>
                <a:effectLst/>
              </a:rPr>
              <a:t>Alternativa a la evaluación de expresiones lógicas que facilita la tarea de evaluar.</a:t>
            </a:r>
          </a:p>
          <a:p>
            <a:pPr lvl="1"/>
            <a:endParaRPr lang="es-MX" sz="1600" b="0" i="0" dirty="0">
              <a:solidFill>
                <a:srgbClr val="131314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0F501037-3838-4096-B05E-78C31FBAAC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4423154"/>
                  </p:ext>
                </p:extLst>
              </p:nvPr>
            </p:nvGraphicFramePr>
            <p:xfrm>
              <a:off x="1910583" y="3937576"/>
              <a:ext cx="1135628" cy="12801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67814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67814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2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2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0F501037-3838-4096-B05E-78C31FBAAC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4423154"/>
                  </p:ext>
                </p:extLst>
              </p:nvPr>
            </p:nvGraphicFramePr>
            <p:xfrm>
              <a:off x="1910583" y="3937576"/>
              <a:ext cx="1135628" cy="12801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67814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67814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64" t="-1429" r="-101064" b="-2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2151" t="-1429" r="-2151" b="-2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64" t="-100000" r="-101064" b="-10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2151" t="-100000" r="-2151" b="-10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64" t="-202857" r="-101064" b="-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2151" t="-202857" r="-2151" b="-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0FB34195-E2AA-4909-A49F-F91AAE1BF0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8123360"/>
                  </p:ext>
                </p:extLst>
              </p:nvPr>
            </p:nvGraphicFramePr>
            <p:xfrm>
              <a:off x="4055592" y="3510856"/>
              <a:ext cx="6261577" cy="21336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44786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44786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2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2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2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2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0FB34195-E2AA-4909-A49F-F91AAE1BF0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8123360"/>
                  </p:ext>
                </p:extLst>
              </p:nvPr>
            </p:nvGraphicFramePr>
            <p:xfrm>
              <a:off x="4055592" y="3510856"/>
              <a:ext cx="6261577" cy="21336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44786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44786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1429" r="-1057303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429" r="-945556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5882" t="-1429" r="-400588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5882" t="-1429" r="-300588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307692" t="-1429" r="-202367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05294" t="-1429" r="-101176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505294" t="-1429" r="-1176" b="-4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101429" r="-1057303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01429" r="-945556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5882" t="-101429" r="-400588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5882" t="-101429" r="-300588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307692" t="-101429" r="-202367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05294" t="-101429" r="-101176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505294" t="-101429" r="-1176" b="-3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198592" r="-1057303" b="-2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98592" r="-945556" b="-2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5882" t="-198592" r="-400588" b="-2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5882" t="-198592" r="-300588" b="-2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307692" t="-198592" r="-202367" b="-2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05294" t="-198592" r="-101176" b="-2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505294" t="-198592" r="-1176" b="-2014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302857" r="-1057303" b="-1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302857" r="-945556" b="-1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5882" t="-302857" r="-400588" b="-1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5882" t="-302857" r="-300588" b="-1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307692" t="-302857" r="-202367" b="-1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05294" t="-302857" r="-101176" b="-1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505294" t="-302857" r="-1176" b="-10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402857" r="-1057303" b="-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402857" r="-945556" b="-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5882" t="-402857" r="-400588" b="-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5882" t="-402857" r="-300588" b="-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307692" t="-402857" r="-202367" b="-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05294" t="-402857" r="-101176" b="-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505294" t="-402857" r="-1176" b="-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173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5"/>
            <a:ext cx="11471563" cy="3072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dirty="0"/>
              <a:t>Pasos</a:t>
            </a:r>
            <a:r>
              <a:rPr lang="es-MX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200" dirty="0">
                <a:solidFill>
                  <a:srgbClr val="131314"/>
                </a:solidFill>
              </a:rPr>
              <a:t>Identificar las variables proposicionales.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200" dirty="0">
                <a:solidFill>
                  <a:srgbClr val="131314"/>
                </a:solidFill>
              </a:rPr>
              <a:t>Determinar el número de filas necesarias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200" b="0" i="0" dirty="0">
                <a:solidFill>
                  <a:srgbClr val="131314"/>
                </a:solidFill>
                <a:effectLst/>
              </a:rPr>
              <a:t>Construir las columnas de las variables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200" b="0" i="0" dirty="0">
                <a:solidFill>
                  <a:srgbClr val="131314"/>
                </a:solidFill>
                <a:effectLst/>
              </a:rPr>
              <a:t>Agregar columnas auxiliares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200" b="0" i="0" dirty="0">
                <a:solidFill>
                  <a:srgbClr val="131314"/>
                </a:solidFill>
                <a:effectLst/>
              </a:rPr>
              <a:t>Evaluar la expresión lógica paso a paso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200" b="0" i="0" dirty="0">
                <a:solidFill>
                  <a:srgbClr val="131314"/>
                </a:solidFill>
                <a:effectLst/>
              </a:rPr>
              <a:t>Revisar y validar la tabla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30BA250-E803-4847-BACF-C2EA1E6FD9D4}"/>
              </a:ext>
            </a:extLst>
          </p:cNvPr>
          <p:cNvSpPr txBox="1"/>
          <p:nvPr/>
        </p:nvSpPr>
        <p:spPr>
          <a:xfrm>
            <a:off x="360218" y="4987636"/>
            <a:ext cx="10993581" cy="76944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CO" sz="2200" b="1" dirty="0"/>
              <a:t>Convención</a:t>
            </a:r>
            <a:r>
              <a:rPr lang="es-CO" sz="2200" dirty="0"/>
              <a:t>: Para este curso, en las tablas de verdad, vamos a utilizar la notación binaria en ingeniería, es decir </a:t>
            </a:r>
            <a:r>
              <a:rPr lang="es-CO" sz="2200" b="1" dirty="0"/>
              <a:t>1</a:t>
            </a:r>
            <a:r>
              <a:rPr lang="es-CO" sz="2200" dirty="0"/>
              <a:t> para Verdadero y </a:t>
            </a:r>
            <a:r>
              <a:rPr lang="es-CO" sz="2200" b="1" dirty="0"/>
              <a:t>0</a:t>
            </a:r>
            <a:r>
              <a:rPr lang="es-CO" sz="2200" dirty="0"/>
              <a:t> para falso.</a:t>
            </a:r>
          </a:p>
        </p:txBody>
      </p:sp>
    </p:spTree>
    <p:extLst>
      <p:ext uri="{BB962C8B-B14F-4D97-AF65-F5344CB8AC3E}">
        <p14:creationId xmlns:p14="http://schemas.microsoft.com/office/powerpoint/2010/main" val="738706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89089"/>
                <a:ext cx="11471563" cy="31552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400" b="1" i="0" dirty="0">
                    <a:effectLst/>
                  </a:rPr>
                  <a:t>Ejemplos</a:t>
                </a:r>
              </a:p>
              <a:p>
                <a:pPr marL="0" indent="0">
                  <a:buNone/>
                </a:pPr>
                <a:r>
                  <a:rPr lang="es-MX" sz="2200" b="0" i="0" dirty="0">
                    <a:solidFill>
                      <a:schemeClr val="tx1"/>
                    </a:solidFill>
                    <a:effectLst/>
                  </a:rPr>
                  <a:t>Obtenga la tabla de verdad asociada a cada una de las siguientes expresiones compuestas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200" b="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s-MX" sz="2200" b="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s-MX" sz="2200" b="0" i="1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2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2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s-MX" sz="22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s-MX" sz="22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∧¬</m:t>
                        </m:r>
                        <m: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s-MX" sz="2200" b="0" i="0" dirty="0">
                  <a:solidFill>
                    <a:schemeClr val="tx1"/>
                  </a:solidFill>
                  <a:effectLst/>
                  <a:latin typeface="Google Sans Text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s-MX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∨¬</m:t>
                        </m:r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endParaRPr lang="es-MX" sz="2200" b="0" i="0" dirty="0">
                  <a:solidFill>
                    <a:schemeClr val="tx1"/>
                  </a:solidFill>
                  <a:effectLst/>
                  <a:latin typeface="Google Sans Text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d>
                      <m:dPr>
                        <m:ctrlP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MX" sz="2200" b="0" i="0" dirty="0">
                  <a:solidFill>
                    <a:schemeClr val="tx1"/>
                  </a:solidFill>
                  <a:effectLst/>
                  <a:latin typeface="Google Sans Text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s-MX" sz="2200" b="0" i="0" dirty="0"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lvl="1"/>
                <a:endParaRPr lang="es-MX" sz="16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89089"/>
                <a:ext cx="11471563" cy="3155202"/>
              </a:xfrm>
              <a:blipFill>
                <a:blip r:embed="rId2"/>
                <a:stretch>
                  <a:fillRect l="-797" t="-27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58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9" y="1375235"/>
                <a:ext cx="4665840" cy="4951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200" b="1" i="0" dirty="0">
                    <a:solidFill>
                      <a:schemeClr val="tx1"/>
                    </a:solidFill>
                    <a:effectLst/>
                  </a:rPr>
                  <a:t>Ejemplo 1</a:t>
                </a:r>
                <a:r>
                  <a:rPr lang="es-MX" sz="2200" b="0" i="0" dirty="0">
                    <a:solidFill>
                      <a:schemeClr val="tx1"/>
                    </a:solidFill>
                    <a:effectLst/>
                  </a:rPr>
                  <a:t>: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200" b="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s-MX" sz="2200" b="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s-MX" sz="2200" b="0" i="1" dirty="0">
                  <a:solidFill>
                    <a:schemeClr val="tx1"/>
                  </a:solidFill>
                  <a:effectLst/>
                  <a:ea typeface="Cambria Math" panose="02040503050406030204" pitchFamily="18" charset="0"/>
                </a:endParaRPr>
              </a:p>
              <a:p>
                <a:pPr lvl="1"/>
                <a:endParaRPr lang="es-MX" sz="1600" b="0" i="0" dirty="0">
                  <a:solidFill>
                    <a:srgbClr val="131314"/>
                  </a:solidFill>
                  <a:effectLst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9" y="1375235"/>
                <a:ext cx="4665840" cy="495130"/>
              </a:xfrm>
              <a:blipFill>
                <a:blip r:embed="rId2"/>
                <a:stretch>
                  <a:fillRect l="-1699" t="-14815" b="-49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C6548937-4656-4A2E-93D4-ABDA4DC30E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6010001"/>
                  </p:ext>
                </p:extLst>
              </p:nvPr>
            </p:nvGraphicFramePr>
            <p:xfrm>
              <a:off x="5661379" y="870034"/>
              <a:ext cx="102658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1329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1329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C6548937-4656-4A2E-93D4-ABDA4DC30E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6010001"/>
                  </p:ext>
                </p:extLst>
              </p:nvPr>
            </p:nvGraphicFramePr>
            <p:xfrm>
              <a:off x="5661379" y="870034"/>
              <a:ext cx="102658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1329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1329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1818" r="-102353" b="-2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1818" r="-2353" b="-2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100000" r="-10235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100000" r="-2353" b="-10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3636" r="-10235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203636" r="-2353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8D8A3770-30E9-4EC0-8EDA-4B70FB28D2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7561466"/>
                  </p:ext>
                </p:extLst>
              </p:nvPr>
            </p:nvGraphicFramePr>
            <p:xfrm>
              <a:off x="7165943" y="565234"/>
              <a:ext cx="4403538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6715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6715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773239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764095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747336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8D8A3770-30E9-4EC0-8EDA-4B70FB28D2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7561466"/>
                  </p:ext>
                </p:extLst>
              </p:nvPr>
            </p:nvGraphicFramePr>
            <p:xfrm>
              <a:off x="7165943" y="565234"/>
              <a:ext cx="4403538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6715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6715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773239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764095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747336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818" r="-1108333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818" r="-990164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818" r="-434513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818" r="-330702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818" r="-196850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818" r="-100000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818" r="-1626" b="-4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01818" r="-1108333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1818" r="-990164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01818" r="-434513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01818" r="-330702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01818" r="-196850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01818" r="-100000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01818" r="-1626" b="-3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98214" r="-11083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98214" r="-99016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98214" r="-4345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98214" r="-33070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98214" r="-1968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98214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98214" r="-162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303636" r="-110833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03636" r="-990164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303636" r="-43451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303636" r="-330702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303636" r="-19685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303636" r="-10000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303636" r="-1626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403636" r="-110833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403636" r="-990164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403636" r="-43451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403636" r="-330702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403636" r="-19685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403636" r="-10000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403636" r="-1626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769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4823179" cy="409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200" b="1" i="0" dirty="0">
                    <a:solidFill>
                      <a:schemeClr val="tx1"/>
                    </a:solidFill>
                    <a:effectLst/>
                  </a:rPr>
                  <a:t>Ejemplo 2</a:t>
                </a:r>
                <a:r>
                  <a:rPr lang="es-MX" sz="2200" b="0" i="0" dirty="0">
                    <a:solidFill>
                      <a:schemeClr val="tx1"/>
                    </a:solidFill>
                    <a:effectLst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∨</m:t>
                        </m:r>
                        <m:r>
                          <a:rPr lang="es-MX" sz="2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s-MX" sz="2200" b="0" i="0" dirty="0">
                  <a:solidFill>
                    <a:schemeClr val="tx1"/>
                  </a:solidFill>
                  <a:effectLst/>
                  <a:ea typeface="Cambria Math" panose="02040503050406030204" pitchFamily="18" charset="0"/>
                </a:endParaRPr>
              </a:p>
              <a:p>
                <a:pPr lvl="1"/>
                <a:endParaRPr lang="es-MX" sz="1600" b="0" i="0" dirty="0">
                  <a:solidFill>
                    <a:srgbClr val="131314"/>
                  </a:solidFill>
                  <a:effectLst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4823179" cy="409200"/>
              </a:xfrm>
              <a:blipFill>
                <a:blip r:embed="rId2"/>
                <a:stretch>
                  <a:fillRect l="-1643" t="-17910" b="-2686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4D77BF74-1C29-4701-A439-B598A0C745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3000684"/>
                  </p:ext>
                </p:extLst>
              </p:nvPr>
            </p:nvGraphicFramePr>
            <p:xfrm>
              <a:off x="5661379" y="870034"/>
              <a:ext cx="102658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1329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1329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4D77BF74-1C29-4701-A439-B598A0C745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3000684"/>
                  </p:ext>
                </p:extLst>
              </p:nvPr>
            </p:nvGraphicFramePr>
            <p:xfrm>
              <a:off x="5661379" y="870034"/>
              <a:ext cx="102658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1329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1329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1818" r="-102353" b="-2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1818" r="-2353" b="-2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100000" r="-10235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100000" r="-2353" b="-10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3636" r="-10235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203636" r="-2353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6">
                <a:extLst>
                  <a:ext uri="{FF2B5EF4-FFF2-40B4-BE49-F238E27FC236}">
                    <a16:creationId xmlns:a16="http://schemas.microsoft.com/office/drawing/2014/main" id="{08D03A03-E2E6-4C43-8068-BD48CC423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672750"/>
                  </p:ext>
                </p:extLst>
              </p:nvPr>
            </p:nvGraphicFramePr>
            <p:xfrm>
              <a:off x="7165943" y="565234"/>
              <a:ext cx="4403538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6715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6715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773239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764095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747336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6">
                <a:extLst>
                  <a:ext uri="{FF2B5EF4-FFF2-40B4-BE49-F238E27FC236}">
                    <a16:creationId xmlns:a16="http://schemas.microsoft.com/office/drawing/2014/main" id="{08D03A03-E2E6-4C43-8068-BD48CC423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672750"/>
                  </p:ext>
                </p:extLst>
              </p:nvPr>
            </p:nvGraphicFramePr>
            <p:xfrm>
              <a:off x="7165943" y="565234"/>
              <a:ext cx="4403538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6715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6715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773239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764095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747336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818" r="-1108333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818" r="-990164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818" r="-434513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818" r="-330702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818" r="-196850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818" r="-100000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818" r="-1626" b="-4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01818" r="-1108333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1818" r="-990164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01818" r="-434513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01818" r="-330702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01818" r="-196850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01818" r="-100000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01818" r="-1626" b="-3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98214" r="-11083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98214" r="-99016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98214" r="-4345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98214" r="-33070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98214" r="-1968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98214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98214" r="-162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303636" r="-110833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03636" r="-990164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303636" r="-43451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303636" r="-330702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303636" r="-19685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303636" r="-10000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303636" r="-1626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403636" r="-110833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403636" r="-990164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403636" r="-43451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403636" r="-330702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403636" r="-19685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403636" r="-10000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403636" r="-1626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2652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4"/>
                <a:ext cx="4987637" cy="4397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200" b="1" i="0" dirty="0">
                    <a:solidFill>
                      <a:schemeClr val="tx1"/>
                    </a:solidFill>
                    <a:effectLst/>
                  </a:rPr>
                  <a:t>Ejemplo 3</a:t>
                </a:r>
                <a:r>
                  <a:rPr lang="es-MX" sz="2200" b="0" i="0" dirty="0">
                    <a:solidFill>
                      <a:schemeClr val="tx1"/>
                    </a:solidFill>
                    <a:effectLst/>
                  </a:rPr>
                  <a:t>: </a:t>
                </a:r>
                <a14:m>
                  <m:oMath xmlns:m="http://schemas.openxmlformats.org/officeDocument/2006/math"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s-MX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∨¬</m:t>
                        </m:r>
                        <m:r>
                          <a:rPr lang="es-MX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endParaRPr lang="es-MX" sz="2200" dirty="0">
                  <a:latin typeface="Google Sans Text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MX" sz="20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lvl="1"/>
                <a:endParaRPr lang="es-MX" sz="1600" b="0" i="0" dirty="0">
                  <a:solidFill>
                    <a:srgbClr val="131314"/>
                  </a:solidFill>
                  <a:effectLst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4"/>
                <a:ext cx="4987637" cy="439711"/>
              </a:xfrm>
              <a:blipFill>
                <a:blip r:embed="rId2"/>
                <a:stretch>
                  <a:fillRect l="-1589" t="-16667" b="-180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3BFC13D1-9B83-45BF-9513-04A0B3EEEE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3832648"/>
                  </p:ext>
                </p:extLst>
              </p:nvPr>
            </p:nvGraphicFramePr>
            <p:xfrm>
              <a:off x="5661379" y="870034"/>
              <a:ext cx="102658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1329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1329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3BFC13D1-9B83-45BF-9513-04A0B3EEEE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3832648"/>
                  </p:ext>
                </p:extLst>
              </p:nvPr>
            </p:nvGraphicFramePr>
            <p:xfrm>
              <a:off x="5661379" y="870034"/>
              <a:ext cx="102658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1329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1329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1818" r="-102353" b="-2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1818" r="-2353" b="-2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100000" r="-10235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100000" r="-2353" b="-10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3636" r="-10235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203636" r="-2353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6">
                <a:extLst>
                  <a:ext uri="{FF2B5EF4-FFF2-40B4-BE49-F238E27FC236}">
                    <a16:creationId xmlns:a16="http://schemas.microsoft.com/office/drawing/2014/main" id="{F071A818-C253-4D06-BB6B-427E0413DA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6096788"/>
                  </p:ext>
                </p:extLst>
              </p:nvPr>
            </p:nvGraphicFramePr>
            <p:xfrm>
              <a:off x="7165943" y="565234"/>
              <a:ext cx="4403538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6715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6715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773239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764095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747336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6">
                <a:extLst>
                  <a:ext uri="{FF2B5EF4-FFF2-40B4-BE49-F238E27FC236}">
                    <a16:creationId xmlns:a16="http://schemas.microsoft.com/office/drawing/2014/main" id="{F071A818-C253-4D06-BB6B-427E0413DA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6096788"/>
                  </p:ext>
                </p:extLst>
              </p:nvPr>
            </p:nvGraphicFramePr>
            <p:xfrm>
              <a:off x="7165943" y="565234"/>
              <a:ext cx="4403538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6715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6715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773239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764095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747336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818" r="-1108333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818" r="-990164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818" r="-434513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818" r="-330702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818" r="-196850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818" r="-100000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818" r="-1626" b="-4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01818" r="-1108333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1818" r="-990164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01818" r="-434513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01818" r="-330702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01818" r="-196850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01818" r="-100000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01818" r="-1626" b="-3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98214" r="-11083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98214" r="-99016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98214" r="-4345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98214" r="-33070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98214" r="-1968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98214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98214" r="-162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303636" r="-110833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03636" r="-990164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303636" r="-43451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303636" r="-330702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303636" r="-19685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303636" r="-10000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303636" r="-1626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403636" r="-110833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403636" r="-990164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403636" r="-43451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403636" r="-330702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403636" r="-19685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403636" r="-10000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403636" r="-1626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1186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Tablas de verdad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4"/>
                <a:ext cx="5085479" cy="439711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s-MX" sz="2400" b="1" i="0" dirty="0">
                    <a:solidFill>
                      <a:schemeClr val="tx1"/>
                    </a:solidFill>
                    <a:effectLst/>
                  </a:rPr>
                  <a:t>Ejemplo 4</a:t>
                </a:r>
                <a:r>
                  <a:rPr lang="es-MX" sz="2400" i="0" dirty="0">
                    <a:solidFill>
                      <a:schemeClr val="tx1"/>
                    </a:solidFill>
                    <a:effectLst/>
                  </a:rPr>
                  <a:t>:</a:t>
                </a:r>
                <a:r>
                  <a:rPr lang="es-MX" sz="2200" b="0" i="0" dirty="0"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s-MX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MX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s-MX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d>
                      <m:dPr>
                        <m:ctrlPr>
                          <a:rPr lang="es-MX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s-MX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s-MX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→(</m:t>
                    </m:r>
                    <m:r>
                      <a:rPr lang="es-MX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MX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s-MX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MX" sz="2600" dirty="0">
                  <a:latin typeface="Google Sans Text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MX" sz="20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lvl="1"/>
                <a:endParaRPr lang="es-MX" sz="1600" b="0" i="0" dirty="0">
                  <a:solidFill>
                    <a:srgbClr val="131314"/>
                  </a:solidFill>
                  <a:effectLst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4"/>
                <a:ext cx="5085479" cy="439711"/>
              </a:xfrm>
              <a:blipFill>
                <a:blip r:embed="rId2"/>
                <a:stretch>
                  <a:fillRect l="-1199" t="-16667" b="-694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3BFC13D1-9B83-45BF-9513-04A0B3EEEE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9387803"/>
                  </p:ext>
                </p:extLst>
              </p:nvPr>
            </p:nvGraphicFramePr>
            <p:xfrm>
              <a:off x="5716799" y="870034"/>
              <a:ext cx="102658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1329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1329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3BFC13D1-9B83-45BF-9513-04A0B3EEEE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9387803"/>
                  </p:ext>
                </p:extLst>
              </p:nvPr>
            </p:nvGraphicFramePr>
            <p:xfrm>
              <a:off x="5716799" y="870034"/>
              <a:ext cx="102658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1329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1329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1818" r="-102353" b="-2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1818" r="-2353" b="-2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100000" r="-10235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100000" r="-2353" b="-10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3636" r="-10235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176" t="-203636" r="-2353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6">
                <a:extLst>
                  <a:ext uri="{FF2B5EF4-FFF2-40B4-BE49-F238E27FC236}">
                    <a16:creationId xmlns:a16="http://schemas.microsoft.com/office/drawing/2014/main" id="{F071A818-C253-4D06-BB6B-427E0413DA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6832688"/>
                  </p:ext>
                </p:extLst>
              </p:nvPr>
            </p:nvGraphicFramePr>
            <p:xfrm>
              <a:off x="7165943" y="565234"/>
              <a:ext cx="4403538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6715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6715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773239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764095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747336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16440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6">
                <a:extLst>
                  <a:ext uri="{FF2B5EF4-FFF2-40B4-BE49-F238E27FC236}">
                    <a16:creationId xmlns:a16="http://schemas.microsoft.com/office/drawing/2014/main" id="{F071A818-C253-4D06-BB6B-427E0413DA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6832688"/>
                  </p:ext>
                </p:extLst>
              </p:nvPr>
            </p:nvGraphicFramePr>
            <p:xfrm>
              <a:off x="7165943" y="565234"/>
              <a:ext cx="4403538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6715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6715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692277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773239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764095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747336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818" r="-1108333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818" r="-990164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818" r="-434513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818" r="-330702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818" r="-196850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818" r="-100000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818" r="-1626" b="-4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01818" r="-1108333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1818" r="-990164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01818" r="-434513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01818" r="-330702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01818" r="-196850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01818" r="-100000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01818" r="-1626" b="-3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98214" r="-11083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98214" r="-99016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198214" r="-4345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198214" r="-33070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198214" r="-1968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198214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198214" r="-162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303636" r="-110833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03636" r="-990164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303636" r="-43451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303636" r="-330702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303636" r="-19685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303636" r="-10000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303636" r="-1626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403636" r="-110833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403636" r="-990164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7965" t="-403636" r="-43451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6140" t="-403636" r="-330702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74803" t="-403636" r="-19685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80800" t="-403636" r="-10000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88618" t="-403636" r="-1626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317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1"/>
            <a:ext cx="11055927" cy="798655"/>
          </a:xfrm>
        </p:spPr>
        <p:txBody>
          <a:bodyPr/>
          <a:lstStyle/>
          <a:p>
            <a:r>
              <a:rPr lang="es-CO" dirty="0"/>
              <a:t>Clasificación de las proposiciones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213544"/>
                <a:ext cx="11471563" cy="409274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s-MX" sz="2200" dirty="0">
                    <a:solidFill>
                      <a:srgbClr val="131314"/>
                    </a:solidFill>
                  </a:rPr>
                  <a:t>En lógica proposicional, las proposiciones se clasifican según su valor de verdad en todas sus posibles interpretaciones (combinación de valores de la tabla de verdad) en tres tipos.</a:t>
                </a:r>
              </a:p>
              <a:p>
                <a:r>
                  <a:rPr lang="es-MX" sz="2200" b="1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Tautología</a:t>
                </a:r>
                <a:r>
                  <a:rPr lang="es-MX" sz="22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: Es una proposición que es </a:t>
                </a:r>
                <a:r>
                  <a:rPr lang="es-MX" sz="2200" b="1" i="0" u="sng" dirty="0">
                    <a:solidFill>
                      <a:srgbClr val="131314"/>
                    </a:solidFill>
                    <a:effectLst/>
                    <a:latin typeface="Google Sans Text"/>
                  </a:rPr>
                  <a:t>verdadera</a:t>
                </a:r>
                <a:r>
                  <a:rPr lang="es-MX" sz="2200" b="0" i="0" u="sng" dirty="0">
                    <a:solidFill>
                      <a:srgbClr val="131314"/>
                    </a:solidFill>
                    <a:effectLst/>
                    <a:latin typeface="Google Sans Text"/>
                  </a:rPr>
                  <a:t> en todos los casos posibles</a:t>
                </a:r>
                <a:r>
                  <a:rPr lang="es-MX" sz="22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.</a:t>
                </a:r>
              </a:p>
              <a:p>
                <a:r>
                  <a:rPr lang="es-MX" sz="2200" b="1" dirty="0">
                    <a:solidFill>
                      <a:srgbClr val="131314"/>
                    </a:solidFill>
                    <a:latin typeface="Google Sans Text"/>
                  </a:rPr>
                  <a:t>Contradicción</a:t>
                </a:r>
                <a:r>
                  <a:rPr lang="es-MX" sz="2200" dirty="0">
                    <a:solidFill>
                      <a:srgbClr val="131314"/>
                    </a:solidFill>
                    <a:latin typeface="Google Sans Text"/>
                  </a:rPr>
                  <a:t>: Es una proposición que es </a:t>
                </a:r>
                <a:r>
                  <a:rPr lang="es-MX" sz="2200" b="1" u="sng" dirty="0">
                    <a:solidFill>
                      <a:srgbClr val="131314"/>
                    </a:solidFill>
                    <a:latin typeface="Google Sans Text"/>
                  </a:rPr>
                  <a:t>falsa</a:t>
                </a:r>
                <a:r>
                  <a:rPr lang="es-MX" sz="2200" u="sng" dirty="0">
                    <a:solidFill>
                      <a:srgbClr val="131314"/>
                    </a:solidFill>
                    <a:latin typeface="Google Sans Text"/>
                  </a:rPr>
                  <a:t> en todos los casos posibles</a:t>
                </a:r>
                <a:r>
                  <a:rPr lang="es-MX" sz="2200" dirty="0">
                    <a:solidFill>
                      <a:srgbClr val="131314"/>
                    </a:solidFill>
                    <a:latin typeface="Google Sans Text"/>
                  </a:rPr>
                  <a:t>.</a:t>
                </a:r>
              </a:p>
              <a:p>
                <a:r>
                  <a:rPr lang="es-MX" sz="2200" b="1" i="0">
                    <a:solidFill>
                      <a:srgbClr val="131314"/>
                    </a:solidFill>
                    <a:effectLst/>
                    <a:latin typeface="Google Sans Text"/>
                  </a:rPr>
                  <a:t>Contingencia</a:t>
                </a:r>
                <a:r>
                  <a:rPr lang="es-MX" sz="2200" b="0" i="0">
                    <a:solidFill>
                      <a:srgbClr val="131314"/>
                    </a:solidFill>
                    <a:effectLst/>
                    <a:latin typeface="Google Sans Text"/>
                  </a:rPr>
                  <a:t>: </a:t>
                </a:r>
                <a:r>
                  <a:rPr lang="es-MX" sz="22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Proposición que es </a:t>
                </a:r>
                <a:r>
                  <a:rPr lang="es-MX" sz="2200" b="1" i="0" u="sng" dirty="0">
                    <a:solidFill>
                      <a:srgbClr val="131314"/>
                    </a:solidFill>
                    <a:effectLst/>
                    <a:latin typeface="Google Sans Text"/>
                  </a:rPr>
                  <a:t>verdadera</a:t>
                </a:r>
                <a:r>
                  <a:rPr lang="es-MX" sz="2200" b="0" i="0" u="sng" dirty="0">
                    <a:solidFill>
                      <a:srgbClr val="131314"/>
                    </a:solidFill>
                    <a:effectLst/>
                    <a:latin typeface="Google Sans Text"/>
                  </a:rPr>
                  <a:t> para ciertas combinaciones</a:t>
                </a:r>
                <a:r>
                  <a:rPr lang="es-MX" sz="22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 y </a:t>
                </a:r>
                <a:r>
                  <a:rPr lang="es-MX" sz="2200" b="1" i="0" u="sng" dirty="0">
                    <a:solidFill>
                      <a:srgbClr val="131314"/>
                    </a:solidFill>
                    <a:effectLst/>
                    <a:latin typeface="Google Sans Text"/>
                  </a:rPr>
                  <a:t>falsa</a:t>
                </a:r>
                <a:r>
                  <a:rPr lang="es-MX" sz="2200" b="0" i="0" u="sng" dirty="0">
                    <a:solidFill>
                      <a:srgbClr val="131314"/>
                    </a:solidFill>
                    <a:effectLst/>
                    <a:latin typeface="Google Sans Text"/>
                  </a:rPr>
                  <a:t> para otras</a:t>
                </a:r>
                <a:r>
                  <a:rPr lang="es-MX" sz="2200" b="0" i="0" dirty="0">
                    <a:solidFill>
                      <a:srgbClr val="131314"/>
                    </a:solidFill>
                    <a:effectLst/>
                    <a:latin typeface="Google Sans Text"/>
                  </a:rPr>
                  <a:t>.</a:t>
                </a:r>
              </a:p>
              <a:p>
                <a:pPr marL="0" indent="0">
                  <a:buNone/>
                </a:pPr>
                <a:endParaRPr lang="es-MX" sz="22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r>
                  <a:rPr lang="es-MX" sz="2200" b="1" dirty="0"/>
                  <a:t>Ejemplo</a:t>
                </a:r>
                <a:r>
                  <a:rPr lang="es-MX" sz="2200" dirty="0"/>
                  <a:t>: Dadas las siguientes proposiciones, a que tipo pertenecen.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∨¬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MX" sz="22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MX" sz="22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220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20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22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¬</m:t>
                            </m:r>
                            <m:r>
                              <a:rPr lang="es-MX" sz="22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𝑞</m:t>
                            </m:r>
                            <m:r>
                              <a:rPr lang="es-MX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∨</m:t>
                            </m:r>
                            <m:r>
                              <m:rPr>
                                <m:lit/>
                              </m:rPr>
                              <a:rPr lang="es-MX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MX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→¬</m:t>
                        </m:r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MX" sz="2200" dirty="0"/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213544"/>
                <a:ext cx="11471563" cy="4092747"/>
              </a:xfrm>
              <a:blipFill>
                <a:blip r:embed="rId2"/>
                <a:stretch>
                  <a:fillRect l="-691" t="-253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888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1"/>
            <a:ext cx="11055927" cy="992619"/>
          </a:xfrm>
        </p:spPr>
        <p:txBody>
          <a:bodyPr/>
          <a:lstStyle/>
          <a:p>
            <a:r>
              <a:rPr lang="es-CO" dirty="0"/>
              <a:t>Clasificación de las proposiciones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213544"/>
                <a:ext cx="11471563" cy="5449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400" b="1" dirty="0"/>
                  <a:t>Ejemplo</a:t>
                </a:r>
                <a:r>
                  <a:rPr lang="es-MX" sz="2400" dirty="0"/>
                  <a:t>: Dadas las siguientes proposiciones, a que tipo pertenecen.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∨¬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MX" sz="22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s-MX" sz="220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s-MX" sz="22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MX" sz="22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s-MX" sz="2200" dirty="0"/>
              </a:p>
              <a:p>
                <a:pPr marL="457200" indent="-457200">
                  <a:buFont typeface="+mj-lt"/>
                  <a:buAutoNum type="arabicPeriod"/>
                </a:pPr>
                <a:endParaRPr lang="es-MX" sz="2200" dirty="0"/>
              </a:p>
              <a:p>
                <a:pPr marL="457200" indent="-457200">
                  <a:buFont typeface="+mj-lt"/>
                  <a:buAutoNum type="arabicPeriod"/>
                </a:pPr>
                <a:endParaRPr lang="es-MX" sz="22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220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20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22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¬</m:t>
                            </m:r>
                            <m:r>
                              <a:rPr lang="es-MX" sz="22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𝑞</m:t>
                            </m:r>
                            <m:r>
                              <a:rPr lang="es-MX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∨</m:t>
                            </m:r>
                            <m:r>
                              <m:rPr>
                                <m:lit/>
                              </m:rPr>
                              <a:rPr lang="es-MX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MX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→¬</m:t>
                        </m:r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MX" sz="2200" dirty="0"/>
              </a:p>
              <a:p>
                <a:pPr marL="457200" indent="-457200">
                  <a:buFont typeface="+mj-lt"/>
                  <a:buAutoNum type="arabicPeriod"/>
                </a:pPr>
                <a:endParaRPr lang="es-MX" sz="2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213544"/>
                <a:ext cx="11471563" cy="5449800"/>
              </a:xfrm>
              <a:blipFill>
                <a:blip r:embed="rId2"/>
                <a:stretch>
                  <a:fillRect l="-797" t="-156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13CF5809-582D-4F07-A5EE-35FC34C3EA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97114"/>
                  </p:ext>
                </p:extLst>
              </p:nvPr>
            </p:nvGraphicFramePr>
            <p:xfrm>
              <a:off x="4076794" y="1732506"/>
              <a:ext cx="2143900" cy="11887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8624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8624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171420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∨¬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MX" sz="20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13CF5809-582D-4F07-A5EE-35FC34C3EA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97114"/>
                  </p:ext>
                </p:extLst>
              </p:nvPr>
            </p:nvGraphicFramePr>
            <p:xfrm>
              <a:off x="4076794" y="1732506"/>
              <a:ext cx="2143900" cy="11887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8624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8624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171420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250" t="-1538" r="-343750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250" t="-1538" r="-243750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83420" t="-1538" r="-1036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250" t="-100000" r="-343750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250" t="-100000" r="-243750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83420" t="-100000" r="-1036" b="-1015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250" t="-203077" r="-34375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250" t="-203077" r="-24375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83420" t="-203077" r="-1036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0550F5F5-51C8-429A-AC26-25BD0D6B35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4821651"/>
                  </p:ext>
                </p:extLst>
              </p:nvPr>
            </p:nvGraphicFramePr>
            <p:xfrm>
              <a:off x="4062943" y="3193465"/>
              <a:ext cx="2143899" cy="11887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8624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354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122217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∧¬</m:t>
                                </m:r>
                                <m:r>
                                  <a:rPr lang="es-MX" sz="20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0550F5F5-51C8-429A-AC26-25BD0D6B35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4821651"/>
                  </p:ext>
                </p:extLst>
              </p:nvPr>
            </p:nvGraphicFramePr>
            <p:xfrm>
              <a:off x="4062943" y="3193465"/>
              <a:ext cx="2143899" cy="11887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8624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354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122217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1538" r="-343750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92045" t="-1538" r="-212500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91351" t="-1538" r="-1081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100000" r="-343750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92045" t="-100000" r="-212500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91351" t="-100000" r="-1081" b="-1015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203077" r="-34375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92045" t="-203077" r="-21250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91351" t="-203077" r="-1081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C1143585-A3F4-4CDF-8A23-240A916C24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5367743"/>
                  </p:ext>
                </p:extLst>
              </p:nvPr>
            </p:nvGraphicFramePr>
            <p:xfrm>
              <a:off x="4054227" y="4737556"/>
              <a:ext cx="7500638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3543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00367">
                      <a:extLst>
                        <a:ext uri="{9D8B030D-6E8A-4147-A177-3AD203B41FA5}">
                          <a16:colId xmlns:a16="http://schemas.microsoft.com/office/drawing/2014/main" val="1921489981"/>
                        </a:ext>
                      </a:extLst>
                    </a:gridCol>
                    <a:gridCol w="594043">
                      <a:extLst>
                        <a:ext uri="{9D8B030D-6E8A-4147-A177-3AD203B41FA5}">
                          <a16:colId xmlns:a16="http://schemas.microsoft.com/office/drawing/2014/main" val="331983888"/>
                        </a:ext>
                      </a:extLst>
                    </a:gridCol>
                    <a:gridCol w="60410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010158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  <a:gridCol w="1925335">
                      <a:extLst>
                        <a:ext uri="{9D8B030D-6E8A-4147-A177-3AD203B41FA5}">
                          <a16:colId xmlns:a16="http://schemas.microsoft.com/office/drawing/2014/main" val="278034474"/>
                        </a:ext>
                      </a:extLst>
                    </a:gridCol>
                    <a:gridCol w="2563091">
                      <a:extLst>
                        <a:ext uri="{9D8B030D-6E8A-4147-A177-3AD203B41FA5}">
                          <a16:colId xmlns:a16="http://schemas.microsoft.com/office/drawing/2014/main" val="249873678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20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MX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¬</m:t>
                                    </m:r>
                                    <m:r>
                                      <a:rPr lang="es-MX" sz="20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𝒑</m:t>
                                    </m:r>
                                    <m:r>
                                      <a:rPr lang="es-MX" sz="20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s-MX" sz="20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s-MX" sz="20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MX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¬</m:t>
                                        </m:r>
                                        <m:r>
                                          <a:rPr lang="es-MX" sz="20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𝒑</m:t>
                                        </m:r>
                                        <m:r>
                                          <a:rPr lang="es-MX" sz="20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∨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es-MX" sz="20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s-MX" sz="20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𝒒</m:t>
                                        </m:r>
                                      </m:e>
                                    </m:d>
                                    <m:r>
                                      <a:rPr lang="es-MX" sz="20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→¬</m:t>
                                    </m:r>
                                    <m:r>
                                      <a:rPr lang="es-MX" sz="20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4887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9194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C1143585-A3F4-4CDF-8A23-240A916C24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5367743"/>
                  </p:ext>
                </p:extLst>
              </p:nvPr>
            </p:nvGraphicFramePr>
            <p:xfrm>
              <a:off x="4054227" y="4737556"/>
              <a:ext cx="7500638" cy="1981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3543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00367">
                      <a:extLst>
                        <a:ext uri="{9D8B030D-6E8A-4147-A177-3AD203B41FA5}">
                          <a16:colId xmlns:a16="http://schemas.microsoft.com/office/drawing/2014/main" val="1921489981"/>
                        </a:ext>
                      </a:extLst>
                    </a:gridCol>
                    <a:gridCol w="594043">
                      <a:extLst>
                        <a:ext uri="{9D8B030D-6E8A-4147-A177-3AD203B41FA5}">
                          <a16:colId xmlns:a16="http://schemas.microsoft.com/office/drawing/2014/main" val="331983888"/>
                        </a:ext>
                      </a:extLst>
                    </a:gridCol>
                    <a:gridCol w="60410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010158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  <a:gridCol w="1925335">
                      <a:extLst>
                        <a:ext uri="{9D8B030D-6E8A-4147-A177-3AD203B41FA5}">
                          <a16:colId xmlns:a16="http://schemas.microsoft.com/office/drawing/2014/main" val="278034474"/>
                        </a:ext>
                      </a:extLst>
                    </a:gridCol>
                    <a:gridCol w="2563091">
                      <a:extLst>
                        <a:ext uri="{9D8B030D-6E8A-4147-A177-3AD203B41FA5}">
                          <a16:colId xmlns:a16="http://schemas.microsoft.com/office/drawing/2014/main" val="249873678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15" t="-1538" r="-1768182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1515" t="-1538" r="-1668182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37113" t="-1538" r="-1035052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30000" t="-1538" r="-904000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538" r="-447879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6646" t="-1538" r="-133861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92637" t="-1538" r="-475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15" t="-101538" r="-1768182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1515" t="-101538" r="-1668182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37113" t="-101538" r="-1035052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30000" t="-101538" r="-904000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01538" r="-447879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6646" t="-101538" r="-133861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92637" t="-101538" r="-475" b="-3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15" t="-198485" r="-176818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1515" t="-198485" r="-166818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37113" t="-198485" r="-103505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30000" t="-198485" r="-904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98485" r="-4478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6646" t="-198485" r="-13386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92637" t="-198485" r="-47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15" t="-303077" r="-1768182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1515" t="-303077" r="-1668182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37113" t="-303077" r="-1035052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30000" t="-303077" r="-90400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303077" r="-447879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6646" t="-303077" r="-133861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92637" t="-303077" r="-475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4887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15" t="-403077" r="-1768182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1515" t="-403077" r="-1668182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37113" t="-403077" r="-1035052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30000" t="-403077" r="-90400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403077" r="-44787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6646" t="-403077" r="-133861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92637" t="-403077" r="-475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9194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758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1"/>
            <a:ext cx="10993581" cy="957343"/>
          </a:xfrm>
        </p:spPr>
        <p:txBody>
          <a:bodyPr/>
          <a:lstStyle/>
          <a:p>
            <a:r>
              <a:rPr lang="es-CO" dirty="0"/>
              <a:t>Equivalencia 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7144" y="1020134"/>
                <a:ext cx="11471563" cy="7583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200" dirty="0">
                    <a:ea typeface="Roboto" panose="02000000000000000000" pitchFamily="2" charset="0"/>
                  </a:rPr>
                  <a:t>Dos proposiciones compuestas </a:t>
                </a:r>
                <a14:m>
                  <m:oMath xmlns:m="http://schemas.openxmlformats.org/officeDocument/2006/math">
                    <m:r>
                      <a:rPr lang="es-MX" sz="22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</m:oMath>
                </a14:m>
                <a:r>
                  <a:rPr lang="es-MX" sz="2200" dirty="0"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2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𝒒</m:t>
                    </m:r>
                  </m:oMath>
                </a14:m>
                <a:r>
                  <a:rPr lang="es-MX" sz="2200" dirty="0">
                    <a:ea typeface="Roboto" panose="02000000000000000000" pitchFamily="2" charset="0"/>
                  </a:rPr>
                  <a:t> son lógicamente equivalentes, o simplemente equivalentes, si </a:t>
                </a:r>
                <a14:m>
                  <m:oMath xmlns:m="http://schemas.openxmlformats.org/officeDocument/2006/math">
                    <m:r>
                      <a:rPr lang="es-MX" sz="22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  <m:r>
                      <a:rPr lang="es-MX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s-MX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s-MX" sz="2200" dirty="0">
                    <a:ea typeface="Roboto" panose="02000000000000000000" pitchFamily="2" charset="0"/>
                  </a:rPr>
                  <a:t> es una tautología.</a:t>
                </a:r>
              </a:p>
              <a:p>
                <a:pPr marL="0" indent="0">
                  <a:buNone/>
                </a:pPr>
                <a:endParaRPr lang="es-MX" sz="22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144" y="1020134"/>
                <a:ext cx="11471563" cy="758365"/>
              </a:xfrm>
              <a:blipFill>
                <a:blip r:embed="rId2"/>
                <a:stretch>
                  <a:fillRect l="-691" t="-8800" r="-531" b="-8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30BA250-E803-4847-BACF-C2EA1E6FD9D4}"/>
                  </a:ext>
                </a:extLst>
              </p:cNvPr>
              <p:cNvSpPr txBox="1"/>
              <p:nvPr/>
            </p:nvSpPr>
            <p:spPr>
              <a:xfrm>
                <a:off x="526473" y="1766566"/>
                <a:ext cx="10993582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MX" sz="2000" b="1" dirty="0">
                    <a:ea typeface="Roboto" panose="02000000000000000000" pitchFamily="2" charset="0"/>
                  </a:rPr>
                  <a:t>Notación</a:t>
                </a:r>
                <a:r>
                  <a:rPr lang="es-MX" sz="2000" dirty="0">
                    <a:ea typeface="Roboto" panose="02000000000000000000" pitchFamily="2" charset="0"/>
                  </a:rPr>
                  <a:t>:</a:t>
                </a:r>
                <a:r>
                  <a:rPr lang="es-MX" sz="2000" dirty="0">
                    <a:solidFill>
                      <a:schemeClr val="accent5"/>
                    </a:solidFill>
                    <a:ea typeface="Roboto" panose="02000000000000000000" pitchFamily="2" charset="0"/>
                  </a:rPr>
                  <a:t> </a:t>
                </a:r>
                <a:r>
                  <a:rPr lang="es-MX" sz="2000" dirty="0">
                    <a:ea typeface="Roboto" panose="02000000000000000000" pitchFamily="2" charset="0"/>
                  </a:rPr>
                  <a:t>Una equivalencia se puede escribir como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que es lo mismo que </a:t>
                </a:r>
                <a14:m>
                  <m:oMath xmlns:m="http://schemas.openxmlformats.org/officeDocument/2006/math">
                    <m:r>
                      <a:rPr lang="es-MX" sz="2000" b="1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endParaRPr lang="es-MX" sz="2000" dirty="0"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30BA250-E803-4847-BACF-C2EA1E6FD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73" y="1766566"/>
                <a:ext cx="10993582" cy="400110"/>
              </a:xfrm>
              <a:prstGeom prst="rect">
                <a:avLst/>
              </a:prstGeom>
              <a:blipFill>
                <a:blip r:embed="rId3"/>
                <a:stretch>
                  <a:fillRect l="-554" t="-9231" b="-2769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A62499-0A79-4DB4-96F0-1187366C5807}"/>
                  </a:ext>
                </a:extLst>
              </p:cNvPr>
              <p:cNvSpPr txBox="1"/>
              <p:nvPr/>
            </p:nvSpPr>
            <p:spPr>
              <a:xfrm>
                <a:off x="415631" y="2166916"/>
                <a:ext cx="1130531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200" b="1" dirty="0">
                    <a:ea typeface="Roboto" panose="02000000000000000000" pitchFamily="2" charset="0"/>
                  </a:rPr>
                  <a:t>Ejemplos</a:t>
                </a:r>
                <a:r>
                  <a:rPr lang="es-MX" sz="2200" dirty="0">
                    <a:ea typeface="Roboto" panose="02000000000000000000" pitchFamily="2" charset="0"/>
                  </a:rPr>
                  <a:t>: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200" dirty="0">
                    <a:ea typeface="Roboto" panose="02000000000000000000" pitchFamily="2" charset="0"/>
                  </a:rPr>
                  <a:t>Demuestre que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MX" sz="2200" dirty="0"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𝑞</m:t>
                    </m:r>
                  </m:oMath>
                </a14:m>
                <a:r>
                  <a:rPr lang="es-MX" sz="2200" dirty="0">
                    <a:ea typeface="Roboto" panose="02000000000000000000" pitchFamily="2" charset="0"/>
                  </a:rPr>
                  <a:t> son equivalentes.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200" dirty="0">
                    <a:ea typeface="Roboto" panose="02000000000000000000" pitchFamily="2" charset="0"/>
                  </a:rPr>
                  <a:t>Demuestre las leyes de Morgan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CO" sz="22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s-MX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MX" sz="2200" dirty="0">
                  <a:ea typeface="Roboto" panose="02000000000000000000" pitchFamily="2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200" dirty="0">
                    <a:ea typeface="Roboto" panose="02000000000000000000" pitchFamily="2" charset="0"/>
                  </a:rPr>
                  <a:t>Dada la siguiente tabla de verdad, cuales expresiones son lógicamente equivalentes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A62499-0A79-4DB4-96F0-1187366C5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31" y="2166916"/>
                <a:ext cx="11305310" cy="2123658"/>
              </a:xfrm>
              <a:prstGeom prst="rect">
                <a:avLst/>
              </a:prstGeom>
              <a:blipFill>
                <a:blip r:embed="rId4"/>
                <a:stretch>
                  <a:fillRect l="-701" t="-1719" b="-487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EC0C9EF-C3DF-45AE-896C-3E054BABFD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6537914"/>
                  </p:ext>
                </p:extLst>
              </p:nvPr>
            </p:nvGraphicFramePr>
            <p:xfrm>
              <a:off x="1038455" y="4291601"/>
              <a:ext cx="10427116" cy="248326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2413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1916493968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2559379939"/>
                        </a:ext>
                      </a:extLst>
                    </a:gridCol>
                    <a:gridCol w="17826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568743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241069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368492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</a:tblGrid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Condicional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Reciproco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Inverso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4507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EC0C9EF-C3DF-45AE-896C-3E054BABFD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6537914"/>
                  </p:ext>
                </p:extLst>
              </p:nvPr>
            </p:nvGraphicFramePr>
            <p:xfrm>
              <a:off x="1038455" y="4291601"/>
              <a:ext cx="10427116" cy="248326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2413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1916493968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2559379939"/>
                        </a:ext>
                      </a:extLst>
                    </a:gridCol>
                    <a:gridCol w="17826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568743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241069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368492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</a:tblGrid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Condicional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Reciproco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Inverso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4507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41" t="-105882" r="-1168889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41" t="-105882" r="-1068889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265" t="-105882" r="-961029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481" t="-105882" r="-868148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5616" t="-105882" r="-301370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3256" t="-105882" r="-241085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6456" t="-105882" r="-57468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0889" t="-105882" r="-889" b="-4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41" t="-205882" r="-1168889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41" t="-205882" r="-1068889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265" t="-205882" r="-961029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481" t="-205882" r="-868148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5616" t="-205882" r="-301370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3256" t="-205882" r="-241085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6456" t="-205882" r="-57468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0889" t="-205882" r="-889" b="-3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41" t="-305882" r="-1168889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41" t="-305882" r="-1068889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265" t="-305882" r="-961029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481" t="-305882" r="-868148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5616" t="-305882" r="-301370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3256" t="-305882" r="-241085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6456" t="-305882" r="-57468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0889" t="-305882" r="-889" b="-2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41" t="-405882" r="-1168889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41" t="-405882" r="-1068889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265" t="-405882" r="-961029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481" t="-405882" r="-868148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5616" t="-405882" r="-301370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3256" t="-405882" r="-241085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6456" t="-405882" r="-57468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0889" t="-405882" r="-889" b="-1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41" t="-505882" r="-1168889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41" t="-505882" r="-1068889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265" t="-505882" r="-961029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481" t="-505882" r="-868148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5616" t="-505882" r="-301370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3256" t="-505882" r="-241085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6456" t="-505882" r="-57468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0889" t="-505882" r="-889" b="-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48895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0993581" cy="1325563"/>
          </a:xfrm>
        </p:spPr>
        <p:txBody>
          <a:bodyPr/>
          <a:lstStyle/>
          <a:p>
            <a:r>
              <a:rPr lang="es-CO" dirty="0"/>
              <a:t>Equivalencia 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A62499-0A79-4DB4-96F0-1187366C5807}"/>
                  </a:ext>
                </a:extLst>
              </p:cNvPr>
              <p:cNvSpPr txBox="1"/>
              <p:nvPr/>
            </p:nvSpPr>
            <p:spPr>
              <a:xfrm>
                <a:off x="443345" y="1225342"/>
                <a:ext cx="1130531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s-MX" sz="2200" dirty="0">
                    <a:ea typeface="Roboto" panose="02000000000000000000" pitchFamily="2" charset="0"/>
                  </a:rPr>
                  <a:t>Demuestre que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MX" sz="2200" dirty="0"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𝑞</m:t>
                    </m:r>
                  </m:oMath>
                </a14:m>
                <a:r>
                  <a:rPr lang="es-MX" sz="2200" dirty="0">
                    <a:ea typeface="Roboto" panose="02000000000000000000" pitchFamily="2" charset="0"/>
                  </a:rPr>
                  <a:t> son equivalentes.</a:t>
                </a:r>
                <a:endParaRPr lang="es-MX" sz="2000" dirty="0"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A62499-0A79-4DB4-96F0-1187366C5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45" y="1225342"/>
                <a:ext cx="11305310" cy="430887"/>
              </a:xfrm>
              <a:prstGeom prst="rect">
                <a:avLst/>
              </a:prstGeom>
              <a:blipFill>
                <a:blip r:embed="rId2"/>
                <a:stretch>
                  <a:fillRect l="-755" t="-11268" b="-2816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042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0993581" cy="1325563"/>
          </a:xfrm>
        </p:spPr>
        <p:txBody>
          <a:bodyPr/>
          <a:lstStyle/>
          <a:p>
            <a:r>
              <a:rPr lang="es-CO" dirty="0"/>
              <a:t>Equivalencia 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A62499-0A79-4DB4-96F0-1187366C5807}"/>
                  </a:ext>
                </a:extLst>
              </p:cNvPr>
              <p:cNvSpPr txBox="1"/>
              <p:nvPr/>
            </p:nvSpPr>
            <p:spPr>
              <a:xfrm>
                <a:off x="443345" y="1294616"/>
                <a:ext cx="1130531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s-MX" sz="2200" dirty="0">
                    <a:ea typeface="Roboto" panose="02000000000000000000" pitchFamily="2" charset="0"/>
                  </a:rPr>
                  <a:t>Demuestre las leyes de Morgan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CO" sz="22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s-MX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𝑝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¬</m:t>
                    </m:r>
                    <m:r>
                      <a:rPr lang="es-MX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MX" sz="2200" dirty="0"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AA62499-0A79-4DB4-96F0-1187366C5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45" y="1294616"/>
                <a:ext cx="11305310" cy="1107996"/>
              </a:xfrm>
              <a:prstGeom prst="rect">
                <a:avLst/>
              </a:prstGeom>
              <a:blipFill>
                <a:blip r:embed="rId2"/>
                <a:stretch>
                  <a:fillRect l="-755" t="-4396" b="-824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631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0993581" cy="1325563"/>
          </a:xfrm>
        </p:spPr>
        <p:txBody>
          <a:bodyPr/>
          <a:lstStyle/>
          <a:p>
            <a:r>
              <a:rPr lang="es-CO" dirty="0"/>
              <a:t>Equivalencia lógica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A62499-0A79-4DB4-96F0-1187366C5807}"/>
              </a:ext>
            </a:extLst>
          </p:cNvPr>
          <p:cNvSpPr txBox="1"/>
          <p:nvPr/>
        </p:nvSpPr>
        <p:spPr>
          <a:xfrm>
            <a:off x="443345" y="1253052"/>
            <a:ext cx="113053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s-MX" sz="2200" dirty="0">
                <a:ea typeface="Roboto" panose="02000000000000000000" pitchFamily="2" charset="0"/>
              </a:rPr>
              <a:t>Dada la siguiente tabla de verdad, cuales expresiones son lógicamente equivalentes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6457B720-8016-40B2-8010-78ADD93EB1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0674717"/>
                  </p:ext>
                </p:extLst>
              </p:nvPr>
            </p:nvGraphicFramePr>
            <p:xfrm>
              <a:off x="774283" y="2056122"/>
              <a:ext cx="10427116" cy="248326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2413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1916493968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2559379939"/>
                        </a:ext>
                      </a:extLst>
                    </a:gridCol>
                    <a:gridCol w="17826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568743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241069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368492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</a:tblGrid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Condicional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Reciproco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Inverso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4507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20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2000" b="1" dirty="0">
                            <a:solidFill>
                              <a:schemeClr val="bg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6457B720-8016-40B2-8010-78ADD93EB1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0674717"/>
                  </p:ext>
                </p:extLst>
              </p:nvPr>
            </p:nvGraphicFramePr>
            <p:xfrm>
              <a:off x="774283" y="2056122"/>
              <a:ext cx="10427116" cy="248326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24137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1916493968"/>
                        </a:ext>
                      </a:extLst>
                    </a:gridCol>
                    <a:gridCol w="824137">
                      <a:extLst>
                        <a:ext uri="{9D8B030D-6E8A-4147-A177-3AD203B41FA5}">
                          <a16:colId xmlns:a16="http://schemas.microsoft.com/office/drawing/2014/main" val="2559379939"/>
                        </a:ext>
                      </a:extLst>
                    </a:gridCol>
                    <a:gridCol w="1782642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568743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241069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368492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</a:tblGrid>
                  <a:tr h="4138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CO" sz="20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Condicional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Reciproco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Inverso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954507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" t="-105882" r="-1168889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81" t="-105882" r="-1068889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5882" r="-961029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222" t="-105882" r="-868148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5959" t="-105882" r="-301370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3643" t="-105882" r="-241085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6709" t="-105882" r="-57468" b="-4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1333" t="-105882" r="-889" b="-4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" t="-205882" r="-1168889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81" t="-205882" r="-1068889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05882" r="-961029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222" t="-205882" r="-868148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5959" t="-205882" r="-301370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3643" t="-205882" r="-241085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6709" t="-205882" r="-57468" b="-3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1333" t="-205882" r="-889" b="-3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" t="-305882" r="-1168889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81" t="-305882" r="-1068889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305882" r="-961029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222" t="-305882" r="-868148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5959" t="-305882" r="-301370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3643" t="-305882" r="-241085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6709" t="-305882" r="-57468" b="-2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1333" t="-305882" r="-889" b="-2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" t="-405882" r="-1168889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81" t="-405882" r="-1068889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05882" r="-961029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222" t="-405882" r="-868148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5959" t="-405882" r="-301370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3643" t="-405882" r="-241085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6709" t="-405882" r="-57468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1333" t="-405882" r="-889" b="-1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413877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1" t="-505882" r="-1168889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81" t="-505882" r="-1068889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505882" r="-961029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222" t="-505882" r="-868148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5959" t="-505882" r="-301370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3643" t="-505882" r="-241085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6709" t="-505882" r="-57468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1333" t="-505882" r="-889" b="-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44717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979801"/>
          </a:xfrm>
        </p:spPr>
        <p:txBody>
          <a:bodyPr/>
          <a:lstStyle/>
          <a:p>
            <a:r>
              <a:rPr lang="es-CO" dirty="0"/>
              <a:t>Expresiones condicionales y sus variantes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084526"/>
                <a:ext cx="11471563" cy="68909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s-MX" sz="2200" b="0" i="0" dirty="0">
                    <a:solidFill>
                      <a:schemeClr val="tx1"/>
                    </a:solidFill>
                    <a:effectLst/>
                  </a:rPr>
                  <a:t>A partir de una proposición original 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→</m:t>
                    </m:r>
                    <m:r>
                      <a:rPr lang="es-MX" sz="2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200" b="0" i="0" dirty="0">
                    <a:solidFill>
                      <a:schemeClr val="tx1"/>
                    </a:solidFill>
                    <a:effectLst/>
                  </a:rPr>
                  <a:t>, podemos derivar otras tres formas lógicas cambiando el orden y aplicando operaciones de negación:</a:t>
                </a:r>
                <a:endParaRPr lang="es-MX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084526"/>
                <a:ext cx="11471563" cy="689093"/>
              </a:xfrm>
              <a:blipFill>
                <a:blip r:embed="rId2"/>
                <a:stretch>
                  <a:fillRect l="-691" t="-10619" r="-1222" b="-1858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644E8626-B37B-45E3-B81D-C9DDF6250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225" y="1815184"/>
            <a:ext cx="8332045" cy="479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565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1"/>
            <a:ext cx="10515600" cy="951056"/>
          </a:xfrm>
        </p:spPr>
        <p:txBody>
          <a:bodyPr/>
          <a:lstStyle/>
          <a:p>
            <a:r>
              <a:rPr lang="es-CO" dirty="0"/>
              <a:t>Expresiones condicionales y sus variantes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042714"/>
            <a:ext cx="11471563" cy="25317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200" b="1" i="0" dirty="0">
                <a:effectLst/>
              </a:rPr>
              <a:t>Ejemplo</a:t>
            </a:r>
            <a:r>
              <a:rPr lang="es-MX" sz="2200" i="0" dirty="0">
                <a:effectLst/>
              </a:rPr>
              <a:t>: Dado el enunciado</a:t>
            </a:r>
            <a:endParaRPr lang="es-MX" sz="2200" b="0" i="0" dirty="0">
              <a:effectLst/>
            </a:endParaRPr>
          </a:p>
          <a:p>
            <a:pPr marL="0" indent="0" algn="ctr">
              <a:buNone/>
            </a:pPr>
            <a:endParaRPr lang="es-MX" sz="2200" i="1" dirty="0"/>
          </a:p>
          <a:p>
            <a:pPr marL="0" indent="0" algn="ctr">
              <a:buNone/>
            </a:pPr>
            <a:r>
              <a:rPr lang="es-MX" sz="2200" b="1" i="1" dirty="0"/>
              <a:t>“Si llueve, entonces el patio esta mojado”</a:t>
            </a:r>
          </a:p>
          <a:p>
            <a:pPr marL="0" indent="0">
              <a:buNone/>
            </a:pPr>
            <a:endParaRPr lang="es-MX" sz="2200" dirty="0"/>
          </a:p>
          <a:p>
            <a:pPr marL="0" indent="0">
              <a:buNone/>
            </a:pPr>
            <a:endParaRPr lang="es-MX" sz="2200" dirty="0"/>
          </a:p>
          <a:p>
            <a:pPr marL="0" indent="0">
              <a:buNone/>
            </a:pPr>
            <a:r>
              <a:rPr lang="es-MX" sz="2200" dirty="0"/>
              <a:t>Obtenga la expresión lógica asociada proposición original y llene la siguiente tabla de acuerdo 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D0DF55A3-16A4-4AFC-9103-A7E5BECBE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092846"/>
              </p:ext>
            </p:extLst>
          </p:nvPr>
        </p:nvGraphicFramePr>
        <p:xfrm>
          <a:off x="453341" y="3738068"/>
          <a:ext cx="11378440" cy="2926080"/>
        </p:xfrm>
        <a:graphic>
          <a:graphicData uri="http://schemas.openxmlformats.org/drawingml/2006/table">
            <a:tbl>
              <a:tblPr firstRow="1" bandRow="1"/>
              <a:tblGrid>
                <a:gridCol w="1951381">
                  <a:extLst>
                    <a:ext uri="{9D8B030D-6E8A-4147-A177-3AD203B41FA5}">
                      <a16:colId xmlns:a16="http://schemas.microsoft.com/office/drawing/2014/main" val="79869298"/>
                    </a:ext>
                  </a:extLst>
                </a:gridCol>
                <a:gridCol w="2005715">
                  <a:extLst>
                    <a:ext uri="{9D8B030D-6E8A-4147-A177-3AD203B41FA5}">
                      <a16:colId xmlns:a16="http://schemas.microsoft.com/office/drawing/2014/main" val="3347906918"/>
                    </a:ext>
                  </a:extLst>
                </a:gridCol>
                <a:gridCol w="3348108">
                  <a:extLst>
                    <a:ext uri="{9D8B030D-6E8A-4147-A177-3AD203B41FA5}">
                      <a16:colId xmlns:a16="http://schemas.microsoft.com/office/drawing/2014/main" val="912474650"/>
                    </a:ext>
                  </a:extLst>
                </a:gridCol>
                <a:gridCol w="4073236">
                  <a:extLst>
                    <a:ext uri="{9D8B030D-6E8A-4147-A177-3AD203B41FA5}">
                      <a16:colId xmlns:a16="http://schemas.microsoft.com/office/drawing/2014/main" val="4025530010"/>
                    </a:ext>
                  </a:extLst>
                </a:gridCol>
              </a:tblGrid>
              <a:tr h="253739"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Expresión lógica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Expresión en lenguaje natural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Equivalencia respecto al caso original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954507"/>
                  </a:ext>
                </a:extLst>
              </a:tr>
              <a:tr h="331213">
                <a:tc>
                  <a:txBody>
                    <a:bodyPr/>
                    <a:lstStyle/>
                    <a:p>
                      <a:r>
                        <a:rPr lang="es-CO" sz="18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Original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sz="18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sz="18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endParaRPr lang="es-CO" sz="18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sz="18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70299"/>
                  </a:ext>
                </a:extLst>
              </a:tr>
              <a:tr h="253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Reciproco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549228"/>
                  </a:ext>
                </a:extLst>
              </a:tr>
              <a:tr h="253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Inverso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127006"/>
                  </a:ext>
                </a:extLst>
              </a:tr>
              <a:tr h="253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Contrareciproco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868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715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Expresiones condicionales y sus variantes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4"/>
            <a:ext cx="11471563" cy="2794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b="1" i="0" dirty="0">
                <a:effectLst/>
              </a:rPr>
              <a:t>Ejemplo</a:t>
            </a:r>
            <a:r>
              <a:rPr lang="es-MX" sz="2200" i="0" dirty="0">
                <a:effectLst/>
              </a:rPr>
              <a:t>: Se tiene la siguiente proposición</a:t>
            </a:r>
          </a:p>
          <a:p>
            <a:pPr marL="0" indent="0">
              <a:buNone/>
            </a:pPr>
            <a:endParaRPr lang="es-MX" sz="2200" b="0" i="0" dirty="0">
              <a:effectLst/>
            </a:endParaRPr>
          </a:p>
          <a:p>
            <a:pPr marL="0" indent="0" algn="ctr">
              <a:buNone/>
            </a:pPr>
            <a:r>
              <a:rPr lang="es-MX" sz="2200" b="1" i="1" dirty="0"/>
              <a:t>“Si gano la lotería, entonces seré feliz”</a:t>
            </a:r>
          </a:p>
          <a:p>
            <a:pPr marL="0" indent="0">
              <a:buNone/>
            </a:pPr>
            <a:endParaRPr lang="es-MX" sz="2200" dirty="0"/>
          </a:p>
          <a:p>
            <a:pPr marL="457200" indent="-457200">
              <a:buFont typeface="+mj-lt"/>
              <a:buAutoNum type="arabicPeriod"/>
            </a:pPr>
            <a:r>
              <a:rPr lang="es-MX" sz="2200" dirty="0"/>
              <a:t>Determine las proposiciones simples y la expresión lógica asociada.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200" dirty="0"/>
              <a:t>Obtenga el reciproco, el contrarrecíproco y el contrario</a:t>
            </a:r>
          </a:p>
        </p:txBody>
      </p:sp>
    </p:spTree>
    <p:extLst>
      <p:ext uri="{BB962C8B-B14F-4D97-AF65-F5344CB8AC3E}">
        <p14:creationId xmlns:p14="http://schemas.microsoft.com/office/powerpoint/2010/main" val="789416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Descargar fondos de Looneytunes, Eso Es Todo Amigos. | Wallpapers.com">
            <a:extLst>
              <a:ext uri="{FF2B5EF4-FFF2-40B4-BE49-F238E27FC236}">
                <a16:creationId xmlns:a16="http://schemas.microsoft.com/office/drawing/2014/main" id="{80E56D42-6B08-45CB-A8AD-5B69CC1FD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189" y="1300595"/>
            <a:ext cx="8043676" cy="4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409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1394</Words>
  <Application>Microsoft Office PowerPoint</Application>
  <PresentationFormat>Panorámica</PresentationFormat>
  <Paragraphs>572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Google Sans Text</vt:lpstr>
      <vt:lpstr>Roboto</vt:lpstr>
      <vt:lpstr>Tema de Office</vt:lpstr>
      <vt:lpstr>Matemáticas Discretas 1</vt:lpstr>
      <vt:lpstr>Recursos de esta clase</vt:lpstr>
      <vt:lpstr>Agenda</vt:lpstr>
      <vt:lpstr>Operadores lógicos – Tablas de verdad</vt:lpstr>
      <vt:lpstr>Reglas de prioridad y asociatividad</vt:lpstr>
      <vt:lpstr>Tablas de verdad</vt:lpstr>
      <vt:lpstr>Tablas de verdad</vt:lpstr>
      <vt:lpstr>Tablas de verdad</vt:lpstr>
      <vt:lpstr>Tablas de verdad</vt:lpstr>
      <vt:lpstr>Tablas de verdad</vt:lpstr>
      <vt:lpstr>Tablas de verdad</vt:lpstr>
      <vt:lpstr>Tablas de verdad</vt:lpstr>
      <vt:lpstr>Clasificación de las proposiciones</vt:lpstr>
      <vt:lpstr>Clasificación de las proposiciones</vt:lpstr>
      <vt:lpstr>Equivalencia lógica</vt:lpstr>
      <vt:lpstr>Equivalencia lógica</vt:lpstr>
      <vt:lpstr>Equivalencia lógica</vt:lpstr>
      <vt:lpstr>Equivalencia lógica</vt:lpstr>
      <vt:lpstr>Expresiones condicionales y sus variantes</vt:lpstr>
      <vt:lpstr>Expresiones condicionales y sus variantes</vt:lpstr>
      <vt:lpstr>Expresiones condicionales y sus variantes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Matemáticas Discretas 1</dc:title>
  <dc:creator>Henry Arcila</dc:creator>
  <cp:lastModifiedBy>HENRY ALBERTO ARCILA RAMIREZ</cp:lastModifiedBy>
  <cp:revision>10</cp:revision>
  <dcterms:created xsi:type="dcterms:W3CDTF">2026-02-16T23:39:43Z</dcterms:created>
  <dcterms:modified xsi:type="dcterms:W3CDTF">2026-08-18T14:25:38Z</dcterms:modified>
</cp:coreProperties>
</file>