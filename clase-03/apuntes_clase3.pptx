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9" r:id="rId2"/>
    <p:sldId id="300" r:id="rId3"/>
    <p:sldId id="258" r:id="rId4"/>
    <p:sldId id="270" r:id="rId5"/>
    <p:sldId id="286" r:id="rId6"/>
    <p:sldId id="301" r:id="rId7"/>
    <p:sldId id="284" r:id="rId8"/>
    <p:sldId id="287" r:id="rId9"/>
    <p:sldId id="288" r:id="rId10"/>
    <p:sldId id="289" r:id="rId11"/>
    <p:sldId id="290" r:id="rId12"/>
    <p:sldId id="271" r:id="rId13"/>
    <p:sldId id="272" r:id="rId14"/>
    <p:sldId id="291" r:id="rId15"/>
    <p:sldId id="292" r:id="rId16"/>
    <p:sldId id="293" r:id="rId17"/>
    <p:sldId id="298" r:id="rId1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142770-6FBD-4BB4-A2B9-23B83B79FB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90A678D-ACF8-42CB-B602-771D3671A8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CA27A23-4A75-4158-B3E1-3279D54A9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85C36C1-26A3-49BE-A8A8-656951FEA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69EE2A-0423-43AD-9F4C-5952D9F2F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0449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5926FE-A781-4BB8-B275-F95FB8E13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D71A97-A3C2-4295-8826-D28A126AD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06F645-AB27-4911-BCC9-574BF3670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A8FE45-F388-46E1-847F-D74F2CDFD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E19B6D-4D65-4A9C-873F-E7FFC1C65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24382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96E4C1-EE2C-4DF3-B95E-10353CE8F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936596D-34C7-480C-B7C7-AE611D66A8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F39E0B-86F6-4DD6-8E06-F04AB91D8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F028C16-2CC1-490E-9309-92C8F9A0B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EC182E-E5DD-4074-AA33-D149FC815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12443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6F4A12-1EEC-4400-93DE-671E040EA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44AD98-7D87-40F1-9981-C755DC4260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43F4873-7AED-4F9D-9103-5818CC36D2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FEDBBA8-578A-446A-800E-01BDB42C0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082B379-A5D7-4342-86D7-62F9B931F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1451239-35D4-4220-9B22-7EE6E22E4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04234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7EBB5A-6224-4348-9B94-4161FF843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ECF24BE-9C24-4CA6-8A5C-36DBE9285B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ADEFA7D-A451-44F4-B5C6-2ACBE2F847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EB200E4-6816-4997-87AF-39943A0870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501A54D-0CA9-4172-B839-F19F04CFF5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98EF700-2071-4D13-B6EE-34550DBEF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3078420-F81E-408E-A9AB-0F92562DA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4306ED8-BF80-4607-B42A-65A6846C6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41987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1C3652-A105-4D57-9F69-2D3E81B53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F5AD369-43CB-4B39-8D56-C54136FF9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1DF48D6-33A3-43B8-9361-244B90D5F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7288C44-51DA-4E62-85C0-E253415A6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281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F7FBCCC-D27A-4A96-85AB-1BAF64934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1C6C721-C0F1-483D-97A4-E08FDBE34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2EA1B9F-FE52-448D-B841-4A00EEA73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09782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A02A91-1D28-42A9-B21E-EFA7DDA2B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294BA1-5B56-44D0-B843-FE7B2B25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F0E838D-4388-42AC-AC13-A32F7F7E46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8099FCE-0501-4EC2-A21B-EDDDE2E64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2EAC3F1-97ED-4708-B0C0-2A867F739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388FABF-430B-4BBC-AAF0-0C3836E0A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2699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943730-08F4-474D-BF3B-2673A2E08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31ADB43-4142-4E41-9C02-2EC1C4EE5F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D40C94E-B1B0-42F9-8668-259526B6F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E67A2EA-ED3A-479F-B942-4062C6647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C577A8-F277-4E96-AC0F-E0581A09E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559C557-34C4-49D7-B43D-1D70DA147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1898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59DA3E-683D-49C3-B835-5DA47B061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82A7221-F084-498B-A2A3-827959A704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E26429-F5E6-4B51-8B8E-E05BD7856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10D87B-E1BE-4DE4-9F60-CD7364B24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6E0DB5-B959-49A6-9256-FDCF4D4DF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50115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088A24B-644E-406E-86FA-07F4B0DB5A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082AB56-3945-4933-BAEA-72759D3625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F9CA228-69BD-4106-8570-761E9E57B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BA0E29-7829-410A-9C8D-1D51D1C56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341274-8A44-49CB-A1AD-9434CB354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71293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15368ED-5B28-4202-9E33-32EC05B8A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2C0C07D-486C-406F-ABEB-E3692C2CE8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61E458E-9971-4F89-8F75-BCD52B5927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3E4E5A-E75E-4899-90F5-DDB39F3E781F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13CD78-927C-4944-A41E-D7C93DAE7B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B0AC53E-55C5-4980-8039-C8B4C48B2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91097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retas1-udea.github.io/discretas1-udea-20262/lessons/mod1/clase1/" TargetMode="External"/><Relationship Id="rId2" Type="http://schemas.openxmlformats.org/officeDocument/2006/relationships/hyperlink" Target="https://discretas1-udea.github.io/discretas1-udea-20262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iscretas1-udea.github.io/discretas1-udea-20262/assets/slides/clase1.pdf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51E613-42B3-43C2-8E09-AFBF8FB95B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b="1" dirty="0"/>
              <a:t>Matemáticas Discretas 1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EE98DC3-5DEF-4734-A422-0A017D4D35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CO" sz="4000" b="1" dirty="0"/>
              <a:t>Clase 02</a:t>
            </a:r>
          </a:p>
          <a:p>
            <a:r>
              <a:rPr lang="es-CO" dirty="0"/>
              <a:t>Universidad de Antioquia</a:t>
            </a:r>
          </a:p>
          <a:p>
            <a:r>
              <a:rPr lang="es-CO" dirty="0"/>
              <a:t>Facultad de Ingeniería</a:t>
            </a:r>
          </a:p>
          <a:p>
            <a:r>
              <a:rPr lang="es-CO" dirty="0"/>
              <a:t>Ingeniería de Sistemas</a:t>
            </a:r>
          </a:p>
        </p:txBody>
      </p:sp>
    </p:spTree>
    <p:extLst>
      <p:ext uri="{BB962C8B-B14F-4D97-AF65-F5344CB8AC3E}">
        <p14:creationId xmlns:p14="http://schemas.microsoft.com/office/powerpoint/2010/main" val="1871455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Recursos complementarios para esta clase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327" y="1825625"/>
            <a:ext cx="11028218" cy="4351338"/>
          </a:xfrm>
        </p:spPr>
        <p:txBody>
          <a:bodyPr>
            <a:normAutofit/>
          </a:bodyPr>
          <a:lstStyle/>
          <a:p>
            <a:r>
              <a:rPr lang="es-CO" sz="2400" b="1" dirty="0"/>
              <a:t>Pagina web</a:t>
            </a:r>
            <a:r>
              <a:rPr lang="es-CO" sz="2400" dirty="0"/>
              <a:t>: </a:t>
            </a:r>
            <a:r>
              <a:rPr lang="es-CO" sz="2400" dirty="0">
                <a:hlinkClick r:id="rId2"/>
              </a:rPr>
              <a:t>https://discretas1-udea.github.io/discretas1-udea-20262/</a:t>
            </a:r>
            <a:r>
              <a:rPr lang="es-CO" sz="2400" dirty="0"/>
              <a:t>  </a:t>
            </a:r>
          </a:p>
          <a:p>
            <a:pPr lvl="1"/>
            <a:r>
              <a:rPr lang="es-CO" sz="2000" b="1" dirty="0"/>
              <a:t>Clase 2</a:t>
            </a:r>
            <a:r>
              <a:rPr lang="es-CO" sz="2000" dirty="0"/>
              <a:t>: </a:t>
            </a:r>
            <a:r>
              <a:rPr lang="es-CO" sz="2000" dirty="0">
                <a:hlinkClick r:id="rId3"/>
              </a:rPr>
              <a:t>https://discretas1-udea.github.io/discretas1-udea-20262/lessons/mod1/clase1/</a:t>
            </a:r>
            <a:endParaRPr lang="es-CO" sz="2000" dirty="0"/>
          </a:p>
          <a:p>
            <a:r>
              <a:rPr lang="es-CO" sz="2400" b="1" dirty="0"/>
              <a:t>Diapositivas</a:t>
            </a:r>
            <a:r>
              <a:rPr lang="es-CO" sz="2400" dirty="0"/>
              <a:t>: </a:t>
            </a:r>
            <a:r>
              <a:rPr lang="es-CO" sz="2400" dirty="0">
                <a:hlinkClick r:id="rId4"/>
              </a:rPr>
              <a:t>https://discretas1-udea.github.io/discretas1-udea-20262/assets/slides/clase1.pdf</a:t>
            </a:r>
            <a:r>
              <a:rPr lang="es-CO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26843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Agenda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6970"/>
            <a:ext cx="10515600" cy="4351338"/>
          </a:xfrm>
        </p:spPr>
        <p:txBody>
          <a:bodyPr/>
          <a:lstStyle/>
          <a:p>
            <a:r>
              <a:rPr lang="es-CO" dirty="0"/>
              <a:t>Axiomas de verdad  - Sobre los operadores</a:t>
            </a:r>
          </a:p>
          <a:p>
            <a:r>
              <a:rPr lang="es-CO" dirty="0"/>
              <a:t>Evaluación de expresiones lógicas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196937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5489"/>
          </a:xfrm>
        </p:spPr>
        <p:txBody>
          <a:bodyPr/>
          <a:lstStyle/>
          <a:p>
            <a:r>
              <a:rPr lang="es-CO" dirty="0"/>
              <a:t>Axiomas de verdad – Efecto de los operadores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397" y="1352510"/>
            <a:ext cx="11471563" cy="1083528"/>
          </a:xfrm>
        </p:spPr>
        <p:txBody>
          <a:bodyPr>
            <a:normAutofit/>
          </a:bodyPr>
          <a:lstStyle/>
          <a:p>
            <a:r>
              <a:rPr lang="es-MX" sz="2000" b="0" i="0" dirty="0">
                <a:effectLst/>
                <a:latin typeface="system-ui"/>
              </a:rPr>
              <a:t>Permiten conocer cómo se comporta cada operador frente a los valores de verdad.</a:t>
            </a:r>
          </a:p>
          <a:p>
            <a:r>
              <a:rPr lang="es-MX" sz="2000" b="0" i="0" dirty="0">
                <a:effectLst/>
                <a:latin typeface="system-ui"/>
              </a:rPr>
              <a:t>Estas reglas se especifican mediante </a:t>
            </a:r>
            <a:r>
              <a:rPr lang="es-MX" sz="2000" b="1" i="0" dirty="0">
                <a:effectLst/>
                <a:latin typeface="system-ui"/>
              </a:rPr>
              <a:t>tablas de verdad</a:t>
            </a:r>
            <a:r>
              <a:rPr lang="es-MX" sz="2000" b="0" i="0" dirty="0">
                <a:effectLst/>
                <a:latin typeface="system-ui"/>
              </a:rPr>
              <a:t>, que constituyen la base semántica de la lógica proposicional.</a:t>
            </a:r>
            <a:r>
              <a:rPr lang="es-MX" sz="2000" b="0" i="0" dirty="0">
                <a:effectLst/>
                <a:latin typeface="Google Sans Text"/>
              </a:rPr>
              <a:t> </a:t>
            </a:r>
          </a:p>
          <a:p>
            <a:pPr marL="0" indent="0">
              <a:buNone/>
            </a:pPr>
            <a:endParaRPr lang="es-MX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a 4">
                <a:extLst>
                  <a:ext uri="{FF2B5EF4-FFF2-40B4-BE49-F238E27FC236}">
                    <a16:creationId xmlns:a16="http://schemas.microsoft.com/office/drawing/2014/main" id="{DBAF7999-5CFF-484B-B203-3AAAE2925EC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7445974"/>
                  </p:ext>
                </p:extLst>
              </p:nvPr>
            </p:nvGraphicFramePr>
            <p:xfrm>
              <a:off x="866725" y="3119624"/>
              <a:ext cx="2152242" cy="100584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1076121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1076121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22999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22999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22999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a 4">
                <a:extLst>
                  <a:ext uri="{FF2B5EF4-FFF2-40B4-BE49-F238E27FC236}">
                    <a16:creationId xmlns:a16="http://schemas.microsoft.com/office/drawing/2014/main" id="{DBAF7999-5CFF-484B-B203-3AAAE2925EC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7445974"/>
                  </p:ext>
                </p:extLst>
              </p:nvPr>
            </p:nvGraphicFramePr>
            <p:xfrm>
              <a:off x="866725" y="3119624"/>
              <a:ext cx="2152242" cy="100584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1076121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1076121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565" t="-1818" r="-101130" b="-2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00565" t="-1818" r="-1130" b="-2054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565" t="-100000" r="-101130" b="-10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00565" t="-100000" r="-1130" b="-1017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565" t="-203636" r="-101130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00565" t="-203636" r="-1130" b="-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4">
                <a:extLst>
                  <a:ext uri="{FF2B5EF4-FFF2-40B4-BE49-F238E27FC236}">
                    <a16:creationId xmlns:a16="http://schemas.microsoft.com/office/drawing/2014/main" id="{64B85BCC-C0B6-4510-8106-FB790B9EE8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24210179"/>
                  </p:ext>
                </p:extLst>
              </p:nvPr>
            </p:nvGraphicFramePr>
            <p:xfrm>
              <a:off x="4132227" y="2750292"/>
              <a:ext cx="2602515" cy="16764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67505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27065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27065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27065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27065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27065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4">
                <a:extLst>
                  <a:ext uri="{FF2B5EF4-FFF2-40B4-BE49-F238E27FC236}">
                    <a16:creationId xmlns:a16="http://schemas.microsoft.com/office/drawing/2014/main" id="{64B85BCC-C0B6-4510-8106-FB790B9EE8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24210179"/>
                  </p:ext>
                </p:extLst>
              </p:nvPr>
            </p:nvGraphicFramePr>
            <p:xfrm>
              <a:off x="4132227" y="2750292"/>
              <a:ext cx="2602515" cy="16764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67505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699" t="-1818" r="-200699" b="-4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01408" t="-1818" r="-102113" b="-4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818" r="-1399" b="-4054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699" t="-101818" r="-200699" b="-3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01408" t="-101818" r="-102113" b="-3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01818" r="-1399" b="-3054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699" t="-198214" r="-200699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01408" t="-198214" r="-102113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98214" r="-1399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699" t="-303636" r="-200699" b="-1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01408" t="-303636" r="-102113" b="-1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303636" r="-1399" b="-10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699" t="-403636" r="-200699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01408" t="-403636" r="-102113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403636" r="-1399" b="-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a 4">
                <a:extLst>
                  <a:ext uri="{FF2B5EF4-FFF2-40B4-BE49-F238E27FC236}">
                    <a16:creationId xmlns:a16="http://schemas.microsoft.com/office/drawing/2014/main" id="{CECB8900-DD43-4366-866A-52B7130B0F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24095643"/>
                  </p:ext>
                </p:extLst>
              </p:nvPr>
            </p:nvGraphicFramePr>
            <p:xfrm>
              <a:off x="7820296" y="2576107"/>
              <a:ext cx="2602515" cy="16764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67505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32990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32990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32990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32990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32990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a 4">
                <a:extLst>
                  <a:ext uri="{FF2B5EF4-FFF2-40B4-BE49-F238E27FC236}">
                    <a16:creationId xmlns:a16="http://schemas.microsoft.com/office/drawing/2014/main" id="{CECB8900-DD43-4366-866A-52B7130B0F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24095643"/>
                  </p:ext>
                </p:extLst>
              </p:nvPr>
            </p:nvGraphicFramePr>
            <p:xfrm>
              <a:off x="7820296" y="2576107"/>
              <a:ext cx="2602515" cy="16764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67505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699" t="-1818" r="-200699" b="-4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01408" t="-1818" r="-102113" b="-4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1818" r="-1399" b="-4054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699" t="-101818" r="-200699" b="-3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01408" t="-101818" r="-102113" b="-3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101818" r="-1399" b="-3054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699" t="-198214" r="-200699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01408" t="-198214" r="-102113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198214" r="-1399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699" t="-303636" r="-200699" b="-1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01408" t="-303636" r="-102113" b="-1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303636" r="-1399" b="-10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699" t="-403636" r="-200699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01408" t="-403636" r="-102113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403636" r="-1399" b="-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a 4">
                <a:extLst>
                  <a:ext uri="{FF2B5EF4-FFF2-40B4-BE49-F238E27FC236}">
                    <a16:creationId xmlns:a16="http://schemas.microsoft.com/office/drawing/2014/main" id="{367AB169-B43D-4FDE-B933-8A068AC689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1741953"/>
                  </p:ext>
                </p:extLst>
              </p:nvPr>
            </p:nvGraphicFramePr>
            <p:xfrm>
              <a:off x="838200" y="4723562"/>
              <a:ext cx="2602515" cy="16764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67505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⊕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a 4">
                <a:extLst>
                  <a:ext uri="{FF2B5EF4-FFF2-40B4-BE49-F238E27FC236}">
                    <a16:creationId xmlns:a16="http://schemas.microsoft.com/office/drawing/2014/main" id="{367AB169-B43D-4FDE-B933-8A068AC689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1741953"/>
                  </p:ext>
                </p:extLst>
              </p:nvPr>
            </p:nvGraphicFramePr>
            <p:xfrm>
              <a:off x="838200" y="4723562"/>
              <a:ext cx="2602515" cy="16764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67505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⊕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a 4">
                <a:extLst>
                  <a:ext uri="{FF2B5EF4-FFF2-40B4-BE49-F238E27FC236}">
                    <a16:creationId xmlns:a16="http://schemas.microsoft.com/office/drawing/2014/main" id="{108F8D8B-745F-484A-8307-68D91BA2847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05961242"/>
                  </p:ext>
                </p:extLst>
              </p:nvPr>
            </p:nvGraphicFramePr>
            <p:xfrm>
              <a:off x="4298103" y="4941166"/>
              <a:ext cx="2602515" cy="16764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67505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a 4">
                <a:extLst>
                  <a:ext uri="{FF2B5EF4-FFF2-40B4-BE49-F238E27FC236}">
                    <a16:creationId xmlns:a16="http://schemas.microsoft.com/office/drawing/2014/main" id="{108F8D8B-745F-484A-8307-68D91BA2847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05961242"/>
                  </p:ext>
                </p:extLst>
              </p:nvPr>
            </p:nvGraphicFramePr>
            <p:xfrm>
              <a:off x="4298103" y="4941166"/>
              <a:ext cx="2602515" cy="16764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67505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a 4">
                <a:extLst>
                  <a:ext uri="{FF2B5EF4-FFF2-40B4-BE49-F238E27FC236}">
                    <a16:creationId xmlns:a16="http://schemas.microsoft.com/office/drawing/2014/main" id="{57C1A8C1-7E7A-425A-9AF7-A9B7F38055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61927620"/>
                  </p:ext>
                </p:extLst>
              </p:nvPr>
            </p:nvGraphicFramePr>
            <p:xfrm>
              <a:off x="8260266" y="4723562"/>
              <a:ext cx="2602515" cy="16764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17800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817800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966915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↔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a 4">
                <a:extLst>
                  <a:ext uri="{FF2B5EF4-FFF2-40B4-BE49-F238E27FC236}">
                    <a16:creationId xmlns:a16="http://schemas.microsoft.com/office/drawing/2014/main" id="{57C1A8C1-7E7A-425A-9AF7-A9B7F38055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61927620"/>
                  </p:ext>
                </p:extLst>
              </p:nvPr>
            </p:nvGraphicFramePr>
            <p:xfrm>
              <a:off x="8260266" y="4723562"/>
              <a:ext cx="2602515" cy="16764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17800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817800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966915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↔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CuadroTexto 9">
            <a:extLst>
              <a:ext uri="{FF2B5EF4-FFF2-40B4-BE49-F238E27FC236}">
                <a16:creationId xmlns:a16="http://schemas.microsoft.com/office/drawing/2014/main" id="{C48494CF-F1F2-425E-9F9C-C5169348AA49}"/>
              </a:ext>
            </a:extLst>
          </p:cNvPr>
          <p:cNvSpPr txBox="1"/>
          <p:nvPr/>
        </p:nvSpPr>
        <p:spPr>
          <a:xfrm>
            <a:off x="1407667" y="2750292"/>
            <a:ext cx="1070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b="1" dirty="0">
                <a:solidFill>
                  <a:schemeClr val="accent1"/>
                </a:solidFill>
              </a:rPr>
              <a:t>Negación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C0F04C0-6FDB-4471-928A-F7435E951C2B}"/>
              </a:ext>
            </a:extLst>
          </p:cNvPr>
          <p:cNvSpPr txBox="1"/>
          <p:nvPr/>
        </p:nvSpPr>
        <p:spPr>
          <a:xfrm>
            <a:off x="4804145" y="2378006"/>
            <a:ext cx="1258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b="1" dirty="0">
                <a:solidFill>
                  <a:schemeClr val="accent1"/>
                </a:solidFill>
              </a:rPr>
              <a:t>Conjunción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9E5F45F-EE0C-47D7-ACCB-6543210753D9}"/>
              </a:ext>
            </a:extLst>
          </p:cNvPr>
          <p:cNvSpPr txBox="1"/>
          <p:nvPr/>
        </p:nvSpPr>
        <p:spPr>
          <a:xfrm>
            <a:off x="8506769" y="2256454"/>
            <a:ext cx="1229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b="1" dirty="0">
                <a:solidFill>
                  <a:schemeClr val="accent1"/>
                </a:solidFill>
              </a:rPr>
              <a:t>Disyunción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3C07DFB-011D-4E28-AECB-EEE8E2DA0AE0}"/>
              </a:ext>
            </a:extLst>
          </p:cNvPr>
          <p:cNvSpPr txBox="1"/>
          <p:nvPr/>
        </p:nvSpPr>
        <p:spPr>
          <a:xfrm>
            <a:off x="1070767" y="4337840"/>
            <a:ext cx="2137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b="1" dirty="0">
                <a:solidFill>
                  <a:schemeClr val="accent1"/>
                </a:solidFill>
              </a:rPr>
              <a:t>Disyunción exclusiva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108B981-8D3B-4239-B03D-7EA6E2D801EB}"/>
              </a:ext>
            </a:extLst>
          </p:cNvPr>
          <p:cNvSpPr txBox="1"/>
          <p:nvPr/>
        </p:nvSpPr>
        <p:spPr>
          <a:xfrm>
            <a:off x="4948380" y="4592109"/>
            <a:ext cx="1301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b="1" dirty="0">
                <a:solidFill>
                  <a:schemeClr val="accent1"/>
                </a:solidFill>
              </a:rPr>
              <a:t>Condicional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D4A8C9C-2D1F-48CB-B829-C785F3B2A015}"/>
              </a:ext>
            </a:extLst>
          </p:cNvPr>
          <p:cNvSpPr txBox="1"/>
          <p:nvPr/>
        </p:nvSpPr>
        <p:spPr>
          <a:xfrm>
            <a:off x="8830970" y="4403070"/>
            <a:ext cx="1461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b="1" dirty="0">
                <a:solidFill>
                  <a:schemeClr val="accent1"/>
                </a:solidFill>
              </a:rPr>
              <a:t>Bicondicional</a:t>
            </a:r>
          </a:p>
        </p:txBody>
      </p:sp>
    </p:spTree>
    <p:extLst>
      <p:ext uri="{BB962C8B-B14F-4D97-AF65-F5344CB8AC3E}">
        <p14:creationId xmlns:p14="http://schemas.microsoft.com/office/powerpoint/2010/main" val="2573958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Axiomas de verdad – Efecto de los operadores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45" y="1493418"/>
            <a:ext cx="11471563" cy="5400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400" b="1" i="0" dirty="0">
                <a:solidFill>
                  <a:schemeClr val="accent1"/>
                </a:solidFill>
                <a:effectLst/>
                <a:latin typeface="system-ui"/>
              </a:rPr>
              <a:t>Negación</a:t>
            </a:r>
            <a:endParaRPr lang="es-MX" sz="2400" b="1" i="0" dirty="0">
              <a:solidFill>
                <a:schemeClr val="accent1"/>
              </a:solidFill>
              <a:effectLst/>
              <a:latin typeface="Google Sans Text"/>
            </a:endParaRPr>
          </a:p>
          <a:p>
            <a:pPr marL="0" indent="0">
              <a:buNone/>
            </a:pPr>
            <a:endParaRPr lang="es-MX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a 4">
                <a:extLst>
                  <a:ext uri="{FF2B5EF4-FFF2-40B4-BE49-F238E27FC236}">
                    <a16:creationId xmlns:a16="http://schemas.microsoft.com/office/drawing/2014/main" id="{DBAF7999-5CFF-484B-B203-3AAAE2925EC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35766448"/>
                  </p:ext>
                </p:extLst>
              </p:nvPr>
            </p:nvGraphicFramePr>
            <p:xfrm>
              <a:off x="838200" y="2033429"/>
              <a:ext cx="2152242" cy="100584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1076121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1076121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22999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22999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22999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a 4">
                <a:extLst>
                  <a:ext uri="{FF2B5EF4-FFF2-40B4-BE49-F238E27FC236}">
                    <a16:creationId xmlns:a16="http://schemas.microsoft.com/office/drawing/2014/main" id="{DBAF7999-5CFF-484B-B203-3AAAE2925EC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35766448"/>
                  </p:ext>
                </p:extLst>
              </p:nvPr>
            </p:nvGraphicFramePr>
            <p:xfrm>
              <a:off x="838200" y="2033429"/>
              <a:ext cx="2152242" cy="100584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1076121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1076121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565" t="-1818" r="-101130" b="-2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00565" t="-1818" r="-1130" b="-2054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565" t="-100000" r="-101130" b="-10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00565" t="-100000" r="-1130" b="-1017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565" t="-203636" r="-101130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00565" t="-203636" r="-1130" b="-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CuadroTexto 4">
            <a:extLst>
              <a:ext uri="{FF2B5EF4-FFF2-40B4-BE49-F238E27FC236}">
                <a16:creationId xmlns:a16="http://schemas.microsoft.com/office/drawing/2014/main" id="{3800EFB5-9CD7-4B53-A3C3-6497872D6E0D}"/>
              </a:ext>
            </a:extLst>
          </p:cNvPr>
          <p:cNvSpPr txBox="1"/>
          <p:nvPr/>
        </p:nvSpPr>
        <p:spPr>
          <a:xfrm>
            <a:off x="5070764" y="1520687"/>
            <a:ext cx="656359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b="1" dirty="0"/>
              <a:t>Ejemplo</a:t>
            </a:r>
            <a:r>
              <a:rPr lang="es-CO" sz="1400" dirty="0"/>
              <a:t>: Dada la proposición:</a:t>
            </a:r>
          </a:p>
          <a:p>
            <a:endParaRPr lang="es-CO" sz="1400" dirty="0"/>
          </a:p>
          <a:p>
            <a:pPr algn="ctr"/>
            <a:r>
              <a:rPr lang="es-CO" sz="1400" dirty="0"/>
              <a:t>Batman es un villano</a:t>
            </a:r>
          </a:p>
          <a:p>
            <a:pPr algn="ctr"/>
            <a:endParaRPr lang="es-CO" sz="1400" dirty="0"/>
          </a:p>
          <a:p>
            <a:pPr marL="342900" indent="-342900">
              <a:buFont typeface="+mj-lt"/>
              <a:buAutoNum type="arabicPeriod"/>
            </a:pPr>
            <a:r>
              <a:rPr lang="es-CO" sz="1400" dirty="0"/>
              <a:t>Exprese la proposición en lenguaje formal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1400" dirty="0"/>
              <a:t>Según lo que conoce de Batman. ¿Cuál es el valor de la verdad de la proposición?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1400" dirty="0"/>
              <a:t>Negar la proposición.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300C032-EDB1-4085-8F8F-73FACDC7D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6276" y="1658124"/>
            <a:ext cx="1183934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29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Axiomas de verdad – Efecto de los operadores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45" y="1493418"/>
            <a:ext cx="11471563" cy="5400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400" b="1" i="0" dirty="0">
                <a:solidFill>
                  <a:schemeClr val="accent1"/>
                </a:solidFill>
                <a:effectLst/>
                <a:latin typeface="system-ui"/>
              </a:rPr>
              <a:t>Negación</a:t>
            </a:r>
            <a:endParaRPr lang="es-MX" sz="2400" b="1" i="0" dirty="0">
              <a:solidFill>
                <a:schemeClr val="accent1"/>
              </a:solidFill>
              <a:effectLst/>
              <a:latin typeface="Google Sans Text"/>
            </a:endParaRPr>
          </a:p>
          <a:p>
            <a:pPr marL="0" indent="0">
              <a:buNone/>
            </a:pPr>
            <a:endParaRPr lang="es-MX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a 4">
                <a:extLst>
                  <a:ext uri="{FF2B5EF4-FFF2-40B4-BE49-F238E27FC236}">
                    <a16:creationId xmlns:a16="http://schemas.microsoft.com/office/drawing/2014/main" id="{DBAF7999-5CFF-484B-B203-3AAAE2925EC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38200" y="2033429"/>
              <a:ext cx="2152242" cy="100584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1076121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1076121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22999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22999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22999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a 4">
                <a:extLst>
                  <a:ext uri="{FF2B5EF4-FFF2-40B4-BE49-F238E27FC236}">
                    <a16:creationId xmlns:a16="http://schemas.microsoft.com/office/drawing/2014/main" id="{DBAF7999-5CFF-484B-B203-3AAAE2925EC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38200" y="2033429"/>
              <a:ext cx="2152242" cy="100584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1076121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1076121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565" t="-1818" r="-101130" b="-2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00565" t="-1818" r="-1130" b="-2054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565" t="-100000" r="-101130" b="-10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00565" t="-100000" r="-1130" b="-1017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565" t="-203636" r="-101130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00565" t="-203636" r="-1130" b="-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CuadroTexto 4">
            <a:extLst>
              <a:ext uri="{FF2B5EF4-FFF2-40B4-BE49-F238E27FC236}">
                <a16:creationId xmlns:a16="http://schemas.microsoft.com/office/drawing/2014/main" id="{3800EFB5-9CD7-4B53-A3C3-6497872D6E0D}"/>
              </a:ext>
            </a:extLst>
          </p:cNvPr>
          <p:cNvSpPr txBox="1"/>
          <p:nvPr/>
        </p:nvSpPr>
        <p:spPr>
          <a:xfrm>
            <a:off x="3945080" y="1520687"/>
            <a:ext cx="768927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b="1" dirty="0"/>
              <a:t>Ejemplo</a:t>
            </a:r>
            <a:r>
              <a:rPr lang="es-CO" sz="1400" dirty="0"/>
              <a:t>: Dada la proposición:</a:t>
            </a:r>
          </a:p>
          <a:p>
            <a:endParaRPr lang="es-CO" sz="1400" dirty="0"/>
          </a:p>
          <a:p>
            <a:pPr algn="ctr"/>
            <a:r>
              <a:rPr lang="es-CO" sz="1400" dirty="0"/>
              <a:t>No es cierto, que hoy es lunes</a:t>
            </a:r>
          </a:p>
          <a:p>
            <a:pPr algn="ctr"/>
            <a:endParaRPr lang="es-CO" sz="1400" dirty="0"/>
          </a:p>
          <a:p>
            <a:pPr marL="342900" indent="-342900">
              <a:buFont typeface="+mj-lt"/>
              <a:buAutoNum type="arabicPeriod"/>
            </a:pPr>
            <a:r>
              <a:rPr lang="es-CO" sz="1400" dirty="0"/>
              <a:t>Exprese la proposición en lenguaje formal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1400" dirty="0"/>
              <a:t>Negar la proposición. ¿A que conclusión llegamos?</a:t>
            </a:r>
          </a:p>
        </p:txBody>
      </p:sp>
    </p:spTree>
    <p:extLst>
      <p:ext uri="{BB962C8B-B14F-4D97-AF65-F5344CB8AC3E}">
        <p14:creationId xmlns:p14="http://schemas.microsoft.com/office/powerpoint/2010/main" val="2819584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Axiomas de verdad – Efecto de los operadores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45" y="1493418"/>
            <a:ext cx="11471563" cy="5400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400" b="1" i="0" dirty="0">
                <a:solidFill>
                  <a:schemeClr val="accent1"/>
                </a:solidFill>
                <a:effectLst/>
                <a:latin typeface="system-ui"/>
              </a:rPr>
              <a:t>Conjunción</a:t>
            </a:r>
            <a:endParaRPr lang="es-MX" sz="2400" b="1" i="0" dirty="0">
              <a:solidFill>
                <a:schemeClr val="accent1"/>
              </a:solidFill>
              <a:effectLst/>
              <a:latin typeface="Google Sans Text"/>
            </a:endParaRPr>
          </a:p>
          <a:p>
            <a:pPr marL="0" indent="0">
              <a:buNone/>
            </a:pPr>
            <a:endParaRPr lang="es-MX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a 15">
                <a:extLst>
                  <a:ext uri="{FF2B5EF4-FFF2-40B4-BE49-F238E27FC236}">
                    <a16:creationId xmlns:a16="http://schemas.microsoft.com/office/drawing/2014/main" id="{8E8FE435-16D1-40EB-9193-C2E96D4823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7772469"/>
                  </p:ext>
                </p:extLst>
              </p:nvPr>
            </p:nvGraphicFramePr>
            <p:xfrm>
              <a:off x="838200" y="2033429"/>
              <a:ext cx="2602515" cy="16764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67505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27065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27065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27065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27065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27065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a 15">
                <a:extLst>
                  <a:ext uri="{FF2B5EF4-FFF2-40B4-BE49-F238E27FC236}">
                    <a16:creationId xmlns:a16="http://schemas.microsoft.com/office/drawing/2014/main" id="{8E8FE435-16D1-40EB-9193-C2E96D4823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7772469"/>
                  </p:ext>
                </p:extLst>
              </p:nvPr>
            </p:nvGraphicFramePr>
            <p:xfrm>
              <a:off x="838200" y="2033429"/>
              <a:ext cx="2602515" cy="16764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67505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27065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27065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270654"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27065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27065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CuadroTexto 4">
            <a:extLst>
              <a:ext uri="{FF2B5EF4-FFF2-40B4-BE49-F238E27FC236}">
                <a16:creationId xmlns:a16="http://schemas.microsoft.com/office/drawing/2014/main" id="{1215CD0C-0C00-48E6-8AFF-95814D252575}"/>
              </a:ext>
            </a:extLst>
          </p:cNvPr>
          <p:cNvSpPr txBox="1"/>
          <p:nvPr/>
        </p:nvSpPr>
        <p:spPr>
          <a:xfrm>
            <a:off x="5056908" y="1520687"/>
            <a:ext cx="657744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b="1" dirty="0"/>
              <a:t>Ejemplo</a:t>
            </a:r>
            <a:r>
              <a:rPr lang="es-CO" sz="1400" dirty="0"/>
              <a:t>: Dada la proposición:</a:t>
            </a:r>
          </a:p>
          <a:p>
            <a:endParaRPr lang="es-CO" sz="1400" dirty="0"/>
          </a:p>
          <a:p>
            <a:pPr algn="ctr"/>
            <a:r>
              <a:rPr lang="es-CO" sz="1400" dirty="0"/>
              <a:t>Zidane fue jugador del real Madrid y es francés.</a:t>
            </a:r>
          </a:p>
          <a:p>
            <a:pPr algn="ctr"/>
            <a:endParaRPr lang="es-CO" sz="1400" dirty="0"/>
          </a:p>
          <a:p>
            <a:pPr marL="342900" indent="-342900">
              <a:buFont typeface="+mj-lt"/>
              <a:buAutoNum type="arabicPeriod"/>
            </a:pPr>
            <a:r>
              <a:rPr lang="es-CO" sz="1400" dirty="0"/>
              <a:t>Exprese la proposición en lenguaje formal.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1400" dirty="0"/>
              <a:t>Según el contexto, cual es el valor de la proposición.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1400" dirty="0"/>
              <a:t>Que sucede con la proposición:</a:t>
            </a:r>
          </a:p>
          <a:p>
            <a:pPr marL="342900" indent="-342900">
              <a:buFont typeface="+mj-lt"/>
              <a:buAutoNum type="arabicPeriod"/>
            </a:pPr>
            <a:endParaRPr lang="es-CO" sz="1400" dirty="0"/>
          </a:p>
          <a:p>
            <a:pPr algn="ctr"/>
            <a:r>
              <a:rPr lang="es-CO" sz="1400" dirty="0"/>
              <a:t>Zidane fue jugador del real Madrid y es colombiano.</a:t>
            </a:r>
          </a:p>
          <a:p>
            <a:pPr marL="342900" indent="-342900" algn="ctr">
              <a:buFont typeface="+mj-lt"/>
              <a:buAutoNum type="arabicPeriod"/>
            </a:pPr>
            <a:endParaRPr lang="es-CO" sz="1400" dirty="0"/>
          </a:p>
          <a:p>
            <a:pPr marL="342900" indent="-342900">
              <a:buFont typeface="+mj-lt"/>
              <a:buAutoNum type="arabicPeriod" startAt="4"/>
            </a:pPr>
            <a:r>
              <a:rPr lang="es-CO" sz="1400" dirty="0"/>
              <a:t>¿Como podemos hacer que el resultado de la proposición sea falso?, ¿Qué habría que cambiar?</a:t>
            </a:r>
          </a:p>
        </p:txBody>
      </p:sp>
      <p:pic>
        <p:nvPicPr>
          <p:cNvPr id="2050" name="Picture 2" descr="Zinedine Zidane - Historia y palmarés | Web oficial Real Madrid C.F.">
            <a:extLst>
              <a:ext uri="{FF2B5EF4-FFF2-40B4-BE49-F238E27FC236}">
                <a16:creationId xmlns:a16="http://schemas.microsoft.com/office/drawing/2014/main" id="{3DCE7267-4C02-4F6D-B305-142E924E81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5570" y="2033429"/>
            <a:ext cx="1119123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6850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Axiomas de verdad – Efecto de los operadores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45" y="1493418"/>
            <a:ext cx="11471563" cy="5400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400" b="1" i="0" dirty="0">
                <a:solidFill>
                  <a:schemeClr val="accent1"/>
                </a:solidFill>
                <a:effectLst/>
                <a:latin typeface="system-ui"/>
              </a:rPr>
              <a:t>Disyunción (O inclusivo)</a:t>
            </a:r>
            <a:endParaRPr lang="es-MX" sz="2400" b="1" i="0" dirty="0">
              <a:solidFill>
                <a:schemeClr val="accent1"/>
              </a:solidFill>
              <a:effectLst/>
              <a:latin typeface="Google Sans Text"/>
            </a:endParaRPr>
          </a:p>
          <a:p>
            <a:pPr marL="0" indent="0">
              <a:buNone/>
            </a:pPr>
            <a:endParaRPr lang="es-MX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4">
                <a:extLst>
                  <a:ext uri="{FF2B5EF4-FFF2-40B4-BE49-F238E27FC236}">
                    <a16:creationId xmlns:a16="http://schemas.microsoft.com/office/drawing/2014/main" id="{D3337124-24E4-451C-8F8B-7D6AA1D2DC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40197781"/>
                  </p:ext>
                </p:extLst>
              </p:nvPr>
            </p:nvGraphicFramePr>
            <p:xfrm>
              <a:off x="838200" y="2033429"/>
              <a:ext cx="2602515" cy="16764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67505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32990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32990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32990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32990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32990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4">
                <a:extLst>
                  <a:ext uri="{FF2B5EF4-FFF2-40B4-BE49-F238E27FC236}">
                    <a16:creationId xmlns:a16="http://schemas.microsoft.com/office/drawing/2014/main" id="{D3337124-24E4-451C-8F8B-7D6AA1D2DC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40197781"/>
                  </p:ext>
                </p:extLst>
              </p:nvPr>
            </p:nvGraphicFramePr>
            <p:xfrm>
              <a:off x="838200" y="2033429"/>
              <a:ext cx="2602515" cy="16764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67505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32990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32990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329906"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32990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32990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CuadroTexto 5">
            <a:extLst>
              <a:ext uri="{FF2B5EF4-FFF2-40B4-BE49-F238E27FC236}">
                <a16:creationId xmlns:a16="http://schemas.microsoft.com/office/drawing/2014/main" id="{7CD92834-2217-4C7D-9ED0-004C9683BC1F}"/>
              </a:ext>
            </a:extLst>
          </p:cNvPr>
          <p:cNvSpPr txBox="1"/>
          <p:nvPr/>
        </p:nvSpPr>
        <p:spPr>
          <a:xfrm>
            <a:off x="5541818" y="1520687"/>
            <a:ext cx="609253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b="1" dirty="0"/>
              <a:t>Ejemplo</a:t>
            </a:r>
            <a:r>
              <a:rPr lang="es-CO" sz="1400" dirty="0"/>
              <a:t>: Dada la proposición:</a:t>
            </a:r>
          </a:p>
          <a:p>
            <a:endParaRPr lang="es-CO" sz="1400" dirty="0"/>
          </a:p>
          <a:p>
            <a:pPr algn="ctr"/>
            <a:r>
              <a:rPr lang="es-CO" sz="1400" dirty="0"/>
              <a:t>Anselmo estudia o trabaja</a:t>
            </a:r>
          </a:p>
          <a:p>
            <a:pPr algn="ctr"/>
            <a:endParaRPr lang="es-CO" sz="1400" dirty="0"/>
          </a:p>
          <a:p>
            <a:pPr marL="342900" indent="-342900">
              <a:buFont typeface="+mj-lt"/>
              <a:buAutoNum type="arabicPeriod"/>
            </a:pPr>
            <a:r>
              <a:rPr lang="es-CO" sz="1400" dirty="0"/>
              <a:t>Exprese la proposición en lenguaje formal.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1400" dirty="0"/>
              <a:t>Asumiendo que la proposición anterior es verdadera ¿En que situaciones seria falsa la proposición?, ¿Que otras formas puedo usar para decir lo mismo?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F448AB5-3906-4DE8-B876-341EC6881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6338" y="1771072"/>
            <a:ext cx="1304925" cy="139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671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Axiomas de verdad – Efecto de los operadores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45" y="1493418"/>
            <a:ext cx="11471563" cy="5400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400" b="1" i="0" dirty="0">
                <a:solidFill>
                  <a:schemeClr val="accent1"/>
                </a:solidFill>
                <a:effectLst/>
                <a:latin typeface="system-ui"/>
              </a:rPr>
              <a:t>Disyunción exclusiva (O exclusivo)</a:t>
            </a:r>
            <a:endParaRPr lang="es-MX" sz="2400" b="1" i="0" dirty="0">
              <a:solidFill>
                <a:schemeClr val="accent1"/>
              </a:solidFill>
              <a:effectLst/>
              <a:latin typeface="Google Sans Text"/>
            </a:endParaRPr>
          </a:p>
          <a:p>
            <a:pPr marL="0" indent="0">
              <a:buNone/>
            </a:pPr>
            <a:endParaRPr lang="es-MX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a 4">
                <a:extLst>
                  <a:ext uri="{FF2B5EF4-FFF2-40B4-BE49-F238E27FC236}">
                    <a16:creationId xmlns:a16="http://schemas.microsoft.com/office/drawing/2014/main" id="{FC08C3D3-2D53-4096-8C7C-76F6A79A317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03392076"/>
                  </p:ext>
                </p:extLst>
              </p:nvPr>
            </p:nvGraphicFramePr>
            <p:xfrm>
              <a:off x="838200" y="2033429"/>
              <a:ext cx="2602515" cy="16764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67505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⊕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a 4">
                <a:extLst>
                  <a:ext uri="{FF2B5EF4-FFF2-40B4-BE49-F238E27FC236}">
                    <a16:creationId xmlns:a16="http://schemas.microsoft.com/office/drawing/2014/main" id="{FC08C3D3-2D53-4096-8C7C-76F6A79A317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03392076"/>
                  </p:ext>
                </p:extLst>
              </p:nvPr>
            </p:nvGraphicFramePr>
            <p:xfrm>
              <a:off x="838200" y="2033429"/>
              <a:ext cx="2602515" cy="16764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67505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⊕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CuadroTexto 4">
            <a:extLst>
              <a:ext uri="{FF2B5EF4-FFF2-40B4-BE49-F238E27FC236}">
                <a16:creationId xmlns:a16="http://schemas.microsoft.com/office/drawing/2014/main" id="{D6A8EB1D-C0F4-4A0E-A8A4-33DFE51DEACD}"/>
              </a:ext>
            </a:extLst>
          </p:cNvPr>
          <p:cNvSpPr txBox="1"/>
          <p:nvPr/>
        </p:nvSpPr>
        <p:spPr>
          <a:xfrm>
            <a:off x="4045527" y="2126483"/>
            <a:ext cx="786938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b="1" dirty="0"/>
              <a:t>Ejemplo</a:t>
            </a:r>
            <a:r>
              <a:rPr lang="es-CO" sz="1400" dirty="0"/>
              <a:t>: Dada la proposición:</a:t>
            </a:r>
          </a:p>
          <a:p>
            <a:endParaRPr lang="es-CO" sz="1400" dirty="0"/>
          </a:p>
          <a:p>
            <a:pPr algn="ctr"/>
            <a:r>
              <a:rPr lang="es-CO" sz="1400" dirty="0"/>
              <a:t>Me gusta el pan o la torta, pero no ambos</a:t>
            </a:r>
          </a:p>
          <a:p>
            <a:pPr algn="ctr"/>
            <a:endParaRPr lang="es-CO" sz="1400" dirty="0"/>
          </a:p>
          <a:p>
            <a:pPr marL="342900" indent="-342900">
              <a:buFont typeface="+mj-lt"/>
              <a:buAutoNum type="arabicPeriod"/>
            </a:pPr>
            <a:r>
              <a:rPr lang="es-CO" sz="1400" dirty="0"/>
              <a:t>Exprese la proposición en lenguaje formal.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1400" dirty="0"/>
              <a:t>La proposición: “Un numero puede ser par o impar” ¿es inclusiva o exclusiva?</a:t>
            </a:r>
          </a:p>
        </p:txBody>
      </p:sp>
    </p:spTree>
    <p:extLst>
      <p:ext uri="{BB962C8B-B14F-4D97-AF65-F5344CB8AC3E}">
        <p14:creationId xmlns:p14="http://schemas.microsoft.com/office/powerpoint/2010/main" val="2121719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Axiomas de verdad – Efecto de los operadores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45" y="1493418"/>
            <a:ext cx="11471563" cy="5400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400" b="1" i="0" dirty="0">
                <a:solidFill>
                  <a:schemeClr val="accent1"/>
                </a:solidFill>
                <a:effectLst/>
                <a:latin typeface="system-ui"/>
              </a:rPr>
              <a:t>Condicional</a:t>
            </a:r>
            <a:endParaRPr lang="es-MX" sz="2400" b="1" i="0" dirty="0">
              <a:solidFill>
                <a:schemeClr val="accent1"/>
              </a:solidFill>
              <a:effectLst/>
              <a:latin typeface="Google Sans Text"/>
            </a:endParaRPr>
          </a:p>
          <a:p>
            <a:pPr marL="0" indent="0">
              <a:buNone/>
            </a:pPr>
            <a:endParaRPr lang="es-MX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4">
                <a:extLst>
                  <a:ext uri="{FF2B5EF4-FFF2-40B4-BE49-F238E27FC236}">
                    <a16:creationId xmlns:a16="http://schemas.microsoft.com/office/drawing/2014/main" id="{C64C0D06-FFCE-42EE-A875-3EAE7D5D294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26136915"/>
                  </p:ext>
                </p:extLst>
              </p:nvPr>
            </p:nvGraphicFramePr>
            <p:xfrm>
              <a:off x="585085" y="2033429"/>
              <a:ext cx="2602515" cy="16764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67505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4">
                <a:extLst>
                  <a:ext uri="{FF2B5EF4-FFF2-40B4-BE49-F238E27FC236}">
                    <a16:creationId xmlns:a16="http://schemas.microsoft.com/office/drawing/2014/main" id="{C64C0D06-FFCE-42EE-A875-3EAE7D5D294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26136915"/>
                  </p:ext>
                </p:extLst>
              </p:nvPr>
            </p:nvGraphicFramePr>
            <p:xfrm>
              <a:off x="585085" y="2033429"/>
              <a:ext cx="2602515" cy="16764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67505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867505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CuadroTexto 5">
            <a:extLst>
              <a:ext uri="{FF2B5EF4-FFF2-40B4-BE49-F238E27FC236}">
                <a16:creationId xmlns:a16="http://schemas.microsoft.com/office/drawing/2014/main" id="{3F0146CD-8094-4231-BAFB-D52C5447EA63}"/>
              </a:ext>
            </a:extLst>
          </p:cNvPr>
          <p:cNvSpPr txBox="1"/>
          <p:nvPr/>
        </p:nvSpPr>
        <p:spPr>
          <a:xfrm>
            <a:off x="3879274" y="1836390"/>
            <a:ext cx="786938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b="1" dirty="0"/>
              <a:t>Ejemplo</a:t>
            </a:r>
            <a:r>
              <a:rPr lang="es-CO" sz="1400" dirty="0"/>
              <a:t>: Exprese de manera formal las siguiente proposiciones: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1400" dirty="0"/>
              <a:t>Si la guerra terminara, entonces viviríamos mejor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1400" dirty="0"/>
              <a:t>Si un país no tiene analfabetismo, nadie muere allí.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1400" dirty="0"/>
              <a:t>Si todos amaramos a la selección Colombia, no habría guerra.</a:t>
            </a:r>
          </a:p>
        </p:txBody>
      </p:sp>
    </p:spTree>
    <p:extLst>
      <p:ext uri="{BB962C8B-B14F-4D97-AF65-F5344CB8AC3E}">
        <p14:creationId xmlns:p14="http://schemas.microsoft.com/office/powerpoint/2010/main" val="342134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Axiomas de verdad – Efecto de los operadores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45" y="1493418"/>
            <a:ext cx="11471563" cy="5400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400" b="1" dirty="0">
                <a:solidFill>
                  <a:schemeClr val="accent1"/>
                </a:solidFill>
                <a:latin typeface="system-ui"/>
              </a:rPr>
              <a:t>Bicondicional</a:t>
            </a:r>
            <a:endParaRPr lang="es-MX" sz="2400" b="1" i="0" dirty="0">
              <a:solidFill>
                <a:schemeClr val="accent1"/>
              </a:solidFill>
              <a:effectLst/>
              <a:latin typeface="Google Sans Text"/>
            </a:endParaRPr>
          </a:p>
          <a:p>
            <a:pPr marL="0" indent="0">
              <a:buNone/>
            </a:pPr>
            <a:endParaRPr lang="es-MX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4">
                <a:extLst>
                  <a:ext uri="{FF2B5EF4-FFF2-40B4-BE49-F238E27FC236}">
                    <a16:creationId xmlns:a16="http://schemas.microsoft.com/office/drawing/2014/main" id="{30BFA087-8C28-493C-802C-3984AF58898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9904841"/>
                  </p:ext>
                </p:extLst>
              </p:nvPr>
            </p:nvGraphicFramePr>
            <p:xfrm>
              <a:off x="838200" y="2033429"/>
              <a:ext cx="2602515" cy="16764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17800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817800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966915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↔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4">
                <a:extLst>
                  <a:ext uri="{FF2B5EF4-FFF2-40B4-BE49-F238E27FC236}">
                    <a16:creationId xmlns:a16="http://schemas.microsoft.com/office/drawing/2014/main" id="{30BFA087-8C28-493C-802C-3984AF58898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9904841"/>
                  </p:ext>
                </p:extLst>
              </p:nvPr>
            </p:nvGraphicFramePr>
            <p:xfrm>
              <a:off x="838200" y="2033429"/>
              <a:ext cx="2602515" cy="16764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17800">
                      <a:extLst>
                        <a:ext uri="{9D8B030D-6E8A-4147-A177-3AD203B41FA5}">
                          <a16:colId xmlns:a16="http://schemas.microsoft.com/office/drawing/2014/main" val="776375974"/>
                        </a:ext>
                      </a:extLst>
                    </a:gridCol>
                    <a:gridCol w="817800">
                      <a:extLst>
                        <a:ext uri="{9D8B030D-6E8A-4147-A177-3AD203B41FA5}">
                          <a16:colId xmlns:a16="http://schemas.microsoft.com/office/drawing/2014/main" val="384604534"/>
                        </a:ext>
                      </a:extLst>
                    </a:gridCol>
                    <a:gridCol w="966915">
                      <a:extLst>
                        <a:ext uri="{9D8B030D-6E8A-4147-A177-3AD203B41FA5}">
                          <a16:colId xmlns:a16="http://schemas.microsoft.com/office/drawing/2014/main" val="79869298"/>
                        </a:ext>
                      </a:extLst>
                    </a:gridCol>
                  </a:tblGrid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𝒑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↔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670299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5549228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127006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4868107"/>
                      </a:ext>
                    </a:extLst>
                  </a:tr>
                  <a:tr h="28617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91364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CuadroTexto 5">
            <a:extLst>
              <a:ext uri="{FF2B5EF4-FFF2-40B4-BE49-F238E27FC236}">
                <a16:creationId xmlns:a16="http://schemas.microsoft.com/office/drawing/2014/main" id="{410EE7F4-F115-4426-9F8C-851C45101F34}"/>
              </a:ext>
            </a:extLst>
          </p:cNvPr>
          <p:cNvSpPr txBox="1"/>
          <p:nvPr/>
        </p:nvSpPr>
        <p:spPr>
          <a:xfrm>
            <a:off x="3879274" y="1836390"/>
            <a:ext cx="786938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b="1" dirty="0"/>
              <a:t>Ejemplo</a:t>
            </a:r>
            <a:r>
              <a:rPr lang="es-CO" sz="1400" dirty="0"/>
              <a:t>: Exprese de manera formal las siguiente proposiciones: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1400" dirty="0"/>
              <a:t>7&gt;10 si y solo si -8 &gt; -16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1400" dirty="0"/>
              <a:t>El sol es amarillo si y solo si 10&gt;9.</a:t>
            </a:r>
          </a:p>
          <a:p>
            <a:endParaRPr lang="es-CO" sz="1400" dirty="0"/>
          </a:p>
          <a:p>
            <a:r>
              <a:rPr lang="es-CO" sz="1400" dirty="0"/>
              <a:t>Se pide: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400" dirty="0"/>
              <a:t>Exprese en forma matemática cada una de las proposiciones anteriores.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400" dirty="0"/>
              <a:t>Teniendo en cuenta el contexto (realidad conocida), determine el valor de la verdad de las proposiciones.</a:t>
            </a:r>
          </a:p>
        </p:txBody>
      </p:sp>
    </p:spTree>
    <p:extLst>
      <p:ext uri="{BB962C8B-B14F-4D97-AF65-F5344CB8AC3E}">
        <p14:creationId xmlns:p14="http://schemas.microsoft.com/office/powerpoint/2010/main" val="7756616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26580"/>
            <a:ext cx="10515600" cy="1325563"/>
          </a:xfrm>
        </p:spPr>
        <p:txBody>
          <a:bodyPr/>
          <a:lstStyle/>
          <a:p>
            <a:r>
              <a:rPr lang="es-CO" dirty="0"/>
              <a:t>Axiomas de verdad – Efecto de los operadores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217" y="1222834"/>
            <a:ext cx="11471563" cy="163120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MX" sz="3300" b="1" i="0" dirty="0">
                <a:solidFill>
                  <a:schemeClr val="accent2"/>
                </a:solidFill>
                <a:effectLst/>
              </a:rPr>
              <a:t>Jerarquía de operadores</a:t>
            </a:r>
          </a:p>
          <a:p>
            <a:r>
              <a:rPr lang="es-MX" sz="2600" b="1" dirty="0">
                <a:latin typeface="system-ui"/>
              </a:rPr>
              <a:t>Prioridad</a:t>
            </a:r>
            <a:r>
              <a:rPr lang="es-MX" sz="2600" dirty="0">
                <a:latin typeface="system-ui"/>
              </a:rPr>
              <a:t>: Cuando hay dos o mas operaciones: ¿Que operación se ejecuta primero? </a:t>
            </a:r>
            <a:r>
              <a:rPr lang="es-MX" sz="2600" dirty="0">
                <a:latin typeface="system-ui"/>
                <a:sym typeface="Wingdings" panose="05000000000000000000" pitchFamily="2" charset="2"/>
              </a:rPr>
              <a:t> Orden de precedencia.</a:t>
            </a:r>
            <a:endParaRPr lang="es-MX" sz="2600" dirty="0">
              <a:latin typeface="system-ui"/>
            </a:endParaRPr>
          </a:p>
          <a:p>
            <a:r>
              <a:rPr lang="es-MX" sz="2600" b="1" i="0" dirty="0">
                <a:effectLst/>
                <a:latin typeface="system-ui"/>
              </a:rPr>
              <a:t>Asociatividad</a:t>
            </a:r>
            <a:r>
              <a:rPr lang="es-MX" sz="2600" b="0" i="0" dirty="0">
                <a:effectLst/>
                <a:latin typeface="system-ui"/>
              </a:rPr>
              <a:t>: Cuando dos o mas operaciones tienen igual orden de precedencia </a:t>
            </a:r>
            <a:r>
              <a:rPr lang="es-MX" sz="2600" b="0" i="0" dirty="0">
                <a:effectLst/>
                <a:latin typeface="system-ui"/>
                <a:sym typeface="Wingdings" panose="05000000000000000000" pitchFamily="2" charset="2"/>
              </a:rPr>
              <a:t> ¿Cual de esta realiza primero?</a:t>
            </a:r>
            <a:endParaRPr lang="es-MX" sz="2600" b="0" i="0" dirty="0">
              <a:effectLst/>
              <a:latin typeface="Google Sans Text"/>
            </a:endParaRPr>
          </a:p>
          <a:p>
            <a:pPr marL="0" indent="0">
              <a:buNone/>
            </a:pPr>
            <a:endParaRPr lang="es-MX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a 3">
                <a:extLst>
                  <a:ext uri="{FF2B5EF4-FFF2-40B4-BE49-F238E27FC236}">
                    <a16:creationId xmlns:a16="http://schemas.microsoft.com/office/drawing/2014/main" id="{110915FB-BCB6-4236-9E42-6FD6D05CDA3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52180999"/>
                  </p:ext>
                </p:extLst>
              </p:nvPr>
            </p:nvGraphicFramePr>
            <p:xfrm>
              <a:off x="949037" y="3311236"/>
              <a:ext cx="9428018" cy="2560320"/>
            </p:xfrm>
            <a:graphic>
              <a:graphicData uri="http://schemas.openxmlformats.org/drawingml/2006/table">
                <a:tbl>
                  <a:tblPr/>
                  <a:tblGrid>
                    <a:gridCol w="1943879">
                      <a:extLst>
                        <a:ext uri="{9D8B030D-6E8A-4147-A177-3AD203B41FA5}">
                          <a16:colId xmlns:a16="http://schemas.microsoft.com/office/drawing/2014/main" val="954721541"/>
                        </a:ext>
                      </a:extLst>
                    </a:gridCol>
                    <a:gridCol w="1428184">
                      <a:extLst>
                        <a:ext uri="{9D8B030D-6E8A-4147-A177-3AD203B41FA5}">
                          <a16:colId xmlns:a16="http://schemas.microsoft.com/office/drawing/2014/main" val="3778595028"/>
                        </a:ext>
                      </a:extLst>
                    </a:gridCol>
                    <a:gridCol w="2326734">
                      <a:extLst>
                        <a:ext uri="{9D8B030D-6E8A-4147-A177-3AD203B41FA5}">
                          <a16:colId xmlns:a16="http://schemas.microsoft.com/office/drawing/2014/main" val="4132410358"/>
                        </a:ext>
                      </a:extLst>
                    </a:gridCol>
                    <a:gridCol w="3729221">
                      <a:extLst>
                        <a:ext uri="{9D8B030D-6E8A-4147-A177-3AD203B41FA5}">
                          <a16:colId xmlns:a16="http://schemas.microsoft.com/office/drawing/2014/main" val="398379400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r>
                            <a:rPr lang="es-CO" b="1"/>
                            <a:t>Prioridad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b="1"/>
                            <a:t>Símbolo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b="1"/>
                            <a:t>Asociatividad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b="1" dirty="0"/>
                            <a:t>Ejemplo con paréntesis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7234868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s-CO"/>
                            <a:t>1 (más alta)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O" i="1" dirty="0" smtClean="0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</m:oMath>
                            </m:oMathPara>
                          </a14:m>
                          <a:endParaRPr lang="es-CO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/>
                            <a:t>No aplica (unitario)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O" i="1" dirty="0" smtClean="0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s-CO" i="1" dirty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s-CO" i="1" dirty="0" smtClean="0">
                                    <a:latin typeface="Cambria Math" panose="02040503050406030204" pitchFamily="18" charset="0"/>
                                  </a:rPr>
                                  <m:t> ∧ </m:t>
                                </m:r>
                                <m:r>
                                  <a:rPr lang="es-CO" i="1" dirty="0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s-CO" i="1" dirty="0" smtClean="0">
                                    <a:latin typeface="Cambria Math" panose="02040503050406030204" pitchFamily="18" charset="0"/>
                                  </a:rPr>
                                  <m:t> ⇔ ((¬</m:t>
                                </m:r>
                                <m:r>
                                  <a:rPr lang="es-CO" i="1" dirty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s-CO" i="1" dirty="0" smtClean="0">
                                    <a:latin typeface="Cambria Math" panose="02040503050406030204" pitchFamily="18" charset="0"/>
                                  </a:rPr>
                                  <m:t>) ∧ </m:t>
                                </m:r>
                                <m:r>
                                  <a:rPr lang="es-CO" i="1" dirty="0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s-CO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CO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0078998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s-CO"/>
                            <a:t>2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O" i="1" smtClean="0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</m:oMath>
                            </m:oMathPara>
                          </a14:m>
                          <a:endParaRPr lang="es-CO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dirty="0"/>
                            <a:t>Izquierda (</a:t>
                          </a:r>
                          <a14:m>
                            <m:oMath xmlns:m="http://schemas.openxmlformats.org/officeDocument/2006/math">
                              <m:r>
                                <a:rPr lang="es-CO" i="1" dirty="0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es-CO" i="1" dirty="0" smtClean="0">
                                  <a:latin typeface="Cambria Math" panose="02040503050406030204" pitchFamily="18" charset="0"/>
                                </a:rPr>
                                <m:t> → </m:t>
                              </m:r>
                              <m:r>
                                <a:rPr lang="es-CO" i="1" dirty="0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s-CO" dirty="0"/>
                            <a:t>)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  <m:t> ∧ </m:t>
                                </m:r>
                                <m: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  <m:t> ∧ </m:t>
                                </m:r>
                                <m: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s-CO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⇔</m:t>
                                </m:r>
                                <m: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  <m:t>((</m:t>
                                </m:r>
                                <m: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  <m:t> ∧ </m:t>
                                </m:r>
                                <m: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  <m:t>) ∧ </m:t>
                                </m:r>
                                <m: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pt-BR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7690171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s-CO"/>
                            <a:t>3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O" i="1" dirty="0" smtClean="0">
                                    <a:latin typeface="Cambria Math" panose="02040503050406030204" pitchFamily="18" charset="0"/>
                                  </a:rPr>
                                  <m:t>∨</m:t>
                                </m:r>
                              </m:oMath>
                            </m:oMathPara>
                          </a14:m>
                          <a:endParaRPr lang="es-CO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dirty="0"/>
                            <a:t>Izquierda (</a:t>
                          </a:r>
                          <a14:m>
                            <m:oMath xmlns:m="http://schemas.openxmlformats.org/officeDocument/2006/math">
                              <m:r>
                                <a:rPr lang="es-CO" i="1" dirty="0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es-CO" i="1" dirty="0" smtClean="0">
                                  <a:latin typeface="Cambria Math" panose="02040503050406030204" pitchFamily="18" charset="0"/>
                                </a:rPr>
                                <m:t> → </m:t>
                              </m:r>
                              <m:r>
                                <a:rPr lang="es-CO" i="1" dirty="0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s-CO" dirty="0"/>
                            <a:t>)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  <m:t> ∨ </m:t>
                                </m:r>
                                <m: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  <m:t> ∨ </m:t>
                                </m:r>
                                <m: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s-CO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⇔</m:t>
                                </m:r>
                                <m: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  <m:t>((</m:t>
                                </m:r>
                                <m: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  <m:t> ∨ </m:t>
                                </m:r>
                                <m: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  <m:t>) ∨ </m:t>
                                </m:r>
                                <m: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pt-BR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3103045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s-CO"/>
                            <a:t>4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O" i="1" dirty="0" smtClean="0">
                                    <a:latin typeface="Cambria Math" panose="02040503050406030204" pitchFamily="18" charset="0"/>
                                  </a:rPr>
                                  <m:t>⊕</m:t>
                                </m:r>
                              </m:oMath>
                            </m:oMathPara>
                          </a14:m>
                          <a:endParaRPr lang="es-CO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dirty="0"/>
                            <a:t>Izquierda (</a:t>
                          </a:r>
                          <a14:m>
                            <m:oMath xmlns:m="http://schemas.openxmlformats.org/officeDocument/2006/math">
                              <m:r>
                                <a:rPr lang="es-CO" i="1" dirty="0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es-CO" i="1" dirty="0" smtClean="0">
                                  <a:latin typeface="Cambria Math" panose="02040503050406030204" pitchFamily="18" charset="0"/>
                                </a:rPr>
                                <m:t> → </m:t>
                              </m:r>
                              <m:r>
                                <a:rPr lang="es-CO" i="1" dirty="0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s-CO" dirty="0"/>
                            <a:t>)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 ⊕ </m:t>
                                </m:r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 ⊕ </m:t>
                                </m:r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s-CO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⇔</m:t>
                                </m:r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((</m:t>
                                </m:r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 ⊕ </m:t>
                                </m:r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) ⊕ </m:t>
                                </m:r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pt-BR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080775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s-CO"/>
                            <a:t>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O" i="1" dirty="0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es-CO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dirty="0"/>
                            <a:t>Derecha (</a:t>
                          </a:r>
                          <a14:m>
                            <m:oMath xmlns:m="http://schemas.openxmlformats.org/officeDocument/2006/math">
                              <m:r>
                                <a:rPr lang="es-CO" i="1" dirty="0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es-CO" i="1" dirty="0" smtClean="0">
                                  <a:latin typeface="Cambria Math" panose="02040503050406030204" pitchFamily="18" charset="0"/>
                                </a:rPr>
                                <m:t> ← </m:t>
                              </m:r>
                              <m:r>
                                <a:rPr lang="es-CO" i="1" dirty="0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s-CO" dirty="0"/>
                            <a:t>)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 → </m:t>
                                </m:r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 → </m:t>
                                </m:r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s-CO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⇔</m:t>
                                </m:r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 → (</m:t>
                                </m:r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 → </m:t>
                                </m:r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))</m:t>
                                </m:r>
                              </m:oMath>
                            </m:oMathPara>
                          </a14:m>
                          <a:endParaRPr lang="pt-BR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1398858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s-CO"/>
                            <a:t>6 (más baja)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O" i="1" dirty="0" smtClean="0">
                                    <a:latin typeface="Cambria Math" panose="02040503050406030204" pitchFamily="18" charset="0"/>
                                  </a:rPr>
                                  <m:t>↔</m:t>
                                </m:r>
                              </m:oMath>
                            </m:oMathPara>
                          </a14:m>
                          <a:endParaRPr lang="es-CO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dirty="0"/>
                            <a:t>Derecha (</a:t>
                          </a:r>
                          <a14:m>
                            <m:oMath xmlns:m="http://schemas.openxmlformats.org/officeDocument/2006/math">
                              <m:r>
                                <a:rPr lang="es-CO" i="1" dirty="0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es-CO" i="1" dirty="0" smtClean="0">
                                  <a:latin typeface="Cambria Math" panose="02040503050406030204" pitchFamily="18" charset="0"/>
                                </a:rPr>
                                <m:t> ← </m:t>
                              </m:r>
                              <m:r>
                                <a:rPr lang="es-CO" i="1" dirty="0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s-CO" dirty="0"/>
                            <a:t>)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↔</m:t>
                                </m:r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↔</m:t>
                                </m:r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s-CO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⇔</m:t>
                                </m:r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↔</m:t>
                                </m:r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 (</m:t>
                                </m:r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↔</m:t>
                                </m:r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))</m:t>
                                </m:r>
                              </m:oMath>
                            </m:oMathPara>
                          </a14:m>
                          <a:endParaRPr lang="pt-BR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600277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a 3">
                <a:extLst>
                  <a:ext uri="{FF2B5EF4-FFF2-40B4-BE49-F238E27FC236}">
                    <a16:creationId xmlns:a16="http://schemas.microsoft.com/office/drawing/2014/main" id="{110915FB-BCB6-4236-9E42-6FD6D05CDA3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52180999"/>
                  </p:ext>
                </p:extLst>
              </p:nvPr>
            </p:nvGraphicFramePr>
            <p:xfrm>
              <a:off x="949037" y="3311236"/>
              <a:ext cx="9428018" cy="2560320"/>
            </p:xfrm>
            <a:graphic>
              <a:graphicData uri="http://schemas.openxmlformats.org/drawingml/2006/table">
                <a:tbl>
                  <a:tblPr/>
                  <a:tblGrid>
                    <a:gridCol w="1943879">
                      <a:extLst>
                        <a:ext uri="{9D8B030D-6E8A-4147-A177-3AD203B41FA5}">
                          <a16:colId xmlns:a16="http://schemas.microsoft.com/office/drawing/2014/main" val="954721541"/>
                        </a:ext>
                      </a:extLst>
                    </a:gridCol>
                    <a:gridCol w="1428184">
                      <a:extLst>
                        <a:ext uri="{9D8B030D-6E8A-4147-A177-3AD203B41FA5}">
                          <a16:colId xmlns:a16="http://schemas.microsoft.com/office/drawing/2014/main" val="3778595028"/>
                        </a:ext>
                      </a:extLst>
                    </a:gridCol>
                    <a:gridCol w="2326734">
                      <a:extLst>
                        <a:ext uri="{9D8B030D-6E8A-4147-A177-3AD203B41FA5}">
                          <a16:colId xmlns:a16="http://schemas.microsoft.com/office/drawing/2014/main" val="4132410358"/>
                        </a:ext>
                      </a:extLst>
                    </a:gridCol>
                    <a:gridCol w="3729221">
                      <a:extLst>
                        <a:ext uri="{9D8B030D-6E8A-4147-A177-3AD203B41FA5}">
                          <a16:colId xmlns:a16="http://schemas.microsoft.com/office/drawing/2014/main" val="3983794007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 b="1"/>
                            <a:t>Prioridad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b="1"/>
                            <a:t>Símbolo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b="1"/>
                            <a:t>Asociatividad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b="1" dirty="0"/>
                            <a:t>Ejemplo con paréntesis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7234868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/>
                            <a:t>1 (más alta)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l="-135745" t="-108333" r="-422979" b="-5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/>
                            <a:t>No aplica (unitario)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l="-152941" t="-108333" b="-5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078998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/>
                            <a:t>2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l="-135745" t="-208333" r="-422979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l="-145026" t="-208333" r="-160209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l="-152941" t="-208333" b="-4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690171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/>
                            <a:t>3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l="-135745" t="-303279" r="-422979" b="-3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l="-145026" t="-303279" r="-160209" b="-3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l="-152941" t="-303279" b="-3196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3103045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/>
                            <a:t>4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l="-135745" t="-410000" r="-422979" b="-2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l="-145026" t="-410000" r="-160209" b="-2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l="-152941" t="-410000" b="-2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080775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/>
                            <a:t>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l="-135745" t="-510000" r="-422979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l="-145026" t="-510000" r="-160209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l="-152941" t="-510000" b="-1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398858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/>
                            <a:t>6 (más baja)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l="-135745" t="-610000" r="-422979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l="-145026" t="-610000" r="-160209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l="-152941" t="-610000" b="-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6002772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465399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26580"/>
            <a:ext cx="10515600" cy="1325563"/>
          </a:xfrm>
        </p:spPr>
        <p:txBody>
          <a:bodyPr/>
          <a:lstStyle/>
          <a:p>
            <a:r>
              <a:rPr lang="es-CO" dirty="0"/>
              <a:t>Axiomas de verdad – Efecto de los operadores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0218" y="1375235"/>
                <a:ext cx="11471563" cy="426356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MX" b="1" i="0" dirty="0">
                    <a:effectLst/>
                  </a:rPr>
                  <a:t>Ejemplos: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s-MX" sz="2000" b="0" i="0" dirty="0">
                    <a:solidFill>
                      <a:schemeClr val="tx1"/>
                    </a:solidFill>
                    <a:effectLst/>
                    <a:latin typeface="system-ui"/>
                  </a:rPr>
                  <a:t>Sea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s-MX" sz="2000" b="0" i="0" dirty="0">
                    <a:solidFill>
                      <a:schemeClr val="tx1"/>
                    </a:solidFill>
                    <a:effectLst/>
                    <a:latin typeface="Google Sans Text"/>
                  </a:rPr>
                  <a:t> una proposición verdadera (“Hace calor”) y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s-MX" sz="2000" b="0" i="0" dirty="0">
                    <a:solidFill>
                      <a:schemeClr val="tx1"/>
                    </a:solidFill>
                    <a:effectLst/>
                    <a:latin typeface="Google Sans Text"/>
                  </a:rPr>
                  <a:t> una proposición false (“El </a:t>
                </a:r>
                <a:r>
                  <a:rPr lang="es-MX" sz="2000" b="0" i="0" dirty="0" err="1">
                    <a:solidFill>
                      <a:schemeClr val="tx1"/>
                    </a:solidFill>
                    <a:effectLst/>
                    <a:latin typeface="Google Sans Text"/>
                  </a:rPr>
                  <a:t>dia</a:t>
                </a:r>
                <a:r>
                  <a:rPr lang="es-MX" sz="2000" b="0" i="0" dirty="0">
                    <a:solidFill>
                      <a:schemeClr val="tx1"/>
                    </a:solidFill>
                    <a:effectLst/>
                    <a:latin typeface="Google Sans Text"/>
                  </a:rPr>
                  <a:t> esta soleado”) determine el valor de verdad de: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h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endParaRPr lang="es-MX" sz="2000" b="0" i="0" dirty="0">
                  <a:solidFill>
                    <a:schemeClr val="tx1"/>
                  </a:solidFill>
                  <a:effectLst/>
                  <a:latin typeface="Google Sans Text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h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∧¬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endParaRPr lang="es-MX" sz="2000" b="0" i="0" dirty="0">
                  <a:solidFill>
                    <a:schemeClr val="tx1"/>
                  </a:solidFill>
                  <a:effectLst/>
                  <a:latin typeface="Google Sans Text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s-MX" sz="2000" b="0" i="0" dirty="0">
                    <a:solidFill>
                      <a:schemeClr val="tx1"/>
                    </a:solidFill>
                    <a:effectLst/>
                    <a:latin typeface="Google Sans Text"/>
                  </a:rPr>
                  <a:t>Determine el valor de </a:t>
                </a:r>
                <a:r>
                  <a:rPr lang="es-MX" sz="2000" dirty="0">
                    <a:solidFill>
                      <a:schemeClr val="tx1"/>
                    </a:solidFill>
                    <a:latin typeface="Google Sans Text"/>
                  </a:rPr>
                  <a:t>verdad de la expresión</a:t>
                </a:r>
                <a:r>
                  <a:rPr lang="es-MX" sz="2000" b="0" dirty="0">
                    <a:solidFill>
                      <a:schemeClr val="tx1"/>
                    </a:solidFill>
                    <a:effectLst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20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0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s-MX" sz="20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es-MX" sz="20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∧¬(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MX" sz="2000" b="0" i="0" dirty="0">
                    <a:solidFill>
                      <a:schemeClr val="tx1"/>
                    </a:solidFill>
                    <a:effectLst/>
                    <a:latin typeface="Google Sans Text"/>
                  </a:rPr>
                  <a:t> cuando: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s-MX" sz="2000" b="0" i="0" dirty="0">
                    <a:solidFill>
                      <a:schemeClr val="tx1"/>
                    </a:solidFill>
                    <a:effectLst/>
                    <a:latin typeface="Google Sans Text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𝑞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s-MX" sz="2000" b="0" i="0" dirty="0">
                    <a:solidFill>
                      <a:schemeClr val="tx1"/>
                    </a:solidFill>
                    <a:effectLst/>
                    <a:latin typeface="Google Sans Text"/>
                  </a:rPr>
                  <a:t>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s-MX" sz="2000" b="0" i="0" dirty="0">
                    <a:solidFill>
                      <a:schemeClr val="tx1"/>
                    </a:solidFill>
                    <a:effectLst/>
                    <a:latin typeface="Google Sans Text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𝑞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s-MX" sz="2000" b="0" i="0" dirty="0">
                    <a:solidFill>
                      <a:schemeClr val="tx1"/>
                    </a:solidFill>
                    <a:effectLst/>
                    <a:latin typeface="Google Sans Text"/>
                  </a:rPr>
                  <a:t>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s-MX" sz="2000" b="0" i="0" dirty="0">
                    <a:solidFill>
                      <a:schemeClr val="tx1"/>
                    </a:solidFill>
                    <a:effectLst/>
                    <a:latin typeface="Google Sans Text"/>
                  </a:rPr>
                  <a:t>Sean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s-MX" sz="2000" b="0" i="0" dirty="0">
                    <a:solidFill>
                      <a:schemeClr val="tx1"/>
                    </a:solidFill>
                    <a:effectLst/>
                    <a:latin typeface="Google Sans Text"/>
                  </a:rPr>
                  <a:t>,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s-MX" sz="2000" b="0" i="0" dirty="0">
                    <a:solidFill>
                      <a:schemeClr val="tx1"/>
                    </a:solidFill>
                    <a:effectLst/>
                    <a:latin typeface="Google Sans Text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s-MX" sz="2000" b="0" i="0" dirty="0">
                    <a:solidFill>
                      <a:schemeClr val="tx1"/>
                    </a:solidFill>
                    <a:effectLst/>
                    <a:latin typeface="Google Sans Text"/>
                  </a:rPr>
                  <a:t> proposiciones. </a:t>
                </a:r>
              </a:p>
              <a:p>
                <a:pPr lvl="1"/>
                <a:r>
                  <a:rPr lang="es-MX" sz="2000" b="0" i="0" dirty="0">
                    <a:solidFill>
                      <a:schemeClr val="tx1"/>
                    </a:solidFill>
                    <a:effectLst/>
                    <a:latin typeface="Google Sans Text"/>
                  </a:rPr>
                  <a:t>Si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s-MX" sz="2000" b="0" i="0" dirty="0">
                    <a:solidFill>
                      <a:schemeClr val="tx1"/>
                    </a:solidFill>
                    <a:effectLst/>
                    <a:latin typeface="Google Sans Text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𝑄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s-MX" sz="2000" b="0" i="0" dirty="0">
                    <a:solidFill>
                      <a:schemeClr val="tx1"/>
                    </a:solidFill>
                    <a:effectLst/>
                    <a:latin typeface="Google Sans Text"/>
                  </a:rPr>
                  <a:t> son falsas y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s-MX" sz="2000" b="0" i="0" dirty="0">
                    <a:solidFill>
                      <a:schemeClr val="tx1"/>
                    </a:solidFill>
                    <a:effectLst/>
                    <a:latin typeface="Google Sans Text"/>
                  </a:rPr>
                  <a:t> es falsa. ¿Qué puede afirmarse del valor de verdad de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s-MX" sz="2000" b="0" i="0" dirty="0">
                    <a:solidFill>
                      <a:schemeClr val="tx1"/>
                    </a:solidFill>
                    <a:effectLst/>
                    <a:latin typeface="Google Sans Text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s-MX" sz="2000" b="0" i="0" dirty="0">
                    <a:solidFill>
                      <a:schemeClr val="tx1"/>
                    </a:solidFill>
                    <a:effectLst/>
                    <a:latin typeface="Google Sans Text"/>
                  </a:rPr>
                  <a:t>?</a:t>
                </a:r>
              </a:p>
              <a:p>
                <a:pPr lvl="1"/>
                <a:r>
                  <a:rPr lang="es-MX" sz="2000" dirty="0">
                    <a:solidFill>
                      <a:schemeClr val="tx1"/>
                    </a:solidFill>
                    <a:latin typeface="Google Sans Text"/>
                  </a:rPr>
                  <a:t>Si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20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0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s-MX" sz="20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es-MX" sz="20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["/>
                        <m:endChr m:val="]"/>
                        <m:ctrlPr>
                          <a:rPr lang="es-MX" sz="20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0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s-MX" sz="20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s-MX" sz="20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  <m:r>
                          <a:rPr lang="es-MX" sz="20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es-MX" sz="20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</m:d>
                  </m:oMath>
                </a14:m>
                <a:r>
                  <a:rPr lang="es-MX" sz="2000" b="0" i="0" dirty="0">
                    <a:solidFill>
                      <a:schemeClr val="tx1"/>
                    </a:solidFill>
                    <a:effectLst/>
                    <a:latin typeface="Google Sans Text"/>
                  </a:rPr>
                  <a:t> es falsa, que se puede afirmar del valor de la verdad de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s-MX" sz="2000" b="0" i="0" dirty="0">
                    <a:solidFill>
                      <a:schemeClr val="tx1"/>
                    </a:solidFill>
                    <a:effectLst/>
                    <a:latin typeface="Google Sans Text"/>
                  </a:rPr>
                  <a:t>,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s-MX" sz="2000" b="0" i="0" dirty="0">
                    <a:solidFill>
                      <a:schemeClr val="tx1"/>
                    </a:solidFill>
                    <a:effectLst/>
                    <a:latin typeface="Google Sans Text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s-MX" sz="2000" b="0" i="0" dirty="0">
                  <a:solidFill>
                    <a:schemeClr val="tx1"/>
                  </a:solidFill>
                  <a:effectLst/>
                  <a:latin typeface="Google Sans Text"/>
                </a:endParaRPr>
              </a:p>
              <a:p>
                <a:pPr lvl="1"/>
                <a:endParaRPr lang="es-MX" sz="1600" b="0" i="0" dirty="0">
                  <a:solidFill>
                    <a:schemeClr val="tx1"/>
                  </a:solidFill>
                  <a:effectLst/>
                  <a:latin typeface="Google Sans Text"/>
                </a:endParaRPr>
              </a:p>
              <a:p>
                <a:pPr marL="0" indent="0">
                  <a:buNone/>
                </a:pPr>
                <a:endParaRPr lang="es-MX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218" y="1375235"/>
                <a:ext cx="11471563" cy="4263566"/>
              </a:xfrm>
              <a:blipFill>
                <a:blip r:embed="rId2"/>
                <a:stretch>
                  <a:fillRect l="-1063" t="-243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73483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26580"/>
            <a:ext cx="10515600" cy="1325563"/>
          </a:xfrm>
        </p:spPr>
        <p:txBody>
          <a:bodyPr/>
          <a:lstStyle/>
          <a:p>
            <a:r>
              <a:rPr lang="es-CO" dirty="0"/>
              <a:t>Axiomas de verdad – Efecto de los operadores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0218" y="1375235"/>
                <a:ext cx="11471563" cy="426356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MX" sz="2000" b="1" i="0" dirty="0">
                    <a:solidFill>
                      <a:schemeClr val="tx1"/>
                    </a:solidFill>
                    <a:effectLst/>
                    <a:latin typeface="system-ui"/>
                  </a:rPr>
                  <a:t>Ejemplo 1:</a:t>
                </a:r>
                <a:r>
                  <a:rPr lang="es-MX" sz="2000" b="0" i="0" dirty="0">
                    <a:solidFill>
                      <a:schemeClr val="tx1"/>
                    </a:solidFill>
                    <a:effectLst/>
                    <a:latin typeface="system-ui"/>
                  </a:rPr>
                  <a:t>  Sea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s-MX" sz="2000" b="0" i="0" dirty="0">
                    <a:solidFill>
                      <a:schemeClr val="tx1"/>
                    </a:solidFill>
                    <a:effectLst/>
                    <a:latin typeface="Google Sans Text"/>
                  </a:rPr>
                  <a:t> una proposición verdadera (“Hace calor”) y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s-MX" sz="2000" b="0" i="0" dirty="0">
                    <a:solidFill>
                      <a:schemeClr val="tx1"/>
                    </a:solidFill>
                    <a:effectLst/>
                    <a:latin typeface="Google Sans Text"/>
                  </a:rPr>
                  <a:t> una proposición false (“El </a:t>
                </a:r>
                <a:r>
                  <a:rPr lang="es-MX" sz="2000" b="0" i="0" dirty="0" err="1">
                    <a:solidFill>
                      <a:schemeClr val="tx1"/>
                    </a:solidFill>
                    <a:effectLst/>
                    <a:latin typeface="Google Sans Text"/>
                  </a:rPr>
                  <a:t>dia</a:t>
                </a:r>
                <a:r>
                  <a:rPr lang="es-MX" sz="2000" b="0" i="0" dirty="0">
                    <a:solidFill>
                      <a:schemeClr val="tx1"/>
                    </a:solidFill>
                    <a:effectLst/>
                    <a:latin typeface="Google Sans Text"/>
                  </a:rPr>
                  <a:t> esta soleado”) determine el valor de verdad de:</a:t>
                </a:r>
              </a:p>
              <a:p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h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endParaRPr lang="es-MX" sz="2000" b="0" i="0" dirty="0">
                  <a:solidFill>
                    <a:schemeClr val="tx1"/>
                  </a:solidFill>
                  <a:effectLst/>
                  <a:latin typeface="Google Sans Text"/>
                </a:endParaRPr>
              </a:p>
              <a:p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h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∧¬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endParaRPr lang="es-MX" sz="2000" b="0" i="0" dirty="0">
                  <a:solidFill>
                    <a:schemeClr val="tx1"/>
                  </a:solidFill>
                  <a:effectLst/>
                  <a:latin typeface="Google Sans Text"/>
                </a:endParaRPr>
              </a:p>
              <a:p>
                <a:pPr marL="0" indent="0">
                  <a:buNone/>
                </a:pPr>
                <a:endParaRPr lang="es-MX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218" y="1375235"/>
                <a:ext cx="11471563" cy="4263566"/>
              </a:xfrm>
              <a:blipFill>
                <a:blip r:embed="rId2"/>
                <a:stretch>
                  <a:fillRect l="-531" t="-1574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0857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26580"/>
            <a:ext cx="10515600" cy="1325563"/>
          </a:xfrm>
        </p:spPr>
        <p:txBody>
          <a:bodyPr/>
          <a:lstStyle/>
          <a:p>
            <a:r>
              <a:rPr lang="es-CO" dirty="0"/>
              <a:t>Axiomas de verdad – Efecto de los operadores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0218" y="1375235"/>
                <a:ext cx="11471563" cy="426356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MX" sz="2000" b="1" i="0" dirty="0">
                    <a:solidFill>
                      <a:schemeClr val="tx1"/>
                    </a:solidFill>
                    <a:effectLst/>
                    <a:latin typeface="system-ui"/>
                  </a:rPr>
                  <a:t>Ejemplo 2:</a:t>
                </a:r>
                <a:r>
                  <a:rPr lang="es-MX" sz="2000" b="0" i="0" dirty="0">
                    <a:solidFill>
                      <a:schemeClr val="tx1"/>
                    </a:solidFill>
                    <a:effectLst/>
                    <a:latin typeface="system-ui"/>
                  </a:rPr>
                  <a:t> </a:t>
                </a:r>
                <a:r>
                  <a:rPr lang="es-MX" sz="2000" b="0" i="0" dirty="0">
                    <a:solidFill>
                      <a:schemeClr val="tx1"/>
                    </a:solidFill>
                    <a:effectLst/>
                    <a:latin typeface="Google Sans Text"/>
                  </a:rPr>
                  <a:t>Determine el valor de </a:t>
                </a:r>
                <a:r>
                  <a:rPr lang="es-MX" sz="2000" dirty="0">
                    <a:solidFill>
                      <a:schemeClr val="tx1"/>
                    </a:solidFill>
                    <a:latin typeface="Google Sans Text"/>
                  </a:rPr>
                  <a:t>verdad de la expresión</a:t>
                </a:r>
                <a:r>
                  <a:rPr lang="es-MX" sz="2000" b="0" dirty="0">
                    <a:solidFill>
                      <a:schemeClr val="tx1"/>
                    </a:solidFill>
                    <a:effectLst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20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0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s-MX" sz="20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es-MX" sz="20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∧¬(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MX" sz="2000" b="0" i="0" dirty="0">
                    <a:solidFill>
                      <a:schemeClr val="tx1"/>
                    </a:solidFill>
                    <a:effectLst/>
                    <a:latin typeface="Google Sans Text"/>
                  </a:rPr>
                  <a:t> cuando:</a:t>
                </a:r>
              </a:p>
              <a:p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s-MX" sz="2000" b="0" i="0" dirty="0">
                    <a:solidFill>
                      <a:schemeClr val="tx1"/>
                    </a:solidFill>
                    <a:effectLst/>
                    <a:latin typeface="Google Sans Text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𝑞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s-MX" sz="2000" b="0" i="0" dirty="0">
                    <a:solidFill>
                      <a:schemeClr val="tx1"/>
                    </a:solidFill>
                    <a:effectLst/>
                    <a:latin typeface="Google Sans Text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s-MX" sz="2000" b="0" i="0" dirty="0">
                    <a:solidFill>
                      <a:schemeClr val="tx1"/>
                    </a:solidFill>
                    <a:effectLst/>
                    <a:latin typeface="Google Sans Text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𝑞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s-MX" sz="2000" b="0" i="0" dirty="0">
                    <a:solidFill>
                      <a:schemeClr val="tx1"/>
                    </a:solidFill>
                    <a:effectLst/>
                    <a:latin typeface="Google Sans Text"/>
                  </a:rPr>
                  <a:t> </a:t>
                </a:r>
              </a:p>
              <a:p>
                <a:pPr marL="0" indent="0">
                  <a:buNone/>
                </a:pPr>
                <a:endParaRPr lang="es-MX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218" y="1375235"/>
                <a:ext cx="11471563" cy="4263566"/>
              </a:xfrm>
              <a:blipFill>
                <a:blip r:embed="rId2"/>
                <a:stretch>
                  <a:fillRect l="-531" t="-1574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52510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26580"/>
            <a:ext cx="10515600" cy="1325563"/>
          </a:xfrm>
        </p:spPr>
        <p:txBody>
          <a:bodyPr/>
          <a:lstStyle/>
          <a:p>
            <a:r>
              <a:rPr lang="es-CO" dirty="0"/>
              <a:t>Axiomas de verdad – Efecto de los operadores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0218" y="1375235"/>
                <a:ext cx="11471563" cy="501171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MX" sz="2000" b="1" i="0" dirty="0">
                    <a:solidFill>
                      <a:schemeClr val="tx1"/>
                    </a:solidFill>
                    <a:effectLst/>
                    <a:latin typeface="system-ui"/>
                  </a:rPr>
                  <a:t>Ejemplo 3:</a:t>
                </a:r>
                <a:r>
                  <a:rPr lang="es-MX" sz="2000" b="0" i="0" dirty="0">
                    <a:solidFill>
                      <a:schemeClr val="tx1"/>
                    </a:solidFill>
                    <a:effectLst/>
                    <a:latin typeface="system-ui"/>
                  </a:rPr>
                  <a:t> </a:t>
                </a:r>
                <a:r>
                  <a:rPr lang="es-MX" sz="2000" b="0" i="0" dirty="0">
                    <a:solidFill>
                      <a:schemeClr val="tx1"/>
                    </a:solidFill>
                    <a:effectLst/>
                    <a:latin typeface="Google Sans Text"/>
                  </a:rPr>
                  <a:t>Sean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s-MX" sz="2000" b="0" i="0" dirty="0">
                    <a:solidFill>
                      <a:schemeClr val="tx1"/>
                    </a:solidFill>
                    <a:effectLst/>
                    <a:latin typeface="Google Sans Text"/>
                  </a:rPr>
                  <a:t>,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s-MX" sz="2000" b="0" i="0" dirty="0">
                    <a:solidFill>
                      <a:schemeClr val="tx1"/>
                    </a:solidFill>
                    <a:effectLst/>
                    <a:latin typeface="Google Sans Text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s-MX" sz="2000" b="0" i="0" dirty="0">
                    <a:solidFill>
                      <a:schemeClr val="tx1"/>
                    </a:solidFill>
                    <a:effectLst/>
                    <a:latin typeface="Google Sans Text"/>
                  </a:rPr>
                  <a:t> proposiciones. </a:t>
                </a:r>
              </a:p>
              <a:p>
                <a:r>
                  <a:rPr lang="es-MX" sz="2000" b="0" i="0" dirty="0">
                    <a:solidFill>
                      <a:schemeClr val="tx1"/>
                    </a:solidFill>
                    <a:effectLst/>
                    <a:latin typeface="Google Sans Text"/>
                  </a:rPr>
                  <a:t>Si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s-MX" sz="2000" b="0" i="0" dirty="0">
                    <a:solidFill>
                      <a:schemeClr val="tx1"/>
                    </a:solidFill>
                    <a:effectLst/>
                    <a:latin typeface="Google Sans Text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𝑄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s-MX" sz="2000" b="0" i="0" dirty="0">
                    <a:solidFill>
                      <a:schemeClr val="tx1"/>
                    </a:solidFill>
                    <a:effectLst/>
                    <a:latin typeface="Google Sans Text"/>
                  </a:rPr>
                  <a:t> son falsas y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s-MX" sz="2000" b="0" i="0" dirty="0">
                    <a:solidFill>
                      <a:schemeClr val="tx1"/>
                    </a:solidFill>
                    <a:effectLst/>
                    <a:latin typeface="Google Sans Text"/>
                  </a:rPr>
                  <a:t> es falsa. ¿Qué puede afirmarse del valor de verdad de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s-MX" sz="2000" b="0" i="0" dirty="0">
                    <a:solidFill>
                      <a:schemeClr val="tx1"/>
                    </a:solidFill>
                    <a:effectLst/>
                    <a:latin typeface="Google Sans Text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s-MX" sz="2000" b="0" i="0" dirty="0">
                    <a:solidFill>
                      <a:schemeClr val="tx1"/>
                    </a:solidFill>
                    <a:effectLst/>
                    <a:latin typeface="Google Sans Text"/>
                  </a:rPr>
                  <a:t>?</a:t>
                </a:r>
              </a:p>
              <a:p>
                <a:r>
                  <a:rPr lang="es-MX" sz="2000" dirty="0">
                    <a:solidFill>
                      <a:schemeClr val="tx1"/>
                    </a:solidFill>
                    <a:latin typeface="Google Sans Text"/>
                  </a:rPr>
                  <a:t>Si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20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0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s-MX" sz="20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es-MX" sz="20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["/>
                        <m:endChr m:val="]"/>
                        <m:ctrlPr>
                          <a:rPr lang="es-MX" sz="20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0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s-MX" sz="20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s-MX" sz="20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  <m:r>
                          <a:rPr lang="es-MX" sz="20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es-MX" sz="20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</m:d>
                  </m:oMath>
                </a14:m>
                <a:r>
                  <a:rPr lang="es-MX" sz="2000" b="0" i="0" dirty="0">
                    <a:solidFill>
                      <a:schemeClr val="tx1"/>
                    </a:solidFill>
                    <a:effectLst/>
                    <a:latin typeface="Google Sans Text"/>
                  </a:rPr>
                  <a:t> es falsa, que se puede afirmar del valor de la verdad de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s-MX" sz="2000" b="0" i="0" dirty="0">
                    <a:solidFill>
                      <a:schemeClr val="tx1"/>
                    </a:solidFill>
                    <a:effectLst/>
                    <a:latin typeface="Google Sans Text"/>
                  </a:rPr>
                  <a:t>,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s-MX" sz="2000" b="0" i="0" dirty="0">
                    <a:solidFill>
                      <a:schemeClr val="tx1"/>
                    </a:solidFill>
                    <a:effectLst/>
                    <a:latin typeface="Google Sans Text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s-MX" sz="2000" b="0" i="0" dirty="0">
                  <a:solidFill>
                    <a:schemeClr val="tx1"/>
                  </a:solidFill>
                  <a:effectLst/>
                  <a:latin typeface="Google Sans Text"/>
                </a:endParaRPr>
              </a:p>
              <a:p>
                <a:pPr lvl="1"/>
                <a:endParaRPr lang="es-MX" sz="1600" b="0" i="0" dirty="0">
                  <a:solidFill>
                    <a:schemeClr val="tx1"/>
                  </a:solidFill>
                  <a:effectLst/>
                  <a:latin typeface="Google Sans Text"/>
                </a:endParaRPr>
              </a:p>
              <a:p>
                <a:pPr marL="0" indent="0">
                  <a:buNone/>
                </a:pPr>
                <a:endParaRPr lang="es-MX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611C1C-AB20-4127-87E3-88401D8503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218" y="1375235"/>
                <a:ext cx="11471563" cy="5011710"/>
              </a:xfrm>
              <a:blipFill>
                <a:blip r:embed="rId2"/>
                <a:stretch>
                  <a:fillRect l="-531" t="-133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49804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Descargar fondos de Looneytunes, Eso Es Todo Amigos. | Wallpapers.com">
            <a:extLst>
              <a:ext uri="{FF2B5EF4-FFF2-40B4-BE49-F238E27FC236}">
                <a16:creationId xmlns:a16="http://schemas.microsoft.com/office/drawing/2014/main" id="{80E56D42-6B08-45CB-A8AD-5B69CC1FD1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189" y="1300595"/>
            <a:ext cx="8043676" cy="4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74094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1209</Words>
  <Application>Microsoft Office PowerPoint</Application>
  <PresentationFormat>Panorámica</PresentationFormat>
  <Paragraphs>305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Google Sans Text</vt:lpstr>
      <vt:lpstr>Roboto</vt:lpstr>
      <vt:lpstr>system-ui</vt:lpstr>
      <vt:lpstr>Tema de Office</vt:lpstr>
      <vt:lpstr>Matemáticas Discretas 1</vt:lpstr>
      <vt:lpstr>Recursos complementarios para esta clase</vt:lpstr>
      <vt:lpstr>Agenda</vt:lpstr>
      <vt:lpstr>Axiomas de verdad – Efecto de los operadores</vt:lpstr>
      <vt:lpstr>Axiomas de verdad – Efecto de los operadores</vt:lpstr>
      <vt:lpstr>Axiomas de verdad – Efecto de los operadores</vt:lpstr>
      <vt:lpstr>Axiomas de verdad – Efecto de los operadores</vt:lpstr>
      <vt:lpstr>Axiomas de verdad – Efecto de los operadores</vt:lpstr>
      <vt:lpstr>Axiomas de verdad – Efecto de los operadores</vt:lpstr>
      <vt:lpstr>Axiomas de verdad – Efecto de los operadores</vt:lpstr>
      <vt:lpstr>Axiomas de verdad – Efecto de los operadores</vt:lpstr>
      <vt:lpstr>Axiomas de verdad – Efecto de los operadores</vt:lpstr>
      <vt:lpstr>Axiomas de verdad – Efecto de los operadores</vt:lpstr>
      <vt:lpstr>Axiomas de verdad – Efecto de los operadores</vt:lpstr>
      <vt:lpstr>Axiomas de verdad – Efecto de los operadores</vt:lpstr>
      <vt:lpstr>Axiomas de verdad – Efecto de los operadores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Matemáticas Discretas 1</dc:title>
  <dc:creator>Henry Arcila</dc:creator>
  <cp:lastModifiedBy>HENRY ALBERTO ARCILA RAMIREZ</cp:lastModifiedBy>
  <cp:revision>12</cp:revision>
  <dcterms:created xsi:type="dcterms:W3CDTF">2026-02-16T23:39:43Z</dcterms:created>
  <dcterms:modified xsi:type="dcterms:W3CDTF">2026-08-13T10:48:58Z</dcterms:modified>
</cp:coreProperties>
</file>