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300" r:id="rId6"/>
    <p:sldId id="301" r:id="rId7"/>
    <p:sldId id="302" r:id="rId8"/>
    <p:sldId id="303" r:id="rId9"/>
    <p:sldId id="259" r:id="rId10"/>
    <p:sldId id="305" r:id="rId11"/>
    <p:sldId id="306" r:id="rId12"/>
    <p:sldId id="261" r:id="rId13"/>
    <p:sldId id="264" r:id="rId14"/>
    <p:sldId id="267" r:id="rId15"/>
    <p:sldId id="265" r:id="rId16"/>
    <p:sldId id="268" r:id="rId17"/>
    <p:sldId id="307" r:id="rId18"/>
    <p:sldId id="308" r:id="rId19"/>
    <p:sldId id="269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298" r:id="rId2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42770-6FBD-4BB4-A2B9-23B83B79F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0A678D-ACF8-42CB-B602-771D3671A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A27A23-4A75-4158-B3E1-3279D54A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5C36C1-26A3-49BE-A8A8-656951FE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69EE2A-0423-43AD-9F4C-5952D9F2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44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926FE-A781-4BB8-B275-F95FB8E1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D71A97-A3C2-4295-8826-D28A126AD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06F645-AB27-4911-BCC9-574BF367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A8FE45-F388-46E1-847F-D74F2CDF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E19B6D-4D65-4A9C-873F-E7FFC1C6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438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6E4C1-EE2C-4DF3-B95E-10353CE8F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36596D-34C7-480C-B7C7-AE611D66A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F39E0B-86F6-4DD6-8E06-F04AB91D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028C16-2CC1-490E-9309-92C8F9A0B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EC182E-E5DD-4074-AA33-D149FC81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244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F4A12-1EEC-4400-93DE-671E040E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44AD98-7D87-40F1-9981-C755DC426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3F4873-7AED-4F9D-9103-5818CC36D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EDBBA8-578A-446A-800E-01BDB42C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82B379-A5D7-4342-86D7-62F9B931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451239-35D4-4220-9B22-7EE6E22E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423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EBB5A-6224-4348-9B94-4161FF843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CF24BE-9C24-4CA6-8A5C-36DBE9285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DEFA7D-A451-44F4-B5C6-2ACBE2F84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B200E4-6816-4997-87AF-39943A087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01A54D-0CA9-4172-B839-F19F04CFF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98EF700-2071-4D13-B6EE-34550DBEF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078420-F81E-408E-A9AB-0F92562D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306ED8-BF80-4607-B42A-65A6846C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198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C3652-A105-4D57-9F69-2D3E81B5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5AD369-43CB-4B39-8D56-C54136FF9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DF48D6-33A3-43B8-9361-244B90D5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288C44-51DA-4E62-85C0-E253415A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7FBCCC-D27A-4A96-85AB-1BAF6493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C6C721-C0F1-483D-97A4-E08FDBE3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EA1B9F-FE52-448D-B841-4A00EEA7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978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02A91-1D28-42A9-B21E-EFA7DDA2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294BA1-5B56-44D0-B843-FE7B2B25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0E838D-4388-42AC-AC13-A32F7F7E4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099FCE-0501-4EC2-A21B-EDDDE2E6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EAC3F1-97ED-4708-B0C0-2A867F739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88FABF-430B-4BBC-AAF0-0C3836E0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69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43730-08F4-474D-BF3B-2673A2E08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1ADB43-4142-4E41-9C02-2EC1C4EE5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40C94E-B1B0-42F9-8668-259526B6F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67A2EA-ED3A-479F-B942-4062C664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C577A8-F277-4E96-AC0F-E0581A09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59C557-34C4-49D7-B43D-1D70DA14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189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9DA3E-683D-49C3-B835-5DA47B06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2A7221-F084-498B-A2A3-827959A70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26429-F5E6-4B51-8B8E-E05BD785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10D87B-E1BE-4DE4-9F60-CD7364B2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6E0DB5-B959-49A6-9256-FDCF4D4D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011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088A24B-644E-406E-86FA-07F4B0DB5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82AB56-3945-4933-BAEA-72759D362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9CA228-69BD-4106-8570-761E9E57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4E5A-E75E-4899-90F5-DDB39F3E781F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BA0E29-7829-410A-9C8D-1D51D1C5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41274-8A44-49CB-A1AD-9434CB35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1293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5368ED-5B28-4202-9E33-32EC05B8A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C0C07D-486C-406F-ABEB-E3692C2CE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1E458E-9971-4F89-8F75-BCD52B592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E4E5A-E75E-4899-90F5-DDB39F3E781F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13CD78-927C-4944-A41E-D7C93DAE7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0AC53E-55C5-4980-8039-C8B4C48B2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450EB-BA4E-4FAC-BF54-AABC0C89B0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109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retas1-udea.github.io/discretas1-udea-20262/lessons/mod1/clase1/" TargetMode="External"/><Relationship Id="rId2" Type="http://schemas.openxmlformats.org/officeDocument/2006/relationships/hyperlink" Target="https://discretas1-udea.github.io/discretas1-udea-20261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scretas1-udea.github.io/discretas1-udea-20262/assets/slides/clase1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1E613-42B3-43C2-8E09-AFBF8FB95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/>
              <a:t>Matemáticas Discretas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E98DC3-5DEF-4734-A422-0A017D4D3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CO" sz="4000" b="1" dirty="0"/>
              <a:t>Clase 02</a:t>
            </a:r>
          </a:p>
          <a:p>
            <a:r>
              <a:rPr lang="es-CO" dirty="0"/>
              <a:t>Universidad de Antioquia</a:t>
            </a:r>
          </a:p>
          <a:p>
            <a:r>
              <a:rPr lang="es-CO" dirty="0"/>
              <a:t>Facultad de Ingeniería</a:t>
            </a:r>
          </a:p>
          <a:p>
            <a:r>
              <a:rPr lang="es-CO" dirty="0"/>
              <a:t>Ingeniería de Sistemas</a:t>
            </a:r>
          </a:p>
        </p:txBody>
      </p:sp>
    </p:spTree>
    <p:extLst>
      <p:ext uri="{BB962C8B-B14F-4D97-AF65-F5344CB8AC3E}">
        <p14:creationId xmlns:p14="http://schemas.microsoft.com/office/powerpoint/2010/main" val="270481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Recursos complementarios para esta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b="1" dirty="0"/>
              <a:t>Pagina web</a:t>
            </a:r>
            <a:r>
              <a:rPr lang="es-CO" dirty="0"/>
              <a:t>: </a:t>
            </a:r>
            <a:r>
              <a:rPr lang="es-CO" dirty="0">
                <a:hlinkClick r:id="rId2"/>
              </a:rPr>
              <a:t>https://discretas1-udea.github.io/discretas1-udea-20262/</a:t>
            </a:r>
            <a:endParaRPr lang="es-CO" dirty="0"/>
          </a:p>
          <a:p>
            <a:pPr lvl="1"/>
            <a:r>
              <a:rPr lang="es-CO" b="1" dirty="0"/>
              <a:t>Clase 2</a:t>
            </a:r>
            <a:r>
              <a:rPr lang="es-CO" dirty="0"/>
              <a:t>: </a:t>
            </a:r>
            <a:r>
              <a:rPr lang="es-CO" dirty="0">
                <a:hlinkClick r:id="rId3"/>
              </a:rPr>
              <a:t>https://discretas1-udea.github.io/discretas1-udea-20262/lessons/mod1/clase1/</a:t>
            </a:r>
            <a:endParaRPr lang="es-CO" dirty="0"/>
          </a:p>
          <a:p>
            <a:r>
              <a:rPr lang="es-CO" b="1" dirty="0"/>
              <a:t>Diapositivas</a:t>
            </a:r>
            <a:r>
              <a:rPr lang="es-CO" dirty="0"/>
              <a:t>: </a:t>
            </a:r>
            <a:r>
              <a:rPr lang="es-CO" dirty="0">
                <a:hlinkClick r:id="rId4"/>
              </a:rPr>
              <a:t>https://discretas1-udea.github.io/discretas1-udea-20262/assets/slides/clase1.pdf</a:t>
            </a:r>
            <a:r>
              <a:rPr lang="es-CO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76998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970"/>
            <a:ext cx="10515600" cy="4351338"/>
          </a:xfrm>
        </p:spPr>
        <p:txBody>
          <a:bodyPr/>
          <a:lstStyle/>
          <a:p>
            <a:r>
              <a:rPr lang="es-CO" dirty="0"/>
              <a:t>El lenguaje natural y su importancia</a:t>
            </a:r>
          </a:p>
          <a:p>
            <a:r>
              <a:rPr lang="es-CO" dirty="0"/>
              <a:t>Sobre los mensajes</a:t>
            </a:r>
          </a:p>
          <a:p>
            <a:r>
              <a:rPr lang="es-CO" dirty="0"/>
              <a:t>Sobre la lógica</a:t>
            </a:r>
          </a:p>
          <a:p>
            <a:r>
              <a:rPr lang="es-CO" dirty="0"/>
              <a:t>Sobre la lógica matemática</a:t>
            </a:r>
          </a:p>
          <a:p>
            <a:r>
              <a:rPr lang="es-CO" dirty="0"/>
              <a:t>Contexto de la Matemáticas discretas en Ingeniería de Sistemas</a:t>
            </a:r>
          </a:p>
          <a:p>
            <a:r>
              <a:rPr lang="es-CO" dirty="0"/>
              <a:t>Conceptos de lógica proposicional</a:t>
            </a:r>
          </a:p>
          <a:p>
            <a:endParaRPr lang="es-CO" dirty="0"/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9693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55" y="226580"/>
            <a:ext cx="11430000" cy="867929"/>
          </a:xfrm>
        </p:spPr>
        <p:txBody>
          <a:bodyPr/>
          <a:lstStyle/>
          <a:p>
            <a:r>
              <a:rPr lang="es-CO" b="1" dirty="0"/>
              <a:t>El lenguaje y su importancia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46" y="1219200"/>
            <a:ext cx="11305309" cy="5135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Lenguaje natural</a:t>
            </a:r>
          </a:p>
          <a:p>
            <a:r>
              <a:rPr lang="es-CO" sz="2200" dirty="0"/>
              <a:t>El </a:t>
            </a:r>
            <a:r>
              <a:rPr lang="es-CO" sz="2200" b="1" dirty="0"/>
              <a:t>lenguaje</a:t>
            </a:r>
            <a:r>
              <a:rPr lang="es-CO" sz="2200" dirty="0"/>
              <a:t> es la herramienta principal para nuestra comunicación.</a:t>
            </a:r>
          </a:p>
          <a:p>
            <a:r>
              <a:rPr lang="es-CO" sz="2200" dirty="0"/>
              <a:t>Nos permite transmitir </a:t>
            </a:r>
            <a:r>
              <a:rPr lang="es-MX" sz="2200" dirty="0"/>
              <a:t>cualquier idea, concepto o sentimiento por medio de mensajes.</a:t>
            </a:r>
          </a:p>
          <a:p>
            <a:r>
              <a:rPr lang="es-CO" sz="2200" dirty="0"/>
              <a:t>Uno de los </a:t>
            </a:r>
            <a:r>
              <a:rPr lang="es-CO" sz="2200" b="1" dirty="0"/>
              <a:t>problemas</a:t>
            </a:r>
            <a:r>
              <a:rPr lang="es-CO" sz="2200" dirty="0"/>
              <a:t> del lenguaje natural es su ambigüedad. </a:t>
            </a:r>
          </a:p>
          <a:p>
            <a:endParaRPr lang="es-CO" sz="2600" dirty="0"/>
          </a:p>
          <a:p>
            <a:endParaRPr lang="es-CO" sz="2600" dirty="0"/>
          </a:p>
          <a:p>
            <a:endParaRPr lang="es-CO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31088F2-90E1-4F89-9FF3-C292E09C3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531" y="4154631"/>
            <a:ext cx="1756064" cy="1756064"/>
          </a:xfrm>
          <a:prstGeom prst="rect">
            <a:avLst/>
          </a:prstGeom>
        </p:spPr>
      </p:pic>
      <p:sp>
        <p:nvSpPr>
          <p:cNvPr id="14" name="Bocadillo: ovalado 13">
            <a:extLst>
              <a:ext uri="{FF2B5EF4-FFF2-40B4-BE49-F238E27FC236}">
                <a16:creationId xmlns:a16="http://schemas.microsoft.com/office/drawing/2014/main" id="{C1444DDE-D9F0-47D8-8F23-B92D1F933510}"/>
              </a:ext>
            </a:extLst>
          </p:cNvPr>
          <p:cNvSpPr/>
          <p:nvPr/>
        </p:nvSpPr>
        <p:spPr>
          <a:xfrm>
            <a:off x="3491347" y="3510612"/>
            <a:ext cx="2757053" cy="1149927"/>
          </a:xfrm>
          <a:prstGeom prst="wedgeEllipseCallout">
            <a:avLst>
              <a:gd name="adj1" fmla="val -54636"/>
              <a:gd name="adj2" fmla="val 4322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Es que tú careces de mucha falta de inexperiencia</a:t>
            </a:r>
            <a:endParaRPr lang="es-CO" dirty="0"/>
          </a:p>
        </p:txBody>
      </p:sp>
      <p:pic>
        <p:nvPicPr>
          <p:cNvPr id="1032" name="Picture 8" descr="Cristina usa el &quot;¡PLOP!&quot; de Condorito jajajaja">
            <a:extLst>
              <a:ext uri="{FF2B5EF4-FFF2-40B4-BE49-F238E27FC236}">
                <a16:creationId xmlns:a16="http://schemas.microsoft.com/office/drawing/2014/main" id="{E5C7F91B-6794-43D2-B3AB-F17DA3D6C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908" y="3529879"/>
            <a:ext cx="2938569" cy="226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493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55" y="226580"/>
            <a:ext cx="11430000" cy="867929"/>
          </a:xfrm>
        </p:spPr>
        <p:txBody>
          <a:bodyPr/>
          <a:lstStyle/>
          <a:p>
            <a:r>
              <a:rPr lang="es-CO" b="1" dirty="0"/>
              <a:t>Sobre los mensajes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" y="997527"/>
            <a:ext cx="11305309" cy="1704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Situación típica (Gracias a la ambigüedad)</a:t>
            </a:r>
          </a:p>
          <a:p>
            <a:pPr marL="0" indent="0">
              <a:buNone/>
            </a:pPr>
            <a:r>
              <a:rPr lang="es-MX" sz="2200" dirty="0"/>
              <a:t>A Juan le gusta María, pero no la conoce y le da pena echarle los perros de una. Como tiene un amigo que la conoce llamado José, le dice que le ayude. ¿Cómo hace Juan para ganarse el corazón de María?</a:t>
            </a:r>
            <a:endParaRPr lang="es-CO" sz="2200" dirty="0"/>
          </a:p>
          <a:p>
            <a:endParaRPr lang="es-CO" sz="2600" dirty="0"/>
          </a:p>
          <a:p>
            <a:endParaRPr lang="es-CO" sz="2600" dirty="0"/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1FF0ED-237A-4BC5-BE98-3EC57AB5C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19" y="2701636"/>
            <a:ext cx="6192903" cy="383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03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55" y="226580"/>
            <a:ext cx="11430000" cy="867929"/>
          </a:xfrm>
        </p:spPr>
        <p:txBody>
          <a:bodyPr/>
          <a:lstStyle/>
          <a:p>
            <a:r>
              <a:rPr lang="es-CO" b="1" dirty="0"/>
              <a:t>Sobre los mensajes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" y="997527"/>
            <a:ext cx="11305309" cy="19396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Oraciones</a:t>
            </a:r>
          </a:p>
          <a:p>
            <a:r>
              <a:rPr lang="es-MX" sz="2400" dirty="0"/>
              <a:t>Para construir mensajes empleamos oraciones. </a:t>
            </a:r>
          </a:p>
          <a:p>
            <a:r>
              <a:rPr lang="es-MX" sz="2400" dirty="0"/>
              <a:t>Una oración es una unidad fundamental del lenguaje que expresa un contenido con sentido completo en un contexto.</a:t>
            </a:r>
          </a:p>
          <a:p>
            <a:r>
              <a:rPr lang="es-MX" sz="2400" b="1" dirty="0"/>
              <a:t> Formula básica</a:t>
            </a:r>
            <a:r>
              <a:rPr lang="es-MX" sz="2400" dirty="0"/>
              <a:t>:</a:t>
            </a:r>
            <a:endParaRPr lang="es-CO" sz="2600" dirty="0"/>
          </a:p>
          <a:p>
            <a:endParaRPr lang="es-CO" sz="2600" dirty="0"/>
          </a:p>
          <a:p>
            <a:endParaRPr lang="es-CO" dirty="0"/>
          </a:p>
        </p:txBody>
      </p:sp>
      <p:pic>
        <p:nvPicPr>
          <p:cNvPr id="2050" name="Picture 2" descr="Coleco, la computadora de Rafa Górgori">
            <a:extLst>
              <a:ext uri="{FF2B5EF4-FFF2-40B4-BE49-F238E27FC236}">
                <a16:creationId xmlns:a16="http://schemas.microsoft.com/office/drawing/2014/main" id="{B17F3EFE-A370-474F-B9B0-EC4CB3A01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559" y="3932212"/>
            <a:ext cx="3200021" cy="243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75B915AB-5097-4CC5-B80E-7C6750275D43}"/>
              </a:ext>
            </a:extLst>
          </p:cNvPr>
          <p:cNvGrpSpPr/>
          <p:nvPr/>
        </p:nvGrpSpPr>
        <p:grpSpPr>
          <a:xfrm>
            <a:off x="5832763" y="4530667"/>
            <a:ext cx="4942763" cy="1080334"/>
            <a:chOff x="5666509" y="3353030"/>
            <a:chExt cx="4942763" cy="1080334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AF623A7C-F3CC-432B-99B6-FB57286C4D20}"/>
                </a:ext>
              </a:extLst>
            </p:cNvPr>
            <p:cNvSpPr txBox="1"/>
            <p:nvPr/>
          </p:nvSpPr>
          <p:spPr>
            <a:xfrm>
              <a:off x="5666509" y="3971699"/>
              <a:ext cx="49427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400" dirty="0">
                  <a:solidFill>
                    <a:schemeClr val="accent2"/>
                  </a:solidFill>
                </a:rPr>
                <a:t>Rafa</a:t>
              </a:r>
              <a:r>
                <a:rPr lang="es-CO" sz="2400" dirty="0"/>
                <a:t> </a:t>
              </a:r>
              <a:r>
                <a:rPr lang="es-CO" sz="2400" dirty="0">
                  <a:solidFill>
                    <a:srgbClr val="00B050"/>
                  </a:solidFill>
                </a:rPr>
                <a:t>usa</a:t>
              </a:r>
              <a:r>
                <a:rPr lang="es-CO" sz="2400" dirty="0"/>
                <a:t> la computadora de la escuela</a:t>
              </a:r>
            </a:p>
          </p:txBody>
        </p:sp>
        <p:sp>
          <p:nvSpPr>
            <p:cNvPr id="6" name="Abrir llave 5">
              <a:extLst>
                <a:ext uri="{FF2B5EF4-FFF2-40B4-BE49-F238E27FC236}">
                  <a16:creationId xmlns:a16="http://schemas.microsoft.com/office/drawing/2014/main" id="{0A59E552-010E-46D0-91C8-C7449FE2BE04}"/>
                </a:ext>
              </a:extLst>
            </p:cNvPr>
            <p:cNvSpPr/>
            <p:nvPr/>
          </p:nvSpPr>
          <p:spPr>
            <a:xfrm rot="5400000">
              <a:off x="5881253" y="3664528"/>
              <a:ext cx="277089" cy="623456"/>
            </a:xfrm>
            <a:prstGeom prst="leftBrace">
              <a:avLst>
                <a:gd name="adj1" fmla="val 31250"/>
                <a:gd name="adj2" fmla="val 50000"/>
              </a:avLst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8" name="Abrir llave 7">
              <a:extLst>
                <a:ext uri="{FF2B5EF4-FFF2-40B4-BE49-F238E27FC236}">
                  <a16:creationId xmlns:a16="http://schemas.microsoft.com/office/drawing/2014/main" id="{632A2B5D-ECE2-4BDF-AC7E-32BF1E047ACE}"/>
                </a:ext>
              </a:extLst>
            </p:cNvPr>
            <p:cNvSpPr/>
            <p:nvPr/>
          </p:nvSpPr>
          <p:spPr>
            <a:xfrm rot="5400000">
              <a:off x="8271161" y="1911925"/>
              <a:ext cx="277090" cy="4128659"/>
            </a:xfrm>
            <a:prstGeom prst="leftBrace">
              <a:avLst>
                <a:gd name="adj1" fmla="val 3125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11D99DC9-C210-4504-BD90-64CF06A26E89}"/>
                </a:ext>
              </a:extLst>
            </p:cNvPr>
            <p:cNvSpPr txBox="1"/>
            <p:nvPr/>
          </p:nvSpPr>
          <p:spPr>
            <a:xfrm>
              <a:off x="5696375" y="3376043"/>
              <a:ext cx="6578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chemeClr val="accent2"/>
                  </a:solidFill>
                </a:rPr>
                <a:t>Sujeto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D3210F1-3746-4306-B668-328D17D2D91E}"/>
                </a:ext>
              </a:extLst>
            </p:cNvPr>
            <p:cNvSpPr txBox="1"/>
            <p:nvPr/>
          </p:nvSpPr>
          <p:spPr>
            <a:xfrm>
              <a:off x="7973090" y="3353030"/>
              <a:ext cx="9286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chemeClr val="accent1"/>
                  </a:solidFill>
                </a:rPr>
                <a:t>Predicado</a:t>
              </a: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F0610A7-D891-4D62-A5EF-BD3C28FACF4D}"/>
              </a:ext>
            </a:extLst>
          </p:cNvPr>
          <p:cNvSpPr txBox="1"/>
          <p:nvPr/>
        </p:nvSpPr>
        <p:spPr>
          <a:xfrm>
            <a:off x="1464115" y="3041256"/>
            <a:ext cx="9208349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</a:rPr>
              <a:t>ORACION = SUJETO + PREDICADO = SUJETO + VERBO + COMPLEMENTO</a:t>
            </a:r>
            <a:endParaRPr lang="es-CO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76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55" y="226580"/>
            <a:ext cx="11430000" cy="867929"/>
          </a:xfrm>
        </p:spPr>
        <p:txBody>
          <a:bodyPr/>
          <a:lstStyle/>
          <a:p>
            <a:r>
              <a:rPr lang="es-CO" b="1" dirty="0"/>
              <a:t>Sobre los mensajes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055" y="1246906"/>
            <a:ext cx="5237019" cy="4793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Dimensiones</a:t>
            </a:r>
          </a:p>
          <a:p>
            <a:r>
              <a:rPr lang="es-MX" sz="2200" dirty="0"/>
              <a:t>La lingüística es la rama de la ciencia que estudia la forma como nos comunicamos. Para esto, se basa en tres dimensiones:</a:t>
            </a:r>
          </a:p>
          <a:p>
            <a:pPr lvl="1"/>
            <a:r>
              <a:rPr lang="es-MX" sz="2200" b="1" dirty="0"/>
              <a:t>Sintaxis</a:t>
            </a:r>
            <a:r>
              <a:rPr lang="es-MX" sz="2200" dirty="0"/>
              <a:t>: Reglas de formación.</a:t>
            </a:r>
          </a:p>
          <a:p>
            <a:pPr lvl="1"/>
            <a:r>
              <a:rPr lang="es-MX" sz="2200" b="1" dirty="0"/>
              <a:t>Semántica</a:t>
            </a:r>
            <a:r>
              <a:rPr lang="es-MX" sz="2200" dirty="0"/>
              <a:t>: Significado que se esta transmitiendo.</a:t>
            </a:r>
          </a:p>
          <a:p>
            <a:pPr lvl="1"/>
            <a:r>
              <a:rPr lang="es-MX" sz="2200" b="1" dirty="0"/>
              <a:t>Pragmática</a:t>
            </a:r>
            <a:r>
              <a:rPr lang="es-MX" sz="2200" dirty="0"/>
              <a:t>: En que contexto se encuentra lo que se comunica.</a:t>
            </a:r>
            <a:endParaRPr lang="es-CO" sz="2200" dirty="0"/>
          </a:p>
          <a:p>
            <a:endParaRPr lang="es-CO" sz="2600" dirty="0"/>
          </a:p>
          <a:p>
            <a:endParaRPr lang="es-CO" sz="2600" dirty="0"/>
          </a:p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CCEF90C-F686-4049-954D-19872CEE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937" y="761623"/>
            <a:ext cx="5663045" cy="533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90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854"/>
            <a:ext cx="10515600" cy="1325563"/>
          </a:xfrm>
        </p:spPr>
        <p:txBody>
          <a:bodyPr/>
          <a:lstStyle/>
          <a:p>
            <a:r>
              <a:rPr lang="es-CO" dirty="0"/>
              <a:t>Sobre los mensajes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451852"/>
            <a:ext cx="11374582" cy="4838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3000" b="1" dirty="0">
                <a:solidFill>
                  <a:schemeClr val="accent2"/>
                </a:solidFill>
              </a:rPr>
              <a:t>Tipos de enunciados</a:t>
            </a:r>
          </a:p>
          <a:p>
            <a:r>
              <a:rPr lang="es-CO" sz="2400" dirty="0"/>
              <a:t>Según la intención, los mensajes se pueden clasificar:</a:t>
            </a:r>
          </a:p>
          <a:p>
            <a:pPr lvl="1"/>
            <a:endParaRPr lang="es-CO" sz="2800" dirty="0"/>
          </a:p>
          <a:p>
            <a:pPr lvl="1"/>
            <a:endParaRPr lang="es-CO" sz="2800" dirty="0"/>
          </a:p>
          <a:p>
            <a:pPr lvl="1"/>
            <a:endParaRPr lang="es-CO" sz="2800" dirty="0"/>
          </a:p>
          <a:p>
            <a:pPr lvl="1"/>
            <a:endParaRPr lang="es-CO" sz="2800" dirty="0"/>
          </a:p>
          <a:p>
            <a:pPr lvl="1"/>
            <a:endParaRPr lang="es-CO" sz="2800" dirty="0"/>
          </a:p>
          <a:p>
            <a:pPr lvl="1"/>
            <a:endParaRPr lang="es-CO" sz="2800" dirty="0"/>
          </a:p>
          <a:p>
            <a:pPr lvl="1"/>
            <a:endParaRPr lang="es-CO" sz="2800" dirty="0"/>
          </a:p>
          <a:p>
            <a:r>
              <a:rPr lang="es-CO" sz="2400" b="1" dirty="0"/>
              <a:t>Importante</a:t>
            </a:r>
            <a:r>
              <a:rPr lang="es-CO" sz="2400" dirty="0"/>
              <a:t>: En este curso solo nos vamos a centrar en los enunciados declarativos.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6CFFE42-4C85-4C26-8EA6-1F8750CE0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235550"/>
              </p:ext>
            </p:extLst>
          </p:nvPr>
        </p:nvGraphicFramePr>
        <p:xfrm>
          <a:off x="3499027" y="2956506"/>
          <a:ext cx="8235773" cy="1828800"/>
        </p:xfrm>
        <a:graphic>
          <a:graphicData uri="http://schemas.openxmlformats.org/drawingml/2006/table">
            <a:tbl>
              <a:tblPr/>
              <a:tblGrid>
                <a:gridCol w="1436180">
                  <a:extLst>
                    <a:ext uri="{9D8B030D-6E8A-4147-A177-3AD203B41FA5}">
                      <a16:colId xmlns:a16="http://schemas.microsoft.com/office/drawing/2014/main" val="842039229"/>
                    </a:ext>
                  </a:extLst>
                </a:gridCol>
                <a:gridCol w="3333115">
                  <a:extLst>
                    <a:ext uri="{9D8B030D-6E8A-4147-A177-3AD203B41FA5}">
                      <a16:colId xmlns:a16="http://schemas.microsoft.com/office/drawing/2014/main" val="3920924801"/>
                    </a:ext>
                  </a:extLst>
                </a:gridCol>
                <a:gridCol w="3466478">
                  <a:extLst>
                    <a:ext uri="{9D8B030D-6E8A-4147-A177-3AD203B41FA5}">
                      <a16:colId xmlns:a16="http://schemas.microsoft.com/office/drawing/2014/main" val="27184543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800" b="1" dirty="0">
                          <a:solidFill>
                            <a:schemeClr val="bg1"/>
                          </a:solidFill>
                          <a:effectLst/>
                        </a:rPr>
                        <a:t>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>
                          <a:solidFill>
                            <a:schemeClr val="bg1"/>
                          </a:solidFill>
                          <a:effectLst/>
                        </a:rPr>
                        <a:t>Intención Comunicativa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>
                          <a:solidFill>
                            <a:schemeClr val="bg1"/>
                          </a:solidFill>
                          <a:effectLst/>
                        </a:rPr>
                        <a:t>Ejemplo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46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800" dirty="0">
                          <a:effectLst/>
                        </a:rPr>
                        <a:t>Declarativo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effectLst/>
                        </a:rPr>
                        <a:t>Informar o afirmar un hecho.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effectLst/>
                        </a:rPr>
                        <a:t>“Pedro es el esposo de Vilma.”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457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800">
                          <a:effectLst/>
                        </a:rPr>
                        <a:t>Interrogativo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effectLst/>
                        </a:rPr>
                        <a:t>Preguntar o solicitar información.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effectLst/>
                        </a:rPr>
                        <a:t>“¿Dino es el perro de los Mármol?”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687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800">
                          <a:effectLst/>
                        </a:rPr>
                        <a:t>Imperativo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>
                          <a:effectLst/>
                        </a:rPr>
                        <a:t>Ordenar o solicitar una acción.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effectLst/>
                        </a:rPr>
                        <a:t>“¡Estudia para el examen!”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35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800" dirty="0">
                          <a:effectLst/>
                        </a:rPr>
                        <a:t>Exclamativo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effectLst/>
                        </a:rPr>
                        <a:t>Expresar emoción o sorpresa.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effectLst/>
                        </a:rPr>
                        <a:t>“¡Qué día tan caluroso!”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625842"/>
                  </a:ext>
                </a:extLst>
              </a:tr>
            </a:tbl>
          </a:graphicData>
        </a:graphic>
      </p:graphicFrame>
      <p:pic>
        <p:nvPicPr>
          <p:cNvPr id="4098" name="Picture 2" descr="Los Picapiedra cumplen 65 años! ¡Feliz 65 aniversario a Los Picapiedra!  🥳🎉🎈🎂🎁🎂🎈🎉🎊🥳🪨🪨💎🦖🦕🦖🦕 : r/cartoons">
            <a:extLst>
              <a:ext uri="{FF2B5EF4-FFF2-40B4-BE49-F238E27FC236}">
                <a16:creationId xmlns:a16="http://schemas.microsoft.com/office/drawing/2014/main" id="{3CEFEC56-E5CE-4AA8-98BC-7C47025E6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32" y="2517475"/>
            <a:ext cx="1925782" cy="2888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805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8581"/>
            <a:ext cx="10515600" cy="1325563"/>
          </a:xfrm>
        </p:spPr>
        <p:txBody>
          <a:bodyPr/>
          <a:lstStyle/>
          <a:p>
            <a:r>
              <a:rPr lang="es-CO" dirty="0"/>
              <a:t>Sobre la lógica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1101329"/>
            <a:ext cx="11374582" cy="4468198"/>
          </a:xfrm>
        </p:spPr>
        <p:txBody>
          <a:bodyPr>
            <a:normAutofit/>
          </a:bodyPr>
          <a:lstStyle/>
          <a:p>
            <a:r>
              <a:rPr lang="es-CO" sz="2400" b="1" dirty="0"/>
              <a:t>Formas clásicas de razonamiento</a:t>
            </a:r>
            <a:r>
              <a:rPr lang="es-CO" sz="2400" dirty="0"/>
              <a:t>:</a:t>
            </a:r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CO" sz="2400" b="1" dirty="0"/>
          </a:p>
          <a:p>
            <a:endParaRPr lang="es-MX" sz="2400" dirty="0"/>
          </a:p>
          <a:p>
            <a:r>
              <a:rPr lang="es-MX" sz="2400" dirty="0"/>
              <a:t>La </a:t>
            </a:r>
            <a:r>
              <a:rPr lang="es-MX" sz="2400" b="1" dirty="0"/>
              <a:t>lógica </a:t>
            </a:r>
            <a:r>
              <a:rPr lang="es-MX" sz="2400" dirty="0"/>
              <a:t>fue sistematizada por Aristóteles (Organon) para formalizar el razonamiento válido.</a:t>
            </a:r>
          </a:p>
        </p:txBody>
      </p:sp>
      <p:pic>
        <p:nvPicPr>
          <p:cNvPr id="6146" name="Picture 2" descr="Qué diferencias hay entre los filósofos y los sofistas? - Mejor con Salud">
            <a:extLst>
              <a:ext uri="{FF2B5EF4-FFF2-40B4-BE49-F238E27FC236}">
                <a16:creationId xmlns:a16="http://schemas.microsoft.com/office/drawing/2014/main" id="{C74520A7-CBAE-4ABF-BB0A-6153064E9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874" y="1909110"/>
            <a:ext cx="3497000" cy="209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D85F160-E6FB-4DAE-BA8E-948F6EE95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180603"/>
              </p:ext>
            </p:extLst>
          </p:nvPr>
        </p:nvGraphicFramePr>
        <p:xfrm>
          <a:off x="809126" y="1812127"/>
          <a:ext cx="6528118" cy="2042160"/>
        </p:xfrm>
        <a:graphic>
          <a:graphicData uri="http://schemas.openxmlformats.org/drawingml/2006/table">
            <a:tbl>
              <a:tblPr/>
              <a:tblGrid>
                <a:gridCol w="1135063">
                  <a:extLst>
                    <a:ext uri="{9D8B030D-6E8A-4147-A177-3AD203B41FA5}">
                      <a16:colId xmlns:a16="http://schemas.microsoft.com/office/drawing/2014/main" val="1014476203"/>
                    </a:ext>
                  </a:extLst>
                </a:gridCol>
                <a:gridCol w="2663709">
                  <a:extLst>
                    <a:ext uri="{9D8B030D-6E8A-4147-A177-3AD203B41FA5}">
                      <a16:colId xmlns:a16="http://schemas.microsoft.com/office/drawing/2014/main" val="433191647"/>
                    </a:ext>
                  </a:extLst>
                </a:gridCol>
                <a:gridCol w="2729346">
                  <a:extLst>
                    <a:ext uri="{9D8B030D-6E8A-4147-A177-3AD203B41FA5}">
                      <a16:colId xmlns:a16="http://schemas.microsoft.com/office/drawing/2014/main" val="4164158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000" b="1">
                          <a:solidFill>
                            <a:schemeClr val="bg1"/>
                          </a:solidFill>
                        </a:rPr>
                        <a:t>Forma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>
                          <a:solidFill>
                            <a:schemeClr val="bg1"/>
                          </a:solidFill>
                        </a:rPr>
                        <a:t>Busca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>
                          <a:solidFill>
                            <a:schemeClr val="bg1"/>
                          </a:solidFill>
                        </a:rPr>
                        <a:t>Tipo de premisas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645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0" dirty="0"/>
                        <a:t>Dialéctica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Acercarse a la verdad mediante el diálogo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Probables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62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0" dirty="0"/>
                        <a:t>Retórica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Convencer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No necesariamente válidas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071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0" dirty="0"/>
                        <a:t>Lógica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Demostrar con rigor formal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Garantizan la conclusión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2038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3648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8581"/>
            <a:ext cx="10515600" cy="1325563"/>
          </a:xfrm>
        </p:spPr>
        <p:txBody>
          <a:bodyPr/>
          <a:lstStyle/>
          <a:p>
            <a:r>
              <a:rPr lang="es-CO" dirty="0"/>
              <a:t>Sobre la lógica matemática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220188"/>
            <a:ext cx="11374582" cy="1325562"/>
          </a:xfrm>
        </p:spPr>
        <p:txBody>
          <a:bodyPr>
            <a:normAutofit fontScale="92500" lnSpcReduction="10000"/>
          </a:bodyPr>
          <a:lstStyle/>
          <a:p>
            <a:r>
              <a:rPr lang="es-MX" sz="2400" dirty="0"/>
              <a:t>La </a:t>
            </a:r>
            <a:r>
              <a:rPr lang="es-MX" sz="2400" b="1" dirty="0"/>
              <a:t>lógica matemática</a:t>
            </a:r>
            <a:r>
              <a:rPr lang="es-MX" sz="2400" dirty="0"/>
              <a:t> nace en el siglo XIX (Boole, Frege) al traducir el razonamiento aristotélico en un lenguaje simbólico, con reglas de manipulación tan precisas como el álgebra.</a:t>
            </a:r>
          </a:p>
          <a:p>
            <a:r>
              <a:rPr lang="es-MX" sz="2400" dirty="0"/>
              <a:t>En este curso solamente abordaremos los conceptos asociados a la lógica formal y lógica </a:t>
            </a:r>
            <a:r>
              <a:rPr lang="es-MX" sz="2400" dirty="0" err="1"/>
              <a:t>cuantificacional</a:t>
            </a:r>
            <a:r>
              <a:rPr lang="es-MX" sz="2400" dirty="0"/>
              <a:t>.</a:t>
            </a:r>
            <a:endParaRPr lang="es-CO" sz="36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911C4EF-1DC2-42FD-8A2B-3D7808C8C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873" y="1079543"/>
            <a:ext cx="7481455" cy="408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31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18" y="167854"/>
            <a:ext cx="11623964" cy="1325563"/>
          </a:xfrm>
        </p:spPr>
        <p:txBody>
          <a:bodyPr/>
          <a:lstStyle/>
          <a:p>
            <a:r>
              <a:rPr lang="es-CO" dirty="0"/>
              <a:t>Contexto de la Matemáticas discretas en Ingeniería de Sistemas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E2F691C-69F7-46C6-81DD-26A24CF06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582" y="1677022"/>
            <a:ext cx="7730836" cy="422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288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55" y="0"/>
            <a:ext cx="10882745" cy="1325563"/>
          </a:xfrm>
        </p:spPr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055" y="1012402"/>
            <a:ext cx="11443853" cy="4543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Proposicion</a:t>
            </a:r>
          </a:p>
          <a:p>
            <a:r>
              <a:rPr lang="es-MX" sz="2000" b="1" dirty="0"/>
              <a:t>Definición</a:t>
            </a:r>
            <a:r>
              <a:rPr lang="es-MX" sz="2000" dirty="0"/>
              <a:t>: Es un enunciado declarativo que solo puede puede ser verdadera (</a:t>
            </a:r>
            <a:r>
              <a:rPr lang="es-MX" sz="2000" b="1" dirty="0"/>
              <a:t>V</a:t>
            </a:r>
            <a:r>
              <a:rPr lang="es-MX" sz="2000" dirty="0"/>
              <a:t>) o falsa pero no ambos (</a:t>
            </a:r>
            <a:r>
              <a:rPr lang="es-MX" sz="2000" b="1" dirty="0"/>
              <a:t>F</a:t>
            </a:r>
            <a:r>
              <a:rPr lang="es-MX" sz="2000" dirty="0"/>
              <a:t>).</a:t>
            </a:r>
          </a:p>
          <a:p>
            <a:pPr algn="ctr"/>
            <a:endParaRPr lang="es-MX" sz="2000" dirty="0"/>
          </a:p>
          <a:p>
            <a:endParaRPr lang="es-MX" sz="2000" dirty="0"/>
          </a:p>
          <a:p>
            <a:endParaRPr lang="es-MX" sz="2000" dirty="0"/>
          </a:p>
          <a:p>
            <a:r>
              <a:rPr lang="es-CO" sz="2000" b="1" dirty="0"/>
              <a:t>Tipos</a:t>
            </a:r>
            <a:r>
              <a:rPr lang="es-CO" sz="2000" dirty="0"/>
              <a:t>:</a:t>
            </a:r>
          </a:p>
          <a:p>
            <a:pPr lvl="1"/>
            <a:r>
              <a:rPr lang="es-CO" sz="2000" b="1" dirty="0"/>
              <a:t>Simples</a:t>
            </a:r>
            <a:r>
              <a:rPr lang="es-CO" sz="2000" dirty="0"/>
              <a:t>: Expresa un único hecho o idea.</a:t>
            </a:r>
          </a:p>
          <a:p>
            <a:pPr lvl="1"/>
            <a:endParaRPr lang="es-CO" sz="2000" dirty="0"/>
          </a:p>
          <a:p>
            <a:pPr marL="457200" lvl="1" indent="0" algn="ctr">
              <a:buNone/>
            </a:pPr>
            <a:endParaRPr lang="es-CO" sz="2000" dirty="0"/>
          </a:p>
          <a:p>
            <a:pPr marL="457200" lvl="1" indent="0" algn="ctr">
              <a:buNone/>
            </a:pPr>
            <a:endParaRPr lang="es-CO" sz="2000" dirty="0"/>
          </a:p>
          <a:p>
            <a:pPr marL="457200" lvl="1" indent="0" algn="ctr">
              <a:buNone/>
            </a:pPr>
            <a:endParaRPr lang="es-CO" sz="2000" dirty="0"/>
          </a:p>
          <a:p>
            <a:pPr lvl="1"/>
            <a:r>
              <a:rPr lang="es-CO" sz="2000" b="1" dirty="0"/>
              <a:t>Compuestas</a:t>
            </a:r>
            <a:r>
              <a:rPr lang="es-CO" sz="2000" dirty="0"/>
              <a:t>: Varias expresiones simples unidas mediante </a:t>
            </a:r>
            <a:r>
              <a:rPr lang="es-CO" sz="2000" b="1" u="sng" dirty="0"/>
              <a:t>conectores</a:t>
            </a:r>
            <a:r>
              <a:rPr lang="es-CO" sz="2000" dirty="0"/>
              <a:t>.</a:t>
            </a:r>
          </a:p>
          <a:p>
            <a:pPr lvl="1"/>
            <a:endParaRPr lang="es-CO" sz="2000" dirty="0"/>
          </a:p>
          <a:p>
            <a:pPr lvl="1"/>
            <a:endParaRPr lang="es-CO" sz="20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2439EE7-6889-4418-8A3A-CD863526491E}"/>
              </a:ext>
            </a:extLst>
          </p:cNvPr>
          <p:cNvSpPr txBox="1"/>
          <p:nvPr/>
        </p:nvSpPr>
        <p:spPr>
          <a:xfrm>
            <a:off x="2625438" y="2320957"/>
            <a:ext cx="29423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2000" dirty="0"/>
              <a:t>Rene Higuita es delantero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FAA0AD7-1644-423D-AC28-CAB621260B1B}"/>
              </a:ext>
            </a:extLst>
          </p:cNvPr>
          <p:cNvSpPr txBox="1"/>
          <p:nvPr/>
        </p:nvSpPr>
        <p:spPr>
          <a:xfrm>
            <a:off x="7588823" y="2320957"/>
            <a:ext cx="3460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2000" dirty="0"/>
              <a:t>El guasón no es un superhéroe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92B95BD-1E0F-45F3-AB8D-F192C72A1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84" y="2027198"/>
            <a:ext cx="1317914" cy="954643"/>
          </a:xfrm>
          <a:prstGeom prst="rect">
            <a:avLst/>
          </a:prstGeom>
        </p:spPr>
      </p:pic>
      <p:pic>
        <p:nvPicPr>
          <p:cNvPr id="7172" name="Picture 4" descr="El Guasón, Batman: La Serie Animada : r/cosplayers">
            <a:extLst>
              <a:ext uri="{FF2B5EF4-FFF2-40B4-BE49-F238E27FC236}">
                <a16:creationId xmlns:a16="http://schemas.microsoft.com/office/drawing/2014/main" id="{2F400562-D82C-448C-9A60-874C8B981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42" y="2027198"/>
            <a:ext cx="511455" cy="110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F9A021F-2B16-47D2-A255-434EFE5F14E0}"/>
              </a:ext>
            </a:extLst>
          </p:cNvPr>
          <p:cNvSpPr txBox="1"/>
          <p:nvPr/>
        </p:nvSpPr>
        <p:spPr>
          <a:xfrm>
            <a:off x="3546764" y="4152805"/>
            <a:ext cx="40420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 algn="ctr">
              <a:buNone/>
            </a:pPr>
            <a:r>
              <a:rPr lang="es-CO" sz="2000" dirty="0"/>
              <a:t>Jacob y Esau son Hijos de Isaac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00942A5-0E1A-41E4-A14A-5887361FCD9E}"/>
              </a:ext>
            </a:extLst>
          </p:cNvPr>
          <p:cNvSpPr txBox="1"/>
          <p:nvPr/>
        </p:nvSpPr>
        <p:spPr>
          <a:xfrm>
            <a:off x="1330036" y="5792292"/>
            <a:ext cx="75250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/>
              <a:t>Como Jacob le dio un plato de cabrito a su padre, obtuvo la bendición.</a:t>
            </a:r>
            <a:endParaRPr lang="es-CO" sz="2000" dirty="0"/>
          </a:p>
        </p:txBody>
      </p:sp>
      <p:pic>
        <p:nvPicPr>
          <p:cNvPr id="7174" name="Picture 6" descr="CLASE 23. JACOB OBTIENE LA BENDICIÓN DE ISAAC">
            <a:extLst>
              <a:ext uri="{FF2B5EF4-FFF2-40B4-BE49-F238E27FC236}">
                <a16:creationId xmlns:a16="http://schemas.microsoft.com/office/drawing/2014/main" id="{3983D717-3D51-41E1-951E-BC7100104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6487" y="5529164"/>
            <a:ext cx="1462589" cy="1066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Jacob y Esaú">
            <a:extLst>
              <a:ext uri="{FF2B5EF4-FFF2-40B4-BE49-F238E27FC236}">
                <a16:creationId xmlns:a16="http://schemas.microsoft.com/office/drawing/2014/main" id="{F08371FC-F630-4206-9B7A-719597547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642" y="3825290"/>
            <a:ext cx="2411799" cy="94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9848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5" y="365125"/>
            <a:ext cx="10910455" cy="1325563"/>
          </a:xfrm>
        </p:spPr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6" y="1488511"/>
            <a:ext cx="11305310" cy="1601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Lenguaje formal</a:t>
            </a:r>
          </a:p>
          <a:p>
            <a:r>
              <a:rPr lang="es-MX" sz="2200" dirty="0"/>
              <a:t>Lenguaje Simbólico (Matemático) empleado para la construcción de expresiones lógicas.</a:t>
            </a:r>
          </a:p>
          <a:p>
            <a:r>
              <a:rPr lang="es-MX" sz="2200" b="1" dirty="0"/>
              <a:t>Elementos</a:t>
            </a:r>
            <a:r>
              <a:rPr lang="es-MX" sz="2200" dirty="0"/>
              <a:t>: Variables, Operadores, Reglas de formación.</a:t>
            </a:r>
          </a:p>
          <a:p>
            <a:pPr lvl="1"/>
            <a:endParaRPr lang="es-MX" sz="2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430120-F6CC-456C-AA06-5CF84527C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590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O" altLang="es-C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405494C-D0F5-46ED-9EE8-1AB30BD31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536728"/>
              </p:ext>
            </p:extLst>
          </p:nvPr>
        </p:nvGraphicFramePr>
        <p:xfrm>
          <a:off x="1539868" y="3053009"/>
          <a:ext cx="8717407" cy="2316480"/>
        </p:xfrm>
        <a:graphic>
          <a:graphicData uri="http://schemas.openxmlformats.org/drawingml/2006/table">
            <a:tbl>
              <a:tblPr/>
              <a:tblGrid>
                <a:gridCol w="2262505">
                  <a:extLst>
                    <a:ext uri="{9D8B030D-6E8A-4147-A177-3AD203B41FA5}">
                      <a16:colId xmlns:a16="http://schemas.microsoft.com/office/drawing/2014/main" val="1546676900"/>
                    </a:ext>
                  </a:extLst>
                </a:gridCol>
                <a:gridCol w="2949702">
                  <a:extLst>
                    <a:ext uri="{9D8B030D-6E8A-4147-A177-3AD203B41FA5}">
                      <a16:colId xmlns:a16="http://schemas.microsoft.com/office/drawing/2014/main" val="33785746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633227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2000" b="1">
                          <a:solidFill>
                            <a:schemeClr val="bg1"/>
                          </a:solidFill>
                        </a:rPr>
                        <a:t>Elemento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>
                          <a:solidFill>
                            <a:schemeClr val="bg1"/>
                          </a:solidFill>
                        </a:rPr>
                        <a:t>Representación Simbólica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>
                          <a:solidFill>
                            <a:schemeClr val="bg1"/>
                          </a:solidFill>
                        </a:rPr>
                        <a:t>Función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421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Variables</a:t>
                      </a:r>
                      <a:endParaRPr lang="es-C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p, q, r, 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Representar hechos o afirmaciones simples.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411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Operadores</a:t>
                      </a:r>
                      <a:endParaRPr lang="es-C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¬, ∧, ∨, ⊕, →, 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Establecer relaciones lógicas entre variables.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2807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Signos de Agrupación</a:t>
                      </a:r>
                      <a:endParaRPr lang="es-CO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( ), [ 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Determinar la jerarquía y el orden de evaluación.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021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070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5" y="365126"/>
            <a:ext cx="11305309" cy="1128292"/>
          </a:xfrm>
        </p:spPr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10516"/>
            <a:ext cx="10910455" cy="49994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Operadores lógicos</a:t>
            </a:r>
          </a:p>
          <a:p>
            <a:r>
              <a:rPr lang="es-MX" sz="2200" dirty="0"/>
              <a:t>Se emplean para unir proposiciones simples.</a:t>
            </a:r>
          </a:p>
          <a:p>
            <a:r>
              <a:rPr lang="es-MX" sz="2200" dirty="0"/>
              <a:t>Permiten construir proposiciones compuestas.</a:t>
            </a:r>
          </a:p>
          <a:p>
            <a:pPr lvl="1"/>
            <a:endParaRPr lang="es-MX" sz="2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430120-F6CC-456C-AA06-5CF84527C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590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O" altLang="es-C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D03C09A-4399-4091-8511-0D3A19AC8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818990"/>
              </p:ext>
            </p:extLst>
          </p:nvPr>
        </p:nvGraphicFramePr>
        <p:xfrm>
          <a:off x="1416049" y="3147527"/>
          <a:ext cx="9359900" cy="2560320"/>
        </p:xfrm>
        <a:graphic>
          <a:graphicData uri="http://schemas.openxmlformats.org/drawingml/2006/table">
            <a:tbl>
              <a:tblPr/>
              <a:tblGrid>
                <a:gridCol w="1473200">
                  <a:extLst>
                    <a:ext uri="{9D8B030D-6E8A-4147-A177-3AD203B41FA5}">
                      <a16:colId xmlns:a16="http://schemas.microsoft.com/office/drawing/2014/main" val="42078064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258675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773326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51095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Operador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Nombre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Símbolo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Lectura Común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275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0" dirty="0"/>
                        <a:t>Negación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"No"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"No P"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502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0" dirty="0"/>
                        <a:t>Conjunción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"Y"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"P y Q"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40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0" dirty="0"/>
                        <a:t>Disyunción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"O" (Inclusiva)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"P o Q"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848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0" dirty="0"/>
                        <a:t>O exclusivo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"O... o..." (Pero no ambos)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"O P o Q"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894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0" dirty="0"/>
                        <a:t>Condicional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"Si... entonces..."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"Si P, entonces Q"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698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0" dirty="0"/>
                        <a:t>Bicondicional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"Si y solo si"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"P si y solo si Q"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002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133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8" y="84304"/>
            <a:ext cx="11049000" cy="1325563"/>
          </a:xfrm>
        </p:spPr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8" y="1093549"/>
            <a:ext cx="11582399" cy="1038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Proceso de traducción</a:t>
            </a:r>
          </a:p>
          <a:p>
            <a:pPr marL="0" indent="0">
              <a:buNone/>
            </a:pPr>
            <a:r>
              <a:rPr lang="es-MX" sz="2200" b="1" dirty="0"/>
              <a:t>Definición</a:t>
            </a:r>
            <a:r>
              <a:rPr lang="es-MX" sz="2200" dirty="0"/>
              <a:t>: Proceso convertir una expresión en lenguaje natural a lenguaje formal y viceversa.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64699E-E3B9-4111-8243-D731415AE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32206"/>
            <a:ext cx="9448799" cy="1871932"/>
          </a:xfrm>
          <a:prstGeom prst="rect">
            <a:avLst/>
          </a:prstGeom>
        </p:spPr>
      </p:pic>
      <p:pic>
        <p:nvPicPr>
          <p:cNvPr id="2050" name="Picture 2" descr="Futurama Titanic.">
            <a:extLst>
              <a:ext uri="{FF2B5EF4-FFF2-40B4-BE49-F238E27FC236}">
                <a16:creationId xmlns:a16="http://schemas.microsoft.com/office/drawing/2014/main" id="{65A47DC1-C4EB-40A8-B299-269D96872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685" y="4209454"/>
            <a:ext cx="1511877" cy="218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 know Futurama is known for its science accuracy so this question goes to  the Electric Engineers of Reddit. Bender is looking at this robot porno and  says &quot;You're a bad girl&quot;.">
            <a:extLst>
              <a:ext uri="{FF2B5EF4-FFF2-40B4-BE49-F238E27FC236}">
                <a16:creationId xmlns:a16="http://schemas.microsoft.com/office/drawing/2014/main" id="{BE27E670-BCA1-412E-94A0-FA1DD8888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111" y="4185696"/>
            <a:ext cx="1511877" cy="222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searcher says human-robot marriage will be acceptable one day | TechCrunch">
            <a:extLst>
              <a:ext uri="{FF2B5EF4-FFF2-40B4-BE49-F238E27FC236}">
                <a16:creationId xmlns:a16="http://schemas.microsoft.com/office/drawing/2014/main" id="{C932F063-0A45-448B-ACF0-6E1669258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689" y="4185696"/>
            <a:ext cx="2710295" cy="196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202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645" y="295852"/>
            <a:ext cx="10796154" cy="1325563"/>
          </a:xfrm>
        </p:spPr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5" y="1493417"/>
            <a:ext cx="11076709" cy="25867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  <a:latin typeface="Calibri (Cuerpo)"/>
              </a:rPr>
              <a:t>Pasos resumidos del proceso de traducción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1" i="0" dirty="0">
                <a:effectLst/>
                <a:latin typeface="Calibri (Cuerpo)"/>
              </a:rPr>
              <a:t>Identificar conectores</a:t>
            </a:r>
            <a:r>
              <a:rPr lang="es-MX" sz="2000" i="0" dirty="0">
                <a:effectLst/>
                <a:latin typeface="Calibri (Cuerpo)"/>
              </a:rPr>
              <a:t>: subraye las palabras que indican relación lógica (“no”, “y”, “o”, “si… entonces…”, “si y solo si”) y determine cuál es el conector principal.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1" i="0" dirty="0">
                <a:effectLst/>
                <a:latin typeface="Calibri (Cuerpo)"/>
              </a:rPr>
              <a:t>Definir variables</a:t>
            </a:r>
            <a:r>
              <a:rPr lang="es-MX" sz="2000" i="0" dirty="0">
                <a:effectLst/>
                <a:latin typeface="Calibri (Cuerpo)"/>
              </a:rPr>
              <a:t>: separe la oración en proposiciones atómicas (sin conectores internos) y asígneles una letra.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1" i="0" dirty="0">
                <a:effectLst/>
                <a:latin typeface="Calibri (Cuerpo)"/>
              </a:rPr>
              <a:t>Ensamblar la fórmula</a:t>
            </a:r>
            <a:r>
              <a:rPr lang="es-MX" sz="2000" i="0" dirty="0">
                <a:effectLst/>
                <a:latin typeface="Calibri (Cuerpo)"/>
              </a:rPr>
              <a:t>: sustituya cada proposición atómica por su variable y cada conector por su símbolo, verificando que los paréntesis reflejen la agrupación correcta.</a:t>
            </a: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FE300C0-C7B0-4886-B865-815BAD6EA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91" y="4080163"/>
            <a:ext cx="10404417" cy="22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8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276" y="212722"/>
            <a:ext cx="10796154" cy="854075"/>
          </a:xfrm>
        </p:spPr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550" y="1119338"/>
            <a:ext cx="11076709" cy="4600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b="1" dirty="0">
                <a:solidFill>
                  <a:schemeClr val="accent2"/>
                </a:solidFill>
                <a:latin typeface="Calibri (Cuerpo)"/>
              </a:rPr>
              <a:t>Traducción de conectivos: Conjunción y Disyunción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2DCB819-D596-410F-B7BC-987026A1B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033932"/>
              </p:ext>
            </p:extLst>
          </p:nvPr>
        </p:nvGraphicFramePr>
        <p:xfrm>
          <a:off x="1300408" y="1673518"/>
          <a:ext cx="9120121" cy="3840480"/>
        </p:xfrm>
        <a:graphic>
          <a:graphicData uri="http://schemas.openxmlformats.org/drawingml/2006/table">
            <a:tbl>
              <a:tblPr/>
              <a:tblGrid>
                <a:gridCol w="2033080">
                  <a:extLst>
                    <a:ext uri="{9D8B030D-6E8A-4147-A177-3AD203B41FA5}">
                      <a16:colId xmlns:a16="http://schemas.microsoft.com/office/drawing/2014/main" val="1831723349"/>
                    </a:ext>
                  </a:extLst>
                </a:gridCol>
                <a:gridCol w="1903730">
                  <a:extLst>
                    <a:ext uri="{9D8B030D-6E8A-4147-A177-3AD203B41FA5}">
                      <a16:colId xmlns:a16="http://schemas.microsoft.com/office/drawing/2014/main" val="2045609073"/>
                    </a:ext>
                  </a:extLst>
                </a:gridCol>
                <a:gridCol w="1936327">
                  <a:extLst>
                    <a:ext uri="{9D8B030D-6E8A-4147-A177-3AD203B41FA5}">
                      <a16:colId xmlns:a16="http://schemas.microsoft.com/office/drawing/2014/main" val="3531448086"/>
                    </a:ext>
                  </a:extLst>
                </a:gridCol>
                <a:gridCol w="3246984">
                  <a:extLst>
                    <a:ext uri="{9D8B030D-6E8A-4147-A177-3AD203B41FA5}">
                      <a16:colId xmlns:a16="http://schemas.microsoft.com/office/drawing/2014/main" val="2540049918"/>
                    </a:ext>
                  </a:extLst>
                </a:gridCol>
              </a:tblGrid>
              <a:tr h="338915">
                <a:tc>
                  <a:txBody>
                    <a:bodyPr/>
                    <a:lstStyle/>
                    <a:p>
                      <a:r>
                        <a:rPr lang="es-CO" b="1">
                          <a:solidFill>
                            <a:schemeClr val="bg1"/>
                          </a:solidFill>
                        </a:rPr>
                        <a:t>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Conector lógico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solidFill>
                            <a:schemeClr val="bg1"/>
                          </a:solidFill>
                        </a:rPr>
                        <a:t>Forma simbólica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Enunciados en lenguaje natural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894651"/>
                  </a:ext>
                </a:extLst>
              </a:tr>
              <a:tr h="1864033">
                <a:tc>
                  <a:txBody>
                    <a:bodyPr/>
                    <a:lstStyle/>
                    <a:p>
                      <a:r>
                        <a:rPr lang="es-CO" sz="1400" b="1"/>
                        <a:t>Conjuntivo</a:t>
                      </a:r>
                      <a:endParaRPr lang="es-CO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Conjunción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P ∧ 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P y Q</a:t>
                      </a:r>
                    </a:p>
                    <a:p>
                      <a:r>
                        <a:rPr lang="es-MX" sz="1400" dirty="0"/>
                        <a:t>P, pero Q</a:t>
                      </a:r>
                    </a:p>
                    <a:p>
                      <a:r>
                        <a:rPr lang="es-MX" sz="1400" dirty="0"/>
                        <a:t>P aun Q </a:t>
                      </a:r>
                    </a:p>
                    <a:p>
                      <a:r>
                        <a:rPr lang="es-MX" sz="1400" dirty="0"/>
                        <a:t>P también Q </a:t>
                      </a:r>
                    </a:p>
                    <a:p>
                      <a:r>
                        <a:rPr lang="es-MX" sz="1400" dirty="0"/>
                        <a:t>P todavía Q </a:t>
                      </a:r>
                    </a:p>
                    <a:p>
                      <a:r>
                        <a:rPr lang="es-MX" sz="1400" dirty="0"/>
                        <a:t>P, aunque Q </a:t>
                      </a:r>
                    </a:p>
                    <a:p>
                      <a:r>
                        <a:rPr lang="es-MX" sz="1400" dirty="0"/>
                        <a:t>P sin embargo Q </a:t>
                      </a:r>
                    </a:p>
                    <a:p>
                      <a:r>
                        <a:rPr lang="es-MX" sz="1400" dirty="0"/>
                        <a:t>P además Q </a:t>
                      </a:r>
                    </a:p>
                    <a:p>
                      <a:r>
                        <a:rPr lang="es-MX" sz="1400" dirty="0"/>
                        <a:t>P no obstante 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5143141"/>
                  </a:ext>
                </a:extLst>
              </a:tr>
              <a:tr h="677830">
                <a:tc>
                  <a:txBody>
                    <a:bodyPr/>
                    <a:lstStyle/>
                    <a:p>
                      <a:r>
                        <a:rPr lang="es-CO" sz="1400" b="1"/>
                        <a:t>Disyuntivo (inclusivo)</a:t>
                      </a:r>
                      <a:endParaRPr lang="es-CO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/>
                        <a:t>Disyunción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/>
                        <a:t>P ∨ 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P o Q  </a:t>
                      </a:r>
                    </a:p>
                    <a:p>
                      <a:r>
                        <a:rPr lang="es-MX" sz="1400" dirty="0"/>
                        <a:t>P, a menos que Q </a:t>
                      </a:r>
                    </a:p>
                    <a:p>
                      <a:r>
                        <a:rPr lang="es-MX" sz="1400" dirty="0"/>
                        <a:t>Al menos una entre P y 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076932"/>
                  </a:ext>
                </a:extLst>
              </a:tr>
              <a:tr h="677830">
                <a:tc>
                  <a:txBody>
                    <a:bodyPr/>
                    <a:lstStyle/>
                    <a:p>
                      <a:r>
                        <a:rPr lang="es-CO" sz="1400" b="1"/>
                        <a:t>Disyuntivo exclusivo</a:t>
                      </a:r>
                      <a:endParaRPr lang="es-CO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/>
                        <a:t>Disyunción exclusiva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P ⊕ 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P o Q, pero no ambos  </a:t>
                      </a:r>
                    </a:p>
                    <a:p>
                      <a:r>
                        <a:rPr lang="es-MX" sz="1400" dirty="0"/>
                        <a:t>O P o Q exclusivamente </a:t>
                      </a:r>
                    </a:p>
                    <a:p>
                      <a:r>
                        <a:rPr lang="es-MX" sz="1400" dirty="0"/>
                        <a:t>Exactamente uno de P y 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381614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B09A4B72-285E-4086-B311-2E92CE3753EC}"/>
              </a:ext>
            </a:extLst>
          </p:cNvPr>
          <p:cNvSpPr txBox="1"/>
          <p:nvPr/>
        </p:nvSpPr>
        <p:spPr>
          <a:xfrm>
            <a:off x="384453" y="5649196"/>
            <a:ext cx="1094509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s-MX" sz="1600" b="1" dirty="0"/>
              <a:t>Tip de traducción:</a:t>
            </a:r>
            <a:r>
              <a:rPr lang="es-MX" sz="1600" dirty="0"/>
              <a:t> muchas palabras que no son "y" también se traducen como ∧ (pero, aunque, sin embargo, además) — todas afirman que </a:t>
            </a:r>
            <a:r>
              <a:rPr lang="es-MX" sz="1600" b="1" dirty="0"/>
              <a:t>ambas</a:t>
            </a:r>
            <a:r>
              <a:rPr lang="es-MX" sz="1600" dirty="0"/>
              <a:t> proposiciones son verdaderas, solo cambia el matiz. Para la disyunción, recuerde que "o" en lógica es </a:t>
            </a:r>
            <a:r>
              <a:rPr lang="es-MX" sz="1600" b="1" dirty="0"/>
              <a:t>inclusiva</a:t>
            </a:r>
            <a:r>
              <a:rPr lang="es-MX" sz="1600" dirty="0"/>
              <a:t> por defecto: P ∨ Q es verdadero si al menos una de las dos lo es (incluso si ambas lo son). Solo use ⊕ cuando el enunciado diga explícitamente "pero no ambos" o "exactamente uno".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2962607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276" y="212722"/>
            <a:ext cx="10796154" cy="854075"/>
          </a:xfrm>
        </p:spPr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550" y="1077773"/>
            <a:ext cx="11076709" cy="4600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b="1" dirty="0">
                <a:solidFill>
                  <a:schemeClr val="accent2"/>
                </a:solidFill>
                <a:latin typeface="Calibri (Cuerpo)"/>
              </a:rPr>
              <a:t>Traducción de conectivos: Condicional y Bicondicional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2DCB819-D596-410F-B7BC-987026A1B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453455"/>
              </p:ext>
            </p:extLst>
          </p:nvPr>
        </p:nvGraphicFramePr>
        <p:xfrm>
          <a:off x="1258843" y="1618092"/>
          <a:ext cx="9120121" cy="3865324"/>
        </p:xfrm>
        <a:graphic>
          <a:graphicData uri="http://schemas.openxmlformats.org/drawingml/2006/table">
            <a:tbl>
              <a:tblPr/>
              <a:tblGrid>
                <a:gridCol w="2033080">
                  <a:extLst>
                    <a:ext uri="{9D8B030D-6E8A-4147-A177-3AD203B41FA5}">
                      <a16:colId xmlns:a16="http://schemas.microsoft.com/office/drawing/2014/main" val="1831723349"/>
                    </a:ext>
                  </a:extLst>
                </a:gridCol>
                <a:gridCol w="1903730">
                  <a:extLst>
                    <a:ext uri="{9D8B030D-6E8A-4147-A177-3AD203B41FA5}">
                      <a16:colId xmlns:a16="http://schemas.microsoft.com/office/drawing/2014/main" val="2045609073"/>
                    </a:ext>
                  </a:extLst>
                </a:gridCol>
                <a:gridCol w="1936327">
                  <a:extLst>
                    <a:ext uri="{9D8B030D-6E8A-4147-A177-3AD203B41FA5}">
                      <a16:colId xmlns:a16="http://schemas.microsoft.com/office/drawing/2014/main" val="3531448086"/>
                    </a:ext>
                  </a:extLst>
                </a:gridCol>
                <a:gridCol w="3246984">
                  <a:extLst>
                    <a:ext uri="{9D8B030D-6E8A-4147-A177-3AD203B41FA5}">
                      <a16:colId xmlns:a16="http://schemas.microsoft.com/office/drawing/2014/main" val="2540049918"/>
                    </a:ext>
                  </a:extLst>
                </a:gridCol>
              </a:tblGrid>
              <a:tr h="326512"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Conector lógico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Forma simbólica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solidFill>
                            <a:schemeClr val="bg1"/>
                          </a:solidFill>
                        </a:rPr>
                        <a:t>Enunciados en lenguaje natural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894651"/>
                  </a:ext>
                </a:extLst>
              </a:tr>
              <a:tr h="1550933">
                <a:tc>
                  <a:txBody>
                    <a:bodyPr/>
                    <a:lstStyle/>
                    <a:p>
                      <a:r>
                        <a:rPr lang="es-CO" sz="1400" b="1" dirty="0"/>
                        <a:t>Condicional (Hipotético)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Implicación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/>
                        <a:t>P → 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Si P, entonces Q</a:t>
                      </a:r>
                    </a:p>
                    <a:p>
                      <a:r>
                        <a:rPr lang="es-MX" sz="1400" dirty="0"/>
                        <a:t>Si P, Q </a:t>
                      </a:r>
                    </a:p>
                    <a:p>
                      <a:r>
                        <a:rPr lang="es-MX" sz="1400" dirty="0"/>
                        <a:t>Q si P </a:t>
                      </a:r>
                    </a:p>
                    <a:p>
                      <a:r>
                        <a:rPr lang="es-MX" sz="1400" dirty="0"/>
                        <a:t>P solo si Q </a:t>
                      </a:r>
                    </a:p>
                    <a:p>
                      <a:r>
                        <a:rPr lang="es-MX" sz="1400" dirty="0"/>
                        <a:t>Para P, es necesario Q  </a:t>
                      </a:r>
                    </a:p>
                    <a:p>
                      <a:r>
                        <a:rPr lang="es-MX" sz="1400" dirty="0"/>
                        <a:t>Es suficiente P para Q </a:t>
                      </a:r>
                    </a:p>
                    <a:p>
                      <a:r>
                        <a:rPr lang="es-MX" sz="1400" dirty="0"/>
                        <a:t>Q en caso de que P</a:t>
                      </a:r>
                    </a:p>
                    <a:p>
                      <a:r>
                        <a:rPr lang="es-MX" sz="1400" dirty="0"/>
                        <a:t>Q siempre que P </a:t>
                      </a:r>
                    </a:p>
                    <a:p>
                      <a:r>
                        <a:rPr lang="es-MX" sz="1400" dirty="0"/>
                        <a:t>Q cuando P </a:t>
                      </a:r>
                    </a:p>
                    <a:p>
                      <a:r>
                        <a:rPr lang="es-MX" sz="1400" dirty="0"/>
                        <a:t>P implica que Q  </a:t>
                      </a:r>
                    </a:p>
                    <a:p>
                      <a:r>
                        <a:rPr lang="es-MX" sz="1400" dirty="0"/>
                        <a:t>Cuando P, 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5143141"/>
                  </a:ext>
                </a:extLst>
              </a:tr>
              <a:tr h="1061164">
                <a:tc>
                  <a:txBody>
                    <a:bodyPr/>
                    <a:lstStyle/>
                    <a:p>
                      <a:r>
                        <a:rPr lang="es-CO" sz="1400" b="1" dirty="0"/>
                        <a:t>Bicondicional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/>
                        <a:t>Bicondicional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/>
                        <a:t>P ↔ 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P si, y solo si, Q  </a:t>
                      </a:r>
                    </a:p>
                    <a:p>
                      <a:r>
                        <a:rPr lang="es-MX" sz="1400" dirty="0"/>
                        <a:t>P es suficiente y necesario para Q </a:t>
                      </a:r>
                    </a:p>
                    <a:p>
                      <a:r>
                        <a:rPr lang="es-MX" sz="1400" dirty="0"/>
                        <a:t>P es equivalente a Q </a:t>
                      </a:r>
                    </a:p>
                    <a:p>
                      <a:r>
                        <a:rPr lang="es-MX" sz="1400" dirty="0"/>
                        <a:t>P y Q son equivalentes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076932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B09A4B72-285E-4086-B311-2E92CE3753EC}"/>
              </a:ext>
            </a:extLst>
          </p:cNvPr>
          <p:cNvSpPr txBox="1"/>
          <p:nvPr/>
        </p:nvSpPr>
        <p:spPr>
          <a:xfrm>
            <a:off x="384453" y="5649196"/>
            <a:ext cx="1094509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s-MX" sz="1600" b="1" dirty="0"/>
              <a:t>Tip de traducción:</a:t>
            </a:r>
            <a:r>
              <a:rPr lang="es-MX" sz="1600" dirty="0"/>
              <a:t> en P → Q, P es la </a:t>
            </a:r>
            <a:r>
              <a:rPr lang="es-MX" sz="1600" b="1" dirty="0"/>
              <a:t>condición suficiente</a:t>
            </a:r>
            <a:r>
              <a:rPr lang="es-MX" sz="1600" dirty="0"/>
              <a:t> y Q es la </a:t>
            </a:r>
            <a:r>
              <a:rPr lang="es-MX" sz="1600" b="1" dirty="0"/>
              <a:t>condición necesaria</a:t>
            </a:r>
            <a:r>
              <a:rPr lang="es-MX" sz="1600" dirty="0"/>
              <a:t> — por eso "P solo si Q" y "Es suficiente P para Q" también se traducen como P → Q, aunque no tengan la forma "si... entonces...". Cuidado con conectores como "como", "ya que" o "porque": afirman que ambos hechos </a:t>
            </a:r>
            <a:r>
              <a:rPr lang="es-MX" sz="1600" b="1" dirty="0"/>
              <a:t>ya ocurrieron</a:t>
            </a:r>
            <a:r>
              <a:rPr lang="es-MX" sz="1600" dirty="0"/>
              <a:t> (se traducen como P ∧ Q), no son condicionales aunque a veces se confundan con ellos.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651235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5" y="281997"/>
            <a:ext cx="10910455" cy="1325563"/>
          </a:xfrm>
        </p:spPr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>
                <a:solidFill>
                  <a:schemeClr val="accent2"/>
                </a:solidFill>
              </a:rPr>
              <a:t>Ejemplos</a:t>
            </a:r>
            <a:r>
              <a:rPr lang="es-CO" dirty="0">
                <a:solidFill>
                  <a:schemeClr val="accent2"/>
                </a:solidFill>
              </a:rPr>
              <a:t> </a:t>
            </a:r>
          </a:p>
          <a:p>
            <a:pPr marL="0" indent="0">
              <a:buNone/>
            </a:pPr>
            <a:r>
              <a:rPr lang="es-CO" sz="2000" dirty="0"/>
              <a:t>Exprese las siguientes expresión en lenguaje formal:</a:t>
            </a:r>
            <a:endParaRPr lang="es-CO" sz="2000" b="1" dirty="0"/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Juan es estudiante de matemáticas pero no de ciencias de la computación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Ni hace calor ni está soleado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Este número es par o este número es impar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Si tiene una contraseña vigente, entonces puede iniciar sesión en la red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John batirá el récord mundial de la milla solo si corre la milla en menos de cuatro minutos.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Este entero es par si, y solo si, es igual al doble de algún entero.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s-MX" sz="2000" b="0" i="0" dirty="0">
                <a:solidFill>
                  <a:srgbClr val="131314"/>
                </a:solidFill>
                <a:effectLst/>
              </a:rPr>
              <a:t>Si el pianista toca el concierto, entonces la gente vendrá si los precios no son demasiado altos.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00359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ctr">
              <a:buNone/>
            </a:pPr>
            <a:r>
              <a:rPr lang="es-MX" sz="2400" b="0" i="0" dirty="0">
                <a:solidFill>
                  <a:srgbClr val="131314"/>
                </a:solidFill>
                <a:effectLst/>
              </a:rPr>
              <a:t>Juan es estudiante de matemáticas pero no de ciencias de la computación</a:t>
            </a: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Variables (proposiciones simples)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Expresión lógica (Proposicion compuesta)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69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ctr">
              <a:buNone/>
            </a:pPr>
            <a:r>
              <a:rPr lang="es-MX" sz="2400" b="0" i="0" dirty="0">
                <a:solidFill>
                  <a:srgbClr val="131314"/>
                </a:solidFill>
                <a:effectLst/>
              </a:rPr>
              <a:t>Ni hace calor ni está soleado</a:t>
            </a: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Variables (proposiciones simples)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Expresión lógica (Proposicion compuesta)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639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ctr">
              <a:buNone/>
            </a:pPr>
            <a:r>
              <a:rPr lang="es-MX" sz="2400" b="0" i="0" dirty="0">
                <a:solidFill>
                  <a:srgbClr val="131314"/>
                </a:solidFill>
                <a:effectLst/>
              </a:rPr>
              <a:t>Este número es par o este número es impar</a:t>
            </a: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Variables (proposiciones simples)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Expresión lógica (Proposicion compuesta)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958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ctr">
              <a:buNone/>
            </a:pPr>
            <a:r>
              <a:rPr lang="es-MX" sz="2400" b="0" i="0" dirty="0">
                <a:solidFill>
                  <a:srgbClr val="131314"/>
                </a:solidFill>
                <a:effectLst/>
              </a:rPr>
              <a:t>Si tiene una contraseña vigente, entonces puede iniciar sesión en la red</a:t>
            </a: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Variables (proposiciones simples)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Expresión lógica (Proposicion compuesta)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997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ctr">
              <a:buNone/>
            </a:pPr>
            <a:r>
              <a:rPr lang="es-MX" sz="2400" b="0" i="0" dirty="0">
                <a:solidFill>
                  <a:srgbClr val="131314"/>
                </a:solidFill>
                <a:effectLst/>
              </a:rPr>
              <a:t>John batirá el récord mundial de la milla solo si corre la milla en menos de cuatro minutos.</a:t>
            </a: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Variables (proposiciones simples)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Expresión lógica (Proposicion compuesta)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516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471563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ctr">
              <a:buNone/>
            </a:pPr>
            <a:r>
              <a:rPr lang="es-MX" sz="2400" b="0" i="0" dirty="0">
                <a:solidFill>
                  <a:srgbClr val="131314"/>
                </a:solidFill>
                <a:effectLst/>
              </a:rPr>
              <a:t>Este entero es par si, y solo si, es igual al doble de algún entero.</a:t>
            </a: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Variables (proposiciones simples)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Expresión lógica (Proposicion compuesta)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686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AF66F-7D38-4DEC-A157-5A49614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Conceptos de lógica proposicional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11C1C-AB20-4127-87E3-88401D85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493417"/>
            <a:ext cx="11637819" cy="3854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ctr">
              <a:buNone/>
            </a:pPr>
            <a:r>
              <a:rPr lang="es-MX" sz="2200" b="0" i="0" dirty="0">
                <a:solidFill>
                  <a:srgbClr val="131314"/>
                </a:solidFill>
                <a:effectLst/>
              </a:rPr>
              <a:t>Si el pianista toca el concierto, entonces la gente vendrá si los precios no son demasiado altos.</a:t>
            </a: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Variables (proposiciones simples)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endParaRPr lang="es-MX" sz="2000" b="0" i="0" dirty="0">
              <a:solidFill>
                <a:srgbClr val="131314"/>
              </a:solidFill>
              <a:effectLst/>
            </a:endParaRPr>
          </a:p>
          <a:p>
            <a:pPr marL="0" indent="0" algn="l">
              <a:buNone/>
            </a:pPr>
            <a:r>
              <a:rPr lang="es-MX" sz="2000" b="1" i="0" dirty="0">
                <a:solidFill>
                  <a:srgbClr val="131314"/>
                </a:solidFill>
                <a:effectLst/>
              </a:rPr>
              <a:t>Expresión lógica (Proposicion compuesta)</a:t>
            </a:r>
            <a:r>
              <a:rPr lang="es-MX" sz="2000" b="0" i="0" dirty="0">
                <a:solidFill>
                  <a:srgbClr val="131314"/>
                </a:solidFill>
                <a:effectLst/>
              </a:rPr>
              <a:t>:</a:t>
            </a:r>
          </a:p>
          <a:p>
            <a:pPr marL="0" indent="0" algn="l">
              <a:buNone/>
            </a:pPr>
            <a:endParaRPr lang="es-MX" sz="2000" dirty="0">
              <a:solidFill>
                <a:srgbClr val="1313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84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Descargar fondos de Looneytunes, Eso Es Todo Amigos. | Wallpapers.com">
            <a:extLst>
              <a:ext uri="{FF2B5EF4-FFF2-40B4-BE49-F238E27FC236}">
                <a16:creationId xmlns:a16="http://schemas.microsoft.com/office/drawing/2014/main" id="{80E56D42-6B08-45CB-A8AD-5B69CC1FD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189" y="1300595"/>
            <a:ext cx="8043676" cy="4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409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1614</Words>
  <Application>Microsoft Office PowerPoint</Application>
  <PresentationFormat>Panorámica</PresentationFormat>
  <Paragraphs>309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(Cuerpo)</vt:lpstr>
      <vt:lpstr>Calibri Light</vt:lpstr>
      <vt:lpstr>Tema de Office</vt:lpstr>
      <vt:lpstr>Matemáticas Discretas 1</vt:lpstr>
      <vt:lpstr>Recursos complementarios para esta clase</vt:lpstr>
      <vt:lpstr>Agenda</vt:lpstr>
      <vt:lpstr>El lenguaje y su importancia</vt:lpstr>
      <vt:lpstr>Sobre los mensajes</vt:lpstr>
      <vt:lpstr>Sobre los mensajes</vt:lpstr>
      <vt:lpstr>Sobre los mensajes</vt:lpstr>
      <vt:lpstr>Sobre los mensajes</vt:lpstr>
      <vt:lpstr>Sobre la lógica</vt:lpstr>
      <vt:lpstr>Sobre la lógica matemática</vt:lpstr>
      <vt:lpstr>Contexto de la Matemáticas discretas en Ingeniería de Sistemas</vt:lpstr>
      <vt:lpstr>Conceptos de lógica proposicional</vt:lpstr>
      <vt:lpstr>Conceptos de lógica proposicional</vt:lpstr>
      <vt:lpstr>Conceptos de lógica proposicional</vt:lpstr>
      <vt:lpstr>Conceptos de lógica proposicional</vt:lpstr>
      <vt:lpstr>Conceptos de lógica proposicional</vt:lpstr>
      <vt:lpstr>Conceptos de lógica proposicional</vt:lpstr>
      <vt:lpstr>Conceptos de lógica proposicional</vt:lpstr>
      <vt:lpstr>Conceptos de lógica proposicional</vt:lpstr>
      <vt:lpstr>Conceptos de lógica proposicional</vt:lpstr>
      <vt:lpstr>Conceptos de lógica proposicional</vt:lpstr>
      <vt:lpstr>Conceptos de lógica proposicional</vt:lpstr>
      <vt:lpstr>Conceptos de lógica proposicional</vt:lpstr>
      <vt:lpstr>Conceptos de lógica proposicional</vt:lpstr>
      <vt:lpstr>Conceptos de lógica proposicional</vt:lpstr>
      <vt:lpstr>Conceptos de lógica proposicional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Matemáticas Discretas 1</dc:title>
  <dc:creator>Henry Arcila</dc:creator>
  <cp:lastModifiedBy>HENRY ALBERTO ARCILA RAMIREZ</cp:lastModifiedBy>
  <cp:revision>13</cp:revision>
  <dcterms:created xsi:type="dcterms:W3CDTF">2026-02-16T23:39:43Z</dcterms:created>
  <dcterms:modified xsi:type="dcterms:W3CDTF">2026-08-06T03:54:30Z</dcterms:modified>
</cp:coreProperties>
</file>