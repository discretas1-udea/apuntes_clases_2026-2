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5" r:id="rId1"/>
  </p:sldMasterIdLst>
  <p:notesMasterIdLst>
    <p:notesMasterId r:id="rId32"/>
  </p:notesMasterIdLst>
  <p:sldIdLst>
    <p:sldId id="256" r:id="rId2"/>
    <p:sldId id="617" r:id="rId3"/>
    <p:sldId id="587" r:id="rId4"/>
    <p:sldId id="402" r:id="rId5"/>
    <p:sldId id="585" r:id="rId6"/>
    <p:sldId id="618" r:id="rId7"/>
    <p:sldId id="438" r:id="rId8"/>
    <p:sldId id="469" r:id="rId9"/>
    <p:sldId id="443" r:id="rId10"/>
    <p:sldId id="472" r:id="rId11"/>
    <p:sldId id="474" r:id="rId12"/>
    <p:sldId id="475" r:id="rId13"/>
    <p:sldId id="476" r:id="rId14"/>
    <p:sldId id="619" r:id="rId15"/>
    <p:sldId id="622" r:id="rId16"/>
    <p:sldId id="606" r:id="rId17"/>
    <p:sldId id="482" r:id="rId18"/>
    <p:sldId id="483" r:id="rId19"/>
    <p:sldId id="434" r:id="rId20"/>
    <p:sldId id="477" r:id="rId21"/>
    <p:sldId id="478" r:id="rId22"/>
    <p:sldId id="479" r:id="rId23"/>
    <p:sldId id="608" r:id="rId24"/>
    <p:sldId id="609" r:id="rId25"/>
    <p:sldId id="612" r:id="rId26"/>
    <p:sldId id="613" r:id="rId27"/>
    <p:sldId id="611" r:id="rId28"/>
    <p:sldId id="615" r:id="rId29"/>
    <p:sldId id="616" r:id="rId30"/>
    <p:sldId id="614" r:id="rId31"/>
  </p:sldIdLst>
  <p:sldSz cx="12192000" cy="6858000"/>
  <p:notesSz cx="6858000" cy="9144000"/>
  <p:embeddedFontLst>
    <p:embeddedFont>
      <p:font typeface="Calibri" panose="020F0502020204030204" pitchFamily="34" charset="0"/>
      <p:regular r:id="rId33"/>
      <p:bold r:id="rId34"/>
      <p:italic r:id="rId35"/>
      <p:boldItalic r:id="rId36"/>
    </p:embeddedFont>
    <p:embeddedFont>
      <p:font typeface="Calibri Light" panose="020F0302020204030204" pitchFamily="34" charset="0"/>
      <p:regular r:id="rId37"/>
      <p:italic r:id="rId38"/>
    </p:embeddedFont>
    <p:embeddedFont>
      <p:font typeface="Cambria Math" panose="02040503050406030204" pitchFamily="18" charset="0"/>
      <p:regular r:id="rId39"/>
    </p:embeddedFont>
    <p:embeddedFont>
      <p:font typeface="Roboto" panose="02000000000000000000" pitchFamily="2" charset="0"/>
      <p:regular r:id="rId40"/>
      <p:bold r:id="rId41"/>
      <p:italic r:id="rId42"/>
      <p:boldItalic r:id="rId43"/>
    </p:embeddedFont>
    <p:embeddedFont>
      <p:font typeface="Roboto Slab" panose="020B0604020202020204" charset="0"/>
      <p:regular r:id="rId44"/>
      <p:bold r:id="rId45"/>
    </p:embeddedFont>
  </p:embeddedFontLst>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D6A3598-7CB8-4345-8D95-17CE05F158A0}">
  <a:tblStyle styleId="{AD6A3598-7CB8-4345-8D95-17CE05F158A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04" autoAdjust="0"/>
    <p:restoredTop sz="94291" autoAdjust="0"/>
  </p:normalViewPr>
  <p:slideViewPr>
    <p:cSldViewPr snapToGrid="0">
      <p:cViewPr varScale="1">
        <p:scale>
          <a:sx n="65" d="100"/>
          <a:sy n="65" d="100"/>
        </p:scale>
        <p:origin x="77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font" Target="fonts/font1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font" Target="fonts/font11.fntdata"/><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78358aba08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78358aba08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40187270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7750335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284579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78358aba08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78358aba08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1910107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78358aba08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78358aba08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4520668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386034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859487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26479632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25301482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40333274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19865662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18723633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7621046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590513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78358aba08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78358aba08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8467490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1724471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27802883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20102864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762268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2595483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7839493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18337241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3837421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231337088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270966774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105104344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70994399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214046182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5530579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197931-88D2-48EC-BDFD-C8C3C5166BDE}"/>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38679D90-F057-4BD5-83C0-DDC6EE2119B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22C13BD3-4696-4B09-8A88-F3994E7C744A}"/>
              </a:ext>
            </a:extLst>
          </p:cNvPr>
          <p:cNvSpPr>
            <a:spLocks noGrp="1"/>
          </p:cNvSpPr>
          <p:nvPr>
            <p:ph type="dt" sz="half" idx="10"/>
          </p:nvPr>
        </p:nvSpPr>
        <p:spPr/>
        <p:txBody>
          <a:bodyPr/>
          <a:lstStyle/>
          <a:p>
            <a:endParaRPr lang="es-CO"/>
          </a:p>
        </p:txBody>
      </p:sp>
      <p:sp>
        <p:nvSpPr>
          <p:cNvPr id="5" name="Marcador de pie de página 4">
            <a:extLst>
              <a:ext uri="{FF2B5EF4-FFF2-40B4-BE49-F238E27FC236}">
                <a16:creationId xmlns:a16="http://schemas.microsoft.com/office/drawing/2014/main" id="{FF285628-4B07-48C3-A0F4-63457190B13E}"/>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72DA6BEC-6DF4-4166-BD89-B2E0A39B701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38165647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D74B2C-17C9-4AA4-9668-F80AC962E695}"/>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0258D9D8-9866-4269-8D7D-807856891CCA}"/>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9E009FBE-E524-4470-9FCD-AEB4BE306994}"/>
              </a:ext>
            </a:extLst>
          </p:cNvPr>
          <p:cNvSpPr>
            <a:spLocks noGrp="1"/>
          </p:cNvSpPr>
          <p:nvPr>
            <p:ph type="dt" sz="half" idx="10"/>
          </p:nvPr>
        </p:nvSpPr>
        <p:spPr/>
        <p:txBody>
          <a:bodyPr/>
          <a:lstStyle/>
          <a:p>
            <a:endParaRPr lang="es-CO"/>
          </a:p>
        </p:txBody>
      </p:sp>
      <p:sp>
        <p:nvSpPr>
          <p:cNvPr id="5" name="Marcador de pie de página 4">
            <a:extLst>
              <a:ext uri="{FF2B5EF4-FFF2-40B4-BE49-F238E27FC236}">
                <a16:creationId xmlns:a16="http://schemas.microsoft.com/office/drawing/2014/main" id="{944FB710-71F8-4468-A8D3-4E66EDFF9019}"/>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33AD742D-28B3-4CCB-96B9-49F1E45104F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191804877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24E514-96C5-4BA6-8853-8FD23DBA49B2}"/>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DCB46064-8B93-4EDC-9C8C-E62E5E204D3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0B64F67B-C4F9-4EEE-B654-135E40590AE6}"/>
              </a:ext>
            </a:extLst>
          </p:cNvPr>
          <p:cNvSpPr>
            <a:spLocks noGrp="1"/>
          </p:cNvSpPr>
          <p:nvPr>
            <p:ph type="dt" sz="half" idx="10"/>
          </p:nvPr>
        </p:nvSpPr>
        <p:spPr/>
        <p:txBody>
          <a:bodyPr/>
          <a:lstStyle/>
          <a:p>
            <a:endParaRPr lang="es-CO"/>
          </a:p>
        </p:txBody>
      </p:sp>
      <p:sp>
        <p:nvSpPr>
          <p:cNvPr id="5" name="Marcador de pie de página 4">
            <a:extLst>
              <a:ext uri="{FF2B5EF4-FFF2-40B4-BE49-F238E27FC236}">
                <a16:creationId xmlns:a16="http://schemas.microsoft.com/office/drawing/2014/main" id="{D642D2EB-0949-472E-B96E-7077F2439656}"/>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B48BF961-D28F-480C-A33B-2D90830F358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18556077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D49851-BE79-4814-B324-7A715144F002}"/>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FB8196A1-DDE1-4352-9C3D-A0CD29769B44}"/>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370082F4-C4BC-4497-8E38-2AAC216C98E3}"/>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41CBF39F-7AC4-42AD-8BED-FB13480278B0}"/>
              </a:ext>
            </a:extLst>
          </p:cNvPr>
          <p:cNvSpPr>
            <a:spLocks noGrp="1"/>
          </p:cNvSpPr>
          <p:nvPr>
            <p:ph type="dt" sz="half" idx="10"/>
          </p:nvPr>
        </p:nvSpPr>
        <p:spPr/>
        <p:txBody>
          <a:bodyPr/>
          <a:lstStyle/>
          <a:p>
            <a:endParaRPr lang="es-CO"/>
          </a:p>
        </p:txBody>
      </p:sp>
      <p:sp>
        <p:nvSpPr>
          <p:cNvPr id="6" name="Marcador de pie de página 5">
            <a:extLst>
              <a:ext uri="{FF2B5EF4-FFF2-40B4-BE49-F238E27FC236}">
                <a16:creationId xmlns:a16="http://schemas.microsoft.com/office/drawing/2014/main" id="{32CD1E40-2EDD-42B2-8717-B610AA70C44C}"/>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2C650591-7D21-4F93-B6A8-04637AA5290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12587911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A18ABB-EB85-46DB-94FC-5071555A8DDC}"/>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A20E644E-2C94-4905-A3B3-39494B91F8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691FDA4E-3792-47ED-A324-BE4AB193A7A7}"/>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7BAA52EB-49DC-417B-A1D3-7E5D77F55D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56D28227-5811-416F-8EB6-975798573498}"/>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13328A4A-DB4B-4AF3-A5E0-7FDD49D01449}"/>
              </a:ext>
            </a:extLst>
          </p:cNvPr>
          <p:cNvSpPr>
            <a:spLocks noGrp="1"/>
          </p:cNvSpPr>
          <p:nvPr>
            <p:ph type="dt" sz="half" idx="10"/>
          </p:nvPr>
        </p:nvSpPr>
        <p:spPr/>
        <p:txBody>
          <a:bodyPr/>
          <a:lstStyle/>
          <a:p>
            <a:endParaRPr lang="es-CO"/>
          </a:p>
        </p:txBody>
      </p:sp>
      <p:sp>
        <p:nvSpPr>
          <p:cNvPr id="8" name="Marcador de pie de página 7">
            <a:extLst>
              <a:ext uri="{FF2B5EF4-FFF2-40B4-BE49-F238E27FC236}">
                <a16:creationId xmlns:a16="http://schemas.microsoft.com/office/drawing/2014/main" id="{8760E545-7BCF-40CB-8EA9-E2B4649257ED}"/>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3089E4DE-3B1B-4798-B272-2678EA5F2ED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21935449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87F13F-4B41-424E-B1EA-AD2F1961BB70}"/>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A0B4F20C-7C18-429B-BBC6-F1E1923258DF}"/>
              </a:ext>
            </a:extLst>
          </p:cNvPr>
          <p:cNvSpPr>
            <a:spLocks noGrp="1"/>
          </p:cNvSpPr>
          <p:nvPr>
            <p:ph type="dt" sz="half" idx="10"/>
          </p:nvPr>
        </p:nvSpPr>
        <p:spPr/>
        <p:txBody>
          <a:bodyPr/>
          <a:lstStyle/>
          <a:p>
            <a:endParaRPr lang="es-CO"/>
          </a:p>
        </p:txBody>
      </p:sp>
      <p:sp>
        <p:nvSpPr>
          <p:cNvPr id="4" name="Marcador de pie de página 3">
            <a:extLst>
              <a:ext uri="{FF2B5EF4-FFF2-40B4-BE49-F238E27FC236}">
                <a16:creationId xmlns:a16="http://schemas.microsoft.com/office/drawing/2014/main" id="{D3DD1AD9-50A0-4CE3-8023-232BC37E16F2}"/>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50C54793-A555-45AF-9D0F-A5E36048093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10695830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E0C75C98-5CC7-41D3-8B42-1FBCC7B8604E}"/>
              </a:ext>
            </a:extLst>
          </p:cNvPr>
          <p:cNvSpPr>
            <a:spLocks noGrp="1"/>
          </p:cNvSpPr>
          <p:nvPr>
            <p:ph type="dt" sz="half" idx="10"/>
          </p:nvPr>
        </p:nvSpPr>
        <p:spPr/>
        <p:txBody>
          <a:bodyPr/>
          <a:lstStyle/>
          <a:p>
            <a:endParaRPr lang="es-CO"/>
          </a:p>
        </p:txBody>
      </p:sp>
      <p:sp>
        <p:nvSpPr>
          <p:cNvPr id="3" name="Marcador de pie de página 2">
            <a:extLst>
              <a:ext uri="{FF2B5EF4-FFF2-40B4-BE49-F238E27FC236}">
                <a16:creationId xmlns:a16="http://schemas.microsoft.com/office/drawing/2014/main" id="{A4F9A19D-8546-4DB7-943E-A6C40975FE65}"/>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FE834467-C085-4B5F-A2D6-1D111E7B63C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34297404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815EE5-EEA6-4207-BAC5-8F00A701829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1FEC8231-695B-4518-9BF7-E97F5123873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92354B8A-1CBC-41E0-A9E8-5FB2EDDB22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4F94055-E401-4C0E-938D-614524727DC5}"/>
              </a:ext>
            </a:extLst>
          </p:cNvPr>
          <p:cNvSpPr>
            <a:spLocks noGrp="1"/>
          </p:cNvSpPr>
          <p:nvPr>
            <p:ph type="dt" sz="half" idx="10"/>
          </p:nvPr>
        </p:nvSpPr>
        <p:spPr/>
        <p:txBody>
          <a:bodyPr/>
          <a:lstStyle/>
          <a:p>
            <a:endParaRPr lang="es-CO"/>
          </a:p>
        </p:txBody>
      </p:sp>
      <p:sp>
        <p:nvSpPr>
          <p:cNvPr id="6" name="Marcador de pie de página 5">
            <a:extLst>
              <a:ext uri="{FF2B5EF4-FFF2-40B4-BE49-F238E27FC236}">
                <a16:creationId xmlns:a16="http://schemas.microsoft.com/office/drawing/2014/main" id="{83E66432-8574-4009-93CD-B90204AD67CC}"/>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C6F7A7D2-9509-468B-B64D-B399F9DB324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34490933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E419B6-6D50-4A22-8E95-82EE8602FE7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FEF31C67-83EC-4E09-A025-68611B0A313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88D1882C-D761-4343-B07D-229B12E860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1EC2773-E284-4FB7-96DB-FA2355335C55}"/>
              </a:ext>
            </a:extLst>
          </p:cNvPr>
          <p:cNvSpPr>
            <a:spLocks noGrp="1"/>
          </p:cNvSpPr>
          <p:nvPr>
            <p:ph type="dt" sz="half" idx="10"/>
          </p:nvPr>
        </p:nvSpPr>
        <p:spPr/>
        <p:txBody>
          <a:bodyPr/>
          <a:lstStyle/>
          <a:p>
            <a:endParaRPr lang="es-CO"/>
          </a:p>
        </p:txBody>
      </p:sp>
      <p:sp>
        <p:nvSpPr>
          <p:cNvPr id="6" name="Marcador de pie de página 5">
            <a:extLst>
              <a:ext uri="{FF2B5EF4-FFF2-40B4-BE49-F238E27FC236}">
                <a16:creationId xmlns:a16="http://schemas.microsoft.com/office/drawing/2014/main" id="{D2179AA4-7DC2-4E0C-97DC-8A68C1379C78}"/>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9407F01C-D4A8-4D86-8512-8420DA1E163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220013850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3C9AA4-F3E2-4CC2-A284-905F19ECAC4A}"/>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A6CBEBAE-E35C-4899-864F-A5E0E8FF5631}"/>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2D92D712-9AB0-4144-8F48-C505B6253E04}"/>
              </a:ext>
            </a:extLst>
          </p:cNvPr>
          <p:cNvSpPr>
            <a:spLocks noGrp="1"/>
          </p:cNvSpPr>
          <p:nvPr>
            <p:ph type="dt" sz="half" idx="10"/>
          </p:nvPr>
        </p:nvSpPr>
        <p:spPr/>
        <p:txBody>
          <a:bodyPr/>
          <a:lstStyle/>
          <a:p>
            <a:endParaRPr lang="es-CO"/>
          </a:p>
        </p:txBody>
      </p:sp>
      <p:sp>
        <p:nvSpPr>
          <p:cNvPr id="5" name="Marcador de pie de página 4">
            <a:extLst>
              <a:ext uri="{FF2B5EF4-FFF2-40B4-BE49-F238E27FC236}">
                <a16:creationId xmlns:a16="http://schemas.microsoft.com/office/drawing/2014/main" id="{CD14778D-63AC-4546-B99B-D4A982BAA4F6}"/>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CB497614-F0BD-4E0B-BF9D-789914892DD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13150415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BDCF5863-9BB8-4C9A-9E37-8A7D97BE2D61}"/>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736A67F6-87AB-4DD7-B3BC-A39896F4C897}"/>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A7C8C0A3-B3A6-4C11-B5E9-3F6DDA9113A6}"/>
              </a:ext>
            </a:extLst>
          </p:cNvPr>
          <p:cNvSpPr>
            <a:spLocks noGrp="1"/>
          </p:cNvSpPr>
          <p:nvPr>
            <p:ph type="dt" sz="half" idx="10"/>
          </p:nvPr>
        </p:nvSpPr>
        <p:spPr/>
        <p:txBody>
          <a:bodyPr/>
          <a:lstStyle/>
          <a:p>
            <a:endParaRPr lang="es-CO"/>
          </a:p>
        </p:txBody>
      </p:sp>
      <p:sp>
        <p:nvSpPr>
          <p:cNvPr id="5" name="Marcador de pie de página 4">
            <a:extLst>
              <a:ext uri="{FF2B5EF4-FFF2-40B4-BE49-F238E27FC236}">
                <a16:creationId xmlns:a16="http://schemas.microsoft.com/office/drawing/2014/main" id="{30C6C295-0416-473F-848C-AC3B030A9B14}"/>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9718280-2589-4855-81D4-C63D086CD72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8751463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UdeA-Nueva 1 1">
  <p:cSld name="UdeA-Nueva 1 1">
    <p:spTree>
      <p:nvGrpSpPr>
        <p:cNvPr id="1" name="Shape 36"/>
        <p:cNvGrpSpPr/>
        <p:nvPr/>
      </p:nvGrpSpPr>
      <p:grpSpPr>
        <a:xfrm>
          <a:off x="0" y="0"/>
          <a:ext cx="0" cy="0"/>
          <a:chOff x="0" y="0"/>
          <a:chExt cx="0" cy="0"/>
        </a:xfrm>
      </p:grpSpPr>
      <p:sp>
        <p:nvSpPr>
          <p:cNvPr id="37" name="Google Shape;37;p4"/>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lvl1pPr marL="0" marR="0" lvl="0" indent="0" algn="l" rtl="0">
              <a:lnSpc>
                <a:spcPct val="90000"/>
              </a:lnSpc>
              <a:spcBef>
                <a:spcPts val="0"/>
              </a:spcBef>
              <a:spcAft>
                <a:spcPts val="0"/>
              </a:spcAft>
              <a:buNone/>
              <a:defRPr b="1">
                <a:solidFill>
                  <a:srgbClr val="8CC63E"/>
                </a:solidFill>
                <a:latin typeface="Roboto Slab"/>
                <a:ea typeface="Roboto Slab"/>
                <a:cs typeface="Roboto Slab"/>
                <a:sym typeface="Roboto Slab"/>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8" name="Google Shape;38;p4"/>
          <p:cNvSpPr txBox="1">
            <a:spLocks noGrp="1"/>
          </p:cNvSpPr>
          <p:nvPr>
            <p:ph type="body" idx="1"/>
          </p:nvPr>
        </p:nvSpPr>
        <p:spPr>
          <a:xfrm>
            <a:off x="838200" y="1318001"/>
            <a:ext cx="10515600" cy="48591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Font typeface="Roboto"/>
              <a:buChar char="●"/>
              <a:defRPr>
                <a:latin typeface="Roboto"/>
                <a:ea typeface="Roboto"/>
                <a:cs typeface="Roboto"/>
                <a:sym typeface="Roboto"/>
              </a:defRPr>
            </a:lvl1pPr>
            <a:lvl2pPr marL="914400" lvl="1"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2pPr>
            <a:lvl3pPr marL="1371600" lvl="2"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3pPr>
            <a:lvl4pPr marL="1828800" lvl="3"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4pPr>
            <a:lvl5pPr marL="2286000" lvl="4"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5pPr>
            <a:lvl6pPr marL="2743200" lvl="5"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6pPr>
            <a:lvl7pPr marL="3200400" lvl="6"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7pPr>
            <a:lvl8pPr marL="3657600" lvl="7"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8pPr>
            <a:lvl9pPr marL="4114800" lvl="8"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9pPr>
          </a:lstStyle>
          <a:p>
            <a:endParaRPr/>
          </a:p>
        </p:txBody>
      </p:sp>
      <p:sp>
        <p:nvSpPr>
          <p:cNvPr id="39" name="Google Shape;39;p4"/>
          <p:cNvSpPr txBox="1">
            <a:spLocks noGrp="1"/>
          </p:cNvSpPr>
          <p:nvPr>
            <p:ph type="dt" idx="10"/>
          </p:nvPr>
        </p:nvSpPr>
        <p:spPr>
          <a:xfrm>
            <a:off x="1264600" y="62801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4"/>
          <p:cNvSpPr txBox="1">
            <a:spLocks noGrp="1"/>
          </p:cNvSpPr>
          <p:nvPr>
            <p:ph type="ftr" idx="11"/>
          </p:nvPr>
        </p:nvSpPr>
        <p:spPr>
          <a:xfrm>
            <a:off x="4755775" y="62801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4"/>
          <p:cNvSpPr txBox="1">
            <a:spLocks noGrp="1"/>
          </p:cNvSpPr>
          <p:nvPr>
            <p:ph type="sldNum" idx="12"/>
          </p:nvPr>
        </p:nvSpPr>
        <p:spPr>
          <a:xfrm>
            <a:off x="9144000" y="62801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extLst>
      <p:ext uri="{BB962C8B-B14F-4D97-AF65-F5344CB8AC3E}">
        <p14:creationId xmlns:p14="http://schemas.microsoft.com/office/powerpoint/2010/main" val="32609506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UdeA-Nueva 1 1 1">
  <p:cSld name="UdeA-Nueva 1 1 1">
    <p:spTree>
      <p:nvGrpSpPr>
        <p:cNvPr id="1" name="Shape 48"/>
        <p:cNvGrpSpPr/>
        <p:nvPr/>
      </p:nvGrpSpPr>
      <p:grpSpPr>
        <a:xfrm>
          <a:off x="0" y="0"/>
          <a:ext cx="0" cy="0"/>
          <a:chOff x="0" y="0"/>
          <a:chExt cx="0" cy="0"/>
        </a:xfrm>
      </p:grpSpPr>
      <p:sp>
        <p:nvSpPr>
          <p:cNvPr id="49" name="Google Shape;49;p5"/>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lvl1pPr marL="0" marR="0" lvl="0" indent="0" algn="l" rtl="0">
              <a:lnSpc>
                <a:spcPct val="90000"/>
              </a:lnSpc>
              <a:spcBef>
                <a:spcPts val="0"/>
              </a:spcBef>
              <a:spcAft>
                <a:spcPts val="0"/>
              </a:spcAft>
              <a:buNone/>
              <a:defRPr b="1">
                <a:solidFill>
                  <a:srgbClr val="701E5C"/>
                </a:solidFill>
                <a:latin typeface="Roboto Slab"/>
                <a:ea typeface="Roboto Slab"/>
                <a:cs typeface="Roboto Slab"/>
                <a:sym typeface="Roboto Slab"/>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0" name="Google Shape;50;p5"/>
          <p:cNvSpPr txBox="1">
            <a:spLocks noGrp="1"/>
          </p:cNvSpPr>
          <p:nvPr>
            <p:ph type="body" idx="1"/>
          </p:nvPr>
        </p:nvSpPr>
        <p:spPr>
          <a:xfrm>
            <a:off x="838200" y="1318001"/>
            <a:ext cx="10515600" cy="48591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Font typeface="Roboto"/>
              <a:buChar char="●"/>
              <a:defRPr>
                <a:latin typeface="Roboto"/>
                <a:ea typeface="Roboto"/>
                <a:cs typeface="Roboto"/>
                <a:sym typeface="Roboto"/>
              </a:defRPr>
            </a:lvl1pPr>
            <a:lvl2pPr marL="914400" lvl="1"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2pPr>
            <a:lvl3pPr marL="1371600" lvl="2"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3pPr>
            <a:lvl4pPr marL="1828800" lvl="3"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4pPr>
            <a:lvl5pPr marL="2286000" lvl="4"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5pPr>
            <a:lvl6pPr marL="2743200" lvl="5"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6pPr>
            <a:lvl7pPr marL="3200400" lvl="6"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7pPr>
            <a:lvl8pPr marL="3657600" lvl="7"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8pPr>
            <a:lvl9pPr marL="4114800" lvl="8"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9pPr>
          </a:lstStyle>
          <a:p>
            <a:endParaRPr/>
          </a:p>
        </p:txBody>
      </p:sp>
      <p:sp>
        <p:nvSpPr>
          <p:cNvPr id="51" name="Google Shape;51;p5"/>
          <p:cNvSpPr txBox="1">
            <a:spLocks noGrp="1"/>
          </p:cNvSpPr>
          <p:nvPr>
            <p:ph type="dt" idx="10"/>
          </p:nvPr>
        </p:nvSpPr>
        <p:spPr>
          <a:xfrm>
            <a:off x="1264600" y="62801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2" name="Google Shape;52;p5"/>
          <p:cNvSpPr txBox="1">
            <a:spLocks noGrp="1"/>
          </p:cNvSpPr>
          <p:nvPr>
            <p:ph type="ftr" idx="11"/>
          </p:nvPr>
        </p:nvSpPr>
        <p:spPr>
          <a:xfrm>
            <a:off x="4755775" y="62801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3" name="Google Shape;53;p5"/>
          <p:cNvSpPr txBox="1">
            <a:spLocks noGrp="1"/>
          </p:cNvSpPr>
          <p:nvPr>
            <p:ph type="sldNum" idx="12"/>
          </p:nvPr>
        </p:nvSpPr>
        <p:spPr>
          <a:xfrm>
            <a:off x="9144000" y="62801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extLst>
      <p:ext uri="{BB962C8B-B14F-4D97-AF65-F5344CB8AC3E}">
        <p14:creationId xmlns:p14="http://schemas.microsoft.com/office/powerpoint/2010/main" val="11695377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UdeA-Nueva 1">
  <p:cSld name="UdeA-Nueva 1">
    <p:spTree>
      <p:nvGrpSpPr>
        <p:cNvPr id="1" name="Shape 23"/>
        <p:cNvGrpSpPr/>
        <p:nvPr/>
      </p:nvGrpSpPr>
      <p:grpSpPr>
        <a:xfrm>
          <a:off x="0" y="0"/>
          <a:ext cx="0" cy="0"/>
          <a:chOff x="0" y="0"/>
          <a:chExt cx="0" cy="0"/>
        </a:xfrm>
      </p:grpSpPr>
      <p:sp>
        <p:nvSpPr>
          <p:cNvPr id="24" name="Google Shape;24;p3"/>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lvl1pPr marL="0" marR="0" lvl="0" indent="0" algn="l" rtl="0">
              <a:lnSpc>
                <a:spcPct val="90000"/>
              </a:lnSpc>
              <a:spcBef>
                <a:spcPts val="0"/>
              </a:spcBef>
              <a:spcAft>
                <a:spcPts val="0"/>
              </a:spcAft>
              <a:buNone/>
              <a:defRPr b="1">
                <a:solidFill>
                  <a:srgbClr val="F8A02B"/>
                </a:solidFill>
                <a:latin typeface="Roboto Slab"/>
                <a:ea typeface="Roboto Slab"/>
                <a:cs typeface="Roboto Slab"/>
                <a:sym typeface="Roboto Slab"/>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3"/>
          <p:cNvSpPr txBox="1">
            <a:spLocks noGrp="1"/>
          </p:cNvSpPr>
          <p:nvPr>
            <p:ph type="body" idx="1"/>
          </p:nvPr>
        </p:nvSpPr>
        <p:spPr>
          <a:xfrm>
            <a:off x="838200" y="1318001"/>
            <a:ext cx="10515600" cy="48591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Font typeface="Roboto"/>
              <a:buChar char="●"/>
              <a:defRPr>
                <a:latin typeface="Roboto"/>
                <a:ea typeface="Roboto"/>
                <a:cs typeface="Roboto"/>
                <a:sym typeface="Roboto"/>
              </a:defRPr>
            </a:lvl1pPr>
            <a:lvl2pPr marL="914400" lvl="1"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2pPr>
            <a:lvl3pPr marL="1371600" lvl="2"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3pPr>
            <a:lvl4pPr marL="1828800" lvl="3"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4pPr>
            <a:lvl5pPr marL="2286000" lvl="4"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5pPr>
            <a:lvl6pPr marL="2743200" lvl="5"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6pPr>
            <a:lvl7pPr marL="3200400" lvl="6"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7pPr>
            <a:lvl8pPr marL="3657600" lvl="7"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8pPr>
            <a:lvl9pPr marL="4114800" lvl="8"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9pPr>
          </a:lstStyle>
          <a:p>
            <a:endParaRPr/>
          </a:p>
        </p:txBody>
      </p:sp>
      <p:sp>
        <p:nvSpPr>
          <p:cNvPr id="26" name="Google Shape;26;p3"/>
          <p:cNvSpPr txBox="1">
            <a:spLocks noGrp="1"/>
          </p:cNvSpPr>
          <p:nvPr>
            <p:ph type="dt" idx="10"/>
          </p:nvPr>
        </p:nvSpPr>
        <p:spPr>
          <a:xfrm>
            <a:off x="1204075" y="62974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3"/>
          <p:cNvSpPr txBox="1">
            <a:spLocks noGrp="1"/>
          </p:cNvSpPr>
          <p:nvPr>
            <p:ph type="ftr" idx="11"/>
          </p:nvPr>
        </p:nvSpPr>
        <p:spPr>
          <a:xfrm>
            <a:off x="4861675" y="62801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3"/>
          <p:cNvSpPr txBox="1">
            <a:spLocks noGrp="1"/>
          </p:cNvSpPr>
          <p:nvPr>
            <p:ph type="sldNum" idx="12"/>
          </p:nvPr>
        </p:nvSpPr>
        <p:spPr>
          <a:xfrm>
            <a:off x="9144000" y="62801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extLst>
      <p:ext uri="{BB962C8B-B14F-4D97-AF65-F5344CB8AC3E}">
        <p14:creationId xmlns:p14="http://schemas.microsoft.com/office/powerpoint/2010/main" val="17258388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1E7B29E-FD20-45CE-B6B9-11DBA95B44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D26E3B48-B3F4-480E-AA13-7F98C293F8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BC5C6A56-744E-406A-A3F4-EB0DB79BFC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s-CO"/>
          </a:p>
        </p:txBody>
      </p:sp>
      <p:sp>
        <p:nvSpPr>
          <p:cNvPr id="5" name="Marcador de pie de página 4">
            <a:extLst>
              <a:ext uri="{FF2B5EF4-FFF2-40B4-BE49-F238E27FC236}">
                <a16:creationId xmlns:a16="http://schemas.microsoft.com/office/drawing/2014/main" id="{6AFCF1F0-6C88-47BC-ABAB-E51E406569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687FB6FA-3336-4974-922C-505465D633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2819279301"/>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image" Target="../media/image70.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90.png"/><Relationship Id="rId7"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14.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14.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2.xml"/><Relationship Id="rId1" Type="http://schemas.openxmlformats.org/officeDocument/2006/relationships/slideLayout" Target="../slideLayouts/slideLayout14.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image" Target="../media/image350.png"/><Relationship Id="rId2" Type="http://schemas.openxmlformats.org/officeDocument/2006/relationships/notesSlide" Target="../notesSlides/notesSlide24.xml"/><Relationship Id="rId1" Type="http://schemas.openxmlformats.org/officeDocument/2006/relationships/slideLayout" Target="../slideLayouts/slideLayout14.xml"/><Relationship Id="rId4" Type="http://schemas.openxmlformats.org/officeDocument/2006/relationships/image" Target="../media/image360.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17"/>
          <p:cNvSpPr txBox="1">
            <a:spLocks noGrp="1"/>
          </p:cNvSpPr>
          <p:nvPr>
            <p:ph type="ctrTitle"/>
          </p:nvPr>
        </p:nvSpPr>
        <p:spPr>
          <a:xfrm>
            <a:off x="408724" y="2964875"/>
            <a:ext cx="11021275" cy="922200"/>
          </a:xfrm>
          <a:prstGeom prst="rect">
            <a:avLst/>
          </a:prstGeom>
        </p:spPr>
        <p:txBody>
          <a:bodyPr spcFirstLastPara="1" wrap="square" lIns="91425" tIns="45700" rIns="91425" bIns="45700" anchor="b" anchorCtr="0">
            <a:noAutofit/>
          </a:bodyPr>
          <a:lstStyle/>
          <a:p>
            <a:pPr marL="0" lvl="0" indent="0" rtl="0">
              <a:spcBef>
                <a:spcPts val="0"/>
              </a:spcBef>
              <a:spcAft>
                <a:spcPts val="0"/>
              </a:spcAft>
              <a:buClr>
                <a:schemeClr val="lt1"/>
              </a:buClr>
              <a:buSzPts val="2800"/>
              <a:buFont typeface="Roboto Slab"/>
              <a:buNone/>
            </a:pPr>
            <a:endParaRPr sz="3200" dirty="0">
              <a:solidFill>
                <a:schemeClr val="dk1"/>
              </a:solidFill>
              <a:latin typeface="Arial"/>
              <a:ea typeface="Arial"/>
              <a:cs typeface="Arial"/>
              <a:sym typeface="Arial"/>
            </a:endParaRPr>
          </a:p>
          <a:p>
            <a:pPr marL="0" lvl="0" indent="0" rtl="0">
              <a:spcBef>
                <a:spcPts val="0"/>
              </a:spcBef>
              <a:spcAft>
                <a:spcPts val="0"/>
              </a:spcAft>
              <a:buClr>
                <a:schemeClr val="lt1"/>
              </a:buClr>
              <a:buSzPts val="2800"/>
              <a:buFont typeface="Roboto Slab"/>
              <a:buNone/>
            </a:pPr>
            <a:r>
              <a:rPr lang="es-ES" dirty="0"/>
              <a:t>Matemáticas Discretas I</a:t>
            </a:r>
            <a:endParaRPr sz="3200" dirty="0"/>
          </a:p>
        </p:txBody>
      </p:sp>
      <p:sp>
        <p:nvSpPr>
          <p:cNvPr id="140" name="Google Shape;140;p17"/>
          <p:cNvSpPr txBox="1">
            <a:spLocks noGrp="1"/>
          </p:cNvSpPr>
          <p:nvPr>
            <p:ph type="subTitle" idx="1"/>
          </p:nvPr>
        </p:nvSpPr>
        <p:spPr>
          <a:xfrm>
            <a:off x="1524000" y="3602038"/>
            <a:ext cx="9144000" cy="2725020"/>
          </a:xfrm>
          <a:prstGeom prst="rect">
            <a:avLst/>
          </a:prstGeom>
        </p:spPr>
        <p:txBody>
          <a:bodyPr spcFirstLastPara="1" wrap="square" lIns="91425" tIns="45700" rIns="91425" bIns="45700" anchor="t" anchorCtr="0">
            <a:noAutofit/>
          </a:bodyPr>
          <a:lstStyle/>
          <a:p>
            <a:pPr marL="0" lvl="0" indent="0" algn="ctr" rtl="0">
              <a:spcBef>
                <a:spcPts val="1000"/>
              </a:spcBef>
              <a:spcAft>
                <a:spcPts val="0"/>
              </a:spcAft>
              <a:buNone/>
            </a:pPr>
            <a:r>
              <a:rPr lang="es-ES" sz="3600" b="1" dirty="0"/>
              <a:t>Clase 11 - Demostraciones</a:t>
            </a:r>
          </a:p>
          <a:p>
            <a:pPr marL="0" lvl="0" indent="0" algn="ctr" rtl="0">
              <a:spcBef>
                <a:spcPts val="1000"/>
              </a:spcBef>
              <a:spcAft>
                <a:spcPts val="0"/>
              </a:spcAft>
              <a:buNone/>
            </a:pPr>
            <a:r>
              <a:rPr lang="es-CO" sz="2800" dirty="0"/>
              <a:t>Universidad de Antioquia</a:t>
            </a:r>
          </a:p>
          <a:p>
            <a:r>
              <a:rPr lang="es-CO" sz="2800" dirty="0"/>
              <a:t>Facultad de Ingeniería</a:t>
            </a:r>
          </a:p>
          <a:p>
            <a:r>
              <a:rPr lang="es-CO" sz="2800" dirty="0"/>
              <a:t>Ingeniería de Sistemas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252914" y="96038"/>
            <a:ext cx="11559172" cy="763826"/>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sz="4000" b="0" dirty="0">
                <a:solidFill>
                  <a:schemeClr val="tx1"/>
                </a:solidFill>
                <a:latin typeface="+mj-lt"/>
              </a:rPr>
              <a:t>Equivalencias en lógica de predicados (Parte 1)</a:t>
            </a:r>
            <a:endParaRPr sz="4000" b="0" dirty="0">
              <a:solidFill>
                <a:schemeClr val="tx1"/>
              </a:solidFill>
              <a:latin typeface="+mj-lt"/>
            </a:endParaRPr>
          </a:p>
        </p:txBody>
      </p:sp>
      <p:sp>
        <p:nvSpPr>
          <p:cNvPr id="37" name="CuadroTexto 36">
            <a:extLst>
              <a:ext uri="{FF2B5EF4-FFF2-40B4-BE49-F238E27FC236}">
                <a16:creationId xmlns:a16="http://schemas.microsoft.com/office/drawing/2014/main" id="{BBCE741C-2A86-407D-9A6F-C50DEB856409}"/>
              </a:ext>
            </a:extLst>
          </p:cNvPr>
          <p:cNvSpPr txBox="1"/>
          <p:nvPr/>
        </p:nvSpPr>
        <p:spPr>
          <a:xfrm>
            <a:off x="252914" y="723116"/>
            <a:ext cx="11559172" cy="461665"/>
          </a:xfrm>
          <a:prstGeom prst="rect">
            <a:avLst/>
          </a:prstGeom>
          <a:noFill/>
        </p:spPr>
        <p:txBody>
          <a:bodyPr wrap="square" rtlCol="0">
            <a:spAutoFit/>
          </a:bodyPr>
          <a:lstStyle/>
          <a:p>
            <a:r>
              <a:rPr lang="es-MX" sz="2400" b="1" dirty="0">
                <a:ea typeface="Roboto" panose="02000000000000000000" pitchFamily="2" charset="0"/>
              </a:rPr>
              <a:t>Formas Aristotélicas</a:t>
            </a:r>
          </a:p>
        </p:txBody>
      </p:sp>
      <p:sp>
        <p:nvSpPr>
          <p:cNvPr id="14" name="Google Shape;310;p34">
            <a:extLst>
              <a:ext uri="{FF2B5EF4-FFF2-40B4-BE49-F238E27FC236}">
                <a16:creationId xmlns:a16="http://schemas.microsoft.com/office/drawing/2014/main" id="{44AC130B-3A31-42BD-A7D5-934CE25E5DD0}"/>
              </a:ext>
            </a:extLst>
          </p:cNvPr>
          <p:cNvSpPr txBox="1">
            <a:spLocks/>
          </p:cNvSpPr>
          <p:nvPr/>
        </p:nvSpPr>
        <p:spPr>
          <a:xfrm>
            <a:off x="151314" y="976635"/>
            <a:ext cx="11787772" cy="76382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latin typeface="+mn-lt"/>
                <a:ea typeface="Roboto" panose="02000000000000000000" pitchFamily="2" charset="0"/>
              </a:rPr>
              <a:t>Las cuatro formas aristotélicas son proposiciones categóricas básicas que forman la base del silogismo clásico en la lógica aristotélica:</a:t>
            </a:r>
          </a:p>
          <a:p>
            <a:endParaRPr lang="es-MX" sz="2000" dirty="0">
              <a:latin typeface="+mn-lt"/>
              <a:ea typeface="Roboto" panose="02000000000000000000" pitchFamily="2" charset="0"/>
            </a:endParaRPr>
          </a:p>
        </p:txBody>
      </p:sp>
      <mc:AlternateContent xmlns:mc="http://schemas.openxmlformats.org/markup-compatibility/2006" xmlns:a14="http://schemas.microsoft.com/office/drawing/2010/main">
        <mc:Choice Requires="a14">
          <p:graphicFrame>
            <p:nvGraphicFramePr>
              <p:cNvPr id="5" name="Tabla 5">
                <a:extLst>
                  <a:ext uri="{FF2B5EF4-FFF2-40B4-BE49-F238E27FC236}">
                    <a16:creationId xmlns:a16="http://schemas.microsoft.com/office/drawing/2014/main" id="{567B3890-BEE3-4114-BD50-4F8AFFD8D302}"/>
                  </a:ext>
                </a:extLst>
              </p:cNvPr>
              <p:cNvGraphicFramePr>
                <a:graphicFrameLocks noGrp="1"/>
              </p:cNvGraphicFramePr>
              <p:nvPr/>
            </p:nvGraphicFramePr>
            <p:xfrm>
              <a:off x="533692" y="1870493"/>
              <a:ext cx="11124616" cy="4620006"/>
            </p:xfrm>
            <a:graphic>
              <a:graphicData uri="http://schemas.openxmlformats.org/drawingml/2006/table">
                <a:tbl>
                  <a:tblPr firstRow="1" bandRow="1">
                    <a:tableStyleId>{AD6A3598-7CB8-4345-8D95-17CE05F158A0}</a:tableStyleId>
                  </a:tblPr>
                  <a:tblGrid>
                    <a:gridCol w="1270819">
                      <a:extLst>
                        <a:ext uri="{9D8B030D-6E8A-4147-A177-3AD203B41FA5}">
                          <a16:colId xmlns:a16="http://schemas.microsoft.com/office/drawing/2014/main" val="1182511114"/>
                        </a:ext>
                      </a:extLst>
                    </a:gridCol>
                    <a:gridCol w="1295400">
                      <a:extLst>
                        <a:ext uri="{9D8B030D-6E8A-4147-A177-3AD203B41FA5}">
                          <a16:colId xmlns:a16="http://schemas.microsoft.com/office/drawing/2014/main" val="37487"/>
                        </a:ext>
                      </a:extLst>
                    </a:gridCol>
                    <a:gridCol w="1498600">
                      <a:extLst>
                        <a:ext uri="{9D8B030D-6E8A-4147-A177-3AD203B41FA5}">
                          <a16:colId xmlns:a16="http://schemas.microsoft.com/office/drawing/2014/main" val="3055286892"/>
                        </a:ext>
                      </a:extLst>
                    </a:gridCol>
                    <a:gridCol w="3162300">
                      <a:extLst>
                        <a:ext uri="{9D8B030D-6E8A-4147-A177-3AD203B41FA5}">
                          <a16:colId xmlns:a16="http://schemas.microsoft.com/office/drawing/2014/main" val="4284222693"/>
                        </a:ext>
                      </a:extLst>
                    </a:gridCol>
                    <a:gridCol w="3897497">
                      <a:extLst>
                        <a:ext uri="{9D8B030D-6E8A-4147-A177-3AD203B41FA5}">
                          <a16:colId xmlns:a16="http://schemas.microsoft.com/office/drawing/2014/main" val="558989908"/>
                        </a:ext>
                      </a:extLst>
                    </a:gridCol>
                  </a:tblGrid>
                  <a:tr h="127807">
                    <a:tc>
                      <a:txBody>
                        <a:bodyPr/>
                        <a:lstStyle/>
                        <a:p>
                          <a:pPr algn="ctr"/>
                          <a:r>
                            <a:rPr lang="es-CO" sz="2000" b="1" dirty="0">
                              <a:solidFill>
                                <a:schemeClr val="bg1"/>
                              </a:solidFill>
                              <a:latin typeface="+mn-lt"/>
                              <a:ea typeface="Roboto" panose="02000000000000000000" pitchFamily="2" charset="0"/>
                            </a:rPr>
                            <a:t>Forma</a:t>
                          </a:r>
                        </a:p>
                      </a:txBody>
                      <a:tcPr anchor="ctr">
                        <a:solidFill>
                          <a:schemeClr val="tx1"/>
                        </a:solidFill>
                      </a:tcPr>
                    </a:tc>
                    <a:tc>
                      <a:txBody>
                        <a:bodyPr/>
                        <a:lstStyle/>
                        <a:p>
                          <a:pPr algn="ctr"/>
                          <a:r>
                            <a:rPr lang="es-CO" sz="2000" b="1" dirty="0">
                              <a:solidFill>
                                <a:schemeClr val="bg1"/>
                              </a:solidFill>
                              <a:latin typeface="+mn-lt"/>
                              <a:ea typeface="Roboto" panose="02000000000000000000" pitchFamily="2" charset="0"/>
                            </a:rPr>
                            <a:t>Enunciado</a:t>
                          </a:r>
                        </a:p>
                      </a:txBody>
                      <a:tcPr anchor="ctr">
                        <a:solidFill>
                          <a:schemeClr val="tx1"/>
                        </a:solidFill>
                      </a:tcPr>
                    </a:tc>
                    <a:tc>
                      <a:txBody>
                        <a:bodyPr/>
                        <a:lstStyle/>
                        <a:p>
                          <a:pPr algn="ctr"/>
                          <a:r>
                            <a:rPr lang="es-CO" sz="2000" b="1" dirty="0">
                              <a:solidFill>
                                <a:schemeClr val="bg1"/>
                              </a:solidFill>
                              <a:latin typeface="+mn-lt"/>
                              <a:ea typeface="Roboto" panose="02000000000000000000" pitchFamily="2" charset="0"/>
                            </a:rPr>
                            <a:t>Forma Aristotélica</a:t>
                          </a:r>
                        </a:p>
                      </a:txBody>
                      <a:tcPr anchor="ct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solidFill>
                                <a:schemeClr val="bg1"/>
                              </a:solidFill>
                              <a:latin typeface="+mn-lt"/>
                              <a:ea typeface="Roboto" panose="02000000000000000000" pitchFamily="2" charset="0"/>
                            </a:rPr>
                            <a:t>Lógica de predicados</a:t>
                          </a:r>
                        </a:p>
                      </a:txBody>
                      <a:tcPr anchor="ct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solidFill>
                                <a:schemeClr val="bg1"/>
                              </a:solidFill>
                              <a:latin typeface="+mn-lt"/>
                              <a:ea typeface="Roboto" panose="02000000000000000000" pitchFamily="2" charset="0"/>
                            </a:rPr>
                            <a:t>Ejemplo</a:t>
                          </a:r>
                        </a:p>
                      </a:txBody>
                      <a:tcPr anchor="ctr">
                        <a:solidFill>
                          <a:schemeClr val="tx1"/>
                        </a:solidFill>
                      </a:tcPr>
                    </a:tc>
                    <a:extLst>
                      <a:ext uri="{0D108BD9-81ED-4DB2-BD59-A6C34878D82A}">
                        <a16:rowId xmlns:a16="http://schemas.microsoft.com/office/drawing/2014/main" val="557287797"/>
                      </a:ext>
                    </a:extLst>
                  </a:tr>
                  <a:tr h="127807">
                    <a:tc>
                      <a:txBody>
                        <a:bodyPr/>
                        <a:lstStyle/>
                        <a:p>
                          <a:r>
                            <a:rPr lang="es-MX" sz="2000" b="1" dirty="0">
                              <a:latin typeface="+mn-lt"/>
                              <a:ea typeface="Roboto" panose="02000000000000000000" pitchFamily="2" charset="0"/>
                            </a:rPr>
                            <a:t>Forma A</a:t>
                          </a:r>
                          <a:r>
                            <a:rPr lang="es-MX" sz="2000" b="0" dirty="0">
                              <a:latin typeface="+mn-lt"/>
                              <a:ea typeface="Roboto" panose="02000000000000000000" pitchFamily="2" charset="0"/>
                            </a:rPr>
                            <a:t>: Universal afirmativa</a:t>
                          </a:r>
                          <a:endParaRPr lang="es-CO" sz="2000" b="0" dirty="0">
                            <a:latin typeface="+mn-lt"/>
                            <a:ea typeface="Roboto" panose="02000000000000000000" pitchFamily="2"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2000" dirty="0">
                              <a:latin typeface="+mn-lt"/>
                              <a:ea typeface="Roboto" panose="02000000000000000000" pitchFamily="2" charset="0"/>
                            </a:rPr>
                            <a:t>Todos los S son P</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𝐴</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𝑆</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𝑃</m:t>
                                    </m:r>
                                  </m:e>
                                </m:d>
                              </m:oMath>
                            </m:oMathPara>
                          </a14:m>
                          <a:endParaRPr lang="es-MX" sz="2000" dirty="0">
                            <a:latin typeface="+mn-lt"/>
                            <a:ea typeface="Roboto" panose="02000000000000000000" pitchFamily="2"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𝑥</m:t>
                                </m:r>
                                <m:r>
                                  <a:rPr lang="es-MX" sz="2000" b="0" i="1" smtClean="0">
                                    <a:latin typeface="Cambria Math" panose="02040503050406030204" pitchFamily="18" charset="0"/>
                                    <a:ea typeface="Roboto" panose="02000000000000000000" pitchFamily="2" charset="0"/>
                                  </a:rPr>
                                  <m:t> </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𝑆</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𝑥</m:t>
                                        </m:r>
                                      </m:e>
                                    </m:d>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𝑃</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𝑥</m:t>
                                        </m:r>
                                      </m:e>
                                    </m:d>
                                  </m:e>
                                </m:d>
                              </m:oMath>
                            </m:oMathPara>
                          </a14:m>
                          <a:endParaRPr lang="es-MX" sz="2000" dirty="0">
                            <a:latin typeface="+mn-lt"/>
                            <a:ea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MX" sz="2000" b="1" dirty="0">
                            <a:latin typeface="+mn-lt"/>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2000" b="1" dirty="0">
                              <a:latin typeface="+mn-lt"/>
                            </a:rPr>
                            <a:t>Interpretación:</a:t>
                          </a:r>
                          <a:r>
                            <a:rPr lang="es-MX" sz="2000" dirty="0">
                              <a:latin typeface="+mn-lt"/>
                            </a:rPr>
                            <a:t> Para todo x, si x es un S, entonces x es un P.</a:t>
                          </a:r>
                          <a:endParaRPr lang="es-MX" sz="2000" dirty="0">
                            <a:latin typeface="+mn-lt"/>
                            <a:ea typeface="Roboto" panose="02000000000000000000" pitchFamily="2" charset="0"/>
                          </a:endParaRPr>
                        </a:p>
                      </a:txBody>
                      <a:tcPr anchor="ctr"/>
                    </a:tc>
                    <a:tc>
                      <a:txBody>
                        <a:bodyPr/>
                        <a:lstStyle/>
                        <a:p>
                          <a:r>
                            <a:rPr lang="es-CO" sz="2000" b="1" dirty="0">
                              <a:latin typeface="+mn-lt"/>
                              <a:ea typeface="Roboto" panose="02000000000000000000" pitchFamily="2" charset="0"/>
                            </a:rPr>
                            <a:t>Ejemplo</a:t>
                          </a:r>
                          <a:r>
                            <a:rPr lang="es-CO" sz="2000" dirty="0">
                              <a:latin typeface="+mn-lt"/>
                              <a:ea typeface="Roboto" panose="02000000000000000000" pitchFamily="2" charset="0"/>
                            </a:rPr>
                            <a:t>: Todos los hombres son mortales.</a:t>
                          </a:r>
                        </a:p>
                        <a:p>
                          <a:endParaRPr lang="es-CO" sz="2000" dirty="0">
                            <a:latin typeface="+mn-lt"/>
                            <a:ea typeface="Roboto" panose="02000000000000000000" pitchFamily="2" charset="0"/>
                          </a:endParaRPr>
                        </a:p>
                        <a:p>
                          <a:r>
                            <a:rPr lang="es-CO" sz="2000" b="1" dirty="0">
                              <a:latin typeface="+mn-lt"/>
                              <a:ea typeface="Roboto" panose="02000000000000000000" pitchFamily="2" charset="0"/>
                            </a:rPr>
                            <a:t>Expresión</a:t>
                          </a:r>
                          <a:r>
                            <a:rPr lang="es-CO" sz="2000" dirty="0">
                              <a:latin typeface="+mn-lt"/>
                              <a:ea typeface="Roboto" panose="02000000000000000000" pitchFamily="2" charset="0"/>
                            </a:rPr>
                            <a:t>:</a:t>
                          </a:r>
                        </a:p>
                        <a:p>
                          <a:endParaRPr lang="es-CO" sz="2000" dirty="0">
                            <a:latin typeface="+mn-lt"/>
                            <a:ea typeface="Roboto" panose="02000000000000000000" pitchFamily="2" charset="0"/>
                          </a:endParaRPr>
                        </a:p>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𝑥</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h𝑜𝑚𝑏𝑟𝑒</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𝑥</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𝑚𝑜𝑟𝑡𝑎𝑙</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𝑥</m:t>
                                        </m:r>
                                      </m:e>
                                    </m:d>
                                  </m:e>
                                </m:d>
                              </m:oMath>
                            </m:oMathPara>
                          </a14:m>
                          <a:endParaRPr lang="es-CO" sz="2000" dirty="0">
                            <a:latin typeface="+mn-lt"/>
                            <a:ea typeface="Roboto" panose="02000000000000000000" pitchFamily="2" charset="0"/>
                          </a:endParaRPr>
                        </a:p>
                      </a:txBody>
                      <a:tcPr anchor="ctr">
                        <a:solidFill>
                          <a:schemeClr val="bg1"/>
                        </a:solidFill>
                      </a:tcPr>
                    </a:tc>
                    <a:extLst>
                      <a:ext uri="{0D108BD9-81ED-4DB2-BD59-A6C34878D82A}">
                        <a16:rowId xmlns:a16="http://schemas.microsoft.com/office/drawing/2014/main" val="625442380"/>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2000" b="1" dirty="0">
                              <a:latin typeface="+mn-lt"/>
                              <a:ea typeface="Roboto" panose="02000000000000000000" pitchFamily="2" charset="0"/>
                            </a:rPr>
                            <a:t>Forma E</a:t>
                          </a:r>
                          <a:r>
                            <a:rPr lang="es-MX" sz="2000" b="0" dirty="0">
                              <a:latin typeface="+mn-lt"/>
                              <a:ea typeface="Roboto" panose="02000000000000000000" pitchFamily="2" charset="0"/>
                            </a:rPr>
                            <a:t>: Universal negativa</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2000" dirty="0">
                              <a:latin typeface="+mn-lt"/>
                              <a:ea typeface="Roboto" panose="02000000000000000000" pitchFamily="2" charset="0"/>
                            </a:rPr>
                            <a:t>Ningún S es P</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𝐸</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𝑆</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𝑃</m:t>
                                    </m:r>
                                  </m:e>
                                </m:d>
                              </m:oMath>
                            </m:oMathPara>
                          </a14:m>
                          <a:endParaRPr lang="es-MX" sz="2000" dirty="0">
                            <a:latin typeface="+mn-lt"/>
                            <a:ea typeface="Roboto" panose="02000000000000000000" pitchFamily="2"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𝑥</m:t>
                                </m:r>
                                <m:r>
                                  <a:rPr lang="es-MX" sz="2000" b="0" i="1" smtClean="0">
                                    <a:latin typeface="Cambria Math" panose="02040503050406030204" pitchFamily="18" charset="0"/>
                                    <a:ea typeface="Roboto" panose="02000000000000000000" pitchFamily="2" charset="0"/>
                                  </a:rPr>
                                  <m:t> </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𝑆</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𝑥</m:t>
                                        </m:r>
                                      </m:e>
                                    </m:d>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𝑃</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𝑥</m:t>
                                        </m:r>
                                      </m:e>
                                    </m:d>
                                  </m:e>
                                </m:d>
                              </m:oMath>
                            </m:oMathPara>
                          </a14:m>
                          <a:endParaRPr lang="es-MX" sz="2000" dirty="0">
                            <a:latin typeface="+mn-lt"/>
                            <a:ea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MX" sz="2000" b="1" dirty="0">
                            <a:latin typeface="+mn-lt"/>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2000" b="1" dirty="0">
                              <a:latin typeface="+mn-lt"/>
                            </a:rPr>
                            <a:t>Interpretación:</a:t>
                          </a:r>
                          <a:r>
                            <a:rPr lang="es-MX" sz="2000" dirty="0">
                              <a:latin typeface="+mn-lt"/>
                            </a:rPr>
                            <a:t> Para todo x, si x es un S, entonces x no es un P.</a:t>
                          </a:r>
                          <a:endParaRPr lang="es-MX" sz="2000" dirty="0">
                            <a:latin typeface="+mn-lt"/>
                            <a:ea typeface="Roboto" panose="02000000000000000000" pitchFamily="2" charset="0"/>
                          </a:endParaRPr>
                        </a:p>
                      </a:txBody>
                      <a:tcPr anchor="ctr"/>
                    </a:tc>
                    <a:tc>
                      <a:txBody>
                        <a:bodyPr/>
                        <a:lstStyle/>
                        <a:p>
                          <a:r>
                            <a:rPr lang="es-CO" sz="2000" b="1" dirty="0">
                              <a:latin typeface="+mn-lt"/>
                              <a:ea typeface="Roboto" panose="02000000000000000000" pitchFamily="2" charset="0"/>
                            </a:rPr>
                            <a:t>Ejemplo</a:t>
                          </a:r>
                          <a:r>
                            <a:rPr lang="es-CO" sz="2000" dirty="0">
                              <a:latin typeface="+mn-lt"/>
                              <a:ea typeface="Roboto" panose="02000000000000000000" pitchFamily="2" charset="0"/>
                            </a:rPr>
                            <a:t>: Ningún cuadrado es circulo.</a:t>
                          </a:r>
                        </a:p>
                        <a:p>
                          <a:endParaRPr lang="es-CO" sz="2000" dirty="0">
                            <a:latin typeface="+mn-lt"/>
                            <a:ea typeface="Roboto" panose="02000000000000000000" pitchFamily="2" charset="0"/>
                          </a:endParaRPr>
                        </a:p>
                        <a:p>
                          <a:r>
                            <a:rPr lang="es-CO" sz="2000" b="1" dirty="0">
                              <a:latin typeface="+mn-lt"/>
                              <a:ea typeface="Roboto" panose="02000000000000000000" pitchFamily="2" charset="0"/>
                            </a:rPr>
                            <a:t>Expresión</a:t>
                          </a:r>
                          <a:r>
                            <a:rPr lang="es-CO" sz="2000" dirty="0">
                              <a:latin typeface="+mn-lt"/>
                              <a:ea typeface="Roboto" panose="02000000000000000000" pitchFamily="2" charset="0"/>
                            </a:rPr>
                            <a:t>:</a:t>
                          </a:r>
                        </a:p>
                        <a:p>
                          <a:endParaRPr lang="es-CO" sz="2000" dirty="0">
                            <a:latin typeface="+mn-lt"/>
                            <a:ea typeface="Roboto" panose="02000000000000000000" pitchFamily="2" charset="0"/>
                          </a:endParaRPr>
                        </a:p>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𝑥</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𝑐𝑢𝑎𝑑𝑟𝑎𝑑𝑜</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𝑥</m:t>
                                        </m:r>
                                      </m:e>
                                    </m:d>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Cambria Math" panose="02040503050406030204" pitchFamily="18" charset="0"/>
                                      </a:rPr>
                                      <m:t>𝑐𝑖𝑟𝑐𝑢𝑙𝑜</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𝑥</m:t>
                                        </m:r>
                                      </m:e>
                                    </m:d>
                                  </m:e>
                                </m:d>
                              </m:oMath>
                            </m:oMathPara>
                          </a14:m>
                          <a:endParaRPr lang="es-CO" sz="2000" dirty="0">
                            <a:latin typeface="+mn-lt"/>
                            <a:ea typeface="Roboto" panose="02000000000000000000" pitchFamily="2" charset="0"/>
                          </a:endParaRPr>
                        </a:p>
                      </a:txBody>
                      <a:tcPr anchor="ctr">
                        <a:solidFill>
                          <a:schemeClr val="bg1"/>
                        </a:solidFill>
                      </a:tcPr>
                    </a:tc>
                    <a:extLst>
                      <a:ext uri="{0D108BD9-81ED-4DB2-BD59-A6C34878D82A}">
                        <a16:rowId xmlns:a16="http://schemas.microsoft.com/office/drawing/2014/main" val="409398036"/>
                      </a:ext>
                    </a:extLst>
                  </a:tr>
                </a:tbl>
              </a:graphicData>
            </a:graphic>
          </p:graphicFrame>
        </mc:Choice>
        <mc:Fallback xmlns="">
          <p:graphicFrame>
            <p:nvGraphicFramePr>
              <p:cNvPr id="5" name="Tabla 5">
                <a:extLst>
                  <a:ext uri="{FF2B5EF4-FFF2-40B4-BE49-F238E27FC236}">
                    <a16:creationId xmlns:a16="http://schemas.microsoft.com/office/drawing/2014/main" id="{567B3890-BEE3-4114-BD50-4F8AFFD8D302}"/>
                  </a:ext>
                </a:extLst>
              </p:cNvPr>
              <p:cNvGraphicFramePr>
                <a:graphicFrameLocks noGrp="1"/>
              </p:cNvGraphicFramePr>
              <p:nvPr>
                <p:extLst>
                  <p:ext uri="{D42A27DB-BD31-4B8C-83A1-F6EECF244321}">
                    <p14:modId xmlns:p14="http://schemas.microsoft.com/office/powerpoint/2010/main" val="2492268814"/>
                  </p:ext>
                </p:extLst>
              </p:nvPr>
            </p:nvGraphicFramePr>
            <p:xfrm>
              <a:off x="533692" y="1870493"/>
              <a:ext cx="11124616" cy="4620006"/>
            </p:xfrm>
            <a:graphic>
              <a:graphicData uri="http://schemas.openxmlformats.org/drawingml/2006/table">
                <a:tbl>
                  <a:tblPr firstRow="1" bandRow="1">
                    <a:tableStyleId>{AD6A3598-7CB8-4345-8D95-17CE05F158A0}</a:tableStyleId>
                  </a:tblPr>
                  <a:tblGrid>
                    <a:gridCol w="1270819">
                      <a:extLst>
                        <a:ext uri="{9D8B030D-6E8A-4147-A177-3AD203B41FA5}">
                          <a16:colId xmlns:a16="http://schemas.microsoft.com/office/drawing/2014/main" val="1182511114"/>
                        </a:ext>
                      </a:extLst>
                    </a:gridCol>
                    <a:gridCol w="1295400">
                      <a:extLst>
                        <a:ext uri="{9D8B030D-6E8A-4147-A177-3AD203B41FA5}">
                          <a16:colId xmlns:a16="http://schemas.microsoft.com/office/drawing/2014/main" val="37487"/>
                        </a:ext>
                      </a:extLst>
                    </a:gridCol>
                    <a:gridCol w="1498600">
                      <a:extLst>
                        <a:ext uri="{9D8B030D-6E8A-4147-A177-3AD203B41FA5}">
                          <a16:colId xmlns:a16="http://schemas.microsoft.com/office/drawing/2014/main" val="3055286892"/>
                        </a:ext>
                      </a:extLst>
                    </a:gridCol>
                    <a:gridCol w="3162300">
                      <a:extLst>
                        <a:ext uri="{9D8B030D-6E8A-4147-A177-3AD203B41FA5}">
                          <a16:colId xmlns:a16="http://schemas.microsoft.com/office/drawing/2014/main" val="4284222693"/>
                        </a:ext>
                      </a:extLst>
                    </a:gridCol>
                    <a:gridCol w="3897497">
                      <a:extLst>
                        <a:ext uri="{9D8B030D-6E8A-4147-A177-3AD203B41FA5}">
                          <a16:colId xmlns:a16="http://schemas.microsoft.com/office/drawing/2014/main" val="558989908"/>
                        </a:ext>
                      </a:extLst>
                    </a:gridCol>
                  </a:tblGrid>
                  <a:tr h="701040">
                    <a:tc>
                      <a:txBody>
                        <a:bodyPr/>
                        <a:lstStyle/>
                        <a:p>
                          <a:pPr algn="ctr"/>
                          <a:r>
                            <a:rPr lang="es-CO" sz="2000" b="1" dirty="0">
                              <a:solidFill>
                                <a:schemeClr val="bg1"/>
                              </a:solidFill>
                              <a:latin typeface="+mn-lt"/>
                              <a:ea typeface="Roboto" panose="02000000000000000000" pitchFamily="2" charset="0"/>
                            </a:rPr>
                            <a:t>Forma</a:t>
                          </a:r>
                        </a:p>
                      </a:txBody>
                      <a:tcPr anchor="ctr">
                        <a:solidFill>
                          <a:schemeClr val="tx1"/>
                        </a:solidFill>
                      </a:tcPr>
                    </a:tc>
                    <a:tc>
                      <a:txBody>
                        <a:bodyPr/>
                        <a:lstStyle/>
                        <a:p>
                          <a:pPr algn="ctr"/>
                          <a:r>
                            <a:rPr lang="es-CO" sz="2000" b="1" dirty="0">
                              <a:solidFill>
                                <a:schemeClr val="bg1"/>
                              </a:solidFill>
                              <a:latin typeface="+mn-lt"/>
                              <a:ea typeface="Roboto" panose="02000000000000000000" pitchFamily="2" charset="0"/>
                            </a:rPr>
                            <a:t>Enunciado</a:t>
                          </a:r>
                        </a:p>
                      </a:txBody>
                      <a:tcPr anchor="ctr">
                        <a:solidFill>
                          <a:schemeClr val="tx1"/>
                        </a:solidFill>
                      </a:tcPr>
                    </a:tc>
                    <a:tc>
                      <a:txBody>
                        <a:bodyPr/>
                        <a:lstStyle/>
                        <a:p>
                          <a:pPr algn="ctr"/>
                          <a:r>
                            <a:rPr lang="es-CO" sz="2000" b="1" dirty="0">
                              <a:solidFill>
                                <a:schemeClr val="bg1"/>
                              </a:solidFill>
                              <a:latin typeface="+mn-lt"/>
                              <a:ea typeface="Roboto" panose="02000000000000000000" pitchFamily="2" charset="0"/>
                            </a:rPr>
                            <a:t>Forma Aristotélica</a:t>
                          </a:r>
                        </a:p>
                      </a:txBody>
                      <a:tcPr anchor="ct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solidFill>
                                <a:schemeClr val="bg1"/>
                              </a:solidFill>
                              <a:latin typeface="+mn-lt"/>
                              <a:ea typeface="Roboto" panose="02000000000000000000" pitchFamily="2" charset="0"/>
                            </a:rPr>
                            <a:t>Lógica de predicados</a:t>
                          </a:r>
                        </a:p>
                      </a:txBody>
                      <a:tcPr anchor="ct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solidFill>
                                <a:schemeClr val="bg1"/>
                              </a:solidFill>
                              <a:latin typeface="+mn-lt"/>
                              <a:ea typeface="Roboto" panose="02000000000000000000" pitchFamily="2" charset="0"/>
                            </a:rPr>
                            <a:t>Ejemplo</a:t>
                          </a:r>
                        </a:p>
                      </a:txBody>
                      <a:tcPr anchor="ctr">
                        <a:solidFill>
                          <a:schemeClr val="tx1"/>
                        </a:solidFill>
                      </a:tcPr>
                    </a:tc>
                    <a:extLst>
                      <a:ext uri="{0D108BD9-81ED-4DB2-BD59-A6C34878D82A}">
                        <a16:rowId xmlns:a16="http://schemas.microsoft.com/office/drawing/2014/main" val="557287797"/>
                      </a:ext>
                    </a:extLst>
                  </a:tr>
                  <a:tr h="1959483">
                    <a:tc>
                      <a:txBody>
                        <a:bodyPr/>
                        <a:lstStyle/>
                        <a:p>
                          <a:r>
                            <a:rPr lang="es-MX" sz="2000" b="1" dirty="0">
                              <a:latin typeface="+mn-lt"/>
                              <a:ea typeface="Roboto" panose="02000000000000000000" pitchFamily="2" charset="0"/>
                            </a:rPr>
                            <a:t>Forma A</a:t>
                          </a:r>
                          <a:r>
                            <a:rPr lang="es-MX" sz="2000" b="0" dirty="0">
                              <a:latin typeface="+mn-lt"/>
                              <a:ea typeface="Roboto" panose="02000000000000000000" pitchFamily="2" charset="0"/>
                            </a:rPr>
                            <a:t>: Universal afirmativa</a:t>
                          </a:r>
                          <a:endParaRPr lang="es-CO" sz="2000" b="0" dirty="0">
                            <a:latin typeface="+mn-lt"/>
                            <a:ea typeface="Roboto" panose="02000000000000000000" pitchFamily="2"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2000" dirty="0">
                              <a:latin typeface="+mn-lt"/>
                              <a:ea typeface="Roboto" panose="02000000000000000000" pitchFamily="2" charset="0"/>
                            </a:rPr>
                            <a:t>Todos los S son P</a:t>
                          </a:r>
                        </a:p>
                      </a:txBody>
                      <a:tcPr anchor="ctr"/>
                    </a:tc>
                    <a:tc>
                      <a:txBody>
                        <a:bodyPr/>
                        <a:lstStyle/>
                        <a:p>
                          <a:endParaRPr lang="es-CO"/>
                        </a:p>
                      </a:txBody>
                      <a:tcPr anchor="ctr">
                        <a:blipFill>
                          <a:blip r:embed="rId3"/>
                          <a:stretch>
                            <a:fillRect l="-171545" t="-37267" r="-471951" b="-100621"/>
                          </a:stretch>
                        </a:blipFill>
                      </a:tcPr>
                    </a:tc>
                    <a:tc>
                      <a:txBody>
                        <a:bodyPr/>
                        <a:lstStyle/>
                        <a:p>
                          <a:endParaRPr lang="es-CO"/>
                        </a:p>
                      </a:txBody>
                      <a:tcPr anchor="ctr">
                        <a:blipFill>
                          <a:blip r:embed="rId3"/>
                          <a:stretch>
                            <a:fillRect l="-128709" t="-37267" r="-123699" b="-100621"/>
                          </a:stretch>
                        </a:blipFill>
                      </a:tcPr>
                    </a:tc>
                    <a:tc>
                      <a:txBody>
                        <a:bodyPr/>
                        <a:lstStyle/>
                        <a:p>
                          <a:endParaRPr lang="es-CO"/>
                        </a:p>
                      </a:txBody>
                      <a:tcPr anchor="ctr">
                        <a:blipFill>
                          <a:blip r:embed="rId3"/>
                          <a:stretch>
                            <a:fillRect l="-185469" t="-37267" r="-313" b="-100621"/>
                          </a:stretch>
                        </a:blipFill>
                      </a:tcPr>
                    </a:tc>
                    <a:extLst>
                      <a:ext uri="{0D108BD9-81ED-4DB2-BD59-A6C34878D82A}">
                        <a16:rowId xmlns:a16="http://schemas.microsoft.com/office/drawing/2014/main" val="625442380"/>
                      </a:ext>
                    </a:extLst>
                  </a:tr>
                  <a:tr h="195948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2000" b="1" dirty="0">
                              <a:latin typeface="+mn-lt"/>
                              <a:ea typeface="Roboto" panose="02000000000000000000" pitchFamily="2" charset="0"/>
                            </a:rPr>
                            <a:t>Forma E</a:t>
                          </a:r>
                          <a:r>
                            <a:rPr lang="es-MX" sz="2000" b="0" dirty="0">
                              <a:latin typeface="+mn-lt"/>
                              <a:ea typeface="Roboto" panose="02000000000000000000" pitchFamily="2" charset="0"/>
                            </a:rPr>
                            <a:t>: Universal negativa</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2000" dirty="0">
                              <a:latin typeface="+mn-lt"/>
                              <a:ea typeface="Roboto" panose="02000000000000000000" pitchFamily="2" charset="0"/>
                            </a:rPr>
                            <a:t>Ningún S es P</a:t>
                          </a:r>
                        </a:p>
                      </a:txBody>
                      <a:tcPr anchor="ctr"/>
                    </a:tc>
                    <a:tc>
                      <a:txBody>
                        <a:bodyPr/>
                        <a:lstStyle/>
                        <a:p>
                          <a:endParaRPr lang="es-CO"/>
                        </a:p>
                      </a:txBody>
                      <a:tcPr anchor="ctr">
                        <a:blipFill>
                          <a:blip r:embed="rId3"/>
                          <a:stretch>
                            <a:fillRect l="-171545" t="-137267" r="-471951" b="-621"/>
                          </a:stretch>
                        </a:blipFill>
                      </a:tcPr>
                    </a:tc>
                    <a:tc>
                      <a:txBody>
                        <a:bodyPr/>
                        <a:lstStyle/>
                        <a:p>
                          <a:endParaRPr lang="es-CO"/>
                        </a:p>
                      </a:txBody>
                      <a:tcPr anchor="ctr">
                        <a:blipFill>
                          <a:blip r:embed="rId3"/>
                          <a:stretch>
                            <a:fillRect l="-128709" t="-137267" r="-123699" b="-621"/>
                          </a:stretch>
                        </a:blipFill>
                      </a:tcPr>
                    </a:tc>
                    <a:tc>
                      <a:txBody>
                        <a:bodyPr/>
                        <a:lstStyle/>
                        <a:p>
                          <a:endParaRPr lang="es-CO"/>
                        </a:p>
                      </a:txBody>
                      <a:tcPr anchor="ctr">
                        <a:blipFill>
                          <a:blip r:embed="rId3"/>
                          <a:stretch>
                            <a:fillRect l="-185469" t="-137267" r="-313" b="-621"/>
                          </a:stretch>
                        </a:blipFill>
                      </a:tcPr>
                    </a:tc>
                    <a:extLst>
                      <a:ext uri="{0D108BD9-81ED-4DB2-BD59-A6C34878D82A}">
                        <a16:rowId xmlns:a16="http://schemas.microsoft.com/office/drawing/2014/main" val="409398036"/>
                      </a:ext>
                    </a:extLst>
                  </a:tr>
                </a:tbl>
              </a:graphicData>
            </a:graphic>
          </p:graphicFrame>
        </mc:Fallback>
      </mc:AlternateContent>
    </p:spTree>
    <p:extLst>
      <p:ext uri="{BB962C8B-B14F-4D97-AF65-F5344CB8AC3E}">
        <p14:creationId xmlns:p14="http://schemas.microsoft.com/office/powerpoint/2010/main" val="19156386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252914" y="96038"/>
            <a:ext cx="11559171" cy="763826"/>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sz="4000" b="0" dirty="0">
                <a:solidFill>
                  <a:schemeClr val="tx1"/>
                </a:solidFill>
                <a:latin typeface="+mj-lt"/>
              </a:rPr>
              <a:t>Equivalencias en lógica de predicados (Parte 2)</a:t>
            </a:r>
            <a:endParaRPr sz="4000" b="0" dirty="0">
              <a:solidFill>
                <a:schemeClr val="tx1"/>
              </a:solidFill>
              <a:latin typeface="+mj-lt"/>
            </a:endParaRPr>
          </a:p>
        </p:txBody>
      </p:sp>
      <p:sp>
        <p:nvSpPr>
          <p:cNvPr id="37" name="CuadroTexto 36">
            <a:extLst>
              <a:ext uri="{FF2B5EF4-FFF2-40B4-BE49-F238E27FC236}">
                <a16:creationId xmlns:a16="http://schemas.microsoft.com/office/drawing/2014/main" id="{BBCE741C-2A86-407D-9A6F-C50DEB856409}"/>
              </a:ext>
            </a:extLst>
          </p:cNvPr>
          <p:cNvSpPr txBox="1"/>
          <p:nvPr/>
        </p:nvSpPr>
        <p:spPr>
          <a:xfrm>
            <a:off x="252914" y="723116"/>
            <a:ext cx="11559172" cy="461665"/>
          </a:xfrm>
          <a:prstGeom prst="rect">
            <a:avLst/>
          </a:prstGeom>
          <a:noFill/>
        </p:spPr>
        <p:txBody>
          <a:bodyPr wrap="square" rtlCol="0">
            <a:spAutoFit/>
          </a:bodyPr>
          <a:lstStyle/>
          <a:p>
            <a:r>
              <a:rPr lang="es-MX" sz="2400" b="1" dirty="0">
                <a:ea typeface="Roboto" panose="02000000000000000000" pitchFamily="2" charset="0"/>
              </a:rPr>
              <a:t>Formas Aristotélicas</a:t>
            </a:r>
          </a:p>
        </p:txBody>
      </p:sp>
      <p:sp>
        <p:nvSpPr>
          <p:cNvPr id="14" name="Google Shape;310;p34">
            <a:extLst>
              <a:ext uri="{FF2B5EF4-FFF2-40B4-BE49-F238E27FC236}">
                <a16:creationId xmlns:a16="http://schemas.microsoft.com/office/drawing/2014/main" id="{44AC130B-3A31-42BD-A7D5-934CE25E5DD0}"/>
              </a:ext>
            </a:extLst>
          </p:cNvPr>
          <p:cNvSpPr txBox="1">
            <a:spLocks/>
          </p:cNvSpPr>
          <p:nvPr/>
        </p:nvSpPr>
        <p:spPr>
          <a:xfrm>
            <a:off x="151314" y="976635"/>
            <a:ext cx="11787772" cy="76382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latin typeface="+mn-lt"/>
                <a:ea typeface="Roboto" panose="02000000000000000000" pitchFamily="2" charset="0"/>
              </a:rPr>
              <a:t>Las cuatro formas aristotélicas son proposiciones categóricas básicas que forman la base del silogismo clásico en la lógica aristotélica:</a:t>
            </a:r>
          </a:p>
          <a:p>
            <a:endParaRPr lang="es-MX" sz="2000" dirty="0">
              <a:latin typeface="+mn-lt"/>
              <a:ea typeface="Roboto" panose="02000000000000000000" pitchFamily="2" charset="0"/>
            </a:endParaRPr>
          </a:p>
        </p:txBody>
      </p:sp>
      <mc:AlternateContent xmlns:mc="http://schemas.openxmlformats.org/markup-compatibility/2006" xmlns:a14="http://schemas.microsoft.com/office/drawing/2010/main">
        <mc:Choice Requires="a14">
          <p:graphicFrame>
            <p:nvGraphicFramePr>
              <p:cNvPr id="5" name="Tabla 5">
                <a:extLst>
                  <a:ext uri="{FF2B5EF4-FFF2-40B4-BE49-F238E27FC236}">
                    <a16:creationId xmlns:a16="http://schemas.microsoft.com/office/drawing/2014/main" id="{567B3890-BEE3-4114-BD50-4F8AFFD8D302}"/>
                  </a:ext>
                </a:extLst>
              </p:cNvPr>
              <p:cNvGraphicFramePr>
                <a:graphicFrameLocks noGrp="1"/>
              </p:cNvGraphicFramePr>
              <p:nvPr/>
            </p:nvGraphicFramePr>
            <p:xfrm>
              <a:off x="634181" y="1803963"/>
              <a:ext cx="11124616" cy="4924806"/>
            </p:xfrm>
            <a:graphic>
              <a:graphicData uri="http://schemas.openxmlformats.org/drawingml/2006/table">
                <a:tbl>
                  <a:tblPr firstRow="1" bandRow="1">
                    <a:tableStyleId>{AD6A3598-7CB8-4345-8D95-17CE05F158A0}</a:tableStyleId>
                  </a:tblPr>
                  <a:tblGrid>
                    <a:gridCol w="1334319">
                      <a:extLst>
                        <a:ext uri="{9D8B030D-6E8A-4147-A177-3AD203B41FA5}">
                          <a16:colId xmlns:a16="http://schemas.microsoft.com/office/drawing/2014/main" val="1182511114"/>
                        </a:ext>
                      </a:extLst>
                    </a:gridCol>
                    <a:gridCol w="1498600">
                      <a:extLst>
                        <a:ext uri="{9D8B030D-6E8A-4147-A177-3AD203B41FA5}">
                          <a16:colId xmlns:a16="http://schemas.microsoft.com/office/drawing/2014/main" val="37487"/>
                        </a:ext>
                      </a:extLst>
                    </a:gridCol>
                    <a:gridCol w="1638300">
                      <a:extLst>
                        <a:ext uri="{9D8B030D-6E8A-4147-A177-3AD203B41FA5}">
                          <a16:colId xmlns:a16="http://schemas.microsoft.com/office/drawing/2014/main" val="3055286892"/>
                        </a:ext>
                      </a:extLst>
                    </a:gridCol>
                    <a:gridCol w="2527300">
                      <a:extLst>
                        <a:ext uri="{9D8B030D-6E8A-4147-A177-3AD203B41FA5}">
                          <a16:colId xmlns:a16="http://schemas.microsoft.com/office/drawing/2014/main" val="4284222693"/>
                        </a:ext>
                      </a:extLst>
                    </a:gridCol>
                    <a:gridCol w="4126097">
                      <a:extLst>
                        <a:ext uri="{9D8B030D-6E8A-4147-A177-3AD203B41FA5}">
                          <a16:colId xmlns:a16="http://schemas.microsoft.com/office/drawing/2014/main" val="558989908"/>
                        </a:ext>
                      </a:extLst>
                    </a:gridCol>
                  </a:tblGrid>
                  <a:tr h="127807">
                    <a:tc>
                      <a:txBody>
                        <a:bodyPr/>
                        <a:lstStyle/>
                        <a:p>
                          <a:pPr algn="ctr"/>
                          <a:r>
                            <a:rPr lang="es-CO" sz="2000" b="1" dirty="0">
                              <a:solidFill>
                                <a:schemeClr val="bg1"/>
                              </a:solidFill>
                              <a:latin typeface="+mn-lt"/>
                              <a:ea typeface="Roboto" panose="02000000000000000000" pitchFamily="2" charset="0"/>
                            </a:rPr>
                            <a:t>Forma</a:t>
                          </a:r>
                        </a:p>
                      </a:txBody>
                      <a:tcPr anchor="ctr">
                        <a:solidFill>
                          <a:schemeClr val="tx1"/>
                        </a:solidFill>
                      </a:tcPr>
                    </a:tc>
                    <a:tc>
                      <a:txBody>
                        <a:bodyPr/>
                        <a:lstStyle/>
                        <a:p>
                          <a:pPr algn="ctr"/>
                          <a:r>
                            <a:rPr lang="es-CO" sz="2000" b="1" dirty="0">
                              <a:solidFill>
                                <a:schemeClr val="bg1"/>
                              </a:solidFill>
                              <a:latin typeface="+mn-lt"/>
                              <a:ea typeface="Roboto" panose="02000000000000000000" pitchFamily="2" charset="0"/>
                            </a:rPr>
                            <a:t>Enunciado</a:t>
                          </a:r>
                        </a:p>
                      </a:txBody>
                      <a:tcPr anchor="ctr">
                        <a:solidFill>
                          <a:schemeClr val="tx1"/>
                        </a:solidFill>
                      </a:tcPr>
                    </a:tc>
                    <a:tc>
                      <a:txBody>
                        <a:bodyPr/>
                        <a:lstStyle/>
                        <a:p>
                          <a:pPr algn="ctr"/>
                          <a:r>
                            <a:rPr lang="es-CO" sz="2000" b="1" dirty="0">
                              <a:solidFill>
                                <a:schemeClr val="bg1"/>
                              </a:solidFill>
                              <a:latin typeface="+mn-lt"/>
                              <a:ea typeface="Roboto" panose="02000000000000000000" pitchFamily="2" charset="0"/>
                            </a:rPr>
                            <a:t>Forma Aristotélica</a:t>
                          </a:r>
                        </a:p>
                      </a:txBody>
                      <a:tcPr anchor="ct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solidFill>
                                <a:schemeClr val="bg1"/>
                              </a:solidFill>
                              <a:latin typeface="+mn-lt"/>
                              <a:ea typeface="Roboto" panose="02000000000000000000" pitchFamily="2" charset="0"/>
                            </a:rPr>
                            <a:t>Lógica de predicados</a:t>
                          </a:r>
                        </a:p>
                      </a:txBody>
                      <a:tcPr anchor="ct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solidFill>
                                <a:schemeClr val="bg1"/>
                              </a:solidFill>
                              <a:latin typeface="+mn-lt"/>
                              <a:ea typeface="Roboto" panose="02000000000000000000" pitchFamily="2" charset="0"/>
                            </a:rPr>
                            <a:t>Ejemplo</a:t>
                          </a:r>
                        </a:p>
                      </a:txBody>
                      <a:tcPr anchor="ctr">
                        <a:solidFill>
                          <a:schemeClr val="tx1"/>
                        </a:solidFill>
                      </a:tcPr>
                    </a:tc>
                    <a:extLst>
                      <a:ext uri="{0D108BD9-81ED-4DB2-BD59-A6C34878D82A}">
                        <a16:rowId xmlns:a16="http://schemas.microsoft.com/office/drawing/2014/main" val="557287797"/>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2000" b="1" dirty="0">
                              <a:latin typeface="+mn-lt"/>
                              <a:ea typeface="Roboto" panose="02000000000000000000" pitchFamily="2" charset="0"/>
                            </a:rPr>
                            <a:t>Forma I</a:t>
                          </a:r>
                          <a:r>
                            <a:rPr lang="es-MX" sz="2000" b="0" dirty="0">
                              <a:latin typeface="+mn-lt"/>
                              <a:ea typeface="Roboto" panose="02000000000000000000" pitchFamily="2" charset="0"/>
                            </a:rPr>
                            <a:t>: Particular afirmativa</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2000" dirty="0">
                              <a:latin typeface="+mn-lt"/>
                              <a:ea typeface="Roboto" panose="02000000000000000000" pitchFamily="2" charset="0"/>
                            </a:rPr>
                            <a:t>Algún S es P</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𝐼</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𝑆</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𝑃</m:t>
                                    </m:r>
                                  </m:e>
                                </m:d>
                              </m:oMath>
                            </m:oMathPara>
                          </a14:m>
                          <a:endParaRPr lang="es-MX" sz="2000" dirty="0">
                            <a:latin typeface="+mn-lt"/>
                            <a:ea typeface="Roboto" panose="02000000000000000000" pitchFamily="2"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𝑥</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𝑆</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𝑥</m:t>
                                        </m:r>
                                      </m:e>
                                    </m:d>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𝑃</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𝑥</m:t>
                                        </m:r>
                                      </m:e>
                                    </m:d>
                                  </m:e>
                                </m:d>
                              </m:oMath>
                            </m:oMathPara>
                          </a14:m>
                          <a:endParaRPr lang="es-MX" sz="2000" dirty="0">
                            <a:latin typeface="+mn-lt"/>
                            <a:ea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MX" sz="2000" b="1" dirty="0">
                            <a:latin typeface="+mn-lt"/>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2000" b="1" dirty="0">
                              <a:latin typeface="+mn-lt"/>
                            </a:rPr>
                            <a:t>Interpretación:</a:t>
                          </a:r>
                          <a:r>
                            <a:rPr lang="es-MX" sz="2000" dirty="0">
                              <a:latin typeface="+mn-lt"/>
                            </a:rPr>
                            <a:t> Existe al menos un x tal que x es S y también es P.</a:t>
                          </a:r>
                          <a:endParaRPr lang="es-MX" sz="2000" dirty="0">
                            <a:latin typeface="+mn-lt"/>
                            <a:ea typeface="Roboto" panose="02000000000000000000" pitchFamily="2" charset="0"/>
                          </a:endParaRPr>
                        </a:p>
                      </a:txBody>
                      <a:tcPr anchor="ctr"/>
                    </a:tc>
                    <a:tc>
                      <a:txBody>
                        <a:bodyPr/>
                        <a:lstStyle/>
                        <a:p>
                          <a:r>
                            <a:rPr lang="es-CO" sz="2000" b="1" dirty="0">
                              <a:latin typeface="+mn-lt"/>
                              <a:ea typeface="Roboto" panose="02000000000000000000" pitchFamily="2" charset="0"/>
                            </a:rPr>
                            <a:t>Ejemplo</a:t>
                          </a:r>
                          <a:r>
                            <a:rPr lang="es-CO" sz="2000" dirty="0">
                              <a:latin typeface="+mn-lt"/>
                              <a:ea typeface="Roboto" panose="02000000000000000000" pitchFamily="2" charset="0"/>
                            </a:rPr>
                            <a:t>: Algún estudiante es ingeniero.</a:t>
                          </a:r>
                        </a:p>
                        <a:p>
                          <a:endParaRPr lang="es-CO" sz="2000" dirty="0">
                            <a:latin typeface="+mn-lt"/>
                            <a:ea typeface="Roboto" panose="02000000000000000000" pitchFamily="2" charset="0"/>
                          </a:endParaRPr>
                        </a:p>
                        <a:p>
                          <a:r>
                            <a:rPr lang="es-CO" sz="2000" b="1" dirty="0">
                              <a:latin typeface="+mn-lt"/>
                              <a:ea typeface="Roboto" panose="02000000000000000000" pitchFamily="2" charset="0"/>
                            </a:rPr>
                            <a:t>Expresión</a:t>
                          </a:r>
                          <a:r>
                            <a:rPr lang="es-CO" sz="2000" dirty="0">
                              <a:latin typeface="+mn-lt"/>
                              <a:ea typeface="Roboto" panose="02000000000000000000" pitchFamily="2" charset="0"/>
                            </a:rPr>
                            <a:t>:</a:t>
                          </a:r>
                        </a:p>
                        <a:p>
                          <a:endParaRPr lang="es-CO" sz="2000" dirty="0">
                            <a:latin typeface="+mn-lt"/>
                            <a:ea typeface="Roboto" panose="02000000000000000000" pitchFamily="2" charset="0"/>
                          </a:endParaRPr>
                        </a:p>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𝑥</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𝑒𝑠𝑡𝑢𝑑𝑖𝑎𝑛𝑡𝑒</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𝑥</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𝑖𝑛𝑔𝑒𝑛𝑖𝑒𝑟𝑜</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𝑥</m:t>
                                        </m:r>
                                      </m:e>
                                    </m:d>
                                  </m:e>
                                </m:d>
                              </m:oMath>
                            </m:oMathPara>
                          </a14:m>
                          <a:endParaRPr lang="es-CO" sz="2000" dirty="0">
                            <a:latin typeface="+mn-lt"/>
                            <a:ea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MX" sz="2000" dirty="0">
                            <a:latin typeface="+mn-lt"/>
                            <a:ea typeface="Roboto" panose="02000000000000000000" pitchFamily="2" charset="0"/>
                          </a:endParaRPr>
                        </a:p>
                      </a:txBody>
                      <a:tcPr anchor="ctr">
                        <a:solidFill>
                          <a:schemeClr val="bg1"/>
                        </a:solidFill>
                      </a:tcPr>
                    </a:tc>
                    <a:extLst>
                      <a:ext uri="{0D108BD9-81ED-4DB2-BD59-A6C34878D82A}">
                        <a16:rowId xmlns:a16="http://schemas.microsoft.com/office/drawing/2014/main" val="2149946557"/>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2000" b="1" dirty="0">
                              <a:latin typeface="+mn-lt"/>
                              <a:ea typeface="Roboto" panose="02000000000000000000" pitchFamily="2" charset="0"/>
                            </a:rPr>
                            <a:t>Forma O</a:t>
                          </a:r>
                          <a:r>
                            <a:rPr lang="es-MX" sz="2000" b="0" dirty="0">
                              <a:latin typeface="+mn-lt"/>
                              <a:ea typeface="Roboto" panose="02000000000000000000" pitchFamily="2" charset="0"/>
                            </a:rPr>
                            <a:t>: Particular negativa</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2000" dirty="0">
                              <a:latin typeface="+mn-lt"/>
                              <a:ea typeface="Roboto" panose="02000000000000000000" pitchFamily="2" charset="0"/>
                            </a:rPr>
                            <a:t>Algún S no es P</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𝑂</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𝑆</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𝑃</m:t>
                                    </m:r>
                                  </m:e>
                                </m:d>
                              </m:oMath>
                            </m:oMathPara>
                          </a14:m>
                          <a:endParaRPr lang="es-MX" sz="2000" dirty="0">
                            <a:latin typeface="+mn-lt"/>
                            <a:ea typeface="Roboto" panose="02000000000000000000" pitchFamily="2"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𝑥</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𝑆</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𝑥</m:t>
                                        </m:r>
                                      </m:e>
                                    </m:d>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𝑃</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𝑥</m:t>
                                        </m:r>
                                      </m:e>
                                    </m:d>
                                  </m:e>
                                </m:d>
                              </m:oMath>
                            </m:oMathPara>
                          </a14:m>
                          <a:endParaRPr lang="es-MX" sz="2000" dirty="0">
                            <a:latin typeface="+mn-lt"/>
                            <a:ea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MX" sz="2000" b="1" dirty="0">
                            <a:latin typeface="+mn-lt"/>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2000" b="1" dirty="0">
                              <a:latin typeface="+mn-lt"/>
                            </a:rPr>
                            <a:t>Interpretación:</a:t>
                          </a:r>
                          <a:r>
                            <a:rPr lang="es-MX" sz="2000" dirty="0">
                              <a:latin typeface="+mn-lt"/>
                            </a:rPr>
                            <a:t> Existe al menos un x tal que x es S y no es P.</a:t>
                          </a:r>
                          <a:endParaRPr lang="es-MX" sz="2000" dirty="0">
                            <a:latin typeface="+mn-lt"/>
                            <a:ea typeface="Roboto" panose="02000000000000000000" pitchFamily="2" charset="0"/>
                          </a:endParaRPr>
                        </a:p>
                      </a:txBody>
                      <a:tcPr anchor="ctr"/>
                    </a:tc>
                    <a:tc>
                      <a:txBody>
                        <a:bodyPr/>
                        <a:lstStyle/>
                        <a:p>
                          <a:r>
                            <a:rPr lang="es-CO" sz="2000" b="1" dirty="0">
                              <a:latin typeface="+mn-lt"/>
                              <a:ea typeface="Roboto" panose="02000000000000000000" pitchFamily="2" charset="0"/>
                            </a:rPr>
                            <a:t>Ejemplo</a:t>
                          </a:r>
                          <a:r>
                            <a:rPr lang="es-CO" sz="2000" dirty="0">
                              <a:latin typeface="+mn-lt"/>
                              <a:ea typeface="Roboto" panose="02000000000000000000" pitchFamily="2" charset="0"/>
                            </a:rPr>
                            <a:t>: Algún pájaro no vuela.</a:t>
                          </a:r>
                        </a:p>
                        <a:p>
                          <a:endParaRPr lang="es-CO" sz="2000" dirty="0">
                            <a:latin typeface="+mn-lt"/>
                            <a:ea typeface="Roboto" panose="02000000000000000000" pitchFamily="2" charset="0"/>
                          </a:endParaRPr>
                        </a:p>
                        <a:p>
                          <a:r>
                            <a:rPr lang="es-CO" sz="2000" b="1" dirty="0">
                              <a:latin typeface="+mn-lt"/>
                              <a:ea typeface="Roboto" panose="02000000000000000000" pitchFamily="2" charset="0"/>
                            </a:rPr>
                            <a:t>Expresión</a:t>
                          </a:r>
                          <a:r>
                            <a:rPr lang="es-CO" sz="2000" dirty="0">
                              <a:latin typeface="+mn-lt"/>
                              <a:ea typeface="Roboto" panose="02000000000000000000" pitchFamily="2" charset="0"/>
                            </a:rPr>
                            <a:t>:</a:t>
                          </a:r>
                        </a:p>
                        <a:p>
                          <a:endParaRPr lang="es-CO" sz="2000" dirty="0">
                            <a:latin typeface="+mn-lt"/>
                            <a:ea typeface="Roboto" panose="02000000000000000000" pitchFamily="2" charset="0"/>
                          </a:endParaRPr>
                        </a:p>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𝑥</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𝑝𝑎𝑗𝑎𝑟𝑜</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𝑥</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𝑣𝑢𝑒𝑙𝑎</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𝑥</m:t>
                                        </m:r>
                                      </m:e>
                                    </m:d>
                                  </m:e>
                                </m:d>
                              </m:oMath>
                            </m:oMathPara>
                          </a14:m>
                          <a:endParaRPr lang="es-CO" sz="2000" dirty="0">
                            <a:latin typeface="+mn-lt"/>
                            <a:ea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MX" sz="2000" dirty="0">
                            <a:latin typeface="+mn-lt"/>
                            <a:ea typeface="Roboto" panose="02000000000000000000" pitchFamily="2" charset="0"/>
                          </a:endParaRPr>
                        </a:p>
                      </a:txBody>
                      <a:tcPr anchor="ctr">
                        <a:solidFill>
                          <a:schemeClr val="bg1"/>
                        </a:solidFill>
                      </a:tcPr>
                    </a:tc>
                    <a:extLst>
                      <a:ext uri="{0D108BD9-81ED-4DB2-BD59-A6C34878D82A}">
                        <a16:rowId xmlns:a16="http://schemas.microsoft.com/office/drawing/2014/main" val="1164769184"/>
                      </a:ext>
                    </a:extLst>
                  </a:tr>
                </a:tbl>
              </a:graphicData>
            </a:graphic>
          </p:graphicFrame>
        </mc:Choice>
        <mc:Fallback xmlns="">
          <p:graphicFrame>
            <p:nvGraphicFramePr>
              <p:cNvPr id="5" name="Tabla 5">
                <a:extLst>
                  <a:ext uri="{FF2B5EF4-FFF2-40B4-BE49-F238E27FC236}">
                    <a16:creationId xmlns:a16="http://schemas.microsoft.com/office/drawing/2014/main" id="{567B3890-BEE3-4114-BD50-4F8AFFD8D302}"/>
                  </a:ext>
                </a:extLst>
              </p:cNvPr>
              <p:cNvGraphicFramePr>
                <a:graphicFrameLocks noGrp="1"/>
              </p:cNvGraphicFramePr>
              <p:nvPr>
                <p:extLst>
                  <p:ext uri="{D42A27DB-BD31-4B8C-83A1-F6EECF244321}">
                    <p14:modId xmlns:p14="http://schemas.microsoft.com/office/powerpoint/2010/main" val="795301871"/>
                  </p:ext>
                </p:extLst>
              </p:nvPr>
            </p:nvGraphicFramePr>
            <p:xfrm>
              <a:off x="634181" y="1803963"/>
              <a:ext cx="11124616" cy="4924806"/>
            </p:xfrm>
            <a:graphic>
              <a:graphicData uri="http://schemas.openxmlformats.org/drawingml/2006/table">
                <a:tbl>
                  <a:tblPr firstRow="1" bandRow="1">
                    <a:tableStyleId>{AD6A3598-7CB8-4345-8D95-17CE05F158A0}</a:tableStyleId>
                  </a:tblPr>
                  <a:tblGrid>
                    <a:gridCol w="1334319">
                      <a:extLst>
                        <a:ext uri="{9D8B030D-6E8A-4147-A177-3AD203B41FA5}">
                          <a16:colId xmlns:a16="http://schemas.microsoft.com/office/drawing/2014/main" val="1182511114"/>
                        </a:ext>
                      </a:extLst>
                    </a:gridCol>
                    <a:gridCol w="1498600">
                      <a:extLst>
                        <a:ext uri="{9D8B030D-6E8A-4147-A177-3AD203B41FA5}">
                          <a16:colId xmlns:a16="http://schemas.microsoft.com/office/drawing/2014/main" val="37487"/>
                        </a:ext>
                      </a:extLst>
                    </a:gridCol>
                    <a:gridCol w="1638300">
                      <a:extLst>
                        <a:ext uri="{9D8B030D-6E8A-4147-A177-3AD203B41FA5}">
                          <a16:colId xmlns:a16="http://schemas.microsoft.com/office/drawing/2014/main" val="3055286892"/>
                        </a:ext>
                      </a:extLst>
                    </a:gridCol>
                    <a:gridCol w="2527300">
                      <a:extLst>
                        <a:ext uri="{9D8B030D-6E8A-4147-A177-3AD203B41FA5}">
                          <a16:colId xmlns:a16="http://schemas.microsoft.com/office/drawing/2014/main" val="4284222693"/>
                        </a:ext>
                      </a:extLst>
                    </a:gridCol>
                    <a:gridCol w="4126097">
                      <a:extLst>
                        <a:ext uri="{9D8B030D-6E8A-4147-A177-3AD203B41FA5}">
                          <a16:colId xmlns:a16="http://schemas.microsoft.com/office/drawing/2014/main" val="558989908"/>
                        </a:ext>
                      </a:extLst>
                    </a:gridCol>
                  </a:tblGrid>
                  <a:tr h="701040">
                    <a:tc>
                      <a:txBody>
                        <a:bodyPr/>
                        <a:lstStyle/>
                        <a:p>
                          <a:pPr algn="ctr"/>
                          <a:r>
                            <a:rPr lang="es-CO" sz="2000" b="1" dirty="0">
                              <a:solidFill>
                                <a:schemeClr val="bg1"/>
                              </a:solidFill>
                              <a:latin typeface="+mn-lt"/>
                              <a:ea typeface="Roboto" panose="02000000000000000000" pitchFamily="2" charset="0"/>
                            </a:rPr>
                            <a:t>Forma</a:t>
                          </a:r>
                        </a:p>
                      </a:txBody>
                      <a:tcPr anchor="ctr">
                        <a:solidFill>
                          <a:schemeClr val="tx1"/>
                        </a:solidFill>
                      </a:tcPr>
                    </a:tc>
                    <a:tc>
                      <a:txBody>
                        <a:bodyPr/>
                        <a:lstStyle/>
                        <a:p>
                          <a:pPr algn="ctr"/>
                          <a:r>
                            <a:rPr lang="es-CO" sz="2000" b="1" dirty="0">
                              <a:solidFill>
                                <a:schemeClr val="bg1"/>
                              </a:solidFill>
                              <a:latin typeface="+mn-lt"/>
                              <a:ea typeface="Roboto" panose="02000000000000000000" pitchFamily="2" charset="0"/>
                            </a:rPr>
                            <a:t>Enunciado</a:t>
                          </a:r>
                        </a:p>
                      </a:txBody>
                      <a:tcPr anchor="ctr">
                        <a:solidFill>
                          <a:schemeClr val="tx1"/>
                        </a:solidFill>
                      </a:tcPr>
                    </a:tc>
                    <a:tc>
                      <a:txBody>
                        <a:bodyPr/>
                        <a:lstStyle/>
                        <a:p>
                          <a:pPr algn="ctr"/>
                          <a:r>
                            <a:rPr lang="es-CO" sz="2000" b="1" dirty="0">
                              <a:solidFill>
                                <a:schemeClr val="bg1"/>
                              </a:solidFill>
                              <a:latin typeface="+mn-lt"/>
                              <a:ea typeface="Roboto" panose="02000000000000000000" pitchFamily="2" charset="0"/>
                            </a:rPr>
                            <a:t>Forma Aristotélica</a:t>
                          </a:r>
                        </a:p>
                      </a:txBody>
                      <a:tcPr anchor="ct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solidFill>
                                <a:schemeClr val="bg1"/>
                              </a:solidFill>
                              <a:latin typeface="+mn-lt"/>
                              <a:ea typeface="Roboto" panose="02000000000000000000" pitchFamily="2" charset="0"/>
                            </a:rPr>
                            <a:t>Lógica de predicados</a:t>
                          </a:r>
                        </a:p>
                      </a:txBody>
                      <a:tcPr anchor="ct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solidFill>
                                <a:schemeClr val="bg1"/>
                              </a:solidFill>
                              <a:latin typeface="+mn-lt"/>
                              <a:ea typeface="Roboto" panose="02000000000000000000" pitchFamily="2" charset="0"/>
                            </a:rPr>
                            <a:t>Ejemplo</a:t>
                          </a:r>
                        </a:p>
                      </a:txBody>
                      <a:tcPr anchor="ctr">
                        <a:solidFill>
                          <a:schemeClr val="tx1"/>
                        </a:solidFill>
                      </a:tcPr>
                    </a:tc>
                    <a:extLst>
                      <a:ext uri="{0D108BD9-81ED-4DB2-BD59-A6C34878D82A}">
                        <a16:rowId xmlns:a16="http://schemas.microsoft.com/office/drawing/2014/main" val="557287797"/>
                      </a:ext>
                    </a:extLst>
                  </a:tr>
                  <a:tr h="226428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2000" b="1" dirty="0">
                              <a:latin typeface="+mn-lt"/>
                              <a:ea typeface="Roboto" panose="02000000000000000000" pitchFamily="2" charset="0"/>
                            </a:rPr>
                            <a:t>Forma I</a:t>
                          </a:r>
                          <a:r>
                            <a:rPr lang="es-MX" sz="2000" b="0" dirty="0">
                              <a:latin typeface="+mn-lt"/>
                              <a:ea typeface="Roboto" panose="02000000000000000000" pitchFamily="2" charset="0"/>
                            </a:rPr>
                            <a:t>: Particular afirmativa</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2000" dirty="0">
                              <a:latin typeface="+mn-lt"/>
                              <a:ea typeface="Roboto" panose="02000000000000000000" pitchFamily="2" charset="0"/>
                            </a:rPr>
                            <a:t>Algún S es P</a:t>
                          </a:r>
                        </a:p>
                      </a:txBody>
                      <a:tcPr anchor="ctr"/>
                    </a:tc>
                    <a:tc>
                      <a:txBody>
                        <a:bodyPr/>
                        <a:lstStyle/>
                        <a:p>
                          <a:endParaRPr lang="es-CO"/>
                        </a:p>
                      </a:txBody>
                      <a:tcPr anchor="ctr">
                        <a:blipFill>
                          <a:blip r:embed="rId3"/>
                          <a:stretch>
                            <a:fillRect l="-173234" t="-32258" r="-406320" b="-87097"/>
                          </a:stretch>
                        </a:blipFill>
                      </a:tcPr>
                    </a:tc>
                    <a:tc>
                      <a:txBody>
                        <a:bodyPr/>
                        <a:lstStyle/>
                        <a:p>
                          <a:endParaRPr lang="es-CO"/>
                        </a:p>
                      </a:txBody>
                      <a:tcPr anchor="ctr">
                        <a:blipFill>
                          <a:blip r:embed="rId3"/>
                          <a:stretch>
                            <a:fillRect l="-177536" t="-32258" r="-164010" b="-87097"/>
                          </a:stretch>
                        </a:blipFill>
                      </a:tcPr>
                    </a:tc>
                    <a:tc>
                      <a:txBody>
                        <a:bodyPr/>
                        <a:lstStyle/>
                        <a:p>
                          <a:endParaRPr lang="es-CO"/>
                        </a:p>
                      </a:txBody>
                      <a:tcPr anchor="ctr">
                        <a:blipFill>
                          <a:blip r:embed="rId3"/>
                          <a:stretch>
                            <a:fillRect l="-169719" t="-32258" r="-295" b="-87097"/>
                          </a:stretch>
                        </a:blipFill>
                      </a:tcPr>
                    </a:tc>
                    <a:extLst>
                      <a:ext uri="{0D108BD9-81ED-4DB2-BD59-A6C34878D82A}">
                        <a16:rowId xmlns:a16="http://schemas.microsoft.com/office/drawing/2014/main" val="2149946557"/>
                      </a:ext>
                    </a:extLst>
                  </a:tr>
                  <a:tr h="195948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2000" b="1" dirty="0">
                              <a:latin typeface="+mn-lt"/>
                              <a:ea typeface="Roboto" panose="02000000000000000000" pitchFamily="2" charset="0"/>
                            </a:rPr>
                            <a:t>Forma O</a:t>
                          </a:r>
                          <a:r>
                            <a:rPr lang="es-MX" sz="2000" b="0" dirty="0">
                              <a:latin typeface="+mn-lt"/>
                              <a:ea typeface="Roboto" panose="02000000000000000000" pitchFamily="2" charset="0"/>
                            </a:rPr>
                            <a:t>: Particular negativa</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2000" dirty="0">
                              <a:latin typeface="+mn-lt"/>
                              <a:ea typeface="Roboto" panose="02000000000000000000" pitchFamily="2" charset="0"/>
                            </a:rPr>
                            <a:t>Algún S no es P</a:t>
                          </a:r>
                        </a:p>
                      </a:txBody>
                      <a:tcPr anchor="ctr"/>
                    </a:tc>
                    <a:tc>
                      <a:txBody>
                        <a:bodyPr/>
                        <a:lstStyle/>
                        <a:p>
                          <a:endParaRPr lang="es-CO"/>
                        </a:p>
                      </a:txBody>
                      <a:tcPr anchor="ctr">
                        <a:blipFill>
                          <a:blip r:embed="rId3"/>
                          <a:stretch>
                            <a:fillRect l="-173234" t="-152795" r="-406320" b="-621"/>
                          </a:stretch>
                        </a:blipFill>
                      </a:tcPr>
                    </a:tc>
                    <a:tc>
                      <a:txBody>
                        <a:bodyPr/>
                        <a:lstStyle/>
                        <a:p>
                          <a:endParaRPr lang="es-CO"/>
                        </a:p>
                      </a:txBody>
                      <a:tcPr anchor="ctr">
                        <a:blipFill>
                          <a:blip r:embed="rId3"/>
                          <a:stretch>
                            <a:fillRect l="-177536" t="-152795" r="-164010" b="-621"/>
                          </a:stretch>
                        </a:blipFill>
                      </a:tcPr>
                    </a:tc>
                    <a:tc>
                      <a:txBody>
                        <a:bodyPr/>
                        <a:lstStyle/>
                        <a:p>
                          <a:endParaRPr lang="es-CO"/>
                        </a:p>
                      </a:txBody>
                      <a:tcPr anchor="ctr">
                        <a:blipFill>
                          <a:blip r:embed="rId3"/>
                          <a:stretch>
                            <a:fillRect l="-169719" t="-152795" r="-295" b="-621"/>
                          </a:stretch>
                        </a:blipFill>
                      </a:tcPr>
                    </a:tc>
                    <a:extLst>
                      <a:ext uri="{0D108BD9-81ED-4DB2-BD59-A6C34878D82A}">
                        <a16:rowId xmlns:a16="http://schemas.microsoft.com/office/drawing/2014/main" val="1164769184"/>
                      </a:ext>
                    </a:extLst>
                  </a:tr>
                </a:tbl>
              </a:graphicData>
            </a:graphic>
          </p:graphicFrame>
        </mc:Fallback>
      </mc:AlternateContent>
    </p:spTree>
    <p:extLst>
      <p:ext uri="{BB962C8B-B14F-4D97-AF65-F5344CB8AC3E}">
        <p14:creationId xmlns:p14="http://schemas.microsoft.com/office/powerpoint/2010/main" val="12669045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a:xfrm>
            <a:off x="573853" y="96038"/>
            <a:ext cx="10645689" cy="949500"/>
          </a:xfrm>
        </p:spPr>
        <p:txBody>
          <a:bodyPr/>
          <a:lstStyle/>
          <a:p>
            <a:r>
              <a:rPr lang="es-CO" b="0" dirty="0">
                <a:solidFill>
                  <a:schemeClr val="tx1"/>
                </a:solidFill>
                <a:latin typeface="+mj-lt"/>
              </a:rPr>
              <a:t>Equivalencias de lógica proposicional</a:t>
            </a:r>
          </a:p>
        </p:txBody>
      </p:sp>
      <mc:AlternateContent xmlns:mc="http://schemas.openxmlformats.org/markup-compatibility/2006" xmlns:a14="http://schemas.microsoft.com/office/drawing/2010/main">
        <mc:Choice Requires="a14">
          <p:graphicFrame>
            <p:nvGraphicFramePr>
              <p:cNvPr id="12" name="Tabla 3">
                <a:extLst>
                  <a:ext uri="{FF2B5EF4-FFF2-40B4-BE49-F238E27FC236}">
                    <a16:creationId xmlns:a16="http://schemas.microsoft.com/office/drawing/2014/main" id="{C596B25B-8353-4A20-AC46-6CF2D48EBE61}"/>
                  </a:ext>
                </a:extLst>
              </p:cNvPr>
              <p:cNvGraphicFramePr>
                <a:graphicFrameLocks noGrp="1"/>
              </p:cNvGraphicFramePr>
              <p:nvPr/>
            </p:nvGraphicFramePr>
            <p:xfrm>
              <a:off x="290288" y="1115661"/>
              <a:ext cx="7865570" cy="5120640"/>
            </p:xfrm>
            <a:graphic>
              <a:graphicData uri="http://schemas.openxmlformats.org/drawingml/2006/table">
                <a:tbl>
                  <a:tblPr firstRow="1" bandRow="1"/>
                  <a:tblGrid>
                    <a:gridCol w="1871183">
                      <a:extLst>
                        <a:ext uri="{9D8B030D-6E8A-4147-A177-3AD203B41FA5}">
                          <a16:colId xmlns:a16="http://schemas.microsoft.com/office/drawing/2014/main" val="2419793140"/>
                        </a:ext>
                      </a:extLst>
                    </a:gridCol>
                    <a:gridCol w="3002558">
                      <a:extLst>
                        <a:ext uri="{9D8B030D-6E8A-4147-A177-3AD203B41FA5}">
                          <a16:colId xmlns:a16="http://schemas.microsoft.com/office/drawing/2014/main" val="2761119023"/>
                        </a:ext>
                      </a:extLst>
                    </a:gridCol>
                    <a:gridCol w="2991829">
                      <a:extLst>
                        <a:ext uri="{9D8B030D-6E8A-4147-A177-3AD203B41FA5}">
                          <a16:colId xmlns:a16="http://schemas.microsoft.com/office/drawing/2014/main" val="180266477"/>
                        </a:ext>
                      </a:extLst>
                    </a:gridCol>
                  </a:tblGrid>
                  <a:tr h="298833">
                    <a:tc>
                      <a:txBody>
                        <a:bodyPr/>
                        <a:lstStyle/>
                        <a:p>
                          <a:r>
                            <a:rPr lang="es-CO" sz="1800" b="1" dirty="0">
                              <a:latin typeface="+mn-lt"/>
                              <a:ea typeface="Roboto" panose="02000000000000000000" pitchFamily="2" charset="0"/>
                            </a:rPr>
                            <a:t>Nombre</a:t>
                          </a:r>
                        </a:p>
                      </a:txBody>
                      <a:tcPr>
                        <a:solidFill>
                          <a:schemeClr val="bg2"/>
                        </a:solidFill>
                      </a:tcPr>
                    </a:tc>
                    <a:tc gridSpan="2">
                      <a:txBody>
                        <a:bodyPr/>
                        <a:lstStyle/>
                        <a:p>
                          <a:pPr algn="ctr"/>
                          <a:r>
                            <a:rPr lang="es-CO" sz="1800" b="1" dirty="0">
                              <a:latin typeface="+mn-lt"/>
                              <a:ea typeface="Roboto" panose="02000000000000000000" pitchFamily="2" charset="0"/>
                            </a:rPr>
                            <a:t>Equivalencia lógica</a:t>
                          </a:r>
                        </a:p>
                      </a:txBody>
                      <a:tcPr>
                        <a:solidFill>
                          <a:schemeClr val="bg2"/>
                        </a:solidFill>
                      </a:tcPr>
                    </a:tc>
                    <a:tc hMerge="1">
                      <a:txBody>
                        <a:bodyPr/>
                        <a:lstStyle/>
                        <a:p>
                          <a:endParaRPr lang="es-CO"/>
                        </a:p>
                      </a:txBody>
                      <a:tcPr/>
                    </a:tc>
                    <a:extLst>
                      <a:ext uri="{0D108BD9-81ED-4DB2-BD59-A6C34878D82A}">
                        <a16:rowId xmlns:a16="http://schemas.microsoft.com/office/drawing/2014/main" val="1624526593"/>
                      </a:ext>
                    </a:extLst>
                  </a:tr>
                  <a:tr h="273930">
                    <a:tc>
                      <a:txBody>
                        <a:bodyPr/>
                        <a:lstStyle/>
                        <a:p>
                          <a:r>
                            <a:rPr lang="es-CO" sz="1800" b="1" dirty="0">
                              <a:latin typeface="+mn-lt"/>
                              <a:ea typeface="Roboto" panose="02000000000000000000" pitchFamily="2" charset="0"/>
                            </a:rPr>
                            <a:t>Conmutatividad</a:t>
                          </a:r>
                        </a:p>
                      </a:txBody>
                      <a:tcPr>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154515760"/>
                      </a:ext>
                    </a:extLst>
                  </a:tr>
                  <a:tr h="273930">
                    <a:tc>
                      <a:txBody>
                        <a:bodyPr/>
                        <a:lstStyle/>
                        <a:p>
                          <a:r>
                            <a:rPr lang="es-CO" sz="1800" b="1" dirty="0">
                              <a:latin typeface="+mn-lt"/>
                              <a:ea typeface="Roboto" panose="02000000000000000000" pitchFamily="2" charset="0"/>
                            </a:rPr>
                            <a:t>Asociatividad</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𝑅</m:t>
                                    </m:r>
                                  </m:e>
                                </m:d>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𝑅</m:t>
                                </m:r>
                              </m:oMath>
                            </m:oMathPara>
                          </a14:m>
                          <a:endParaRPr lang="es-CO" sz="16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𝑅</m:t>
                                    </m:r>
                                  </m:e>
                                </m:d>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𝑅</m:t>
                                </m:r>
                              </m:oMath>
                            </m:oMathPara>
                          </a14:m>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913743916"/>
                      </a:ext>
                    </a:extLst>
                  </a:tr>
                  <a:tr h="273930">
                    <a:tc>
                      <a:txBody>
                        <a:bodyPr/>
                        <a:lstStyle/>
                        <a:p>
                          <a:r>
                            <a:rPr lang="es-CO" sz="1800" b="1" dirty="0">
                              <a:latin typeface="+mn-lt"/>
                              <a:ea typeface="Roboto" panose="02000000000000000000" pitchFamily="2" charset="0"/>
                            </a:rPr>
                            <a:t>Distributividad</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𝑅</m:t>
                                    </m:r>
                                  </m:e>
                                </m:d>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e>
                                </m:d>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𝑅</m:t>
                                    </m:r>
                                  </m:e>
                                </m:d>
                              </m:oMath>
                            </m:oMathPara>
                          </a14:m>
                          <a:endParaRPr lang="es-CO" sz="16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𝑅</m:t>
                                    </m:r>
                                  </m:e>
                                </m:d>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e>
                                </m:d>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𝑅</m:t>
                                    </m:r>
                                  </m:e>
                                </m:d>
                              </m:oMath>
                            </m:oMathPara>
                          </a14:m>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717401643"/>
                      </a:ext>
                    </a:extLst>
                  </a:tr>
                  <a:tr h="273930">
                    <a:tc>
                      <a:txBody>
                        <a:bodyPr/>
                        <a:lstStyle/>
                        <a:p>
                          <a:r>
                            <a:rPr lang="es-CO" sz="1800" b="1" dirty="0">
                              <a:latin typeface="+mn-lt"/>
                              <a:ea typeface="Roboto" panose="02000000000000000000" pitchFamily="2" charset="0"/>
                            </a:rPr>
                            <a:t>Idempotencia</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246818852"/>
                      </a:ext>
                    </a:extLst>
                  </a:tr>
                  <a:tr h="273930">
                    <a:tc>
                      <a:txBody>
                        <a:bodyPr/>
                        <a:lstStyle/>
                        <a:p>
                          <a:r>
                            <a:rPr lang="es-CO" sz="1800" b="1" dirty="0">
                              <a:latin typeface="+mn-lt"/>
                              <a:ea typeface="Roboto" panose="02000000000000000000" pitchFamily="2" charset="0"/>
                            </a:rPr>
                            <a:t>Doble negación</a:t>
                          </a:r>
                        </a:p>
                      </a:txBody>
                      <a:tcPr>
                        <a:solidFill>
                          <a:schemeClr val="bg2"/>
                        </a:solidFill>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88149062"/>
                      </a:ext>
                    </a:extLst>
                  </a:tr>
                  <a:tr h="273930">
                    <a:tc>
                      <a:txBody>
                        <a:bodyPr/>
                        <a:lstStyle/>
                        <a:p>
                          <a:r>
                            <a:rPr lang="es-CO" sz="1800" b="1" dirty="0">
                              <a:latin typeface="+mn-lt"/>
                              <a:ea typeface="Roboto" panose="02000000000000000000" pitchFamily="2" charset="0"/>
                            </a:rPr>
                            <a:t>Leyes de Morgan</a:t>
                          </a:r>
                        </a:p>
                      </a:txBody>
                      <a:tcPr>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oMath>
                            </m:oMathPara>
                          </a14:m>
                          <a:endParaRPr lang="es-CO" sz="160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oMath>
                            </m:oMathPara>
                          </a14:m>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113060234"/>
                      </a:ext>
                    </a:extLst>
                  </a:tr>
                  <a:tr h="273930">
                    <a:tc>
                      <a:txBody>
                        <a:bodyPr/>
                        <a:lstStyle/>
                        <a:p>
                          <a:r>
                            <a:rPr lang="es-CO" sz="1800" b="1" dirty="0">
                              <a:latin typeface="+mn-lt"/>
                              <a:ea typeface="Roboto" panose="02000000000000000000" pitchFamily="2" charset="0"/>
                            </a:rPr>
                            <a:t>Identidad</a:t>
                          </a:r>
                        </a:p>
                      </a:txBody>
                      <a:tcPr>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𝑽</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𝑭</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494965197"/>
                      </a:ext>
                    </a:extLst>
                  </a:tr>
                  <a:tr h="273930">
                    <a:tc>
                      <a:txBody>
                        <a:bodyPr/>
                        <a:lstStyle/>
                        <a:p>
                          <a:r>
                            <a:rPr lang="es-CO" sz="1800" b="1" dirty="0">
                              <a:latin typeface="+mn-lt"/>
                              <a:ea typeface="Roboto" panose="02000000000000000000" pitchFamily="2" charset="0"/>
                            </a:rPr>
                            <a:t>Dominación</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𝑭</m:t>
                                </m:r>
                                <m:r>
                                  <a:rPr lang="es-MX" sz="1600" b="0"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𝑭</m:t>
                                </m:r>
                              </m:oMath>
                            </m:oMathPara>
                          </a14:m>
                          <a:endParaRPr lang="es-CO" sz="16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𝑽</m:t>
                                </m:r>
                                <m:r>
                                  <a:rPr lang="es-MX" sz="1600" b="0"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𝑽</m:t>
                                </m:r>
                              </m:oMath>
                            </m:oMathPara>
                          </a14:m>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707485840"/>
                      </a:ext>
                    </a:extLst>
                  </a:tr>
                  <a:tr h="273930">
                    <a:tc>
                      <a:txBody>
                        <a:bodyPr/>
                        <a:lstStyle/>
                        <a:p>
                          <a:r>
                            <a:rPr lang="es-CO" sz="1800" b="1" dirty="0">
                              <a:latin typeface="+mn-lt"/>
                              <a:ea typeface="Roboto" panose="02000000000000000000" pitchFamily="2" charset="0"/>
                            </a:rPr>
                            <a:t>Absorción</a:t>
                          </a:r>
                        </a:p>
                      </a:txBody>
                      <a:tcPr>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232652958"/>
                      </a:ext>
                    </a:extLst>
                  </a:tr>
                  <a:tr h="273930">
                    <a:tc>
                      <a:txBody>
                        <a:bodyPr/>
                        <a:lstStyle/>
                        <a:p>
                          <a:r>
                            <a:rPr lang="es-CO" sz="1800" b="1" dirty="0">
                              <a:latin typeface="+mn-lt"/>
                              <a:ea typeface="Roboto" panose="02000000000000000000" pitchFamily="2" charset="0"/>
                            </a:rPr>
                            <a:t>Complemento</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𝑭</m:t>
                                </m:r>
                              </m:oMath>
                            </m:oMathPara>
                          </a14:m>
                          <a:endParaRPr lang="es-CO" sz="1600" b="1"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𝑽</m:t>
                                </m:r>
                              </m:oMath>
                            </m:oMathPara>
                          </a14:m>
                          <a:endParaRPr lang="es-CO" sz="1600" b="1"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770911309"/>
                      </a:ext>
                    </a:extLst>
                  </a:tr>
                  <a:tr h="273930">
                    <a:tc>
                      <a:txBody>
                        <a:bodyPr/>
                        <a:lstStyle/>
                        <a:p>
                          <a:r>
                            <a:rPr lang="es-CO" sz="1800" b="1" dirty="0">
                              <a:latin typeface="+mn-lt"/>
                              <a:ea typeface="Roboto" panose="02000000000000000000" pitchFamily="2" charset="0"/>
                            </a:rPr>
                            <a:t>Implicación</a:t>
                          </a:r>
                        </a:p>
                      </a:txBody>
                      <a:tcPr>
                        <a:solidFill>
                          <a:schemeClr val="bg2"/>
                        </a:solidFill>
                      </a:tcPr>
                    </a:tc>
                    <a:tc gridSpan="2">
                      <a:txBody>
                        <a:bodyPr/>
                        <a:lstStyle/>
                        <a:p>
                          <a:pPr algn="ct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oMath>
                            </m:oMathPara>
                          </a14:m>
                          <a:endParaRPr lang="es-CO" sz="1600"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3483938044"/>
                      </a:ext>
                    </a:extLst>
                  </a:tr>
                  <a:tr h="273930">
                    <a:tc>
                      <a:txBody>
                        <a:bodyPr/>
                        <a:lstStyle/>
                        <a:p>
                          <a:r>
                            <a:rPr lang="es-CO" sz="1800" b="1" dirty="0">
                              <a:latin typeface="+mn-lt"/>
                              <a:ea typeface="Roboto" panose="02000000000000000000" pitchFamily="2" charset="0"/>
                            </a:rPr>
                            <a:t>Contrarrecíproco</a:t>
                          </a:r>
                        </a:p>
                      </a:txBody>
                      <a:tcPr>
                        <a:solidFill>
                          <a:schemeClr val="bg2"/>
                        </a:solidFill>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3255506134"/>
                      </a:ext>
                    </a:extLst>
                  </a:tr>
                  <a:tr h="273930">
                    <a:tc>
                      <a:txBody>
                        <a:bodyPr/>
                        <a:lstStyle/>
                        <a:p>
                          <a:r>
                            <a:rPr lang="es-CO" sz="1800" b="1" dirty="0">
                              <a:latin typeface="+mn-lt"/>
                              <a:ea typeface="Roboto" panose="02000000000000000000" pitchFamily="2" charset="0"/>
                            </a:rPr>
                            <a:t>Equivalencia</a:t>
                          </a:r>
                        </a:p>
                      </a:txBody>
                      <a:tcPr>
                        <a:solidFill>
                          <a:schemeClr val="bg2"/>
                        </a:solidFill>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e>
                                </m:d>
                              </m:oMath>
                            </m:oMathPara>
                          </a14:m>
                          <a:endParaRPr lang="es-CO" sz="1600"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40457137"/>
                      </a:ext>
                    </a:extLst>
                  </a:tr>
                </a:tbl>
              </a:graphicData>
            </a:graphic>
          </p:graphicFrame>
        </mc:Choice>
        <mc:Fallback xmlns="">
          <p:graphicFrame>
            <p:nvGraphicFramePr>
              <p:cNvPr id="12" name="Tabla 3">
                <a:extLst>
                  <a:ext uri="{FF2B5EF4-FFF2-40B4-BE49-F238E27FC236}">
                    <a16:creationId xmlns:a16="http://schemas.microsoft.com/office/drawing/2014/main" id="{C596B25B-8353-4A20-AC46-6CF2D48EBE61}"/>
                  </a:ext>
                </a:extLst>
              </p:cNvPr>
              <p:cNvGraphicFramePr>
                <a:graphicFrameLocks noGrp="1"/>
              </p:cNvGraphicFramePr>
              <p:nvPr>
                <p:extLst>
                  <p:ext uri="{D42A27DB-BD31-4B8C-83A1-F6EECF244321}">
                    <p14:modId xmlns:p14="http://schemas.microsoft.com/office/powerpoint/2010/main" val="1455049706"/>
                  </p:ext>
                </p:extLst>
              </p:nvPr>
            </p:nvGraphicFramePr>
            <p:xfrm>
              <a:off x="290288" y="1115661"/>
              <a:ext cx="7865570" cy="5120640"/>
            </p:xfrm>
            <a:graphic>
              <a:graphicData uri="http://schemas.openxmlformats.org/drawingml/2006/table">
                <a:tbl>
                  <a:tblPr firstRow="1" bandRow="1"/>
                  <a:tblGrid>
                    <a:gridCol w="1871183">
                      <a:extLst>
                        <a:ext uri="{9D8B030D-6E8A-4147-A177-3AD203B41FA5}">
                          <a16:colId xmlns:a16="http://schemas.microsoft.com/office/drawing/2014/main" val="2419793140"/>
                        </a:ext>
                      </a:extLst>
                    </a:gridCol>
                    <a:gridCol w="3002558">
                      <a:extLst>
                        <a:ext uri="{9D8B030D-6E8A-4147-A177-3AD203B41FA5}">
                          <a16:colId xmlns:a16="http://schemas.microsoft.com/office/drawing/2014/main" val="2761119023"/>
                        </a:ext>
                      </a:extLst>
                    </a:gridCol>
                    <a:gridCol w="2991829">
                      <a:extLst>
                        <a:ext uri="{9D8B030D-6E8A-4147-A177-3AD203B41FA5}">
                          <a16:colId xmlns:a16="http://schemas.microsoft.com/office/drawing/2014/main" val="180266477"/>
                        </a:ext>
                      </a:extLst>
                    </a:gridCol>
                  </a:tblGrid>
                  <a:tr h="365760">
                    <a:tc>
                      <a:txBody>
                        <a:bodyPr/>
                        <a:lstStyle/>
                        <a:p>
                          <a:r>
                            <a:rPr lang="es-CO" sz="1800" b="1" dirty="0">
                              <a:latin typeface="+mn-lt"/>
                              <a:ea typeface="Roboto" panose="02000000000000000000" pitchFamily="2" charset="0"/>
                            </a:rPr>
                            <a:t>Nombre</a:t>
                          </a:r>
                        </a:p>
                      </a:txBody>
                      <a:tcPr>
                        <a:solidFill>
                          <a:schemeClr val="bg2"/>
                        </a:solidFill>
                      </a:tcPr>
                    </a:tc>
                    <a:tc gridSpan="2">
                      <a:txBody>
                        <a:bodyPr/>
                        <a:lstStyle/>
                        <a:p>
                          <a:pPr algn="ctr"/>
                          <a:r>
                            <a:rPr lang="es-CO" sz="1800" b="1" dirty="0">
                              <a:latin typeface="+mn-lt"/>
                              <a:ea typeface="Roboto" panose="02000000000000000000" pitchFamily="2" charset="0"/>
                            </a:rPr>
                            <a:t>Equivalencia lógica</a:t>
                          </a:r>
                        </a:p>
                      </a:txBody>
                      <a:tcPr>
                        <a:solidFill>
                          <a:schemeClr val="bg2"/>
                        </a:solidFill>
                      </a:tcPr>
                    </a:tc>
                    <a:tc hMerge="1">
                      <a:txBody>
                        <a:bodyPr/>
                        <a:lstStyle/>
                        <a:p>
                          <a:endParaRPr lang="es-CO"/>
                        </a:p>
                      </a:txBody>
                      <a:tcPr/>
                    </a:tc>
                    <a:extLst>
                      <a:ext uri="{0D108BD9-81ED-4DB2-BD59-A6C34878D82A}">
                        <a16:rowId xmlns:a16="http://schemas.microsoft.com/office/drawing/2014/main" val="1624526593"/>
                      </a:ext>
                    </a:extLst>
                  </a:tr>
                  <a:tr h="365760">
                    <a:tc>
                      <a:txBody>
                        <a:bodyPr/>
                        <a:lstStyle/>
                        <a:p>
                          <a:r>
                            <a:rPr lang="es-CO" sz="1800" b="1" dirty="0">
                              <a:latin typeface="+mn-lt"/>
                              <a:ea typeface="Roboto" panose="02000000000000000000" pitchFamily="2" charset="0"/>
                            </a:rPr>
                            <a:t>Conmutatividad</a:t>
                          </a:r>
                        </a:p>
                      </a:txBody>
                      <a:tcPr>
                        <a:solidFill>
                          <a:schemeClr val="bg2"/>
                        </a:solidFill>
                      </a:tcPr>
                    </a:tc>
                    <a:tc>
                      <a:txBody>
                        <a:bodyPr/>
                        <a:lstStyle/>
                        <a:p>
                          <a:endParaRPr lang="es-CO"/>
                        </a:p>
                      </a:txBody>
                      <a:tcPr>
                        <a:blipFill>
                          <a:blip r:embed="rId3"/>
                          <a:stretch>
                            <a:fillRect l="-62475" t="-108333" r="-100000" b="-1226667"/>
                          </a:stretch>
                        </a:blipFill>
                      </a:tcPr>
                    </a:tc>
                    <a:tc>
                      <a:txBody>
                        <a:bodyPr/>
                        <a:lstStyle/>
                        <a:p>
                          <a:endParaRPr lang="es-CO"/>
                        </a:p>
                      </a:txBody>
                      <a:tcPr>
                        <a:blipFill>
                          <a:blip r:embed="rId3"/>
                          <a:stretch>
                            <a:fillRect l="-163136" t="-108333" r="-407" b="-1226667"/>
                          </a:stretch>
                        </a:blipFill>
                      </a:tcPr>
                    </a:tc>
                    <a:extLst>
                      <a:ext uri="{0D108BD9-81ED-4DB2-BD59-A6C34878D82A}">
                        <a16:rowId xmlns:a16="http://schemas.microsoft.com/office/drawing/2014/main" val="3154515760"/>
                      </a:ext>
                    </a:extLst>
                  </a:tr>
                  <a:tr h="365760">
                    <a:tc>
                      <a:txBody>
                        <a:bodyPr/>
                        <a:lstStyle/>
                        <a:p>
                          <a:r>
                            <a:rPr lang="es-CO" sz="1800" b="1" dirty="0">
                              <a:latin typeface="+mn-lt"/>
                              <a:ea typeface="Roboto" panose="02000000000000000000" pitchFamily="2" charset="0"/>
                            </a:rPr>
                            <a:t>Asociatividad</a:t>
                          </a:r>
                        </a:p>
                      </a:txBody>
                      <a:tcPr>
                        <a:solidFill>
                          <a:schemeClr val="bg2"/>
                        </a:solidFill>
                      </a:tcPr>
                    </a:tc>
                    <a:tc>
                      <a:txBody>
                        <a:bodyPr/>
                        <a:lstStyle/>
                        <a:p>
                          <a:endParaRPr lang="es-CO"/>
                        </a:p>
                      </a:txBody>
                      <a:tcPr>
                        <a:blipFill>
                          <a:blip r:embed="rId3"/>
                          <a:stretch>
                            <a:fillRect l="-62475" t="-208333" r="-100000" b="-1126667"/>
                          </a:stretch>
                        </a:blipFill>
                      </a:tcPr>
                    </a:tc>
                    <a:tc>
                      <a:txBody>
                        <a:bodyPr/>
                        <a:lstStyle/>
                        <a:p>
                          <a:endParaRPr lang="es-CO"/>
                        </a:p>
                      </a:txBody>
                      <a:tcPr>
                        <a:blipFill>
                          <a:blip r:embed="rId3"/>
                          <a:stretch>
                            <a:fillRect l="-163136" t="-208333" r="-407" b="-1126667"/>
                          </a:stretch>
                        </a:blipFill>
                      </a:tcPr>
                    </a:tc>
                    <a:extLst>
                      <a:ext uri="{0D108BD9-81ED-4DB2-BD59-A6C34878D82A}">
                        <a16:rowId xmlns:a16="http://schemas.microsoft.com/office/drawing/2014/main" val="1913743916"/>
                      </a:ext>
                    </a:extLst>
                  </a:tr>
                  <a:tr h="365760">
                    <a:tc>
                      <a:txBody>
                        <a:bodyPr/>
                        <a:lstStyle/>
                        <a:p>
                          <a:r>
                            <a:rPr lang="es-CO" sz="1800" b="1" dirty="0">
                              <a:latin typeface="+mn-lt"/>
                              <a:ea typeface="Roboto" panose="02000000000000000000" pitchFamily="2" charset="0"/>
                            </a:rPr>
                            <a:t>Distributividad</a:t>
                          </a:r>
                        </a:p>
                      </a:txBody>
                      <a:tcPr>
                        <a:solidFill>
                          <a:schemeClr val="bg2"/>
                        </a:solidFill>
                      </a:tcPr>
                    </a:tc>
                    <a:tc>
                      <a:txBody>
                        <a:bodyPr/>
                        <a:lstStyle/>
                        <a:p>
                          <a:endParaRPr lang="es-CO"/>
                        </a:p>
                      </a:txBody>
                      <a:tcPr>
                        <a:blipFill>
                          <a:blip r:embed="rId3"/>
                          <a:stretch>
                            <a:fillRect l="-62475" t="-308333" r="-100000" b="-1026667"/>
                          </a:stretch>
                        </a:blipFill>
                      </a:tcPr>
                    </a:tc>
                    <a:tc>
                      <a:txBody>
                        <a:bodyPr/>
                        <a:lstStyle/>
                        <a:p>
                          <a:endParaRPr lang="es-CO"/>
                        </a:p>
                      </a:txBody>
                      <a:tcPr>
                        <a:blipFill>
                          <a:blip r:embed="rId3"/>
                          <a:stretch>
                            <a:fillRect l="-163136" t="-308333" r="-407" b="-1026667"/>
                          </a:stretch>
                        </a:blipFill>
                      </a:tcPr>
                    </a:tc>
                    <a:extLst>
                      <a:ext uri="{0D108BD9-81ED-4DB2-BD59-A6C34878D82A}">
                        <a16:rowId xmlns:a16="http://schemas.microsoft.com/office/drawing/2014/main" val="717401643"/>
                      </a:ext>
                    </a:extLst>
                  </a:tr>
                  <a:tr h="365760">
                    <a:tc>
                      <a:txBody>
                        <a:bodyPr/>
                        <a:lstStyle/>
                        <a:p>
                          <a:r>
                            <a:rPr lang="es-CO" sz="1800" b="1" dirty="0">
                              <a:latin typeface="+mn-lt"/>
                              <a:ea typeface="Roboto" panose="02000000000000000000" pitchFamily="2" charset="0"/>
                            </a:rPr>
                            <a:t>Idempotencia</a:t>
                          </a:r>
                        </a:p>
                      </a:txBody>
                      <a:tcPr>
                        <a:solidFill>
                          <a:schemeClr val="bg2"/>
                        </a:solidFill>
                      </a:tcPr>
                    </a:tc>
                    <a:tc>
                      <a:txBody>
                        <a:bodyPr/>
                        <a:lstStyle/>
                        <a:p>
                          <a:endParaRPr lang="es-CO"/>
                        </a:p>
                      </a:txBody>
                      <a:tcPr>
                        <a:blipFill>
                          <a:blip r:embed="rId3"/>
                          <a:stretch>
                            <a:fillRect l="-62475" t="-408333" r="-100000" b="-926667"/>
                          </a:stretch>
                        </a:blipFill>
                      </a:tcPr>
                    </a:tc>
                    <a:tc>
                      <a:txBody>
                        <a:bodyPr/>
                        <a:lstStyle/>
                        <a:p>
                          <a:endParaRPr lang="es-CO"/>
                        </a:p>
                      </a:txBody>
                      <a:tcPr>
                        <a:blipFill>
                          <a:blip r:embed="rId3"/>
                          <a:stretch>
                            <a:fillRect l="-163136" t="-408333" r="-407" b="-926667"/>
                          </a:stretch>
                        </a:blipFill>
                      </a:tcPr>
                    </a:tc>
                    <a:extLst>
                      <a:ext uri="{0D108BD9-81ED-4DB2-BD59-A6C34878D82A}">
                        <a16:rowId xmlns:a16="http://schemas.microsoft.com/office/drawing/2014/main" val="2246818852"/>
                      </a:ext>
                    </a:extLst>
                  </a:tr>
                  <a:tr h="365760">
                    <a:tc>
                      <a:txBody>
                        <a:bodyPr/>
                        <a:lstStyle/>
                        <a:p>
                          <a:r>
                            <a:rPr lang="es-CO" sz="1800" b="1" dirty="0">
                              <a:latin typeface="+mn-lt"/>
                              <a:ea typeface="Roboto" panose="02000000000000000000" pitchFamily="2" charset="0"/>
                            </a:rPr>
                            <a:t>Doble negación</a:t>
                          </a:r>
                        </a:p>
                      </a:txBody>
                      <a:tcPr>
                        <a:solidFill>
                          <a:schemeClr val="bg2"/>
                        </a:solidFill>
                      </a:tcPr>
                    </a:tc>
                    <a:tc gridSpan="2">
                      <a:txBody>
                        <a:bodyPr/>
                        <a:lstStyle/>
                        <a:p>
                          <a:endParaRPr lang="es-CO"/>
                        </a:p>
                      </a:txBody>
                      <a:tcPr>
                        <a:blipFill>
                          <a:blip r:embed="rId3"/>
                          <a:stretch>
                            <a:fillRect l="-31301" t="-508333" r="-203" b="-826667"/>
                          </a:stretch>
                        </a:blipFill>
                      </a:tcPr>
                    </a:tc>
                    <a:tc hMerge="1">
                      <a:txBody>
                        <a:bodyPr/>
                        <a:lstStyle/>
                        <a:p>
                          <a:endParaRPr lang="es-CO"/>
                        </a:p>
                      </a:txBody>
                      <a:tcPr/>
                    </a:tc>
                    <a:extLst>
                      <a:ext uri="{0D108BD9-81ED-4DB2-BD59-A6C34878D82A}">
                        <a16:rowId xmlns:a16="http://schemas.microsoft.com/office/drawing/2014/main" val="88149062"/>
                      </a:ext>
                    </a:extLst>
                  </a:tr>
                  <a:tr h="365760">
                    <a:tc>
                      <a:txBody>
                        <a:bodyPr/>
                        <a:lstStyle/>
                        <a:p>
                          <a:r>
                            <a:rPr lang="es-CO" sz="1800" b="1" dirty="0">
                              <a:latin typeface="+mn-lt"/>
                              <a:ea typeface="Roboto" panose="02000000000000000000" pitchFamily="2" charset="0"/>
                            </a:rPr>
                            <a:t>Leyes de Morgan</a:t>
                          </a:r>
                        </a:p>
                      </a:txBody>
                      <a:tcPr>
                        <a:solidFill>
                          <a:schemeClr val="bg2"/>
                        </a:solidFill>
                      </a:tcPr>
                    </a:tc>
                    <a:tc>
                      <a:txBody>
                        <a:bodyPr/>
                        <a:lstStyle/>
                        <a:p>
                          <a:endParaRPr lang="es-CO"/>
                        </a:p>
                      </a:txBody>
                      <a:tcPr>
                        <a:blipFill>
                          <a:blip r:embed="rId3"/>
                          <a:stretch>
                            <a:fillRect l="-62475" t="-598361" r="-100000" b="-713115"/>
                          </a:stretch>
                        </a:blipFill>
                      </a:tcPr>
                    </a:tc>
                    <a:tc>
                      <a:txBody>
                        <a:bodyPr/>
                        <a:lstStyle/>
                        <a:p>
                          <a:endParaRPr lang="es-CO"/>
                        </a:p>
                      </a:txBody>
                      <a:tcPr>
                        <a:blipFill>
                          <a:blip r:embed="rId3"/>
                          <a:stretch>
                            <a:fillRect l="-163136" t="-598361" r="-407" b="-713115"/>
                          </a:stretch>
                        </a:blipFill>
                      </a:tcPr>
                    </a:tc>
                    <a:extLst>
                      <a:ext uri="{0D108BD9-81ED-4DB2-BD59-A6C34878D82A}">
                        <a16:rowId xmlns:a16="http://schemas.microsoft.com/office/drawing/2014/main" val="2113060234"/>
                      </a:ext>
                    </a:extLst>
                  </a:tr>
                  <a:tr h="365760">
                    <a:tc>
                      <a:txBody>
                        <a:bodyPr/>
                        <a:lstStyle/>
                        <a:p>
                          <a:r>
                            <a:rPr lang="es-CO" sz="1800" b="1" dirty="0">
                              <a:latin typeface="+mn-lt"/>
                              <a:ea typeface="Roboto" panose="02000000000000000000" pitchFamily="2" charset="0"/>
                            </a:rPr>
                            <a:t>Identidad</a:t>
                          </a:r>
                        </a:p>
                      </a:txBody>
                      <a:tcPr>
                        <a:solidFill>
                          <a:schemeClr val="bg2"/>
                        </a:solidFill>
                      </a:tcPr>
                    </a:tc>
                    <a:tc>
                      <a:txBody>
                        <a:bodyPr/>
                        <a:lstStyle/>
                        <a:p>
                          <a:endParaRPr lang="es-CO"/>
                        </a:p>
                      </a:txBody>
                      <a:tcPr>
                        <a:blipFill>
                          <a:blip r:embed="rId3"/>
                          <a:stretch>
                            <a:fillRect l="-62475" t="-710000" r="-100000" b="-625000"/>
                          </a:stretch>
                        </a:blipFill>
                      </a:tcPr>
                    </a:tc>
                    <a:tc>
                      <a:txBody>
                        <a:bodyPr/>
                        <a:lstStyle/>
                        <a:p>
                          <a:endParaRPr lang="es-CO"/>
                        </a:p>
                      </a:txBody>
                      <a:tcPr>
                        <a:blipFill>
                          <a:blip r:embed="rId3"/>
                          <a:stretch>
                            <a:fillRect l="-163136" t="-710000" r="-407" b="-625000"/>
                          </a:stretch>
                        </a:blipFill>
                      </a:tcPr>
                    </a:tc>
                    <a:extLst>
                      <a:ext uri="{0D108BD9-81ED-4DB2-BD59-A6C34878D82A}">
                        <a16:rowId xmlns:a16="http://schemas.microsoft.com/office/drawing/2014/main" val="2494965197"/>
                      </a:ext>
                    </a:extLst>
                  </a:tr>
                  <a:tr h="365760">
                    <a:tc>
                      <a:txBody>
                        <a:bodyPr/>
                        <a:lstStyle/>
                        <a:p>
                          <a:r>
                            <a:rPr lang="es-CO" sz="1800" b="1" dirty="0">
                              <a:latin typeface="+mn-lt"/>
                              <a:ea typeface="Roboto" panose="02000000000000000000" pitchFamily="2" charset="0"/>
                            </a:rPr>
                            <a:t>Dominación</a:t>
                          </a:r>
                        </a:p>
                      </a:txBody>
                      <a:tcPr>
                        <a:solidFill>
                          <a:schemeClr val="bg2"/>
                        </a:solidFill>
                      </a:tcPr>
                    </a:tc>
                    <a:tc>
                      <a:txBody>
                        <a:bodyPr/>
                        <a:lstStyle/>
                        <a:p>
                          <a:endParaRPr lang="es-CO"/>
                        </a:p>
                      </a:txBody>
                      <a:tcPr>
                        <a:blipFill>
                          <a:blip r:embed="rId3"/>
                          <a:stretch>
                            <a:fillRect l="-62475" t="-810000" r="-100000" b="-525000"/>
                          </a:stretch>
                        </a:blipFill>
                      </a:tcPr>
                    </a:tc>
                    <a:tc>
                      <a:txBody>
                        <a:bodyPr/>
                        <a:lstStyle/>
                        <a:p>
                          <a:endParaRPr lang="es-CO"/>
                        </a:p>
                      </a:txBody>
                      <a:tcPr>
                        <a:blipFill>
                          <a:blip r:embed="rId3"/>
                          <a:stretch>
                            <a:fillRect l="-163136" t="-810000" r="-407" b="-525000"/>
                          </a:stretch>
                        </a:blipFill>
                      </a:tcPr>
                    </a:tc>
                    <a:extLst>
                      <a:ext uri="{0D108BD9-81ED-4DB2-BD59-A6C34878D82A}">
                        <a16:rowId xmlns:a16="http://schemas.microsoft.com/office/drawing/2014/main" val="707485840"/>
                      </a:ext>
                    </a:extLst>
                  </a:tr>
                  <a:tr h="365760">
                    <a:tc>
                      <a:txBody>
                        <a:bodyPr/>
                        <a:lstStyle/>
                        <a:p>
                          <a:r>
                            <a:rPr lang="es-CO" sz="1800" b="1" dirty="0">
                              <a:latin typeface="+mn-lt"/>
                              <a:ea typeface="Roboto" panose="02000000000000000000" pitchFamily="2" charset="0"/>
                            </a:rPr>
                            <a:t>Absorción</a:t>
                          </a:r>
                        </a:p>
                      </a:txBody>
                      <a:tcPr>
                        <a:solidFill>
                          <a:schemeClr val="bg2"/>
                        </a:solidFill>
                      </a:tcPr>
                    </a:tc>
                    <a:tc>
                      <a:txBody>
                        <a:bodyPr/>
                        <a:lstStyle/>
                        <a:p>
                          <a:endParaRPr lang="es-CO"/>
                        </a:p>
                      </a:txBody>
                      <a:tcPr>
                        <a:blipFill>
                          <a:blip r:embed="rId3"/>
                          <a:stretch>
                            <a:fillRect l="-62475" t="-910000" r="-100000" b="-425000"/>
                          </a:stretch>
                        </a:blipFill>
                      </a:tcPr>
                    </a:tc>
                    <a:tc>
                      <a:txBody>
                        <a:bodyPr/>
                        <a:lstStyle/>
                        <a:p>
                          <a:endParaRPr lang="es-CO"/>
                        </a:p>
                      </a:txBody>
                      <a:tcPr>
                        <a:blipFill>
                          <a:blip r:embed="rId3"/>
                          <a:stretch>
                            <a:fillRect l="-163136" t="-910000" r="-407" b="-425000"/>
                          </a:stretch>
                        </a:blipFill>
                      </a:tcPr>
                    </a:tc>
                    <a:extLst>
                      <a:ext uri="{0D108BD9-81ED-4DB2-BD59-A6C34878D82A}">
                        <a16:rowId xmlns:a16="http://schemas.microsoft.com/office/drawing/2014/main" val="1232652958"/>
                      </a:ext>
                    </a:extLst>
                  </a:tr>
                  <a:tr h="365760">
                    <a:tc>
                      <a:txBody>
                        <a:bodyPr/>
                        <a:lstStyle/>
                        <a:p>
                          <a:r>
                            <a:rPr lang="es-CO" sz="1800" b="1" dirty="0">
                              <a:latin typeface="+mn-lt"/>
                              <a:ea typeface="Roboto" panose="02000000000000000000" pitchFamily="2" charset="0"/>
                            </a:rPr>
                            <a:t>Complemento</a:t>
                          </a:r>
                        </a:p>
                      </a:txBody>
                      <a:tcPr>
                        <a:solidFill>
                          <a:schemeClr val="bg2"/>
                        </a:solidFill>
                      </a:tcPr>
                    </a:tc>
                    <a:tc>
                      <a:txBody>
                        <a:bodyPr/>
                        <a:lstStyle/>
                        <a:p>
                          <a:endParaRPr lang="es-CO"/>
                        </a:p>
                      </a:txBody>
                      <a:tcPr>
                        <a:blipFill>
                          <a:blip r:embed="rId3"/>
                          <a:stretch>
                            <a:fillRect l="-62475" t="-1010000" r="-100000" b="-325000"/>
                          </a:stretch>
                        </a:blipFill>
                      </a:tcPr>
                    </a:tc>
                    <a:tc>
                      <a:txBody>
                        <a:bodyPr/>
                        <a:lstStyle/>
                        <a:p>
                          <a:endParaRPr lang="es-CO"/>
                        </a:p>
                      </a:txBody>
                      <a:tcPr>
                        <a:blipFill>
                          <a:blip r:embed="rId3"/>
                          <a:stretch>
                            <a:fillRect l="-163136" t="-1010000" r="-407" b="-325000"/>
                          </a:stretch>
                        </a:blipFill>
                      </a:tcPr>
                    </a:tc>
                    <a:extLst>
                      <a:ext uri="{0D108BD9-81ED-4DB2-BD59-A6C34878D82A}">
                        <a16:rowId xmlns:a16="http://schemas.microsoft.com/office/drawing/2014/main" val="3770911309"/>
                      </a:ext>
                    </a:extLst>
                  </a:tr>
                  <a:tr h="365760">
                    <a:tc>
                      <a:txBody>
                        <a:bodyPr/>
                        <a:lstStyle/>
                        <a:p>
                          <a:r>
                            <a:rPr lang="es-CO" sz="1800" b="1" dirty="0">
                              <a:latin typeface="+mn-lt"/>
                              <a:ea typeface="Roboto" panose="02000000000000000000" pitchFamily="2" charset="0"/>
                            </a:rPr>
                            <a:t>Implicación</a:t>
                          </a:r>
                        </a:p>
                      </a:txBody>
                      <a:tcPr>
                        <a:solidFill>
                          <a:schemeClr val="bg2"/>
                        </a:solidFill>
                      </a:tcPr>
                    </a:tc>
                    <a:tc gridSpan="2">
                      <a:txBody>
                        <a:bodyPr/>
                        <a:lstStyle/>
                        <a:p>
                          <a:endParaRPr lang="es-CO"/>
                        </a:p>
                      </a:txBody>
                      <a:tcPr>
                        <a:blipFill>
                          <a:blip r:embed="rId3"/>
                          <a:stretch>
                            <a:fillRect l="-31301" t="-1110000" r="-203" b="-225000"/>
                          </a:stretch>
                        </a:blipFill>
                      </a:tcPr>
                    </a:tc>
                    <a:tc hMerge="1">
                      <a:txBody>
                        <a:bodyPr/>
                        <a:lstStyle/>
                        <a:p>
                          <a:endParaRPr lang="es-CO"/>
                        </a:p>
                      </a:txBody>
                      <a:tcPr/>
                    </a:tc>
                    <a:extLst>
                      <a:ext uri="{0D108BD9-81ED-4DB2-BD59-A6C34878D82A}">
                        <a16:rowId xmlns:a16="http://schemas.microsoft.com/office/drawing/2014/main" val="3483938044"/>
                      </a:ext>
                    </a:extLst>
                  </a:tr>
                  <a:tr h="365760">
                    <a:tc>
                      <a:txBody>
                        <a:bodyPr/>
                        <a:lstStyle/>
                        <a:p>
                          <a:r>
                            <a:rPr lang="es-CO" sz="1800" b="1" dirty="0">
                              <a:latin typeface="+mn-lt"/>
                              <a:ea typeface="Roboto" panose="02000000000000000000" pitchFamily="2" charset="0"/>
                            </a:rPr>
                            <a:t>Contrarrecíproco</a:t>
                          </a:r>
                        </a:p>
                      </a:txBody>
                      <a:tcPr>
                        <a:solidFill>
                          <a:schemeClr val="bg2"/>
                        </a:solidFill>
                      </a:tcPr>
                    </a:tc>
                    <a:tc gridSpan="2">
                      <a:txBody>
                        <a:bodyPr/>
                        <a:lstStyle/>
                        <a:p>
                          <a:endParaRPr lang="es-CO"/>
                        </a:p>
                      </a:txBody>
                      <a:tcPr>
                        <a:blipFill>
                          <a:blip r:embed="rId3"/>
                          <a:stretch>
                            <a:fillRect l="-31301" t="-1210000" r="-203" b="-125000"/>
                          </a:stretch>
                        </a:blipFill>
                      </a:tcPr>
                    </a:tc>
                    <a:tc hMerge="1">
                      <a:txBody>
                        <a:bodyPr/>
                        <a:lstStyle/>
                        <a:p>
                          <a:endParaRPr lang="es-CO"/>
                        </a:p>
                      </a:txBody>
                      <a:tcPr/>
                    </a:tc>
                    <a:extLst>
                      <a:ext uri="{0D108BD9-81ED-4DB2-BD59-A6C34878D82A}">
                        <a16:rowId xmlns:a16="http://schemas.microsoft.com/office/drawing/2014/main" val="3255506134"/>
                      </a:ext>
                    </a:extLst>
                  </a:tr>
                  <a:tr h="365760">
                    <a:tc>
                      <a:txBody>
                        <a:bodyPr/>
                        <a:lstStyle/>
                        <a:p>
                          <a:r>
                            <a:rPr lang="es-CO" sz="1800" b="1" dirty="0">
                              <a:latin typeface="+mn-lt"/>
                              <a:ea typeface="Roboto" panose="02000000000000000000" pitchFamily="2" charset="0"/>
                            </a:rPr>
                            <a:t>Equivalencia</a:t>
                          </a:r>
                        </a:p>
                      </a:txBody>
                      <a:tcPr>
                        <a:solidFill>
                          <a:schemeClr val="bg2"/>
                        </a:solidFill>
                      </a:tcPr>
                    </a:tc>
                    <a:tc gridSpan="2">
                      <a:txBody>
                        <a:bodyPr/>
                        <a:lstStyle/>
                        <a:p>
                          <a:endParaRPr lang="es-CO"/>
                        </a:p>
                      </a:txBody>
                      <a:tcPr>
                        <a:blipFill>
                          <a:blip r:embed="rId3"/>
                          <a:stretch>
                            <a:fillRect l="-31301" t="-1310000" r="-203" b="-25000"/>
                          </a:stretch>
                        </a:blipFill>
                      </a:tcPr>
                    </a:tc>
                    <a:tc hMerge="1">
                      <a:txBody>
                        <a:bodyPr/>
                        <a:lstStyle/>
                        <a:p>
                          <a:endParaRPr lang="es-CO"/>
                        </a:p>
                      </a:txBody>
                      <a:tcPr/>
                    </a:tc>
                    <a:extLst>
                      <a:ext uri="{0D108BD9-81ED-4DB2-BD59-A6C34878D82A}">
                        <a16:rowId xmlns:a16="http://schemas.microsoft.com/office/drawing/2014/main" val="40457137"/>
                      </a:ext>
                    </a:extLst>
                  </a:tr>
                </a:tbl>
              </a:graphicData>
            </a:graphic>
          </p:graphicFrame>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08E1E762-6C1E-4D83-9181-E30710876934}"/>
                  </a:ext>
                </a:extLst>
              </p:cNvPr>
              <p:cNvSpPr txBox="1"/>
              <p:nvPr/>
            </p:nvSpPr>
            <p:spPr>
              <a:xfrm>
                <a:off x="8318089" y="2348706"/>
                <a:ext cx="3731343" cy="3200876"/>
              </a:xfrm>
              <a:prstGeom prst="rect">
                <a:avLst/>
              </a:prstGeom>
              <a:solidFill>
                <a:schemeClr val="bg1">
                  <a:lumMod val="95000"/>
                </a:schemeClr>
              </a:solidFill>
            </p:spPr>
            <p:txBody>
              <a:bodyPr wrap="square" rtlCol="0">
                <a:spAutoFit/>
              </a:bodyPr>
              <a:lstStyle/>
              <a:p>
                <a:r>
                  <a:rPr lang="es-MX" sz="2200" b="1" dirty="0">
                    <a:solidFill>
                      <a:srgbClr val="C00000"/>
                    </a:solidFill>
                  </a:rPr>
                  <a:t>Nota importante</a:t>
                </a:r>
                <a:r>
                  <a:rPr lang="es-MX" sz="2200" dirty="0">
                    <a:solidFill>
                      <a:srgbClr val="C00000"/>
                    </a:solidFill>
                  </a:rPr>
                  <a:t>: </a:t>
                </a:r>
              </a:p>
              <a:p>
                <a:r>
                  <a:rPr lang="es-MX" sz="2000" dirty="0"/>
                  <a:t>Todas las equivalencias </a:t>
                </a:r>
                <a:r>
                  <a:rPr lang="es-MX" sz="2000" b="1" dirty="0"/>
                  <a:t>lógicas proposicionales</a:t>
                </a:r>
                <a:r>
                  <a:rPr lang="es-MX" sz="2000" dirty="0"/>
                  <a:t> son válidas en </a:t>
                </a:r>
                <a:r>
                  <a:rPr lang="es-MX" sz="2000" b="1" dirty="0"/>
                  <a:t>lógica cuantificacional</a:t>
                </a:r>
                <a:r>
                  <a:rPr lang="es-MX" sz="2000" dirty="0"/>
                  <a:t>, aplicándose a las fórmulas dentro del alcance de los cuantificadores, sustituyendo las variables proposicionales </a:t>
                </a:r>
                <a14:m>
                  <m:oMath xmlns:m="http://schemas.openxmlformats.org/officeDocument/2006/math">
                    <m:r>
                      <a:rPr lang="es-MX" sz="2000" i="1" dirty="0" smtClean="0">
                        <a:latin typeface="Cambria Math" panose="02040503050406030204" pitchFamily="18" charset="0"/>
                      </a:rPr>
                      <m:t>(</m:t>
                    </m:r>
                    <m:r>
                      <a:rPr lang="es-MX" sz="2000" i="1" dirty="0" smtClean="0">
                        <a:latin typeface="Cambria Math" panose="02040503050406030204" pitchFamily="18" charset="0"/>
                      </a:rPr>
                      <m:t>𝑃</m:t>
                    </m:r>
                    <m:r>
                      <a:rPr lang="es-MX" sz="2000" i="1" dirty="0" smtClean="0">
                        <a:latin typeface="Cambria Math" panose="02040503050406030204" pitchFamily="18" charset="0"/>
                      </a:rPr>
                      <m:t>, </m:t>
                    </m:r>
                    <m:r>
                      <a:rPr lang="es-MX" sz="2000" i="1" dirty="0" smtClean="0">
                        <a:latin typeface="Cambria Math" panose="02040503050406030204" pitchFamily="18" charset="0"/>
                      </a:rPr>
                      <m:t>𝑄</m:t>
                    </m:r>
                    <m:r>
                      <a:rPr lang="es-MX" sz="2000" i="1" dirty="0" smtClean="0">
                        <a:latin typeface="Cambria Math" panose="02040503050406030204" pitchFamily="18" charset="0"/>
                      </a:rPr>
                      <m:t>, </m:t>
                    </m:r>
                    <m:r>
                      <a:rPr lang="es-MX" sz="2000" i="1" dirty="0" smtClean="0">
                        <a:latin typeface="Cambria Math" panose="02040503050406030204" pitchFamily="18" charset="0"/>
                      </a:rPr>
                      <m:t>𝑅</m:t>
                    </m:r>
                    <m:r>
                      <a:rPr lang="es-MX" sz="2000" i="1" dirty="0" smtClean="0">
                        <a:latin typeface="Cambria Math" panose="02040503050406030204" pitchFamily="18" charset="0"/>
                      </a:rPr>
                      <m:t>)</m:t>
                    </m:r>
                  </m:oMath>
                </a14:m>
                <a:r>
                  <a:rPr lang="es-MX" sz="2000" dirty="0"/>
                  <a:t> por funciones proposicionales </a:t>
                </a:r>
                <a14:m>
                  <m:oMath xmlns:m="http://schemas.openxmlformats.org/officeDocument/2006/math">
                    <m:r>
                      <a:rPr lang="es-MX" sz="2000" i="1" dirty="0" smtClean="0">
                        <a:latin typeface="Cambria Math" panose="02040503050406030204" pitchFamily="18" charset="0"/>
                      </a:rPr>
                      <m:t>(</m:t>
                    </m:r>
                    <m:r>
                      <a:rPr lang="es-MX" sz="2000" i="1" dirty="0" smtClean="0">
                        <a:latin typeface="Cambria Math" panose="02040503050406030204" pitchFamily="18" charset="0"/>
                      </a:rPr>
                      <m:t>𝑃</m:t>
                    </m:r>
                    <m:r>
                      <a:rPr lang="es-MX" sz="2000" i="1" dirty="0" smtClean="0">
                        <a:latin typeface="Cambria Math" panose="02040503050406030204" pitchFamily="18" charset="0"/>
                      </a:rPr>
                      <m:t>(</m:t>
                    </m:r>
                    <m:r>
                      <a:rPr lang="es-MX" sz="2000" i="1" dirty="0" smtClean="0">
                        <a:latin typeface="Cambria Math" panose="02040503050406030204" pitchFamily="18" charset="0"/>
                      </a:rPr>
                      <m:t>𝑥</m:t>
                    </m:r>
                    <m:r>
                      <a:rPr lang="es-MX" sz="2000" i="1" dirty="0" smtClean="0">
                        <a:latin typeface="Cambria Math" panose="02040503050406030204" pitchFamily="18" charset="0"/>
                      </a:rPr>
                      <m:t>), </m:t>
                    </m:r>
                    <m:r>
                      <a:rPr lang="es-MX" sz="2000" i="1" dirty="0" smtClean="0">
                        <a:latin typeface="Cambria Math" panose="02040503050406030204" pitchFamily="18" charset="0"/>
                      </a:rPr>
                      <m:t>𝑄</m:t>
                    </m:r>
                    <m:r>
                      <a:rPr lang="es-MX" sz="2000" i="1" dirty="0" smtClean="0">
                        <a:latin typeface="Cambria Math" panose="02040503050406030204" pitchFamily="18" charset="0"/>
                      </a:rPr>
                      <m:t>(</m:t>
                    </m:r>
                    <m:r>
                      <a:rPr lang="es-MX" sz="2000" i="1" dirty="0" smtClean="0">
                        <a:latin typeface="Cambria Math" panose="02040503050406030204" pitchFamily="18" charset="0"/>
                      </a:rPr>
                      <m:t>𝑥</m:t>
                    </m:r>
                    <m:r>
                      <a:rPr lang="es-MX" sz="2000" i="1" dirty="0" smtClean="0">
                        <a:latin typeface="Cambria Math" panose="02040503050406030204" pitchFamily="18" charset="0"/>
                      </a:rPr>
                      <m:t>), </m:t>
                    </m:r>
                    <m:r>
                      <a:rPr lang="es-MX" sz="2000" i="1" dirty="0" smtClean="0">
                        <a:latin typeface="Cambria Math" panose="02040503050406030204" pitchFamily="18" charset="0"/>
                      </a:rPr>
                      <m:t>𝑅</m:t>
                    </m:r>
                    <m:r>
                      <a:rPr lang="es-MX" sz="2000" i="1" dirty="0" smtClean="0">
                        <a:latin typeface="Cambria Math" panose="02040503050406030204" pitchFamily="18" charset="0"/>
                      </a:rPr>
                      <m:t>(</m:t>
                    </m:r>
                    <m:r>
                      <a:rPr lang="es-MX" sz="2000" i="1" dirty="0" smtClean="0">
                        <a:latin typeface="Cambria Math" panose="02040503050406030204" pitchFamily="18" charset="0"/>
                      </a:rPr>
                      <m:t>𝑥</m:t>
                    </m:r>
                    <m:r>
                      <a:rPr lang="es-MX" sz="2000" i="1" dirty="0" smtClean="0">
                        <a:latin typeface="Cambria Math" panose="02040503050406030204" pitchFamily="18" charset="0"/>
                      </a:rPr>
                      <m:t>))</m:t>
                    </m:r>
                  </m:oMath>
                </a14:m>
                <a:r>
                  <a:rPr lang="es-MX" sz="2000" dirty="0"/>
                  <a:t>.</a:t>
                </a:r>
                <a:endParaRPr lang="es-CO" sz="2000" dirty="0"/>
              </a:p>
            </p:txBody>
          </p:sp>
        </mc:Choice>
        <mc:Fallback xmlns="">
          <p:sp>
            <p:nvSpPr>
              <p:cNvPr id="11" name="CuadroTexto 10">
                <a:extLst>
                  <a:ext uri="{FF2B5EF4-FFF2-40B4-BE49-F238E27FC236}">
                    <a16:creationId xmlns:a16="http://schemas.microsoft.com/office/drawing/2014/main" id="{08E1E762-6C1E-4D83-9181-E30710876934}"/>
                  </a:ext>
                </a:extLst>
              </p:cNvPr>
              <p:cNvSpPr txBox="1">
                <a:spLocks noRot="1" noChangeAspect="1" noMove="1" noResize="1" noEditPoints="1" noAdjustHandles="1" noChangeArrowheads="1" noChangeShapeType="1" noTextEdit="1"/>
              </p:cNvSpPr>
              <p:nvPr/>
            </p:nvSpPr>
            <p:spPr>
              <a:xfrm>
                <a:off x="8318089" y="2348706"/>
                <a:ext cx="3731343" cy="3200876"/>
              </a:xfrm>
              <a:prstGeom prst="rect">
                <a:avLst/>
              </a:prstGeom>
              <a:blipFill>
                <a:blip r:embed="rId4"/>
                <a:stretch>
                  <a:fillRect l="-2124" t="-1143" r="-2451" b="-2476"/>
                </a:stretch>
              </a:blipFill>
            </p:spPr>
            <p:txBody>
              <a:bodyPr/>
              <a:lstStyle/>
              <a:p>
                <a:r>
                  <a:rPr lang="es-CO">
                    <a:noFill/>
                  </a:rPr>
                  <a:t> </a:t>
                </a:r>
              </a:p>
            </p:txBody>
          </p:sp>
        </mc:Fallback>
      </mc:AlternateContent>
    </p:spTree>
    <p:extLst>
      <p:ext uri="{BB962C8B-B14F-4D97-AF65-F5344CB8AC3E}">
        <p14:creationId xmlns:p14="http://schemas.microsoft.com/office/powerpoint/2010/main" val="18027501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title"/>
          </p:nvPr>
        </p:nvSpPr>
        <p:spPr>
          <a:xfrm>
            <a:off x="375618" y="180494"/>
            <a:ext cx="11314936" cy="896139"/>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Equivalencias lógica cuantificacional (Parte 1)</a:t>
            </a:r>
            <a:endParaRPr dirty="0"/>
          </a:p>
        </p:txBody>
      </p:sp>
      <mc:AlternateContent xmlns:mc="http://schemas.openxmlformats.org/markup-compatibility/2006">
        <mc:Choice xmlns:a14="http://schemas.microsoft.com/office/drawing/2010/main" Requires="a14">
          <p:graphicFrame>
            <p:nvGraphicFramePr>
              <p:cNvPr id="6" name="Tabla 3">
                <a:extLst>
                  <a:ext uri="{FF2B5EF4-FFF2-40B4-BE49-F238E27FC236}">
                    <a16:creationId xmlns:a16="http://schemas.microsoft.com/office/drawing/2014/main" id="{5C35BED4-E889-47E0-B1A8-F2865BFDE8BB}"/>
                  </a:ext>
                </a:extLst>
              </p:cNvPr>
              <p:cNvGraphicFramePr>
                <a:graphicFrameLocks noGrp="1"/>
              </p:cNvGraphicFramePr>
              <p:nvPr>
                <p:extLst>
                  <p:ext uri="{D42A27DB-BD31-4B8C-83A1-F6EECF244321}">
                    <p14:modId xmlns:p14="http://schemas.microsoft.com/office/powerpoint/2010/main" val="608094781"/>
                  </p:ext>
                </p:extLst>
              </p:nvPr>
            </p:nvGraphicFramePr>
            <p:xfrm>
              <a:off x="501445" y="1136101"/>
              <a:ext cx="11314937" cy="4019169"/>
            </p:xfrm>
            <a:graphic>
              <a:graphicData uri="http://schemas.openxmlformats.org/drawingml/2006/table">
                <a:tbl>
                  <a:tblPr firstRow="1" bandRow="1">
                    <a:tableStyleId>{AD6A3598-7CB8-4345-8D95-17CE05F158A0}</a:tableStyleId>
                  </a:tblPr>
                  <a:tblGrid>
                    <a:gridCol w="6076336">
                      <a:extLst>
                        <a:ext uri="{9D8B030D-6E8A-4147-A177-3AD203B41FA5}">
                          <a16:colId xmlns:a16="http://schemas.microsoft.com/office/drawing/2014/main" val="2419793140"/>
                        </a:ext>
                      </a:extLst>
                    </a:gridCol>
                    <a:gridCol w="5238601">
                      <a:extLst>
                        <a:ext uri="{9D8B030D-6E8A-4147-A177-3AD203B41FA5}">
                          <a16:colId xmlns:a16="http://schemas.microsoft.com/office/drawing/2014/main" val="2761119023"/>
                        </a:ext>
                      </a:extLst>
                    </a:gridCol>
                  </a:tblGrid>
                  <a:tr h="0">
                    <a:tc>
                      <a:txBody>
                        <a:bodyPr/>
                        <a:lstStyle/>
                        <a:p>
                          <a:r>
                            <a:rPr lang="es-CO" sz="2000" b="1" dirty="0">
                              <a:latin typeface="+mn-lt"/>
                              <a:ea typeface="Roboto" panose="02000000000000000000" pitchFamily="2" charset="0"/>
                            </a:rPr>
                            <a:t>Nombre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s-CO" sz="2000" b="1" dirty="0">
                              <a:latin typeface="+mn-lt"/>
                              <a:ea typeface="Roboto" panose="02000000000000000000" pitchFamily="2" charset="0"/>
                            </a:rPr>
                            <a:t>Equivalencia lógica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624526593"/>
                      </a:ext>
                    </a:extLst>
                  </a:tr>
                  <a:tr h="461476">
                    <a:tc>
                      <a:txBody>
                        <a:bodyPr/>
                        <a:lstStyle/>
                        <a:p>
                          <a:r>
                            <a:rPr lang="es-MX" sz="2000" b="0" dirty="0">
                              <a:latin typeface="+mn-lt"/>
                              <a:ea typeface="Roboto" panose="02000000000000000000" pitchFamily="2" charset="0"/>
                            </a:rPr>
                            <a:t>Negación de cuantificadores (De Morgan cuántico)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𝑥𝑃</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𝑥</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𝑥</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𝑃</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𝑥</m:t>
                                    </m:r>
                                  </m:e>
                                </m:d>
                              </m:oMath>
                            </m:oMathPara>
                          </a14:m>
                          <a:endParaRPr lang="es-MX" sz="2000" b="0" i="1" dirty="0">
                            <a:latin typeface="Cambria Math" panose="02040503050406030204" pitchFamily="18" charset="0"/>
                            <a:ea typeface="Roboto" panose="02000000000000000000" pitchFamily="2" charset="0"/>
                          </a:endParaRPr>
                        </a:p>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𝑥𝑃</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𝑥</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𝑥</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𝑃</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𝑥</m:t>
                                    </m:r>
                                  </m:e>
                                </m:d>
                              </m:oMath>
                            </m:oMathPara>
                          </a14:m>
                          <a:endParaRPr lang="es-MX" sz="2000" b="0" i="1" dirty="0">
                            <a:latin typeface="Cambria Math" panose="02040503050406030204" pitchFamily="18"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54515760"/>
                      </a:ext>
                    </a:extLst>
                  </a:tr>
                  <a:tr h="490318">
                    <a:tc>
                      <a:txBody>
                        <a:bodyPr/>
                        <a:lstStyle/>
                        <a:p>
                          <a:r>
                            <a:rPr lang="es-MX" sz="2000" b="0" dirty="0">
                              <a:latin typeface="+mn-lt"/>
                              <a:ea typeface="Roboto" panose="02000000000000000000" pitchFamily="2" charset="0"/>
                            </a:rPr>
                            <a:t>Distributividad del cuantificador universal sobre la conjunción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𝑥</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𝑃</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𝑥</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Roboto" panose="02000000000000000000" pitchFamily="2" charset="0"/>
                                      </a:rPr>
                                      <m:t>𝑄</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𝑥</m:t>
                                        </m:r>
                                      </m:e>
                                    </m:d>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𝑥𝑃</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𝑥</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𝑥𝑄</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𝑥</m:t>
                                    </m:r>
                                  </m:e>
                                </m:d>
                              </m:oMath>
                            </m:oMathPara>
                          </a14:m>
                          <a:endParaRPr lang="es-CO" sz="2000" dirty="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13743916"/>
                      </a:ext>
                    </a:extLst>
                  </a:tr>
                  <a:tr h="490318">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2000" b="0" dirty="0">
                              <a:latin typeface="+mn-lt"/>
                              <a:ea typeface="Roboto" panose="02000000000000000000" pitchFamily="2" charset="0"/>
                            </a:rPr>
                            <a:t>Distributividad (en un solo sentido) del cuantificador universal sobre la disyunción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𝑥𝑃</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𝑥</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𝑥𝑄</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𝑥</m:t>
                                        </m:r>
                                      </m:e>
                                    </m:d>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𝑥</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𝑃</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𝑥</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𝑥𝑄</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𝑥</m:t>
                                        </m:r>
                                      </m:e>
                                    </m:d>
                                  </m:e>
                                </m:d>
                              </m:oMath>
                            </m:oMathPara>
                          </a14:m>
                          <a:endParaRPr lang="es-CO" sz="2000" dirty="0">
                            <a:latin typeface="Roboto" panose="02000000000000000000" pitchFamily="2" charset="0"/>
                            <a:ea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29748753"/>
                      </a:ext>
                    </a:extLst>
                  </a:tr>
                  <a:tr h="490318">
                    <a:tc>
                      <a:txBody>
                        <a:bodyPr/>
                        <a:lstStyle/>
                        <a:p>
                          <a:r>
                            <a:rPr lang="es-MX" sz="2000" b="0" dirty="0">
                              <a:latin typeface="+mn-lt"/>
                              <a:ea typeface="Roboto" panose="02000000000000000000" pitchFamily="2" charset="0"/>
                            </a:rPr>
                            <a:t>Distributividad del cuantificador existencial sobre la disyunción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𝑥</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𝑃</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𝑥</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Roboto" panose="02000000000000000000" pitchFamily="2" charset="0"/>
                                      </a:rPr>
                                      <m:t>𝑄</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𝑥</m:t>
                                        </m:r>
                                      </m:e>
                                    </m:d>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𝑥𝑃</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𝑥</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𝑥𝑄</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𝑥</m:t>
                                    </m:r>
                                  </m:e>
                                </m:d>
                              </m:oMath>
                            </m:oMathPara>
                          </a14:m>
                          <a:endParaRPr lang="es-CO" sz="2000" dirty="0">
                            <a:latin typeface="Roboto" panose="02000000000000000000" pitchFamily="2" charset="0"/>
                            <a:ea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17401643"/>
                      </a:ext>
                    </a:extLst>
                  </a:tr>
                  <a:tr h="490318">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2000" b="0" dirty="0">
                              <a:latin typeface="+mn-lt"/>
                              <a:ea typeface="Roboto" panose="02000000000000000000" pitchFamily="2" charset="0"/>
                            </a:rPr>
                            <a:t>Distributividad (en un solo sentido) del cuantificador existencial sobre la conjunción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𝑥</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𝑃</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𝑥</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Roboto" panose="02000000000000000000" pitchFamily="2" charset="0"/>
                                      </a:rPr>
                                      <m:t>𝑄</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𝑥</m:t>
                                        </m:r>
                                      </m:e>
                                    </m:d>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𝑥𝑃</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𝑥</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𝑥𝑄</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𝑥</m:t>
                                    </m:r>
                                  </m:e>
                                </m:d>
                              </m:oMath>
                            </m:oMathPara>
                          </a14:m>
                          <a:endParaRPr lang="es-CO" sz="2000" dirty="0">
                            <a:latin typeface="Roboto" panose="02000000000000000000" pitchFamily="2" charset="0"/>
                            <a:ea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63083683"/>
                      </a:ext>
                    </a:extLst>
                  </a:tr>
                </a:tbl>
              </a:graphicData>
            </a:graphic>
          </p:graphicFrame>
        </mc:Choice>
        <mc:Fallback>
          <p:graphicFrame>
            <p:nvGraphicFramePr>
              <p:cNvPr id="6" name="Tabla 3">
                <a:extLst>
                  <a:ext uri="{FF2B5EF4-FFF2-40B4-BE49-F238E27FC236}">
                    <a16:creationId xmlns:a16="http://schemas.microsoft.com/office/drawing/2014/main" id="{5C35BED4-E889-47E0-B1A8-F2865BFDE8BB}"/>
                  </a:ext>
                </a:extLst>
              </p:cNvPr>
              <p:cNvGraphicFramePr>
                <a:graphicFrameLocks noGrp="1"/>
              </p:cNvGraphicFramePr>
              <p:nvPr>
                <p:extLst>
                  <p:ext uri="{D42A27DB-BD31-4B8C-83A1-F6EECF244321}">
                    <p14:modId xmlns:p14="http://schemas.microsoft.com/office/powerpoint/2010/main" val="608094781"/>
                  </p:ext>
                </p:extLst>
              </p:nvPr>
            </p:nvGraphicFramePr>
            <p:xfrm>
              <a:off x="501445" y="1136101"/>
              <a:ext cx="11314937" cy="4019169"/>
            </p:xfrm>
            <a:graphic>
              <a:graphicData uri="http://schemas.openxmlformats.org/drawingml/2006/table">
                <a:tbl>
                  <a:tblPr firstRow="1" bandRow="1">
                    <a:tableStyleId>{AD6A3598-7CB8-4345-8D95-17CE05F158A0}</a:tableStyleId>
                  </a:tblPr>
                  <a:tblGrid>
                    <a:gridCol w="6076336">
                      <a:extLst>
                        <a:ext uri="{9D8B030D-6E8A-4147-A177-3AD203B41FA5}">
                          <a16:colId xmlns:a16="http://schemas.microsoft.com/office/drawing/2014/main" val="2419793140"/>
                        </a:ext>
                      </a:extLst>
                    </a:gridCol>
                    <a:gridCol w="5238601">
                      <a:extLst>
                        <a:ext uri="{9D8B030D-6E8A-4147-A177-3AD203B41FA5}">
                          <a16:colId xmlns:a16="http://schemas.microsoft.com/office/drawing/2014/main" val="2761119023"/>
                        </a:ext>
                      </a:extLst>
                    </a:gridCol>
                  </a:tblGrid>
                  <a:tr h="396240">
                    <a:tc>
                      <a:txBody>
                        <a:bodyPr/>
                        <a:lstStyle/>
                        <a:p>
                          <a:r>
                            <a:rPr lang="es-CO" sz="2000" b="1" dirty="0">
                              <a:latin typeface="+mn-lt"/>
                              <a:ea typeface="Roboto" panose="02000000000000000000" pitchFamily="2" charset="0"/>
                            </a:rPr>
                            <a:t>Nombre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s-CO" sz="2000" b="1" dirty="0">
                              <a:latin typeface="+mn-lt"/>
                              <a:ea typeface="Roboto" panose="02000000000000000000" pitchFamily="2" charset="0"/>
                            </a:rPr>
                            <a:t>Equivalencia lógica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624526593"/>
                      </a:ext>
                    </a:extLst>
                  </a:tr>
                  <a:tr h="701040">
                    <a:tc>
                      <a:txBody>
                        <a:bodyPr/>
                        <a:lstStyle/>
                        <a:p>
                          <a:r>
                            <a:rPr lang="es-MX" sz="2000" b="0" dirty="0">
                              <a:latin typeface="+mn-lt"/>
                              <a:ea typeface="Roboto" panose="02000000000000000000" pitchFamily="2" charset="0"/>
                            </a:rPr>
                            <a:t>Negación de cuantificadores (De Morgan cuántico)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s-CO"/>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16047" t="-60870" r="-233" b="-429565"/>
                          </a:stretch>
                        </a:blipFill>
                      </a:tcPr>
                    </a:tc>
                    <a:extLst>
                      <a:ext uri="{0D108BD9-81ED-4DB2-BD59-A6C34878D82A}">
                        <a16:rowId xmlns:a16="http://schemas.microsoft.com/office/drawing/2014/main" val="3154515760"/>
                      </a:ext>
                    </a:extLst>
                  </a:tr>
                  <a:tr h="701040">
                    <a:tc>
                      <a:txBody>
                        <a:bodyPr/>
                        <a:lstStyle/>
                        <a:p>
                          <a:r>
                            <a:rPr lang="es-MX" sz="2000" b="0" dirty="0">
                              <a:latin typeface="+mn-lt"/>
                              <a:ea typeface="Roboto" panose="02000000000000000000" pitchFamily="2" charset="0"/>
                            </a:rPr>
                            <a:t>Distributividad del cuantificador universal sobre la conjunción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s-CO"/>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16047" t="-160870" r="-233" b="-329565"/>
                          </a:stretch>
                        </a:blipFill>
                      </a:tcPr>
                    </a:tc>
                    <a:extLst>
                      <a:ext uri="{0D108BD9-81ED-4DB2-BD59-A6C34878D82A}">
                        <a16:rowId xmlns:a16="http://schemas.microsoft.com/office/drawing/2014/main" val="1913743916"/>
                      </a:ext>
                    </a:extLst>
                  </a:tr>
                  <a:tr h="74028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2000" b="0" dirty="0">
                              <a:latin typeface="+mn-lt"/>
                              <a:ea typeface="Roboto" panose="02000000000000000000" pitchFamily="2" charset="0"/>
                            </a:rPr>
                            <a:t>Distributividad (en un solo sentido) del cuantificador universal sobre la disyunción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s-CO"/>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16047" t="-245902" r="-233" b="-210656"/>
                          </a:stretch>
                        </a:blipFill>
                      </a:tcPr>
                    </a:tc>
                    <a:extLst>
                      <a:ext uri="{0D108BD9-81ED-4DB2-BD59-A6C34878D82A}">
                        <a16:rowId xmlns:a16="http://schemas.microsoft.com/office/drawing/2014/main" val="2329748753"/>
                      </a:ext>
                    </a:extLst>
                  </a:tr>
                  <a:tr h="740283">
                    <a:tc>
                      <a:txBody>
                        <a:bodyPr/>
                        <a:lstStyle/>
                        <a:p>
                          <a:r>
                            <a:rPr lang="es-MX" sz="2000" b="0" dirty="0">
                              <a:latin typeface="+mn-lt"/>
                              <a:ea typeface="Roboto" panose="02000000000000000000" pitchFamily="2" charset="0"/>
                            </a:rPr>
                            <a:t>Distributividad del cuantificador existencial sobre la disyunción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s-CO"/>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16047" t="-348760" r="-233" b="-112397"/>
                          </a:stretch>
                        </a:blipFill>
                      </a:tcPr>
                    </a:tc>
                    <a:extLst>
                      <a:ext uri="{0D108BD9-81ED-4DB2-BD59-A6C34878D82A}">
                        <a16:rowId xmlns:a16="http://schemas.microsoft.com/office/drawing/2014/main" val="717401643"/>
                      </a:ext>
                    </a:extLst>
                  </a:tr>
                  <a:tr h="74028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2000" b="0" dirty="0">
                              <a:latin typeface="+mn-lt"/>
                              <a:ea typeface="Roboto" panose="02000000000000000000" pitchFamily="2" charset="0"/>
                            </a:rPr>
                            <a:t>Distributividad (en un solo sentido) del cuantificador existencial sobre la conjunción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s-CO"/>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16047" t="-445082" r="-233" b="-11475"/>
                          </a:stretch>
                        </a:blipFill>
                      </a:tcPr>
                    </a:tc>
                    <a:extLst>
                      <a:ext uri="{0D108BD9-81ED-4DB2-BD59-A6C34878D82A}">
                        <a16:rowId xmlns:a16="http://schemas.microsoft.com/office/drawing/2014/main" val="1263083683"/>
                      </a:ext>
                    </a:extLst>
                  </a:tr>
                </a:tbl>
              </a:graphicData>
            </a:graphic>
          </p:graphicFrame>
        </mc:Fallback>
      </mc:AlternateContent>
    </p:spTree>
    <p:extLst>
      <p:ext uri="{BB962C8B-B14F-4D97-AF65-F5344CB8AC3E}">
        <p14:creationId xmlns:p14="http://schemas.microsoft.com/office/powerpoint/2010/main" val="33169872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title"/>
          </p:nvPr>
        </p:nvSpPr>
        <p:spPr>
          <a:xfrm>
            <a:off x="375617" y="180494"/>
            <a:ext cx="11314937" cy="896139"/>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Equivalencias lógica cuantificacional (Parte 2)</a:t>
            </a:r>
            <a:endParaRPr dirty="0"/>
          </a:p>
        </p:txBody>
      </p:sp>
      <mc:AlternateContent xmlns:mc="http://schemas.openxmlformats.org/markup-compatibility/2006">
        <mc:Choice xmlns:a14="http://schemas.microsoft.com/office/drawing/2010/main" Requires="a14">
          <p:graphicFrame>
            <p:nvGraphicFramePr>
              <p:cNvPr id="6" name="Tabla 3">
                <a:extLst>
                  <a:ext uri="{FF2B5EF4-FFF2-40B4-BE49-F238E27FC236}">
                    <a16:creationId xmlns:a16="http://schemas.microsoft.com/office/drawing/2014/main" id="{5C35BED4-E889-47E0-B1A8-F2865BFDE8BB}"/>
                  </a:ext>
                </a:extLst>
              </p:cNvPr>
              <p:cNvGraphicFramePr>
                <a:graphicFrameLocks noGrp="1"/>
              </p:cNvGraphicFramePr>
              <p:nvPr>
                <p:extLst>
                  <p:ext uri="{D42A27DB-BD31-4B8C-83A1-F6EECF244321}">
                    <p14:modId xmlns:p14="http://schemas.microsoft.com/office/powerpoint/2010/main" val="1645480916"/>
                  </p:ext>
                </p:extLst>
              </p:nvPr>
            </p:nvGraphicFramePr>
            <p:xfrm>
              <a:off x="501445" y="1195093"/>
              <a:ext cx="11314937" cy="3492246"/>
            </p:xfrm>
            <a:graphic>
              <a:graphicData uri="http://schemas.openxmlformats.org/drawingml/2006/table">
                <a:tbl>
                  <a:tblPr firstRow="1" bandRow="1">
                    <a:tableStyleId>{AD6A3598-7CB8-4345-8D95-17CE05F158A0}</a:tableStyleId>
                  </a:tblPr>
                  <a:tblGrid>
                    <a:gridCol w="5501149">
                      <a:extLst>
                        <a:ext uri="{9D8B030D-6E8A-4147-A177-3AD203B41FA5}">
                          <a16:colId xmlns:a16="http://schemas.microsoft.com/office/drawing/2014/main" val="2419793140"/>
                        </a:ext>
                      </a:extLst>
                    </a:gridCol>
                    <a:gridCol w="5813788">
                      <a:extLst>
                        <a:ext uri="{9D8B030D-6E8A-4147-A177-3AD203B41FA5}">
                          <a16:colId xmlns:a16="http://schemas.microsoft.com/office/drawing/2014/main" val="2761119023"/>
                        </a:ext>
                      </a:extLst>
                    </a:gridCol>
                  </a:tblGrid>
                  <a:tr h="0">
                    <a:tc>
                      <a:txBody>
                        <a:bodyPr/>
                        <a:lstStyle/>
                        <a:p>
                          <a:r>
                            <a:rPr lang="es-CO" sz="2000" b="1" dirty="0">
                              <a:latin typeface="+mn-lt"/>
                              <a:ea typeface="Roboto" panose="02000000000000000000" pitchFamily="2" charset="0"/>
                            </a:rPr>
                            <a:t>Nombre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s-CO" sz="2000" b="1" dirty="0">
                              <a:latin typeface="+mn-lt"/>
                              <a:ea typeface="Roboto" panose="02000000000000000000" pitchFamily="2" charset="0"/>
                            </a:rPr>
                            <a:t>Equivalencia lógica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624526593"/>
                      </a:ext>
                    </a:extLst>
                  </a:tr>
                  <a:tr h="1072210">
                    <a:tc>
                      <a:txBody>
                        <a:bodyPr/>
                        <a:lstStyle/>
                        <a:p>
                          <a:r>
                            <a:rPr lang="es-CO" sz="2000" b="0" dirty="0">
                              <a:latin typeface="+mn-lt"/>
                              <a:ea typeface="Roboto" panose="02000000000000000000" pitchFamily="2" charset="0"/>
                            </a:rPr>
                            <a:t>Distribución de cuantificadores (restricciones)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dirty="0">
                              <a:latin typeface="+mn-lt"/>
                              <a:ea typeface="Roboto" panose="02000000000000000000" pitchFamily="2" charset="0"/>
                            </a:rPr>
                            <a:t>Si la formula </a:t>
                          </a:r>
                          <a14:m>
                            <m:oMath xmlns:m="http://schemas.openxmlformats.org/officeDocument/2006/math">
                              <m:r>
                                <a:rPr lang="es-MX" sz="2000" b="0" i="1" smtClean="0">
                                  <a:latin typeface="Cambria Math" panose="02040503050406030204" pitchFamily="18" charset="0"/>
                                  <a:ea typeface="Roboto" panose="02000000000000000000" pitchFamily="2" charset="0"/>
                                </a:rPr>
                                <m:t>𝑄</m:t>
                              </m:r>
                            </m:oMath>
                          </a14:m>
                          <a:r>
                            <a:rPr lang="es-CO" sz="2000" dirty="0">
                              <a:latin typeface="+mn-lt"/>
                              <a:ea typeface="Roboto" panose="02000000000000000000" pitchFamily="2" charset="0"/>
                            </a:rPr>
                            <a:t> no contiene</a:t>
                          </a:r>
                          <a:r>
                            <a:rPr lang="es-CO" sz="2000" baseline="0" dirty="0">
                              <a:latin typeface="+mn-lt"/>
                              <a:ea typeface="Roboto" panose="02000000000000000000" pitchFamily="2" charset="0"/>
                            </a:rPr>
                            <a:t> la variable cuantificada </a:t>
                          </a:r>
                          <a14:m>
                            <m:oMath xmlns:m="http://schemas.openxmlformats.org/officeDocument/2006/math">
                              <m:r>
                                <a:rPr lang="es-MX" sz="2000" b="0" i="1" smtClean="0">
                                  <a:latin typeface="Cambria Math" panose="02040503050406030204" pitchFamily="18" charset="0"/>
                                  <a:ea typeface="Roboto" panose="02000000000000000000" pitchFamily="2" charset="0"/>
                                </a:rPr>
                                <m:t>𝑥</m:t>
                              </m:r>
                            </m:oMath>
                          </a14:m>
                          <a:r>
                            <a:rPr lang="es-CO" sz="2000" dirty="0">
                              <a:latin typeface="+mn-lt"/>
                              <a:ea typeface="Roboto" panose="02000000000000000000" pitchFamily="2" charset="0"/>
                            </a:rPr>
                            <a: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𝑥</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𝑃</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𝑥</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Roboto" panose="02000000000000000000" pitchFamily="2" charset="0"/>
                                      </a:rPr>
                                      <m:t>𝑄</m:t>
                                    </m:r>
                                  </m:e>
                                </m:d>
                                <m:r>
                                  <a:rPr lang="es-MX" sz="2000" b="0" i="1" smtClean="0">
                                    <a:latin typeface="Cambria Math" panose="02040503050406030204" pitchFamily="18" charset="0"/>
                                    <a:ea typeface="Cambria Math" panose="02040503050406030204" pitchFamily="18" charset="0"/>
                                  </a:rPr>
                                  <m:t>≡</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𝑥𝑃</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𝑥</m:t>
                                        </m:r>
                                      </m:e>
                                    </m:d>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Roboto" panose="02000000000000000000" pitchFamily="2" charset="0"/>
                                  </a:rPr>
                                  <m:t>𝑄</m:t>
                                </m:r>
                              </m:oMath>
                            </m:oMathPara>
                          </a14:m>
                          <a:endParaRPr lang="es-MX" sz="2000" b="0" i="1" dirty="0">
                            <a:latin typeface="Cambria Math" panose="02040503050406030204" pitchFamily="18" charset="0"/>
                            <a:ea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𝑥</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𝑃</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𝑥</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Roboto" panose="02000000000000000000" pitchFamily="2" charset="0"/>
                                      </a:rPr>
                                      <m:t>𝑄</m:t>
                                    </m:r>
                                  </m:e>
                                </m:d>
                                <m:r>
                                  <a:rPr lang="es-MX" sz="2000" b="0" i="1" smtClean="0">
                                    <a:latin typeface="Cambria Math" panose="02040503050406030204" pitchFamily="18" charset="0"/>
                                    <a:ea typeface="Cambria Math" panose="02040503050406030204" pitchFamily="18" charset="0"/>
                                  </a:rPr>
                                  <m:t>≡</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𝑥𝑃</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𝑥</m:t>
                                        </m:r>
                                      </m:e>
                                    </m:d>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Roboto" panose="02000000000000000000" pitchFamily="2" charset="0"/>
                                  </a:rPr>
                                  <m:t>𝑄</m:t>
                                </m:r>
                              </m:oMath>
                            </m:oMathPara>
                          </a14:m>
                          <a:endParaRPr lang="es-CO" sz="2000" dirty="0">
                            <a:latin typeface="Roboto" panose="02000000000000000000" pitchFamily="2" charset="0"/>
                            <a:ea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2000" dirty="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46818852"/>
                      </a:ext>
                    </a:extLst>
                  </a:tr>
                  <a:tr h="461476">
                    <a:tc>
                      <a:txBody>
                        <a:bodyPr/>
                        <a:lstStyle/>
                        <a:p>
                          <a:r>
                            <a:rPr lang="es-MX" sz="2000" b="0" i="0" u="none" strike="noStrike" cap="none" dirty="0">
                              <a:solidFill>
                                <a:srgbClr val="000000"/>
                              </a:solidFill>
                              <a:latin typeface="+mn-lt"/>
                              <a:ea typeface="Roboto" panose="02000000000000000000" pitchFamily="2" charset="0"/>
                              <a:cs typeface="Arial"/>
                              <a:sym typeface="Arial"/>
                            </a:rPr>
                            <a:t>Intercambio del orden de cuantificadores iguales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𝑥</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𝑦𝑃</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𝑥</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𝑦</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𝑦</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𝑥𝑃</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𝑥</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𝑦</m:t>
                                    </m:r>
                                  </m:e>
                                </m:d>
                              </m:oMath>
                            </m:oMathPara>
                          </a14:m>
                          <a:endParaRPr lang="es-MX" sz="2000" b="0" i="1" dirty="0">
                            <a:latin typeface="Cambria Math" panose="02040503050406030204" pitchFamily="18" charset="0"/>
                            <a:ea typeface="Roboto" panose="02000000000000000000" pitchFamily="2" charset="0"/>
                          </a:endParaRPr>
                        </a:p>
                        <a:p>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𝑥</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𝑦𝑃</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𝑥</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𝑦</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𝑦</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𝑥𝑃</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𝑥</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𝑦</m:t>
                                    </m:r>
                                  </m:e>
                                </m:d>
                              </m:oMath>
                            </m:oMathPara>
                          </a14:m>
                          <a:endParaRPr lang="es-MX" sz="2000" b="0" i="1" dirty="0">
                            <a:latin typeface="Cambria Math" panose="02040503050406030204" pitchFamily="18"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84315241"/>
                      </a:ext>
                    </a:extLst>
                  </a:tr>
                  <a:tr h="362910">
                    <a:tc>
                      <a:txBody>
                        <a:bodyPr/>
                        <a:lstStyle/>
                        <a:p>
                          <a:r>
                            <a:rPr lang="es-MX" sz="2000" b="0" dirty="0">
                              <a:latin typeface="+mn-lt"/>
                              <a:ea typeface="Roboto" panose="02000000000000000000" pitchFamily="2" charset="0"/>
                            </a:rPr>
                            <a:t>No conmutatividad entre cuantificadores diferentes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𝑥</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𝑦𝑃</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𝑥</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𝑦</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𝑦</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𝑥𝑃</m:t>
                                </m:r>
                                <m:d>
                                  <m:dPr>
                                    <m:ctrlPr>
                                      <a:rPr lang="es-MX" sz="2000" b="0" i="1" smtClean="0">
                                        <a:latin typeface="Cambria Math" panose="02040503050406030204" pitchFamily="18" charset="0"/>
                                        <a:ea typeface="Roboto" panose="02000000000000000000" pitchFamily="2" charset="0"/>
                                      </a:rPr>
                                    </m:ctrlPr>
                                  </m:dPr>
                                  <m:e>
                                    <m:r>
                                      <a:rPr lang="es-MX" sz="2000" b="0" i="1" smtClean="0">
                                        <a:latin typeface="Cambria Math" panose="02040503050406030204" pitchFamily="18" charset="0"/>
                                        <a:ea typeface="Roboto" panose="02000000000000000000" pitchFamily="2" charset="0"/>
                                      </a:rPr>
                                      <m:t>𝑥</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𝑦</m:t>
                                    </m:r>
                                  </m:e>
                                </m:d>
                              </m:oMath>
                            </m:oMathPara>
                          </a14:m>
                          <a:endParaRPr lang="es-CO" sz="2000" dirty="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82935017"/>
                      </a:ext>
                    </a:extLst>
                  </a:tr>
                </a:tbl>
              </a:graphicData>
            </a:graphic>
          </p:graphicFrame>
        </mc:Choice>
        <mc:Fallback>
          <p:graphicFrame>
            <p:nvGraphicFramePr>
              <p:cNvPr id="6" name="Tabla 3">
                <a:extLst>
                  <a:ext uri="{FF2B5EF4-FFF2-40B4-BE49-F238E27FC236}">
                    <a16:creationId xmlns:a16="http://schemas.microsoft.com/office/drawing/2014/main" id="{5C35BED4-E889-47E0-B1A8-F2865BFDE8BB}"/>
                  </a:ext>
                </a:extLst>
              </p:cNvPr>
              <p:cNvGraphicFramePr>
                <a:graphicFrameLocks noGrp="1"/>
              </p:cNvGraphicFramePr>
              <p:nvPr>
                <p:extLst>
                  <p:ext uri="{D42A27DB-BD31-4B8C-83A1-F6EECF244321}">
                    <p14:modId xmlns:p14="http://schemas.microsoft.com/office/powerpoint/2010/main" val="1645480916"/>
                  </p:ext>
                </p:extLst>
              </p:nvPr>
            </p:nvGraphicFramePr>
            <p:xfrm>
              <a:off x="501445" y="1195093"/>
              <a:ext cx="11314937" cy="3492246"/>
            </p:xfrm>
            <a:graphic>
              <a:graphicData uri="http://schemas.openxmlformats.org/drawingml/2006/table">
                <a:tbl>
                  <a:tblPr firstRow="1" bandRow="1">
                    <a:tableStyleId>{AD6A3598-7CB8-4345-8D95-17CE05F158A0}</a:tableStyleId>
                  </a:tblPr>
                  <a:tblGrid>
                    <a:gridCol w="5501149">
                      <a:extLst>
                        <a:ext uri="{9D8B030D-6E8A-4147-A177-3AD203B41FA5}">
                          <a16:colId xmlns:a16="http://schemas.microsoft.com/office/drawing/2014/main" val="2419793140"/>
                        </a:ext>
                      </a:extLst>
                    </a:gridCol>
                    <a:gridCol w="5813788">
                      <a:extLst>
                        <a:ext uri="{9D8B030D-6E8A-4147-A177-3AD203B41FA5}">
                          <a16:colId xmlns:a16="http://schemas.microsoft.com/office/drawing/2014/main" val="2761119023"/>
                        </a:ext>
                      </a:extLst>
                    </a:gridCol>
                  </a:tblGrid>
                  <a:tr h="396240">
                    <a:tc>
                      <a:txBody>
                        <a:bodyPr/>
                        <a:lstStyle/>
                        <a:p>
                          <a:r>
                            <a:rPr lang="es-CO" sz="2000" b="1" dirty="0">
                              <a:latin typeface="+mn-lt"/>
                              <a:ea typeface="Roboto" panose="02000000000000000000" pitchFamily="2" charset="0"/>
                            </a:rPr>
                            <a:t>Nombre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s-CO" sz="2000" b="1" dirty="0">
                              <a:latin typeface="+mn-lt"/>
                              <a:ea typeface="Roboto" panose="02000000000000000000" pitchFamily="2" charset="0"/>
                            </a:rPr>
                            <a:t>Equivalencia lógica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624526593"/>
                      </a:ext>
                    </a:extLst>
                  </a:tr>
                  <a:tr h="1693926">
                    <a:tc>
                      <a:txBody>
                        <a:bodyPr/>
                        <a:lstStyle/>
                        <a:p>
                          <a:r>
                            <a:rPr lang="es-CO" sz="2000" b="0" dirty="0">
                              <a:latin typeface="+mn-lt"/>
                              <a:ea typeface="Roboto" panose="02000000000000000000" pitchFamily="2" charset="0"/>
                            </a:rPr>
                            <a:t>Distribución de cuantificadores (restricciones)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s-CO"/>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4759" t="-25180" r="-210" b="-89209"/>
                          </a:stretch>
                        </a:blipFill>
                      </a:tcPr>
                    </a:tc>
                    <a:extLst>
                      <a:ext uri="{0D108BD9-81ED-4DB2-BD59-A6C34878D82A}">
                        <a16:rowId xmlns:a16="http://schemas.microsoft.com/office/drawing/2014/main" val="2246818852"/>
                      </a:ext>
                    </a:extLst>
                  </a:tr>
                  <a:tr h="701040">
                    <a:tc>
                      <a:txBody>
                        <a:bodyPr/>
                        <a:lstStyle/>
                        <a:p>
                          <a:r>
                            <a:rPr lang="es-MX" sz="2000" b="0" i="0" u="none" strike="noStrike" cap="none" dirty="0">
                              <a:solidFill>
                                <a:srgbClr val="000000"/>
                              </a:solidFill>
                              <a:latin typeface="+mn-lt"/>
                              <a:ea typeface="Roboto" panose="02000000000000000000" pitchFamily="2" charset="0"/>
                              <a:cs typeface="Arial"/>
                              <a:sym typeface="Arial"/>
                            </a:rPr>
                            <a:t>Intercambio del orden de cuantificadores iguales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s-CO"/>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4759" t="-302609" r="-210" b="-115652"/>
                          </a:stretch>
                        </a:blipFill>
                      </a:tcPr>
                    </a:tc>
                    <a:extLst>
                      <a:ext uri="{0D108BD9-81ED-4DB2-BD59-A6C34878D82A}">
                        <a16:rowId xmlns:a16="http://schemas.microsoft.com/office/drawing/2014/main" val="1684315241"/>
                      </a:ext>
                    </a:extLst>
                  </a:tr>
                  <a:tr h="701040">
                    <a:tc>
                      <a:txBody>
                        <a:bodyPr/>
                        <a:lstStyle/>
                        <a:p>
                          <a:r>
                            <a:rPr lang="es-MX" sz="2000" b="0" dirty="0">
                              <a:latin typeface="+mn-lt"/>
                              <a:ea typeface="Roboto" panose="02000000000000000000" pitchFamily="2" charset="0"/>
                            </a:rPr>
                            <a:t>No conmutatividad entre cuantificadores diferentes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s-CO"/>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4759" t="-402609" r="-210" b="-15652"/>
                          </a:stretch>
                        </a:blipFill>
                      </a:tcPr>
                    </a:tc>
                    <a:extLst>
                      <a:ext uri="{0D108BD9-81ED-4DB2-BD59-A6C34878D82A}">
                        <a16:rowId xmlns:a16="http://schemas.microsoft.com/office/drawing/2014/main" val="2582935017"/>
                      </a:ext>
                    </a:extLst>
                  </a:tr>
                </a:tbl>
              </a:graphicData>
            </a:graphic>
          </p:graphicFrame>
        </mc:Fallback>
      </mc:AlternateContent>
    </p:spTree>
    <p:extLst>
      <p:ext uri="{BB962C8B-B14F-4D97-AF65-F5344CB8AC3E}">
        <p14:creationId xmlns:p14="http://schemas.microsoft.com/office/powerpoint/2010/main" val="19955013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a:xfrm>
            <a:off x="377371" y="96038"/>
            <a:ext cx="11450835" cy="949500"/>
          </a:xfrm>
        </p:spPr>
        <p:txBody>
          <a:bodyPr/>
          <a:lstStyle/>
          <a:p>
            <a:r>
              <a:rPr lang="es-ES" dirty="0">
                <a:solidFill>
                  <a:schemeClr val="tx1"/>
                </a:solidFill>
                <a:latin typeface="+mj-lt"/>
              </a:rPr>
              <a:t>Reglas de inferencia</a:t>
            </a:r>
            <a:endParaRPr lang="es-CO" dirty="0">
              <a:solidFill>
                <a:schemeClr val="tx1"/>
              </a:solidFill>
            </a:endParaRPr>
          </a:p>
        </p:txBody>
      </p:sp>
      <mc:AlternateContent xmlns:mc="http://schemas.openxmlformats.org/markup-compatibility/2006">
        <mc:Choice xmlns:a14="http://schemas.microsoft.com/office/drawing/2010/main" Requires="a14">
          <p:graphicFrame>
            <p:nvGraphicFramePr>
              <p:cNvPr id="5" name="Tabla 4">
                <a:extLst>
                  <a:ext uri="{FF2B5EF4-FFF2-40B4-BE49-F238E27FC236}">
                    <a16:creationId xmlns:a16="http://schemas.microsoft.com/office/drawing/2014/main" id="{EFFAE407-8F8B-40B9-BA7A-55ACE6E6E15C}"/>
                  </a:ext>
                </a:extLst>
              </p:cNvPr>
              <p:cNvGraphicFramePr>
                <a:graphicFrameLocks noGrp="1"/>
              </p:cNvGraphicFramePr>
              <p:nvPr>
                <p:extLst>
                  <p:ext uri="{D42A27DB-BD31-4B8C-83A1-F6EECF244321}">
                    <p14:modId xmlns:p14="http://schemas.microsoft.com/office/powerpoint/2010/main" val="3557109671"/>
                  </p:ext>
                </p:extLst>
              </p:nvPr>
            </p:nvGraphicFramePr>
            <p:xfrm>
              <a:off x="454027" y="1154775"/>
              <a:ext cx="11297522" cy="5140264"/>
            </p:xfrm>
            <a:graphic>
              <a:graphicData uri="http://schemas.openxmlformats.org/drawingml/2006/table">
                <a:tbl>
                  <a:tblPr firstRow="1" bandRow="1">
                    <a:tableStyleId>{AD6A3598-7CB8-4345-8D95-17CE05F158A0}</a:tableStyleId>
                  </a:tblPr>
                  <a:tblGrid>
                    <a:gridCol w="2793087">
                      <a:extLst>
                        <a:ext uri="{9D8B030D-6E8A-4147-A177-3AD203B41FA5}">
                          <a16:colId xmlns:a16="http://schemas.microsoft.com/office/drawing/2014/main" val="3517824357"/>
                        </a:ext>
                      </a:extLst>
                    </a:gridCol>
                    <a:gridCol w="2902858">
                      <a:extLst>
                        <a:ext uri="{9D8B030D-6E8A-4147-A177-3AD203B41FA5}">
                          <a16:colId xmlns:a16="http://schemas.microsoft.com/office/drawing/2014/main" val="2212776800"/>
                        </a:ext>
                      </a:extLst>
                    </a:gridCol>
                    <a:gridCol w="3130497">
                      <a:extLst>
                        <a:ext uri="{9D8B030D-6E8A-4147-A177-3AD203B41FA5}">
                          <a16:colId xmlns:a16="http://schemas.microsoft.com/office/drawing/2014/main" val="3724117940"/>
                        </a:ext>
                      </a:extLst>
                    </a:gridCol>
                    <a:gridCol w="2471080">
                      <a:extLst>
                        <a:ext uri="{9D8B030D-6E8A-4147-A177-3AD203B41FA5}">
                          <a16:colId xmlns:a16="http://schemas.microsoft.com/office/drawing/2014/main" val="333003826"/>
                        </a:ext>
                      </a:extLst>
                    </a:gridCol>
                  </a:tblGrid>
                  <a:tr h="0">
                    <a:tc>
                      <a:txBody>
                        <a:bodyPr/>
                        <a:lstStyle/>
                        <a:p>
                          <a:r>
                            <a:rPr lang="es-CO" sz="2000" b="1" dirty="0">
                              <a:latin typeface="+mn-lt"/>
                              <a:ea typeface="Roboto" panose="02000000000000000000" pitchFamily="2" charset="0"/>
                            </a:rPr>
                            <a:t>Nombre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s-CO" sz="2000" b="1" dirty="0">
                              <a:latin typeface="+mn-lt"/>
                              <a:ea typeface="Roboto" panose="02000000000000000000" pitchFamily="2" charset="0"/>
                            </a:rPr>
                            <a:t>Regla de inferencia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s-CO" sz="2000" b="1" dirty="0">
                              <a:latin typeface="+mn-lt"/>
                              <a:ea typeface="Roboto" panose="02000000000000000000" pitchFamily="2" charset="0"/>
                            </a:rPr>
                            <a:t>Nombre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s-CO" sz="2000" b="1" dirty="0">
                              <a:latin typeface="+mn-lt"/>
                              <a:ea typeface="Roboto" panose="02000000000000000000" pitchFamily="2" charset="0"/>
                            </a:rPr>
                            <a:t>Regla de inferencia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873507432"/>
                      </a:ext>
                    </a:extLst>
                  </a:tr>
                  <a:tr h="243775">
                    <a:tc>
                      <a:txBody>
                        <a:bodyPr/>
                        <a:lstStyle/>
                        <a:p>
                          <a:r>
                            <a:rPr lang="es-CO" sz="2000" dirty="0">
                              <a:latin typeface="+mn-lt"/>
                              <a:ea typeface="Roboto" panose="02000000000000000000" pitchFamily="2" charset="0"/>
                            </a:rPr>
                            <a:t>Modus Ponens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14:m>
                            <m:oMathPara xmlns:m="http://schemas.openxmlformats.org/officeDocument/2006/math">
                              <m:oMathParaPr>
                                <m:jc m:val="center"/>
                              </m:oMathParaPr>
                              <m:oMath xmlns:m="http://schemas.openxmlformats.org/officeDocument/2006/math">
                                <m:f>
                                  <m:fPr>
                                    <m:ctrlPr>
                                      <a:rPr lang="es-MX" sz="2000" b="0" i="1" smtClean="0">
                                        <a:latin typeface="Cambria Math" panose="02040503050406030204" pitchFamily="18" charset="0"/>
                                        <a:ea typeface="Roboto" panose="02000000000000000000" pitchFamily="2" charset="0"/>
                                      </a:rPr>
                                    </m:ctrlPr>
                                  </m:fPr>
                                  <m:num>
                                    <m:m>
                                      <m:mPr>
                                        <m:mcs>
                                          <m:mc>
                                            <m:mcPr>
                                              <m:count m:val="1"/>
                                              <m:mcJc m:val="center"/>
                                            </m:mcPr>
                                          </m:mc>
                                        </m:mcs>
                                        <m:ctrlPr>
                                          <a:rPr lang="es-MX" sz="2000" b="0" i="1" smtClean="0">
                                            <a:latin typeface="Cambria Math" panose="02040503050406030204" pitchFamily="18" charset="0"/>
                                            <a:ea typeface="Roboto" panose="02000000000000000000" pitchFamily="2" charset="0"/>
                                          </a:rPr>
                                        </m:ctrlPr>
                                      </m:mPr>
                                      <m:mr>
                                        <m:e>
                                          <m:r>
                                            <m:rPr>
                                              <m:brk m:alnAt="7"/>
                                            </m:rPr>
                                            <a:rPr lang="es-MX" sz="2000" b="0" i="1" smtClean="0">
                                              <a:latin typeface="Cambria Math" panose="02040503050406030204" pitchFamily="18" charset="0"/>
                                              <a:ea typeface="Roboto" panose="02000000000000000000" pitchFamily="2" charset="0"/>
                                            </a:rPr>
                                            <m:t> </m:t>
                                          </m:r>
                                          <m:r>
                                            <a:rPr lang="es-MX" sz="2000" b="0" i="1" smtClean="0">
                                              <a:latin typeface="Cambria Math" panose="02040503050406030204" pitchFamily="18" charset="0"/>
                                              <a:ea typeface="Roboto" panose="02000000000000000000" pitchFamily="2" charset="0"/>
                                            </a:rPr>
                                            <m:t> </m:t>
                                          </m:r>
                                          <m:r>
                                            <a:rPr lang="es-MX" sz="2000" b="0" i="1" smtClean="0">
                                              <a:latin typeface="Cambria Math" panose="02040503050406030204" pitchFamily="18" charset="0"/>
                                              <a:ea typeface="Roboto" panose="02000000000000000000" pitchFamily="2" charset="0"/>
                                            </a:rPr>
                                            <m:t>𝑝</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𝑞</m:t>
                                          </m:r>
                                        </m:e>
                                      </m:mr>
                                      <m:mr>
                                        <m:e>
                                          <m:r>
                                            <a:rPr lang="es-MX" sz="2000" b="0" i="1" smtClean="0">
                                              <a:latin typeface="Cambria Math" panose="02040503050406030204" pitchFamily="18" charset="0"/>
                                              <a:ea typeface="Roboto" panose="02000000000000000000" pitchFamily="2" charset="0"/>
                                            </a:rPr>
                                            <m:t>   </m:t>
                                          </m:r>
                                          <m:r>
                                            <a:rPr lang="es-MX" sz="2000" b="0" i="1" smtClean="0">
                                              <a:latin typeface="Cambria Math" panose="02040503050406030204" pitchFamily="18" charset="0"/>
                                              <a:ea typeface="Roboto" panose="02000000000000000000" pitchFamily="2" charset="0"/>
                                            </a:rPr>
                                            <m:t>𝑝</m:t>
                                          </m:r>
                                          <m:r>
                                            <a:rPr lang="es-MX" sz="2000" b="0" i="1" smtClean="0">
                                              <a:latin typeface="Cambria Math" panose="02040503050406030204" pitchFamily="18" charset="0"/>
                                              <a:ea typeface="Roboto" panose="02000000000000000000" pitchFamily="2" charset="0"/>
                                            </a:rPr>
                                            <m:t>         </m:t>
                                          </m:r>
                                        </m:e>
                                      </m:mr>
                                    </m:m>
                                  </m:num>
                                  <m:den>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Roboto" panose="02000000000000000000" pitchFamily="2" charset="0"/>
                                      </a:rPr>
                                      <m:t>𝑞</m:t>
                                    </m:r>
                                    <m:r>
                                      <a:rPr lang="es-MX" sz="2000" b="0" i="1" smtClean="0">
                                        <a:latin typeface="Cambria Math" panose="02040503050406030204" pitchFamily="18" charset="0"/>
                                        <a:ea typeface="Roboto" panose="02000000000000000000" pitchFamily="2" charset="0"/>
                                      </a:rPr>
                                      <m:t>         </m:t>
                                    </m:r>
                                  </m:den>
                                </m:f>
                              </m:oMath>
                            </m:oMathPara>
                          </a14:m>
                          <a:endParaRPr lang="es-CO" sz="2000" dirty="0">
                            <a:latin typeface="Roboto" panose="02000000000000000000" pitchFamily="2"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2000" dirty="0">
                              <a:latin typeface="+mn-lt"/>
                              <a:ea typeface="Roboto" panose="02000000000000000000" pitchFamily="2" charset="0"/>
                            </a:rPr>
                            <a:t>Simplificación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1"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
                              </m:oMathParaPr>
                              <m:oMath xmlns:m="http://schemas.openxmlformats.org/officeDocument/2006/math">
                                <m:f>
                                  <m:fPr>
                                    <m:ctrlPr>
                                      <a:rPr lang="es-MX" sz="2000" b="0" i="1" smtClean="0">
                                        <a:latin typeface="Cambria Math" panose="02040503050406030204" pitchFamily="18" charset="0"/>
                                        <a:ea typeface="Roboto" panose="02000000000000000000" pitchFamily="2" charset="0"/>
                                      </a:rPr>
                                    </m:ctrlPr>
                                  </m:fPr>
                                  <m:num>
                                    <m:r>
                                      <a:rPr lang="es-MX" sz="2000" b="0" i="1" smtClean="0">
                                        <a:latin typeface="Cambria Math" panose="02040503050406030204" pitchFamily="18" charset="0"/>
                                        <a:ea typeface="Roboto" panose="02000000000000000000" pitchFamily="2" charset="0"/>
                                      </a:rPr>
                                      <m:t> </m:t>
                                    </m:r>
                                    <m:r>
                                      <a:rPr lang="es-MX" sz="2000" b="0" i="1" smtClean="0">
                                        <a:latin typeface="Cambria Math" panose="02040503050406030204" pitchFamily="18" charset="0"/>
                                        <a:ea typeface="Roboto" panose="02000000000000000000" pitchFamily="2" charset="0"/>
                                      </a:rPr>
                                      <m:t>𝑝</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𝑞</m:t>
                                    </m:r>
                                  </m:num>
                                  <m:den>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𝑝</m:t>
                                    </m:r>
                                    <m:r>
                                      <a:rPr lang="es-MX" sz="2000" b="0" i="1" smtClean="0">
                                        <a:latin typeface="Cambria Math" panose="02040503050406030204" pitchFamily="18" charset="0"/>
                                        <a:ea typeface="Roboto" panose="02000000000000000000" pitchFamily="2" charset="0"/>
                                      </a:rPr>
                                      <m:t>         </m:t>
                                    </m:r>
                                  </m:den>
                                </m:f>
                              </m:oMath>
                            </m:oMathPara>
                          </a14:m>
                          <a:endParaRPr lang="es-CO" sz="2000" dirty="0">
                            <a:latin typeface="Roboto" panose="02000000000000000000" pitchFamily="2"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9179385"/>
                      </a:ext>
                    </a:extLst>
                  </a:tr>
                  <a:tr h="243775">
                    <a:tc>
                      <a:txBody>
                        <a:bodyPr/>
                        <a:lstStyle/>
                        <a:p>
                          <a:r>
                            <a:rPr lang="es-CO" sz="2000" dirty="0">
                              <a:latin typeface="+mn-lt"/>
                              <a:ea typeface="Roboto" panose="02000000000000000000" pitchFamily="2" charset="0"/>
                            </a:rPr>
                            <a:t>Modus Tollens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14:m>
                            <m:oMathPara xmlns:m="http://schemas.openxmlformats.org/officeDocument/2006/math">
                              <m:oMathParaPr>
                                <m:jc m:val="center"/>
                              </m:oMathParaPr>
                              <m:oMath xmlns:m="http://schemas.openxmlformats.org/officeDocument/2006/math">
                                <m:f>
                                  <m:fPr>
                                    <m:ctrlPr>
                                      <a:rPr lang="es-MX" sz="2000" b="0" i="1" smtClean="0">
                                        <a:latin typeface="Cambria Math" panose="02040503050406030204" pitchFamily="18" charset="0"/>
                                        <a:ea typeface="Roboto" panose="02000000000000000000" pitchFamily="2" charset="0"/>
                                      </a:rPr>
                                    </m:ctrlPr>
                                  </m:fPr>
                                  <m:num>
                                    <m:m>
                                      <m:mPr>
                                        <m:mcs>
                                          <m:mc>
                                            <m:mcPr>
                                              <m:count m:val="1"/>
                                              <m:mcJc m:val="center"/>
                                            </m:mcPr>
                                          </m:mc>
                                        </m:mcs>
                                        <m:ctrlPr>
                                          <a:rPr lang="es-MX" sz="2000" b="0" i="1" smtClean="0">
                                            <a:latin typeface="Cambria Math" panose="02040503050406030204" pitchFamily="18" charset="0"/>
                                            <a:ea typeface="Roboto" panose="02000000000000000000" pitchFamily="2" charset="0"/>
                                          </a:rPr>
                                        </m:ctrlPr>
                                      </m:mPr>
                                      <m:mr>
                                        <m:e>
                                          <m:r>
                                            <m:rPr>
                                              <m:brk m:alnAt="7"/>
                                            </m:rPr>
                                            <a:rPr lang="es-MX" sz="2000" b="0" i="1" smtClean="0">
                                              <a:latin typeface="Cambria Math" panose="02040503050406030204" pitchFamily="18" charset="0"/>
                                              <a:ea typeface="Roboto" panose="02000000000000000000" pitchFamily="2" charset="0"/>
                                            </a:rPr>
                                            <m:t> </m:t>
                                          </m:r>
                                          <m:r>
                                            <a:rPr lang="es-MX" sz="2000" b="0" i="1" smtClean="0">
                                              <a:latin typeface="Cambria Math" panose="02040503050406030204" pitchFamily="18" charset="0"/>
                                              <a:ea typeface="Roboto" panose="02000000000000000000" pitchFamily="2" charset="0"/>
                                            </a:rPr>
                                            <m:t> </m:t>
                                          </m:r>
                                          <m:r>
                                            <a:rPr lang="es-MX" sz="2000" b="0" i="1" smtClean="0">
                                              <a:latin typeface="Cambria Math" panose="02040503050406030204" pitchFamily="18" charset="0"/>
                                              <a:ea typeface="Roboto" panose="02000000000000000000" pitchFamily="2" charset="0"/>
                                            </a:rPr>
                                            <m:t>𝑝</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𝑞</m:t>
                                          </m:r>
                                        </m:e>
                                      </m:mr>
                                      <m:mr>
                                        <m:e>
                                          <m:r>
                                            <a:rPr lang="es-MX" sz="2000" b="0" i="1" smtClean="0">
                                              <a:latin typeface="Cambria Math" panose="02040503050406030204" pitchFamily="18" charset="0"/>
                                              <a:ea typeface="Roboto" panose="02000000000000000000" pitchFamily="2" charset="0"/>
                                            </a:rPr>
                                            <m:t>   ¬</m:t>
                                          </m:r>
                                          <m:r>
                                            <a:rPr lang="es-MX" sz="2000" b="0" i="1" smtClean="0">
                                              <a:latin typeface="Cambria Math" panose="02040503050406030204" pitchFamily="18" charset="0"/>
                                              <a:ea typeface="Roboto" panose="02000000000000000000" pitchFamily="2" charset="0"/>
                                            </a:rPr>
                                            <m:t>𝑞</m:t>
                                          </m:r>
                                          <m:r>
                                            <a:rPr lang="es-MX" sz="2000" b="0" i="1" smtClean="0">
                                              <a:latin typeface="Cambria Math" panose="02040503050406030204" pitchFamily="18" charset="0"/>
                                              <a:ea typeface="Roboto" panose="02000000000000000000" pitchFamily="2" charset="0"/>
                                            </a:rPr>
                                            <m:t>         </m:t>
                                          </m:r>
                                        </m:e>
                                      </m:mr>
                                    </m:m>
                                  </m:num>
                                  <m:den>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𝑝</m:t>
                                    </m:r>
                                    <m:r>
                                      <a:rPr lang="es-MX" sz="2000" b="0" i="1" smtClean="0">
                                        <a:latin typeface="Cambria Math" panose="02040503050406030204" pitchFamily="18" charset="0"/>
                                        <a:ea typeface="Roboto" panose="02000000000000000000" pitchFamily="2" charset="0"/>
                                      </a:rPr>
                                      <m:t>         </m:t>
                                    </m:r>
                                  </m:den>
                                </m:f>
                              </m:oMath>
                            </m:oMathPara>
                          </a14:m>
                          <a:endParaRPr lang="es-CO" sz="2000" dirty="0">
                            <a:latin typeface="Roboto" panose="02000000000000000000" pitchFamily="2"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2000" dirty="0">
                              <a:latin typeface="+mn-lt"/>
                              <a:ea typeface="Roboto" panose="02000000000000000000" pitchFamily="2" charset="0"/>
                            </a:rPr>
                            <a:t>Conjunción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1"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
                              </m:oMathParaPr>
                              <m:oMath xmlns:m="http://schemas.openxmlformats.org/officeDocument/2006/math">
                                <m:f>
                                  <m:fPr>
                                    <m:ctrlPr>
                                      <a:rPr lang="es-MX" sz="2000" b="0" i="1" smtClean="0">
                                        <a:latin typeface="Cambria Math" panose="02040503050406030204" pitchFamily="18" charset="0"/>
                                        <a:ea typeface="Roboto" panose="02000000000000000000" pitchFamily="2" charset="0"/>
                                      </a:rPr>
                                    </m:ctrlPr>
                                  </m:fPr>
                                  <m:num>
                                    <m:m>
                                      <m:mPr>
                                        <m:mcs>
                                          <m:mc>
                                            <m:mcPr>
                                              <m:count m:val="1"/>
                                              <m:mcJc m:val="center"/>
                                            </m:mcPr>
                                          </m:mc>
                                        </m:mcs>
                                        <m:ctrlPr>
                                          <a:rPr lang="es-MX" sz="2000" b="0" i="1" smtClean="0">
                                            <a:latin typeface="Cambria Math" panose="02040503050406030204" pitchFamily="18" charset="0"/>
                                            <a:ea typeface="Roboto" panose="02000000000000000000" pitchFamily="2" charset="0"/>
                                          </a:rPr>
                                        </m:ctrlPr>
                                      </m:mPr>
                                      <m:mr>
                                        <m:e>
                                          <m:r>
                                            <a:rPr lang="es-MX" sz="2000" b="0" i="1" smtClean="0">
                                              <a:latin typeface="Cambria Math" panose="02040503050406030204" pitchFamily="18" charset="0"/>
                                              <a:ea typeface="Roboto" panose="02000000000000000000" pitchFamily="2" charset="0"/>
                                            </a:rPr>
                                            <m:t>𝑝</m:t>
                                          </m:r>
                                          <m:r>
                                            <a:rPr lang="es-MX" sz="2000" b="0" i="1" smtClean="0">
                                              <a:latin typeface="Cambria Math" panose="02040503050406030204" pitchFamily="18" charset="0"/>
                                              <a:ea typeface="Roboto" panose="02000000000000000000" pitchFamily="2" charset="0"/>
                                            </a:rPr>
                                            <m:t>     </m:t>
                                          </m:r>
                                        </m:e>
                                      </m:mr>
                                      <m:mr>
                                        <m:e>
                                          <m:r>
                                            <a:rPr lang="es-MX" sz="2000" b="0" i="1" smtClean="0">
                                              <a:latin typeface="Cambria Math" panose="02040503050406030204" pitchFamily="18" charset="0"/>
                                              <a:ea typeface="Roboto" panose="02000000000000000000" pitchFamily="2" charset="0"/>
                                            </a:rPr>
                                            <m:t>𝑞</m:t>
                                          </m:r>
                                          <m:r>
                                            <a:rPr lang="es-MX" sz="2000" b="0" i="1" smtClean="0">
                                              <a:latin typeface="Cambria Math" panose="02040503050406030204" pitchFamily="18" charset="0"/>
                                              <a:ea typeface="Roboto" panose="02000000000000000000" pitchFamily="2" charset="0"/>
                                            </a:rPr>
                                            <m:t>     </m:t>
                                          </m:r>
                                        </m:e>
                                      </m:mr>
                                    </m:m>
                                  </m:num>
                                  <m:den>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𝑝</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𝑞</m:t>
                                    </m:r>
                                    <m:r>
                                      <m:rPr>
                                        <m:nor/>
                                      </m:rPr>
                                      <a:rPr lang="es-CO" sz="2000" dirty="0">
                                        <a:latin typeface="Roboto" panose="02000000000000000000" pitchFamily="2" charset="0"/>
                                        <a:ea typeface="Roboto" panose="02000000000000000000" pitchFamily="2" charset="0"/>
                                      </a:rPr>
                                      <m:t> </m:t>
                                    </m:r>
                                  </m:den>
                                </m:f>
                              </m:oMath>
                            </m:oMathPara>
                          </a14:m>
                          <a:endParaRPr lang="es-CO" sz="2000" dirty="0">
                            <a:latin typeface="Roboto" panose="02000000000000000000" pitchFamily="2"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8799334"/>
                      </a:ext>
                    </a:extLst>
                  </a:tr>
                  <a:tr h="243775">
                    <a:tc>
                      <a:txBody>
                        <a:bodyPr/>
                        <a:lstStyle/>
                        <a:p>
                          <a:r>
                            <a:rPr lang="es-CO" sz="2000" dirty="0">
                              <a:latin typeface="+mn-lt"/>
                              <a:ea typeface="Roboto" panose="02000000000000000000" pitchFamily="2" charset="0"/>
                            </a:rPr>
                            <a:t>Silogismo hipotético (Transitividad)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14:m>
                            <m:oMathPara xmlns:m="http://schemas.openxmlformats.org/officeDocument/2006/math">
                              <m:oMathParaPr>
                                <m:jc m:val="center"/>
                              </m:oMathParaPr>
                              <m:oMath xmlns:m="http://schemas.openxmlformats.org/officeDocument/2006/math">
                                <m:f>
                                  <m:fPr>
                                    <m:ctrlPr>
                                      <a:rPr lang="es-MX" sz="2000" b="0" i="1" smtClean="0">
                                        <a:latin typeface="Cambria Math" panose="02040503050406030204" pitchFamily="18" charset="0"/>
                                        <a:ea typeface="Roboto" panose="02000000000000000000" pitchFamily="2" charset="0"/>
                                      </a:rPr>
                                    </m:ctrlPr>
                                  </m:fPr>
                                  <m:num>
                                    <m:m>
                                      <m:mPr>
                                        <m:mcs>
                                          <m:mc>
                                            <m:mcPr>
                                              <m:count m:val="1"/>
                                              <m:mcJc m:val="center"/>
                                            </m:mcPr>
                                          </m:mc>
                                        </m:mcs>
                                        <m:ctrlPr>
                                          <a:rPr lang="es-MX" sz="2000" b="0" i="1" smtClean="0">
                                            <a:latin typeface="Cambria Math" panose="02040503050406030204" pitchFamily="18" charset="0"/>
                                            <a:ea typeface="Roboto" panose="02000000000000000000" pitchFamily="2" charset="0"/>
                                          </a:rPr>
                                        </m:ctrlPr>
                                      </m:mPr>
                                      <m:mr>
                                        <m:e>
                                          <m:r>
                                            <m:rPr>
                                              <m:brk m:alnAt="7"/>
                                            </m:rPr>
                                            <a:rPr lang="es-MX" sz="2000" b="0" i="1" smtClean="0">
                                              <a:latin typeface="Cambria Math" panose="02040503050406030204" pitchFamily="18" charset="0"/>
                                              <a:ea typeface="Roboto" panose="02000000000000000000" pitchFamily="2" charset="0"/>
                                            </a:rPr>
                                            <m:t> </m:t>
                                          </m:r>
                                          <m:r>
                                            <a:rPr lang="es-MX" sz="2000" b="0" i="1" smtClean="0">
                                              <a:latin typeface="Cambria Math" panose="02040503050406030204" pitchFamily="18" charset="0"/>
                                              <a:ea typeface="Roboto" panose="02000000000000000000" pitchFamily="2" charset="0"/>
                                            </a:rPr>
                                            <m:t>  </m:t>
                                          </m:r>
                                          <m:r>
                                            <a:rPr lang="es-MX" sz="2000" b="0" i="1" smtClean="0">
                                              <a:latin typeface="Cambria Math" panose="02040503050406030204" pitchFamily="18" charset="0"/>
                                              <a:ea typeface="Roboto" panose="02000000000000000000" pitchFamily="2" charset="0"/>
                                            </a:rPr>
                                            <m:t>𝑝</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𝑞</m:t>
                                          </m:r>
                                        </m:e>
                                      </m:mr>
                                      <m:mr>
                                        <m:e>
                                          <m:r>
                                            <a:rPr lang="es-MX" sz="2000" b="0" i="1" smtClean="0">
                                              <a:latin typeface="Cambria Math" panose="02040503050406030204" pitchFamily="18" charset="0"/>
                                              <a:ea typeface="Roboto" panose="02000000000000000000" pitchFamily="2" charset="0"/>
                                            </a:rPr>
                                            <m:t>    </m:t>
                                          </m:r>
                                          <m:r>
                                            <a:rPr lang="es-MX" sz="2000" b="0" i="1" smtClean="0">
                                              <a:latin typeface="Cambria Math" panose="02040503050406030204" pitchFamily="18" charset="0"/>
                                              <a:ea typeface="Roboto" panose="02000000000000000000" pitchFamily="2" charset="0"/>
                                            </a:rPr>
                                            <m:t>𝑞</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𝑟</m:t>
                                          </m:r>
                                          <m:r>
                                            <m:rPr>
                                              <m:nor/>
                                            </m:rPr>
                                            <a:rPr lang="es-CO" sz="2000" dirty="0">
                                              <a:latin typeface="Roboto" panose="02000000000000000000" pitchFamily="2" charset="0"/>
                                              <a:ea typeface="Roboto" panose="02000000000000000000" pitchFamily="2" charset="0"/>
                                            </a:rPr>
                                            <m:t> </m:t>
                                          </m:r>
                                        </m:e>
                                      </m:mr>
                                    </m:m>
                                  </m:num>
                                  <m:den>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𝑝</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𝑟</m:t>
                                    </m:r>
                                  </m:den>
                                </m:f>
                              </m:oMath>
                            </m:oMathPara>
                          </a14:m>
                          <a:endParaRPr lang="es-CO" sz="2000" dirty="0">
                            <a:latin typeface="Roboto" panose="02000000000000000000" pitchFamily="2"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r>
                            <a:rPr lang="es-CO" sz="2000" dirty="0">
                              <a:latin typeface="+mn-lt"/>
                              <a:ea typeface="Roboto" panose="02000000000000000000" pitchFamily="2" charset="0"/>
                            </a:rPr>
                            <a:t>Prueba de división por casos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lvl="1" algn="ctr"/>
                          <a14:m>
                            <m:oMathPara xmlns:m="http://schemas.openxmlformats.org/officeDocument/2006/math">
                              <m:oMathParaPr>
                                <m:jc m:val="left"/>
                              </m:oMathParaPr>
                              <m:oMath xmlns:m="http://schemas.openxmlformats.org/officeDocument/2006/math">
                                <m:f>
                                  <m:fPr>
                                    <m:ctrlPr>
                                      <a:rPr lang="es-MX" sz="2000" b="0" i="1" smtClean="0">
                                        <a:latin typeface="Cambria Math" panose="02040503050406030204" pitchFamily="18" charset="0"/>
                                        <a:ea typeface="Roboto" panose="02000000000000000000" pitchFamily="2" charset="0"/>
                                      </a:rPr>
                                    </m:ctrlPr>
                                  </m:fPr>
                                  <m:num>
                                    <m:m>
                                      <m:mPr>
                                        <m:mcs>
                                          <m:mc>
                                            <m:mcPr>
                                              <m:count m:val="1"/>
                                              <m:mcJc m:val="center"/>
                                            </m:mcPr>
                                          </m:mc>
                                        </m:mcs>
                                        <m:ctrlPr>
                                          <a:rPr lang="es-MX" sz="2000" b="0" i="1" smtClean="0">
                                            <a:latin typeface="Cambria Math" panose="02040503050406030204" pitchFamily="18" charset="0"/>
                                            <a:ea typeface="Roboto" panose="02000000000000000000" pitchFamily="2" charset="0"/>
                                          </a:rPr>
                                        </m:ctrlPr>
                                      </m:mPr>
                                      <m:mr>
                                        <m:e>
                                          <m:r>
                                            <a:rPr lang="es-MX" sz="2000" b="0" i="1" smtClean="0">
                                              <a:latin typeface="Cambria Math" panose="02040503050406030204" pitchFamily="18" charset="0"/>
                                              <a:ea typeface="Roboto" panose="02000000000000000000" pitchFamily="2" charset="0"/>
                                            </a:rPr>
                                            <m:t>𝑝</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Roboto" panose="02000000000000000000" pitchFamily="2" charset="0"/>
                                            </a:rPr>
                                            <m:t>𝑞</m:t>
                                          </m:r>
                                          <m:r>
                                            <a:rPr lang="es-MX" sz="2000" b="0" i="1" smtClean="0">
                                              <a:latin typeface="Cambria Math" panose="02040503050406030204" pitchFamily="18" charset="0"/>
                                              <a:ea typeface="Roboto" panose="02000000000000000000" pitchFamily="2" charset="0"/>
                                            </a:rPr>
                                            <m:t>  </m:t>
                                          </m:r>
                                        </m:e>
                                      </m:mr>
                                      <m:mr>
                                        <m:e>
                                          <m:r>
                                            <a:rPr lang="es-MX" sz="2000" b="0" i="1" smtClean="0">
                                              <a:latin typeface="Cambria Math" panose="02040503050406030204" pitchFamily="18" charset="0"/>
                                              <a:ea typeface="Roboto" panose="02000000000000000000" pitchFamily="2" charset="0"/>
                                            </a:rPr>
                                            <m:t>𝑝</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𝑟</m:t>
                                          </m:r>
                                          <m:r>
                                            <m:rPr>
                                              <m:nor/>
                                            </m:rPr>
                                            <a:rPr lang="es-MX" sz="2000" b="0" dirty="0">
                                              <a:latin typeface="Roboto" panose="02000000000000000000" pitchFamily="2" charset="0"/>
                                              <a:ea typeface="Roboto" panose="02000000000000000000" pitchFamily="2" charset="0"/>
                                            </a:rPr>
                                            <m:t> </m:t>
                                          </m:r>
                                        </m:e>
                                      </m:mr>
                                      <m:mr>
                                        <m:e>
                                          <m:r>
                                            <a:rPr lang="es-MX" sz="2000" b="0" i="1" smtClean="0">
                                              <a:latin typeface="Cambria Math" panose="02040503050406030204" pitchFamily="18" charset="0"/>
                                              <a:ea typeface="Roboto" panose="02000000000000000000" pitchFamily="2" charset="0"/>
                                            </a:rPr>
                                            <m:t>𝑞</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𝑟</m:t>
                                          </m:r>
                                          <m:r>
                                            <a:rPr lang="es-MX" sz="2000" b="0" i="1" smtClean="0">
                                              <a:latin typeface="Cambria Math" panose="02040503050406030204" pitchFamily="18" charset="0"/>
                                              <a:ea typeface="Roboto" panose="02000000000000000000" pitchFamily="2" charset="0"/>
                                            </a:rPr>
                                            <m:t> </m:t>
                                          </m:r>
                                        </m:e>
                                      </m:mr>
                                    </m:m>
                                  </m:num>
                                  <m:den>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𝑟</m:t>
                                    </m:r>
                                    <m:r>
                                      <a:rPr lang="es-MX" sz="2000" b="0" i="1" smtClean="0">
                                        <a:latin typeface="Cambria Math" panose="02040503050406030204" pitchFamily="18" charset="0"/>
                                        <a:ea typeface="Cambria Math" panose="02040503050406030204" pitchFamily="18" charset="0"/>
                                      </a:rPr>
                                      <m:t>             </m:t>
                                    </m:r>
                                  </m:den>
                                </m:f>
                              </m:oMath>
                            </m:oMathPara>
                          </a14:m>
                          <a:endParaRPr lang="es-CO" sz="2000" dirty="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82340052"/>
                      </a:ext>
                    </a:extLst>
                  </a:tr>
                  <a:tr h="243775">
                    <a:tc>
                      <a:txBody>
                        <a:bodyPr/>
                        <a:lstStyle/>
                        <a:p>
                          <a:r>
                            <a:rPr lang="es-CO" sz="2000" dirty="0">
                              <a:latin typeface="+mn-lt"/>
                              <a:ea typeface="Roboto" panose="02000000000000000000" pitchFamily="2" charset="0"/>
                            </a:rPr>
                            <a:t>Silogismo disyuntivo (Eliminación)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14:m>
                            <m:oMathPara xmlns:m="http://schemas.openxmlformats.org/officeDocument/2006/math">
                              <m:oMathParaPr>
                                <m:jc m:val="center"/>
                              </m:oMathParaPr>
                              <m:oMath xmlns:m="http://schemas.openxmlformats.org/officeDocument/2006/math">
                                <m:f>
                                  <m:fPr>
                                    <m:ctrlPr>
                                      <a:rPr lang="es-MX" sz="2000" b="0" i="1" smtClean="0">
                                        <a:latin typeface="Cambria Math" panose="02040503050406030204" pitchFamily="18" charset="0"/>
                                        <a:ea typeface="Roboto" panose="02000000000000000000" pitchFamily="2" charset="0"/>
                                      </a:rPr>
                                    </m:ctrlPr>
                                  </m:fPr>
                                  <m:num>
                                    <m:m>
                                      <m:mPr>
                                        <m:mcs>
                                          <m:mc>
                                            <m:mcPr>
                                              <m:count m:val="1"/>
                                              <m:mcJc m:val="center"/>
                                            </m:mcPr>
                                          </m:mc>
                                        </m:mcs>
                                        <m:ctrlPr>
                                          <a:rPr lang="es-MX" sz="2000" b="0" i="1" smtClean="0">
                                            <a:latin typeface="Cambria Math" panose="02040503050406030204" pitchFamily="18" charset="0"/>
                                            <a:ea typeface="Roboto" panose="02000000000000000000" pitchFamily="2" charset="0"/>
                                          </a:rPr>
                                        </m:ctrlPr>
                                      </m:mPr>
                                      <m:mr>
                                        <m:e>
                                          <m:r>
                                            <a:rPr lang="es-MX" sz="2000" b="0" i="1" smtClean="0">
                                              <a:latin typeface="Cambria Math" panose="02040503050406030204" pitchFamily="18" charset="0"/>
                                              <a:ea typeface="Roboto" panose="02000000000000000000" pitchFamily="2" charset="0"/>
                                            </a:rPr>
                                            <m:t>𝑝</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Roboto" panose="02000000000000000000" pitchFamily="2" charset="0"/>
                                            </a:rPr>
                                            <m:t>𝑞</m:t>
                                          </m:r>
                                          <m:r>
                                            <m:rPr>
                                              <m:nor/>
                                            </m:rPr>
                                            <a:rPr lang="es-CO" sz="2000" dirty="0">
                                              <a:latin typeface="Roboto" panose="02000000000000000000" pitchFamily="2" charset="0"/>
                                              <a:ea typeface="Roboto" panose="02000000000000000000" pitchFamily="2" charset="0"/>
                                            </a:rPr>
                                            <m:t> </m:t>
                                          </m:r>
                                        </m:e>
                                      </m:mr>
                                      <m:mr>
                                        <m:e>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𝑝</m:t>
                                          </m:r>
                                          <m:r>
                                            <a:rPr lang="es-MX" sz="2000" b="0" i="1" smtClean="0">
                                              <a:latin typeface="Cambria Math" panose="02040503050406030204" pitchFamily="18" charset="0"/>
                                              <a:ea typeface="Roboto" panose="02000000000000000000" pitchFamily="2" charset="0"/>
                                            </a:rPr>
                                            <m:t>       </m:t>
                                          </m:r>
                                        </m:e>
                                      </m:mr>
                                    </m:m>
                                  </m:num>
                                  <m:den>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𝑞</m:t>
                                    </m:r>
                                    <m:r>
                                      <a:rPr lang="es-MX" sz="2000" b="0" i="1" smtClean="0">
                                        <a:latin typeface="Cambria Math" panose="02040503050406030204" pitchFamily="18" charset="0"/>
                                        <a:ea typeface="Cambria Math" panose="02040503050406030204" pitchFamily="18" charset="0"/>
                                      </a:rPr>
                                      <m:t>             </m:t>
                                    </m:r>
                                  </m:den>
                                </m:f>
                              </m:oMath>
                            </m:oMathPara>
                          </a14:m>
                          <a:endParaRPr lang="es-CO" sz="2000" dirty="0">
                            <a:latin typeface="Roboto" panose="02000000000000000000" pitchFamily="2"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s-CO" dirty="0">
                            <a:latin typeface="Roboto" panose="02000000000000000000" pitchFamily="2" charset="0"/>
                            <a:ea typeface="Roboto" panose="02000000000000000000" pitchFamily="2" charset="0"/>
                          </a:endParaRPr>
                        </a:p>
                      </a:txBody>
                      <a:tcPr/>
                    </a:tc>
                    <a:tc vMerge="1">
                      <a:txBody>
                        <a:bodyPr/>
                        <a:lstStyle/>
                        <a:p>
                          <a:endParaRPr lang="es-CO"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118226202"/>
                      </a:ext>
                    </a:extLst>
                  </a:tr>
                  <a:tr h="0">
                    <a:tc>
                      <a:txBody>
                        <a:bodyPr/>
                        <a:lstStyle/>
                        <a:p>
                          <a:r>
                            <a:rPr lang="es-CO" sz="2000" dirty="0">
                              <a:latin typeface="+mn-lt"/>
                              <a:ea typeface="Roboto" panose="02000000000000000000" pitchFamily="2" charset="0"/>
                            </a:rPr>
                            <a:t>Adición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14:m>
                            <m:oMathPara xmlns:m="http://schemas.openxmlformats.org/officeDocument/2006/math">
                              <m:oMathParaPr>
                                <m:jc m:val="center"/>
                              </m:oMathParaPr>
                              <m:oMath xmlns:m="http://schemas.openxmlformats.org/officeDocument/2006/math">
                                <m:f>
                                  <m:fPr>
                                    <m:ctrlPr>
                                      <a:rPr lang="es-MX" sz="2000" b="0" i="1" smtClean="0">
                                        <a:latin typeface="Cambria Math" panose="02040503050406030204" pitchFamily="18" charset="0"/>
                                        <a:ea typeface="Roboto" panose="02000000000000000000" pitchFamily="2" charset="0"/>
                                      </a:rPr>
                                    </m:ctrlPr>
                                  </m:fPr>
                                  <m:num>
                                    <m:r>
                                      <a:rPr lang="es-MX" sz="2000" b="0" i="1" smtClean="0">
                                        <a:latin typeface="Cambria Math" panose="02040503050406030204" pitchFamily="18" charset="0"/>
                                        <a:ea typeface="Roboto" panose="02000000000000000000" pitchFamily="2" charset="0"/>
                                      </a:rPr>
                                      <m:t> </m:t>
                                    </m:r>
                                    <m:r>
                                      <a:rPr lang="es-MX" sz="2000" b="0" i="1" smtClean="0">
                                        <a:latin typeface="Cambria Math" panose="02040503050406030204" pitchFamily="18" charset="0"/>
                                        <a:ea typeface="Roboto" panose="02000000000000000000" pitchFamily="2" charset="0"/>
                                      </a:rPr>
                                      <m:t>𝑝</m:t>
                                    </m:r>
                                    <m:r>
                                      <a:rPr lang="es-MX" sz="2000" b="0" i="1" smtClean="0">
                                        <a:latin typeface="Cambria Math" panose="02040503050406030204" pitchFamily="18" charset="0"/>
                                        <a:ea typeface="Roboto" panose="02000000000000000000" pitchFamily="2" charset="0"/>
                                      </a:rPr>
                                      <m:t>    </m:t>
                                    </m:r>
                                  </m:num>
                                  <m:den>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Roboto" panose="02000000000000000000" pitchFamily="2" charset="0"/>
                                      </a:rPr>
                                      <m:t>𝑝</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𝑞</m:t>
                                    </m:r>
                                  </m:den>
                                </m:f>
                              </m:oMath>
                            </m:oMathPara>
                          </a14:m>
                          <a:endParaRPr lang="es-CO" sz="2000" dirty="0">
                            <a:latin typeface="Roboto" panose="02000000000000000000" pitchFamily="2"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2000" dirty="0">
                              <a:latin typeface="+mn-lt"/>
                              <a:ea typeface="Roboto" panose="02000000000000000000" pitchFamily="2" charset="0"/>
                            </a:rPr>
                            <a:t>Resolución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1"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
                              </m:oMathParaPr>
                              <m:oMath xmlns:m="http://schemas.openxmlformats.org/officeDocument/2006/math">
                                <m:f>
                                  <m:fPr>
                                    <m:ctrlPr>
                                      <a:rPr lang="es-MX" sz="2000" b="0" i="1" smtClean="0">
                                        <a:latin typeface="Cambria Math" panose="02040503050406030204" pitchFamily="18" charset="0"/>
                                        <a:ea typeface="Roboto" panose="02000000000000000000" pitchFamily="2" charset="0"/>
                                      </a:rPr>
                                    </m:ctrlPr>
                                  </m:fPr>
                                  <m:num>
                                    <m:m>
                                      <m:mPr>
                                        <m:mcs>
                                          <m:mc>
                                            <m:mcPr>
                                              <m:count m:val="1"/>
                                              <m:mcJc m:val="center"/>
                                            </m:mcPr>
                                          </m:mc>
                                        </m:mcs>
                                        <m:ctrlPr>
                                          <a:rPr lang="es-MX" sz="2000" b="0" i="1" smtClean="0">
                                            <a:latin typeface="Cambria Math" panose="02040503050406030204" pitchFamily="18" charset="0"/>
                                            <a:ea typeface="Roboto" panose="02000000000000000000" pitchFamily="2" charset="0"/>
                                          </a:rPr>
                                        </m:ctrlPr>
                                      </m:mPr>
                                      <m:mr>
                                        <m:e>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𝑝</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Roboto" panose="02000000000000000000" pitchFamily="2" charset="0"/>
                                            </a:rPr>
                                            <m:t>𝑟</m:t>
                                          </m:r>
                                          <m:r>
                                            <m:rPr>
                                              <m:nor/>
                                            </m:rPr>
                                            <a:rPr lang="es-MX" sz="2000" b="0" dirty="0">
                                              <a:latin typeface="Roboto" panose="02000000000000000000" pitchFamily="2" charset="0"/>
                                              <a:ea typeface="Roboto" panose="02000000000000000000" pitchFamily="2" charset="0"/>
                                            </a:rPr>
                                            <m:t> </m:t>
                                          </m:r>
                                        </m:e>
                                      </m:mr>
                                      <m:mr>
                                        <m:e>
                                          <m:r>
                                            <a:rPr lang="es-MX" sz="2000" b="0" i="1" smtClean="0">
                                              <a:latin typeface="Cambria Math" panose="02040503050406030204" pitchFamily="18" charset="0"/>
                                              <a:ea typeface="Roboto" panose="02000000000000000000" pitchFamily="2" charset="0"/>
                                            </a:rPr>
                                            <m:t>𝑝</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Roboto" panose="02000000000000000000" pitchFamily="2" charset="0"/>
                                            </a:rPr>
                                            <m:t>𝑞</m:t>
                                          </m:r>
                                          <m:r>
                                            <a:rPr lang="es-MX" sz="2000" b="0" i="1" smtClean="0">
                                              <a:latin typeface="Cambria Math" panose="02040503050406030204" pitchFamily="18" charset="0"/>
                                              <a:ea typeface="Roboto" panose="02000000000000000000" pitchFamily="2" charset="0"/>
                                            </a:rPr>
                                            <m:t>    </m:t>
                                          </m:r>
                                        </m:e>
                                      </m:mr>
                                    </m:m>
                                  </m:num>
                                  <m:den>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𝑞</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𝑟</m:t>
                                    </m:r>
                                    <m:r>
                                      <a:rPr lang="es-MX" sz="2000" b="0" i="1" smtClean="0">
                                        <a:latin typeface="Cambria Math" panose="02040503050406030204" pitchFamily="18" charset="0"/>
                                        <a:ea typeface="Cambria Math" panose="02040503050406030204" pitchFamily="18" charset="0"/>
                                      </a:rPr>
                                      <m:t>        </m:t>
                                    </m:r>
                                  </m:den>
                                </m:f>
                              </m:oMath>
                            </m:oMathPara>
                          </a14:m>
                          <a:endParaRPr lang="es-CO" sz="2000" dirty="0">
                            <a:latin typeface="Roboto" panose="02000000000000000000" pitchFamily="2"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7682141"/>
                      </a:ext>
                    </a:extLst>
                  </a:tr>
                </a:tbl>
              </a:graphicData>
            </a:graphic>
          </p:graphicFrame>
        </mc:Choice>
        <mc:Fallback>
          <p:graphicFrame>
            <p:nvGraphicFramePr>
              <p:cNvPr id="5" name="Tabla 4">
                <a:extLst>
                  <a:ext uri="{FF2B5EF4-FFF2-40B4-BE49-F238E27FC236}">
                    <a16:creationId xmlns:a16="http://schemas.microsoft.com/office/drawing/2014/main" id="{EFFAE407-8F8B-40B9-BA7A-55ACE6E6E15C}"/>
                  </a:ext>
                </a:extLst>
              </p:cNvPr>
              <p:cNvGraphicFramePr>
                <a:graphicFrameLocks noGrp="1"/>
              </p:cNvGraphicFramePr>
              <p:nvPr>
                <p:extLst>
                  <p:ext uri="{D42A27DB-BD31-4B8C-83A1-F6EECF244321}">
                    <p14:modId xmlns:p14="http://schemas.microsoft.com/office/powerpoint/2010/main" val="3557109671"/>
                  </p:ext>
                </p:extLst>
              </p:nvPr>
            </p:nvGraphicFramePr>
            <p:xfrm>
              <a:off x="454027" y="1154775"/>
              <a:ext cx="11297522" cy="5140264"/>
            </p:xfrm>
            <a:graphic>
              <a:graphicData uri="http://schemas.openxmlformats.org/drawingml/2006/table">
                <a:tbl>
                  <a:tblPr firstRow="1" bandRow="1">
                    <a:tableStyleId>{AD6A3598-7CB8-4345-8D95-17CE05F158A0}</a:tableStyleId>
                  </a:tblPr>
                  <a:tblGrid>
                    <a:gridCol w="2793087">
                      <a:extLst>
                        <a:ext uri="{9D8B030D-6E8A-4147-A177-3AD203B41FA5}">
                          <a16:colId xmlns:a16="http://schemas.microsoft.com/office/drawing/2014/main" val="3517824357"/>
                        </a:ext>
                      </a:extLst>
                    </a:gridCol>
                    <a:gridCol w="2902858">
                      <a:extLst>
                        <a:ext uri="{9D8B030D-6E8A-4147-A177-3AD203B41FA5}">
                          <a16:colId xmlns:a16="http://schemas.microsoft.com/office/drawing/2014/main" val="2212776800"/>
                        </a:ext>
                      </a:extLst>
                    </a:gridCol>
                    <a:gridCol w="3130497">
                      <a:extLst>
                        <a:ext uri="{9D8B030D-6E8A-4147-A177-3AD203B41FA5}">
                          <a16:colId xmlns:a16="http://schemas.microsoft.com/office/drawing/2014/main" val="3724117940"/>
                        </a:ext>
                      </a:extLst>
                    </a:gridCol>
                    <a:gridCol w="2471080">
                      <a:extLst>
                        <a:ext uri="{9D8B030D-6E8A-4147-A177-3AD203B41FA5}">
                          <a16:colId xmlns:a16="http://schemas.microsoft.com/office/drawing/2014/main" val="333003826"/>
                        </a:ext>
                      </a:extLst>
                    </a:gridCol>
                  </a:tblGrid>
                  <a:tr h="396240">
                    <a:tc>
                      <a:txBody>
                        <a:bodyPr/>
                        <a:lstStyle/>
                        <a:p>
                          <a:r>
                            <a:rPr lang="es-CO" sz="2000" b="1" dirty="0">
                              <a:latin typeface="+mn-lt"/>
                              <a:ea typeface="Roboto" panose="02000000000000000000" pitchFamily="2" charset="0"/>
                            </a:rPr>
                            <a:t>Nombre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s-CO" sz="2000" b="1" dirty="0">
                              <a:latin typeface="+mn-lt"/>
                              <a:ea typeface="Roboto" panose="02000000000000000000" pitchFamily="2" charset="0"/>
                            </a:rPr>
                            <a:t>Regla de inferencia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s-CO" sz="2000" b="1" dirty="0">
                              <a:latin typeface="+mn-lt"/>
                              <a:ea typeface="Roboto" panose="02000000000000000000" pitchFamily="2" charset="0"/>
                            </a:rPr>
                            <a:t>Nombre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s-CO" sz="2000" b="1" dirty="0">
                              <a:latin typeface="+mn-lt"/>
                              <a:ea typeface="Roboto" panose="02000000000000000000" pitchFamily="2" charset="0"/>
                            </a:rPr>
                            <a:t>Regla de inferencia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873507432"/>
                      </a:ext>
                    </a:extLst>
                  </a:tr>
                  <a:tr h="939864">
                    <a:tc>
                      <a:txBody>
                        <a:bodyPr/>
                        <a:lstStyle/>
                        <a:p>
                          <a:r>
                            <a:rPr lang="es-CO" sz="2000" dirty="0">
                              <a:latin typeface="+mn-lt"/>
                              <a:ea typeface="Roboto" panose="02000000000000000000" pitchFamily="2" charset="0"/>
                            </a:rPr>
                            <a:t>Modus Ponens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6226" t="-45455" r="-193082" b="-407143"/>
                          </a:stretch>
                        </a:blipFill>
                      </a:tcPr>
                    </a:tc>
                    <a:tc>
                      <a:txBody>
                        <a:bodyPr/>
                        <a:lstStyle/>
                        <a:p>
                          <a:r>
                            <a:rPr lang="es-CO" sz="2000" dirty="0">
                              <a:latin typeface="+mn-lt"/>
                              <a:ea typeface="Roboto" panose="02000000000000000000" pitchFamily="2" charset="0"/>
                            </a:rPr>
                            <a:t>Simplificación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56897" t="-45455" r="-493" b="-407143"/>
                          </a:stretch>
                        </a:blipFill>
                      </a:tcPr>
                    </a:tc>
                    <a:extLst>
                      <a:ext uri="{0D108BD9-81ED-4DB2-BD59-A6C34878D82A}">
                        <a16:rowId xmlns:a16="http://schemas.microsoft.com/office/drawing/2014/main" val="4259179385"/>
                      </a:ext>
                    </a:extLst>
                  </a:tr>
                  <a:tr h="939864">
                    <a:tc>
                      <a:txBody>
                        <a:bodyPr/>
                        <a:lstStyle/>
                        <a:p>
                          <a:r>
                            <a:rPr lang="es-CO" sz="2000" dirty="0">
                              <a:latin typeface="+mn-lt"/>
                              <a:ea typeface="Roboto" panose="02000000000000000000" pitchFamily="2" charset="0"/>
                            </a:rPr>
                            <a:t>Modus Tollens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6226" t="-144516" r="-193082" b="-304516"/>
                          </a:stretch>
                        </a:blipFill>
                      </a:tcPr>
                    </a:tc>
                    <a:tc>
                      <a:txBody>
                        <a:bodyPr/>
                        <a:lstStyle/>
                        <a:p>
                          <a:r>
                            <a:rPr lang="es-CO" sz="2000" dirty="0">
                              <a:latin typeface="+mn-lt"/>
                              <a:ea typeface="Roboto" panose="02000000000000000000" pitchFamily="2" charset="0"/>
                            </a:rPr>
                            <a:t>Conjunción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56897" t="-144516" r="-493" b="-304516"/>
                          </a:stretch>
                        </a:blipFill>
                      </a:tcPr>
                    </a:tc>
                    <a:extLst>
                      <a:ext uri="{0D108BD9-81ED-4DB2-BD59-A6C34878D82A}">
                        <a16:rowId xmlns:a16="http://schemas.microsoft.com/office/drawing/2014/main" val="1078799334"/>
                      </a:ext>
                    </a:extLst>
                  </a:tr>
                  <a:tr h="939864">
                    <a:tc>
                      <a:txBody>
                        <a:bodyPr/>
                        <a:lstStyle/>
                        <a:p>
                          <a:r>
                            <a:rPr lang="es-CO" sz="2000" dirty="0">
                              <a:latin typeface="+mn-lt"/>
                              <a:ea typeface="Roboto" panose="02000000000000000000" pitchFamily="2" charset="0"/>
                            </a:rPr>
                            <a:t>Silogismo hipotético (Transitividad)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6226" t="-246104" r="-193082" b="-206494"/>
                          </a:stretch>
                        </a:blipFill>
                      </a:tcPr>
                    </a:tc>
                    <a:tc rowSpan="2">
                      <a:txBody>
                        <a:bodyPr/>
                        <a:lstStyle/>
                        <a:p>
                          <a:r>
                            <a:rPr lang="es-CO" sz="2000" dirty="0">
                              <a:latin typeface="+mn-lt"/>
                              <a:ea typeface="Roboto" panose="02000000000000000000" pitchFamily="2" charset="0"/>
                            </a:rPr>
                            <a:t>Prueba de división por casos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endParaRPr lang="es-CO"/>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56897" t="-121474" r="-493" b="-51282"/>
                          </a:stretch>
                        </a:blipFill>
                      </a:tcPr>
                    </a:tc>
                    <a:extLst>
                      <a:ext uri="{0D108BD9-81ED-4DB2-BD59-A6C34878D82A}">
                        <a16:rowId xmlns:a16="http://schemas.microsoft.com/office/drawing/2014/main" val="682340052"/>
                      </a:ext>
                    </a:extLst>
                  </a:tr>
                  <a:tr h="962216">
                    <a:tc>
                      <a:txBody>
                        <a:bodyPr/>
                        <a:lstStyle/>
                        <a:p>
                          <a:r>
                            <a:rPr lang="es-CO" sz="2000" dirty="0">
                              <a:latin typeface="+mn-lt"/>
                              <a:ea typeface="Roboto" panose="02000000000000000000" pitchFamily="2" charset="0"/>
                            </a:rPr>
                            <a:t>Silogismo disyuntivo (Eliminación)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6226" t="-337342" r="-193082" b="-101266"/>
                          </a:stretch>
                        </a:blipFill>
                      </a:tcPr>
                    </a:tc>
                    <a:tc vMerge="1">
                      <a:txBody>
                        <a:bodyPr/>
                        <a:lstStyle/>
                        <a:p>
                          <a:endParaRPr lang="es-CO" dirty="0">
                            <a:latin typeface="Roboto" panose="02000000000000000000" pitchFamily="2" charset="0"/>
                            <a:ea typeface="Roboto" panose="02000000000000000000" pitchFamily="2" charset="0"/>
                          </a:endParaRPr>
                        </a:p>
                      </a:txBody>
                      <a:tcPr/>
                    </a:tc>
                    <a:tc vMerge="1">
                      <a:txBody>
                        <a:bodyPr/>
                        <a:lstStyle/>
                        <a:p>
                          <a:endParaRPr lang="es-CO"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118226202"/>
                      </a:ext>
                    </a:extLst>
                  </a:tr>
                  <a:tr h="962216">
                    <a:tc>
                      <a:txBody>
                        <a:bodyPr/>
                        <a:lstStyle/>
                        <a:p>
                          <a:r>
                            <a:rPr lang="es-CO" sz="2000" dirty="0">
                              <a:latin typeface="+mn-lt"/>
                              <a:ea typeface="Roboto" panose="02000000000000000000" pitchFamily="2" charset="0"/>
                            </a:rPr>
                            <a:t>Adición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6226" t="-437342" r="-193082" b="-1266"/>
                          </a:stretch>
                        </a:blipFill>
                      </a:tcPr>
                    </a:tc>
                    <a:tc>
                      <a:txBody>
                        <a:bodyPr/>
                        <a:lstStyle/>
                        <a:p>
                          <a:r>
                            <a:rPr lang="es-CO" sz="2000" dirty="0">
                              <a:latin typeface="+mn-lt"/>
                              <a:ea typeface="Roboto" panose="02000000000000000000" pitchFamily="2" charset="0"/>
                            </a:rPr>
                            <a:t>Resolución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56897" t="-437342" r="-493" b="-1266"/>
                          </a:stretch>
                        </a:blipFill>
                      </a:tcPr>
                    </a:tc>
                    <a:extLst>
                      <a:ext uri="{0D108BD9-81ED-4DB2-BD59-A6C34878D82A}">
                        <a16:rowId xmlns:a16="http://schemas.microsoft.com/office/drawing/2014/main" val="2217682141"/>
                      </a:ext>
                    </a:extLst>
                  </a:tr>
                </a:tbl>
              </a:graphicData>
            </a:graphic>
          </p:graphicFrame>
        </mc:Fallback>
      </mc:AlternateContent>
    </p:spTree>
    <p:extLst>
      <p:ext uri="{BB962C8B-B14F-4D97-AF65-F5344CB8AC3E}">
        <p14:creationId xmlns:p14="http://schemas.microsoft.com/office/powerpoint/2010/main" val="29033261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a:xfrm>
            <a:off x="353966" y="96038"/>
            <a:ext cx="8689708" cy="949500"/>
          </a:xfrm>
        </p:spPr>
        <p:txBody>
          <a:bodyPr/>
          <a:lstStyle/>
          <a:p>
            <a:r>
              <a:rPr lang="es-CO" dirty="0">
                <a:solidFill>
                  <a:schemeClr val="tx1"/>
                </a:solidFill>
                <a:latin typeface="+mj-lt"/>
              </a:rPr>
              <a:t>Lógica proposicional</a:t>
            </a:r>
          </a:p>
        </p:txBody>
      </p:sp>
      <p:sp>
        <p:nvSpPr>
          <p:cNvPr id="10" name="CuadroTexto 9">
            <a:extLst>
              <a:ext uri="{FF2B5EF4-FFF2-40B4-BE49-F238E27FC236}">
                <a16:creationId xmlns:a16="http://schemas.microsoft.com/office/drawing/2014/main" id="{A19C6E9F-BCCF-4FD4-8EC3-574D66199786}"/>
              </a:ext>
            </a:extLst>
          </p:cNvPr>
          <p:cNvSpPr txBox="1"/>
          <p:nvPr/>
        </p:nvSpPr>
        <p:spPr>
          <a:xfrm>
            <a:off x="339214" y="859151"/>
            <a:ext cx="11621728" cy="492443"/>
          </a:xfrm>
          <a:prstGeom prst="rect">
            <a:avLst/>
          </a:prstGeom>
          <a:noFill/>
        </p:spPr>
        <p:txBody>
          <a:bodyPr wrap="square" rtlCol="0">
            <a:spAutoFit/>
          </a:bodyPr>
          <a:lstStyle/>
          <a:p>
            <a:r>
              <a:rPr lang="es-MX" sz="2600" b="1" dirty="0">
                <a:ea typeface="Roboto" panose="02000000000000000000" pitchFamily="2" charset="0"/>
              </a:rPr>
              <a:t>Demostración</a:t>
            </a:r>
          </a:p>
        </p:txBody>
      </p:sp>
      <mc:AlternateContent xmlns:mc="http://schemas.openxmlformats.org/markup-compatibility/2006">
        <mc:Choice xmlns:a14="http://schemas.microsoft.com/office/drawing/2010/main" Requires="a14">
          <p:sp>
            <p:nvSpPr>
              <p:cNvPr id="5" name="Google Shape;310;p34">
                <a:extLst>
                  <a:ext uri="{FF2B5EF4-FFF2-40B4-BE49-F238E27FC236}">
                    <a16:creationId xmlns:a16="http://schemas.microsoft.com/office/drawing/2014/main" id="{9C63330C-F466-4BDA-A747-02626B58C6A6}"/>
                  </a:ext>
                </a:extLst>
              </p:cNvPr>
              <p:cNvSpPr txBox="1">
                <a:spLocks/>
              </p:cNvSpPr>
              <p:nvPr/>
            </p:nvSpPr>
            <p:spPr>
              <a:xfrm>
                <a:off x="339213" y="1350788"/>
                <a:ext cx="11621728" cy="5094254"/>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latin typeface="+mn-lt"/>
                    <a:ea typeface="Roboto" panose="02000000000000000000" pitchFamily="2" charset="0"/>
                  </a:rPr>
                  <a:t>Una demostración es una cadena de razonamientos en la que cada paso sigue lógicamente del anterior, con el objetivo de justificar que una conclusión se sigue necesariamente de un conjunto de premisas.</a:t>
                </a:r>
              </a:p>
              <a:p>
                <a:r>
                  <a:rPr lang="es-MX" sz="2000" dirty="0">
                    <a:latin typeface="+mn-lt"/>
                    <a:ea typeface="Roboto" panose="02000000000000000000" pitchFamily="2" charset="0"/>
                  </a:rPr>
                  <a:t>En </a:t>
                </a:r>
                <a:r>
                  <a:rPr lang="es-MX" sz="2000" b="1" dirty="0">
                    <a:latin typeface="+mn-lt"/>
                    <a:ea typeface="Roboto" panose="02000000000000000000" pitchFamily="2" charset="0"/>
                  </a:rPr>
                  <a:t>lógica proposicional</a:t>
                </a:r>
                <a:r>
                  <a:rPr lang="es-MX" sz="2000" dirty="0">
                    <a:latin typeface="+mn-lt"/>
                    <a:ea typeface="Roboto" panose="02000000000000000000" pitchFamily="2" charset="0"/>
                  </a:rPr>
                  <a:t>, las demostraciones se construyen a partir de conectivos lógicos (</a:t>
                </a:r>
                <a14:m>
                  <m:oMath xmlns:m="http://schemas.openxmlformats.org/officeDocument/2006/math">
                    <m:r>
                      <a:rPr lang="es-MX" sz="2000" b="0" i="1" smtClean="0">
                        <a:latin typeface="Cambria Math" panose="02040503050406030204" pitchFamily="18" charset="0"/>
                        <a:ea typeface="Cambria Math" panose="02040503050406030204" pitchFamily="18" charset="0"/>
                      </a:rPr>
                      <m:t>¬</m:t>
                    </m:r>
                  </m:oMath>
                </a14:m>
                <a:r>
                  <a:rPr lang="es-MX" sz="2000" dirty="0">
                    <a:latin typeface="+mn-lt"/>
                    <a:ea typeface="Roboto" panose="02000000000000000000" pitchFamily="2" charset="0"/>
                  </a:rPr>
                  <a:t>, </a:t>
                </a:r>
                <a14:m>
                  <m:oMath xmlns:m="http://schemas.openxmlformats.org/officeDocument/2006/math">
                    <m:r>
                      <a:rPr lang="es-MX" sz="2000" i="1" smtClean="0">
                        <a:latin typeface="Cambria Math" panose="02040503050406030204" pitchFamily="18" charset="0"/>
                        <a:ea typeface="Cambria Math" panose="02040503050406030204" pitchFamily="18" charset="0"/>
                      </a:rPr>
                      <m:t>∧</m:t>
                    </m:r>
                  </m:oMath>
                </a14:m>
                <a:r>
                  <a:rPr lang="es-MX" sz="2000" dirty="0">
                    <a:latin typeface="+mn-lt"/>
                    <a:ea typeface="Roboto" panose="02000000000000000000" pitchFamily="2" charset="0"/>
                  </a:rPr>
                  <a:t>, </a:t>
                </a:r>
                <a14:m>
                  <m:oMath xmlns:m="http://schemas.openxmlformats.org/officeDocument/2006/math">
                    <m:r>
                      <a:rPr lang="es-MX" sz="2000" i="1" smtClean="0">
                        <a:latin typeface="Cambria Math" panose="02040503050406030204" pitchFamily="18" charset="0"/>
                        <a:ea typeface="Cambria Math" panose="02040503050406030204" pitchFamily="18" charset="0"/>
                      </a:rPr>
                      <m:t>∨</m:t>
                    </m:r>
                  </m:oMath>
                </a14:m>
                <a:r>
                  <a:rPr lang="es-MX" sz="2000" dirty="0">
                    <a:latin typeface="+mn-lt"/>
                    <a:ea typeface="Roboto" panose="02000000000000000000" pitchFamily="2" charset="0"/>
                  </a:rPr>
                  <a:t>, </a:t>
                </a:r>
                <a14:m>
                  <m:oMath xmlns:m="http://schemas.openxmlformats.org/officeDocument/2006/math">
                    <m:r>
                      <a:rPr lang="es-MX" sz="2000" b="0" i="1" smtClean="0">
                        <a:latin typeface="Cambria Math" panose="02040503050406030204" pitchFamily="18" charset="0"/>
                        <a:ea typeface="Roboto" panose="02000000000000000000" pitchFamily="2" charset="0"/>
                      </a:rPr>
                      <m:t>→</m:t>
                    </m:r>
                  </m:oMath>
                </a14:m>
                <a:r>
                  <a:rPr lang="es-MX" sz="2000" dirty="0">
                    <a:latin typeface="+mn-lt"/>
                    <a:ea typeface="Roboto" panose="02000000000000000000" pitchFamily="2" charset="0"/>
                  </a:rPr>
                  <a:t>, </a:t>
                </a:r>
                <a14:m>
                  <m:oMath xmlns:m="http://schemas.openxmlformats.org/officeDocument/2006/math">
                    <m:r>
                      <a:rPr lang="es-MX" sz="2000" i="1" smtClean="0">
                        <a:latin typeface="Cambria Math" panose="02040503050406030204" pitchFamily="18" charset="0"/>
                        <a:ea typeface="Cambria Math" panose="02040503050406030204" pitchFamily="18" charset="0"/>
                      </a:rPr>
                      <m:t>↔</m:t>
                    </m:r>
                  </m:oMath>
                </a14:m>
                <a:r>
                  <a:rPr lang="es-MX" sz="2000" dirty="0">
                    <a:latin typeface="+mn-lt"/>
                    <a:ea typeface="Roboto" panose="02000000000000000000" pitchFamily="2" charset="0"/>
                  </a:rPr>
                  <a:t>) siguiendo reglas como Modus Ponens, Eliminación de la conjunción, entre otras.</a:t>
                </a:r>
              </a:p>
              <a:p>
                <a:endParaRPr lang="es-MX" sz="2000" dirty="0">
                  <a:latin typeface="+mn-lt"/>
                  <a:ea typeface="Roboto" panose="02000000000000000000" pitchFamily="2" charset="0"/>
                </a:endParaRPr>
              </a:p>
              <a:p>
                <a:endParaRPr lang="es-MX" sz="2000" dirty="0">
                  <a:latin typeface="+mn-lt"/>
                  <a:ea typeface="Roboto" panose="02000000000000000000" pitchFamily="2" charset="0"/>
                </a:endParaRPr>
              </a:p>
              <a:p>
                <a:endParaRPr lang="es-MX" sz="2000" dirty="0">
                  <a:latin typeface="+mn-lt"/>
                  <a:ea typeface="Roboto" panose="02000000000000000000" pitchFamily="2" charset="0"/>
                </a:endParaRPr>
              </a:p>
              <a:p>
                <a:endParaRPr lang="es-MX" sz="2000" dirty="0">
                  <a:latin typeface="+mn-lt"/>
                  <a:ea typeface="Roboto" panose="02000000000000000000" pitchFamily="2" charset="0"/>
                </a:endParaRPr>
              </a:p>
              <a:p>
                <a:endParaRPr lang="es-MX" sz="2000" dirty="0">
                  <a:latin typeface="+mn-lt"/>
                  <a:ea typeface="Roboto" panose="02000000000000000000" pitchFamily="2" charset="0"/>
                </a:endParaRPr>
              </a:p>
              <a:p>
                <a:endParaRPr lang="es-MX" sz="2000" dirty="0">
                  <a:latin typeface="+mn-lt"/>
                  <a:ea typeface="Roboto" panose="02000000000000000000" pitchFamily="2" charset="0"/>
                </a:endParaRPr>
              </a:p>
              <a:p>
                <a:r>
                  <a:rPr lang="es-MX" sz="2000" dirty="0">
                    <a:latin typeface="+mn-lt"/>
                    <a:ea typeface="Roboto" panose="02000000000000000000" pitchFamily="2" charset="0"/>
                  </a:rPr>
                  <a:t>En </a:t>
                </a:r>
                <a:r>
                  <a:rPr lang="es-MX" sz="2000" b="1" dirty="0">
                    <a:latin typeface="+mn-lt"/>
                    <a:ea typeface="Roboto" panose="02000000000000000000" pitchFamily="2" charset="0"/>
                  </a:rPr>
                  <a:t>lógica de predicados</a:t>
                </a:r>
                <a:r>
                  <a:rPr lang="es-MX" sz="2000" dirty="0">
                    <a:latin typeface="+mn-lt"/>
                    <a:ea typeface="Roboto" panose="02000000000000000000" pitchFamily="2" charset="0"/>
                  </a:rPr>
                  <a:t>, además se usan cuantificadores (</a:t>
                </a:r>
                <a14:m>
                  <m:oMath xmlns:m="http://schemas.openxmlformats.org/officeDocument/2006/math">
                    <m:r>
                      <a:rPr lang="es-MX" sz="2000" b="0" i="1" smtClean="0">
                        <a:latin typeface="Cambria Math" panose="02040503050406030204" pitchFamily="18" charset="0"/>
                        <a:ea typeface="Roboto" panose="02000000000000000000" pitchFamily="2" charset="0"/>
                      </a:rPr>
                      <m:t>∀</m:t>
                    </m:r>
                  </m:oMath>
                </a14:m>
                <a:r>
                  <a:rPr lang="es-MX" sz="2000" dirty="0">
                    <a:latin typeface="+mn-lt"/>
                    <a:ea typeface="Roboto" panose="02000000000000000000" pitchFamily="2" charset="0"/>
                  </a:rPr>
                  <a:t>, </a:t>
                </a:r>
                <a14:m>
                  <m:oMath xmlns:m="http://schemas.openxmlformats.org/officeDocument/2006/math">
                    <m:r>
                      <a:rPr lang="es-MX" sz="2000" b="0" i="1" smtClean="0">
                        <a:latin typeface="Cambria Math" panose="02040503050406030204" pitchFamily="18" charset="0"/>
                        <a:ea typeface="Roboto" panose="02000000000000000000" pitchFamily="2" charset="0"/>
                      </a:rPr>
                      <m:t>∃</m:t>
                    </m:r>
                  </m:oMath>
                </a14:m>
                <a:r>
                  <a:rPr lang="es-MX" sz="2000" dirty="0">
                    <a:latin typeface="+mn-lt"/>
                    <a:ea typeface="Roboto" panose="02000000000000000000" pitchFamily="2" charset="0"/>
                  </a:rPr>
                  <a:t>) y se aplican reglas como la instanciación universal o la generalización existencial.</a:t>
                </a:r>
              </a:p>
              <a:p>
                <a:endParaRPr lang="es-MX" sz="2000" dirty="0">
                  <a:latin typeface="+mn-lt"/>
                  <a:ea typeface="Roboto" panose="02000000000000000000" pitchFamily="2" charset="0"/>
                </a:endParaRPr>
              </a:p>
            </p:txBody>
          </p:sp>
        </mc:Choice>
        <mc:Fallback>
          <p:sp>
            <p:nvSpPr>
              <p:cNvPr id="5" name="Google Shape;310;p34">
                <a:extLst>
                  <a:ext uri="{FF2B5EF4-FFF2-40B4-BE49-F238E27FC236}">
                    <a16:creationId xmlns:a16="http://schemas.microsoft.com/office/drawing/2014/main" id="{9C63330C-F466-4BDA-A747-02626B58C6A6}"/>
                  </a:ext>
                </a:extLst>
              </p:cNvPr>
              <p:cNvSpPr txBox="1">
                <a:spLocks noRot="1" noChangeAspect="1" noMove="1" noResize="1" noEditPoints="1" noAdjustHandles="1" noChangeArrowheads="1" noChangeShapeType="1" noTextEdit="1"/>
              </p:cNvSpPr>
              <p:nvPr/>
            </p:nvSpPr>
            <p:spPr>
              <a:xfrm>
                <a:off x="339213" y="1350788"/>
                <a:ext cx="11621728" cy="5094254"/>
              </a:xfrm>
              <a:prstGeom prst="rect">
                <a:avLst/>
              </a:prstGeom>
              <a:blipFill>
                <a:blip r:embed="rId3"/>
                <a:stretch>
                  <a:fillRect/>
                </a:stretch>
              </a:blipFill>
              <a:ln>
                <a:noFill/>
              </a:ln>
            </p:spPr>
            <p:txBody>
              <a:bodyPr/>
              <a:lstStyle/>
              <a:p>
                <a:r>
                  <a:rPr lang="es-CO">
                    <a:noFill/>
                  </a:rPr>
                  <a:t> </a:t>
                </a:r>
              </a:p>
            </p:txBody>
          </p:sp>
        </mc:Fallback>
      </mc:AlternateContent>
      <p:grpSp>
        <p:nvGrpSpPr>
          <p:cNvPr id="19" name="Grupo 18">
            <a:extLst>
              <a:ext uri="{FF2B5EF4-FFF2-40B4-BE49-F238E27FC236}">
                <a16:creationId xmlns:a16="http://schemas.microsoft.com/office/drawing/2014/main" id="{5114539A-5339-4611-932F-027B413A22B9}"/>
              </a:ext>
            </a:extLst>
          </p:cNvPr>
          <p:cNvGrpSpPr/>
          <p:nvPr/>
        </p:nvGrpSpPr>
        <p:grpSpPr>
          <a:xfrm>
            <a:off x="1515107" y="3169786"/>
            <a:ext cx="2709898" cy="1498315"/>
            <a:chOff x="1832754" y="4517212"/>
            <a:chExt cx="2709898" cy="1498315"/>
          </a:xfrm>
        </p:grpSpPr>
        <p:grpSp>
          <p:nvGrpSpPr>
            <p:cNvPr id="20" name="Grupo 19">
              <a:extLst>
                <a:ext uri="{FF2B5EF4-FFF2-40B4-BE49-F238E27FC236}">
                  <a16:creationId xmlns:a16="http://schemas.microsoft.com/office/drawing/2014/main" id="{F0D61511-84BA-4230-A278-2BF13B0429F2}"/>
                </a:ext>
              </a:extLst>
            </p:cNvPr>
            <p:cNvGrpSpPr/>
            <p:nvPr/>
          </p:nvGrpSpPr>
          <p:grpSpPr>
            <a:xfrm>
              <a:off x="2082320" y="4999864"/>
              <a:ext cx="2120252" cy="1015663"/>
              <a:chOff x="2082320" y="4999864"/>
              <a:chExt cx="2120252" cy="1015663"/>
            </a:xfrm>
          </p:grpSpPr>
          <mc:AlternateContent xmlns:mc="http://schemas.openxmlformats.org/markup-compatibility/2006">
            <mc:Choice xmlns:a14="http://schemas.microsoft.com/office/drawing/2010/main" Requires="a14">
              <p:sp>
                <p:nvSpPr>
                  <p:cNvPr id="22" name="CuadroTexto 21">
                    <a:extLst>
                      <a:ext uri="{FF2B5EF4-FFF2-40B4-BE49-F238E27FC236}">
                        <a16:creationId xmlns:a16="http://schemas.microsoft.com/office/drawing/2014/main" id="{A1807FBD-0CB0-4540-8B3B-12FD0D5F9DAC}"/>
                      </a:ext>
                    </a:extLst>
                  </p:cNvPr>
                  <p:cNvSpPr txBox="1"/>
                  <p:nvPr/>
                </p:nvSpPr>
                <p:spPr>
                  <a:xfrm>
                    <a:off x="2082320" y="4999864"/>
                    <a:ext cx="2120252" cy="101566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s-MX" sz="2000" b="0" i="1" smtClean="0">
                              <a:latin typeface="Cambria Math" panose="02040503050406030204" pitchFamily="18" charset="0"/>
                              <a:ea typeface="Cambria Math" panose="02040503050406030204" pitchFamily="18" charset="0"/>
                            </a:rPr>
                            <m:t>    </m:t>
                          </m:r>
                          <m:r>
                            <a:rPr lang="es-MX" sz="2000" b="0" i="1" smtClean="0">
                              <a:latin typeface="Cambria Math" panose="02040503050406030204" pitchFamily="18" charset="0"/>
                              <a:ea typeface="Cambria Math" panose="02040503050406030204" pitchFamily="18" charset="0"/>
                            </a:rPr>
                            <m:t>𝑝</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𝑞</m:t>
                          </m:r>
                        </m:oMath>
                      </m:oMathPara>
                    </a14:m>
                    <a:endParaRPr lang="es-MX" sz="2000" b="0" i="0"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s-MX" sz="2000" b="0" i="1" smtClean="0">
                              <a:latin typeface="Cambria Math" panose="02040503050406030204" pitchFamily="18" charset="0"/>
                              <a:ea typeface="Cambria Math" panose="02040503050406030204" pitchFamily="18" charset="0"/>
                            </a:rPr>
                            <m:t>    </m:t>
                          </m:r>
                          <m:r>
                            <a:rPr lang="es-MX" sz="2000" b="0" i="1" smtClean="0">
                              <a:latin typeface="Cambria Math" panose="02040503050406030204" pitchFamily="18" charset="0"/>
                              <a:ea typeface="Cambria Math" panose="02040503050406030204" pitchFamily="18" charset="0"/>
                            </a:rPr>
                            <m:t>𝑝</m:t>
                          </m:r>
                        </m:oMath>
                      </m:oMathPara>
                    </a14:m>
                    <a:endParaRPr lang="es-MX" sz="2000" b="0" i="0"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s-CO" sz="200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𝑞</m:t>
                          </m:r>
                        </m:oMath>
                      </m:oMathPara>
                    </a14:m>
                    <a:endParaRPr lang="es-CO" sz="2000" i="1" dirty="0"/>
                  </a:p>
                </p:txBody>
              </p:sp>
            </mc:Choice>
            <mc:Fallback>
              <p:sp>
                <p:nvSpPr>
                  <p:cNvPr id="22" name="CuadroTexto 21">
                    <a:extLst>
                      <a:ext uri="{FF2B5EF4-FFF2-40B4-BE49-F238E27FC236}">
                        <a16:creationId xmlns:a16="http://schemas.microsoft.com/office/drawing/2014/main" id="{A1807FBD-0CB0-4540-8B3B-12FD0D5F9DAC}"/>
                      </a:ext>
                    </a:extLst>
                  </p:cNvPr>
                  <p:cNvSpPr txBox="1">
                    <a:spLocks noRot="1" noChangeAspect="1" noMove="1" noResize="1" noEditPoints="1" noAdjustHandles="1" noChangeArrowheads="1" noChangeShapeType="1" noTextEdit="1"/>
                  </p:cNvSpPr>
                  <p:nvPr/>
                </p:nvSpPr>
                <p:spPr>
                  <a:xfrm>
                    <a:off x="2082320" y="4999864"/>
                    <a:ext cx="2120252" cy="1015663"/>
                  </a:xfrm>
                  <a:prstGeom prst="rect">
                    <a:avLst/>
                  </a:prstGeom>
                  <a:blipFill>
                    <a:blip r:embed="rId4"/>
                    <a:stretch>
                      <a:fillRect b="-2395"/>
                    </a:stretch>
                  </a:blipFill>
                </p:spPr>
                <p:txBody>
                  <a:bodyPr/>
                  <a:lstStyle/>
                  <a:p>
                    <a:r>
                      <a:rPr lang="es-CO">
                        <a:noFill/>
                      </a:rPr>
                      <a:t> </a:t>
                    </a:r>
                  </a:p>
                </p:txBody>
              </p:sp>
            </mc:Fallback>
          </mc:AlternateContent>
          <p:cxnSp>
            <p:nvCxnSpPr>
              <p:cNvPr id="23" name="Conector recto 22">
                <a:extLst>
                  <a:ext uri="{FF2B5EF4-FFF2-40B4-BE49-F238E27FC236}">
                    <a16:creationId xmlns:a16="http://schemas.microsoft.com/office/drawing/2014/main" id="{09C4F3BA-2F4F-42BE-A03E-F0CAB858A74F}"/>
                  </a:ext>
                </a:extLst>
              </p:cNvPr>
              <p:cNvCxnSpPr>
                <a:cxnSpLocks/>
              </p:cNvCxnSpPr>
              <p:nvPr/>
            </p:nvCxnSpPr>
            <p:spPr>
              <a:xfrm>
                <a:off x="2082320" y="5658658"/>
                <a:ext cx="2110763" cy="0"/>
              </a:xfrm>
              <a:prstGeom prst="line">
                <a:avLst/>
              </a:prstGeom>
              <a:solidFill>
                <a:schemeClr val="bg1">
                  <a:lumMod val="95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 name="CuadroTexto 20">
              <a:extLst>
                <a:ext uri="{FF2B5EF4-FFF2-40B4-BE49-F238E27FC236}">
                  <a16:creationId xmlns:a16="http://schemas.microsoft.com/office/drawing/2014/main" id="{31B90DE1-E343-4B98-A150-D9CD5D10D150}"/>
                </a:ext>
              </a:extLst>
            </p:cNvPr>
            <p:cNvSpPr txBox="1"/>
            <p:nvPr/>
          </p:nvSpPr>
          <p:spPr>
            <a:xfrm>
              <a:off x="1832754" y="4517212"/>
              <a:ext cx="2709898" cy="400110"/>
            </a:xfrm>
            <a:prstGeom prst="rect">
              <a:avLst/>
            </a:prstGeom>
            <a:noFill/>
          </p:spPr>
          <p:txBody>
            <a:bodyPr wrap="square">
              <a:spAutoFit/>
            </a:bodyPr>
            <a:lstStyle/>
            <a:p>
              <a:pPr algn="ctr"/>
              <a:r>
                <a:rPr lang="es-MX" sz="2000" b="1" dirty="0">
                  <a:ea typeface="Roboto" panose="02000000000000000000" pitchFamily="2" charset="0"/>
                </a:rPr>
                <a:t>Notación estándar</a:t>
              </a:r>
              <a:endParaRPr lang="es-CO" sz="2000" b="1" dirty="0"/>
            </a:p>
          </p:txBody>
        </p:sp>
      </p:grpSp>
      <p:grpSp>
        <p:nvGrpSpPr>
          <p:cNvPr id="24" name="Grupo 23">
            <a:extLst>
              <a:ext uri="{FF2B5EF4-FFF2-40B4-BE49-F238E27FC236}">
                <a16:creationId xmlns:a16="http://schemas.microsoft.com/office/drawing/2014/main" id="{3DC5BE2C-15D3-43C3-8C24-0F6372C2EB60}"/>
              </a:ext>
            </a:extLst>
          </p:cNvPr>
          <p:cNvGrpSpPr/>
          <p:nvPr/>
        </p:nvGrpSpPr>
        <p:grpSpPr>
          <a:xfrm>
            <a:off x="8248696" y="3145696"/>
            <a:ext cx="2532376" cy="888471"/>
            <a:chOff x="8417974" y="4476562"/>
            <a:chExt cx="2532376" cy="888471"/>
          </a:xfrm>
        </p:grpSpPr>
        <mc:AlternateContent xmlns:mc="http://schemas.openxmlformats.org/markup-compatibility/2006">
          <mc:Choice xmlns:a14="http://schemas.microsoft.com/office/drawing/2010/main" Requires="a14">
            <p:sp>
              <p:nvSpPr>
                <p:cNvPr id="25" name="CuadroTexto 24">
                  <a:extLst>
                    <a:ext uri="{FF2B5EF4-FFF2-40B4-BE49-F238E27FC236}">
                      <a16:creationId xmlns:a16="http://schemas.microsoft.com/office/drawing/2014/main" id="{985A3A83-6A88-42B0-A43C-E537DBA47CB5}"/>
                    </a:ext>
                  </a:extLst>
                </p:cNvPr>
                <p:cNvSpPr txBox="1"/>
                <p:nvPr/>
              </p:nvSpPr>
              <p:spPr>
                <a:xfrm>
                  <a:off x="8517025" y="4964923"/>
                  <a:ext cx="2120252" cy="40011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d>
                          <m:dPr>
                            <m:ctrlPr>
                              <a:rPr lang="es-MX" sz="2000" i="1" smtClean="0">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𝑝</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𝑞</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𝑝</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𝑞</m:t>
                        </m:r>
                      </m:oMath>
                    </m:oMathPara>
                  </a14:m>
                  <a:endParaRPr lang="es-MX" sz="2000" b="0" i="0" dirty="0">
                    <a:latin typeface="Cambria Math" panose="02040503050406030204" pitchFamily="18" charset="0"/>
                    <a:ea typeface="Cambria Math" panose="02040503050406030204" pitchFamily="18" charset="0"/>
                  </a:endParaRPr>
                </a:p>
              </p:txBody>
            </p:sp>
          </mc:Choice>
          <mc:Fallback>
            <p:sp>
              <p:nvSpPr>
                <p:cNvPr id="25" name="CuadroTexto 24">
                  <a:extLst>
                    <a:ext uri="{FF2B5EF4-FFF2-40B4-BE49-F238E27FC236}">
                      <a16:creationId xmlns:a16="http://schemas.microsoft.com/office/drawing/2014/main" id="{985A3A83-6A88-42B0-A43C-E537DBA47CB5}"/>
                    </a:ext>
                  </a:extLst>
                </p:cNvPr>
                <p:cNvSpPr txBox="1">
                  <a:spLocks noRot="1" noChangeAspect="1" noMove="1" noResize="1" noEditPoints="1" noAdjustHandles="1" noChangeArrowheads="1" noChangeShapeType="1" noTextEdit="1"/>
                </p:cNvSpPr>
                <p:nvPr/>
              </p:nvSpPr>
              <p:spPr>
                <a:xfrm>
                  <a:off x="8517025" y="4964923"/>
                  <a:ext cx="2120252" cy="400110"/>
                </a:xfrm>
                <a:prstGeom prst="rect">
                  <a:avLst/>
                </a:prstGeom>
                <a:blipFill>
                  <a:blip r:embed="rId5"/>
                  <a:stretch>
                    <a:fillRect b="-10606"/>
                  </a:stretch>
                </a:blipFill>
              </p:spPr>
              <p:txBody>
                <a:bodyPr/>
                <a:lstStyle/>
                <a:p>
                  <a:r>
                    <a:rPr lang="es-CO">
                      <a:noFill/>
                    </a:rPr>
                    <a:t> </a:t>
                  </a:r>
                </a:p>
              </p:txBody>
            </p:sp>
          </mc:Fallback>
        </mc:AlternateContent>
        <p:sp>
          <p:nvSpPr>
            <p:cNvPr id="26" name="CuadroTexto 25">
              <a:extLst>
                <a:ext uri="{FF2B5EF4-FFF2-40B4-BE49-F238E27FC236}">
                  <a16:creationId xmlns:a16="http://schemas.microsoft.com/office/drawing/2014/main" id="{AC4116E0-E47A-40FA-8CB7-83359F939476}"/>
                </a:ext>
              </a:extLst>
            </p:cNvPr>
            <p:cNvSpPr txBox="1"/>
            <p:nvPr/>
          </p:nvSpPr>
          <p:spPr>
            <a:xfrm>
              <a:off x="8417974" y="4476562"/>
              <a:ext cx="2532376" cy="400110"/>
            </a:xfrm>
            <a:prstGeom prst="rect">
              <a:avLst/>
            </a:prstGeom>
            <a:noFill/>
          </p:spPr>
          <p:txBody>
            <a:bodyPr wrap="square">
              <a:spAutoFit/>
            </a:bodyPr>
            <a:lstStyle/>
            <a:p>
              <a:pPr algn="ctr"/>
              <a:r>
                <a:rPr lang="es-MX" sz="2000" b="1" dirty="0">
                  <a:ea typeface="Roboto" panose="02000000000000000000" pitchFamily="2" charset="0"/>
                </a:rPr>
                <a:t>Forma simbólica</a:t>
              </a:r>
              <a:endParaRPr lang="es-CO" sz="2000" b="1" dirty="0"/>
            </a:p>
          </p:txBody>
        </p:sp>
      </p:grpSp>
      <p:grpSp>
        <p:nvGrpSpPr>
          <p:cNvPr id="27" name="Grupo 26">
            <a:extLst>
              <a:ext uri="{FF2B5EF4-FFF2-40B4-BE49-F238E27FC236}">
                <a16:creationId xmlns:a16="http://schemas.microsoft.com/office/drawing/2014/main" id="{AFD3F1A1-59AA-4F56-BE98-66332D996568}"/>
              </a:ext>
            </a:extLst>
          </p:cNvPr>
          <p:cNvGrpSpPr/>
          <p:nvPr/>
        </p:nvGrpSpPr>
        <p:grpSpPr>
          <a:xfrm>
            <a:off x="5028148" y="3169786"/>
            <a:ext cx="2318354" cy="864381"/>
            <a:chOff x="5231382" y="4513020"/>
            <a:chExt cx="2318354" cy="864381"/>
          </a:xfrm>
        </p:grpSpPr>
        <mc:AlternateContent xmlns:mc="http://schemas.openxmlformats.org/markup-compatibility/2006">
          <mc:Choice xmlns:a14="http://schemas.microsoft.com/office/drawing/2010/main" Requires="a14">
            <p:sp>
              <p:nvSpPr>
                <p:cNvPr id="28" name="CuadroTexto 27">
                  <a:extLst>
                    <a:ext uri="{FF2B5EF4-FFF2-40B4-BE49-F238E27FC236}">
                      <a16:creationId xmlns:a16="http://schemas.microsoft.com/office/drawing/2014/main" id="{0B1AAE49-275C-46D7-9D2C-3A5AA7328ADB}"/>
                    </a:ext>
                  </a:extLst>
                </p:cNvPr>
                <p:cNvSpPr txBox="1"/>
                <p:nvPr/>
              </p:nvSpPr>
              <p:spPr>
                <a:xfrm>
                  <a:off x="5429484" y="4977291"/>
                  <a:ext cx="2120252" cy="400110"/>
                </a:xfrm>
                <a:prstGeom prst="rect">
                  <a:avLst/>
                </a:prstGeom>
                <a:noFill/>
              </p:spPr>
              <p:txBody>
                <a:bodyPr wrap="square">
                  <a:spAutoFit/>
                </a:bodyPr>
                <a:lstStyle/>
                <a:p>
                  <a:pPr/>
                  <a14:m>
                    <m:oMathPara xmlns:m="http://schemas.openxmlformats.org/officeDocument/2006/math">
                      <m:oMathParaPr>
                        <m:jc m:val="center"/>
                      </m:oMathParaPr>
                      <m:oMath xmlns:m="http://schemas.openxmlformats.org/officeDocument/2006/math">
                        <m:d>
                          <m:dPr>
                            <m:begChr m:val="["/>
                            <m:endChr m:val="]"/>
                            <m:ctrlPr>
                              <a:rPr lang="es-MX" sz="2000" b="0" i="1" smtClean="0">
                                <a:latin typeface="Cambria Math" panose="02040503050406030204" pitchFamily="18" charset="0"/>
                                <a:ea typeface="Cambria Math" panose="02040503050406030204" pitchFamily="18" charset="0"/>
                              </a:rPr>
                            </m:ctrlPr>
                          </m:dPr>
                          <m:e>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𝑝</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𝑞</m:t>
                                </m:r>
                              </m:e>
                            </m:d>
                            <m:r>
                              <a:rPr lang="es-MX" sz="2000" i="1">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𝑝</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𝑞</m:t>
                        </m:r>
                      </m:oMath>
                    </m:oMathPara>
                  </a14:m>
                  <a:endParaRPr lang="es-MX" sz="2000" b="0" i="0" dirty="0">
                    <a:latin typeface="Cambria Math" panose="02040503050406030204" pitchFamily="18" charset="0"/>
                    <a:ea typeface="Cambria Math" panose="02040503050406030204" pitchFamily="18" charset="0"/>
                  </a:endParaRPr>
                </a:p>
              </p:txBody>
            </p:sp>
          </mc:Choice>
          <mc:Fallback>
            <p:sp>
              <p:nvSpPr>
                <p:cNvPr id="28" name="CuadroTexto 27">
                  <a:extLst>
                    <a:ext uri="{FF2B5EF4-FFF2-40B4-BE49-F238E27FC236}">
                      <a16:creationId xmlns:a16="http://schemas.microsoft.com/office/drawing/2014/main" id="{0B1AAE49-275C-46D7-9D2C-3A5AA7328ADB}"/>
                    </a:ext>
                  </a:extLst>
                </p:cNvPr>
                <p:cNvSpPr txBox="1">
                  <a:spLocks noRot="1" noChangeAspect="1" noMove="1" noResize="1" noEditPoints="1" noAdjustHandles="1" noChangeArrowheads="1" noChangeShapeType="1" noTextEdit="1"/>
                </p:cNvSpPr>
                <p:nvPr/>
              </p:nvSpPr>
              <p:spPr>
                <a:xfrm>
                  <a:off x="5429484" y="4977291"/>
                  <a:ext cx="2120252" cy="400110"/>
                </a:xfrm>
                <a:prstGeom prst="rect">
                  <a:avLst/>
                </a:prstGeom>
                <a:blipFill>
                  <a:blip r:embed="rId6"/>
                  <a:stretch>
                    <a:fillRect b="-10606"/>
                  </a:stretch>
                </a:blipFill>
              </p:spPr>
              <p:txBody>
                <a:bodyPr/>
                <a:lstStyle/>
                <a:p>
                  <a:r>
                    <a:rPr lang="es-CO">
                      <a:noFill/>
                    </a:rPr>
                    <a:t> </a:t>
                  </a:r>
                </a:p>
              </p:txBody>
            </p:sp>
          </mc:Fallback>
        </mc:AlternateContent>
        <p:sp>
          <p:nvSpPr>
            <p:cNvPr id="29" name="CuadroTexto 28">
              <a:extLst>
                <a:ext uri="{FF2B5EF4-FFF2-40B4-BE49-F238E27FC236}">
                  <a16:creationId xmlns:a16="http://schemas.microsoft.com/office/drawing/2014/main" id="{17C14D87-68B0-4E50-9ACB-1E9A5AF1F281}"/>
                </a:ext>
              </a:extLst>
            </p:cNvPr>
            <p:cNvSpPr txBox="1"/>
            <p:nvPr/>
          </p:nvSpPr>
          <p:spPr>
            <a:xfrm>
              <a:off x="5231382" y="4513020"/>
              <a:ext cx="2318354" cy="400110"/>
            </a:xfrm>
            <a:prstGeom prst="rect">
              <a:avLst/>
            </a:prstGeom>
            <a:noFill/>
          </p:spPr>
          <p:txBody>
            <a:bodyPr wrap="square">
              <a:spAutoFit/>
            </a:bodyPr>
            <a:lstStyle/>
            <a:p>
              <a:pPr algn="ctr"/>
              <a:r>
                <a:rPr lang="es-MX" sz="2000" b="1" dirty="0">
                  <a:ea typeface="Roboto" panose="02000000000000000000" pitchFamily="2" charset="0"/>
                </a:rPr>
                <a:t>Tautología</a:t>
              </a:r>
              <a:endParaRPr lang="es-CO" sz="2000" b="1" dirty="0"/>
            </a:p>
          </p:txBody>
        </p:sp>
      </p:grpSp>
    </p:spTree>
    <p:extLst>
      <p:ext uri="{BB962C8B-B14F-4D97-AF65-F5344CB8AC3E}">
        <p14:creationId xmlns:p14="http://schemas.microsoft.com/office/powerpoint/2010/main" val="18807257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370961" y="122690"/>
            <a:ext cx="10188885"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Reglas de inferencia con cuantificadores</a:t>
            </a:r>
            <a:endParaRPr dirty="0">
              <a:solidFill>
                <a:schemeClr val="tx1"/>
              </a:solidFill>
              <a:latin typeface="+mj-lt"/>
            </a:endParaRPr>
          </a:p>
        </p:txBody>
      </p:sp>
      <p:sp>
        <p:nvSpPr>
          <p:cNvPr id="4" name="Google Shape;310;p34">
            <a:extLst>
              <a:ext uri="{FF2B5EF4-FFF2-40B4-BE49-F238E27FC236}">
                <a16:creationId xmlns:a16="http://schemas.microsoft.com/office/drawing/2014/main" id="{BE15A36C-9BD2-469A-9CCF-F214389CB345}"/>
              </a:ext>
            </a:extLst>
          </p:cNvPr>
          <p:cNvSpPr txBox="1">
            <a:spLocks/>
          </p:cNvSpPr>
          <p:nvPr/>
        </p:nvSpPr>
        <p:spPr>
          <a:xfrm>
            <a:off x="370961" y="836215"/>
            <a:ext cx="9501968"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Font typeface="Roboto"/>
              <a:buNone/>
              <a:tabLst>
                <a:tab pos="4808538" algn="l"/>
              </a:tabLst>
            </a:pPr>
            <a:r>
              <a:rPr lang="es-MX" b="1" dirty="0">
                <a:solidFill>
                  <a:schemeClr val="tx1"/>
                </a:solidFill>
                <a:latin typeface="+mn-lt"/>
              </a:rPr>
              <a:t>Reglas de inferencia</a:t>
            </a:r>
            <a:endParaRPr lang="es-MX" dirty="0">
              <a:solidFill>
                <a:schemeClr val="tx1"/>
              </a:solidFill>
              <a:latin typeface="+mn-lt"/>
            </a:endParaRPr>
          </a:p>
          <a:p>
            <a:pPr marL="0" indent="0">
              <a:buFont typeface="Roboto"/>
              <a:buNone/>
            </a:pPr>
            <a:endParaRPr lang="es-MX" sz="2400" dirty="0">
              <a:solidFill>
                <a:schemeClr val="tx1"/>
              </a:solidFill>
              <a:latin typeface="+mn-lt"/>
            </a:endParaRPr>
          </a:p>
          <a:p>
            <a:pPr indent="0">
              <a:buFont typeface="Roboto"/>
              <a:buNone/>
            </a:pPr>
            <a:endParaRPr lang="es-MX" sz="2400" dirty="0">
              <a:solidFill>
                <a:schemeClr val="tx1"/>
              </a:solidFill>
              <a:latin typeface="+mn-lt"/>
            </a:endParaRPr>
          </a:p>
        </p:txBody>
      </p:sp>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265471" y="1419021"/>
            <a:ext cx="11566525" cy="260127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r>
              <a:rPr lang="es-MX" sz="2400" dirty="0">
                <a:latin typeface="+mn-lt"/>
                <a:ea typeface="Roboto" panose="02000000000000000000" pitchFamily="2" charset="0"/>
              </a:rPr>
              <a:t>Los argumentos válidos con enunciados cuantificados consisten en una secuencia de afirmaciones. Cada afirmación es una premisa o se deduce de afirmaciones anteriores mediante reglas de inferencia, que incluyen:</a:t>
            </a:r>
          </a:p>
          <a:p>
            <a:pPr lvl="1"/>
            <a:r>
              <a:rPr lang="es-MX" sz="2400" dirty="0">
                <a:latin typeface="+mn-lt"/>
                <a:ea typeface="Roboto" panose="02000000000000000000" pitchFamily="2" charset="0"/>
              </a:rPr>
              <a:t>Reglas de inferencia para la lógica proposicional</a:t>
            </a:r>
          </a:p>
          <a:p>
            <a:pPr lvl="1"/>
            <a:r>
              <a:rPr lang="es-MX" sz="2400" dirty="0">
                <a:latin typeface="+mn-lt"/>
                <a:ea typeface="Roboto" panose="02000000000000000000" pitchFamily="2" charset="0"/>
              </a:rPr>
              <a:t>Reglas de inferencia para enunciados cuantificados</a:t>
            </a:r>
          </a:p>
          <a:p>
            <a:r>
              <a:rPr lang="es-MX" sz="2400" dirty="0">
                <a:latin typeface="+mn-lt"/>
                <a:ea typeface="Roboto" panose="02000000000000000000" pitchFamily="2" charset="0"/>
              </a:rPr>
              <a:t>Las reglas de inferencia para enunciados cuantificados se resumen en la siguiente tabla:</a:t>
            </a:r>
          </a:p>
          <a:p>
            <a:pPr lvl="1"/>
            <a:endParaRPr lang="es-MX" sz="1800" dirty="0">
              <a:latin typeface="+mn-lt"/>
              <a:ea typeface="Roboto" panose="02000000000000000000" pitchFamily="2" charset="0"/>
            </a:endParaRPr>
          </a:p>
        </p:txBody>
      </p:sp>
      <mc:AlternateContent xmlns:mc="http://schemas.openxmlformats.org/markup-compatibility/2006">
        <mc:Choice xmlns:a14="http://schemas.microsoft.com/office/drawing/2010/main" Requires="a14">
          <p:graphicFrame>
            <p:nvGraphicFramePr>
              <p:cNvPr id="3" name="Tabla 4">
                <a:extLst>
                  <a:ext uri="{FF2B5EF4-FFF2-40B4-BE49-F238E27FC236}">
                    <a16:creationId xmlns:a16="http://schemas.microsoft.com/office/drawing/2014/main" id="{F8DA88F8-0889-4EF4-A1A9-22AAAC26FF1F}"/>
                  </a:ext>
                </a:extLst>
              </p:cNvPr>
              <p:cNvGraphicFramePr>
                <a:graphicFrameLocks noGrp="1"/>
              </p:cNvGraphicFramePr>
              <p:nvPr>
                <p:extLst>
                  <p:ext uri="{D42A27DB-BD31-4B8C-83A1-F6EECF244321}">
                    <p14:modId xmlns:p14="http://schemas.microsoft.com/office/powerpoint/2010/main" val="2914618429"/>
                  </p:ext>
                </p:extLst>
              </p:nvPr>
            </p:nvGraphicFramePr>
            <p:xfrm>
              <a:off x="1544226" y="4305858"/>
              <a:ext cx="9202994" cy="1981200"/>
            </p:xfrm>
            <a:graphic>
              <a:graphicData uri="http://schemas.openxmlformats.org/drawingml/2006/table">
                <a:tbl>
                  <a:tblPr firstRow="1" bandRow="1">
                    <a:tableStyleId>{AD6A3598-7CB8-4345-8D95-17CE05F158A0}</a:tableStyleId>
                  </a:tblPr>
                  <a:tblGrid>
                    <a:gridCol w="927790">
                      <a:extLst>
                        <a:ext uri="{9D8B030D-6E8A-4147-A177-3AD203B41FA5}">
                          <a16:colId xmlns:a16="http://schemas.microsoft.com/office/drawing/2014/main" val="2874355610"/>
                        </a:ext>
                      </a:extLst>
                    </a:gridCol>
                    <a:gridCol w="6310069">
                      <a:extLst>
                        <a:ext uri="{9D8B030D-6E8A-4147-A177-3AD203B41FA5}">
                          <a16:colId xmlns:a16="http://schemas.microsoft.com/office/drawing/2014/main" val="2423713577"/>
                        </a:ext>
                      </a:extLst>
                    </a:gridCol>
                    <a:gridCol w="1965135">
                      <a:extLst>
                        <a:ext uri="{9D8B030D-6E8A-4147-A177-3AD203B41FA5}">
                          <a16:colId xmlns:a16="http://schemas.microsoft.com/office/drawing/2014/main" val="1166162323"/>
                        </a:ext>
                      </a:extLst>
                    </a:gridCol>
                  </a:tblGrid>
                  <a:tr h="217117">
                    <a:tc>
                      <a:txBody>
                        <a:bodyPr/>
                        <a:lstStyle/>
                        <a:p>
                          <a:r>
                            <a:rPr lang="es-CO" sz="2000" b="1" dirty="0">
                              <a:latin typeface="+mn-lt"/>
                              <a:ea typeface="Roboto" panose="02000000000000000000" pitchFamily="2" charset="0"/>
                            </a:rPr>
                            <a:t>Regla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s-CO" sz="2000" b="1" dirty="0">
                              <a:latin typeface="+mn-lt"/>
                              <a:ea typeface="Roboto" panose="02000000000000000000" pitchFamily="2" charset="0"/>
                            </a:rPr>
                            <a:t>Nombre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s-CO" sz="2000" b="1" dirty="0">
                              <a:latin typeface="+mn-lt"/>
                              <a:ea typeface="Roboto" panose="02000000000000000000" pitchFamily="2" charset="0"/>
                            </a:rPr>
                            <a:t>Forma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285160449"/>
                      </a:ext>
                    </a:extLst>
                  </a:tr>
                  <a:tr h="303369">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Roboto" panose="02000000000000000000" pitchFamily="2" charset="0"/>
                                  </a:rPr>
                                  <m:t>∀</m:t>
                                </m:r>
                                <m:r>
                                  <a:rPr lang="es-MX" sz="1800" b="0" i="1" smtClean="0">
                                    <a:latin typeface="Cambria Math" panose="02040503050406030204" pitchFamily="18" charset="0"/>
                                    <a:ea typeface="Roboto" panose="02000000000000000000" pitchFamily="2" charset="0"/>
                                  </a:rPr>
                                  <m:t>𝐼</m:t>
                                </m:r>
                              </m:oMath>
                            </m:oMathPara>
                          </a14:m>
                          <a:endParaRPr lang="es-CO" sz="1800" dirty="0">
                            <a:latin typeface="+mn-lt"/>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2000" dirty="0">
                              <a:latin typeface="+mn-lt"/>
                              <a:ea typeface="Roboto" panose="02000000000000000000" pitchFamily="2" charset="0"/>
                            </a:rPr>
                            <a:t>Instanciación universal (</a:t>
                          </a:r>
                          <a:r>
                            <a:rPr lang="es-MX" sz="2000" b="1" dirty="0">
                              <a:latin typeface="+mn-lt"/>
                              <a:ea typeface="Roboto" panose="02000000000000000000" pitchFamily="2" charset="0"/>
                            </a:rPr>
                            <a:t>UI</a:t>
                          </a:r>
                          <a:r>
                            <a:rPr lang="es-MX" sz="2000" dirty="0">
                              <a:latin typeface="+mn-lt"/>
                              <a:ea typeface="Roboto" panose="02000000000000000000" pitchFamily="2" charset="0"/>
                            </a:rPr>
                            <a:t>: Universal Instantiation)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Roboto" panose="02000000000000000000" pitchFamily="2" charset="0"/>
                                  </a:rPr>
                                  <m:t>∀</m:t>
                                </m:r>
                                <m:r>
                                  <a:rPr lang="es-MX" sz="1800" b="0" i="1" smtClean="0">
                                    <a:latin typeface="Cambria Math" panose="02040503050406030204" pitchFamily="18" charset="0"/>
                                    <a:ea typeface="Roboto" panose="02000000000000000000" pitchFamily="2" charset="0"/>
                                  </a:rPr>
                                  <m:t>𝑥</m:t>
                                </m:r>
                                <m:r>
                                  <a:rPr lang="es-MX" sz="1800" b="0" i="1" smtClean="0">
                                    <a:latin typeface="Cambria Math" panose="02040503050406030204" pitchFamily="18" charset="0"/>
                                    <a:ea typeface="Roboto" panose="02000000000000000000" pitchFamily="2" charset="0"/>
                                  </a:rPr>
                                  <m:t> </m:t>
                                </m:r>
                                <m:r>
                                  <a:rPr lang="es-MX" sz="1800" b="0" i="1" smtClean="0">
                                    <a:latin typeface="Cambria Math" panose="02040503050406030204" pitchFamily="18" charset="0"/>
                                    <a:ea typeface="Roboto" panose="02000000000000000000" pitchFamily="2" charset="0"/>
                                  </a:rPr>
                                  <m:t>𝑃</m:t>
                                </m:r>
                                <m:d>
                                  <m:dPr>
                                    <m:ctrlPr>
                                      <a:rPr lang="es-MX" sz="1800" b="0" i="1" smtClean="0">
                                        <a:latin typeface="Cambria Math" panose="02040503050406030204" pitchFamily="18" charset="0"/>
                                        <a:ea typeface="Roboto" panose="02000000000000000000" pitchFamily="2" charset="0"/>
                                      </a:rPr>
                                    </m:ctrlPr>
                                  </m:dPr>
                                  <m:e>
                                    <m:r>
                                      <a:rPr lang="es-MX" sz="1800" b="0" i="1" smtClean="0">
                                        <a:latin typeface="Cambria Math" panose="02040503050406030204" pitchFamily="18" charset="0"/>
                                        <a:ea typeface="Roboto" panose="02000000000000000000" pitchFamily="2" charset="0"/>
                                      </a:rPr>
                                      <m:t>𝑥</m:t>
                                    </m:r>
                                  </m:e>
                                </m:d>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Roboto" panose="02000000000000000000" pitchFamily="2" charset="0"/>
                                  </a:rPr>
                                  <m:t>𝑃</m:t>
                                </m:r>
                                <m:d>
                                  <m:dPr>
                                    <m:ctrlPr>
                                      <a:rPr lang="es-MX" sz="1800" b="0" i="1" smtClean="0">
                                        <a:latin typeface="Cambria Math" panose="02040503050406030204" pitchFamily="18" charset="0"/>
                                        <a:ea typeface="Roboto" panose="02000000000000000000" pitchFamily="2" charset="0"/>
                                      </a:rPr>
                                    </m:ctrlPr>
                                  </m:dPr>
                                  <m:e>
                                    <m:r>
                                      <a:rPr lang="es-MX" sz="1800" b="0" i="1" smtClean="0">
                                        <a:latin typeface="Cambria Math" panose="02040503050406030204" pitchFamily="18" charset="0"/>
                                        <a:ea typeface="Roboto" panose="02000000000000000000" pitchFamily="2" charset="0"/>
                                      </a:rPr>
                                      <m:t>𝑐</m:t>
                                    </m:r>
                                  </m:e>
                                </m:d>
                              </m:oMath>
                            </m:oMathPara>
                          </a14:m>
                          <a:endParaRPr lang="es-CO" sz="1800" dirty="0">
                            <a:latin typeface="+mn-lt"/>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73686763"/>
                      </a:ext>
                    </a:extLst>
                  </a:tr>
                  <a:tr h="303369">
                    <a:tc>
                      <a:txBody>
                        <a:bodyPr/>
                        <a:lstStyle/>
                        <a:p>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Roboto" panose="02000000000000000000" pitchFamily="2" charset="0"/>
                                  </a:rPr>
                                  <m:t>∀</m:t>
                                </m:r>
                                <m:r>
                                  <a:rPr lang="es-MX" sz="1800" b="0" i="1" smtClean="0">
                                    <a:latin typeface="Cambria Math" panose="02040503050406030204" pitchFamily="18" charset="0"/>
                                    <a:ea typeface="Roboto" panose="02000000000000000000" pitchFamily="2" charset="0"/>
                                  </a:rPr>
                                  <m:t>𝐺</m:t>
                                </m:r>
                              </m:oMath>
                            </m:oMathPara>
                          </a14:m>
                          <a:endParaRPr lang="es-CO" sz="1800" dirty="0">
                            <a:latin typeface="+mn-lt"/>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2000" dirty="0">
                              <a:latin typeface="+mn-lt"/>
                              <a:ea typeface="Roboto" panose="02000000000000000000" pitchFamily="2" charset="0"/>
                            </a:rPr>
                            <a:t>Generalización universal (</a:t>
                          </a:r>
                          <a:r>
                            <a:rPr lang="es-MX" sz="2000" b="1" dirty="0">
                              <a:latin typeface="+mn-lt"/>
                              <a:ea typeface="Roboto" panose="02000000000000000000" pitchFamily="2" charset="0"/>
                            </a:rPr>
                            <a:t>UG</a:t>
                          </a:r>
                          <a:r>
                            <a:rPr lang="es-MX" sz="2000" dirty="0">
                              <a:latin typeface="+mn-lt"/>
                              <a:ea typeface="Roboto" panose="02000000000000000000" pitchFamily="2" charset="0"/>
                            </a:rPr>
                            <a:t>: Universal Generalization)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Roboto" panose="02000000000000000000" pitchFamily="2" charset="0"/>
                                  </a:rPr>
                                  <m:t>𝑃</m:t>
                                </m:r>
                                <m:d>
                                  <m:dPr>
                                    <m:ctrlPr>
                                      <a:rPr lang="es-MX" sz="1800" b="0" i="1" smtClean="0">
                                        <a:latin typeface="Cambria Math" panose="02040503050406030204" pitchFamily="18" charset="0"/>
                                        <a:ea typeface="Roboto" panose="02000000000000000000" pitchFamily="2" charset="0"/>
                                      </a:rPr>
                                    </m:ctrlPr>
                                  </m:dPr>
                                  <m:e>
                                    <m:r>
                                      <a:rPr lang="es-MX" sz="1800" b="0" i="1" smtClean="0">
                                        <a:latin typeface="Cambria Math" panose="02040503050406030204" pitchFamily="18" charset="0"/>
                                        <a:ea typeface="Roboto" panose="02000000000000000000" pitchFamily="2" charset="0"/>
                                      </a:rPr>
                                      <m:t>𝑐</m:t>
                                    </m:r>
                                  </m:e>
                                </m:d>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Roboto" panose="02000000000000000000" pitchFamily="2" charset="0"/>
                                  </a:rPr>
                                  <m:t>∀</m:t>
                                </m:r>
                                <m:r>
                                  <a:rPr lang="es-MX" sz="1800" b="0" i="1" smtClean="0">
                                    <a:latin typeface="Cambria Math" panose="02040503050406030204" pitchFamily="18" charset="0"/>
                                    <a:ea typeface="Roboto" panose="02000000000000000000" pitchFamily="2" charset="0"/>
                                  </a:rPr>
                                  <m:t>𝑥</m:t>
                                </m:r>
                                <m:r>
                                  <a:rPr lang="es-MX" sz="1800" b="0" i="1" smtClean="0">
                                    <a:latin typeface="Cambria Math" panose="02040503050406030204" pitchFamily="18" charset="0"/>
                                    <a:ea typeface="Roboto" panose="02000000000000000000" pitchFamily="2" charset="0"/>
                                  </a:rPr>
                                  <m:t> </m:t>
                                </m:r>
                                <m:r>
                                  <a:rPr lang="es-MX" sz="1800" b="0" i="1" smtClean="0">
                                    <a:latin typeface="Cambria Math" panose="02040503050406030204" pitchFamily="18" charset="0"/>
                                    <a:ea typeface="Roboto" panose="02000000000000000000" pitchFamily="2" charset="0"/>
                                  </a:rPr>
                                  <m:t>𝑃</m:t>
                                </m:r>
                                <m:d>
                                  <m:dPr>
                                    <m:ctrlPr>
                                      <a:rPr lang="es-MX" sz="1800" b="0" i="1" smtClean="0">
                                        <a:latin typeface="Cambria Math" panose="02040503050406030204" pitchFamily="18" charset="0"/>
                                        <a:ea typeface="Roboto" panose="02000000000000000000" pitchFamily="2" charset="0"/>
                                      </a:rPr>
                                    </m:ctrlPr>
                                  </m:dPr>
                                  <m:e>
                                    <m:r>
                                      <a:rPr lang="es-MX" sz="1800" b="0" i="1" smtClean="0">
                                        <a:latin typeface="Cambria Math" panose="02040503050406030204" pitchFamily="18" charset="0"/>
                                        <a:ea typeface="Roboto" panose="02000000000000000000" pitchFamily="2" charset="0"/>
                                      </a:rPr>
                                      <m:t>𝑥</m:t>
                                    </m:r>
                                  </m:e>
                                </m:d>
                              </m:oMath>
                            </m:oMathPara>
                          </a14:m>
                          <a:endParaRPr lang="es-CO" sz="1800" dirty="0">
                            <a:latin typeface="+mn-lt"/>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5821675"/>
                      </a:ext>
                    </a:extLst>
                  </a:tr>
                  <a:tr h="303369">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Roboto" panose="02000000000000000000" pitchFamily="2" charset="0"/>
                                  </a:rPr>
                                  <m:t>∃</m:t>
                                </m:r>
                                <m:r>
                                  <a:rPr lang="es-MX" sz="1800" b="0" i="1" smtClean="0">
                                    <a:latin typeface="Cambria Math" panose="02040503050406030204" pitchFamily="18" charset="0"/>
                                    <a:ea typeface="Roboto" panose="02000000000000000000" pitchFamily="2" charset="0"/>
                                  </a:rPr>
                                  <m:t>𝐼</m:t>
                                </m:r>
                              </m:oMath>
                            </m:oMathPara>
                          </a14:m>
                          <a:endParaRPr lang="es-CO" sz="1800" dirty="0">
                            <a:latin typeface="+mn-lt"/>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2000" dirty="0">
                              <a:latin typeface="+mn-lt"/>
                              <a:ea typeface="Roboto" panose="02000000000000000000" pitchFamily="2" charset="0"/>
                            </a:rPr>
                            <a:t>Instanciación existencial (</a:t>
                          </a:r>
                          <a:r>
                            <a:rPr lang="es-MX" sz="2000" b="1" dirty="0">
                              <a:latin typeface="+mn-lt"/>
                              <a:ea typeface="Roboto" panose="02000000000000000000" pitchFamily="2" charset="0"/>
                            </a:rPr>
                            <a:t>EI</a:t>
                          </a:r>
                          <a:r>
                            <a:rPr lang="es-MX" sz="2000" dirty="0">
                              <a:latin typeface="+mn-lt"/>
                              <a:ea typeface="Roboto" panose="02000000000000000000" pitchFamily="2" charset="0"/>
                            </a:rPr>
                            <a:t>: Existential  Instantiation)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Roboto" panose="02000000000000000000" pitchFamily="2" charset="0"/>
                                  </a:rPr>
                                  <m:t>∃</m:t>
                                </m:r>
                                <m:r>
                                  <a:rPr lang="es-MX" sz="1800" b="0" i="1" smtClean="0">
                                    <a:latin typeface="Cambria Math" panose="02040503050406030204" pitchFamily="18" charset="0"/>
                                    <a:ea typeface="Roboto" panose="02000000000000000000" pitchFamily="2" charset="0"/>
                                  </a:rPr>
                                  <m:t>𝑥</m:t>
                                </m:r>
                                <m:r>
                                  <a:rPr lang="es-MX" sz="1800" b="0" i="1" smtClean="0">
                                    <a:latin typeface="Cambria Math" panose="02040503050406030204" pitchFamily="18" charset="0"/>
                                    <a:ea typeface="Roboto" panose="02000000000000000000" pitchFamily="2" charset="0"/>
                                  </a:rPr>
                                  <m:t> </m:t>
                                </m:r>
                                <m:r>
                                  <a:rPr lang="es-MX" sz="1800" b="0" i="1" smtClean="0">
                                    <a:latin typeface="Cambria Math" panose="02040503050406030204" pitchFamily="18" charset="0"/>
                                    <a:ea typeface="Roboto" panose="02000000000000000000" pitchFamily="2" charset="0"/>
                                  </a:rPr>
                                  <m:t>𝑃</m:t>
                                </m:r>
                                <m:d>
                                  <m:dPr>
                                    <m:ctrlPr>
                                      <a:rPr lang="es-MX" sz="1800" b="0" i="1" smtClean="0">
                                        <a:latin typeface="Cambria Math" panose="02040503050406030204" pitchFamily="18" charset="0"/>
                                        <a:ea typeface="Roboto" panose="02000000000000000000" pitchFamily="2" charset="0"/>
                                      </a:rPr>
                                    </m:ctrlPr>
                                  </m:dPr>
                                  <m:e>
                                    <m:r>
                                      <a:rPr lang="es-MX" sz="1800" b="0" i="1" smtClean="0">
                                        <a:latin typeface="Cambria Math" panose="02040503050406030204" pitchFamily="18" charset="0"/>
                                        <a:ea typeface="Roboto" panose="02000000000000000000" pitchFamily="2" charset="0"/>
                                      </a:rPr>
                                      <m:t>𝑥</m:t>
                                    </m:r>
                                  </m:e>
                                </m:d>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Roboto" panose="02000000000000000000" pitchFamily="2" charset="0"/>
                                  </a:rPr>
                                  <m:t>𝑃</m:t>
                                </m:r>
                                <m:d>
                                  <m:dPr>
                                    <m:ctrlPr>
                                      <a:rPr lang="es-MX" sz="1800" b="0" i="1" smtClean="0">
                                        <a:latin typeface="Cambria Math" panose="02040503050406030204" pitchFamily="18" charset="0"/>
                                        <a:ea typeface="Roboto" panose="02000000000000000000" pitchFamily="2" charset="0"/>
                                      </a:rPr>
                                    </m:ctrlPr>
                                  </m:dPr>
                                  <m:e>
                                    <m:r>
                                      <a:rPr lang="es-MX" sz="1800" b="0" i="1" smtClean="0">
                                        <a:latin typeface="Cambria Math" panose="02040503050406030204" pitchFamily="18" charset="0"/>
                                        <a:ea typeface="Roboto" panose="02000000000000000000" pitchFamily="2" charset="0"/>
                                      </a:rPr>
                                      <m:t>𝑐</m:t>
                                    </m:r>
                                  </m:e>
                                </m:d>
                              </m:oMath>
                            </m:oMathPara>
                          </a14:m>
                          <a:endParaRPr lang="es-CO" sz="1800" dirty="0">
                            <a:latin typeface="+mn-lt"/>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26096953"/>
                      </a:ext>
                    </a:extLst>
                  </a:tr>
                  <a:tr h="303369">
                    <a:tc>
                      <a:txBody>
                        <a:bodyPr/>
                        <a:lstStyle/>
                        <a:p>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Roboto" panose="02000000000000000000" pitchFamily="2" charset="0"/>
                                  </a:rPr>
                                  <m:t>∃</m:t>
                                </m:r>
                                <m:r>
                                  <a:rPr lang="es-MX" sz="1800" b="0" i="1" smtClean="0">
                                    <a:latin typeface="Cambria Math" panose="02040503050406030204" pitchFamily="18" charset="0"/>
                                    <a:ea typeface="Roboto" panose="02000000000000000000" pitchFamily="2" charset="0"/>
                                  </a:rPr>
                                  <m:t>𝐺</m:t>
                                </m:r>
                              </m:oMath>
                            </m:oMathPara>
                          </a14:m>
                          <a:endParaRPr lang="es-CO" sz="1800" dirty="0">
                            <a:latin typeface="+mn-lt"/>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2000" dirty="0">
                              <a:latin typeface="+mn-lt"/>
                              <a:ea typeface="Roboto" panose="02000000000000000000" pitchFamily="2" charset="0"/>
                            </a:rPr>
                            <a:t>Generalización existencial (</a:t>
                          </a:r>
                          <a:r>
                            <a:rPr lang="es-MX" sz="2000" b="1" dirty="0">
                              <a:latin typeface="+mn-lt"/>
                              <a:ea typeface="Roboto" panose="02000000000000000000" pitchFamily="2" charset="0"/>
                            </a:rPr>
                            <a:t>EG</a:t>
                          </a:r>
                          <a:r>
                            <a:rPr lang="es-MX" sz="2000" dirty="0">
                              <a:latin typeface="+mn-lt"/>
                              <a:ea typeface="Roboto" panose="02000000000000000000" pitchFamily="2" charset="0"/>
                            </a:rPr>
                            <a:t>: Existential Generalization)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Roboto" panose="02000000000000000000" pitchFamily="2" charset="0"/>
                                  </a:rPr>
                                  <m:t>𝑃</m:t>
                                </m:r>
                                <m:d>
                                  <m:dPr>
                                    <m:ctrlPr>
                                      <a:rPr lang="es-MX" sz="1800" b="0" i="1" smtClean="0">
                                        <a:latin typeface="Cambria Math" panose="02040503050406030204" pitchFamily="18" charset="0"/>
                                        <a:ea typeface="Roboto" panose="02000000000000000000" pitchFamily="2" charset="0"/>
                                      </a:rPr>
                                    </m:ctrlPr>
                                  </m:dPr>
                                  <m:e>
                                    <m:r>
                                      <a:rPr lang="es-MX" sz="1800" b="0" i="1" smtClean="0">
                                        <a:latin typeface="Cambria Math" panose="02040503050406030204" pitchFamily="18" charset="0"/>
                                        <a:ea typeface="Roboto" panose="02000000000000000000" pitchFamily="2" charset="0"/>
                                      </a:rPr>
                                      <m:t>𝑐</m:t>
                                    </m:r>
                                  </m:e>
                                </m:d>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Roboto" panose="02000000000000000000" pitchFamily="2" charset="0"/>
                                  </a:rPr>
                                  <m:t>∃</m:t>
                                </m:r>
                                <m:r>
                                  <a:rPr lang="es-MX" sz="1800" b="0" i="1" smtClean="0">
                                    <a:latin typeface="Cambria Math" panose="02040503050406030204" pitchFamily="18" charset="0"/>
                                    <a:ea typeface="Roboto" panose="02000000000000000000" pitchFamily="2" charset="0"/>
                                  </a:rPr>
                                  <m:t>𝑥</m:t>
                                </m:r>
                                <m:r>
                                  <a:rPr lang="es-MX" sz="1800" b="0" i="1" smtClean="0">
                                    <a:latin typeface="Cambria Math" panose="02040503050406030204" pitchFamily="18" charset="0"/>
                                    <a:ea typeface="Roboto" panose="02000000000000000000" pitchFamily="2" charset="0"/>
                                  </a:rPr>
                                  <m:t> </m:t>
                                </m:r>
                                <m:r>
                                  <a:rPr lang="es-MX" sz="1800" b="0" i="1" smtClean="0">
                                    <a:latin typeface="Cambria Math" panose="02040503050406030204" pitchFamily="18" charset="0"/>
                                    <a:ea typeface="Roboto" panose="02000000000000000000" pitchFamily="2" charset="0"/>
                                  </a:rPr>
                                  <m:t>𝑃</m:t>
                                </m:r>
                                <m:d>
                                  <m:dPr>
                                    <m:ctrlPr>
                                      <a:rPr lang="es-MX" sz="1800" b="0" i="1" smtClean="0">
                                        <a:latin typeface="Cambria Math" panose="02040503050406030204" pitchFamily="18" charset="0"/>
                                        <a:ea typeface="Roboto" panose="02000000000000000000" pitchFamily="2" charset="0"/>
                                      </a:rPr>
                                    </m:ctrlPr>
                                  </m:dPr>
                                  <m:e>
                                    <m:r>
                                      <a:rPr lang="es-MX" sz="1800" b="0" i="1" smtClean="0">
                                        <a:latin typeface="Cambria Math" panose="02040503050406030204" pitchFamily="18" charset="0"/>
                                        <a:ea typeface="Roboto" panose="02000000000000000000" pitchFamily="2" charset="0"/>
                                      </a:rPr>
                                      <m:t>𝑥</m:t>
                                    </m:r>
                                  </m:e>
                                </m:d>
                              </m:oMath>
                            </m:oMathPara>
                          </a14:m>
                          <a:endParaRPr lang="es-CO" sz="1800" dirty="0">
                            <a:latin typeface="+mn-lt"/>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1411488"/>
                      </a:ext>
                    </a:extLst>
                  </a:tr>
                </a:tbl>
              </a:graphicData>
            </a:graphic>
          </p:graphicFrame>
        </mc:Choice>
        <mc:Fallback>
          <p:graphicFrame>
            <p:nvGraphicFramePr>
              <p:cNvPr id="3" name="Tabla 4">
                <a:extLst>
                  <a:ext uri="{FF2B5EF4-FFF2-40B4-BE49-F238E27FC236}">
                    <a16:creationId xmlns:a16="http://schemas.microsoft.com/office/drawing/2014/main" id="{F8DA88F8-0889-4EF4-A1A9-22AAAC26FF1F}"/>
                  </a:ext>
                </a:extLst>
              </p:cNvPr>
              <p:cNvGraphicFramePr>
                <a:graphicFrameLocks noGrp="1"/>
              </p:cNvGraphicFramePr>
              <p:nvPr>
                <p:extLst>
                  <p:ext uri="{D42A27DB-BD31-4B8C-83A1-F6EECF244321}">
                    <p14:modId xmlns:p14="http://schemas.microsoft.com/office/powerpoint/2010/main" val="2914618429"/>
                  </p:ext>
                </p:extLst>
              </p:nvPr>
            </p:nvGraphicFramePr>
            <p:xfrm>
              <a:off x="1544226" y="4305858"/>
              <a:ext cx="9202994" cy="1981200"/>
            </p:xfrm>
            <a:graphic>
              <a:graphicData uri="http://schemas.openxmlformats.org/drawingml/2006/table">
                <a:tbl>
                  <a:tblPr firstRow="1" bandRow="1">
                    <a:tableStyleId>{AD6A3598-7CB8-4345-8D95-17CE05F158A0}</a:tableStyleId>
                  </a:tblPr>
                  <a:tblGrid>
                    <a:gridCol w="927790">
                      <a:extLst>
                        <a:ext uri="{9D8B030D-6E8A-4147-A177-3AD203B41FA5}">
                          <a16:colId xmlns:a16="http://schemas.microsoft.com/office/drawing/2014/main" val="2874355610"/>
                        </a:ext>
                      </a:extLst>
                    </a:gridCol>
                    <a:gridCol w="6310069">
                      <a:extLst>
                        <a:ext uri="{9D8B030D-6E8A-4147-A177-3AD203B41FA5}">
                          <a16:colId xmlns:a16="http://schemas.microsoft.com/office/drawing/2014/main" val="2423713577"/>
                        </a:ext>
                      </a:extLst>
                    </a:gridCol>
                    <a:gridCol w="1965135">
                      <a:extLst>
                        <a:ext uri="{9D8B030D-6E8A-4147-A177-3AD203B41FA5}">
                          <a16:colId xmlns:a16="http://schemas.microsoft.com/office/drawing/2014/main" val="1166162323"/>
                        </a:ext>
                      </a:extLst>
                    </a:gridCol>
                  </a:tblGrid>
                  <a:tr h="396240">
                    <a:tc>
                      <a:txBody>
                        <a:bodyPr/>
                        <a:lstStyle/>
                        <a:p>
                          <a:r>
                            <a:rPr lang="es-CO" sz="2000" b="1" dirty="0">
                              <a:latin typeface="+mn-lt"/>
                              <a:ea typeface="Roboto" panose="02000000000000000000" pitchFamily="2" charset="0"/>
                            </a:rPr>
                            <a:t>Regla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s-CO" sz="2000" b="1" dirty="0">
                              <a:latin typeface="+mn-lt"/>
                              <a:ea typeface="Roboto" panose="02000000000000000000" pitchFamily="2" charset="0"/>
                            </a:rPr>
                            <a:t>Nombre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s-CO" sz="2000" b="1" dirty="0">
                              <a:latin typeface="+mn-lt"/>
                              <a:ea typeface="Roboto" panose="02000000000000000000" pitchFamily="2" charset="0"/>
                            </a:rPr>
                            <a:t>Forma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285160449"/>
                      </a:ext>
                    </a:extLst>
                  </a:tr>
                  <a:tr h="396240">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58" t="-107692" r="-895395" b="-327692"/>
                          </a:stretch>
                        </a:blip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2000" dirty="0">
                              <a:latin typeface="+mn-lt"/>
                              <a:ea typeface="Roboto" panose="02000000000000000000" pitchFamily="2" charset="0"/>
                            </a:rPr>
                            <a:t>Instanciación universal (</a:t>
                          </a:r>
                          <a:r>
                            <a:rPr lang="es-MX" sz="2000" b="1" dirty="0">
                              <a:latin typeface="+mn-lt"/>
                              <a:ea typeface="Roboto" panose="02000000000000000000" pitchFamily="2" charset="0"/>
                            </a:rPr>
                            <a:t>UI</a:t>
                          </a:r>
                          <a:r>
                            <a:rPr lang="es-MX" sz="2000" dirty="0">
                              <a:latin typeface="+mn-lt"/>
                              <a:ea typeface="Roboto" panose="02000000000000000000" pitchFamily="2" charset="0"/>
                            </a:rPr>
                            <a:t>: Universal Instantiation)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69255" t="-107692" r="-932" b="-327692"/>
                          </a:stretch>
                        </a:blipFill>
                      </a:tcPr>
                    </a:tc>
                    <a:extLst>
                      <a:ext uri="{0D108BD9-81ED-4DB2-BD59-A6C34878D82A}">
                        <a16:rowId xmlns:a16="http://schemas.microsoft.com/office/drawing/2014/main" val="1973686763"/>
                      </a:ext>
                    </a:extLst>
                  </a:tr>
                  <a:tr h="396240">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58" t="-204545" r="-895395" b="-222727"/>
                          </a:stretch>
                        </a:blip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2000" dirty="0">
                              <a:latin typeface="+mn-lt"/>
                              <a:ea typeface="Roboto" panose="02000000000000000000" pitchFamily="2" charset="0"/>
                            </a:rPr>
                            <a:t>Generalización universal (</a:t>
                          </a:r>
                          <a:r>
                            <a:rPr lang="es-MX" sz="2000" b="1" dirty="0">
                              <a:latin typeface="+mn-lt"/>
                              <a:ea typeface="Roboto" panose="02000000000000000000" pitchFamily="2" charset="0"/>
                            </a:rPr>
                            <a:t>UG</a:t>
                          </a:r>
                          <a:r>
                            <a:rPr lang="es-MX" sz="2000" dirty="0">
                              <a:latin typeface="+mn-lt"/>
                              <a:ea typeface="Roboto" panose="02000000000000000000" pitchFamily="2" charset="0"/>
                            </a:rPr>
                            <a:t>: Universal Generalization)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69255" t="-204545" r="-932" b="-222727"/>
                          </a:stretch>
                        </a:blipFill>
                      </a:tcPr>
                    </a:tc>
                    <a:extLst>
                      <a:ext uri="{0D108BD9-81ED-4DB2-BD59-A6C34878D82A}">
                        <a16:rowId xmlns:a16="http://schemas.microsoft.com/office/drawing/2014/main" val="3375821675"/>
                      </a:ext>
                    </a:extLst>
                  </a:tr>
                  <a:tr h="396240">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58" t="-309231" r="-895395" b="-126154"/>
                          </a:stretch>
                        </a:blip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2000" dirty="0">
                              <a:latin typeface="+mn-lt"/>
                              <a:ea typeface="Roboto" panose="02000000000000000000" pitchFamily="2" charset="0"/>
                            </a:rPr>
                            <a:t>Instanciación existencial (</a:t>
                          </a:r>
                          <a:r>
                            <a:rPr lang="es-MX" sz="2000" b="1" dirty="0">
                              <a:latin typeface="+mn-lt"/>
                              <a:ea typeface="Roboto" panose="02000000000000000000" pitchFamily="2" charset="0"/>
                            </a:rPr>
                            <a:t>EI</a:t>
                          </a:r>
                          <a:r>
                            <a:rPr lang="es-MX" sz="2000" dirty="0">
                              <a:latin typeface="+mn-lt"/>
                              <a:ea typeface="Roboto" panose="02000000000000000000" pitchFamily="2" charset="0"/>
                            </a:rPr>
                            <a:t>: Existential  Instantiation)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69255" t="-309231" r="-932" b="-126154"/>
                          </a:stretch>
                        </a:blipFill>
                      </a:tcPr>
                    </a:tc>
                    <a:extLst>
                      <a:ext uri="{0D108BD9-81ED-4DB2-BD59-A6C34878D82A}">
                        <a16:rowId xmlns:a16="http://schemas.microsoft.com/office/drawing/2014/main" val="1426096953"/>
                      </a:ext>
                    </a:extLst>
                  </a:tr>
                  <a:tr h="396240">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658" t="-409231" r="-895395" b="-26154"/>
                          </a:stretch>
                        </a:blip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2000" dirty="0">
                              <a:latin typeface="+mn-lt"/>
                              <a:ea typeface="Roboto" panose="02000000000000000000" pitchFamily="2" charset="0"/>
                            </a:rPr>
                            <a:t>Generalización existencial (</a:t>
                          </a:r>
                          <a:r>
                            <a:rPr lang="es-MX" sz="2000" b="1" dirty="0">
                              <a:latin typeface="+mn-lt"/>
                              <a:ea typeface="Roboto" panose="02000000000000000000" pitchFamily="2" charset="0"/>
                            </a:rPr>
                            <a:t>EG</a:t>
                          </a:r>
                          <a:r>
                            <a:rPr lang="es-MX" sz="2000" dirty="0">
                              <a:latin typeface="+mn-lt"/>
                              <a:ea typeface="Roboto" panose="02000000000000000000" pitchFamily="2" charset="0"/>
                            </a:rPr>
                            <a:t>: Existential Generalization)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69255" t="-409231" r="-932" b="-26154"/>
                          </a:stretch>
                        </a:blipFill>
                      </a:tcPr>
                    </a:tc>
                    <a:extLst>
                      <a:ext uri="{0D108BD9-81ED-4DB2-BD59-A6C34878D82A}">
                        <a16:rowId xmlns:a16="http://schemas.microsoft.com/office/drawing/2014/main" val="2271411488"/>
                      </a:ext>
                    </a:extLst>
                  </a:tr>
                </a:tbl>
              </a:graphicData>
            </a:graphic>
          </p:graphicFrame>
        </mc:Fallback>
      </mc:AlternateContent>
    </p:spTree>
    <p:extLst>
      <p:ext uri="{BB962C8B-B14F-4D97-AF65-F5344CB8AC3E}">
        <p14:creationId xmlns:p14="http://schemas.microsoft.com/office/powerpoint/2010/main" val="18328094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410496" y="96038"/>
            <a:ext cx="11181735"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Reglas de inferencia con cuantificadores</a:t>
            </a:r>
            <a:endParaRPr dirty="0">
              <a:solidFill>
                <a:schemeClr val="tx1"/>
              </a:solidFill>
              <a:latin typeface="+mj-lt"/>
            </a:endParaRPr>
          </a:p>
        </p:txBody>
      </p:sp>
      <p:sp>
        <p:nvSpPr>
          <p:cNvPr id="4" name="Google Shape;310;p34">
            <a:extLst>
              <a:ext uri="{FF2B5EF4-FFF2-40B4-BE49-F238E27FC236}">
                <a16:creationId xmlns:a16="http://schemas.microsoft.com/office/drawing/2014/main" id="{BE15A36C-9BD2-469A-9CCF-F214389CB345}"/>
              </a:ext>
            </a:extLst>
          </p:cNvPr>
          <p:cNvSpPr txBox="1">
            <a:spLocks/>
          </p:cNvSpPr>
          <p:nvPr/>
        </p:nvSpPr>
        <p:spPr>
          <a:xfrm>
            <a:off x="427707" y="838194"/>
            <a:ext cx="9501968"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Font typeface="Roboto"/>
              <a:buNone/>
            </a:pPr>
            <a:r>
              <a:rPr lang="es-MX" b="1" dirty="0">
                <a:solidFill>
                  <a:schemeClr val="tx1"/>
                </a:solidFill>
                <a:latin typeface="+mn-lt"/>
              </a:rPr>
              <a:t>Instanciación universal</a:t>
            </a:r>
            <a:endParaRPr lang="es-MX" dirty="0">
              <a:solidFill>
                <a:schemeClr val="tx1"/>
              </a:solidFill>
              <a:latin typeface="+mn-lt"/>
            </a:endParaRPr>
          </a:p>
          <a:p>
            <a:pPr marL="0" indent="0">
              <a:buFont typeface="Roboto"/>
              <a:buNone/>
            </a:pPr>
            <a:endParaRPr lang="es-MX" sz="2400" dirty="0">
              <a:solidFill>
                <a:schemeClr val="tx1"/>
              </a:solidFill>
              <a:latin typeface="+mn-lt"/>
            </a:endParaRPr>
          </a:p>
          <a:p>
            <a:pPr indent="0">
              <a:buFont typeface="Roboto"/>
              <a:buNone/>
            </a:pPr>
            <a:endParaRPr lang="es-MX" sz="2400" dirty="0">
              <a:solidFill>
                <a:schemeClr val="tx1"/>
              </a:solidFill>
              <a:latin typeface="+mn-lt"/>
            </a:endParaRPr>
          </a:p>
        </p:txBody>
      </p:sp>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263016" y="1404383"/>
            <a:ext cx="11476704" cy="134465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r>
              <a:rPr lang="es-MX" sz="2000" dirty="0">
                <a:latin typeface="+mn-lt"/>
                <a:ea typeface="Roboto" panose="02000000000000000000" pitchFamily="2" charset="0"/>
              </a:rPr>
              <a:t>Es una regla que permite pasar de una </a:t>
            </a:r>
            <a:r>
              <a:rPr lang="es-MX" sz="2000" b="1" dirty="0">
                <a:latin typeface="+mn-lt"/>
                <a:ea typeface="Roboto" panose="02000000000000000000" pitchFamily="2" charset="0"/>
              </a:rPr>
              <a:t>afirmación general</a:t>
            </a:r>
            <a:r>
              <a:rPr lang="es-MX" sz="2000" dirty="0">
                <a:latin typeface="+mn-lt"/>
                <a:ea typeface="Roboto" panose="02000000000000000000" pitchFamily="2" charset="0"/>
              </a:rPr>
              <a:t> (válida para todos los elementos del dominio) a una </a:t>
            </a:r>
            <a:r>
              <a:rPr lang="es-MX" sz="2000" b="1" dirty="0">
                <a:latin typeface="+mn-lt"/>
                <a:ea typeface="Roboto" panose="02000000000000000000" pitchFamily="2" charset="0"/>
              </a:rPr>
              <a:t>afirmación particular</a:t>
            </a:r>
            <a:r>
              <a:rPr lang="es-MX" sz="2000" dirty="0">
                <a:latin typeface="+mn-lt"/>
                <a:ea typeface="Roboto" panose="02000000000000000000" pitchFamily="2" charset="0"/>
              </a:rPr>
              <a:t> (válida para un caso específico).</a:t>
            </a:r>
          </a:p>
          <a:p>
            <a:r>
              <a:rPr lang="es-MX" sz="2000" b="1" dirty="0">
                <a:latin typeface="+mn-lt"/>
                <a:ea typeface="Roboto" panose="02000000000000000000" pitchFamily="2" charset="0"/>
              </a:rPr>
              <a:t>Forma general</a:t>
            </a:r>
          </a:p>
          <a:p>
            <a:pPr marL="584200" lvl="1" indent="0">
              <a:buNone/>
            </a:pPr>
            <a:endParaRPr lang="es-MX" sz="1800" dirty="0">
              <a:latin typeface="+mn-lt"/>
              <a:ea typeface="Roboto" panose="02000000000000000000" pitchFamily="2" charset="0"/>
            </a:endParaRPr>
          </a:p>
        </p:txBody>
      </p:sp>
      <p:sp>
        <p:nvSpPr>
          <p:cNvPr id="8" name="CuadroTexto 7">
            <a:extLst>
              <a:ext uri="{FF2B5EF4-FFF2-40B4-BE49-F238E27FC236}">
                <a16:creationId xmlns:a16="http://schemas.microsoft.com/office/drawing/2014/main" id="{5D518789-47D5-40AF-B8FE-4AB8FD290E94}"/>
              </a:ext>
            </a:extLst>
          </p:cNvPr>
          <p:cNvSpPr txBox="1"/>
          <p:nvPr/>
        </p:nvSpPr>
        <p:spPr>
          <a:xfrm>
            <a:off x="4468327" y="2793498"/>
            <a:ext cx="6728840" cy="707886"/>
          </a:xfrm>
          <a:prstGeom prst="rect">
            <a:avLst/>
          </a:prstGeom>
          <a:solidFill>
            <a:schemeClr val="bg1">
              <a:lumMod val="95000"/>
            </a:schemeClr>
          </a:solidFill>
        </p:spPr>
        <p:txBody>
          <a:bodyPr wrap="square">
            <a:spAutoFit/>
          </a:bodyPr>
          <a:lstStyle/>
          <a:p>
            <a:r>
              <a:rPr lang="es-MX" sz="2000" dirty="0">
                <a:ea typeface="Roboto" panose="02000000000000000000" pitchFamily="2" charset="0"/>
              </a:rPr>
              <a:t>Si algo es cierto para todos, también lo es para uno en particular</a:t>
            </a:r>
            <a:endParaRPr lang="es-CO" sz="2000" dirty="0">
              <a:ea typeface="Roboto" panose="02000000000000000000" pitchFamily="2" charset="0"/>
            </a:endParaRPr>
          </a:p>
        </p:txBody>
      </p:sp>
      <p:grpSp>
        <p:nvGrpSpPr>
          <p:cNvPr id="6" name="Grupo 5">
            <a:extLst>
              <a:ext uri="{FF2B5EF4-FFF2-40B4-BE49-F238E27FC236}">
                <a16:creationId xmlns:a16="http://schemas.microsoft.com/office/drawing/2014/main" id="{F3862DC3-D072-4763-ACB6-759106D95BFC}"/>
              </a:ext>
            </a:extLst>
          </p:cNvPr>
          <p:cNvGrpSpPr/>
          <p:nvPr/>
        </p:nvGrpSpPr>
        <p:grpSpPr>
          <a:xfrm>
            <a:off x="2581428" y="2826946"/>
            <a:ext cx="1051949" cy="707886"/>
            <a:chOff x="4487791" y="3598887"/>
            <a:chExt cx="1051949" cy="707886"/>
          </a:xfrm>
        </p:grpSpPr>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731F9548-C364-47BA-8CD9-93E3630F5C3E}"/>
                    </a:ext>
                  </a:extLst>
                </p:cNvPr>
                <p:cNvSpPr txBox="1"/>
                <p:nvPr/>
              </p:nvSpPr>
              <p:spPr>
                <a:xfrm>
                  <a:off x="4487791" y="3598887"/>
                  <a:ext cx="1051949" cy="70788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𝑥</m:t>
                        </m:r>
                        <m:r>
                          <a:rPr lang="es-MX" sz="2000" b="0" i="1" smtClean="0">
                            <a:latin typeface="Cambria Math" panose="02040503050406030204" pitchFamily="18" charset="0"/>
                            <a:ea typeface="Cambria Math" panose="02040503050406030204" pitchFamily="18" charset="0"/>
                          </a:rPr>
                          <m:t> </m:t>
                        </m:r>
                        <m:r>
                          <a:rPr lang="es-MX" sz="2000" b="0" i="1" smtClean="0">
                            <a:latin typeface="Cambria Math" panose="02040503050406030204" pitchFamily="18" charset="0"/>
                            <a:ea typeface="Cambria Math" panose="02040503050406030204" pitchFamily="18" charset="0"/>
                          </a:rPr>
                          <m:t>𝑃</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𝑥</m:t>
                            </m:r>
                          </m:e>
                        </m:d>
                      </m:oMath>
                    </m:oMathPara>
                  </a14:m>
                  <a:endParaRPr lang="es-MX" sz="2000"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𝑃</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𝑐</m:t>
                            </m:r>
                          </m:e>
                        </m:d>
                      </m:oMath>
                    </m:oMathPara>
                  </a14:m>
                  <a:endParaRPr lang="es-MX" sz="2000" b="0" dirty="0">
                    <a:latin typeface="Roboto" panose="02000000000000000000" pitchFamily="2" charset="0"/>
                    <a:ea typeface="Cambria Math" panose="02040503050406030204" pitchFamily="18" charset="0"/>
                  </a:endParaRPr>
                </a:p>
              </p:txBody>
            </p:sp>
          </mc:Choice>
          <mc:Fallback xmlns="">
            <p:sp>
              <p:nvSpPr>
                <p:cNvPr id="13" name="CuadroTexto 12">
                  <a:extLst>
                    <a:ext uri="{FF2B5EF4-FFF2-40B4-BE49-F238E27FC236}">
                      <a16:creationId xmlns:a16="http://schemas.microsoft.com/office/drawing/2014/main" id="{731F9548-C364-47BA-8CD9-93E3630F5C3E}"/>
                    </a:ext>
                  </a:extLst>
                </p:cNvPr>
                <p:cNvSpPr txBox="1">
                  <a:spLocks noRot="1" noChangeAspect="1" noMove="1" noResize="1" noEditPoints="1" noAdjustHandles="1" noChangeArrowheads="1" noChangeShapeType="1" noTextEdit="1"/>
                </p:cNvSpPr>
                <p:nvPr/>
              </p:nvSpPr>
              <p:spPr>
                <a:xfrm>
                  <a:off x="4487791" y="3598887"/>
                  <a:ext cx="1051949" cy="707886"/>
                </a:xfrm>
                <a:prstGeom prst="rect">
                  <a:avLst/>
                </a:prstGeom>
                <a:blipFill>
                  <a:blip r:embed="rId3"/>
                  <a:stretch>
                    <a:fillRect/>
                  </a:stretch>
                </a:blipFill>
              </p:spPr>
              <p:txBody>
                <a:bodyPr/>
                <a:lstStyle/>
                <a:p>
                  <a:r>
                    <a:rPr lang="es-CO">
                      <a:noFill/>
                    </a:rPr>
                    <a:t> </a:t>
                  </a:r>
                </a:p>
              </p:txBody>
            </p:sp>
          </mc:Fallback>
        </mc:AlternateContent>
        <p:cxnSp>
          <p:nvCxnSpPr>
            <p:cNvPr id="14" name="Conector recto 13">
              <a:extLst>
                <a:ext uri="{FF2B5EF4-FFF2-40B4-BE49-F238E27FC236}">
                  <a16:creationId xmlns:a16="http://schemas.microsoft.com/office/drawing/2014/main" id="{FEE27DAE-35A8-4B85-8C2F-FAEB659BB56F}"/>
                </a:ext>
              </a:extLst>
            </p:cNvPr>
            <p:cNvCxnSpPr>
              <a:cxnSpLocks/>
            </p:cNvCxnSpPr>
            <p:nvPr/>
          </p:nvCxnSpPr>
          <p:spPr>
            <a:xfrm>
              <a:off x="4487791" y="3957732"/>
              <a:ext cx="10519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2" name="Google Shape;310;p34">
            <a:extLst>
              <a:ext uri="{FF2B5EF4-FFF2-40B4-BE49-F238E27FC236}">
                <a16:creationId xmlns:a16="http://schemas.microsoft.com/office/drawing/2014/main" id="{BB680A61-B649-4198-B83A-9A1A33B33DB3}"/>
              </a:ext>
            </a:extLst>
          </p:cNvPr>
          <p:cNvSpPr txBox="1">
            <a:spLocks/>
          </p:cNvSpPr>
          <p:nvPr/>
        </p:nvSpPr>
        <p:spPr>
          <a:xfrm>
            <a:off x="307260" y="3660669"/>
            <a:ext cx="11044291" cy="48775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r>
              <a:rPr lang="es-MX" sz="2000" b="1" dirty="0">
                <a:latin typeface="+mn-lt"/>
                <a:ea typeface="Roboto" panose="02000000000000000000" pitchFamily="2" charset="0"/>
              </a:rPr>
              <a:t>Ejemplo</a:t>
            </a:r>
            <a:r>
              <a:rPr lang="es-MX" sz="2000" dirty="0">
                <a:latin typeface="+mn-lt"/>
                <a:ea typeface="Roboto" panose="02000000000000000000" pitchFamily="2" charset="0"/>
              </a:rPr>
              <a:t>: Si el dominio del que se habla consiste de todos los perros y Firulais es un perro tenemos.</a:t>
            </a:r>
          </a:p>
        </p:txBody>
      </p:sp>
      <mc:AlternateContent xmlns:mc="http://schemas.openxmlformats.org/markup-compatibility/2006">
        <mc:Choice xmlns:a14="http://schemas.microsoft.com/office/drawing/2010/main" Requires="a14">
          <p:graphicFrame>
            <p:nvGraphicFramePr>
              <p:cNvPr id="29" name="Tabla 2">
                <a:extLst>
                  <a:ext uri="{FF2B5EF4-FFF2-40B4-BE49-F238E27FC236}">
                    <a16:creationId xmlns:a16="http://schemas.microsoft.com/office/drawing/2014/main" id="{A24D11BF-089C-4010-88DE-693935762966}"/>
                  </a:ext>
                </a:extLst>
              </p:cNvPr>
              <p:cNvGraphicFramePr>
                <a:graphicFrameLocks noGrp="1"/>
              </p:cNvGraphicFramePr>
              <p:nvPr>
                <p:extLst>
                  <p:ext uri="{D42A27DB-BD31-4B8C-83A1-F6EECF244321}">
                    <p14:modId xmlns:p14="http://schemas.microsoft.com/office/powerpoint/2010/main" val="2926871211"/>
                  </p:ext>
                </p:extLst>
              </p:nvPr>
            </p:nvGraphicFramePr>
            <p:xfrm>
              <a:off x="4889658" y="4726683"/>
              <a:ext cx="3633165" cy="1463040"/>
            </p:xfrm>
            <a:graphic>
              <a:graphicData uri="http://schemas.openxmlformats.org/drawingml/2006/table">
                <a:tbl>
                  <a:tblPr firstRow="1" bandRow="1">
                    <a:tableStyleId>{AD6A3598-7CB8-4345-8D95-17CE05F158A0}</a:tableStyleId>
                  </a:tblPr>
                  <a:tblGrid>
                    <a:gridCol w="1257678">
                      <a:extLst>
                        <a:ext uri="{9D8B030D-6E8A-4147-A177-3AD203B41FA5}">
                          <a16:colId xmlns:a16="http://schemas.microsoft.com/office/drawing/2014/main" val="55665907"/>
                        </a:ext>
                      </a:extLst>
                    </a:gridCol>
                    <a:gridCol w="2375487">
                      <a:extLst>
                        <a:ext uri="{9D8B030D-6E8A-4147-A177-3AD203B41FA5}">
                          <a16:colId xmlns:a16="http://schemas.microsoft.com/office/drawing/2014/main" val="2393994677"/>
                        </a:ext>
                      </a:extLst>
                    </a:gridCol>
                  </a:tblGrid>
                  <a:tr h="240030">
                    <a:tc>
                      <a:txBody>
                        <a:bodyPr/>
                        <a:lstStyle/>
                        <a:p>
                          <a:r>
                            <a:rPr lang="es-CO" sz="1800" b="1" dirty="0">
                              <a:latin typeface="+mn-lt"/>
                              <a:ea typeface="Roboto" panose="02000000000000000000" pitchFamily="2" charset="0"/>
                            </a:rPr>
                            <a:t>Dominio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600" b="0" i="1" dirty="0" smtClean="0">
                                    <a:latin typeface="Cambria Math" panose="02040503050406030204" pitchFamily="18" charset="0"/>
                                    <a:ea typeface="Roboto" panose="02000000000000000000" pitchFamily="2" charset="0"/>
                                  </a:rPr>
                                  <m:t>𝑈</m:t>
                                </m:r>
                                <m:r>
                                  <a:rPr lang="es-MX" sz="1600" b="0" i="1" dirty="0" smtClean="0">
                                    <a:latin typeface="Cambria Math" panose="02040503050406030204" pitchFamily="18" charset="0"/>
                                    <a:ea typeface="Roboto" panose="02000000000000000000" pitchFamily="2" charset="0"/>
                                  </a:rPr>
                                  <m:t>={</m:t>
                                </m:r>
                                <m:r>
                                  <a:rPr lang="es-MX" sz="1600" b="0" i="1" dirty="0" smtClean="0">
                                    <a:latin typeface="Cambria Math" panose="02040503050406030204" pitchFamily="18" charset="0"/>
                                    <a:ea typeface="Roboto" panose="02000000000000000000" pitchFamily="2" charset="0"/>
                                  </a:rPr>
                                  <m:t>𝑇𝑜𝑑𝑜𝑠</m:t>
                                </m:r>
                                <m:r>
                                  <a:rPr lang="es-MX" sz="1600" b="0" i="1" dirty="0" smtClean="0">
                                    <a:latin typeface="Cambria Math" panose="02040503050406030204" pitchFamily="18" charset="0"/>
                                    <a:ea typeface="Roboto" panose="02000000000000000000" pitchFamily="2" charset="0"/>
                                  </a:rPr>
                                  <m:t> </m:t>
                                </m:r>
                                <m:r>
                                  <a:rPr lang="es-MX" sz="1600" b="0" i="1" dirty="0" smtClean="0">
                                    <a:latin typeface="Cambria Math" panose="02040503050406030204" pitchFamily="18" charset="0"/>
                                    <a:ea typeface="Roboto" panose="02000000000000000000" pitchFamily="2" charset="0"/>
                                  </a:rPr>
                                  <m:t>𝑝𝑒𝑟𝑟𝑜𝑠</m:t>
                                </m:r>
                                <m:r>
                                  <a:rPr lang="es-MX" sz="1600" b="0" i="1" dirty="0" smtClean="0">
                                    <a:latin typeface="Cambria Math" panose="02040503050406030204" pitchFamily="18" charset="0"/>
                                    <a:ea typeface="Roboto" panose="02000000000000000000" pitchFamily="2" charset="0"/>
                                  </a:rPr>
                                  <m:t>}</m:t>
                                </m:r>
                              </m:oMath>
                            </m:oMathPara>
                          </a14:m>
                          <a:endParaRPr lang="es-CO" sz="1600" b="0" i="0" dirty="0">
                            <a:latin typeface="Roboto" panose="02000000000000000000" pitchFamily="2"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54054099"/>
                      </a:ext>
                    </a:extLst>
                  </a:tr>
                  <a:tr h="240030">
                    <a:tc>
                      <a:txBody>
                        <a:bodyPr/>
                        <a:lstStyle/>
                        <a:p>
                          <a:r>
                            <a:rPr lang="es-CO" sz="1800" b="1" dirty="0">
                              <a:latin typeface="+mn-lt"/>
                              <a:ea typeface="Roboto" panose="02000000000000000000" pitchFamily="2" charset="0"/>
                            </a:rPr>
                            <a:t>Variables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rPr>
                                  <m:t>𝑥</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𝑈</m:t>
                                </m:r>
                              </m:oMath>
                            </m:oMathPara>
                          </a14:m>
                          <a:endParaRPr lang="es-CO" sz="1600" dirty="0">
                            <a:latin typeface="Roboto" panose="02000000000000000000" pitchFamily="2"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0970474"/>
                      </a:ext>
                    </a:extLst>
                  </a:tr>
                  <a:tr h="0">
                    <a:tc>
                      <a:txBody>
                        <a:bodyPr/>
                        <a:lstStyle/>
                        <a:p>
                          <a:r>
                            <a:rPr lang="es-CO" sz="1800" b="1" dirty="0">
                              <a:latin typeface="+mn-lt"/>
                              <a:ea typeface="Roboto" panose="02000000000000000000" pitchFamily="2" charset="0"/>
                            </a:rPr>
                            <a:t>Constantes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171450" indent="-171450">
                            <a:buFont typeface="Arial" panose="020B0604020202020204" pitchFamily="34" charset="0"/>
                            <a:buChar char="•"/>
                          </a:pPr>
                          <a14:m>
                            <m:oMath xmlns:m="http://schemas.openxmlformats.org/officeDocument/2006/math">
                              <m:r>
                                <a:rPr lang="es-MX" sz="1600" b="0" i="1" dirty="0" smtClean="0">
                                  <a:latin typeface="Cambria Math" panose="02040503050406030204" pitchFamily="18" charset="0"/>
                                  <a:ea typeface="Roboto" panose="02000000000000000000" pitchFamily="2" charset="0"/>
                                </a:rPr>
                                <m:t>𝑥</m:t>
                              </m:r>
                              <m:r>
                                <a:rPr lang="es-MX" sz="1600" b="0" i="1" dirty="0" smtClean="0">
                                  <a:latin typeface="Cambria Math" panose="02040503050406030204" pitchFamily="18" charset="0"/>
                                  <a:ea typeface="Roboto" panose="02000000000000000000" pitchFamily="2" charset="0"/>
                                </a:rPr>
                                <m:t>=</m:t>
                              </m:r>
                              <m:r>
                                <m:rPr>
                                  <m:sty m:val="p"/>
                                </m:rPr>
                                <a:rPr lang="es-MX" sz="1600" b="0" i="0" dirty="0" smtClean="0">
                                  <a:latin typeface="Cambria Math" panose="02040503050406030204" pitchFamily="18" charset="0"/>
                                  <a:ea typeface="Roboto" panose="02000000000000000000" pitchFamily="2" charset="0"/>
                                </a:rPr>
                                <m:t>Firulais</m:t>
                              </m:r>
                            </m:oMath>
                          </a14:m>
                          <a:endParaRPr lang="es-MX" sz="1600" b="0" i="0" dirty="0">
                            <a:latin typeface="Roboto" panose="02000000000000000000" pitchFamily="2"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736836"/>
                      </a:ext>
                    </a:extLst>
                  </a:tr>
                  <a:tr h="240030">
                    <a:tc>
                      <a:txBody>
                        <a:bodyPr/>
                        <a:lstStyle/>
                        <a:p>
                          <a:r>
                            <a:rPr lang="es-CO" sz="1800" b="1" dirty="0">
                              <a:latin typeface="+mn-lt"/>
                              <a:ea typeface="Roboto" panose="02000000000000000000" pitchFamily="2" charset="0"/>
                            </a:rPr>
                            <a:t>Predicados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14:m>
                            <m:oMath xmlns:m="http://schemas.openxmlformats.org/officeDocument/2006/math">
                              <m:r>
                                <a:rPr lang="es-MX" sz="1600" b="0" i="1" smtClean="0">
                                  <a:latin typeface="Cambria Math" panose="02040503050406030204" pitchFamily="18" charset="0"/>
                                  <a:ea typeface="Cambria Math" panose="02040503050406030204" pitchFamily="18" charset="0"/>
                                </a:rPr>
                                <m:t>𝐶</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𝑥</m:t>
                                  </m:r>
                                </m:e>
                              </m:d>
                            </m:oMath>
                          </a14:m>
                          <a:r>
                            <a:rPr lang="es-MX" sz="1600" b="0" i="0" dirty="0">
                              <a:latin typeface="Roboto" panose="02000000000000000000" pitchFamily="2" charset="0"/>
                              <a:ea typeface="Roboto" panose="02000000000000000000" pitchFamily="2" charset="0"/>
                            </a:rPr>
                            <a:t>: </a:t>
                          </a:r>
                          <a14:m>
                            <m:oMath xmlns:m="http://schemas.openxmlformats.org/officeDocument/2006/math">
                              <m:r>
                                <a:rPr lang="es-MX" sz="1600" b="0" i="1" smtClean="0">
                                  <a:latin typeface="Cambria Math" panose="02040503050406030204" pitchFamily="18" charset="0"/>
                                  <a:ea typeface="Cambria Math" panose="02040503050406030204" pitchFamily="18" charset="0"/>
                                </a:rPr>
                                <m:t>𝑥</m:t>
                              </m:r>
                            </m:oMath>
                          </a14:m>
                          <a:r>
                            <a:rPr lang="es-CO" sz="1600" dirty="0">
                              <a:latin typeface="Roboto" panose="02000000000000000000" pitchFamily="2" charset="0"/>
                              <a:ea typeface="Roboto" panose="02000000000000000000" pitchFamily="2" charset="0"/>
                            </a:rPr>
                            <a:t> es cariñoso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2933263"/>
                      </a:ext>
                    </a:extLst>
                  </a:tr>
                </a:tbl>
              </a:graphicData>
            </a:graphic>
          </p:graphicFrame>
        </mc:Choice>
        <mc:Fallback>
          <p:graphicFrame>
            <p:nvGraphicFramePr>
              <p:cNvPr id="29" name="Tabla 2">
                <a:extLst>
                  <a:ext uri="{FF2B5EF4-FFF2-40B4-BE49-F238E27FC236}">
                    <a16:creationId xmlns:a16="http://schemas.microsoft.com/office/drawing/2014/main" id="{A24D11BF-089C-4010-88DE-693935762966}"/>
                  </a:ext>
                </a:extLst>
              </p:cNvPr>
              <p:cNvGraphicFramePr>
                <a:graphicFrameLocks noGrp="1"/>
              </p:cNvGraphicFramePr>
              <p:nvPr>
                <p:extLst>
                  <p:ext uri="{D42A27DB-BD31-4B8C-83A1-F6EECF244321}">
                    <p14:modId xmlns:p14="http://schemas.microsoft.com/office/powerpoint/2010/main" val="2926871211"/>
                  </p:ext>
                </p:extLst>
              </p:nvPr>
            </p:nvGraphicFramePr>
            <p:xfrm>
              <a:off x="4889658" y="4726683"/>
              <a:ext cx="3633165" cy="1463040"/>
            </p:xfrm>
            <a:graphic>
              <a:graphicData uri="http://schemas.openxmlformats.org/drawingml/2006/table">
                <a:tbl>
                  <a:tblPr firstRow="1" bandRow="1">
                    <a:tableStyleId>{AD6A3598-7CB8-4345-8D95-17CE05F158A0}</a:tableStyleId>
                  </a:tblPr>
                  <a:tblGrid>
                    <a:gridCol w="1257678">
                      <a:extLst>
                        <a:ext uri="{9D8B030D-6E8A-4147-A177-3AD203B41FA5}">
                          <a16:colId xmlns:a16="http://schemas.microsoft.com/office/drawing/2014/main" val="55665907"/>
                        </a:ext>
                      </a:extLst>
                    </a:gridCol>
                    <a:gridCol w="2375487">
                      <a:extLst>
                        <a:ext uri="{9D8B030D-6E8A-4147-A177-3AD203B41FA5}">
                          <a16:colId xmlns:a16="http://schemas.microsoft.com/office/drawing/2014/main" val="2393994677"/>
                        </a:ext>
                      </a:extLst>
                    </a:gridCol>
                  </a:tblGrid>
                  <a:tr h="365760">
                    <a:tc>
                      <a:txBody>
                        <a:bodyPr/>
                        <a:lstStyle/>
                        <a:p>
                          <a:r>
                            <a:rPr lang="es-CO" sz="1800" b="1" dirty="0">
                              <a:latin typeface="+mn-lt"/>
                              <a:ea typeface="Roboto" panose="02000000000000000000" pitchFamily="2" charset="0"/>
                            </a:rPr>
                            <a:t>Dominio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3333" t="-8333" r="-513" b="-326667"/>
                          </a:stretch>
                        </a:blipFill>
                      </a:tcPr>
                    </a:tc>
                    <a:extLst>
                      <a:ext uri="{0D108BD9-81ED-4DB2-BD59-A6C34878D82A}">
                        <a16:rowId xmlns:a16="http://schemas.microsoft.com/office/drawing/2014/main" val="2554054099"/>
                      </a:ext>
                    </a:extLst>
                  </a:tr>
                  <a:tr h="365760">
                    <a:tc>
                      <a:txBody>
                        <a:bodyPr/>
                        <a:lstStyle/>
                        <a:p>
                          <a:r>
                            <a:rPr lang="es-CO" sz="1800" b="1" dirty="0">
                              <a:latin typeface="+mn-lt"/>
                              <a:ea typeface="Roboto" panose="02000000000000000000" pitchFamily="2" charset="0"/>
                            </a:rPr>
                            <a:t>Variables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3333" t="-106557" r="-513" b="-221311"/>
                          </a:stretch>
                        </a:blipFill>
                      </a:tcPr>
                    </a:tc>
                    <a:extLst>
                      <a:ext uri="{0D108BD9-81ED-4DB2-BD59-A6C34878D82A}">
                        <a16:rowId xmlns:a16="http://schemas.microsoft.com/office/drawing/2014/main" val="1590970474"/>
                      </a:ext>
                    </a:extLst>
                  </a:tr>
                  <a:tr h="365760">
                    <a:tc>
                      <a:txBody>
                        <a:bodyPr/>
                        <a:lstStyle/>
                        <a:p>
                          <a:r>
                            <a:rPr lang="es-CO" sz="1800" b="1" dirty="0">
                              <a:latin typeface="+mn-lt"/>
                              <a:ea typeface="Roboto" panose="02000000000000000000" pitchFamily="2" charset="0"/>
                            </a:rPr>
                            <a:t>Constantes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3333" t="-210000" r="-513" b="-125000"/>
                          </a:stretch>
                        </a:blipFill>
                      </a:tcPr>
                    </a:tc>
                    <a:extLst>
                      <a:ext uri="{0D108BD9-81ED-4DB2-BD59-A6C34878D82A}">
                        <a16:rowId xmlns:a16="http://schemas.microsoft.com/office/drawing/2014/main" val="144736836"/>
                      </a:ext>
                    </a:extLst>
                  </a:tr>
                  <a:tr h="365760">
                    <a:tc>
                      <a:txBody>
                        <a:bodyPr/>
                        <a:lstStyle/>
                        <a:p>
                          <a:r>
                            <a:rPr lang="es-CO" sz="1800" b="1" dirty="0">
                              <a:latin typeface="+mn-lt"/>
                              <a:ea typeface="Roboto" panose="02000000000000000000" pitchFamily="2" charset="0"/>
                            </a:rPr>
                            <a:t>Predicados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53333" t="-310000" r="-513" b="-25000"/>
                          </a:stretch>
                        </a:blipFill>
                      </a:tcPr>
                    </a:tc>
                    <a:extLst>
                      <a:ext uri="{0D108BD9-81ED-4DB2-BD59-A6C34878D82A}">
                        <a16:rowId xmlns:a16="http://schemas.microsoft.com/office/drawing/2014/main" val="1362933263"/>
                      </a:ext>
                    </a:extLst>
                  </a:tr>
                </a:tbl>
              </a:graphicData>
            </a:graphic>
          </p:graphicFrame>
        </mc:Fallback>
      </mc:AlternateContent>
      <p:grpSp>
        <p:nvGrpSpPr>
          <p:cNvPr id="36" name="Grupo 35">
            <a:extLst>
              <a:ext uri="{FF2B5EF4-FFF2-40B4-BE49-F238E27FC236}">
                <a16:creationId xmlns:a16="http://schemas.microsoft.com/office/drawing/2014/main" id="{BD147BD1-8FBA-4512-BE79-9592D632D017}"/>
              </a:ext>
            </a:extLst>
          </p:cNvPr>
          <p:cNvGrpSpPr/>
          <p:nvPr/>
        </p:nvGrpSpPr>
        <p:grpSpPr>
          <a:xfrm>
            <a:off x="752165" y="5990127"/>
            <a:ext cx="10164781" cy="923330"/>
            <a:chOff x="1281796" y="5758490"/>
            <a:chExt cx="9136813" cy="923330"/>
          </a:xfrm>
        </p:grpSpPr>
        <p:grpSp>
          <p:nvGrpSpPr>
            <p:cNvPr id="27" name="Grupo 26">
              <a:extLst>
                <a:ext uri="{FF2B5EF4-FFF2-40B4-BE49-F238E27FC236}">
                  <a16:creationId xmlns:a16="http://schemas.microsoft.com/office/drawing/2014/main" id="{50B4805F-DD72-4986-AA24-D837DCB6CAE8}"/>
                </a:ext>
              </a:extLst>
            </p:cNvPr>
            <p:cNvGrpSpPr/>
            <p:nvPr/>
          </p:nvGrpSpPr>
          <p:grpSpPr>
            <a:xfrm>
              <a:off x="1281796" y="5758490"/>
              <a:ext cx="3505661" cy="923330"/>
              <a:chOff x="1222674" y="4494236"/>
              <a:chExt cx="3505661" cy="923330"/>
            </a:xfrm>
          </p:grpSpPr>
          <p:sp>
            <p:nvSpPr>
              <p:cNvPr id="17" name="CuadroTexto 16">
                <a:extLst>
                  <a:ext uri="{FF2B5EF4-FFF2-40B4-BE49-F238E27FC236}">
                    <a16:creationId xmlns:a16="http://schemas.microsoft.com/office/drawing/2014/main" id="{097DC0B3-8D1F-45E4-8146-AC63E577D50F}"/>
                  </a:ext>
                </a:extLst>
              </p:cNvPr>
              <p:cNvSpPr txBox="1"/>
              <p:nvPr/>
            </p:nvSpPr>
            <p:spPr>
              <a:xfrm>
                <a:off x="1222674" y="4494236"/>
                <a:ext cx="3505661" cy="923330"/>
              </a:xfrm>
              <a:prstGeom prst="rect">
                <a:avLst/>
              </a:prstGeom>
              <a:noFill/>
            </p:spPr>
            <p:txBody>
              <a:bodyPr wrap="square">
                <a:spAutoFit/>
              </a:bodyPr>
              <a:lstStyle/>
              <a:p>
                <a:pPr lvl="1"/>
                <a:r>
                  <a:rPr lang="es-MX" b="1" dirty="0">
                    <a:ea typeface="Roboto" panose="02000000000000000000" pitchFamily="2" charset="0"/>
                  </a:rPr>
                  <a:t>Todos</a:t>
                </a:r>
                <a:r>
                  <a:rPr lang="es-MX" dirty="0">
                    <a:solidFill>
                      <a:schemeClr val="tx1"/>
                    </a:solidFill>
                    <a:ea typeface="Roboto" panose="02000000000000000000" pitchFamily="2" charset="0"/>
                  </a:rPr>
                  <a:t> los perros son cariñosos</a:t>
                </a:r>
              </a:p>
              <a:p>
                <a:pPr lvl="1"/>
                <a:r>
                  <a:rPr lang="es-MX" b="1" dirty="0">
                    <a:solidFill>
                      <a:srgbClr val="002060"/>
                    </a:solidFill>
                    <a:ea typeface="Roboto" panose="02000000000000000000" pitchFamily="2" charset="0"/>
                  </a:rPr>
                  <a:t>Por lo tanto</a:t>
                </a:r>
                <a:r>
                  <a:rPr lang="es-MX" dirty="0">
                    <a:ea typeface="Roboto" panose="02000000000000000000" pitchFamily="2" charset="0"/>
                  </a:rPr>
                  <a:t>, Firulais es cariñoso.</a:t>
                </a:r>
              </a:p>
            </p:txBody>
          </p:sp>
          <p:cxnSp>
            <p:nvCxnSpPr>
              <p:cNvPr id="18" name="Conector recto 17">
                <a:extLst>
                  <a:ext uri="{FF2B5EF4-FFF2-40B4-BE49-F238E27FC236}">
                    <a16:creationId xmlns:a16="http://schemas.microsoft.com/office/drawing/2014/main" id="{FCA8B624-85F2-4379-BE4C-CE28C48AE1E3}"/>
                  </a:ext>
                </a:extLst>
              </p:cNvPr>
              <p:cNvCxnSpPr>
                <a:cxnSpLocks/>
              </p:cNvCxnSpPr>
              <p:nvPr/>
            </p:nvCxnSpPr>
            <p:spPr>
              <a:xfrm>
                <a:off x="1482793" y="4837149"/>
                <a:ext cx="308920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0" name="Grupo 29">
              <a:extLst>
                <a:ext uri="{FF2B5EF4-FFF2-40B4-BE49-F238E27FC236}">
                  <a16:creationId xmlns:a16="http://schemas.microsoft.com/office/drawing/2014/main" id="{4CE22D98-F5AC-404C-BF2F-7E7D4C295B47}"/>
                </a:ext>
              </a:extLst>
            </p:cNvPr>
            <p:cNvGrpSpPr/>
            <p:nvPr/>
          </p:nvGrpSpPr>
          <p:grpSpPr>
            <a:xfrm>
              <a:off x="8694667" y="5850435"/>
              <a:ext cx="1723942" cy="646331"/>
              <a:chOff x="4487788" y="3660558"/>
              <a:chExt cx="1051949" cy="646331"/>
            </a:xfrm>
          </p:grpSpPr>
          <mc:AlternateContent xmlns:mc="http://schemas.openxmlformats.org/markup-compatibility/2006" xmlns:a14="http://schemas.microsoft.com/office/drawing/2010/main">
            <mc:Choice Requires="a14">
              <p:sp>
                <p:nvSpPr>
                  <p:cNvPr id="31" name="CuadroTexto 30">
                    <a:extLst>
                      <a:ext uri="{FF2B5EF4-FFF2-40B4-BE49-F238E27FC236}">
                        <a16:creationId xmlns:a16="http://schemas.microsoft.com/office/drawing/2014/main" id="{C20C1A7D-42B3-44C8-AAD8-D1A0E26FFB67}"/>
                      </a:ext>
                    </a:extLst>
                  </p:cNvPr>
                  <p:cNvSpPr txBox="1"/>
                  <p:nvPr/>
                </p:nvSpPr>
                <p:spPr>
                  <a:xfrm>
                    <a:off x="4487788" y="3660558"/>
                    <a:ext cx="1051949" cy="646331"/>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𝑥</m:t>
                          </m:r>
                          <m:r>
                            <a:rPr lang="es-MX" sz="1800" b="0" i="1" smtClean="0">
                              <a:latin typeface="Cambria Math" panose="02040503050406030204" pitchFamily="18" charset="0"/>
                              <a:ea typeface="Cambria Math" panose="02040503050406030204" pitchFamily="18" charset="0"/>
                            </a:rPr>
                            <m:t> </m:t>
                          </m:r>
                          <m:r>
                            <a:rPr lang="es-MX" sz="1800" b="0" i="1" smtClean="0">
                              <a:latin typeface="Cambria Math" panose="02040503050406030204" pitchFamily="18" charset="0"/>
                              <a:ea typeface="Cambria Math" panose="02040503050406030204" pitchFamily="18" charset="0"/>
                            </a:rPr>
                            <m:t>𝐶</m:t>
                          </m:r>
                          <m:d>
                            <m:dPr>
                              <m:ctrlPr>
                                <a:rPr lang="es-MX" sz="1800" b="0" i="1" smtClean="0">
                                  <a:latin typeface="Cambria Math" panose="02040503050406030204" pitchFamily="18" charset="0"/>
                                  <a:ea typeface="Cambria Math" panose="02040503050406030204" pitchFamily="18" charset="0"/>
                                </a:rPr>
                              </m:ctrlPr>
                            </m:dPr>
                            <m:e>
                              <m:r>
                                <a:rPr lang="es-MX" sz="1800" b="0" i="1" smtClean="0">
                                  <a:latin typeface="Cambria Math" panose="02040503050406030204" pitchFamily="18" charset="0"/>
                                  <a:ea typeface="Cambria Math" panose="02040503050406030204" pitchFamily="18" charset="0"/>
                                </a:rPr>
                                <m:t>𝑥</m:t>
                              </m:r>
                            </m:e>
                          </m:d>
                        </m:oMath>
                      </m:oMathPara>
                    </a14:m>
                    <a:endParaRPr lang="es-MX" sz="1800"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𝐶</m:t>
                          </m:r>
                          <m:d>
                            <m:dPr>
                              <m:ctrlPr>
                                <a:rPr lang="es-MX" sz="1800" b="0" i="1" smtClean="0">
                                  <a:latin typeface="Cambria Math" panose="02040503050406030204" pitchFamily="18" charset="0"/>
                                  <a:ea typeface="Cambria Math" panose="02040503050406030204" pitchFamily="18" charset="0"/>
                                </a:rPr>
                              </m:ctrlPr>
                            </m:dPr>
                            <m:e>
                              <m:r>
                                <m:rPr>
                                  <m:sty m:val="p"/>
                                </m:rPr>
                                <a:rPr lang="es-MX" sz="1800" b="0" i="0" smtClean="0">
                                  <a:latin typeface="Cambria Math" panose="02040503050406030204" pitchFamily="18" charset="0"/>
                                  <a:ea typeface="Cambria Math" panose="02040503050406030204" pitchFamily="18" charset="0"/>
                                </a:rPr>
                                <m:t>Firulais</m:t>
                              </m:r>
                            </m:e>
                          </m:d>
                        </m:oMath>
                      </m:oMathPara>
                    </a14:m>
                    <a:endParaRPr lang="es-MX" sz="1800" b="0" dirty="0">
                      <a:latin typeface="Roboto" panose="02000000000000000000" pitchFamily="2" charset="0"/>
                      <a:ea typeface="Cambria Math" panose="02040503050406030204" pitchFamily="18" charset="0"/>
                    </a:endParaRPr>
                  </a:p>
                </p:txBody>
              </p:sp>
            </mc:Choice>
            <mc:Fallback xmlns="">
              <p:sp>
                <p:nvSpPr>
                  <p:cNvPr id="31" name="CuadroTexto 30">
                    <a:extLst>
                      <a:ext uri="{FF2B5EF4-FFF2-40B4-BE49-F238E27FC236}">
                        <a16:creationId xmlns:a16="http://schemas.microsoft.com/office/drawing/2014/main" id="{C20C1A7D-42B3-44C8-AAD8-D1A0E26FFB67}"/>
                      </a:ext>
                    </a:extLst>
                  </p:cNvPr>
                  <p:cNvSpPr txBox="1">
                    <a:spLocks noRot="1" noChangeAspect="1" noMove="1" noResize="1" noEditPoints="1" noAdjustHandles="1" noChangeArrowheads="1" noChangeShapeType="1" noTextEdit="1"/>
                  </p:cNvSpPr>
                  <p:nvPr/>
                </p:nvSpPr>
                <p:spPr>
                  <a:xfrm>
                    <a:off x="4487788" y="3660558"/>
                    <a:ext cx="1051949" cy="646331"/>
                  </a:xfrm>
                  <a:prstGeom prst="rect">
                    <a:avLst/>
                  </a:prstGeom>
                  <a:blipFill>
                    <a:blip r:embed="rId5"/>
                    <a:stretch>
                      <a:fillRect/>
                    </a:stretch>
                  </a:blipFill>
                </p:spPr>
                <p:txBody>
                  <a:bodyPr/>
                  <a:lstStyle/>
                  <a:p>
                    <a:r>
                      <a:rPr lang="es-CO">
                        <a:noFill/>
                      </a:rPr>
                      <a:t> </a:t>
                    </a:r>
                  </a:p>
                </p:txBody>
              </p:sp>
            </mc:Fallback>
          </mc:AlternateContent>
          <p:cxnSp>
            <p:nvCxnSpPr>
              <p:cNvPr id="32" name="Conector recto 31">
                <a:extLst>
                  <a:ext uri="{FF2B5EF4-FFF2-40B4-BE49-F238E27FC236}">
                    <a16:creationId xmlns:a16="http://schemas.microsoft.com/office/drawing/2014/main" id="{619940D5-E520-4668-8354-9C201AEC3375}"/>
                  </a:ext>
                </a:extLst>
              </p:cNvPr>
              <p:cNvCxnSpPr>
                <a:cxnSpLocks/>
              </p:cNvCxnSpPr>
              <p:nvPr/>
            </p:nvCxnSpPr>
            <p:spPr>
              <a:xfrm>
                <a:off x="4487788" y="3983724"/>
                <a:ext cx="10519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3" name="Conector recto de flecha 32">
              <a:extLst>
                <a:ext uri="{FF2B5EF4-FFF2-40B4-BE49-F238E27FC236}">
                  <a16:creationId xmlns:a16="http://schemas.microsoft.com/office/drawing/2014/main" id="{A61B30DB-3DD0-4D8D-9B24-F7512AB791E1}"/>
                </a:ext>
              </a:extLst>
            </p:cNvPr>
            <p:cNvCxnSpPr>
              <a:cxnSpLocks/>
              <a:stCxn id="17" idx="3"/>
            </p:cNvCxnSpPr>
            <p:nvPr/>
          </p:nvCxnSpPr>
          <p:spPr>
            <a:xfrm>
              <a:off x="4787457" y="6220155"/>
              <a:ext cx="3667291"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584251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317500" y="96038"/>
            <a:ext cx="107569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Reglas de inferencia con cuantificadores</a:t>
            </a:r>
            <a:endParaRPr dirty="0">
              <a:solidFill>
                <a:schemeClr val="tx1"/>
              </a:solidFill>
              <a:latin typeface="+mj-lt"/>
            </a:endParaRPr>
          </a:p>
        </p:txBody>
      </p:sp>
      <p:sp>
        <p:nvSpPr>
          <p:cNvPr id="4" name="Google Shape;310;p34">
            <a:extLst>
              <a:ext uri="{FF2B5EF4-FFF2-40B4-BE49-F238E27FC236}">
                <a16:creationId xmlns:a16="http://schemas.microsoft.com/office/drawing/2014/main" id="{BE15A36C-9BD2-469A-9CCF-F214389CB345}"/>
              </a:ext>
            </a:extLst>
          </p:cNvPr>
          <p:cNvSpPr txBox="1">
            <a:spLocks/>
          </p:cNvSpPr>
          <p:nvPr/>
        </p:nvSpPr>
        <p:spPr>
          <a:xfrm>
            <a:off x="317500" y="852141"/>
            <a:ext cx="9501968"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Font typeface="Roboto"/>
              <a:buNone/>
            </a:pPr>
            <a:r>
              <a:rPr lang="es-MX" b="1" dirty="0">
                <a:solidFill>
                  <a:schemeClr val="tx1"/>
                </a:solidFill>
                <a:latin typeface="+mn-lt"/>
              </a:rPr>
              <a:t>Generalización universal</a:t>
            </a:r>
            <a:endParaRPr lang="es-MX" dirty="0">
              <a:solidFill>
                <a:schemeClr val="tx1"/>
              </a:solidFill>
              <a:latin typeface="+mn-lt"/>
            </a:endParaRPr>
          </a:p>
          <a:p>
            <a:pPr marL="0" indent="0">
              <a:buFont typeface="Roboto"/>
              <a:buNone/>
            </a:pPr>
            <a:endParaRPr lang="es-MX" sz="2400" dirty="0">
              <a:latin typeface="+mn-lt"/>
            </a:endParaRPr>
          </a:p>
          <a:p>
            <a:pPr indent="0">
              <a:buFont typeface="Roboto"/>
              <a:buNone/>
            </a:pPr>
            <a:endParaRPr lang="es-MX" sz="2400" dirty="0">
              <a:latin typeface="+mn-lt"/>
            </a:endParaRPr>
          </a:p>
        </p:txBody>
      </p:sp>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317500" y="1400270"/>
            <a:ext cx="11514495" cy="134465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r>
              <a:rPr lang="es-MX" sz="2000" dirty="0">
                <a:latin typeface="+mn-lt"/>
                <a:ea typeface="Roboto" panose="02000000000000000000" pitchFamily="2" charset="0"/>
              </a:rPr>
              <a:t>Esta regla permite afirmar que una propiedad se cumple para todos los elementos del dominio, si se logra demostrar que se cumple para un individuo arbitrario.</a:t>
            </a:r>
          </a:p>
          <a:p>
            <a:r>
              <a:rPr lang="es-MX" sz="2000" b="1" dirty="0">
                <a:latin typeface="+mn-lt"/>
                <a:ea typeface="Roboto" panose="02000000000000000000" pitchFamily="2" charset="0"/>
              </a:rPr>
              <a:t>Forma general</a:t>
            </a:r>
          </a:p>
          <a:p>
            <a:pPr marL="584200" lvl="1" indent="0">
              <a:buNone/>
            </a:pPr>
            <a:endParaRPr lang="es-MX" sz="1800" dirty="0">
              <a:latin typeface="+mn-lt"/>
              <a:ea typeface="Roboto" panose="02000000000000000000" pitchFamily="2" charset="0"/>
            </a:endParaRPr>
          </a:p>
        </p:txBody>
      </p:sp>
      <mc:AlternateContent xmlns:mc="http://schemas.openxmlformats.org/markup-compatibility/2006">
        <mc:Choice xmlns:a14="http://schemas.microsoft.com/office/drawing/2010/main" Requires="a14">
          <p:sp>
            <p:nvSpPr>
              <p:cNvPr id="8" name="CuadroTexto 7">
                <a:extLst>
                  <a:ext uri="{FF2B5EF4-FFF2-40B4-BE49-F238E27FC236}">
                    <a16:creationId xmlns:a16="http://schemas.microsoft.com/office/drawing/2014/main" id="{5D518789-47D5-40AF-B8FE-4AB8FD290E94}"/>
                  </a:ext>
                </a:extLst>
              </p:cNvPr>
              <p:cNvSpPr txBox="1"/>
              <p:nvPr/>
            </p:nvSpPr>
            <p:spPr>
              <a:xfrm>
                <a:off x="5515897" y="2739182"/>
                <a:ext cx="5888398" cy="1015663"/>
              </a:xfrm>
              <a:prstGeom prst="rect">
                <a:avLst/>
              </a:prstGeom>
              <a:solidFill>
                <a:schemeClr val="bg1">
                  <a:lumMod val="95000"/>
                </a:schemeClr>
              </a:solidFill>
            </p:spPr>
            <p:txBody>
              <a:bodyPr wrap="square">
                <a:spAutoFit/>
              </a:bodyPr>
              <a:lstStyle/>
              <a:p>
                <a:r>
                  <a:rPr lang="es-MX" sz="2000" b="1" dirty="0">
                    <a:ea typeface="Roboto" panose="02000000000000000000" pitchFamily="2" charset="0"/>
                  </a:rPr>
                  <a:t>Restricción fundamental</a:t>
                </a:r>
                <a:r>
                  <a:rPr lang="es-MX" sz="2000" dirty="0">
                    <a:ea typeface="Roboto" panose="02000000000000000000" pitchFamily="2" charset="0"/>
                  </a:rPr>
                  <a:t>: La variable </a:t>
                </a:r>
                <a14:m>
                  <m:oMath xmlns:m="http://schemas.openxmlformats.org/officeDocument/2006/math">
                    <m:r>
                      <a:rPr lang="es-MX" sz="2000" b="0" i="1" smtClean="0">
                        <a:latin typeface="Cambria Math" panose="02040503050406030204" pitchFamily="18" charset="0"/>
                        <a:ea typeface="Roboto" panose="02000000000000000000" pitchFamily="2" charset="0"/>
                      </a:rPr>
                      <m:t>𝑥</m:t>
                    </m:r>
                  </m:oMath>
                </a14:m>
                <a:r>
                  <a:rPr lang="es-MX" sz="2000" dirty="0">
                    <a:ea typeface="Roboto" panose="02000000000000000000" pitchFamily="2" charset="0"/>
                  </a:rPr>
                  <a:t> debe ser arbitraria, es decir que no debe depender de una premisa o suposición previa sobre un valor particular.</a:t>
                </a:r>
                <a:endParaRPr lang="es-CO" sz="2000" dirty="0">
                  <a:ea typeface="Roboto" panose="02000000000000000000" pitchFamily="2" charset="0"/>
                </a:endParaRPr>
              </a:p>
            </p:txBody>
          </p:sp>
        </mc:Choice>
        <mc:Fallback>
          <p:sp>
            <p:nvSpPr>
              <p:cNvPr id="8" name="CuadroTexto 7">
                <a:extLst>
                  <a:ext uri="{FF2B5EF4-FFF2-40B4-BE49-F238E27FC236}">
                    <a16:creationId xmlns:a16="http://schemas.microsoft.com/office/drawing/2014/main" id="{5D518789-47D5-40AF-B8FE-4AB8FD290E94}"/>
                  </a:ext>
                </a:extLst>
              </p:cNvPr>
              <p:cNvSpPr txBox="1">
                <a:spLocks noRot="1" noChangeAspect="1" noMove="1" noResize="1" noEditPoints="1" noAdjustHandles="1" noChangeArrowheads="1" noChangeShapeType="1" noTextEdit="1"/>
              </p:cNvSpPr>
              <p:nvPr/>
            </p:nvSpPr>
            <p:spPr>
              <a:xfrm>
                <a:off x="5515897" y="2739182"/>
                <a:ext cx="5888398" cy="1015663"/>
              </a:xfrm>
              <a:prstGeom prst="rect">
                <a:avLst/>
              </a:prstGeom>
              <a:blipFill>
                <a:blip r:embed="rId3"/>
                <a:stretch>
                  <a:fillRect l="-1139" t="-2994" b="-9581"/>
                </a:stretch>
              </a:blipFill>
            </p:spPr>
            <p:txBody>
              <a:bodyPr/>
              <a:lstStyle/>
              <a:p>
                <a:r>
                  <a:rPr lang="es-CO">
                    <a:noFill/>
                  </a:rPr>
                  <a:t> </a:t>
                </a:r>
              </a:p>
            </p:txBody>
          </p:sp>
        </mc:Fallback>
      </mc:AlternateContent>
      <p:grpSp>
        <p:nvGrpSpPr>
          <p:cNvPr id="6" name="Grupo 5">
            <a:extLst>
              <a:ext uri="{FF2B5EF4-FFF2-40B4-BE49-F238E27FC236}">
                <a16:creationId xmlns:a16="http://schemas.microsoft.com/office/drawing/2014/main" id="{F3862DC3-D072-4763-ACB6-759106D95BFC}"/>
              </a:ext>
            </a:extLst>
          </p:cNvPr>
          <p:cNvGrpSpPr/>
          <p:nvPr/>
        </p:nvGrpSpPr>
        <p:grpSpPr>
          <a:xfrm>
            <a:off x="1493325" y="2993624"/>
            <a:ext cx="2826789" cy="707886"/>
            <a:chOff x="4487791" y="3598887"/>
            <a:chExt cx="1051949" cy="707886"/>
          </a:xfrm>
        </p:grpSpPr>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731F9548-C364-47BA-8CD9-93E3630F5C3E}"/>
                    </a:ext>
                  </a:extLst>
                </p:cNvPr>
                <p:cNvSpPr txBox="1"/>
                <p:nvPr/>
              </p:nvSpPr>
              <p:spPr>
                <a:xfrm>
                  <a:off x="4487791" y="3598887"/>
                  <a:ext cx="1051949" cy="70788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𝑃</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𝑐</m:t>
                            </m:r>
                          </m:e>
                        </m:d>
                        <m:r>
                          <a:rPr lang="es-MX" sz="2000" b="0" i="1" smtClean="0">
                            <a:latin typeface="Cambria Math" panose="02040503050406030204" pitchFamily="18" charset="0"/>
                            <a:ea typeface="Cambria Math" panose="02040503050406030204" pitchFamily="18" charset="0"/>
                          </a:rPr>
                          <m:t> </m:t>
                        </m:r>
                        <m:r>
                          <m:rPr>
                            <m:sty m:val="p"/>
                          </m:rPr>
                          <a:rPr lang="es-MX" sz="2000" b="0" i="0" smtClean="0">
                            <a:latin typeface="Cambria Math" panose="02040503050406030204" pitchFamily="18" charset="0"/>
                            <a:ea typeface="Cambria Math" panose="02040503050406030204" pitchFamily="18" charset="0"/>
                          </a:rPr>
                          <m:t>para</m:t>
                        </m:r>
                        <m:r>
                          <a:rPr lang="es-MX" sz="2000" b="0" i="0" smtClean="0">
                            <a:latin typeface="Cambria Math" panose="02040503050406030204" pitchFamily="18" charset="0"/>
                            <a:ea typeface="Cambria Math" panose="02040503050406030204" pitchFamily="18" charset="0"/>
                          </a:rPr>
                          <m:t> </m:t>
                        </m:r>
                        <m:r>
                          <m:rPr>
                            <m:sty m:val="p"/>
                          </m:rPr>
                          <a:rPr lang="es-MX" sz="2000" b="0" i="0" smtClean="0">
                            <a:latin typeface="Cambria Math" panose="02040503050406030204" pitchFamily="18" charset="0"/>
                            <a:ea typeface="Cambria Math" panose="02040503050406030204" pitchFamily="18" charset="0"/>
                          </a:rPr>
                          <m:t>un</m:t>
                        </m:r>
                        <m:r>
                          <a:rPr lang="es-MX" sz="2000" b="0" i="0" smtClean="0">
                            <a:latin typeface="Cambria Math" panose="02040503050406030204" pitchFamily="18" charset="0"/>
                            <a:ea typeface="Cambria Math" panose="02040503050406030204" pitchFamily="18" charset="0"/>
                          </a:rPr>
                          <m:t> </m:t>
                        </m:r>
                        <m:r>
                          <a:rPr lang="es-MX" sz="2000" b="0" i="1" smtClean="0">
                            <a:latin typeface="Cambria Math" panose="02040503050406030204" pitchFamily="18" charset="0"/>
                            <a:ea typeface="Cambria Math" panose="02040503050406030204" pitchFamily="18" charset="0"/>
                          </a:rPr>
                          <m:t>𝑐</m:t>
                        </m:r>
                        <m:r>
                          <a:rPr lang="es-MX" sz="2000" b="0" i="1" smtClean="0">
                            <a:latin typeface="Cambria Math" panose="02040503050406030204" pitchFamily="18" charset="0"/>
                            <a:ea typeface="Cambria Math" panose="02040503050406030204" pitchFamily="18" charset="0"/>
                          </a:rPr>
                          <m:t> </m:t>
                        </m:r>
                        <m:r>
                          <m:rPr>
                            <m:sty m:val="p"/>
                          </m:rPr>
                          <a:rPr lang="es-MX" sz="2000" b="0" i="0" smtClean="0">
                            <a:latin typeface="Cambria Math" panose="02040503050406030204" pitchFamily="18" charset="0"/>
                            <a:ea typeface="Cambria Math" panose="02040503050406030204" pitchFamily="18" charset="0"/>
                          </a:rPr>
                          <m:t>arbitrario</m:t>
                        </m:r>
                      </m:oMath>
                    </m:oMathPara>
                  </a14:m>
                  <a:endParaRPr lang="es-MX" sz="2000"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s-MX" sz="2000" b="0" i="1" smtClean="0">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𝑥</m:t>
                        </m:r>
                        <m:r>
                          <a:rPr lang="es-MX" sz="2000" i="1">
                            <a:latin typeface="Cambria Math" panose="02040503050406030204" pitchFamily="18" charset="0"/>
                            <a:ea typeface="Cambria Math" panose="02040503050406030204" pitchFamily="18" charset="0"/>
                          </a:rPr>
                          <m:t> </m:t>
                        </m:r>
                        <m:r>
                          <a:rPr lang="es-MX" sz="2000" i="1">
                            <a:latin typeface="Cambria Math" panose="02040503050406030204" pitchFamily="18" charset="0"/>
                            <a:ea typeface="Cambria Math" panose="02040503050406030204" pitchFamily="18" charset="0"/>
                          </a:rPr>
                          <m:t>𝑃</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𝑥</m:t>
                            </m:r>
                          </m:e>
                        </m:d>
                      </m:oMath>
                    </m:oMathPara>
                  </a14:m>
                  <a:endParaRPr lang="es-MX" sz="2000" i="1" dirty="0">
                    <a:latin typeface="Cambria Math" panose="02040503050406030204" pitchFamily="18" charset="0"/>
                    <a:ea typeface="Cambria Math" panose="02040503050406030204" pitchFamily="18" charset="0"/>
                  </a:endParaRPr>
                </a:p>
              </p:txBody>
            </p:sp>
          </mc:Choice>
          <mc:Fallback xmlns="">
            <p:sp>
              <p:nvSpPr>
                <p:cNvPr id="13" name="CuadroTexto 12">
                  <a:extLst>
                    <a:ext uri="{FF2B5EF4-FFF2-40B4-BE49-F238E27FC236}">
                      <a16:creationId xmlns:a16="http://schemas.microsoft.com/office/drawing/2014/main" id="{731F9548-C364-47BA-8CD9-93E3630F5C3E}"/>
                    </a:ext>
                  </a:extLst>
                </p:cNvPr>
                <p:cNvSpPr txBox="1">
                  <a:spLocks noRot="1" noChangeAspect="1" noMove="1" noResize="1" noEditPoints="1" noAdjustHandles="1" noChangeArrowheads="1" noChangeShapeType="1" noTextEdit="1"/>
                </p:cNvSpPr>
                <p:nvPr/>
              </p:nvSpPr>
              <p:spPr>
                <a:xfrm>
                  <a:off x="4487791" y="3598887"/>
                  <a:ext cx="1051949" cy="707886"/>
                </a:xfrm>
                <a:prstGeom prst="rect">
                  <a:avLst/>
                </a:prstGeom>
                <a:blipFill>
                  <a:blip r:embed="rId4"/>
                  <a:stretch>
                    <a:fillRect r="-1509"/>
                  </a:stretch>
                </a:blipFill>
              </p:spPr>
              <p:txBody>
                <a:bodyPr/>
                <a:lstStyle/>
                <a:p>
                  <a:r>
                    <a:rPr lang="es-CO">
                      <a:noFill/>
                    </a:rPr>
                    <a:t> </a:t>
                  </a:r>
                </a:p>
              </p:txBody>
            </p:sp>
          </mc:Fallback>
        </mc:AlternateContent>
        <p:cxnSp>
          <p:nvCxnSpPr>
            <p:cNvPr id="14" name="Conector recto 13">
              <a:extLst>
                <a:ext uri="{FF2B5EF4-FFF2-40B4-BE49-F238E27FC236}">
                  <a16:creationId xmlns:a16="http://schemas.microsoft.com/office/drawing/2014/main" id="{FEE27DAE-35A8-4B85-8C2F-FAEB659BB56F}"/>
                </a:ext>
              </a:extLst>
            </p:cNvPr>
            <p:cNvCxnSpPr>
              <a:cxnSpLocks/>
            </p:cNvCxnSpPr>
            <p:nvPr/>
          </p:nvCxnSpPr>
          <p:spPr>
            <a:xfrm>
              <a:off x="4487791" y="3957732"/>
              <a:ext cx="10519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2" name="Google Shape;310;p34">
            <a:extLst>
              <a:ext uri="{FF2B5EF4-FFF2-40B4-BE49-F238E27FC236}">
                <a16:creationId xmlns:a16="http://schemas.microsoft.com/office/drawing/2014/main" id="{BB680A61-B649-4198-B83A-9A1A33B33DB3}"/>
              </a:ext>
            </a:extLst>
          </p:cNvPr>
          <p:cNvSpPr txBox="1">
            <a:spLocks/>
          </p:cNvSpPr>
          <p:nvPr/>
        </p:nvSpPr>
        <p:spPr>
          <a:xfrm>
            <a:off x="317500" y="4252225"/>
            <a:ext cx="11044291" cy="48775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r>
              <a:rPr lang="es-MX" sz="2000" dirty="0">
                <a:latin typeface="+mn-lt"/>
                <a:ea typeface="Roboto" panose="02000000000000000000" pitchFamily="2" charset="0"/>
              </a:rPr>
              <a:t>Esta regla suele ser usada a menudo de manera implícita en demostraciones matemáticas.</a:t>
            </a:r>
          </a:p>
        </p:txBody>
      </p:sp>
    </p:spTree>
    <p:extLst>
      <p:ext uri="{BB962C8B-B14F-4D97-AF65-F5344CB8AC3E}">
        <p14:creationId xmlns:p14="http://schemas.microsoft.com/office/powerpoint/2010/main" val="11838828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464457" y="96038"/>
            <a:ext cx="10377713"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Reglas de inferencia con cuantificadores</a:t>
            </a:r>
            <a:endParaRPr dirty="0">
              <a:solidFill>
                <a:schemeClr val="tx1"/>
              </a:solidFill>
              <a:latin typeface="+mj-lt"/>
            </a:endParaRPr>
          </a:p>
        </p:txBody>
      </p:sp>
      <p:sp>
        <p:nvSpPr>
          <p:cNvPr id="4" name="Google Shape;310;p34">
            <a:extLst>
              <a:ext uri="{FF2B5EF4-FFF2-40B4-BE49-F238E27FC236}">
                <a16:creationId xmlns:a16="http://schemas.microsoft.com/office/drawing/2014/main" id="{BE15A36C-9BD2-469A-9CCF-F214389CB345}"/>
              </a:ext>
            </a:extLst>
          </p:cNvPr>
          <p:cNvSpPr txBox="1">
            <a:spLocks/>
          </p:cNvSpPr>
          <p:nvPr/>
        </p:nvSpPr>
        <p:spPr>
          <a:xfrm>
            <a:off x="464457" y="812735"/>
            <a:ext cx="9501968"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Font typeface="Roboto"/>
              <a:buNone/>
            </a:pPr>
            <a:r>
              <a:rPr lang="es-MX" b="1" dirty="0">
                <a:solidFill>
                  <a:schemeClr val="tx1"/>
                </a:solidFill>
                <a:latin typeface="+mn-lt"/>
              </a:rPr>
              <a:t>Instanciación</a:t>
            </a:r>
            <a:r>
              <a:rPr lang="es-MX" b="1" dirty="0">
                <a:solidFill>
                  <a:schemeClr val="accent2"/>
                </a:solidFill>
                <a:latin typeface="+mn-lt"/>
              </a:rPr>
              <a:t> </a:t>
            </a:r>
            <a:r>
              <a:rPr lang="es-MX" b="1" dirty="0">
                <a:solidFill>
                  <a:schemeClr val="tx1"/>
                </a:solidFill>
                <a:latin typeface="+mn-lt"/>
              </a:rPr>
              <a:t>existencial</a:t>
            </a:r>
            <a:endParaRPr lang="es-MX" dirty="0">
              <a:solidFill>
                <a:schemeClr val="tx1"/>
              </a:solidFill>
              <a:latin typeface="+mn-lt"/>
            </a:endParaRPr>
          </a:p>
          <a:p>
            <a:pPr marL="0" indent="0">
              <a:buFont typeface="Roboto"/>
              <a:buNone/>
            </a:pPr>
            <a:endParaRPr lang="es-MX" sz="2400" dirty="0">
              <a:latin typeface="+mn-lt"/>
            </a:endParaRPr>
          </a:p>
          <a:p>
            <a:pPr indent="0">
              <a:buFont typeface="Roboto"/>
              <a:buNone/>
            </a:pPr>
            <a:endParaRPr lang="es-MX" sz="2400" dirty="0">
              <a:latin typeface="+mn-lt"/>
            </a:endParaRPr>
          </a:p>
        </p:txBody>
      </p:sp>
      <mc:AlternateContent xmlns:mc="http://schemas.openxmlformats.org/markup-compatibility/2006" xmlns:a14="http://schemas.microsoft.com/office/drawing/2010/main">
        <mc:Choice Requires="a14">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362858" y="1297034"/>
                <a:ext cx="11469138" cy="134465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r>
                  <a:rPr lang="es-MX" sz="2000" dirty="0">
                    <a:latin typeface="+mn-lt"/>
                    <a:ea typeface="Roboto" panose="02000000000000000000" pitchFamily="2" charset="0"/>
                  </a:rPr>
                  <a:t>Es la regla que permite tomar una afirmación del tipo </a:t>
                </a:r>
                <a14:m>
                  <m:oMath xmlns:m="http://schemas.openxmlformats.org/officeDocument/2006/math">
                    <m:r>
                      <a:rPr lang="es-MX" sz="2000" i="1" smtClean="0">
                        <a:latin typeface="Cambria Math" panose="02040503050406030204" pitchFamily="18" charset="0"/>
                        <a:ea typeface="Cambria Math" panose="02040503050406030204" pitchFamily="18" charset="0"/>
                      </a:rPr>
                      <m:t>∃</m:t>
                    </m:r>
                    <m:r>
                      <a:rPr lang="es-MX" sz="2000" i="1" smtClean="0">
                        <a:latin typeface="Cambria Math" panose="02040503050406030204" pitchFamily="18" charset="0"/>
                        <a:ea typeface="Cambria Math" panose="02040503050406030204" pitchFamily="18" charset="0"/>
                      </a:rPr>
                      <m:t>𝑥</m:t>
                    </m:r>
                    <m:r>
                      <a:rPr lang="es-MX" sz="2000" i="1" smtClean="0">
                        <a:latin typeface="Cambria Math" panose="02040503050406030204" pitchFamily="18" charset="0"/>
                        <a:ea typeface="Cambria Math" panose="02040503050406030204" pitchFamily="18" charset="0"/>
                      </a:rPr>
                      <m:t> </m:t>
                    </m:r>
                    <m:r>
                      <a:rPr lang="es-MX" sz="2000" i="1" smtClean="0">
                        <a:latin typeface="Cambria Math" panose="02040503050406030204" pitchFamily="18" charset="0"/>
                        <a:ea typeface="Cambria Math" panose="02040503050406030204" pitchFamily="18" charset="0"/>
                      </a:rPr>
                      <m:t>𝑃</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𝑥</m:t>
                        </m:r>
                      </m:e>
                    </m:d>
                  </m:oMath>
                </a14:m>
                <a:r>
                  <a:rPr lang="es-MX" sz="2000" i="1" dirty="0">
                    <a:latin typeface="+mn-lt"/>
                    <a:ea typeface="Cambria Math" panose="02040503050406030204" pitchFamily="18" charset="0"/>
                  </a:rPr>
                  <a:t> </a:t>
                </a:r>
                <a:r>
                  <a:rPr lang="es-MX" sz="2000" dirty="0">
                    <a:latin typeface="+mn-lt"/>
                    <a:ea typeface="Roboto" panose="02000000000000000000" pitchFamily="2" charset="0"/>
                  </a:rPr>
                  <a:t>y asumir que existe un individuo </a:t>
                </a:r>
                <a14:m>
                  <m:oMath xmlns:m="http://schemas.openxmlformats.org/officeDocument/2006/math">
                    <m:r>
                      <a:rPr lang="es-MX" sz="2000" b="0" i="1" smtClean="0">
                        <a:latin typeface="Cambria Math" panose="02040503050406030204" pitchFamily="18" charset="0"/>
                        <a:ea typeface="Cambria Math" panose="02040503050406030204" pitchFamily="18" charset="0"/>
                      </a:rPr>
                      <m:t>𝑐</m:t>
                    </m:r>
                  </m:oMath>
                </a14:m>
                <a:r>
                  <a:rPr lang="es-MX" sz="2000" dirty="0">
                    <a:latin typeface="+mn-lt"/>
                    <a:ea typeface="Roboto" panose="02000000000000000000" pitchFamily="2" charset="0"/>
                  </a:rPr>
                  <a:t> para el cual </a:t>
                </a:r>
                <a14:m>
                  <m:oMath xmlns:m="http://schemas.openxmlformats.org/officeDocument/2006/math">
                    <m:r>
                      <a:rPr lang="es-MX" sz="2000" b="0" i="1" smtClean="0">
                        <a:latin typeface="Cambria Math" panose="02040503050406030204" pitchFamily="18" charset="0"/>
                        <a:ea typeface="Cambria Math" panose="02040503050406030204" pitchFamily="18" charset="0"/>
                      </a:rPr>
                      <m:t>𝑃</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𝑐</m:t>
                        </m:r>
                      </m:e>
                    </m:d>
                  </m:oMath>
                </a14:m>
                <a:r>
                  <a:rPr lang="es-MX" sz="2000" dirty="0">
                    <a:latin typeface="+mn-lt"/>
                    <a:ea typeface="Roboto" panose="02000000000000000000" pitchFamily="2" charset="0"/>
                  </a:rPr>
                  <a:t> es verdadera</a:t>
                </a:r>
              </a:p>
              <a:p>
                <a:r>
                  <a:rPr lang="es-MX" sz="2000" b="1" dirty="0">
                    <a:latin typeface="+mn-lt"/>
                    <a:ea typeface="Roboto" panose="02000000000000000000" pitchFamily="2" charset="0"/>
                  </a:rPr>
                  <a:t>Forma general</a:t>
                </a:r>
              </a:p>
              <a:p>
                <a:pPr marL="584200" lvl="1" indent="0">
                  <a:buNone/>
                </a:pPr>
                <a:endParaRPr lang="es-MX" sz="1800" dirty="0">
                  <a:latin typeface="+mn-lt"/>
                  <a:ea typeface="Roboto" panose="02000000000000000000" pitchFamily="2" charset="0"/>
                </a:endParaRPr>
              </a:p>
            </p:txBody>
          </p:sp>
        </mc:Choice>
        <mc:Fallback xmlns="">
          <p:sp>
            <p:nvSpPr>
              <p:cNvPr id="7" name="Google Shape;310;p34">
                <a:extLst>
                  <a:ext uri="{FF2B5EF4-FFF2-40B4-BE49-F238E27FC236}">
                    <a16:creationId xmlns:a16="http://schemas.microsoft.com/office/drawing/2014/main" id="{C1EB8144-8BAC-4290-B469-B1AFD5BDF721}"/>
                  </a:ext>
                </a:extLst>
              </p:cNvPr>
              <p:cNvSpPr txBox="1">
                <a:spLocks noRot="1" noChangeAspect="1" noMove="1" noResize="1" noEditPoints="1" noAdjustHandles="1" noChangeArrowheads="1" noChangeShapeType="1" noTextEdit="1"/>
              </p:cNvSpPr>
              <p:nvPr/>
            </p:nvSpPr>
            <p:spPr>
              <a:xfrm>
                <a:off x="362858" y="1297034"/>
                <a:ext cx="11469138" cy="1344650"/>
              </a:xfrm>
              <a:prstGeom prst="rect">
                <a:avLst/>
              </a:prstGeom>
              <a:blipFill>
                <a:blip r:embed="rId3"/>
                <a:stretch>
                  <a:fillRect r="-372"/>
                </a:stretch>
              </a:blipFill>
              <a:ln>
                <a:noFill/>
              </a:ln>
            </p:spPr>
            <p:txBody>
              <a:bodyPr/>
              <a:lstStyle/>
              <a:p>
                <a:r>
                  <a:rPr lang="es-CO">
                    <a:noFill/>
                  </a:rPr>
                  <a:t> </a:t>
                </a:r>
              </a:p>
            </p:txBody>
          </p:sp>
        </mc:Fallback>
      </mc:AlternateContent>
      <mc:AlternateContent xmlns:mc="http://schemas.openxmlformats.org/markup-compatibility/2006">
        <mc:Choice xmlns:a14="http://schemas.microsoft.com/office/drawing/2010/main" Requires="a14">
          <p:sp>
            <p:nvSpPr>
              <p:cNvPr id="22" name="Google Shape;310;p34">
                <a:extLst>
                  <a:ext uri="{FF2B5EF4-FFF2-40B4-BE49-F238E27FC236}">
                    <a16:creationId xmlns:a16="http://schemas.microsoft.com/office/drawing/2014/main" id="{BB680A61-B649-4198-B83A-9A1A33B33DB3}"/>
                  </a:ext>
                </a:extLst>
              </p:cNvPr>
              <p:cNvSpPr txBox="1">
                <a:spLocks/>
              </p:cNvSpPr>
              <p:nvPr/>
            </p:nvSpPr>
            <p:spPr>
              <a:xfrm>
                <a:off x="362858" y="3436374"/>
                <a:ext cx="11088913" cy="117986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r>
                  <a:rPr lang="es-MX" sz="2000" b="1" dirty="0">
                    <a:latin typeface="+mn-lt"/>
                    <a:ea typeface="Roboto" panose="02000000000000000000" pitchFamily="2" charset="0"/>
                  </a:rPr>
                  <a:t>Ejemplo</a:t>
                </a:r>
                <a:r>
                  <a:rPr lang="es-MX" sz="2000" dirty="0">
                    <a:latin typeface="+mn-lt"/>
                    <a:ea typeface="Roboto" panose="02000000000000000000" pitchFamily="2" charset="0"/>
                  </a:rPr>
                  <a:t>: Hay alguien que saco un 5.0 en el curso. Si introducimos una constante nueva </a:t>
                </a:r>
                <a14:m>
                  <m:oMath xmlns:m="http://schemas.openxmlformats.org/officeDocument/2006/math">
                    <m:r>
                      <a:rPr lang="es-MX" sz="2000" b="0" i="1" smtClean="0">
                        <a:latin typeface="Cambria Math" panose="02040503050406030204" pitchFamily="18" charset="0"/>
                        <a:ea typeface="Roboto" panose="02000000000000000000" pitchFamily="2" charset="0"/>
                      </a:rPr>
                      <m:t>𝑎</m:t>
                    </m:r>
                  </m:oMath>
                </a14:m>
                <a:r>
                  <a:rPr lang="es-MX" sz="2000" dirty="0">
                    <a:latin typeface="+mn-lt"/>
                    <a:ea typeface="Roboto" panose="02000000000000000000" pitchFamily="2" charset="0"/>
                  </a:rPr>
                  <a:t> para referirnos específicamente a ese estudiante (cuya identidad real desconocemos), podemos decir que </a:t>
                </a:r>
                <a14:m>
                  <m:oMath xmlns:m="http://schemas.openxmlformats.org/officeDocument/2006/math">
                    <m:r>
                      <a:rPr lang="es-MX" sz="2000" i="1">
                        <a:latin typeface="Cambria Math" panose="02040503050406030204" pitchFamily="18" charset="0"/>
                        <a:ea typeface="Roboto" panose="02000000000000000000" pitchFamily="2" charset="0"/>
                      </a:rPr>
                      <m:t>𝑎</m:t>
                    </m:r>
                  </m:oMath>
                </a14:m>
                <a:r>
                  <a:rPr lang="es-MX" sz="2000" dirty="0">
                    <a:latin typeface="+mn-lt"/>
                    <a:ea typeface="Roboto" panose="02000000000000000000" pitchFamily="2" charset="0"/>
                  </a:rPr>
                  <a:t> saco un 5.0</a:t>
                </a:r>
              </a:p>
            </p:txBody>
          </p:sp>
        </mc:Choice>
        <mc:Fallback>
          <p:sp>
            <p:nvSpPr>
              <p:cNvPr id="22" name="Google Shape;310;p34">
                <a:extLst>
                  <a:ext uri="{FF2B5EF4-FFF2-40B4-BE49-F238E27FC236}">
                    <a16:creationId xmlns:a16="http://schemas.microsoft.com/office/drawing/2014/main" id="{BB680A61-B649-4198-B83A-9A1A33B33DB3}"/>
                  </a:ext>
                </a:extLst>
              </p:cNvPr>
              <p:cNvSpPr txBox="1">
                <a:spLocks noRot="1" noChangeAspect="1" noMove="1" noResize="1" noEditPoints="1" noAdjustHandles="1" noChangeArrowheads="1" noChangeShapeType="1" noTextEdit="1"/>
              </p:cNvSpPr>
              <p:nvPr/>
            </p:nvSpPr>
            <p:spPr>
              <a:xfrm>
                <a:off x="362858" y="3436374"/>
                <a:ext cx="11088913" cy="1179868"/>
              </a:xfrm>
              <a:prstGeom prst="rect">
                <a:avLst/>
              </a:prstGeom>
              <a:blipFill>
                <a:blip r:embed="rId4"/>
                <a:stretch>
                  <a:fillRect r="-495"/>
                </a:stretch>
              </a:blipFill>
              <a:ln>
                <a:noFill/>
              </a:ln>
            </p:spPr>
            <p:txBody>
              <a:bodyPr/>
              <a:lstStyle/>
              <a:p>
                <a:r>
                  <a:rPr lang="es-CO">
                    <a:noFill/>
                  </a:rPr>
                  <a:t> </a:t>
                </a:r>
              </a:p>
            </p:txBody>
          </p:sp>
        </mc:Fallback>
      </mc:AlternateContent>
      <mc:AlternateContent xmlns:mc="http://schemas.openxmlformats.org/markup-compatibility/2006">
        <mc:Choice xmlns:a14="http://schemas.microsoft.com/office/drawing/2010/main" Requires="a14">
          <p:graphicFrame>
            <p:nvGraphicFramePr>
              <p:cNvPr id="29" name="Tabla 2">
                <a:extLst>
                  <a:ext uri="{FF2B5EF4-FFF2-40B4-BE49-F238E27FC236}">
                    <a16:creationId xmlns:a16="http://schemas.microsoft.com/office/drawing/2014/main" id="{A24D11BF-089C-4010-88DE-693935762966}"/>
                  </a:ext>
                </a:extLst>
              </p:cNvPr>
              <p:cNvGraphicFramePr>
                <a:graphicFrameLocks noGrp="1"/>
              </p:cNvGraphicFramePr>
              <p:nvPr>
                <p:extLst>
                  <p:ext uri="{D42A27DB-BD31-4B8C-83A1-F6EECF244321}">
                    <p14:modId xmlns:p14="http://schemas.microsoft.com/office/powerpoint/2010/main" val="3881385002"/>
                  </p:ext>
                </p:extLst>
              </p:nvPr>
            </p:nvGraphicFramePr>
            <p:xfrm>
              <a:off x="2109020" y="4823300"/>
              <a:ext cx="4109296" cy="1463040"/>
            </p:xfrm>
            <a:graphic>
              <a:graphicData uri="http://schemas.openxmlformats.org/drawingml/2006/table">
                <a:tbl>
                  <a:tblPr firstRow="1" bandRow="1">
                    <a:tableStyleId>{AD6A3598-7CB8-4345-8D95-17CE05F158A0}</a:tableStyleId>
                  </a:tblPr>
                  <a:tblGrid>
                    <a:gridCol w="1297857">
                      <a:extLst>
                        <a:ext uri="{9D8B030D-6E8A-4147-A177-3AD203B41FA5}">
                          <a16:colId xmlns:a16="http://schemas.microsoft.com/office/drawing/2014/main" val="55665907"/>
                        </a:ext>
                      </a:extLst>
                    </a:gridCol>
                    <a:gridCol w="2811439">
                      <a:extLst>
                        <a:ext uri="{9D8B030D-6E8A-4147-A177-3AD203B41FA5}">
                          <a16:colId xmlns:a16="http://schemas.microsoft.com/office/drawing/2014/main" val="2393994677"/>
                        </a:ext>
                      </a:extLst>
                    </a:gridCol>
                  </a:tblGrid>
                  <a:tr h="240030">
                    <a:tc>
                      <a:txBody>
                        <a:bodyPr/>
                        <a:lstStyle/>
                        <a:p>
                          <a:r>
                            <a:rPr lang="es-CO" sz="1800" b="1" dirty="0">
                              <a:latin typeface="+mn-lt"/>
                              <a:ea typeface="Roboto" panose="02000000000000000000" pitchFamily="2" charset="0"/>
                            </a:rPr>
                            <a:t>Dominio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600" b="0" i="1" dirty="0" smtClean="0">
                                    <a:latin typeface="Cambria Math" panose="02040503050406030204" pitchFamily="18" charset="0"/>
                                    <a:ea typeface="Roboto" panose="02000000000000000000" pitchFamily="2" charset="0"/>
                                  </a:rPr>
                                  <m:t>𝑈</m:t>
                                </m:r>
                                <m:r>
                                  <a:rPr lang="es-MX" sz="1600" b="0" i="1" dirty="0" smtClean="0">
                                    <a:latin typeface="Cambria Math" panose="02040503050406030204" pitchFamily="18" charset="0"/>
                                    <a:ea typeface="Roboto" panose="02000000000000000000" pitchFamily="2" charset="0"/>
                                  </a:rPr>
                                  <m:t>={</m:t>
                                </m:r>
                                <m:r>
                                  <a:rPr lang="es-MX" sz="1600" b="0" i="1" dirty="0" smtClean="0">
                                    <a:latin typeface="Cambria Math" panose="02040503050406030204" pitchFamily="18" charset="0"/>
                                    <a:ea typeface="Roboto" panose="02000000000000000000" pitchFamily="2" charset="0"/>
                                  </a:rPr>
                                  <m:t>𝑇𝑜𝑑𝑜𝑠</m:t>
                                </m:r>
                                <m:r>
                                  <a:rPr lang="es-MX" sz="1600" b="0" i="1" dirty="0" smtClean="0">
                                    <a:latin typeface="Cambria Math" panose="02040503050406030204" pitchFamily="18" charset="0"/>
                                    <a:ea typeface="Roboto" panose="02000000000000000000" pitchFamily="2" charset="0"/>
                                  </a:rPr>
                                  <m:t> </m:t>
                                </m:r>
                                <m:r>
                                  <a:rPr lang="es-MX" sz="1600" b="0" i="1" dirty="0" smtClean="0">
                                    <a:latin typeface="Cambria Math" panose="02040503050406030204" pitchFamily="18" charset="0"/>
                                    <a:ea typeface="Roboto" panose="02000000000000000000" pitchFamily="2" charset="0"/>
                                  </a:rPr>
                                  <m:t>𝑙𝑜𝑠</m:t>
                                </m:r>
                                <m:r>
                                  <a:rPr lang="es-MX" sz="1600" b="0" i="1" dirty="0" smtClean="0">
                                    <a:latin typeface="Cambria Math" panose="02040503050406030204" pitchFamily="18" charset="0"/>
                                    <a:ea typeface="Roboto" panose="02000000000000000000" pitchFamily="2" charset="0"/>
                                  </a:rPr>
                                  <m:t> </m:t>
                                </m:r>
                                <m:r>
                                  <a:rPr lang="es-MX" sz="1600" b="0" i="1" dirty="0" smtClean="0">
                                    <a:latin typeface="Cambria Math" panose="02040503050406030204" pitchFamily="18" charset="0"/>
                                    <a:ea typeface="Roboto" panose="02000000000000000000" pitchFamily="2" charset="0"/>
                                  </a:rPr>
                                  <m:t>𝑒𝑠𝑡𝑢𝑑𝑖𝑎𝑛𝑡𝑒𝑠</m:t>
                                </m:r>
                                <m:r>
                                  <a:rPr lang="es-MX" sz="1600" b="0" i="1" dirty="0" smtClean="0">
                                    <a:latin typeface="Cambria Math" panose="02040503050406030204" pitchFamily="18" charset="0"/>
                                    <a:ea typeface="Roboto" panose="02000000000000000000" pitchFamily="2" charset="0"/>
                                  </a:rPr>
                                  <m:t>}</m:t>
                                </m:r>
                              </m:oMath>
                            </m:oMathPara>
                          </a14:m>
                          <a:endParaRPr lang="es-CO" sz="1600" b="0" i="0" dirty="0">
                            <a:latin typeface="Roboto" panose="02000000000000000000" pitchFamily="2"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54054099"/>
                      </a:ext>
                    </a:extLst>
                  </a:tr>
                  <a:tr h="240030">
                    <a:tc>
                      <a:txBody>
                        <a:bodyPr/>
                        <a:lstStyle/>
                        <a:p>
                          <a:r>
                            <a:rPr lang="es-CO" sz="1800" b="1" dirty="0">
                              <a:latin typeface="+mn-lt"/>
                              <a:ea typeface="Roboto" panose="02000000000000000000" pitchFamily="2" charset="0"/>
                            </a:rPr>
                            <a:t>Variables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rPr>
                                  <m:t>𝑥</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𝑈</m:t>
                                </m:r>
                              </m:oMath>
                            </m:oMathPara>
                          </a14:m>
                          <a:endParaRPr lang="es-CO" sz="1600" dirty="0">
                            <a:latin typeface="Roboto" panose="02000000000000000000" pitchFamily="2"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0970474"/>
                      </a:ext>
                    </a:extLst>
                  </a:tr>
                  <a:tr h="0">
                    <a:tc>
                      <a:txBody>
                        <a:bodyPr/>
                        <a:lstStyle/>
                        <a:p>
                          <a:r>
                            <a:rPr lang="es-CO" sz="1800" b="1" dirty="0">
                              <a:latin typeface="+mn-lt"/>
                              <a:ea typeface="Roboto" panose="02000000000000000000" pitchFamily="2" charset="0"/>
                            </a:rPr>
                            <a:t>Constantes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indent="0">
                            <a:buFont typeface="Arial" panose="020B0604020202020204" pitchFamily="34" charset="0"/>
                            <a:buNone/>
                          </a:pPr>
                          <a:r>
                            <a:rPr lang="es-MX" sz="1600" b="0" i="1" dirty="0">
                              <a:latin typeface="Roboto" panose="02000000000000000000" pitchFamily="2" charset="0"/>
                              <a:ea typeface="Roboto" panose="02000000000000000000" pitchFamily="2"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736836"/>
                      </a:ext>
                    </a:extLst>
                  </a:tr>
                  <a:tr h="240030">
                    <a:tc>
                      <a:txBody>
                        <a:bodyPr/>
                        <a:lstStyle/>
                        <a:p>
                          <a:r>
                            <a:rPr lang="es-CO" sz="1800" b="1" dirty="0">
                              <a:latin typeface="+mn-lt"/>
                              <a:ea typeface="Roboto" panose="02000000000000000000" pitchFamily="2" charset="0"/>
                            </a:rPr>
                            <a:t>Predicados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14:m>
                            <m:oMath xmlns:m="http://schemas.openxmlformats.org/officeDocument/2006/math">
                              <m:r>
                                <a:rPr lang="es-MX" sz="1600" b="0" i="1" smtClean="0">
                                  <a:latin typeface="Cambria Math" panose="02040503050406030204" pitchFamily="18" charset="0"/>
                                  <a:ea typeface="Cambria Math" panose="02040503050406030204" pitchFamily="18" charset="0"/>
                                </a:rPr>
                                <m:t>𝑁</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𝑥</m:t>
                                  </m:r>
                                </m:e>
                              </m:d>
                            </m:oMath>
                          </a14:m>
                          <a:r>
                            <a:rPr lang="es-MX" sz="1600" b="0" i="0" dirty="0">
                              <a:latin typeface="Roboto" panose="02000000000000000000" pitchFamily="2" charset="0"/>
                              <a:ea typeface="Roboto" panose="02000000000000000000" pitchFamily="2" charset="0"/>
                            </a:rPr>
                            <a:t>: </a:t>
                          </a:r>
                          <a14:m>
                            <m:oMath xmlns:m="http://schemas.openxmlformats.org/officeDocument/2006/math">
                              <m:r>
                                <a:rPr lang="es-MX" sz="1600" b="0" i="1" smtClean="0">
                                  <a:latin typeface="Cambria Math" panose="02040503050406030204" pitchFamily="18" charset="0"/>
                                  <a:ea typeface="Cambria Math" panose="02040503050406030204" pitchFamily="18" charset="0"/>
                                </a:rPr>
                                <m:t>𝑥</m:t>
                              </m:r>
                            </m:oMath>
                          </a14:m>
                          <a:r>
                            <a:rPr lang="es-CO" sz="1600" dirty="0">
                              <a:latin typeface="Roboto" panose="02000000000000000000" pitchFamily="2" charset="0"/>
                              <a:ea typeface="Roboto" panose="02000000000000000000" pitchFamily="2" charset="0"/>
                            </a:rPr>
                            <a:t> saco</a:t>
                          </a:r>
                          <a:r>
                            <a:rPr lang="es-CO" sz="1600" baseline="0" dirty="0">
                              <a:latin typeface="Roboto" panose="02000000000000000000" pitchFamily="2" charset="0"/>
                              <a:ea typeface="Roboto" panose="02000000000000000000" pitchFamily="2" charset="0"/>
                            </a:rPr>
                            <a:t> un 5.0</a:t>
                          </a:r>
                          <a:endParaRPr lang="es-CO" sz="1600" dirty="0">
                            <a:latin typeface="Roboto" panose="02000000000000000000" pitchFamily="2"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2933263"/>
                      </a:ext>
                    </a:extLst>
                  </a:tr>
                </a:tbl>
              </a:graphicData>
            </a:graphic>
          </p:graphicFrame>
        </mc:Choice>
        <mc:Fallback>
          <p:graphicFrame>
            <p:nvGraphicFramePr>
              <p:cNvPr id="29" name="Tabla 2">
                <a:extLst>
                  <a:ext uri="{FF2B5EF4-FFF2-40B4-BE49-F238E27FC236}">
                    <a16:creationId xmlns:a16="http://schemas.microsoft.com/office/drawing/2014/main" id="{A24D11BF-089C-4010-88DE-693935762966}"/>
                  </a:ext>
                </a:extLst>
              </p:cNvPr>
              <p:cNvGraphicFramePr>
                <a:graphicFrameLocks noGrp="1"/>
              </p:cNvGraphicFramePr>
              <p:nvPr>
                <p:extLst>
                  <p:ext uri="{D42A27DB-BD31-4B8C-83A1-F6EECF244321}">
                    <p14:modId xmlns:p14="http://schemas.microsoft.com/office/powerpoint/2010/main" val="3881385002"/>
                  </p:ext>
                </p:extLst>
              </p:nvPr>
            </p:nvGraphicFramePr>
            <p:xfrm>
              <a:off x="2109020" y="4823300"/>
              <a:ext cx="4109296" cy="1463040"/>
            </p:xfrm>
            <a:graphic>
              <a:graphicData uri="http://schemas.openxmlformats.org/drawingml/2006/table">
                <a:tbl>
                  <a:tblPr firstRow="1" bandRow="1">
                    <a:tableStyleId>{AD6A3598-7CB8-4345-8D95-17CE05F158A0}</a:tableStyleId>
                  </a:tblPr>
                  <a:tblGrid>
                    <a:gridCol w="1297857">
                      <a:extLst>
                        <a:ext uri="{9D8B030D-6E8A-4147-A177-3AD203B41FA5}">
                          <a16:colId xmlns:a16="http://schemas.microsoft.com/office/drawing/2014/main" val="55665907"/>
                        </a:ext>
                      </a:extLst>
                    </a:gridCol>
                    <a:gridCol w="2811439">
                      <a:extLst>
                        <a:ext uri="{9D8B030D-6E8A-4147-A177-3AD203B41FA5}">
                          <a16:colId xmlns:a16="http://schemas.microsoft.com/office/drawing/2014/main" val="2393994677"/>
                        </a:ext>
                      </a:extLst>
                    </a:gridCol>
                  </a:tblGrid>
                  <a:tr h="365760">
                    <a:tc>
                      <a:txBody>
                        <a:bodyPr/>
                        <a:lstStyle/>
                        <a:p>
                          <a:r>
                            <a:rPr lang="es-CO" sz="1800" b="1" dirty="0">
                              <a:latin typeface="+mn-lt"/>
                              <a:ea typeface="Roboto" panose="02000000000000000000" pitchFamily="2" charset="0"/>
                            </a:rPr>
                            <a:t>Dominio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6537" t="-8333" r="-433" b="-326667"/>
                          </a:stretch>
                        </a:blipFill>
                      </a:tcPr>
                    </a:tc>
                    <a:extLst>
                      <a:ext uri="{0D108BD9-81ED-4DB2-BD59-A6C34878D82A}">
                        <a16:rowId xmlns:a16="http://schemas.microsoft.com/office/drawing/2014/main" val="2554054099"/>
                      </a:ext>
                    </a:extLst>
                  </a:tr>
                  <a:tr h="365760">
                    <a:tc>
                      <a:txBody>
                        <a:bodyPr/>
                        <a:lstStyle/>
                        <a:p>
                          <a:r>
                            <a:rPr lang="es-CO" sz="1800" b="1" dirty="0">
                              <a:latin typeface="+mn-lt"/>
                              <a:ea typeface="Roboto" panose="02000000000000000000" pitchFamily="2" charset="0"/>
                            </a:rPr>
                            <a:t>Variables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6537" t="-106557" r="-433" b="-221311"/>
                          </a:stretch>
                        </a:blipFill>
                      </a:tcPr>
                    </a:tc>
                    <a:extLst>
                      <a:ext uri="{0D108BD9-81ED-4DB2-BD59-A6C34878D82A}">
                        <a16:rowId xmlns:a16="http://schemas.microsoft.com/office/drawing/2014/main" val="1590970474"/>
                      </a:ext>
                    </a:extLst>
                  </a:tr>
                  <a:tr h="365760">
                    <a:tc>
                      <a:txBody>
                        <a:bodyPr/>
                        <a:lstStyle/>
                        <a:p>
                          <a:r>
                            <a:rPr lang="es-CO" sz="1800" b="1" dirty="0">
                              <a:latin typeface="+mn-lt"/>
                              <a:ea typeface="Roboto" panose="02000000000000000000" pitchFamily="2" charset="0"/>
                            </a:rPr>
                            <a:t>Constantes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indent="0">
                            <a:buFont typeface="Arial" panose="020B0604020202020204" pitchFamily="34" charset="0"/>
                            <a:buNone/>
                          </a:pPr>
                          <a:r>
                            <a:rPr lang="es-MX" sz="1600" b="0" i="1" dirty="0">
                              <a:latin typeface="Roboto" panose="02000000000000000000" pitchFamily="2" charset="0"/>
                              <a:ea typeface="Roboto" panose="02000000000000000000" pitchFamily="2"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736836"/>
                      </a:ext>
                    </a:extLst>
                  </a:tr>
                  <a:tr h="365760">
                    <a:tc>
                      <a:txBody>
                        <a:bodyPr/>
                        <a:lstStyle/>
                        <a:p>
                          <a:r>
                            <a:rPr lang="es-CO" sz="1800" b="1" dirty="0">
                              <a:latin typeface="+mn-lt"/>
                              <a:ea typeface="Roboto" panose="02000000000000000000" pitchFamily="2" charset="0"/>
                            </a:rPr>
                            <a:t>Predicados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46537" t="-310000" r="-433" b="-25000"/>
                          </a:stretch>
                        </a:blipFill>
                      </a:tcPr>
                    </a:tc>
                    <a:extLst>
                      <a:ext uri="{0D108BD9-81ED-4DB2-BD59-A6C34878D82A}">
                        <a16:rowId xmlns:a16="http://schemas.microsoft.com/office/drawing/2014/main" val="1362933263"/>
                      </a:ext>
                    </a:extLst>
                  </a:tr>
                </a:tbl>
              </a:graphicData>
            </a:graphic>
          </p:graphicFrame>
        </mc:Fallback>
      </mc:AlternateContent>
      <p:grpSp>
        <p:nvGrpSpPr>
          <p:cNvPr id="30" name="Grupo 29">
            <a:extLst>
              <a:ext uri="{FF2B5EF4-FFF2-40B4-BE49-F238E27FC236}">
                <a16:creationId xmlns:a16="http://schemas.microsoft.com/office/drawing/2014/main" id="{4CE22D98-F5AC-404C-BF2F-7E7D4C295B47}"/>
              </a:ext>
            </a:extLst>
          </p:cNvPr>
          <p:cNvGrpSpPr/>
          <p:nvPr/>
        </p:nvGrpSpPr>
        <p:grpSpPr>
          <a:xfrm>
            <a:off x="8038173" y="5245121"/>
            <a:ext cx="1723943" cy="707886"/>
            <a:chOff x="4487791" y="3598887"/>
            <a:chExt cx="1051949" cy="707886"/>
          </a:xfrm>
        </p:grpSpPr>
        <mc:AlternateContent xmlns:mc="http://schemas.openxmlformats.org/markup-compatibility/2006">
          <mc:Choice xmlns:a14="http://schemas.microsoft.com/office/drawing/2010/main" Requires="a14">
            <p:sp>
              <p:nvSpPr>
                <p:cNvPr id="31" name="CuadroTexto 30">
                  <a:extLst>
                    <a:ext uri="{FF2B5EF4-FFF2-40B4-BE49-F238E27FC236}">
                      <a16:creationId xmlns:a16="http://schemas.microsoft.com/office/drawing/2014/main" id="{C20C1A7D-42B3-44C8-AAD8-D1A0E26FFB67}"/>
                    </a:ext>
                  </a:extLst>
                </p:cNvPr>
                <p:cNvSpPr txBox="1"/>
                <p:nvPr/>
              </p:nvSpPr>
              <p:spPr>
                <a:xfrm>
                  <a:off x="4487791" y="3598887"/>
                  <a:ext cx="1051949" cy="70788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𝑥</m:t>
                        </m:r>
                        <m:r>
                          <a:rPr lang="es-MX" sz="2000" b="0" i="1" smtClean="0">
                            <a:latin typeface="Cambria Math" panose="02040503050406030204" pitchFamily="18" charset="0"/>
                            <a:ea typeface="Cambria Math" panose="02040503050406030204" pitchFamily="18" charset="0"/>
                          </a:rPr>
                          <m:t> </m:t>
                        </m:r>
                        <m:r>
                          <a:rPr lang="es-MX" sz="2000" b="0" i="1" smtClean="0">
                            <a:latin typeface="Cambria Math" panose="02040503050406030204" pitchFamily="18" charset="0"/>
                            <a:ea typeface="Cambria Math" panose="02040503050406030204" pitchFamily="18" charset="0"/>
                          </a:rPr>
                          <m:t>𝑁</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𝑥</m:t>
                            </m:r>
                          </m:e>
                        </m:d>
                      </m:oMath>
                    </m:oMathPara>
                  </a14:m>
                  <a:endParaRPr lang="es-MX" sz="2000"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𝑁</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𝑎</m:t>
                            </m:r>
                          </m:e>
                        </m:d>
                      </m:oMath>
                    </m:oMathPara>
                  </a14:m>
                  <a:endParaRPr lang="es-MX" sz="2000" b="0" dirty="0">
                    <a:latin typeface="Roboto" panose="02000000000000000000" pitchFamily="2" charset="0"/>
                    <a:ea typeface="Cambria Math" panose="02040503050406030204" pitchFamily="18" charset="0"/>
                  </a:endParaRPr>
                </a:p>
              </p:txBody>
            </p:sp>
          </mc:Choice>
          <mc:Fallback>
            <p:sp>
              <p:nvSpPr>
                <p:cNvPr id="31" name="CuadroTexto 30">
                  <a:extLst>
                    <a:ext uri="{FF2B5EF4-FFF2-40B4-BE49-F238E27FC236}">
                      <a16:creationId xmlns:a16="http://schemas.microsoft.com/office/drawing/2014/main" id="{C20C1A7D-42B3-44C8-AAD8-D1A0E26FFB67}"/>
                    </a:ext>
                  </a:extLst>
                </p:cNvPr>
                <p:cNvSpPr txBox="1">
                  <a:spLocks noRot="1" noChangeAspect="1" noMove="1" noResize="1" noEditPoints="1" noAdjustHandles="1" noChangeArrowheads="1" noChangeShapeType="1" noTextEdit="1"/>
                </p:cNvSpPr>
                <p:nvPr/>
              </p:nvSpPr>
              <p:spPr>
                <a:xfrm>
                  <a:off x="4487791" y="3598887"/>
                  <a:ext cx="1051949" cy="707886"/>
                </a:xfrm>
                <a:prstGeom prst="rect">
                  <a:avLst/>
                </a:prstGeom>
                <a:blipFill>
                  <a:blip r:embed="rId6"/>
                  <a:stretch>
                    <a:fillRect/>
                  </a:stretch>
                </a:blipFill>
              </p:spPr>
              <p:txBody>
                <a:bodyPr/>
                <a:lstStyle/>
                <a:p>
                  <a:r>
                    <a:rPr lang="es-CO">
                      <a:noFill/>
                    </a:rPr>
                    <a:t> </a:t>
                  </a:r>
                </a:p>
              </p:txBody>
            </p:sp>
          </mc:Fallback>
        </mc:AlternateContent>
        <p:cxnSp>
          <p:nvCxnSpPr>
            <p:cNvPr id="32" name="Conector recto 31">
              <a:extLst>
                <a:ext uri="{FF2B5EF4-FFF2-40B4-BE49-F238E27FC236}">
                  <a16:creationId xmlns:a16="http://schemas.microsoft.com/office/drawing/2014/main" id="{619940D5-E520-4668-8354-9C201AEC3375}"/>
                </a:ext>
              </a:extLst>
            </p:cNvPr>
            <p:cNvCxnSpPr>
              <a:cxnSpLocks/>
            </p:cNvCxnSpPr>
            <p:nvPr/>
          </p:nvCxnSpPr>
          <p:spPr>
            <a:xfrm>
              <a:off x="4487791" y="3972948"/>
              <a:ext cx="10519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9" name="Grupo 18">
            <a:extLst>
              <a:ext uri="{FF2B5EF4-FFF2-40B4-BE49-F238E27FC236}">
                <a16:creationId xmlns:a16="http://schemas.microsoft.com/office/drawing/2014/main" id="{2D88D3F1-A915-447C-9F9B-9B40D0727CBB}"/>
              </a:ext>
            </a:extLst>
          </p:cNvPr>
          <p:cNvGrpSpPr/>
          <p:nvPr/>
        </p:nvGrpSpPr>
        <p:grpSpPr>
          <a:xfrm>
            <a:off x="4634527" y="2655794"/>
            <a:ext cx="3167575" cy="707886"/>
            <a:chOff x="4487791" y="3598887"/>
            <a:chExt cx="1051949" cy="707886"/>
          </a:xfrm>
        </p:grpSpPr>
        <mc:AlternateContent xmlns:mc="http://schemas.openxmlformats.org/markup-compatibility/2006">
          <mc:Choice xmlns:a14="http://schemas.microsoft.com/office/drawing/2010/main" Requires="a14">
            <p:sp>
              <p:nvSpPr>
                <p:cNvPr id="20" name="CuadroTexto 19">
                  <a:extLst>
                    <a:ext uri="{FF2B5EF4-FFF2-40B4-BE49-F238E27FC236}">
                      <a16:creationId xmlns:a16="http://schemas.microsoft.com/office/drawing/2014/main" id="{C38CB799-0F92-4558-A0C2-59A5995ECAA3}"/>
                    </a:ext>
                  </a:extLst>
                </p:cNvPr>
                <p:cNvSpPr txBox="1"/>
                <p:nvPr/>
              </p:nvSpPr>
              <p:spPr>
                <a:xfrm>
                  <a:off x="4487791" y="3598887"/>
                  <a:ext cx="1051949" cy="70788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s-MX" sz="2000" i="1" smtClean="0">
                            <a:latin typeface="Cambria Math" panose="02040503050406030204" pitchFamily="18" charset="0"/>
                            <a:ea typeface="Cambria Math" panose="02040503050406030204" pitchFamily="18" charset="0"/>
                          </a:rPr>
                          <m:t>∃</m:t>
                        </m:r>
                        <m:r>
                          <a:rPr lang="es-MX" sz="2000" i="1" smtClean="0">
                            <a:latin typeface="Cambria Math" panose="02040503050406030204" pitchFamily="18" charset="0"/>
                            <a:ea typeface="Cambria Math" panose="02040503050406030204" pitchFamily="18" charset="0"/>
                          </a:rPr>
                          <m:t>𝑥</m:t>
                        </m:r>
                        <m:r>
                          <a:rPr lang="es-MX" sz="2000" i="1" smtClean="0">
                            <a:latin typeface="Cambria Math" panose="02040503050406030204" pitchFamily="18" charset="0"/>
                            <a:ea typeface="Cambria Math" panose="02040503050406030204" pitchFamily="18" charset="0"/>
                          </a:rPr>
                          <m:t> </m:t>
                        </m:r>
                        <m:r>
                          <a:rPr lang="es-MX" sz="2000" i="1" smtClean="0">
                            <a:latin typeface="Cambria Math" panose="02040503050406030204" pitchFamily="18" charset="0"/>
                            <a:ea typeface="Cambria Math" panose="02040503050406030204" pitchFamily="18" charset="0"/>
                          </a:rPr>
                          <m:t>𝑃</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𝑥</m:t>
                            </m:r>
                          </m:e>
                        </m:d>
                      </m:oMath>
                    </m:oMathPara>
                  </a14:m>
                  <a:endParaRPr lang="es-MX" sz="200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s-MX" sz="2000" b="0" i="1" smtClean="0">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𝑃</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𝑐</m:t>
                            </m:r>
                          </m:e>
                        </m:d>
                        <m:r>
                          <a:rPr lang="es-MX" sz="2000" i="1">
                            <a:latin typeface="Cambria Math" panose="02040503050406030204" pitchFamily="18" charset="0"/>
                            <a:ea typeface="Cambria Math" panose="02040503050406030204" pitchFamily="18" charset="0"/>
                          </a:rPr>
                          <m:t> </m:t>
                        </m:r>
                        <m:r>
                          <m:rPr>
                            <m:sty m:val="p"/>
                          </m:rPr>
                          <a:rPr lang="es-MX" sz="2000">
                            <a:latin typeface="Cambria Math" panose="02040503050406030204" pitchFamily="18" charset="0"/>
                            <a:ea typeface="Cambria Math" panose="02040503050406030204" pitchFamily="18" charset="0"/>
                          </a:rPr>
                          <m:t>para</m:t>
                        </m:r>
                        <m:r>
                          <a:rPr lang="es-MX" sz="2000">
                            <a:latin typeface="Cambria Math" panose="02040503050406030204" pitchFamily="18" charset="0"/>
                            <a:ea typeface="Cambria Math" panose="02040503050406030204" pitchFamily="18" charset="0"/>
                          </a:rPr>
                          <m:t> </m:t>
                        </m:r>
                        <m:r>
                          <m:rPr>
                            <m:sty m:val="p"/>
                          </m:rPr>
                          <a:rPr lang="es-MX" sz="2000">
                            <a:latin typeface="Cambria Math" panose="02040503050406030204" pitchFamily="18" charset="0"/>
                            <a:ea typeface="Cambria Math" panose="02040503050406030204" pitchFamily="18" charset="0"/>
                          </a:rPr>
                          <m:t>un</m:t>
                        </m:r>
                        <m:r>
                          <a:rPr lang="es-MX" sz="2000">
                            <a:latin typeface="Cambria Math" panose="02040503050406030204" pitchFamily="18" charset="0"/>
                            <a:ea typeface="Cambria Math" panose="02040503050406030204" pitchFamily="18" charset="0"/>
                          </a:rPr>
                          <m:t> </m:t>
                        </m:r>
                        <m:r>
                          <a:rPr lang="es-MX" sz="2000" i="1">
                            <a:latin typeface="Cambria Math" panose="02040503050406030204" pitchFamily="18" charset="0"/>
                            <a:ea typeface="Cambria Math" panose="02040503050406030204" pitchFamily="18" charset="0"/>
                          </a:rPr>
                          <m:t>𝑐</m:t>
                        </m:r>
                        <m:r>
                          <a:rPr lang="es-MX" sz="2000" i="1">
                            <a:latin typeface="Cambria Math" panose="02040503050406030204" pitchFamily="18" charset="0"/>
                            <a:ea typeface="Cambria Math" panose="02040503050406030204" pitchFamily="18" charset="0"/>
                          </a:rPr>
                          <m:t> </m:t>
                        </m:r>
                        <m:r>
                          <m:rPr>
                            <m:sty m:val="p"/>
                          </m:rPr>
                          <a:rPr lang="es-MX" sz="2000" b="0" i="0" smtClean="0">
                            <a:latin typeface="Cambria Math" panose="02040503050406030204" pitchFamily="18" charset="0"/>
                            <a:ea typeface="Cambria Math" panose="02040503050406030204" pitchFamily="18" charset="0"/>
                          </a:rPr>
                          <m:t>nuevo</m:t>
                        </m:r>
                      </m:oMath>
                    </m:oMathPara>
                  </a14:m>
                  <a:endParaRPr lang="es-MX" sz="2000" i="1" dirty="0">
                    <a:latin typeface="Cambria Math" panose="02040503050406030204" pitchFamily="18" charset="0"/>
                    <a:ea typeface="Cambria Math" panose="02040503050406030204" pitchFamily="18" charset="0"/>
                  </a:endParaRPr>
                </a:p>
              </p:txBody>
            </p:sp>
          </mc:Choice>
          <mc:Fallback>
            <p:sp>
              <p:nvSpPr>
                <p:cNvPr id="20" name="CuadroTexto 19">
                  <a:extLst>
                    <a:ext uri="{FF2B5EF4-FFF2-40B4-BE49-F238E27FC236}">
                      <a16:creationId xmlns:a16="http://schemas.microsoft.com/office/drawing/2014/main" id="{C38CB799-0F92-4558-A0C2-59A5995ECAA3}"/>
                    </a:ext>
                  </a:extLst>
                </p:cNvPr>
                <p:cNvSpPr txBox="1">
                  <a:spLocks noRot="1" noChangeAspect="1" noMove="1" noResize="1" noEditPoints="1" noAdjustHandles="1" noChangeArrowheads="1" noChangeShapeType="1" noTextEdit="1"/>
                </p:cNvSpPr>
                <p:nvPr/>
              </p:nvSpPr>
              <p:spPr>
                <a:xfrm>
                  <a:off x="4487791" y="3598887"/>
                  <a:ext cx="1051949" cy="707886"/>
                </a:xfrm>
                <a:prstGeom prst="rect">
                  <a:avLst/>
                </a:prstGeom>
                <a:blipFill>
                  <a:blip r:embed="rId7"/>
                  <a:stretch>
                    <a:fillRect b="-5172"/>
                  </a:stretch>
                </a:blipFill>
              </p:spPr>
              <p:txBody>
                <a:bodyPr/>
                <a:lstStyle/>
                <a:p>
                  <a:r>
                    <a:rPr lang="es-CO">
                      <a:noFill/>
                    </a:rPr>
                    <a:t> </a:t>
                  </a:r>
                </a:p>
              </p:txBody>
            </p:sp>
          </mc:Fallback>
        </mc:AlternateContent>
        <p:cxnSp>
          <p:nvCxnSpPr>
            <p:cNvPr id="21" name="Conector recto 20">
              <a:extLst>
                <a:ext uri="{FF2B5EF4-FFF2-40B4-BE49-F238E27FC236}">
                  <a16:creationId xmlns:a16="http://schemas.microsoft.com/office/drawing/2014/main" id="{927AC83E-5CA1-4DA0-86A2-C50586945A18}"/>
                </a:ext>
              </a:extLst>
            </p:cNvPr>
            <p:cNvCxnSpPr>
              <a:cxnSpLocks/>
            </p:cNvCxnSpPr>
            <p:nvPr/>
          </p:nvCxnSpPr>
          <p:spPr>
            <a:xfrm>
              <a:off x="4487791" y="3957732"/>
              <a:ext cx="10519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525369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362857" y="96038"/>
            <a:ext cx="10247086"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Reglas de inferencia con cuantificadores</a:t>
            </a:r>
            <a:endParaRPr dirty="0">
              <a:solidFill>
                <a:schemeClr val="tx1"/>
              </a:solidFill>
              <a:latin typeface="+mj-lt"/>
            </a:endParaRPr>
          </a:p>
        </p:txBody>
      </p:sp>
      <p:sp>
        <p:nvSpPr>
          <p:cNvPr id="4" name="Google Shape;310;p34">
            <a:extLst>
              <a:ext uri="{FF2B5EF4-FFF2-40B4-BE49-F238E27FC236}">
                <a16:creationId xmlns:a16="http://schemas.microsoft.com/office/drawing/2014/main" id="{BE15A36C-9BD2-469A-9CCF-F214389CB345}"/>
              </a:ext>
            </a:extLst>
          </p:cNvPr>
          <p:cNvSpPr txBox="1">
            <a:spLocks/>
          </p:cNvSpPr>
          <p:nvPr/>
        </p:nvSpPr>
        <p:spPr>
          <a:xfrm>
            <a:off x="360005" y="766092"/>
            <a:ext cx="10058613"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Font typeface="Roboto"/>
              <a:buNone/>
            </a:pPr>
            <a:r>
              <a:rPr lang="es-MX" b="1" dirty="0">
                <a:solidFill>
                  <a:schemeClr val="tx1"/>
                </a:solidFill>
                <a:latin typeface="+mn-lt"/>
              </a:rPr>
              <a:t>Generalización existencial</a:t>
            </a:r>
            <a:endParaRPr lang="es-MX" dirty="0">
              <a:solidFill>
                <a:schemeClr val="tx1"/>
              </a:solidFill>
              <a:latin typeface="+mn-lt"/>
            </a:endParaRPr>
          </a:p>
          <a:p>
            <a:pPr marL="0" indent="0">
              <a:buFont typeface="Roboto"/>
              <a:buNone/>
            </a:pPr>
            <a:endParaRPr lang="es-MX" sz="2400" dirty="0">
              <a:solidFill>
                <a:schemeClr val="tx1"/>
              </a:solidFill>
              <a:latin typeface="+mn-lt"/>
            </a:endParaRPr>
          </a:p>
          <a:p>
            <a:pPr indent="0">
              <a:buFont typeface="Roboto"/>
              <a:buNone/>
            </a:pPr>
            <a:endParaRPr lang="es-MX" sz="2400" dirty="0">
              <a:solidFill>
                <a:schemeClr val="tx1"/>
              </a:solidFill>
              <a:latin typeface="+mn-lt"/>
            </a:endParaRPr>
          </a:p>
        </p:txBody>
      </p:sp>
      <mc:AlternateContent xmlns:mc="http://schemas.openxmlformats.org/markup-compatibility/2006">
        <mc:Choice xmlns:a14="http://schemas.microsoft.com/office/drawing/2010/main" Requires="a14">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294968" y="1297034"/>
                <a:ext cx="11537028" cy="134465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r>
                  <a:rPr lang="es-MX" sz="2000" dirty="0">
                    <a:latin typeface="+mn-lt"/>
                  </a:rPr>
                  <a:t>Es la regla que permite pasar de una afirmación particular como </a:t>
                </a:r>
                <a14:m>
                  <m:oMath xmlns:m="http://schemas.openxmlformats.org/officeDocument/2006/math">
                    <m:r>
                      <a:rPr lang="es-MX" sz="2000" i="1">
                        <a:latin typeface="Cambria Math" panose="02040503050406030204" pitchFamily="18" charset="0"/>
                        <a:ea typeface="Cambria Math" panose="02040503050406030204" pitchFamily="18" charset="0"/>
                      </a:rPr>
                      <m:t>𝑃</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𝑐</m:t>
                        </m:r>
                      </m:e>
                    </m:d>
                  </m:oMath>
                </a14:m>
                <a:r>
                  <a:rPr lang="es-MX" sz="2000" dirty="0">
                    <a:latin typeface="+mn-lt"/>
                  </a:rPr>
                  <a:t> a una existencial como </a:t>
                </a:r>
                <a14:m>
                  <m:oMath xmlns:m="http://schemas.openxmlformats.org/officeDocument/2006/math">
                    <m:r>
                      <a:rPr lang="es-MX" sz="2000" i="1" smtClean="0">
                        <a:latin typeface="Cambria Math" panose="02040503050406030204" pitchFamily="18" charset="0"/>
                        <a:ea typeface="Cambria Math" panose="02040503050406030204" pitchFamily="18" charset="0"/>
                      </a:rPr>
                      <m:t>∃</m:t>
                    </m:r>
                    <m:r>
                      <a:rPr lang="es-MX" sz="2000" i="1" smtClean="0">
                        <a:latin typeface="Cambria Math" panose="02040503050406030204" pitchFamily="18" charset="0"/>
                        <a:ea typeface="Cambria Math" panose="02040503050406030204" pitchFamily="18" charset="0"/>
                      </a:rPr>
                      <m:t>𝑥</m:t>
                    </m:r>
                    <m:r>
                      <a:rPr lang="es-MX" sz="2000" i="1" smtClean="0">
                        <a:latin typeface="Cambria Math" panose="02040503050406030204" pitchFamily="18" charset="0"/>
                        <a:ea typeface="Cambria Math" panose="02040503050406030204" pitchFamily="18" charset="0"/>
                      </a:rPr>
                      <m:t> </m:t>
                    </m:r>
                    <m:r>
                      <a:rPr lang="es-MX" sz="2000" i="1" smtClean="0">
                        <a:latin typeface="Cambria Math" panose="02040503050406030204" pitchFamily="18" charset="0"/>
                        <a:ea typeface="Cambria Math" panose="02040503050406030204" pitchFamily="18" charset="0"/>
                      </a:rPr>
                      <m:t>𝑃</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𝑥</m:t>
                        </m:r>
                      </m:e>
                    </m:d>
                  </m:oMath>
                </a14:m>
                <a:endParaRPr lang="es-MX" sz="2000" dirty="0">
                  <a:latin typeface="+mn-lt"/>
                  <a:ea typeface="Roboto" panose="02000000000000000000" pitchFamily="2" charset="0"/>
                </a:endParaRPr>
              </a:p>
              <a:p>
                <a:r>
                  <a:rPr lang="es-MX" sz="2000" b="1" dirty="0">
                    <a:latin typeface="+mn-lt"/>
                    <a:ea typeface="Roboto" panose="02000000000000000000" pitchFamily="2" charset="0"/>
                  </a:rPr>
                  <a:t>Forma general</a:t>
                </a:r>
              </a:p>
              <a:p>
                <a:pPr marL="584200" lvl="1" indent="0">
                  <a:buNone/>
                </a:pPr>
                <a:endParaRPr lang="es-MX" sz="1800" dirty="0">
                  <a:latin typeface="+mn-lt"/>
                  <a:ea typeface="Roboto" panose="02000000000000000000" pitchFamily="2" charset="0"/>
                </a:endParaRPr>
              </a:p>
            </p:txBody>
          </p:sp>
        </mc:Choice>
        <mc:Fallback>
          <p:sp>
            <p:nvSpPr>
              <p:cNvPr id="7" name="Google Shape;310;p34">
                <a:extLst>
                  <a:ext uri="{FF2B5EF4-FFF2-40B4-BE49-F238E27FC236}">
                    <a16:creationId xmlns:a16="http://schemas.microsoft.com/office/drawing/2014/main" id="{C1EB8144-8BAC-4290-B469-B1AFD5BDF721}"/>
                  </a:ext>
                </a:extLst>
              </p:cNvPr>
              <p:cNvSpPr txBox="1">
                <a:spLocks noRot="1" noChangeAspect="1" noMove="1" noResize="1" noEditPoints="1" noAdjustHandles="1" noChangeArrowheads="1" noChangeShapeType="1" noTextEdit="1"/>
              </p:cNvSpPr>
              <p:nvPr/>
            </p:nvSpPr>
            <p:spPr>
              <a:xfrm>
                <a:off x="294968" y="1297034"/>
                <a:ext cx="11537028" cy="1344650"/>
              </a:xfrm>
              <a:prstGeom prst="rect">
                <a:avLst/>
              </a:prstGeom>
              <a:blipFill>
                <a:blip r:embed="rId3"/>
                <a:stretch>
                  <a:fillRect/>
                </a:stretch>
              </a:blipFill>
              <a:ln>
                <a:noFill/>
              </a:ln>
            </p:spPr>
            <p:txBody>
              <a:bodyPr/>
              <a:lstStyle/>
              <a:p>
                <a:r>
                  <a:rPr lang="es-CO">
                    <a:noFill/>
                  </a:rPr>
                  <a:t> </a:t>
                </a:r>
              </a:p>
            </p:txBody>
          </p:sp>
        </mc:Fallback>
      </mc:AlternateContent>
      <p:sp>
        <p:nvSpPr>
          <p:cNvPr id="22" name="Google Shape;310;p34">
            <a:extLst>
              <a:ext uri="{FF2B5EF4-FFF2-40B4-BE49-F238E27FC236}">
                <a16:creationId xmlns:a16="http://schemas.microsoft.com/office/drawing/2014/main" id="{BB680A61-B649-4198-B83A-9A1A33B33DB3}"/>
              </a:ext>
            </a:extLst>
          </p:cNvPr>
          <p:cNvSpPr txBox="1">
            <a:spLocks/>
          </p:cNvSpPr>
          <p:nvPr/>
        </p:nvSpPr>
        <p:spPr>
          <a:xfrm>
            <a:off x="294968" y="3531912"/>
            <a:ext cx="11537028" cy="67375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r>
              <a:rPr lang="es-MX" sz="2000" b="1" dirty="0">
                <a:latin typeface="+mn-lt"/>
                <a:ea typeface="Roboto" panose="02000000000000000000" pitchFamily="2" charset="0"/>
              </a:rPr>
              <a:t>Ejemplo</a:t>
            </a:r>
            <a:r>
              <a:rPr lang="es-MX" sz="2000" dirty="0">
                <a:latin typeface="+mn-lt"/>
                <a:ea typeface="Roboto" panose="02000000000000000000" pitchFamily="2" charset="0"/>
              </a:rPr>
              <a:t>: Si Bart saco un 5.0 en la clase podemos decir que al menos un estudiante saco un 5.0 en la clase.</a:t>
            </a:r>
          </a:p>
        </p:txBody>
      </p:sp>
      <mc:AlternateContent xmlns:mc="http://schemas.openxmlformats.org/markup-compatibility/2006">
        <mc:Choice xmlns:a14="http://schemas.microsoft.com/office/drawing/2010/main" Requires="a14">
          <p:graphicFrame>
            <p:nvGraphicFramePr>
              <p:cNvPr id="29" name="Tabla 2">
                <a:extLst>
                  <a:ext uri="{FF2B5EF4-FFF2-40B4-BE49-F238E27FC236}">
                    <a16:creationId xmlns:a16="http://schemas.microsoft.com/office/drawing/2014/main" id="{A24D11BF-089C-4010-88DE-693935762966}"/>
                  </a:ext>
                </a:extLst>
              </p:cNvPr>
              <p:cNvGraphicFramePr>
                <a:graphicFrameLocks noGrp="1"/>
              </p:cNvGraphicFramePr>
              <p:nvPr>
                <p:extLst>
                  <p:ext uri="{D42A27DB-BD31-4B8C-83A1-F6EECF244321}">
                    <p14:modId xmlns:p14="http://schemas.microsoft.com/office/powerpoint/2010/main" val="2350317889"/>
                  </p:ext>
                </p:extLst>
              </p:nvPr>
            </p:nvGraphicFramePr>
            <p:xfrm>
              <a:off x="2433484" y="4628868"/>
              <a:ext cx="4156002" cy="1463040"/>
            </p:xfrm>
            <a:graphic>
              <a:graphicData uri="http://schemas.openxmlformats.org/drawingml/2006/table">
                <a:tbl>
                  <a:tblPr firstRow="1" bandRow="1">
                    <a:tableStyleId>{AD6A3598-7CB8-4345-8D95-17CE05F158A0}</a:tableStyleId>
                  </a:tblPr>
                  <a:tblGrid>
                    <a:gridCol w="1376671">
                      <a:extLst>
                        <a:ext uri="{9D8B030D-6E8A-4147-A177-3AD203B41FA5}">
                          <a16:colId xmlns:a16="http://schemas.microsoft.com/office/drawing/2014/main" val="55665907"/>
                        </a:ext>
                      </a:extLst>
                    </a:gridCol>
                    <a:gridCol w="2779331">
                      <a:extLst>
                        <a:ext uri="{9D8B030D-6E8A-4147-A177-3AD203B41FA5}">
                          <a16:colId xmlns:a16="http://schemas.microsoft.com/office/drawing/2014/main" val="2393994677"/>
                        </a:ext>
                      </a:extLst>
                    </a:gridCol>
                  </a:tblGrid>
                  <a:tr h="240030">
                    <a:tc>
                      <a:txBody>
                        <a:bodyPr/>
                        <a:lstStyle/>
                        <a:p>
                          <a:r>
                            <a:rPr lang="es-CO" sz="1800" b="1" dirty="0">
                              <a:latin typeface="+mn-lt"/>
                              <a:ea typeface="Roboto" panose="02000000000000000000" pitchFamily="2" charset="0"/>
                            </a:rPr>
                            <a:t>Dominio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600" b="0" i="1" dirty="0" smtClean="0">
                                    <a:latin typeface="Cambria Math" panose="02040503050406030204" pitchFamily="18" charset="0"/>
                                    <a:ea typeface="Roboto" panose="02000000000000000000" pitchFamily="2" charset="0"/>
                                  </a:rPr>
                                  <m:t>𝑈</m:t>
                                </m:r>
                                <m:r>
                                  <a:rPr lang="es-MX" sz="1600" b="0" i="1" dirty="0" smtClean="0">
                                    <a:latin typeface="Cambria Math" panose="02040503050406030204" pitchFamily="18" charset="0"/>
                                    <a:ea typeface="Roboto" panose="02000000000000000000" pitchFamily="2" charset="0"/>
                                  </a:rPr>
                                  <m:t>={</m:t>
                                </m:r>
                                <m:r>
                                  <a:rPr lang="es-MX" sz="1600" b="0" i="1" dirty="0" smtClean="0">
                                    <a:latin typeface="Cambria Math" panose="02040503050406030204" pitchFamily="18" charset="0"/>
                                    <a:ea typeface="Roboto" panose="02000000000000000000" pitchFamily="2" charset="0"/>
                                  </a:rPr>
                                  <m:t>𝑇𝑜𝑑𝑜𝑠</m:t>
                                </m:r>
                                <m:r>
                                  <a:rPr lang="es-MX" sz="1600" b="0" i="1" dirty="0" smtClean="0">
                                    <a:latin typeface="Cambria Math" panose="02040503050406030204" pitchFamily="18" charset="0"/>
                                    <a:ea typeface="Roboto" panose="02000000000000000000" pitchFamily="2" charset="0"/>
                                  </a:rPr>
                                  <m:t> </m:t>
                                </m:r>
                                <m:r>
                                  <a:rPr lang="es-MX" sz="1600" b="0" i="1" dirty="0" smtClean="0">
                                    <a:latin typeface="Cambria Math" panose="02040503050406030204" pitchFamily="18" charset="0"/>
                                    <a:ea typeface="Roboto" panose="02000000000000000000" pitchFamily="2" charset="0"/>
                                  </a:rPr>
                                  <m:t>𝑙𝑜𝑠</m:t>
                                </m:r>
                                <m:r>
                                  <a:rPr lang="es-MX" sz="1600" b="0" i="1" dirty="0" smtClean="0">
                                    <a:latin typeface="Cambria Math" panose="02040503050406030204" pitchFamily="18" charset="0"/>
                                    <a:ea typeface="Roboto" panose="02000000000000000000" pitchFamily="2" charset="0"/>
                                  </a:rPr>
                                  <m:t> </m:t>
                                </m:r>
                                <m:r>
                                  <a:rPr lang="es-MX" sz="1600" b="0" i="1" dirty="0" smtClean="0">
                                    <a:latin typeface="Cambria Math" panose="02040503050406030204" pitchFamily="18" charset="0"/>
                                    <a:ea typeface="Roboto" panose="02000000000000000000" pitchFamily="2" charset="0"/>
                                  </a:rPr>
                                  <m:t>𝑒𝑠𝑡𝑢𝑑𝑖𝑎𝑛𝑡𝑒𝑠</m:t>
                                </m:r>
                                <m:r>
                                  <a:rPr lang="es-MX" sz="1600" b="0" i="1" dirty="0" smtClean="0">
                                    <a:latin typeface="Cambria Math" panose="02040503050406030204" pitchFamily="18" charset="0"/>
                                    <a:ea typeface="Roboto" panose="02000000000000000000" pitchFamily="2" charset="0"/>
                                  </a:rPr>
                                  <m:t>}</m:t>
                                </m:r>
                              </m:oMath>
                            </m:oMathPara>
                          </a14:m>
                          <a:endParaRPr lang="es-CO" sz="1600" b="0" i="0" dirty="0">
                            <a:latin typeface="Roboto" panose="02000000000000000000" pitchFamily="2"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54054099"/>
                      </a:ext>
                    </a:extLst>
                  </a:tr>
                  <a:tr h="240030">
                    <a:tc>
                      <a:txBody>
                        <a:bodyPr/>
                        <a:lstStyle/>
                        <a:p>
                          <a:r>
                            <a:rPr lang="es-CO" sz="1800" b="1" dirty="0">
                              <a:latin typeface="+mn-lt"/>
                              <a:ea typeface="Roboto" panose="02000000000000000000" pitchFamily="2" charset="0"/>
                            </a:rPr>
                            <a:t>Variables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rPr>
                                  <m:t>𝑥</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𝑈</m:t>
                                </m:r>
                              </m:oMath>
                            </m:oMathPara>
                          </a14:m>
                          <a:endParaRPr lang="es-CO" sz="1600" dirty="0">
                            <a:latin typeface="Roboto" panose="02000000000000000000" pitchFamily="2"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0970474"/>
                      </a:ext>
                    </a:extLst>
                  </a:tr>
                  <a:tr h="0">
                    <a:tc>
                      <a:txBody>
                        <a:bodyPr/>
                        <a:lstStyle/>
                        <a:p>
                          <a:r>
                            <a:rPr lang="es-CO" sz="1800" b="1" dirty="0">
                              <a:latin typeface="+mn-lt"/>
                              <a:ea typeface="Roboto" panose="02000000000000000000" pitchFamily="2" charset="0"/>
                            </a:rPr>
                            <a:t>Constantes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14:m>
                            <m:oMath xmlns:m="http://schemas.openxmlformats.org/officeDocument/2006/math">
                              <m:r>
                                <m:rPr>
                                  <m:sty m:val="p"/>
                                </m:rPr>
                                <a:rPr lang="es-MX" sz="1600" b="0" i="0" smtClean="0">
                                  <a:latin typeface="Cambria Math" panose="02040503050406030204" pitchFamily="18" charset="0"/>
                                  <a:ea typeface="Cambria Math" panose="02040503050406030204" pitchFamily="18" charset="0"/>
                                </a:rPr>
                                <m:t>Bart</m:t>
                              </m:r>
                            </m:oMath>
                          </a14:m>
                          <a:endParaRPr lang="es-CO" sz="1600" i="0" dirty="0">
                            <a:latin typeface="Roboto" panose="02000000000000000000" pitchFamily="2"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736836"/>
                      </a:ext>
                    </a:extLst>
                  </a:tr>
                  <a:tr h="0">
                    <a:tc>
                      <a:txBody>
                        <a:bodyPr/>
                        <a:lstStyle/>
                        <a:p>
                          <a:r>
                            <a:rPr lang="es-CO" sz="1800" b="1" dirty="0">
                              <a:latin typeface="+mn-lt"/>
                              <a:ea typeface="Roboto" panose="02000000000000000000" pitchFamily="2" charset="0"/>
                            </a:rPr>
                            <a:t>Predicados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14:m>
                            <m:oMath xmlns:m="http://schemas.openxmlformats.org/officeDocument/2006/math">
                              <m:r>
                                <a:rPr lang="es-MX" sz="1600" b="0" i="1" smtClean="0">
                                  <a:latin typeface="Cambria Math" panose="02040503050406030204" pitchFamily="18" charset="0"/>
                                  <a:ea typeface="Cambria Math" panose="02040503050406030204" pitchFamily="18" charset="0"/>
                                </a:rPr>
                                <m:t>𝑁</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𝑥</m:t>
                                  </m:r>
                                </m:e>
                              </m:d>
                            </m:oMath>
                          </a14:m>
                          <a:r>
                            <a:rPr lang="es-MX" sz="1600" b="0" i="0" dirty="0">
                              <a:latin typeface="Roboto" panose="02000000000000000000" pitchFamily="2" charset="0"/>
                              <a:ea typeface="Roboto" panose="02000000000000000000" pitchFamily="2" charset="0"/>
                            </a:rPr>
                            <a:t>: </a:t>
                          </a:r>
                          <a14:m>
                            <m:oMath xmlns:m="http://schemas.openxmlformats.org/officeDocument/2006/math">
                              <m:r>
                                <a:rPr lang="es-MX" sz="1600" b="0" i="1" smtClean="0">
                                  <a:latin typeface="Cambria Math" panose="02040503050406030204" pitchFamily="18" charset="0"/>
                                  <a:ea typeface="Cambria Math" panose="02040503050406030204" pitchFamily="18" charset="0"/>
                                </a:rPr>
                                <m:t>𝑥</m:t>
                              </m:r>
                            </m:oMath>
                          </a14:m>
                          <a:r>
                            <a:rPr lang="es-CO" sz="1600" dirty="0">
                              <a:latin typeface="Roboto" panose="02000000000000000000" pitchFamily="2" charset="0"/>
                              <a:ea typeface="Roboto" panose="02000000000000000000" pitchFamily="2" charset="0"/>
                            </a:rPr>
                            <a:t> saco</a:t>
                          </a:r>
                          <a:r>
                            <a:rPr lang="es-CO" sz="1600" baseline="0" dirty="0">
                              <a:latin typeface="Roboto" panose="02000000000000000000" pitchFamily="2" charset="0"/>
                              <a:ea typeface="Roboto" panose="02000000000000000000" pitchFamily="2" charset="0"/>
                            </a:rPr>
                            <a:t> un 5.0</a:t>
                          </a:r>
                          <a:endParaRPr lang="es-CO" sz="1600" dirty="0">
                            <a:latin typeface="Roboto" panose="02000000000000000000" pitchFamily="2"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2933263"/>
                      </a:ext>
                    </a:extLst>
                  </a:tr>
                </a:tbl>
              </a:graphicData>
            </a:graphic>
          </p:graphicFrame>
        </mc:Choice>
        <mc:Fallback>
          <p:graphicFrame>
            <p:nvGraphicFramePr>
              <p:cNvPr id="29" name="Tabla 2">
                <a:extLst>
                  <a:ext uri="{FF2B5EF4-FFF2-40B4-BE49-F238E27FC236}">
                    <a16:creationId xmlns:a16="http://schemas.microsoft.com/office/drawing/2014/main" id="{A24D11BF-089C-4010-88DE-693935762966}"/>
                  </a:ext>
                </a:extLst>
              </p:cNvPr>
              <p:cNvGraphicFramePr>
                <a:graphicFrameLocks noGrp="1"/>
              </p:cNvGraphicFramePr>
              <p:nvPr>
                <p:extLst>
                  <p:ext uri="{D42A27DB-BD31-4B8C-83A1-F6EECF244321}">
                    <p14:modId xmlns:p14="http://schemas.microsoft.com/office/powerpoint/2010/main" val="2350317889"/>
                  </p:ext>
                </p:extLst>
              </p:nvPr>
            </p:nvGraphicFramePr>
            <p:xfrm>
              <a:off x="2433484" y="4628868"/>
              <a:ext cx="4156002" cy="1463040"/>
            </p:xfrm>
            <a:graphic>
              <a:graphicData uri="http://schemas.openxmlformats.org/drawingml/2006/table">
                <a:tbl>
                  <a:tblPr firstRow="1" bandRow="1">
                    <a:tableStyleId>{AD6A3598-7CB8-4345-8D95-17CE05F158A0}</a:tableStyleId>
                  </a:tblPr>
                  <a:tblGrid>
                    <a:gridCol w="1376671">
                      <a:extLst>
                        <a:ext uri="{9D8B030D-6E8A-4147-A177-3AD203B41FA5}">
                          <a16:colId xmlns:a16="http://schemas.microsoft.com/office/drawing/2014/main" val="55665907"/>
                        </a:ext>
                      </a:extLst>
                    </a:gridCol>
                    <a:gridCol w="2779331">
                      <a:extLst>
                        <a:ext uri="{9D8B030D-6E8A-4147-A177-3AD203B41FA5}">
                          <a16:colId xmlns:a16="http://schemas.microsoft.com/office/drawing/2014/main" val="2393994677"/>
                        </a:ext>
                      </a:extLst>
                    </a:gridCol>
                  </a:tblGrid>
                  <a:tr h="365760">
                    <a:tc>
                      <a:txBody>
                        <a:bodyPr/>
                        <a:lstStyle/>
                        <a:p>
                          <a:r>
                            <a:rPr lang="es-CO" sz="1800" b="1" dirty="0">
                              <a:latin typeface="+mn-lt"/>
                              <a:ea typeface="Roboto" panose="02000000000000000000" pitchFamily="2" charset="0"/>
                            </a:rPr>
                            <a:t>Dominio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9781" t="-8333" r="-658" b="-326667"/>
                          </a:stretch>
                        </a:blipFill>
                      </a:tcPr>
                    </a:tc>
                    <a:extLst>
                      <a:ext uri="{0D108BD9-81ED-4DB2-BD59-A6C34878D82A}">
                        <a16:rowId xmlns:a16="http://schemas.microsoft.com/office/drawing/2014/main" val="2554054099"/>
                      </a:ext>
                    </a:extLst>
                  </a:tr>
                  <a:tr h="365760">
                    <a:tc>
                      <a:txBody>
                        <a:bodyPr/>
                        <a:lstStyle/>
                        <a:p>
                          <a:r>
                            <a:rPr lang="es-CO" sz="1800" b="1" dirty="0">
                              <a:latin typeface="+mn-lt"/>
                              <a:ea typeface="Roboto" panose="02000000000000000000" pitchFamily="2" charset="0"/>
                            </a:rPr>
                            <a:t>Variables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9781" t="-106557" r="-658" b="-221311"/>
                          </a:stretch>
                        </a:blipFill>
                      </a:tcPr>
                    </a:tc>
                    <a:extLst>
                      <a:ext uri="{0D108BD9-81ED-4DB2-BD59-A6C34878D82A}">
                        <a16:rowId xmlns:a16="http://schemas.microsoft.com/office/drawing/2014/main" val="1590970474"/>
                      </a:ext>
                    </a:extLst>
                  </a:tr>
                  <a:tr h="365760">
                    <a:tc>
                      <a:txBody>
                        <a:bodyPr/>
                        <a:lstStyle/>
                        <a:p>
                          <a:r>
                            <a:rPr lang="es-CO" sz="1800" b="1" dirty="0">
                              <a:latin typeface="+mn-lt"/>
                              <a:ea typeface="Roboto" panose="02000000000000000000" pitchFamily="2" charset="0"/>
                            </a:rPr>
                            <a:t>Constantes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9781" t="-210000" r="-658" b="-125000"/>
                          </a:stretch>
                        </a:blipFill>
                      </a:tcPr>
                    </a:tc>
                    <a:extLst>
                      <a:ext uri="{0D108BD9-81ED-4DB2-BD59-A6C34878D82A}">
                        <a16:rowId xmlns:a16="http://schemas.microsoft.com/office/drawing/2014/main" val="144736836"/>
                      </a:ext>
                    </a:extLst>
                  </a:tr>
                  <a:tr h="365760">
                    <a:tc>
                      <a:txBody>
                        <a:bodyPr/>
                        <a:lstStyle/>
                        <a:p>
                          <a:r>
                            <a:rPr lang="es-CO" sz="1800" b="1" dirty="0">
                              <a:latin typeface="+mn-lt"/>
                              <a:ea typeface="Roboto" panose="02000000000000000000" pitchFamily="2" charset="0"/>
                            </a:rPr>
                            <a:t>Predicados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49781" t="-310000" r="-658" b="-25000"/>
                          </a:stretch>
                        </a:blipFill>
                      </a:tcPr>
                    </a:tc>
                    <a:extLst>
                      <a:ext uri="{0D108BD9-81ED-4DB2-BD59-A6C34878D82A}">
                        <a16:rowId xmlns:a16="http://schemas.microsoft.com/office/drawing/2014/main" val="1362933263"/>
                      </a:ext>
                    </a:extLst>
                  </a:tr>
                </a:tbl>
              </a:graphicData>
            </a:graphic>
          </p:graphicFrame>
        </mc:Fallback>
      </mc:AlternateContent>
      <p:grpSp>
        <p:nvGrpSpPr>
          <p:cNvPr id="30" name="Grupo 29">
            <a:extLst>
              <a:ext uri="{FF2B5EF4-FFF2-40B4-BE49-F238E27FC236}">
                <a16:creationId xmlns:a16="http://schemas.microsoft.com/office/drawing/2014/main" id="{4CE22D98-F5AC-404C-BF2F-7E7D4C295B47}"/>
              </a:ext>
            </a:extLst>
          </p:cNvPr>
          <p:cNvGrpSpPr/>
          <p:nvPr/>
        </p:nvGrpSpPr>
        <p:grpSpPr>
          <a:xfrm>
            <a:off x="7881152" y="4844906"/>
            <a:ext cx="1723943" cy="707886"/>
            <a:chOff x="4487791" y="3691267"/>
            <a:chExt cx="1051949" cy="707886"/>
          </a:xfrm>
        </p:grpSpPr>
        <mc:AlternateContent xmlns:mc="http://schemas.openxmlformats.org/markup-compatibility/2006">
          <mc:Choice xmlns:a14="http://schemas.microsoft.com/office/drawing/2010/main" Requires="a14">
            <p:sp>
              <p:nvSpPr>
                <p:cNvPr id="31" name="CuadroTexto 30">
                  <a:extLst>
                    <a:ext uri="{FF2B5EF4-FFF2-40B4-BE49-F238E27FC236}">
                      <a16:creationId xmlns:a16="http://schemas.microsoft.com/office/drawing/2014/main" id="{C20C1A7D-42B3-44C8-AAD8-D1A0E26FFB67}"/>
                    </a:ext>
                  </a:extLst>
                </p:cNvPr>
                <p:cNvSpPr txBox="1"/>
                <p:nvPr/>
              </p:nvSpPr>
              <p:spPr>
                <a:xfrm>
                  <a:off x="4487791" y="3691267"/>
                  <a:ext cx="1051949" cy="70788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𝑁</m:t>
                        </m:r>
                        <m:d>
                          <m:dPr>
                            <m:ctrlPr>
                              <a:rPr lang="es-MX" sz="2000" b="0" i="1" smtClean="0">
                                <a:latin typeface="Cambria Math" panose="02040503050406030204" pitchFamily="18" charset="0"/>
                                <a:ea typeface="Cambria Math" panose="02040503050406030204" pitchFamily="18" charset="0"/>
                              </a:rPr>
                            </m:ctrlPr>
                          </m:dPr>
                          <m:e>
                            <m:r>
                              <m:rPr>
                                <m:sty m:val="p"/>
                              </m:rPr>
                              <a:rPr lang="es-MX" sz="2000" b="0" i="0" smtClean="0">
                                <a:latin typeface="Cambria Math" panose="02040503050406030204" pitchFamily="18" charset="0"/>
                                <a:ea typeface="Cambria Math" panose="02040503050406030204" pitchFamily="18" charset="0"/>
                              </a:rPr>
                              <m:t>Bart</m:t>
                            </m:r>
                          </m:e>
                        </m:d>
                      </m:oMath>
                    </m:oMathPara>
                  </a14:m>
                  <a:endParaRPr lang="es-MX" sz="2000"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s-MX" sz="2000" b="0" i="1" smtClean="0">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𝑥</m:t>
                        </m:r>
                        <m:r>
                          <a:rPr lang="es-MX" sz="2000" b="0" i="1" smtClean="0">
                            <a:latin typeface="Cambria Math" panose="02040503050406030204" pitchFamily="18" charset="0"/>
                            <a:ea typeface="Cambria Math" panose="02040503050406030204" pitchFamily="18" charset="0"/>
                          </a:rPr>
                          <m:t> </m:t>
                        </m:r>
                        <m:r>
                          <a:rPr lang="es-MX" sz="2000" i="1">
                            <a:latin typeface="Cambria Math" panose="02040503050406030204" pitchFamily="18" charset="0"/>
                            <a:ea typeface="Cambria Math" panose="02040503050406030204" pitchFamily="18" charset="0"/>
                          </a:rPr>
                          <m:t>𝑁</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𝑥</m:t>
                            </m:r>
                          </m:e>
                        </m:d>
                      </m:oMath>
                    </m:oMathPara>
                  </a14:m>
                  <a:endParaRPr lang="es-MX" sz="2000" b="0" dirty="0">
                    <a:latin typeface="Roboto" panose="02000000000000000000" pitchFamily="2" charset="0"/>
                    <a:ea typeface="Cambria Math" panose="02040503050406030204" pitchFamily="18" charset="0"/>
                  </a:endParaRPr>
                </a:p>
              </p:txBody>
            </p:sp>
          </mc:Choice>
          <mc:Fallback>
            <p:sp>
              <p:nvSpPr>
                <p:cNvPr id="31" name="CuadroTexto 30">
                  <a:extLst>
                    <a:ext uri="{FF2B5EF4-FFF2-40B4-BE49-F238E27FC236}">
                      <a16:creationId xmlns:a16="http://schemas.microsoft.com/office/drawing/2014/main" id="{C20C1A7D-42B3-44C8-AAD8-D1A0E26FFB67}"/>
                    </a:ext>
                  </a:extLst>
                </p:cNvPr>
                <p:cNvSpPr txBox="1">
                  <a:spLocks noRot="1" noChangeAspect="1" noMove="1" noResize="1" noEditPoints="1" noAdjustHandles="1" noChangeArrowheads="1" noChangeShapeType="1" noTextEdit="1"/>
                </p:cNvSpPr>
                <p:nvPr/>
              </p:nvSpPr>
              <p:spPr>
                <a:xfrm>
                  <a:off x="4487791" y="3691267"/>
                  <a:ext cx="1051949" cy="707886"/>
                </a:xfrm>
                <a:prstGeom prst="rect">
                  <a:avLst/>
                </a:prstGeom>
                <a:blipFill>
                  <a:blip r:embed="rId5"/>
                  <a:stretch>
                    <a:fillRect/>
                  </a:stretch>
                </a:blipFill>
              </p:spPr>
              <p:txBody>
                <a:bodyPr/>
                <a:lstStyle/>
                <a:p>
                  <a:r>
                    <a:rPr lang="es-CO">
                      <a:noFill/>
                    </a:rPr>
                    <a:t> </a:t>
                  </a:r>
                </a:p>
              </p:txBody>
            </p:sp>
          </mc:Fallback>
        </mc:AlternateContent>
        <p:cxnSp>
          <p:nvCxnSpPr>
            <p:cNvPr id="32" name="Conector recto 31">
              <a:extLst>
                <a:ext uri="{FF2B5EF4-FFF2-40B4-BE49-F238E27FC236}">
                  <a16:creationId xmlns:a16="http://schemas.microsoft.com/office/drawing/2014/main" id="{619940D5-E520-4668-8354-9C201AEC3375}"/>
                </a:ext>
              </a:extLst>
            </p:cNvPr>
            <p:cNvCxnSpPr>
              <a:cxnSpLocks/>
            </p:cNvCxnSpPr>
            <p:nvPr/>
          </p:nvCxnSpPr>
          <p:spPr>
            <a:xfrm>
              <a:off x="4487791" y="4059800"/>
              <a:ext cx="10519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9" name="Grupo 18">
            <a:extLst>
              <a:ext uri="{FF2B5EF4-FFF2-40B4-BE49-F238E27FC236}">
                <a16:creationId xmlns:a16="http://schemas.microsoft.com/office/drawing/2014/main" id="{2D88D3F1-A915-447C-9F9B-9B40D0727CBB}"/>
              </a:ext>
            </a:extLst>
          </p:cNvPr>
          <p:cNvGrpSpPr/>
          <p:nvPr/>
        </p:nvGrpSpPr>
        <p:grpSpPr>
          <a:xfrm>
            <a:off x="835742" y="2499340"/>
            <a:ext cx="3167575" cy="707886"/>
            <a:chOff x="4487791" y="3598887"/>
            <a:chExt cx="1051949" cy="707886"/>
          </a:xfrm>
        </p:grpSpPr>
        <mc:AlternateContent xmlns:mc="http://schemas.openxmlformats.org/markup-compatibility/2006">
          <mc:Choice xmlns:a14="http://schemas.microsoft.com/office/drawing/2010/main" Requires="a14">
            <p:sp>
              <p:nvSpPr>
                <p:cNvPr id="20" name="CuadroTexto 19">
                  <a:extLst>
                    <a:ext uri="{FF2B5EF4-FFF2-40B4-BE49-F238E27FC236}">
                      <a16:creationId xmlns:a16="http://schemas.microsoft.com/office/drawing/2014/main" id="{C38CB799-0F92-4558-A0C2-59A5995ECAA3}"/>
                    </a:ext>
                  </a:extLst>
                </p:cNvPr>
                <p:cNvSpPr txBox="1"/>
                <p:nvPr/>
              </p:nvSpPr>
              <p:spPr>
                <a:xfrm>
                  <a:off x="4487791" y="3598887"/>
                  <a:ext cx="1051949" cy="70788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s-MX" sz="2000" i="1" smtClean="0">
                            <a:latin typeface="Cambria Math" panose="02040503050406030204" pitchFamily="18" charset="0"/>
                            <a:ea typeface="Cambria Math" panose="02040503050406030204" pitchFamily="18" charset="0"/>
                          </a:rPr>
                          <m:t>𝑃</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𝑐</m:t>
                            </m:r>
                          </m:e>
                        </m:d>
                        <m:r>
                          <a:rPr lang="es-MX" sz="2000" i="1">
                            <a:latin typeface="Cambria Math" panose="02040503050406030204" pitchFamily="18" charset="0"/>
                            <a:ea typeface="Cambria Math" panose="02040503050406030204" pitchFamily="18" charset="0"/>
                          </a:rPr>
                          <m:t> </m:t>
                        </m:r>
                        <m:r>
                          <m:rPr>
                            <m:sty m:val="p"/>
                          </m:rPr>
                          <a:rPr lang="es-MX" sz="2000">
                            <a:latin typeface="Cambria Math" panose="02040503050406030204" pitchFamily="18" charset="0"/>
                            <a:ea typeface="Cambria Math" panose="02040503050406030204" pitchFamily="18" charset="0"/>
                          </a:rPr>
                          <m:t>para</m:t>
                        </m:r>
                        <m:r>
                          <a:rPr lang="es-MX" sz="2000">
                            <a:latin typeface="Cambria Math" panose="02040503050406030204" pitchFamily="18" charset="0"/>
                            <a:ea typeface="Cambria Math" panose="02040503050406030204" pitchFamily="18" charset="0"/>
                          </a:rPr>
                          <m:t> </m:t>
                        </m:r>
                        <m:r>
                          <m:rPr>
                            <m:sty m:val="p"/>
                          </m:rPr>
                          <a:rPr lang="es-MX" sz="2000" b="0" i="0" smtClean="0">
                            <a:latin typeface="Cambria Math" panose="02040503050406030204" pitchFamily="18" charset="0"/>
                            <a:ea typeface="Cambria Math" panose="02040503050406030204" pitchFamily="18" charset="0"/>
                          </a:rPr>
                          <m:t>algun</m:t>
                        </m:r>
                        <m:r>
                          <a:rPr lang="es-MX" sz="2000" b="0" i="0" smtClean="0">
                            <a:latin typeface="Cambria Math" panose="02040503050406030204" pitchFamily="18" charset="0"/>
                            <a:ea typeface="Cambria Math" panose="02040503050406030204" pitchFamily="18" charset="0"/>
                          </a:rPr>
                          <m:t> </m:t>
                        </m:r>
                        <m:r>
                          <m:rPr>
                            <m:sty m:val="p"/>
                          </m:rPr>
                          <a:rPr lang="es-MX" sz="2000" b="0" i="0" smtClean="0">
                            <a:latin typeface="Cambria Math" panose="02040503050406030204" pitchFamily="18" charset="0"/>
                            <a:ea typeface="Cambria Math" panose="02040503050406030204" pitchFamily="18" charset="0"/>
                          </a:rPr>
                          <m:t>elemento</m:t>
                        </m:r>
                        <m:r>
                          <a:rPr lang="es-MX" sz="2000">
                            <a:latin typeface="Cambria Math" panose="02040503050406030204" pitchFamily="18" charset="0"/>
                            <a:ea typeface="Cambria Math" panose="02040503050406030204" pitchFamily="18" charset="0"/>
                          </a:rPr>
                          <m:t> </m:t>
                        </m:r>
                        <m:r>
                          <a:rPr lang="es-MX" sz="2000" i="1">
                            <a:latin typeface="Cambria Math" panose="02040503050406030204" pitchFamily="18" charset="0"/>
                            <a:ea typeface="Cambria Math" panose="02040503050406030204" pitchFamily="18" charset="0"/>
                          </a:rPr>
                          <m:t>𝑐</m:t>
                        </m:r>
                        <m:r>
                          <a:rPr lang="es-MX" sz="2000" i="1">
                            <a:latin typeface="Cambria Math" panose="02040503050406030204" pitchFamily="18" charset="0"/>
                            <a:ea typeface="Cambria Math" panose="02040503050406030204" pitchFamily="18" charset="0"/>
                          </a:rPr>
                          <m:t> ∴∃</m:t>
                        </m:r>
                        <m:r>
                          <a:rPr lang="es-MX" sz="2000" i="1">
                            <a:latin typeface="Cambria Math" panose="02040503050406030204" pitchFamily="18" charset="0"/>
                            <a:ea typeface="Cambria Math" panose="02040503050406030204" pitchFamily="18" charset="0"/>
                          </a:rPr>
                          <m:t>𝑥</m:t>
                        </m:r>
                        <m:r>
                          <a:rPr lang="es-MX" sz="2000" i="1">
                            <a:latin typeface="Cambria Math" panose="02040503050406030204" pitchFamily="18" charset="0"/>
                            <a:ea typeface="Cambria Math" panose="02040503050406030204" pitchFamily="18" charset="0"/>
                          </a:rPr>
                          <m:t> </m:t>
                        </m:r>
                        <m:r>
                          <a:rPr lang="es-MX" sz="2000" i="1">
                            <a:latin typeface="Cambria Math" panose="02040503050406030204" pitchFamily="18" charset="0"/>
                            <a:ea typeface="Cambria Math" panose="02040503050406030204" pitchFamily="18" charset="0"/>
                          </a:rPr>
                          <m:t>𝑃</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𝑥</m:t>
                            </m:r>
                          </m:e>
                        </m:d>
                      </m:oMath>
                    </m:oMathPara>
                  </a14:m>
                  <a:endParaRPr lang="es-MX" sz="2000" i="1" dirty="0">
                    <a:latin typeface="Cambria Math" panose="02040503050406030204" pitchFamily="18" charset="0"/>
                    <a:ea typeface="Cambria Math" panose="02040503050406030204" pitchFamily="18" charset="0"/>
                  </a:endParaRPr>
                </a:p>
              </p:txBody>
            </p:sp>
          </mc:Choice>
          <mc:Fallback>
            <p:sp>
              <p:nvSpPr>
                <p:cNvPr id="20" name="CuadroTexto 19">
                  <a:extLst>
                    <a:ext uri="{FF2B5EF4-FFF2-40B4-BE49-F238E27FC236}">
                      <a16:creationId xmlns:a16="http://schemas.microsoft.com/office/drawing/2014/main" id="{C38CB799-0F92-4558-A0C2-59A5995ECAA3}"/>
                    </a:ext>
                  </a:extLst>
                </p:cNvPr>
                <p:cNvSpPr txBox="1">
                  <a:spLocks noRot="1" noChangeAspect="1" noMove="1" noResize="1" noEditPoints="1" noAdjustHandles="1" noChangeArrowheads="1" noChangeShapeType="1" noTextEdit="1"/>
                </p:cNvSpPr>
                <p:nvPr/>
              </p:nvSpPr>
              <p:spPr>
                <a:xfrm>
                  <a:off x="4487791" y="3598887"/>
                  <a:ext cx="1051949" cy="707886"/>
                </a:xfrm>
                <a:prstGeom prst="rect">
                  <a:avLst/>
                </a:prstGeom>
                <a:blipFill>
                  <a:blip r:embed="rId6"/>
                  <a:stretch>
                    <a:fillRect/>
                  </a:stretch>
                </a:blipFill>
              </p:spPr>
              <p:txBody>
                <a:bodyPr/>
                <a:lstStyle/>
                <a:p>
                  <a:r>
                    <a:rPr lang="es-CO">
                      <a:noFill/>
                    </a:rPr>
                    <a:t> </a:t>
                  </a:r>
                </a:p>
              </p:txBody>
            </p:sp>
          </mc:Fallback>
        </mc:AlternateContent>
        <p:cxnSp>
          <p:nvCxnSpPr>
            <p:cNvPr id="21" name="Conector recto 20">
              <a:extLst>
                <a:ext uri="{FF2B5EF4-FFF2-40B4-BE49-F238E27FC236}">
                  <a16:creationId xmlns:a16="http://schemas.microsoft.com/office/drawing/2014/main" id="{927AC83E-5CA1-4DA0-86A2-C50586945A18}"/>
                </a:ext>
              </a:extLst>
            </p:cNvPr>
            <p:cNvCxnSpPr>
              <a:cxnSpLocks/>
            </p:cNvCxnSpPr>
            <p:nvPr/>
          </p:nvCxnSpPr>
          <p:spPr>
            <a:xfrm>
              <a:off x="4487791" y="3957732"/>
              <a:ext cx="10519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 name="CuadroTexto 12">
            <a:extLst>
              <a:ext uri="{FF2B5EF4-FFF2-40B4-BE49-F238E27FC236}">
                <a16:creationId xmlns:a16="http://schemas.microsoft.com/office/drawing/2014/main" id="{6F56A9D1-F613-49C8-A73A-F364866B7799}"/>
              </a:ext>
            </a:extLst>
          </p:cNvPr>
          <p:cNvSpPr txBox="1"/>
          <p:nvPr/>
        </p:nvSpPr>
        <p:spPr>
          <a:xfrm>
            <a:off x="5825613" y="2317545"/>
            <a:ext cx="5530645" cy="1015663"/>
          </a:xfrm>
          <a:prstGeom prst="rect">
            <a:avLst/>
          </a:prstGeom>
          <a:solidFill>
            <a:schemeClr val="bg1">
              <a:lumMod val="95000"/>
            </a:schemeClr>
          </a:solidFill>
        </p:spPr>
        <p:txBody>
          <a:bodyPr wrap="square">
            <a:spAutoFit/>
          </a:bodyPr>
          <a:lstStyle/>
          <a:p>
            <a:r>
              <a:rPr lang="es-MX" sz="2000" b="1" dirty="0">
                <a:ea typeface="Roboto" panose="02000000000000000000" pitchFamily="2" charset="0"/>
              </a:rPr>
              <a:t>Idea clave</a:t>
            </a:r>
            <a:r>
              <a:rPr lang="es-MX" sz="2000" dirty="0">
                <a:ea typeface="Roboto" panose="02000000000000000000" pitchFamily="2" charset="0"/>
              </a:rPr>
              <a:t>: </a:t>
            </a:r>
            <a:r>
              <a:rPr lang="es-MX" sz="2000" dirty="0"/>
              <a:t>Si se conoce que alguien (o algo) cumple una propiedad, entonces se puede afirmar que existe al menos uno que la cumple</a:t>
            </a:r>
            <a:endParaRPr lang="es-CO" sz="2000" dirty="0">
              <a:ea typeface="Roboto" panose="02000000000000000000" pitchFamily="2" charset="0"/>
            </a:endParaRPr>
          </a:p>
        </p:txBody>
      </p:sp>
    </p:spTree>
    <p:extLst>
      <p:ext uri="{BB962C8B-B14F-4D97-AF65-F5344CB8AC3E}">
        <p14:creationId xmlns:p14="http://schemas.microsoft.com/office/powerpoint/2010/main" val="2477970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a:xfrm>
            <a:off x="573853" y="96038"/>
            <a:ext cx="10645689" cy="949500"/>
          </a:xfrm>
        </p:spPr>
        <p:txBody>
          <a:bodyPr/>
          <a:lstStyle/>
          <a:p>
            <a:r>
              <a:rPr lang="es-CO" b="0" dirty="0">
                <a:solidFill>
                  <a:schemeClr val="tx1"/>
                </a:solidFill>
                <a:latin typeface="+mj-lt"/>
              </a:rPr>
              <a:t>Equivalencias de lógica proposicional</a:t>
            </a:r>
          </a:p>
        </p:txBody>
      </p:sp>
      <mc:AlternateContent xmlns:mc="http://schemas.openxmlformats.org/markup-compatibility/2006" xmlns:a14="http://schemas.microsoft.com/office/drawing/2010/main">
        <mc:Choice Requires="a14">
          <p:graphicFrame>
            <p:nvGraphicFramePr>
              <p:cNvPr id="12" name="Tabla 3">
                <a:extLst>
                  <a:ext uri="{FF2B5EF4-FFF2-40B4-BE49-F238E27FC236}">
                    <a16:creationId xmlns:a16="http://schemas.microsoft.com/office/drawing/2014/main" id="{C596B25B-8353-4A20-AC46-6CF2D48EBE61}"/>
                  </a:ext>
                </a:extLst>
              </p:cNvPr>
              <p:cNvGraphicFramePr>
                <a:graphicFrameLocks noGrp="1"/>
              </p:cNvGraphicFramePr>
              <p:nvPr/>
            </p:nvGraphicFramePr>
            <p:xfrm>
              <a:off x="290288" y="1115661"/>
              <a:ext cx="7865570" cy="5120640"/>
            </p:xfrm>
            <a:graphic>
              <a:graphicData uri="http://schemas.openxmlformats.org/drawingml/2006/table">
                <a:tbl>
                  <a:tblPr firstRow="1" bandRow="1"/>
                  <a:tblGrid>
                    <a:gridCol w="1871183">
                      <a:extLst>
                        <a:ext uri="{9D8B030D-6E8A-4147-A177-3AD203B41FA5}">
                          <a16:colId xmlns:a16="http://schemas.microsoft.com/office/drawing/2014/main" val="2419793140"/>
                        </a:ext>
                      </a:extLst>
                    </a:gridCol>
                    <a:gridCol w="3002558">
                      <a:extLst>
                        <a:ext uri="{9D8B030D-6E8A-4147-A177-3AD203B41FA5}">
                          <a16:colId xmlns:a16="http://schemas.microsoft.com/office/drawing/2014/main" val="2761119023"/>
                        </a:ext>
                      </a:extLst>
                    </a:gridCol>
                    <a:gridCol w="2991829">
                      <a:extLst>
                        <a:ext uri="{9D8B030D-6E8A-4147-A177-3AD203B41FA5}">
                          <a16:colId xmlns:a16="http://schemas.microsoft.com/office/drawing/2014/main" val="180266477"/>
                        </a:ext>
                      </a:extLst>
                    </a:gridCol>
                  </a:tblGrid>
                  <a:tr h="298833">
                    <a:tc>
                      <a:txBody>
                        <a:bodyPr/>
                        <a:lstStyle/>
                        <a:p>
                          <a:r>
                            <a:rPr lang="es-CO" sz="1800" b="1" dirty="0">
                              <a:latin typeface="+mn-lt"/>
                              <a:ea typeface="Roboto" panose="02000000000000000000" pitchFamily="2" charset="0"/>
                            </a:rPr>
                            <a:t>Nombre</a:t>
                          </a:r>
                        </a:p>
                      </a:txBody>
                      <a:tcPr>
                        <a:solidFill>
                          <a:schemeClr val="bg2"/>
                        </a:solidFill>
                      </a:tcPr>
                    </a:tc>
                    <a:tc gridSpan="2">
                      <a:txBody>
                        <a:bodyPr/>
                        <a:lstStyle/>
                        <a:p>
                          <a:pPr algn="ctr"/>
                          <a:r>
                            <a:rPr lang="es-CO" sz="1800" b="1" dirty="0">
                              <a:latin typeface="+mn-lt"/>
                              <a:ea typeface="Roboto" panose="02000000000000000000" pitchFamily="2" charset="0"/>
                            </a:rPr>
                            <a:t>Equivalencia lógica</a:t>
                          </a:r>
                        </a:p>
                      </a:txBody>
                      <a:tcPr>
                        <a:solidFill>
                          <a:schemeClr val="bg2"/>
                        </a:solidFill>
                      </a:tcPr>
                    </a:tc>
                    <a:tc hMerge="1">
                      <a:txBody>
                        <a:bodyPr/>
                        <a:lstStyle/>
                        <a:p>
                          <a:endParaRPr lang="es-CO"/>
                        </a:p>
                      </a:txBody>
                      <a:tcPr/>
                    </a:tc>
                    <a:extLst>
                      <a:ext uri="{0D108BD9-81ED-4DB2-BD59-A6C34878D82A}">
                        <a16:rowId xmlns:a16="http://schemas.microsoft.com/office/drawing/2014/main" val="1624526593"/>
                      </a:ext>
                    </a:extLst>
                  </a:tr>
                  <a:tr h="273930">
                    <a:tc>
                      <a:txBody>
                        <a:bodyPr/>
                        <a:lstStyle/>
                        <a:p>
                          <a:r>
                            <a:rPr lang="es-CO" sz="1800" b="1" dirty="0">
                              <a:latin typeface="+mn-lt"/>
                              <a:ea typeface="Roboto" panose="02000000000000000000" pitchFamily="2" charset="0"/>
                            </a:rPr>
                            <a:t>Conmutatividad</a:t>
                          </a:r>
                        </a:p>
                      </a:txBody>
                      <a:tcPr>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154515760"/>
                      </a:ext>
                    </a:extLst>
                  </a:tr>
                  <a:tr h="273930">
                    <a:tc>
                      <a:txBody>
                        <a:bodyPr/>
                        <a:lstStyle/>
                        <a:p>
                          <a:r>
                            <a:rPr lang="es-CO" sz="1800" b="1" dirty="0">
                              <a:latin typeface="+mn-lt"/>
                              <a:ea typeface="Roboto" panose="02000000000000000000" pitchFamily="2" charset="0"/>
                            </a:rPr>
                            <a:t>Asociatividad</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𝑅</m:t>
                                    </m:r>
                                  </m:e>
                                </m:d>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𝑅</m:t>
                                </m:r>
                              </m:oMath>
                            </m:oMathPara>
                          </a14:m>
                          <a:endParaRPr lang="es-CO" sz="16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𝑅</m:t>
                                    </m:r>
                                  </m:e>
                                </m:d>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𝑅</m:t>
                                </m:r>
                              </m:oMath>
                            </m:oMathPara>
                          </a14:m>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913743916"/>
                      </a:ext>
                    </a:extLst>
                  </a:tr>
                  <a:tr h="273930">
                    <a:tc>
                      <a:txBody>
                        <a:bodyPr/>
                        <a:lstStyle/>
                        <a:p>
                          <a:r>
                            <a:rPr lang="es-CO" sz="1800" b="1" dirty="0">
                              <a:latin typeface="+mn-lt"/>
                              <a:ea typeface="Roboto" panose="02000000000000000000" pitchFamily="2" charset="0"/>
                            </a:rPr>
                            <a:t>Distributividad</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𝑅</m:t>
                                    </m:r>
                                  </m:e>
                                </m:d>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e>
                                </m:d>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𝑅</m:t>
                                    </m:r>
                                  </m:e>
                                </m:d>
                              </m:oMath>
                            </m:oMathPara>
                          </a14:m>
                          <a:endParaRPr lang="es-CO" sz="16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𝑅</m:t>
                                    </m:r>
                                  </m:e>
                                </m:d>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e>
                                </m:d>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𝑅</m:t>
                                    </m:r>
                                  </m:e>
                                </m:d>
                              </m:oMath>
                            </m:oMathPara>
                          </a14:m>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717401643"/>
                      </a:ext>
                    </a:extLst>
                  </a:tr>
                  <a:tr h="273930">
                    <a:tc>
                      <a:txBody>
                        <a:bodyPr/>
                        <a:lstStyle/>
                        <a:p>
                          <a:r>
                            <a:rPr lang="es-CO" sz="1800" b="1" dirty="0">
                              <a:latin typeface="+mn-lt"/>
                              <a:ea typeface="Roboto" panose="02000000000000000000" pitchFamily="2" charset="0"/>
                            </a:rPr>
                            <a:t>Idempotencia</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246818852"/>
                      </a:ext>
                    </a:extLst>
                  </a:tr>
                  <a:tr h="273930">
                    <a:tc>
                      <a:txBody>
                        <a:bodyPr/>
                        <a:lstStyle/>
                        <a:p>
                          <a:r>
                            <a:rPr lang="es-CO" sz="1800" b="1" dirty="0">
                              <a:latin typeface="+mn-lt"/>
                              <a:ea typeface="Roboto" panose="02000000000000000000" pitchFamily="2" charset="0"/>
                            </a:rPr>
                            <a:t>Doble negación</a:t>
                          </a:r>
                        </a:p>
                      </a:txBody>
                      <a:tcPr>
                        <a:solidFill>
                          <a:schemeClr val="bg2"/>
                        </a:solidFill>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88149062"/>
                      </a:ext>
                    </a:extLst>
                  </a:tr>
                  <a:tr h="273930">
                    <a:tc>
                      <a:txBody>
                        <a:bodyPr/>
                        <a:lstStyle/>
                        <a:p>
                          <a:r>
                            <a:rPr lang="es-CO" sz="1800" b="1" dirty="0">
                              <a:latin typeface="+mn-lt"/>
                              <a:ea typeface="Roboto" panose="02000000000000000000" pitchFamily="2" charset="0"/>
                            </a:rPr>
                            <a:t>Leyes de Morgan</a:t>
                          </a:r>
                        </a:p>
                      </a:txBody>
                      <a:tcPr>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oMath>
                            </m:oMathPara>
                          </a14:m>
                          <a:endParaRPr lang="es-CO" sz="160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oMath>
                            </m:oMathPara>
                          </a14:m>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113060234"/>
                      </a:ext>
                    </a:extLst>
                  </a:tr>
                  <a:tr h="273930">
                    <a:tc>
                      <a:txBody>
                        <a:bodyPr/>
                        <a:lstStyle/>
                        <a:p>
                          <a:r>
                            <a:rPr lang="es-CO" sz="1800" b="1" dirty="0">
                              <a:latin typeface="+mn-lt"/>
                              <a:ea typeface="Roboto" panose="02000000000000000000" pitchFamily="2" charset="0"/>
                            </a:rPr>
                            <a:t>Identidad</a:t>
                          </a:r>
                        </a:p>
                      </a:txBody>
                      <a:tcPr>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𝑽</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𝑭</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494965197"/>
                      </a:ext>
                    </a:extLst>
                  </a:tr>
                  <a:tr h="273930">
                    <a:tc>
                      <a:txBody>
                        <a:bodyPr/>
                        <a:lstStyle/>
                        <a:p>
                          <a:r>
                            <a:rPr lang="es-CO" sz="1800" b="1" dirty="0">
                              <a:latin typeface="+mn-lt"/>
                              <a:ea typeface="Roboto" panose="02000000000000000000" pitchFamily="2" charset="0"/>
                            </a:rPr>
                            <a:t>Dominación</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𝑭</m:t>
                                </m:r>
                                <m:r>
                                  <a:rPr lang="es-MX" sz="1600" b="0"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𝑭</m:t>
                                </m:r>
                              </m:oMath>
                            </m:oMathPara>
                          </a14:m>
                          <a:endParaRPr lang="es-CO" sz="1600"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𝑽</m:t>
                                </m:r>
                                <m:r>
                                  <a:rPr lang="es-MX" sz="1600" b="0"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𝑽</m:t>
                                </m:r>
                              </m:oMath>
                            </m:oMathPara>
                          </a14:m>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707485840"/>
                      </a:ext>
                    </a:extLst>
                  </a:tr>
                  <a:tr h="273930">
                    <a:tc>
                      <a:txBody>
                        <a:bodyPr/>
                        <a:lstStyle/>
                        <a:p>
                          <a:r>
                            <a:rPr lang="es-CO" sz="1800" b="1" dirty="0">
                              <a:latin typeface="+mn-lt"/>
                              <a:ea typeface="Roboto" panose="02000000000000000000" pitchFamily="2" charset="0"/>
                            </a:rPr>
                            <a:t>Absorción</a:t>
                          </a:r>
                        </a:p>
                      </a:txBody>
                      <a:tcPr>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Roboto" panose="02000000000000000000" pitchFamily="2" charset="0"/>
                            <a:ea typeface="Roboto" panose="02000000000000000000" pitchFamily="2" charset="0"/>
                          </a:endParaRPr>
                        </a:p>
                      </a:txBody>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232652958"/>
                      </a:ext>
                    </a:extLst>
                  </a:tr>
                  <a:tr h="273930">
                    <a:tc>
                      <a:txBody>
                        <a:bodyPr/>
                        <a:lstStyle/>
                        <a:p>
                          <a:r>
                            <a:rPr lang="es-CO" sz="1800" b="1" dirty="0">
                              <a:latin typeface="+mn-lt"/>
                              <a:ea typeface="Roboto" panose="02000000000000000000" pitchFamily="2" charset="0"/>
                            </a:rPr>
                            <a:t>Complemento</a:t>
                          </a:r>
                        </a:p>
                      </a:txBody>
                      <a:tcPr>
                        <a:solidFill>
                          <a:schemeClr val="bg2"/>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𝑭</m:t>
                                </m:r>
                              </m:oMath>
                            </m:oMathPara>
                          </a14:m>
                          <a:endParaRPr lang="es-CO" sz="1600" b="1" dirty="0">
                            <a:latin typeface="Roboto" panose="02000000000000000000" pitchFamily="2" charset="0"/>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𝑽</m:t>
                                </m:r>
                              </m:oMath>
                            </m:oMathPara>
                          </a14:m>
                          <a:endParaRPr lang="es-CO" sz="1600" b="1"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770911309"/>
                      </a:ext>
                    </a:extLst>
                  </a:tr>
                  <a:tr h="273930">
                    <a:tc>
                      <a:txBody>
                        <a:bodyPr/>
                        <a:lstStyle/>
                        <a:p>
                          <a:r>
                            <a:rPr lang="es-CO" sz="1800" b="1" dirty="0">
                              <a:latin typeface="+mn-lt"/>
                              <a:ea typeface="Roboto" panose="02000000000000000000" pitchFamily="2" charset="0"/>
                            </a:rPr>
                            <a:t>Implicación</a:t>
                          </a:r>
                        </a:p>
                      </a:txBody>
                      <a:tcPr>
                        <a:solidFill>
                          <a:schemeClr val="bg2"/>
                        </a:solidFill>
                      </a:tcPr>
                    </a:tc>
                    <a:tc gridSpan="2">
                      <a:txBody>
                        <a:bodyPr/>
                        <a:lstStyle/>
                        <a:p>
                          <a:pPr algn="ct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oMath>
                            </m:oMathPara>
                          </a14:m>
                          <a:endParaRPr lang="es-CO" sz="1600"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3483938044"/>
                      </a:ext>
                    </a:extLst>
                  </a:tr>
                  <a:tr h="273930">
                    <a:tc>
                      <a:txBody>
                        <a:bodyPr/>
                        <a:lstStyle/>
                        <a:p>
                          <a:r>
                            <a:rPr lang="es-CO" sz="1800" b="1" dirty="0">
                              <a:latin typeface="+mn-lt"/>
                              <a:ea typeface="Roboto" panose="02000000000000000000" pitchFamily="2" charset="0"/>
                            </a:rPr>
                            <a:t>Contrarrecíproco</a:t>
                          </a:r>
                        </a:p>
                      </a:txBody>
                      <a:tcPr>
                        <a:solidFill>
                          <a:schemeClr val="bg2"/>
                        </a:solidFill>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3255506134"/>
                      </a:ext>
                    </a:extLst>
                  </a:tr>
                  <a:tr h="273930">
                    <a:tc>
                      <a:txBody>
                        <a:bodyPr/>
                        <a:lstStyle/>
                        <a:p>
                          <a:r>
                            <a:rPr lang="es-CO" sz="1800" b="1" dirty="0">
                              <a:latin typeface="+mn-lt"/>
                              <a:ea typeface="Roboto" panose="02000000000000000000" pitchFamily="2" charset="0"/>
                            </a:rPr>
                            <a:t>Equivalencia</a:t>
                          </a:r>
                        </a:p>
                      </a:txBody>
                      <a:tcPr>
                        <a:solidFill>
                          <a:schemeClr val="bg2"/>
                        </a:solidFill>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e>
                                </m:d>
                              </m:oMath>
                            </m:oMathPara>
                          </a14:m>
                          <a:endParaRPr lang="es-CO" sz="1600" dirty="0">
                            <a:latin typeface="Roboto" panose="02000000000000000000" pitchFamily="2" charset="0"/>
                            <a:ea typeface="Roboto" panose="02000000000000000000" pitchFamily="2" charset="0"/>
                          </a:endParaRPr>
                        </a:p>
                      </a:txBody>
                      <a:tcPr/>
                    </a:tc>
                    <a:tc hMerge="1">
                      <a:txBody>
                        <a:bodyPr/>
                        <a:lstStyle/>
                        <a:p>
                          <a:endParaRPr lang="es-CO"/>
                        </a:p>
                      </a:txBody>
                      <a:tcPr/>
                    </a:tc>
                    <a:extLst>
                      <a:ext uri="{0D108BD9-81ED-4DB2-BD59-A6C34878D82A}">
                        <a16:rowId xmlns:a16="http://schemas.microsoft.com/office/drawing/2014/main" val="40457137"/>
                      </a:ext>
                    </a:extLst>
                  </a:tr>
                </a:tbl>
              </a:graphicData>
            </a:graphic>
          </p:graphicFrame>
        </mc:Choice>
        <mc:Fallback xmlns="">
          <p:graphicFrame>
            <p:nvGraphicFramePr>
              <p:cNvPr id="12" name="Tabla 3">
                <a:extLst>
                  <a:ext uri="{FF2B5EF4-FFF2-40B4-BE49-F238E27FC236}">
                    <a16:creationId xmlns:a16="http://schemas.microsoft.com/office/drawing/2014/main" id="{C596B25B-8353-4A20-AC46-6CF2D48EBE61}"/>
                  </a:ext>
                </a:extLst>
              </p:cNvPr>
              <p:cNvGraphicFramePr>
                <a:graphicFrameLocks noGrp="1"/>
              </p:cNvGraphicFramePr>
              <p:nvPr>
                <p:extLst>
                  <p:ext uri="{D42A27DB-BD31-4B8C-83A1-F6EECF244321}">
                    <p14:modId xmlns:p14="http://schemas.microsoft.com/office/powerpoint/2010/main" val="1455049706"/>
                  </p:ext>
                </p:extLst>
              </p:nvPr>
            </p:nvGraphicFramePr>
            <p:xfrm>
              <a:off x="290288" y="1115661"/>
              <a:ext cx="7865570" cy="5120640"/>
            </p:xfrm>
            <a:graphic>
              <a:graphicData uri="http://schemas.openxmlformats.org/drawingml/2006/table">
                <a:tbl>
                  <a:tblPr firstRow="1" bandRow="1"/>
                  <a:tblGrid>
                    <a:gridCol w="1871183">
                      <a:extLst>
                        <a:ext uri="{9D8B030D-6E8A-4147-A177-3AD203B41FA5}">
                          <a16:colId xmlns:a16="http://schemas.microsoft.com/office/drawing/2014/main" val="2419793140"/>
                        </a:ext>
                      </a:extLst>
                    </a:gridCol>
                    <a:gridCol w="3002558">
                      <a:extLst>
                        <a:ext uri="{9D8B030D-6E8A-4147-A177-3AD203B41FA5}">
                          <a16:colId xmlns:a16="http://schemas.microsoft.com/office/drawing/2014/main" val="2761119023"/>
                        </a:ext>
                      </a:extLst>
                    </a:gridCol>
                    <a:gridCol w="2991829">
                      <a:extLst>
                        <a:ext uri="{9D8B030D-6E8A-4147-A177-3AD203B41FA5}">
                          <a16:colId xmlns:a16="http://schemas.microsoft.com/office/drawing/2014/main" val="180266477"/>
                        </a:ext>
                      </a:extLst>
                    </a:gridCol>
                  </a:tblGrid>
                  <a:tr h="365760">
                    <a:tc>
                      <a:txBody>
                        <a:bodyPr/>
                        <a:lstStyle/>
                        <a:p>
                          <a:r>
                            <a:rPr lang="es-CO" sz="1800" b="1" dirty="0">
                              <a:latin typeface="+mn-lt"/>
                              <a:ea typeface="Roboto" panose="02000000000000000000" pitchFamily="2" charset="0"/>
                            </a:rPr>
                            <a:t>Nombre</a:t>
                          </a:r>
                        </a:p>
                      </a:txBody>
                      <a:tcPr>
                        <a:solidFill>
                          <a:schemeClr val="bg2"/>
                        </a:solidFill>
                      </a:tcPr>
                    </a:tc>
                    <a:tc gridSpan="2">
                      <a:txBody>
                        <a:bodyPr/>
                        <a:lstStyle/>
                        <a:p>
                          <a:pPr algn="ctr"/>
                          <a:r>
                            <a:rPr lang="es-CO" sz="1800" b="1" dirty="0">
                              <a:latin typeface="+mn-lt"/>
                              <a:ea typeface="Roboto" panose="02000000000000000000" pitchFamily="2" charset="0"/>
                            </a:rPr>
                            <a:t>Equivalencia lógica</a:t>
                          </a:r>
                        </a:p>
                      </a:txBody>
                      <a:tcPr>
                        <a:solidFill>
                          <a:schemeClr val="bg2"/>
                        </a:solidFill>
                      </a:tcPr>
                    </a:tc>
                    <a:tc hMerge="1">
                      <a:txBody>
                        <a:bodyPr/>
                        <a:lstStyle/>
                        <a:p>
                          <a:endParaRPr lang="es-CO"/>
                        </a:p>
                      </a:txBody>
                      <a:tcPr/>
                    </a:tc>
                    <a:extLst>
                      <a:ext uri="{0D108BD9-81ED-4DB2-BD59-A6C34878D82A}">
                        <a16:rowId xmlns:a16="http://schemas.microsoft.com/office/drawing/2014/main" val="1624526593"/>
                      </a:ext>
                    </a:extLst>
                  </a:tr>
                  <a:tr h="365760">
                    <a:tc>
                      <a:txBody>
                        <a:bodyPr/>
                        <a:lstStyle/>
                        <a:p>
                          <a:r>
                            <a:rPr lang="es-CO" sz="1800" b="1" dirty="0">
                              <a:latin typeface="+mn-lt"/>
                              <a:ea typeface="Roboto" panose="02000000000000000000" pitchFamily="2" charset="0"/>
                            </a:rPr>
                            <a:t>Conmutatividad</a:t>
                          </a:r>
                        </a:p>
                      </a:txBody>
                      <a:tcPr>
                        <a:solidFill>
                          <a:schemeClr val="bg2"/>
                        </a:solidFill>
                      </a:tcPr>
                    </a:tc>
                    <a:tc>
                      <a:txBody>
                        <a:bodyPr/>
                        <a:lstStyle/>
                        <a:p>
                          <a:endParaRPr lang="es-CO"/>
                        </a:p>
                      </a:txBody>
                      <a:tcPr>
                        <a:blipFill>
                          <a:blip r:embed="rId3"/>
                          <a:stretch>
                            <a:fillRect l="-62475" t="-108333" r="-100000" b="-1226667"/>
                          </a:stretch>
                        </a:blipFill>
                      </a:tcPr>
                    </a:tc>
                    <a:tc>
                      <a:txBody>
                        <a:bodyPr/>
                        <a:lstStyle/>
                        <a:p>
                          <a:endParaRPr lang="es-CO"/>
                        </a:p>
                      </a:txBody>
                      <a:tcPr>
                        <a:blipFill>
                          <a:blip r:embed="rId3"/>
                          <a:stretch>
                            <a:fillRect l="-163136" t="-108333" r="-407" b="-1226667"/>
                          </a:stretch>
                        </a:blipFill>
                      </a:tcPr>
                    </a:tc>
                    <a:extLst>
                      <a:ext uri="{0D108BD9-81ED-4DB2-BD59-A6C34878D82A}">
                        <a16:rowId xmlns:a16="http://schemas.microsoft.com/office/drawing/2014/main" val="3154515760"/>
                      </a:ext>
                    </a:extLst>
                  </a:tr>
                  <a:tr h="365760">
                    <a:tc>
                      <a:txBody>
                        <a:bodyPr/>
                        <a:lstStyle/>
                        <a:p>
                          <a:r>
                            <a:rPr lang="es-CO" sz="1800" b="1" dirty="0">
                              <a:latin typeface="+mn-lt"/>
                              <a:ea typeface="Roboto" panose="02000000000000000000" pitchFamily="2" charset="0"/>
                            </a:rPr>
                            <a:t>Asociatividad</a:t>
                          </a:r>
                        </a:p>
                      </a:txBody>
                      <a:tcPr>
                        <a:solidFill>
                          <a:schemeClr val="bg2"/>
                        </a:solidFill>
                      </a:tcPr>
                    </a:tc>
                    <a:tc>
                      <a:txBody>
                        <a:bodyPr/>
                        <a:lstStyle/>
                        <a:p>
                          <a:endParaRPr lang="es-CO"/>
                        </a:p>
                      </a:txBody>
                      <a:tcPr>
                        <a:blipFill>
                          <a:blip r:embed="rId3"/>
                          <a:stretch>
                            <a:fillRect l="-62475" t="-208333" r="-100000" b="-1126667"/>
                          </a:stretch>
                        </a:blipFill>
                      </a:tcPr>
                    </a:tc>
                    <a:tc>
                      <a:txBody>
                        <a:bodyPr/>
                        <a:lstStyle/>
                        <a:p>
                          <a:endParaRPr lang="es-CO"/>
                        </a:p>
                      </a:txBody>
                      <a:tcPr>
                        <a:blipFill>
                          <a:blip r:embed="rId3"/>
                          <a:stretch>
                            <a:fillRect l="-163136" t="-208333" r="-407" b="-1126667"/>
                          </a:stretch>
                        </a:blipFill>
                      </a:tcPr>
                    </a:tc>
                    <a:extLst>
                      <a:ext uri="{0D108BD9-81ED-4DB2-BD59-A6C34878D82A}">
                        <a16:rowId xmlns:a16="http://schemas.microsoft.com/office/drawing/2014/main" val="1913743916"/>
                      </a:ext>
                    </a:extLst>
                  </a:tr>
                  <a:tr h="365760">
                    <a:tc>
                      <a:txBody>
                        <a:bodyPr/>
                        <a:lstStyle/>
                        <a:p>
                          <a:r>
                            <a:rPr lang="es-CO" sz="1800" b="1" dirty="0">
                              <a:latin typeface="+mn-lt"/>
                              <a:ea typeface="Roboto" panose="02000000000000000000" pitchFamily="2" charset="0"/>
                            </a:rPr>
                            <a:t>Distributividad</a:t>
                          </a:r>
                        </a:p>
                      </a:txBody>
                      <a:tcPr>
                        <a:solidFill>
                          <a:schemeClr val="bg2"/>
                        </a:solidFill>
                      </a:tcPr>
                    </a:tc>
                    <a:tc>
                      <a:txBody>
                        <a:bodyPr/>
                        <a:lstStyle/>
                        <a:p>
                          <a:endParaRPr lang="es-CO"/>
                        </a:p>
                      </a:txBody>
                      <a:tcPr>
                        <a:blipFill>
                          <a:blip r:embed="rId3"/>
                          <a:stretch>
                            <a:fillRect l="-62475" t="-308333" r="-100000" b="-1026667"/>
                          </a:stretch>
                        </a:blipFill>
                      </a:tcPr>
                    </a:tc>
                    <a:tc>
                      <a:txBody>
                        <a:bodyPr/>
                        <a:lstStyle/>
                        <a:p>
                          <a:endParaRPr lang="es-CO"/>
                        </a:p>
                      </a:txBody>
                      <a:tcPr>
                        <a:blipFill>
                          <a:blip r:embed="rId3"/>
                          <a:stretch>
                            <a:fillRect l="-163136" t="-308333" r="-407" b="-1026667"/>
                          </a:stretch>
                        </a:blipFill>
                      </a:tcPr>
                    </a:tc>
                    <a:extLst>
                      <a:ext uri="{0D108BD9-81ED-4DB2-BD59-A6C34878D82A}">
                        <a16:rowId xmlns:a16="http://schemas.microsoft.com/office/drawing/2014/main" val="717401643"/>
                      </a:ext>
                    </a:extLst>
                  </a:tr>
                  <a:tr h="365760">
                    <a:tc>
                      <a:txBody>
                        <a:bodyPr/>
                        <a:lstStyle/>
                        <a:p>
                          <a:r>
                            <a:rPr lang="es-CO" sz="1800" b="1" dirty="0">
                              <a:latin typeface="+mn-lt"/>
                              <a:ea typeface="Roboto" panose="02000000000000000000" pitchFamily="2" charset="0"/>
                            </a:rPr>
                            <a:t>Idempotencia</a:t>
                          </a:r>
                        </a:p>
                      </a:txBody>
                      <a:tcPr>
                        <a:solidFill>
                          <a:schemeClr val="bg2"/>
                        </a:solidFill>
                      </a:tcPr>
                    </a:tc>
                    <a:tc>
                      <a:txBody>
                        <a:bodyPr/>
                        <a:lstStyle/>
                        <a:p>
                          <a:endParaRPr lang="es-CO"/>
                        </a:p>
                      </a:txBody>
                      <a:tcPr>
                        <a:blipFill>
                          <a:blip r:embed="rId3"/>
                          <a:stretch>
                            <a:fillRect l="-62475" t="-408333" r="-100000" b="-926667"/>
                          </a:stretch>
                        </a:blipFill>
                      </a:tcPr>
                    </a:tc>
                    <a:tc>
                      <a:txBody>
                        <a:bodyPr/>
                        <a:lstStyle/>
                        <a:p>
                          <a:endParaRPr lang="es-CO"/>
                        </a:p>
                      </a:txBody>
                      <a:tcPr>
                        <a:blipFill>
                          <a:blip r:embed="rId3"/>
                          <a:stretch>
                            <a:fillRect l="-163136" t="-408333" r="-407" b="-926667"/>
                          </a:stretch>
                        </a:blipFill>
                      </a:tcPr>
                    </a:tc>
                    <a:extLst>
                      <a:ext uri="{0D108BD9-81ED-4DB2-BD59-A6C34878D82A}">
                        <a16:rowId xmlns:a16="http://schemas.microsoft.com/office/drawing/2014/main" val="2246818852"/>
                      </a:ext>
                    </a:extLst>
                  </a:tr>
                  <a:tr h="365760">
                    <a:tc>
                      <a:txBody>
                        <a:bodyPr/>
                        <a:lstStyle/>
                        <a:p>
                          <a:r>
                            <a:rPr lang="es-CO" sz="1800" b="1" dirty="0">
                              <a:latin typeface="+mn-lt"/>
                              <a:ea typeface="Roboto" panose="02000000000000000000" pitchFamily="2" charset="0"/>
                            </a:rPr>
                            <a:t>Doble negación</a:t>
                          </a:r>
                        </a:p>
                      </a:txBody>
                      <a:tcPr>
                        <a:solidFill>
                          <a:schemeClr val="bg2"/>
                        </a:solidFill>
                      </a:tcPr>
                    </a:tc>
                    <a:tc gridSpan="2">
                      <a:txBody>
                        <a:bodyPr/>
                        <a:lstStyle/>
                        <a:p>
                          <a:endParaRPr lang="es-CO"/>
                        </a:p>
                      </a:txBody>
                      <a:tcPr>
                        <a:blipFill>
                          <a:blip r:embed="rId3"/>
                          <a:stretch>
                            <a:fillRect l="-31301" t="-508333" r="-203" b="-826667"/>
                          </a:stretch>
                        </a:blipFill>
                      </a:tcPr>
                    </a:tc>
                    <a:tc hMerge="1">
                      <a:txBody>
                        <a:bodyPr/>
                        <a:lstStyle/>
                        <a:p>
                          <a:endParaRPr lang="es-CO"/>
                        </a:p>
                      </a:txBody>
                      <a:tcPr/>
                    </a:tc>
                    <a:extLst>
                      <a:ext uri="{0D108BD9-81ED-4DB2-BD59-A6C34878D82A}">
                        <a16:rowId xmlns:a16="http://schemas.microsoft.com/office/drawing/2014/main" val="88149062"/>
                      </a:ext>
                    </a:extLst>
                  </a:tr>
                  <a:tr h="365760">
                    <a:tc>
                      <a:txBody>
                        <a:bodyPr/>
                        <a:lstStyle/>
                        <a:p>
                          <a:r>
                            <a:rPr lang="es-CO" sz="1800" b="1" dirty="0">
                              <a:latin typeface="+mn-lt"/>
                              <a:ea typeface="Roboto" panose="02000000000000000000" pitchFamily="2" charset="0"/>
                            </a:rPr>
                            <a:t>Leyes de Morgan</a:t>
                          </a:r>
                        </a:p>
                      </a:txBody>
                      <a:tcPr>
                        <a:solidFill>
                          <a:schemeClr val="bg2"/>
                        </a:solidFill>
                      </a:tcPr>
                    </a:tc>
                    <a:tc>
                      <a:txBody>
                        <a:bodyPr/>
                        <a:lstStyle/>
                        <a:p>
                          <a:endParaRPr lang="es-CO"/>
                        </a:p>
                      </a:txBody>
                      <a:tcPr>
                        <a:blipFill>
                          <a:blip r:embed="rId3"/>
                          <a:stretch>
                            <a:fillRect l="-62475" t="-598361" r="-100000" b="-713115"/>
                          </a:stretch>
                        </a:blipFill>
                      </a:tcPr>
                    </a:tc>
                    <a:tc>
                      <a:txBody>
                        <a:bodyPr/>
                        <a:lstStyle/>
                        <a:p>
                          <a:endParaRPr lang="es-CO"/>
                        </a:p>
                      </a:txBody>
                      <a:tcPr>
                        <a:blipFill>
                          <a:blip r:embed="rId3"/>
                          <a:stretch>
                            <a:fillRect l="-163136" t="-598361" r="-407" b="-713115"/>
                          </a:stretch>
                        </a:blipFill>
                      </a:tcPr>
                    </a:tc>
                    <a:extLst>
                      <a:ext uri="{0D108BD9-81ED-4DB2-BD59-A6C34878D82A}">
                        <a16:rowId xmlns:a16="http://schemas.microsoft.com/office/drawing/2014/main" val="2113060234"/>
                      </a:ext>
                    </a:extLst>
                  </a:tr>
                  <a:tr h="365760">
                    <a:tc>
                      <a:txBody>
                        <a:bodyPr/>
                        <a:lstStyle/>
                        <a:p>
                          <a:r>
                            <a:rPr lang="es-CO" sz="1800" b="1" dirty="0">
                              <a:latin typeface="+mn-lt"/>
                              <a:ea typeface="Roboto" panose="02000000000000000000" pitchFamily="2" charset="0"/>
                            </a:rPr>
                            <a:t>Identidad</a:t>
                          </a:r>
                        </a:p>
                      </a:txBody>
                      <a:tcPr>
                        <a:solidFill>
                          <a:schemeClr val="bg2"/>
                        </a:solidFill>
                      </a:tcPr>
                    </a:tc>
                    <a:tc>
                      <a:txBody>
                        <a:bodyPr/>
                        <a:lstStyle/>
                        <a:p>
                          <a:endParaRPr lang="es-CO"/>
                        </a:p>
                      </a:txBody>
                      <a:tcPr>
                        <a:blipFill>
                          <a:blip r:embed="rId3"/>
                          <a:stretch>
                            <a:fillRect l="-62475" t="-710000" r="-100000" b="-625000"/>
                          </a:stretch>
                        </a:blipFill>
                      </a:tcPr>
                    </a:tc>
                    <a:tc>
                      <a:txBody>
                        <a:bodyPr/>
                        <a:lstStyle/>
                        <a:p>
                          <a:endParaRPr lang="es-CO"/>
                        </a:p>
                      </a:txBody>
                      <a:tcPr>
                        <a:blipFill>
                          <a:blip r:embed="rId3"/>
                          <a:stretch>
                            <a:fillRect l="-163136" t="-710000" r="-407" b="-625000"/>
                          </a:stretch>
                        </a:blipFill>
                      </a:tcPr>
                    </a:tc>
                    <a:extLst>
                      <a:ext uri="{0D108BD9-81ED-4DB2-BD59-A6C34878D82A}">
                        <a16:rowId xmlns:a16="http://schemas.microsoft.com/office/drawing/2014/main" val="2494965197"/>
                      </a:ext>
                    </a:extLst>
                  </a:tr>
                  <a:tr h="365760">
                    <a:tc>
                      <a:txBody>
                        <a:bodyPr/>
                        <a:lstStyle/>
                        <a:p>
                          <a:r>
                            <a:rPr lang="es-CO" sz="1800" b="1" dirty="0">
                              <a:latin typeface="+mn-lt"/>
                              <a:ea typeface="Roboto" panose="02000000000000000000" pitchFamily="2" charset="0"/>
                            </a:rPr>
                            <a:t>Dominación</a:t>
                          </a:r>
                        </a:p>
                      </a:txBody>
                      <a:tcPr>
                        <a:solidFill>
                          <a:schemeClr val="bg2"/>
                        </a:solidFill>
                      </a:tcPr>
                    </a:tc>
                    <a:tc>
                      <a:txBody>
                        <a:bodyPr/>
                        <a:lstStyle/>
                        <a:p>
                          <a:endParaRPr lang="es-CO"/>
                        </a:p>
                      </a:txBody>
                      <a:tcPr>
                        <a:blipFill>
                          <a:blip r:embed="rId3"/>
                          <a:stretch>
                            <a:fillRect l="-62475" t="-810000" r="-100000" b="-525000"/>
                          </a:stretch>
                        </a:blipFill>
                      </a:tcPr>
                    </a:tc>
                    <a:tc>
                      <a:txBody>
                        <a:bodyPr/>
                        <a:lstStyle/>
                        <a:p>
                          <a:endParaRPr lang="es-CO"/>
                        </a:p>
                      </a:txBody>
                      <a:tcPr>
                        <a:blipFill>
                          <a:blip r:embed="rId3"/>
                          <a:stretch>
                            <a:fillRect l="-163136" t="-810000" r="-407" b="-525000"/>
                          </a:stretch>
                        </a:blipFill>
                      </a:tcPr>
                    </a:tc>
                    <a:extLst>
                      <a:ext uri="{0D108BD9-81ED-4DB2-BD59-A6C34878D82A}">
                        <a16:rowId xmlns:a16="http://schemas.microsoft.com/office/drawing/2014/main" val="707485840"/>
                      </a:ext>
                    </a:extLst>
                  </a:tr>
                  <a:tr h="365760">
                    <a:tc>
                      <a:txBody>
                        <a:bodyPr/>
                        <a:lstStyle/>
                        <a:p>
                          <a:r>
                            <a:rPr lang="es-CO" sz="1800" b="1" dirty="0">
                              <a:latin typeface="+mn-lt"/>
                              <a:ea typeface="Roboto" panose="02000000000000000000" pitchFamily="2" charset="0"/>
                            </a:rPr>
                            <a:t>Absorción</a:t>
                          </a:r>
                        </a:p>
                      </a:txBody>
                      <a:tcPr>
                        <a:solidFill>
                          <a:schemeClr val="bg2"/>
                        </a:solidFill>
                      </a:tcPr>
                    </a:tc>
                    <a:tc>
                      <a:txBody>
                        <a:bodyPr/>
                        <a:lstStyle/>
                        <a:p>
                          <a:endParaRPr lang="es-CO"/>
                        </a:p>
                      </a:txBody>
                      <a:tcPr>
                        <a:blipFill>
                          <a:blip r:embed="rId3"/>
                          <a:stretch>
                            <a:fillRect l="-62475" t="-910000" r="-100000" b="-425000"/>
                          </a:stretch>
                        </a:blipFill>
                      </a:tcPr>
                    </a:tc>
                    <a:tc>
                      <a:txBody>
                        <a:bodyPr/>
                        <a:lstStyle/>
                        <a:p>
                          <a:endParaRPr lang="es-CO"/>
                        </a:p>
                      </a:txBody>
                      <a:tcPr>
                        <a:blipFill>
                          <a:blip r:embed="rId3"/>
                          <a:stretch>
                            <a:fillRect l="-163136" t="-910000" r="-407" b="-425000"/>
                          </a:stretch>
                        </a:blipFill>
                      </a:tcPr>
                    </a:tc>
                    <a:extLst>
                      <a:ext uri="{0D108BD9-81ED-4DB2-BD59-A6C34878D82A}">
                        <a16:rowId xmlns:a16="http://schemas.microsoft.com/office/drawing/2014/main" val="1232652958"/>
                      </a:ext>
                    </a:extLst>
                  </a:tr>
                  <a:tr h="365760">
                    <a:tc>
                      <a:txBody>
                        <a:bodyPr/>
                        <a:lstStyle/>
                        <a:p>
                          <a:r>
                            <a:rPr lang="es-CO" sz="1800" b="1" dirty="0">
                              <a:latin typeface="+mn-lt"/>
                              <a:ea typeface="Roboto" panose="02000000000000000000" pitchFamily="2" charset="0"/>
                            </a:rPr>
                            <a:t>Complemento</a:t>
                          </a:r>
                        </a:p>
                      </a:txBody>
                      <a:tcPr>
                        <a:solidFill>
                          <a:schemeClr val="bg2"/>
                        </a:solidFill>
                      </a:tcPr>
                    </a:tc>
                    <a:tc>
                      <a:txBody>
                        <a:bodyPr/>
                        <a:lstStyle/>
                        <a:p>
                          <a:endParaRPr lang="es-CO"/>
                        </a:p>
                      </a:txBody>
                      <a:tcPr>
                        <a:blipFill>
                          <a:blip r:embed="rId3"/>
                          <a:stretch>
                            <a:fillRect l="-62475" t="-1010000" r="-100000" b="-325000"/>
                          </a:stretch>
                        </a:blipFill>
                      </a:tcPr>
                    </a:tc>
                    <a:tc>
                      <a:txBody>
                        <a:bodyPr/>
                        <a:lstStyle/>
                        <a:p>
                          <a:endParaRPr lang="es-CO"/>
                        </a:p>
                      </a:txBody>
                      <a:tcPr>
                        <a:blipFill>
                          <a:blip r:embed="rId3"/>
                          <a:stretch>
                            <a:fillRect l="-163136" t="-1010000" r="-407" b="-325000"/>
                          </a:stretch>
                        </a:blipFill>
                      </a:tcPr>
                    </a:tc>
                    <a:extLst>
                      <a:ext uri="{0D108BD9-81ED-4DB2-BD59-A6C34878D82A}">
                        <a16:rowId xmlns:a16="http://schemas.microsoft.com/office/drawing/2014/main" val="3770911309"/>
                      </a:ext>
                    </a:extLst>
                  </a:tr>
                  <a:tr h="365760">
                    <a:tc>
                      <a:txBody>
                        <a:bodyPr/>
                        <a:lstStyle/>
                        <a:p>
                          <a:r>
                            <a:rPr lang="es-CO" sz="1800" b="1" dirty="0">
                              <a:latin typeface="+mn-lt"/>
                              <a:ea typeface="Roboto" panose="02000000000000000000" pitchFamily="2" charset="0"/>
                            </a:rPr>
                            <a:t>Implicación</a:t>
                          </a:r>
                        </a:p>
                      </a:txBody>
                      <a:tcPr>
                        <a:solidFill>
                          <a:schemeClr val="bg2"/>
                        </a:solidFill>
                      </a:tcPr>
                    </a:tc>
                    <a:tc gridSpan="2">
                      <a:txBody>
                        <a:bodyPr/>
                        <a:lstStyle/>
                        <a:p>
                          <a:endParaRPr lang="es-CO"/>
                        </a:p>
                      </a:txBody>
                      <a:tcPr>
                        <a:blipFill>
                          <a:blip r:embed="rId3"/>
                          <a:stretch>
                            <a:fillRect l="-31301" t="-1110000" r="-203" b="-225000"/>
                          </a:stretch>
                        </a:blipFill>
                      </a:tcPr>
                    </a:tc>
                    <a:tc hMerge="1">
                      <a:txBody>
                        <a:bodyPr/>
                        <a:lstStyle/>
                        <a:p>
                          <a:endParaRPr lang="es-CO"/>
                        </a:p>
                      </a:txBody>
                      <a:tcPr/>
                    </a:tc>
                    <a:extLst>
                      <a:ext uri="{0D108BD9-81ED-4DB2-BD59-A6C34878D82A}">
                        <a16:rowId xmlns:a16="http://schemas.microsoft.com/office/drawing/2014/main" val="3483938044"/>
                      </a:ext>
                    </a:extLst>
                  </a:tr>
                  <a:tr h="365760">
                    <a:tc>
                      <a:txBody>
                        <a:bodyPr/>
                        <a:lstStyle/>
                        <a:p>
                          <a:r>
                            <a:rPr lang="es-CO" sz="1800" b="1" dirty="0">
                              <a:latin typeface="+mn-lt"/>
                              <a:ea typeface="Roboto" panose="02000000000000000000" pitchFamily="2" charset="0"/>
                            </a:rPr>
                            <a:t>Contrarrecíproco</a:t>
                          </a:r>
                        </a:p>
                      </a:txBody>
                      <a:tcPr>
                        <a:solidFill>
                          <a:schemeClr val="bg2"/>
                        </a:solidFill>
                      </a:tcPr>
                    </a:tc>
                    <a:tc gridSpan="2">
                      <a:txBody>
                        <a:bodyPr/>
                        <a:lstStyle/>
                        <a:p>
                          <a:endParaRPr lang="es-CO"/>
                        </a:p>
                      </a:txBody>
                      <a:tcPr>
                        <a:blipFill>
                          <a:blip r:embed="rId3"/>
                          <a:stretch>
                            <a:fillRect l="-31301" t="-1210000" r="-203" b="-125000"/>
                          </a:stretch>
                        </a:blipFill>
                      </a:tcPr>
                    </a:tc>
                    <a:tc hMerge="1">
                      <a:txBody>
                        <a:bodyPr/>
                        <a:lstStyle/>
                        <a:p>
                          <a:endParaRPr lang="es-CO"/>
                        </a:p>
                      </a:txBody>
                      <a:tcPr/>
                    </a:tc>
                    <a:extLst>
                      <a:ext uri="{0D108BD9-81ED-4DB2-BD59-A6C34878D82A}">
                        <a16:rowId xmlns:a16="http://schemas.microsoft.com/office/drawing/2014/main" val="3255506134"/>
                      </a:ext>
                    </a:extLst>
                  </a:tr>
                  <a:tr h="365760">
                    <a:tc>
                      <a:txBody>
                        <a:bodyPr/>
                        <a:lstStyle/>
                        <a:p>
                          <a:r>
                            <a:rPr lang="es-CO" sz="1800" b="1" dirty="0">
                              <a:latin typeface="+mn-lt"/>
                              <a:ea typeface="Roboto" panose="02000000000000000000" pitchFamily="2" charset="0"/>
                            </a:rPr>
                            <a:t>Equivalencia</a:t>
                          </a:r>
                        </a:p>
                      </a:txBody>
                      <a:tcPr>
                        <a:solidFill>
                          <a:schemeClr val="bg2"/>
                        </a:solidFill>
                      </a:tcPr>
                    </a:tc>
                    <a:tc gridSpan="2">
                      <a:txBody>
                        <a:bodyPr/>
                        <a:lstStyle/>
                        <a:p>
                          <a:endParaRPr lang="es-CO"/>
                        </a:p>
                      </a:txBody>
                      <a:tcPr>
                        <a:blipFill>
                          <a:blip r:embed="rId3"/>
                          <a:stretch>
                            <a:fillRect l="-31301" t="-1310000" r="-203" b="-25000"/>
                          </a:stretch>
                        </a:blipFill>
                      </a:tcPr>
                    </a:tc>
                    <a:tc hMerge="1">
                      <a:txBody>
                        <a:bodyPr/>
                        <a:lstStyle/>
                        <a:p>
                          <a:endParaRPr lang="es-CO"/>
                        </a:p>
                      </a:txBody>
                      <a:tcPr/>
                    </a:tc>
                    <a:extLst>
                      <a:ext uri="{0D108BD9-81ED-4DB2-BD59-A6C34878D82A}">
                        <a16:rowId xmlns:a16="http://schemas.microsoft.com/office/drawing/2014/main" val="40457137"/>
                      </a:ext>
                    </a:extLst>
                  </a:tr>
                </a:tbl>
              </a:graphicData>
            </a:graphic>
          </p:graphicFrame>
        </mc:Fallback>
      </mc:AlternateContent>
      <mc:AlternateContent xmlns:mc="http://schemas.openxmlformats.org/markup-compatibility/2006" xmlns:a14="http://schemas.microsoft.com/office/drawing/2010/main">
        <mc:Choice Requires="a14">
          <p:sp>
            <p:nvSpPr>
              <p:cNvPr id="11" name="CuadroTexto 10">
                <a:extLst>
                  <a:ext uri="{FF2B5EF4-FFF2-40B4-BE49-F238E27FC236}">
                    <a16:creationId xmlns:a16="http://schemas.microsoft.com/office/drawing/2014/main" id="{08E1E762-6C1E-4D83-9181-E30710876934}"/>
                  </a:ext>
                </a:extLst>
              </p:cNvPr>
              <p:cNvSpPr txBox="1"/>
              <p:nvPr/>
            </p:nvSpPr>
            <p:spPr>
              <a:xfrm>
                <a:off x="8318089" y="2348706"/>
                <a:ext cx="3731343" cy="3200876"/>
              </a:xfrm>
              <a:prstGeom prst="rect">
                <a:avLst/>
              </a:prstGeom>
              <a:solidFill>
                <a:schemeClr val="bg1">
                  <a:lumMod val="95000"/>
                </a:schemeClr>
              </a:solidFill>
            </p:spPr>
            <p:txBody>
              <a:bodyPr wrap="square" rtlCol="0">
                <a:spAutoFit/>
              </a:bodyPr>
              <a:lstStyle/>
              <a:p>
                <a:r>
                  <a:rPr lang="es-MX" sz="2200" b="1" dirty="0">
                    <a:solidFill>
                      <a:srgbClr val="C00000"/>
                    </a:solidFill>
                  </a:rPr>
                  <a:t>Nota importante</a:t>
                </a:r>
                <a:r>
                  <a:rPr lang="es-MX" sz="2200" dirty="0">
                    <a:solidFill>
                      <a:srgbClr val="C00000"/>
                    </a:solidFill>
                  </a:rPr>
                  <a:t>: </a:t>
                </a:r>
              </a:p>
              <a:p>
                <a:r>
                  <a:rPr lang="es-MX" sz="2000" dirty="0"/>
                  <a:t>Todas las equivalencias </a:t>
                </a:r>
                <a:r>
                  <a:rPr lang="es-MX" sz="2000" b="1" dirty="0"/>
                  <a:t>lógicas proposicionales</a:t>
                </a:r>
                <a:r>
                  <a:rPr lang="es-MX" sz="2000" dirty="0"/>
                  <a:t> son válidas en </a:t>
                </a:r>
                <a:r>
                  <a:rPr lang="es-MX" sz="2000" b="1" dirty="0"/>
                  <a:t>lógica cuantificacional</a:t>
                </a:r>
                <a:r>
                  <a:rPr lang="es-MX" sz="2000" dirty="0"/>
                  <a:t>, aplicándose a las fórmulas dentro del alcance de los cuantificadores, sustituyendo las variables proposicionales </a:t>
                </a:r>
                <a14:m>
                  <m:oMath xmlns:m="http://schemas.openxmlformats.org/officeDocument/2006/math">
                    <m:r>
                      <a:rPr lang="es-MX" sz="2000" i="1" dirty="0" smtClean="0">
                        <a:latin typeface="Cambria Math" panose="02040503050406030204" pitchFamily="18" charset="0"/>
                      </a:rPr>
                      <m:t>(</m:t>
                    </m:r>
                    <m:r>
                      <a:rPr lang="es-MX" sz="2000" i="1" dirty="0" smtClean="0">
                        <a:latin typeface="Cambria Math" panose="02040503050406030204" pitchFamily="18" charset="0"/>
                      </a:rPr>
                      <m:t>𝑃</m:t>
                    </m:r>
                    <m:r>
                      <a:rPr lang="es-MX" sz="2000" i="1" dirty="0" smtClean="0">
                        <a:latin typeface="Cambria Math" panose="02040503050406030204" pitchFamily="18" charset="0"/>
                      </a:rPr>
                      <m:t>, </m:t>
                    </m:r>
                    <m:r>
                      <a:rPr lang="es-MX" sz="2000" i="1" dirty="0" smtClean="0">
                        <a:latin typeface="Cambria Math" panose="02040503050406030204" pitchFamily="18" charset="0"/>
                      </a:rPr>
                      <m:t>𝑄</m:t>
                    </m:r>
                    <m:r>
                      <a:rPr lang="es-MX" sz="2000" i="1" dirty="0" smtClean="0">
                        <a:latin typeface="Cambria Math" panose="02040503050406030204" pitchFamily="18" charset="0"/>
                      </a:rPr>
                      <m:t>, </m:t>
                    </m:r>
                    <m:r>
                      <a:rPr lang="es-MX" sz="2000" i="1" dirty="0" smtClean="0">
                        <a:latin typeface="Cambria Math" panose="02040503050406030204" pitchFamily="18" charset="0"/>
                      </a:rPr>
                      <m:t>𝑅</m:t>
                    </m:r>
                    <m:r>
                      <a:rPr lang="es-MX" sz="2000" i="1" dirty="0" smtClean="0">
                        <a:latin typeface="Cambria Math" panose="02040503050406030204" pitchFamily="18" charset="0"/>
                      </a:rPr>
                      <m:t>)</m:t>
                    </m:r>
                  </m:oMath>
                </a14:m>
                <a:r>
                  <a:rPr lang="es-MX" sz="2000" dirty="0"/>
                  <a:t> por funciones proposicionales </a:t>
                </a:r>
                <a14:m>
                  <m:oMath xmlns:m="http://schemas.openxmlformats.org/officeDocument/2006/math">
                    <m:r>
                      <a:rPr lang="es-MX" sz="2000" i="1" dirty="0" smtClean="0">
                        <a:latin typeface="Cambria Math" panose="02040503050406030204" pitchFamily="18" charset="0"/>
                      </a:rPr>
                      <m:t>(</m:t>
                    </m:r>
                    <m:r>
                      <a:rPr lang="es-MX" sz="2000" i="1" dirty="0" smtClean="0">
                        <a:latin typeface="Cambria Math" panose="02040503050406030204" pitchFamily="18" charset="0"/>
                      </a:rPr>
                      <m:t>𝑃</m:t>
                    </m:r>
                    <m:r>
                      <a:rPr lang="es-MX" sz="2000" i="1" dirty="0" smtClean="0">
                        <a:latin typeface="Cambria Math" panose="02040503050406030204" pitchFamily="18" charset="0"/>
                      </a:rPr>
                      <m:t>(</m:t>
                    </m:r>
                    <m:r>
                      <a:rPr lang="es-MX" sz="2000" i="1" dirty="0" smtClean="0">
                        <a:latin typeface="Cambria Math" panose="02040503050406030204" pitchFamily="18" charset="0"/>
                      </a:rPr>
                      <m:t>𝑥</m:t>
                    </m:r>
                    <m:r>
                      <a:rPr lang="es-MX" sz="2000" i="1" dirty="0" smtClean="0">
                        <a:latin typeface="Cambria Math" panose="02040503050406030204" pitchFamily="18" charset="0"/>
                      </a:rPr>
                      <m:t>), </m:t>
                    </m:r>
                    <m:r>
                      <a:rPr lang="es-MX" sz="2000" i="1" dirty="0" smtClean="0">
                        <a:latin typeface="Cambria Math" panose="02040503050406030204" pitchFamily="18" charset="0"/>
                      </a:rPr>
                      <m:t>𝑄</m:t>
                    </m:r>
                    <m:r>
                      <a:rPr lang="es-MX" sz="2000" i="1" dirty="0" smtClean="0">
                        <a:latin typeface="Cambria Math" panose="02040503050406030204" pitchFamily="18" charset="0"/>
                      </a:rPr>
                      <m:t>(</m:t>
                    </m:r>
                    <m:r>
                      <a:rPr lang="es-MX" sz="2000" i="1" dirty="0" smtClean="0">
                        <a:latin typeface="Cambria Math" panose="02040503050406030204" pitchFamily="18" charset="0"/>
                      </a:rPr>
                      <m:t>𝑥</m:t>
                    </m:r>
                    <m:r>
                      <a:rPr lang="es-MX" sz="2000" i="1" dirty="0" smtClean="0">
                        <a:latin typeface="Cambria Math" panose="02040503050406030204" pitchFamily="18" charset="0"/>
                      </a:rPr>
                      <m:t>), </m:t>
                    </m:r>
                    <m:r>
                      <a:rPr lang="es-MX" sz="2000" i="1" dirty="0" smtClean="0">
                        <a:latin typeface="Cambria Math" panose="02040503050406030204" pitchFamily="18" charset="0"/>
                      </a:rPr>
                      <m:t>𝑅</m:t>
                    </m:r>
                    <m:r>
                      <a:rPr lang="es-MX" sz="2000" i="1" dirty="0" smtClean="0">
                        <a:latin typeface="Cambria Math" panose="02040503050406030204" pitchFamily="18" charset="0"/>
                      </a:rPr>
                      <m:t>(</m:t>
                    </m:r>
                    <m:r>
                      <a:rPr lang="es-MX" sz="2000" i="1" dirty="0" smtClean="0">
                        <a:latin typeface="Cambria Math" panose="02040503050406030204" pitchFamily="18" charset="0"/>
                      </a:rPr>
                      <m:t>𝑥</m:t>
                    </m:r>
                    <m:r>
                      <a:rPr lang="es-MX" sz="2000" i="1" dirty="0" smtClean="0">
                        <a:latin typeface="Cambria Math" panose="02040503050406030204" pitchFamily="18" charset="0"/>
                      </a:rPr>
                      <m:t>))</m:t>
                    </m:r>
                  </m:oMath>
                </a14:m>
                <a:r>
                  <a:rPr lang="es-MX" sz="2000" dirty="0"/>
                  <a:t>.</a:t>
                </a:r>
                <a:endParaRPr lang="es-CO" sz="2000" dirty="0"/>
              </a:p>
            </p:txBody>
          </p:sp>
        </mc:Choice>
        <mc:Fallback xmlns="">
          <p:sp>
            <p:nvSpPr>
              <p:cNvPr id="11" name="CuadroTexto 10">
                <a:extLst>
                  <a:ext uri="{FF2B5EF4-FFF2-40B4-BE49-F238E27FC236}">
                    <a16:creationId xmlns:a16="http://schemas.microsoft.com/office/drawing/2014/main" id="{08E1E762-6C1E-4D83-9181-E30710876934}"/>
                  </a:ext>
                </a:extLst>
              </p:cNvPr>
              <p:cNvSpPr txBox="1">
                <a:spLocks noRot="1" noChangeAspect="1" noMove="1" noResize="1" noEditPoints="1" noAdjustHandles="1" noChangeArrowheads="1" noChangeShapeType="1" noTextEdit="1"/>
              </p:cNvSpPr>
              <p:nvPr/>
            </p:nvSpPr>
            <p:spPr>
              <a:xfrm>
                <a:off x="8318089" y="2348706"/>
                <a:ext cx="3731343" cy="3200876"/>
              </a:xfrm>
              <a:prstGeom prst="rect">
                <a:avLst/>
              </a:prstGeom>
              <a:blipFill>
                <a:blip r:embed="rId4"/>
                <a:stretch>
                  <a:fillRect l="-2124" t="-1143" r="-2451" b="-2476"/>
                </a:stretch>
              </a:blipFill>
            </p:spPr>
            <p:txBody>
              <a:bodyPr/>
              <a:lstStyle/>
              <a:p>
                <a:r>
                  <a:rPr lang="es-CO">
                    <a:noFill/>
                  </a:rPr>
                  <a:t> </a:t>
                </a:r>
              </a:p>
            </p:txBody>
          </p:sp>
        </mc:Fallback>
      </mc:AlternateContent>
    </p:spTree>
    <p:extLst>
      <p:ext uri="{BB962C8B-B14F-4D97-AF65-F5344CB8AC3E}">
        <p14:creationId xmlns:p14="http://schemas.microsoft.com/office/powerpoint/2010/main" val="7516613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a:xfrm>
            <a:off x="377371" y="96038"/>
            <a:ext cx="11450835" cy="949500"/>
          </a:xfrm>
        </p:spPr>
        <p:txBody>
          <a:bodyPr/>
          <a:lstStyle/>
          <a:p>
            <a:r>
              <a:rPr lang="es-ES" dirty="0">
                <a:solidFill>
                  <a:schemeClr val="tx1"/>
                </a:solidFill>
                <a:latin typeface="+mj-lt"/>
              </a:rPr>
              <a:t>Reglas de inferencia</a:t>
            </a:r>
            <a:endParaRPr lang="es-CO" dirty="0">
              <a:solidFill>
                <a:schemeClr val="tx1"/>
              </a:solidFill>
            </a:endParaRPr>
          </a:p>
        </p:txBody>
      </p:sp>
      <mc:AlternateContent xmlns:mc="http://schemas.openxmlformats.org/markup-compatibility/2006">
        <mc:Choice xmlns:a14="http://schemas.microsoft.com/office/drawing/2010/main" Requires="a14">
          <p:graphicFrame>
            <p:nvGraphicFramePr>
              <p:cNvPr id="5" name="Tabla 4">
                <a:extLst>
                  <a:ext uri="{FF2B5EF4-FFF2-40B4-BE49-F238E27FC236}">
                    <a16:creationId xmlns:a16="http://schemas.microsoft.com/office/drawing/2014/main" id="{EFFAE407-8F8B-40B9-BA7A-55ACE6E6E15C}"/>
                  </a:ext>
                </a:extLst>
              </p:cNvPr>
              <p:cNvGraphicFramePr>
                <a:graphicFrameLocks noGrp="1"/>
              </p:cNvGraphicFramePr>
              <p:nvPr/>
            </p:nvGraphicFramePr>
            <p:xfrm>
              <a:off x="454027" y="1154775"/>
              <a:ext cx="11297522" cy="5140264"/>
            </p:xfrm>
            <a:graphic>
              <a:graphicData uri="http://schemas.openxmlformats.org/drawingml/2006/table">
                <a:tbl>
                  <a:tblPr firstRow="1" bandRow="1">
                    <a:tableStyleId>{AD6A3598-7CB8-4345-8D95-17CE05F158A0}</a:tableStyleId>
                  </a:tblPr>
                  <a:tblGrid>
                    <a:gridCol w="2793087">
                      <a:extLst>
                        <a:ext uri="{9D8B030D-6E8A-4147-A177-3AD203B41FA5}">
                          <a16:colId xmlns:a16="http://schemas.microsoft.com/office/drawing/2014/main" val="3517824357"/>
                        </a:ext>
                      </a:extLst>
                    </a:gridCol>
                    <a:gridCol w="2902858">
                      <a:extLst>
                        <a:ext uri="{9D8B030D-6E8A-4147-A177-3AD203B41FA5}">
                          <a16:colId xmlns:a16="http://schemas.microsoft.com/office/drawing/2014/main" val="2212776800"/>
                        </a:ext>
                      </a:extLst>
                    </a:gridCol>
                    <a:gridCol w="3130497">
                      <a:extLst>
                        <a:ext uri="{9D8B030D-6E8A-4147-A177-3AD203B41FA5}">
                          <a16:colId xmlns:a16="http://schemas.microsoft.com/office/drawing/2014/main" val="3724117940"/>
                        </a:ext>
                      </a:extLst>
                    </a:gridCol>
                    <a:gridCol w="2471080">
                      <a:extLst>
                        <a:ext uri="{9D8B030D-6E8A-4147-A177-3AD203B41FA5}">
                          <a16:colId xmlns:a16="http://schemas.microsoft.com/office/drawing/2014/main" val="333003826"/>
                        </a:ext>
                      </a:extLst>
                    </a:gridCol>
                  </a:tblGrid>
                  <a:tr h="0">
                    <a:tc>
                      <a:txBody>
                        <a:bodyPr/>
                        <a:lstStyle/>
                        <a:p>
                          <a:r>
                            <a:rPr lang="es-CO" sz="2000" b="1" dirty="0">
                              <a:latin typeface="+mn-lt"/>
                              <a:ea typeface="Roboto" panose="02000000000000000000" pitchFamily="2" charset="0"/>
                            </a:rPr>
                            <a:t>Nombre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s-CO" sz="2000" b="1" dirty="0">
                              <a:latin typeface="+mn-lt"/>
                              <a:ea typeface="Roboto" panose="02000000000000000000" pitchFamily="2" charset="0"/>
                            </a:rPr>
                            <a:t>Regla de inferencia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s-CO" sz="2000" b="1" dirty="0">
                              <a:latin typeface="+mn-lt"/>
                              <a:ea typeface="Roboto" panose="02000000000000000000" pitchFamily="2" charset="0"/>
                            </a:rPr>
                            <a:t>Nombre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s-CO" sz="2000" b="1" dirty="0">
                              <a:latin typeface="+mn-lt"/>
                              <a:ea typeface="Roboto" panose="02000000000000000000" pitchFamily="2" charset="0"/>
                            </a:rPr>
                            <a:t>Regla de inferencia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873507432"/>
                      </a:ext>
                    </a:extLst>
                  </a:tr>
                  <a:tr h="243775">
                    <a:tc>
                      <a:txBody>
                        <a:bodyPr/>
                        <a:lstStyle/>
                        <a:p>
                          <a:r>
                            <a:rPr lang="es-CO" sz="2000" dirty="0">
                              <a:latin typeface="+mn-lt"/>
                              <a:ea typeface="Roboto" panose="02000000000000000000" pitchFamily="2" charset="0"/>
                            </a:rPr>
                            <a:t>Modus Ponens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14:m>
                            <m:oMathPara xmlns:m="http://schemas.openxmlformats.org/officeDocument/2006/math">
                              <m:oMathParaPr>
                                <m:jc m:val="center"/>
                              </m:oMathParaPr>
                              <m:oMath xmlns:m="http://schemas.openxmlformats.org/officeDocument/2006/math">
                                <m:f>
                                  <m:fPr>
                                    <m:ctrlPr>
                                      <a:rPr lang="es-MX" sz="2000" b="0" i="1" smtClean="0">
                                        <a:latin typeface="Cambria Math" panose="02040503050406030204" pitchFamily="18" charset="0"/>
                                        <a:ea typeface="Roboto" panose="02000000000000000000" pitchFamily="2" charset="0"/>
                                      </a:rPr>
                                    </m:ctrlPr>
                                  </m:fPr>
                                  <m:num>
                                    <m:m>
                                      <m:mPr>
                                        <m:mcs>
                                          <m:mc>
                                            <m:mcPr>
                                              <m:count m:val="1"/>
                                              <m:mcJc m:val="center"/>
                                            </m:mcPr>
                                          </m:mc>
                                        </m:mcs>
                                        <m:ctrlPr>
                                          <a:rPr lang="es-MX" sz="2000" b="0" i="1" smtClean="0">
                                            <a:latin typeface="Cambria Math" panose="02040503050406030204" pitchFamily="18" charset="0"/>
                                            <a:ea typeface="Roboto" panose="02000000000000000000" pitchFamily="2" charset="0"/>
                                          </a:rPr>
                                        </m:ctrlPr>
                                      </m:mPr>
                                      <m:mr>
                                        <m:e>
                                          <m:r>
                                            <m:rPr>
                                              <m:brk m:alnAt="7"/>
                                            </m:rPr>
                                            <a:rPr lang="es-MX" sz="2000" b="0" i="1" smtClean="0">
                                              <a:latin typeface="Cambria Math" panose="02040503050406030204" pitchFamily="18" charset="0"/>
                                              <a:ea typeface="Roboto" panose="02000000000000000000" pitchFamily="2" charset="0"/>
                                            </a:rPr>
                                            <m:t> </m:t>
                                          </m:r>
                                          <m:r>
                                            <a:rPr lang="es-MX" sz="2000" b="0" i="1" smtClean="0">
                                              <a:latin typeface="Cambria Math" panose="02040503050406030204" pitchFamily="18" charset="0"/>
                                              <a:ea typeface="Roboto" panose="02000000000000000000" pitchFamily="2" charset="0"/>
                                            </a:rPr>
                                            <m:t> </m:t>
                                          </m:r>
                                          <m:r>
                                            <a:rPr lang="es-MX" sz="2000" b="0" i="1" smtClean="0">
                                              <a:latin typeface="Cambria Math" panose="02040503050406030204" pitchFamily="18" charset="0"/>
                                              <a:ea typeface="Roboto" panose="02000000000000000000" pitchFamily="2" charset="0"/>
                                            </a:rPr>
                                            <m:t>𝑝</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𝑞</m:t>
                                          </m:r>
                                        </m:e>
                                      </m:mr>
                                      <m:mr>
                                        <m:e>
                                          <m:r>
                                            <a:rPr lang="es-MX" sz="2000" b="0" i="1" smtClean="0">
                                              <a:latin typeface="Cambria Math" panose="02040503050406030204" pitchFamily="18" charset="0"/>
                                              <a:ea typeface="Roboto" panose="02000000000000000000" pitchFamily="2" charset="0"/>
                                            </a:rPr>
                                            <m:t>   </m:t>
                                          </m:r>
                                          <m:r>
                                            <a:rPr lang="es-MX" sz="2000" b="0" i="1" smtClean="0">
                                              <a:latin typeface="Cambria Math" panose="02040503050406030204" pitchFamily="18" charset="0"/>
                                              <a:ea typeface="Roboto" panose="02000000000000000000" pitchFamily="2" charset="0"/>
                                            </a:rPr>
                                            <m:t>𝑝</m:t>
                                          </m:r>
                                          <m:r>
                                            <a:rPr lang="es-MX" sz="2000" b="0" i="1" smtClean="0">
                                              <a:latin typeface="Cambria Math" panose="02040503050406030204" pitchFamily="18" charset="0"/>
                                              <a:ea typeface="Roboto" panose="02000000000000000000" pitchFamily="2" charset="0"/>
                                            </a:rPr>
                                            <m:t>         </m:t>
                                          </m:r>
                                        </m:e>
                                      </m:mr>
                                    </m:m>
                                  </m:num>
                                  <m:den>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Roboto" panose="02000000000000000000" pitchFamily="2" charset="0"/>
                                      </a:rPr>
                                      <m:t>𝑞</m:t>
                                    </m:r>
                                    <m:r>
                                      <a:rPr lang="es-MX" sz="2000" b="0" i="1" smtClean="0">
                                        <a:latin typeface="Cambria Math" panose="02040503050406030204" pitchFamily="18" charset="0"/>
                                        <a:ea typeface="Roboto" panose="02000000000000000000" pitchFamily="2" charset="0"/>
                                      </a:rPr>
                                      <m:t>         </m:t>
                                    </m:r>
                                  </m:den>
                                </m:f>
                              </m:oMath>
                            </m:oMathPara>
                          </a14:m>
                          <a:endParaRPr lang="es-CO" sz="2000" dirty="0">
                            <a:latin typeface="Roboto" panose="02000000000000000000" pitchFamily="2"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2000" dirty="0">
                              <a:latin typeface="+mn-lt"/>
                              <a:ea typeface="Roboto" panose="02000000000000000000" pitchFamily="2" charset="0"/>
                            </a:rPr>
                            <a:t>Simplificación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1"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
                              </m:oMathParaPr>
                              <m:oMath xmlns:m="http://schemas.openxmlformats.org/officeDocument/2006/math">
                                <m:f>
                                  <m:fPr>
                                    <m:ctrlPr>
                                      <a:rPr lang="es-MX" sz="2000" b="0" i="1" smtClean="0">
                                        <a:latin typeface="Cambria Math" panose="02040503050406030204" pitchFamily="18" charset="0"/>
                                        <a:ea typeface="Roboto" panose="02000000000000000000" pitchFamily="2" charset="0"/>
                                      </a:rPr>
                                    </m:ctrlPr>
                                  </m:fPr>
                                  <m:num>
                                    <m:r>
                                      <a:rPr lang="es-MX" sz="2000" b="0" i="1" smtClean="0">
                                        <a:latin typeface="Cambria Math" panose="02040503050406030204" pitchFamily="18" charset="0"/>
                                        <a:ea typeface="Roboto" panose="02000000000000000000" pitchFamily="2" charset="0"/>
                                      </a:rPr>
                                      <m:t> </m:t>
                                    </m:r>
                                    <m:r>
                                      <a:rPr lang="es-MX" sz="2000" b="0" i="1" smtClean="0">
                                        <a:latin typeface="Cambria Math" panose="02040503050406030204" pitchFamily="18" charset="0"/>
                                        <a:ea typeface="Roboto" panose="02000000000000000000" pitchFamily="2" charset="0"/>
                                      </a:rPr>
                                      <m:t>𝑝</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𝑞</m:t>
                                    </m:r>
                                  </m:num>
                                  <m:den>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𝑝</m:t>
                                    </m:r>
                                    <m:r>
                                      <a:rPr lang="es-MX" sz="2000" b="0" i="1" smtClean="0">
                                        <a:latin typeface="Cambria Math" panose="02040503050406030204" pitchFamily="18" charset="0"/>
                                        <a:ea typeface="Roboto" panose="02000000000000000000" pitchFamily="2" charset="0"/>
                                      </a:rPr>
                                      <m:t>         </m:t>
                                    </m:r>
                                  </m:den>
                                </m:f>
                              </m:oMath>
                            </m:oMathPara>
                          </a14:m>
                          <a:endParaRPr lang="es-CO" sz="2000" dirty="0">
                            <a:latin typeface="Roboto" panose="02000000000000000000" pitchFamily="2"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9179385"/>
                      </a:ext>
                    </a:extLst>
                  </a:tr>
                  <a:tr h="243775">
                    <a:tc>
                      <a:txBody>
                        <a:bodyPr/>
                        <a:lstStyle/>
                        <a:p>
                          <a:r>
                            <a:rPr lang="es-CO" sz="2000" dirty="0">
                              <a:latin typeface="+mn-lt"/>
                              <a:ea typeface="Roboto" panose="02000000000000000000" pitchFamily="2" charset="0"/>
                            </a:rPr>
                            <a:t>Modus Tollens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14:m>
                            <m:oMathPara xmlns:m="http://schemas.openxmlformats.org/officeDocument/2006/math">
                              <m:oMathParaPr>
                                <m:jc m:val="center"/>
                              </m:oMathParaPr>
                              <m:oMath xmlns:m="http://schemas.openxmlformats.org/officeDocument/2006/math">
                                <m:f>
                                  <m:fPr>
                                    <m:ctrlPr>
                                      <a:rPr lang="es-MX" sz="2000" b="0" i="1" smtClean="0">
                                        <a:latin typeface="Cambria Math" panose="02040503050406030204" pitchFamily="18" charset="0"/>
                                        <a:ea typeface="Roboto" panose="02000000000000000000" pitchFamily="2" charset="0"/>
                                      </a:rPr>
                                    </m:ctrlPr>
                                  </m:fPr>
                                  <m:num>
                                    <m:m>
                                      <m:mPr>
                                        <m:mcs>
                                          <m:mc>
                                            <m:mcPr>
                                              <m:count m:val="1"/>
                                              <m:mcJc m:val="center"/>
                                            </m:mcPr>
                                          </m:mc>
                                        </m:mcs>
                                        <m:ctrlPr>
                                          <a:rPr lang="es-MX" sz="2000" b="0" i="1" smtClean="0">
                                            <a:latin typeface="Cambria Math" panose="02040503050406030204" pitchFamily="18" charset="0"/>
                                            <a:ea typeface="Roboto" panose="02000000000000000000" pitchFamily="2" charset="0"/>
                                          </a:rPr>
                                        </m:ctrlPr>
                                      </m:mPr>
                                      <m:mr>
                                        <m:e>
                                          <m:r>
                                            <m:rPr>
                                              <m:brk m:alnAt="7"/>
                                            </m:rPr>
                                            <a:rPr lang="es-MX" sz="2000" b="0" i="1" smtClean="0">
                                              <a:latin typeface="Cambria Math" panose="02040503050406030204" pitchFamily="18" charset="0"/>
                                              <a:ea typeface="Roboto" panose="02000000000000000000" pitchFamily="2" charset="0"/>
                                            </a:rPr>
                                            <m:t> </m:t>
                                          </m:r>
                                          <m:r>
                                            <a:rPr lang="es-MX" sz="2000" b="0" i="1" smtClean="0">
                                              <a:latin typeface="Cambria Math" panose="02040503050406030204" pitchFamily="18" charset="0"/>
                                              <a:ea typeface="Roboto" panose="02000000000000000000" pitchFamily="2" charset="0"/>
                                            </a:rPr>
                                            <m:t> </m:t>
                                          </m:r>
                                          <m:r>
                                            <a:rPr lang="es-MX" sz="2000" b="0" i="1" smtClean="0">
                                              <a:latin typeface="Cambria Math" panose="02040503050406030204" pitchFamily="18" charset="0"/>
                                              <a:ea typeface="Roboto" panose="02000000000000000000" pitchFamily="2" charset="0"/>
                                            </a:rPr>
                                            <m:t>𝑝</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𝑞</m:t>
                                          </m:r>
                                        </m:e>
                                      </m:mr>
                                      <m:mr>
                                        <m:e>
                                          <m:r>
                                            <a:rPr lang="es-MX" sz="2000" b="0" i="1" smtClean="0">
                                              <a:latin typeface="Cambria Math" panose="02040503050406030204" pitchFamily="18" charset="0"/>
                                              <a:ea typeface="Roboto" panose="02000000000000000000" pitchFamily="2" charset="0"/>
                                            </a:rPr>
                                            <m:t>   ¬</m:t>
                                          </m:r>
                                          <m:r>
                                            <a:rPr lang="es-MX" sz="2000" b="0" i="1" smtClean="0">
                                              <a:latin typeface="Cambria Math" panose="02040503050406030204" pitchFamily="18" charset="0"/>
                                              <a:ea typeface="Roboto" panose="02000000000000000000" pitchFamily="2" charset="0"/>
                                            </a:rPr>
                                            <m:t>𝑞</m:t>
                                          </m:r>
                                          <m:r>
                                            <a:rPr lang="es-MX" sz="2000" b="0" i="1" smtClean="0">
                                              <a:latin typeface="Cambria Math" panose="02040503050406030204" pitchFamily="18" charset="0"/>
                                              <a:ea typeface="Roboto" panose="02000000000000000000" pitchFamily="2" charset="0"/>
                                            </a:rPr>
                                            <m:t>         </m:t>
                                          </m:r>
                                        </m:e>
                                      </m:mr>
                                    </m:m>
                                  </m:num>
                                  <m:den>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𝑝</m:t>
                                    </m:r>
                                    <m:r>
                                      <a:rPr lang="es-MX" sz="2000" b="0" i="1" smtClean="0">
                                        <a:latin typeface="Cambria Math" panose="02040503050406030204" pitchFamily="18" charset="0"/>
                                        <a:ea typeface="Roboto" panose="02000000000000000000" pitchFamily="2" charset="0"/>
                                      </a:rPr>
                                      <m:t>         </m:t>
                                    </m:r>
                                  </m:den>
                                </m:f>
                              </m:oMath>
                            </m:oMathPara>
                          </a14:m>
                          <a:endParaRPr lang="es-CO" sz="2000" dirty="0">
                            <a:latin typeface="Roboto" panose="02000000000000000000" pitchFamily="2"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2000" dirty="0">
                              <a:latin typeface="+mn-lt"/>
                              <a:ea typeface="Roboto" panose="02000000000000000000" pitchFamily="2" charset="0"/>
                            </a:rPr>
                            <a:t>Conjunción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1"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
                              </m:oMathParaPr>
                              <m:oMath xmlns:m="http://schemas.openxmlformats.org/officeDocument/2006/math">
                                <m:f>
                                  <m:fPr>
                                    <m:ctrlPr>
                                      <a:rPr lang="es-MX" sz="2000" b="0" i="1" smtClean="0">
                                        <a:latin typeface="Cambria Math" panose="02040503050406030204" pitchFamily="18" charset="0"/>
                                        <a:ea typeface="Roboto" panose="02000000000000000000" pitchFamily="2" charset="0"/>
                                      </a:rPr>
                                    </m:ctrlPr>
                                  </m:fPr>
                                  <m:num>
                                    <m:m>
                                      <m:mPr>
                                        <m:mcs>
                                          <m:mc>
                                            <m:mcPr>
                                              <m:count m:val="1"/>
                                              <m:mcJc m:val="center"/>
                                            </m:mcPr>
                                          </m:mc>
                                        </m:mcs>
                                        <m:ctrlPr>
                                          <a:rPr lang="es-MX" sz="2000" b="0" i="1" smtClean="0">
                                            <a:latin typeface="Cambria Math" panose="02040503050406030204" pitchFamily="18" charset="0"/>
                                            <a:ea typeface="Roboto" panose="02000000000000000000" pitchFamily="2" charset="0"/>
                                          </a:rPr>
                                        </m:ctrlPr>
                                      </m:mPr>
                                      <m:mr>
                                        <m:e>
                                          <m:r>
                                            <a:rPr lang="es-MX" sz="2000" b="0" i="1" smtClean="0">
                                              <a:latin typeface="Cambria Math" panose="02040503050406030204" pitchFamily="18" charset="0"/>
                                              <a:ea typeface="Roboto" panose="02000000000000000000" pitchFamily="2" charset="0"/>
                                            </a:rPr>
                                            <m:t>𝑝</m:t>
                                          </m:r>
                                          <m:r>
                                            <a:rPr lang="es-MX" sz="2000" b="0" i="1" smtClean="0">
                                              <a:latin typeface="Cambria Math" panose="02040503050406030204" pitchFamily="18" charset="0"/>
                                              <a:ea typeface="Roboto" panose="02000000000000000000" pitchFamily="2" charset="0"/>
                                            </a:rPr>
                                            <m:t>     </m:t>
                                          </m:r>
                                        </m:e>
                                      </m:mr>
                                      <m:mr>
                                        <m:e>
                                          <m:r>
                                            <a:rPr lang="es-MX" sz="2000" b="0" i="1" smtClean="0">
                                              <a:latin typeface="Cambria Math" panose="02040503050406030204" pitchFamily="18" charset="0"/>
                                              <a:ea typeface="Roboto" panose="02000000000000000000" pitchFamily="2" charset="0"/>
                                            </a:rPr>
                                            <m:t>𝑞</m:t>
                                          </m:r>
                                          <m:r>
                                            <a:rPr lang="es-MX" sz="2000" b="0" i="1" smtClean="0">
                                              <a:latin typeface="Cambria Math" panose="02040503050406030204" pitchFamily="18" charset="0"/>
                                              <a:ea typeface="Roboto" panose="02000000000000000000" pitchFamily="2" charset="0"/>
                                            </a:rPr>
                                            <m:t>     </m:t>
                                          </m:r>
                                        </m:e>
                                      </m:mr>
                                    </m:m>
                                  </m:num>
                                  <m:den>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𝑝</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𝑞</m:t>
                                    </m:r>
                                    <m:r>
                                      <m:rPr>
                                        <m:nor/>
                                      </m:rPr>
                                      <a:rPr lang="es-CO" sz="2000" dirty="0">
                                        <a:latin typeface="Roboto" panose="02000000000000000000" pitchFamily="2" charset="0"/>
                                        <a:ea typeface="Roboto" panose="02000000000000000000" pitchFamily="2" charset="0"/>
                                      </a:rPr>
                                      <m:t> </m:t>
                                    </m:r>
                                  </m:den>
                                </m:f>
                              </m:oMath>
                            </m:oMathPara>
                          </a14:m>
                          <a:endParaRPr lang="es-CO" sz="2000" dirty="0">
                            <a:latin typeface="Roboto" panose="02000000000000000000" pitchFamily="2"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8799334"/>
                      </a:ext>
                    </a:extLst>
                  </a:tr>
                  <a:tr h="243775">
                    <a:tc>
                      <a:txBody>
                        <a:bodyPr/>
                        <a:lstStyle/>
                        <a:p>
                          <a:r>
                            <a:rPr lang="es-CO" sz="2000" dirty="0">
                              <a:latin typeface="+mn-lt"/>
                              <a:ea typeface="Roboto" panose="02000000000000000000" pitchFamily="2" charset="0"/>
                            </a:rPr>
                            <a:t>Silogismo hipotético (Transitividad)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14:m>
                            <m:oMathPara xmlns:m="http://schemas.openxmlformats.org/officeDocument/2006/math">
                              <m:oMathParaPr>
                                <m:jc m:val="center"/>
                              </m:oMathParaPr>
                              <m:oMath xmlns:m="http://schemas.openxmlformats.org/officeDocument/2006/math">
                                <m:f>
                                  <m:fPr>
                                    <m:ctrlPr>
                                      <a:rPr lang="es-MX" sz="2000" b="0" i="1" smtClean="0">
                                        <a:latin typeface="Cambria Math" panose="02040503050406030204" pitchFamily="18" charset="0"/>
                                        <a:ea typeface="Roboto" panose="02000000000000000000" pitchFamily="2" charset="0"/>
                                      </a:rPr>
                                    </m:ctrlPr>
                                  </m:fPr>
                                  <m:num>
                                    <m:m>
                                      <m:mPr>
                                        <m:mcs>
                                          <m:mc>
                                            <m:mcPr>
                                              <m:count m:val="1"/>
                                              <m:mcJc m:val="center"/>
                                            </m:mcPr>
                                          </m:mc>
                                        </m:mcs>
                                        <m:ctrlPr>
                                          <a:rPr lang="es-MX" sz="2000" b="0" i="1" smtClean="0">
                                            <a:latin typeface="Cambria Math" panose="02040503050406030204" pitchFamily="18" charset="0"/>
                                            <a:ea typeface="Roboto" panose="02000000000000000000" pitchFamily="2" charset="0"/>
                                          </a:rPr>
                                        </m:ctrlPr>
                                      </m:mPr>
                                      <m:mr>
                                        <m:e>
                                          <m:r>
                                            <m:rPr>
                                              <m:brk m:alnAt="7"/>
                                            </m:rPr>
                                            <a:rPr lang="es-MX" sz="2000" b="0" i="1" smtClean="0">
                                              <a:latin typeface="Cambria Math" panose="02040503050406030204" pitchFamily="18" charset="0"/>
                                              <a:ea typeface="Roboto" panose="02000000000000000000" pitchFamily="2" charset="0"/>
                                            </a:rPr>
                                            <m:t> </m:t>
                                          </m:r>
                                          <m:r>
                                            <a:rPr lang="es-MX" sz="2000" b="0" i="1" smtClean="0">
                                              <a:latin typeface="Cambria Math" panose="02040503050406030204" pitchFamily="18" charset="0"/>
                                              <a:ea typeface="Roboto" panose="02000000000000000000" pitchFamily="2" charset="0"/>
                                            </a:rPr>
                                            <m:t>  </m:t>
                                          </m:r>
                                          <m:r>
                                            <a:rPr lang="es-MX" sz="2000" b="0" i="1" smtClean="0">
                                              <a:latin typeface="Cambria Math" panose="02040503050406030204" pitchFamily="18" charset="0"/>
                                              <a:ea typeface="Roboto" panose="02000000000000000000" pitchFamily="2" charset="0"/>
                                            </a:rPr>
                                            <m:t>𝑝</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𝑞</m:t>
                                          </m:r>
                                        </m:e>
                                      </m:mr>
                                      <m:mr>
                                        <m:e>
                                          <m:r>
                                            <a:rPr lang="es-MX" sz="2000" b="0" i="1" smtClean="0">
                                              <a:latin typeface="Cambria Math" panose="02040503050406030204" pitchFamily="18" charset="0"/>
                                              <a:ea typeface="Roboto" panose="02000000000000000000" pitchFamily="2" charset="0"/>
                                            </a:rPr>
                                            <m:t>    </m:t>
                                          </m:r>
                                          <m:r>
                                            <a:rPr lang="es-MX" sz="2000" b="0" i="1" smtClean="0">
                                              <a:latin typeface="Cambria Math" panose="02040503050406030204" pitchFamily="18" charset="0"/>
                                              <a:ea typeface="Roboto" panose="02000000000000000000" pitchFamily="2" charset="0"/>
                                            </a:rPr>
                                            <m:t>𝑞</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𝑟</m:t>
                                          </m:r>
                                          <m:r>
                                            <m:rPr>
                                              <m:nor/>
                                            </m:rPr>
                                            <a:rPr lang="es-CO" sz="2000" dirty="0">
                                              <a:latin typeface="Roboto" panose="02000000000000000000" pitchFamily="2" charset="0"/>
                                              <a:ea typeface="Roboto" panose="02000000000000000000" pitchFamily="2" charset="0"/>
                                            </a:rPr>
                                            <m:t> </m:t>
                                          </m:r>
                                        </m:e>
                                      </m:mr>
                                    </m:m>
                                  </m:num>
                                  <m:den>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𝑝</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𝑟</m:t>
                                    </m:r>
                                  </m:den>
                                </m:f>
                              </m:oMath>
                            </m:oMathPara>
                          </a14:m>
                          <a:endParaRPr lang="es-CO" sz="2000" dirty="0">
                            <a:latin typeface="Roboto" panose="02000000000000000000" pitchFamily="2"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r>
                            <a:rPr lang="es-CO" sz="2000" dirty="0">
                              <a:latin typeface="+mn-lt"/>
                              <a:ea typeface="Roboto" panose="02000000000000000000" pitchFamily="2" charset="0"/>
                            </a:rPr>
                            <a:t>Prueba de división por casos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lvl="1" algn="ctr"/>
                          <a14:m>
                            <m:oMathPara xmlns:m="http://schemas.openxmlformats.org/officeDocument/2006/math">
                              <m:oMathParaPr>
                                <m:jc m:val="left"/>
                              </m:oMathParaPr>
                              <m:oMath xmlns:m="http://schemas.openxmlformats.org/officeDocument/2006/math">
                                <m:f>
                                  <m:fPr>
                                    <m:ctrlPr>
                                      <a:rPr lang="es-MX" sz="2000" b="0" i="1" smtClean="0">
                                        <a:latin typeface="Cambria Math" panose="02040503050406030204" pitchFamily="18" charset="0"/>
                                        <a:ea typeface="Roboto" panose="02000000000000000000" pitchFamily="2" charset="0"/>
                                      </a:rPr>
                                    </m:ctrlPr>
                                  </m:fPr>
                                  <m:num>
                                    <m:m>
                                      <m:mPr>
                                        <m:mcs>
                                          <m:mc>
                                            <m:mcPr>
                                              <m:count m:val="1"/>
                                              <m:mcJc m:val="center"/>
                                            </m:mcPr>
                                          </m:mc>
                                        </m:mcs>
                                        <m:ctrlPr>
                                          <a:rPr lang="es-MX" sz="2000" b="0" i="1" smtClean="0">
                                            <a:latin typeface="Cambria Math" panose="02040503050406030204" pitchFamily="18" charset="0"/>
                                            <a:ea typeface="Roboto" panose="02000000000000000000" pitchFamily="2" charset="0"/>
                                          </a:rPr>
                                        </m:ctrlPr>
                                      </m:mPr>
                                      <m:mr>
                                        <m:e>
                                          <m:r>
                                            <a:rPr lang="es-MX" sz="2000" b="0" i="1" smtClean="0">
                                              <a:latin typeface="Cambria Math" panose="02040503050406030204" pitchFamily="18" charset="0"/>
                                              <a:ea typeface="Roboto" panose="02000000000000000000" pitchFamily="2" charset="0"/>
                                            </a:rPr>
                                            <m:t>𝑝</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Roboto" panose="02000000000000000000" pitchFamily="2" charset="0"/>
                                            </a:rPr>
                                            <m:t>𝑞</m:t>
                                          </m:r>
                                          <m:r>
                                            <a:rPr lang="es-MX" sz="2000" b="0" i="1" smtClean="0">
                                              <a:latin typeface="Cambria Math" panose="02040503050406030204" pitchFamily="18" charset="0"/>
                                              <a:ea typeface="Roboto" panose="02000000000000000000" pitchFamily="2" charset="0"/>
                                            </a:rPr>
                                            <m:t>  </m:t>
                                          </m:r>
                                        </m:e>
                                      </m:mr>
                                      <m:mr>
                                        <m:e>
                                          <m:r>
                                            <a:rPr lang="es-MX" sz="2000" b="0" i="1" smtClean="0">
                                              <a:latin typeface="Cambria Math" panose="02040503050406030204" pitchFamily="18" charset="0"/>
                                              <a:ea typeface="Roboto" panose="02000000000000000000" pitchFamily="2" charset="0"/>
                                            </a:rPr>
                                            <m:t>𝑝</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𝑟</m:t>
                                          </m:r>
                                          <m:r>
                                            <m:rPr>
                                              <m:nor/>
                                            </m:rPr>
                                            <a:rPr lang="es-MX" sz="2000" b="0" dirty="0">
                                              <a:latin typeface="Roboto" panose="02000000000000000000" pitchFamily="2" charset="0"/>
                                              <a:ea typeface="Roboto" panose="02000000000000000000" pitchFamily="2" charset="0"/>
                                            </a:rPr>
                                            <m:t> </m:t>
                                          </m:r>
                                        </m:e>
                                      </m:mr>
                                      <m:mr>
                                        <m:e>
                                          <m:r>
                                            <a:rPr lang="es-MX" sz="2000" b="0" i="1" smtClean="0">
                                              <a:latin typeface="Cambria Math" panose="02040503050406030204" pitchFamily="18" charset="0"/>
                                              <a:ea typeface="Roboto" panose="02000000000000000000" pitchFamily="2" charset="0"/>
                                            </a:rPr>
                                            <m:t>𝑞</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𝑟</m:t>
                                          </m:r>
                                          <m:r>
                                            <a:rPr lang="es-MX" sz="2000" b="0" i="1" smtClean="0">
                                              <a:latin typeface="Cambria Math" panose="02040503050406030204" pitchFamily="18" charset="0"/>
                                              <a:ea typeface="Roboto" panose="02000000000000000000" pitchFamily="2" charset="0"/>
                                            </a:rPr>
                                            <m:t> </m:t>
                                          </m:r>
                                        </m:e>
                                      </m:mr>
                                    </m:m>
                                  </m:num>
                                  <m:den>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𝑟</m:t>
                                    </m:r>
                                    <m:r>
                                      <a:rPr lang="es-MX" sz="2000" b="0" i="1" smtClean="0">
                                        <a:latin typeface="Cambria Math" panose="02040503050406030204" pitchFamily="18" charset="0"/>
                                        <a:ea typeface="Cambria Math" panose="02040503050406030204" pitchFamily="18" charset="0"/>
                                      </a:rPr>
                                      <m:t>             </m:t>
                                    </m:r>
                                  </m:den>
                                </m:f>
                              </m:oMath>
                            </m:oMathPara>
                          </a14:m>
                          <a:endParaRPr lang="es-CO" sz="2000" dirty="0">
                            <a:latin typeface="Roboto" panose="02000000000000000000" pitchFamily="2" charset="0"/>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82340052"/>
                      </a:ext>
                    </a:extLst>
                  </a:tr>
                  <a:tr h="243775">
                    <a:tc>
                      <a:txBody>
                        <a:bodyPr/>
                        <a:lstStyle/>
                        <a:p>
                          <a:r>
                            <a:rPr lang="es-CO" sz="2000" dirty="0">
                              <a:latin typeface="+mn-lt"/>
                              <a:ea typeface="Roboto" panose="02000000000000000000" pitchFamily="2" charset="0"/>
                            </a:rPr>
                            <a:t>Silogismo disyuntivo (Eliminación)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14:m>
                            <m:oMathPara xmlns:m="http://schemas.openxmlformats.org/officeDocument/2006/math">
                              <m:oMathParaPr>
                                <m:jc m:val="center"/>
                              </m:oMathParaPr>
                              <m:oMath xmlns:m="http://schemas.openxmlformats.org/officeDocument/2006/math">
                                <m:f>
                                  <m:fPr>
                                    <m:ctrlPr>
                                      <a:rPr lang="es-MX" sz="2000" b="0" i="1" smtClean="0">
                                        <a:latin typeface="Cambria Math" panose="02040503050406030204" pitchFamily="18" charset="0"/>
                                        <a:ea typeface="Roboto" panose="02000000000000000000" pitchFamily="2" charset="0"/>
                                      </a:rPr>
                                    </m:ctrlPr>
                                  </m:fPr>
                                  <m:num>
                                    <m:m>
                                      <m:mPr>
                                        <m:mcs>
                                          <m:mc>
                                            <m:mcPr>
                                              <m:count m:val="1"/>
                                              <m:mcJc m:val="center"/>
                                            </m:mcPr>
                                          </m:mc>
                                        </m:mcs>
                                        <m:ctrlPr>
                                          <a:rPr lang="es-MX" sz="2000" b="0" i="1" smtClean="0">
                                            <a:latin typeface="Cambria Math" panose="02040503050406030204" pitchFamily="18" charset="0"/>
                                            <a:ea typeface="Roboto" panose="02000000000000000000" pitchFamily="2" charset="0"/>
                                          </a:rPr>
                                        </m:ctrlPr>
                                      </m:mPr>
                                      <m:mr>
                                        <m:e>
                                          <m:r>
                                            <a:rPr lang="es-MX" sz="2000" b="0" i="1" smtClean="0">
                                              <a:latin typeface="Cambria Math" panose="02040503050406030204" pitchFamily="18" charset="0"/>
                                              <a:ea typeface="Roboto" panose="02000000000000000000" pitchFamily="2" charset="0"/>
                                            </a:rPr>
                                            <m:t>𝑝</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Roboto" panose="02000000000000000000" pitchFamily="2" charset="0"/>
                                            </a:rPr>
                                            <m:t>𝑞</m:t>
                                          </m:r>
                                          <m:r>
                                            <m:rPr>
                                              <m:nor/>
                                            </m:rPr>
                                            <a:rPr lang="es-CO" sz="2000" dirty="0">
                                              <a:latin typeface="Roboto" panose="02000000000000000000" pitchFamily="2" charset="0"/>
                                              <a:ea typeface="Roboto" panose="02000000000000000000" pitchFamily="2" charset="0"/>
                                            </a:rPr>
                                            <m:t> </m:t>
                                          </m:r>
                                        </m:e>
                                      </m:mr>
                                      <m:mr>
                                        <m:e>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𝑝</m:t>
                                          </m:r>
                                          <m:r>
                                            <a:rPr lang="es-MX" sz="2000" b="0" i="1" smtClean="0">
                                              <a:latin typeface="Cambria Math" panose="02040503050406030204" pitchFamily="18" charset="0"/>
                                              <a:ea typeface="Roboto" panose="02000000000000000000" pitchFamily="2" charset="0"/>
                                            </a:rPr>
                                            <m:t>       </m:t>
                                          </m:r>
                                        </m:e>
                                      </m:mr>
                                    </m:m>
                                  </m:num>
                                  <m:den>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𝑞</m:t>
                                    </m:r>
                                    <m:r>
                                      <a:rPr lang="es-MX" sz="2000" b="0" i="1" smtClean="0">
                                        <a:latin typeface="Cambria Math" panose="02040503050406030204" pitchFamily="18" charset="0"/>
                                        <a:ea typeface="Cambria Math" panose="02040503050406030204" pitchFamily="18" charset="0"/>
                                      </a:rPr>
                                      <m:t>             </m:t>
                                    </m:r>
                                  </m:den>
                                </m:f>
                              </m:oMath>
                            </m:oMathPara>
                          </a14:m>
                          <a:endParaRPr lang="es-CO" sz="2000" dirty="0">
                            <a:latin typeface="Roboto" panose="02000000000000000000" pitchFamily="2"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endParaRPr lang="es-CO" dirty="0">
                            <a:latin typeface="Roboto" panose="02000000000000000000" pitchFamily="2" charset="0"/>
                            <a:ea typeface="Roboto" panose="02000000000000000000" pitchFamily="2" charset="0"/>
                          </a:endParaRPr>
                        </a:p>
                      </a:txBody>
                      <a:tcPr/>
                    </a:tc>
                    <a:tc vMerge="1">
                      <a:txBody>
                        <a:bodyPr/>
                        <a:lstStyle/>
                        <a:p>
                          <a:endParaRPr lang="es-CO"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118226202"/>
                      </a:ext>
                    </a:extLst>
                  </a:tr>
                  <a:tr h="0">
                    <a:tc>
                      <a:txBody>
                        <a:bodyPr/>
                        <a:lstStyle/>
                        <a:p>
                          <a:r>
                            <a:rPr lang="es-CO" sz="2000" dirty="0">
                              <a:latin typeface="+mn-lt"/>
                              <a:ea typeface="Roboto" panose="02000000000000000000" pitchFamily="2" charset="0"/>
                            </a:rPr>
                            <a:t>Adición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vl="0" algn="ctr"/>
                          <a14:m>
                            <m:oMathPara xmlns:m="http://schemas.openxmlformats.org/officeDocument/2006/math">
                              <m:oMathParaPr>
                                <m:jc m:val="center"/>
                              </m:oMathParaPr>
                              <m:oMath xmlns:m="http://schemas.openxmlformats.org/officeDocument/2006/math">
                                <m:f>
                                  <m:fPr>
                                    <m:ctrlPr>
                                      <a:rPr lang="es-MX" sz="2000" b="0" i="1" smtClean="0">
                                        <a:latin typeface="Cambria Math" panose="02040503050406030204" pitchFamily="18" charset="0"/>
                                        <a:ea typeface="Roboto" panose="02000000000000000000" pitchFamily="2" charset="0"/>
                                      </a:rPr>
                                    </m:ctrlPr>
                                  </m:fPr>
                                  <m:num>
                                    <m:r>
                                      <a:rPr lang="es-MX" sz="2000" b="0" i="1" smtClean="0">
                                        <a:latin typeface="Cambria Math" panose="02040503050406030204" pitchFamily="18" charset="0"/>
                                        <a:ea typeface="Roboto" panose="02000000000000000000" pitchFamily="2" charset="0"/>
                                      </a:rPr>
                                      <m:t> </m:t>
                                    </m:r>
                                    <m:r>
                                      <a:rPr lang="es-MX" sz="2000" b="0" i="1" smtClean="0">
                                        <a:latin typeface="Cambria Math" panose="02040503050406030204" pitchFamily="18" charset="0"/>
                                        <a:ea typeface="Roboto" panose="02000000000000000000" pitchFamily="2" charset="0"/>
                                      </a:rPr>
                                      <m:t>𝑝</m:t>
                                    </m:r>
                                    <m:r>
                                      <a:rPr lang="es-MX" sz="2000" b="0" i="1" smtClean="0">
                                        <a:latin typeface="Cambria Math" panose="02040503050406030204" pitchFamily="18" charset="0"/>
                                        <a:ea typeface="Roboto" panose="02000000000000000000" pitchFamily="2" charset="0"/>
                                      </a:rPr>
                                      <m:t>    </m:t>
                                    </m:r>
                                  </m:num>
                                  <m:den>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Roboto" panose="02000000000000000000" pitchFamily="2" charset="0"/>
                                      </a:rPr>
                                      <m:t>𝑝</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𝑞</m:t>
                                    </m:r>
                                  </m:den>
                                </m:f>
                              </m:oMath>
                            </m:oMathPara>
                          </a14:m>
                          <a:endParaRPr lang="es-CO" sz="2000" dirty="0">
                            <a:latin typeface="Roboto" panose="02000000000000000000" pitchFamily="2"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s-CO" sz="2000" dirty="0">
                              <a:latin typeface="+mn-lt"/>
                              <a:ea typeface="Roboto" panose="02000000000000000000" pitchFamily="2" charset="0"/>
                            </a:rPr>
                            <a:t>Resolución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1"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
                              </m:oMathParaPr>
                              <m:oMath xmlns:m="http://schemas.openxmlformats.org/officeDocument/2006/math">
                                <m:f>
                                  <m:fPr>
                                    <m:ctrlPr>
                                      <a:rPr lang="es-MX" sz="2000" b="0" i="1" smtClean="0">
                                        <a:latin typeface="Cambria Math" panose="02040503050406030204" pitchFamily="18" charset="0"/>
                                        <a:ea typeface="Roboto" panose="02000000000000000000" pitchFamily="2" charset="0"/>
                                      </a:rPr>
                                    </m:ctrlPr>
                                  </m:fPr>
                                  <m:num>
                                    <m:m>
                                      <m:mPr>
                                        <m:mcs>
                                          <m:mc>
                                            <m:mcPr>
                                              <m:count m:val="1"/>
                                              <m:mcJc m:val="center"/>
                                            </m:mcPr>
                                          </m:mc>
                                        </m:mcs>
                                        <m:ctrlPr>
                                          <a:rPr lang="es-MX" sz="2000" b="0" i="1" smtClean="0">
                                            <a:latin typeface="Cambria Math" panose="02040503050406030204" pitchFamily="18" charset="0"/>
                                            <a:ea typeface="Roboto" panose="02000000000000000000" pitchFamily="2" charset="0"/>
                                          </a:rPr>
                                        </m:ctrlPr>
                                      </m:mPr>
                                      <m:mr>
                                        <m:e>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𝑝</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Roboto" panose="02000000000000000000" pitchFamily="2" charset="0"/>
                                            </a:rPr>
                                            <m:t>𝑟</m:t>
                                          </m:r>
                                          <m:r>
                                            <m:rPr>
                                              <m:nor/>
                                            </m:rPr>
                                            <a:rPr lang="es-MX" sz="2000" b="0" dirty="0">
                                              <a:latin typeface="Roboto" panose="02000000000000000000" pitchFamily="2" charset="0"/>
                                              <a:ea typeface="Roboto" panose="02000000000000000000" pitchFamily="2" charset="0"/>
                                            </a:rPr>
                                            <m:t> </m:t>
                                          </m:r>
                                        </m:e>
                                      </m:mr>
                                      <m:mr>
                                        <m:e>
                                          <m:r>
                                            <a:rPr lang="es-MX" sz="2000" b="0" i="1" smtClean="0">
                                              <a:latin typeface="Cambria Math" panose="02040503050406030204" pitchFamily="18" charset="0"/>
                                              <a:ea typeface="Roboto" panose="02000000000000000000" pitchFamily="2" charset="0"/>
                                            </a:rPr>
                                            <m:t>𝑝</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Roboto" panose="02000000000000000000" pitchFamily="2" charset="0"/>
                                            </a:rPr>
                                            <m:t>𝑞</m:t>
                                          </m:r>
                                          <m:r>
                                            <a:rPr lang="es-MX" sz="2000" b="0" i="1" smtClean="0">
                                              <a:latin typeface="Cambria Math" panose="02040503050406030204" pitchFamily="18" charset="0"/>
                                              <a:ea typeface="Roboto" panose="02000000000000000000" pitchFamily="2" charset="0"/>
                                            </a:rPr>
                                            <m:t>    </m:t>
                                          </m:r>
                                        </m:e>
                                      </m:mr>
                                    </m:m>
                                  </m:num>
                                  <m:den>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𝑞</m:t>
                                    </m:r>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𝑟</m:t>
                                    </m:r>
                                    <m:r>
                                      <a:rPr lang="es-MX" sz="2000" b="0" i="1" smtClean="0">
                                        <a:latin typeface="Cambria Math" panose="02040503050406030204" pitchFamily="18" charset="0"/>
                                        <a:ea typeface="Cambria Math" panose="02040503050406030204" pitchFamily="18" charset="0"/>
                                      </a:rPr>
                                      <m:t>        </m:t>
                                    </m:r>
                                  </m:den>
                                </m:f>
                              </m:oMath>
                            </m:oMathPara>
                          </a14:m>
                          <a:endParaRPr lang="es-CO" sz="2000" dirty="0">
                            <a:latin typeface="Roboto" panose="02000000000000000000" pitchFamily="2"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7682141"/>
                      </a:ext>
                    </a:extLst>
                  </a:tr>
                </a:tbl>
              </a:graphicData>
            </a:graphic>
          </p:graphicFrame>
        </mc:Choice>
        <mc:Fallback>
          <p:graphicFrame>
            <p:nvGraphicFramePr>
              <p:cNvPr id="5" name="Tabla 4">
                <a:extLst>
                  <a:ext uri="{FF2B5EF4-FFF2-40B4-BE49-F238E27FC236}">
                    <a16:creationId xmlns:a16="http://schemas.microsoft.com/office/drawing/2014/main" id="{EFFAE407-8F8B-40B9-BA7A-55ACE6E6E15C}"/>
                  </a:ext>
                </a:extLst>
              </p:cNvPr>
              <p:cNvGraphicFramePr>
                <a:graphicFrameLocks noGrp="1"/>
              </p:cNvGraphicFramePr>
              <p:nvPr/>
            </p:nvGraphicFramePr>
            <p:xfrm>
              <a:off x="454027" y="1154775"/>
              <a:ext cx="11297522" cy="5140264"/>
            </p:xfrm>
            <a:graphic>
              <a:graphicData uri="http://schemas.openxmlformats.org/drawingml/2006/table">
                <a:tbl>
                  <a:tblPr firstRow="1" bandRow="1">
                    <a:tableStyleId>{AD6A3598-7CB8-4345-8D95-17CE05F158A0}</a:tableStyleId>
                  </a:tblPr>
                  <a:tblGrid>
                    <a:gridCol w="2793087">
                      <a:extLst>
                        <a:ext uri="{9D8B030D-6E8A-4147-A177-3AD203B41FA5}">
                          <a16:colId xmlns:a16="http://schemas.microsoft.com/office/drawing/2014/main" val="3517824357"/>
                        </a:ext>
                      </a:extLst>
                    </a:gridCol>
                    <a:gridCol w="2902858">
                      <a:extLst>
                        <a:ext uri="{9D8B030D-6E8A-4147-A177-3AD203B41FA5}">
                          <a16:colId xmlns:a16="http://schemas.microsoft.com/office/drawing/2014/main" val="2212776800"/>
                        </a:ext>
                      </a:extLst>
                    </a:gridCol>
                    <a:gridCol w="3130497">
                      <a:extLst>
                        <a:ext uri="{9D8B030D-6E8A-4147-A177-3AD203B41FA5}">
                          <a16:colId xmlns:a16="http://schemas.microsoft.com/office/drawing/2014/main" val="3724117940"/>
                        </a:ext>
                      </a:extLst>
                    </a:gridCol>
                    <a:gridCol w="2471080">
                      <a:extLst>
                        <a:ext uri="{9D8B030D-6E8A-4147-A177-3AD203B41FA5}">
                          <a16:colId xmlns:a16="http://schemas.microsoft.com/office/drawing/2014/main" val="333003826"/>
                        </a:ext>
                      </a:extLst>
                    </a:gridCol>
                  </a:tblGrid>
                  <a:tr h="396240">
                    <a:tc>
                      <a:txBody>
                        <a:bodyPr/>
                        <a:lstStyle/>
                        <a:p>
                          <a:r>
                            <a:rPr lang="es-CO" sz="2000" b="1" dirty="0">
                              <a:latin typeface="+mn-lt"/>
                              <a:ea typeface="Roboto" panose="02000000000000000000" pitchFamily="2" charset="0"/>
                            </a:rPr>
                            <a:t>Nombre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s-CO" sz="2000" b="1" dirty="0">
                              <a:latin typeface="+mn-lt"/>
                              <a:ea typeface="Roboto" panose="02000000000000000000" pitchFamily="2" charset="0"/>
                            </a:rPr>
                            <a:t>Regla de inferencia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s-CO" sz="2000" b="1" dirty="0">
                              <a:latin typeface="+mn-lt"/>
                              <a:ea typeface="Roboto" panose="02000000000000000000" pitchFamily="2" charset="0"/>
                            </a:rPr>
                            <a:t>Nombre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r>
                            <a:rPr lang="es-CO" sz="2000" b="1" dirty="0">
                              <a:latin typeface="+mn-lt"/>
                              <a:ea typeface="Roboto" panose="02000000000000000000" pitchFamily="2" charset="0"/>
                            </a:rPr>
                            <a:t>Regla de inferencia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873507432"/>
                      </a:ext>
                    </a:extLst>
                  </a:tr>
                  <a:tr h="939864">
                    <a:tc>
                      <a:txBody>
                        <a:bodyPr/>
                        <a:lstStyle/>
                        <a:p>
                          <a:r>
                            <a:rPr lang="es-CO" sz="2000" dirty="0">
                              <a:latin typeface="+mn-lt"/>
                              <a:ea typeface="Roboto" panose="02000000000000000000" pitchFamily="2" charset="0"/>
                            </a:rPr>
                            <a:t>Modus Ponens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6226" t="-45455" r="-193082" b="-407143"/>
                          </a:stretch>
                        </a:blipFill>
                      </a:tcPr>
                    </a:tc>
                    <a:tc>
                      <a:txBody>
                        <a:bodyPr/>
                        <a:lstStyle/>
                        <a:p>
                          <a:r>
                            <a:rPr lang="es-CO" sz="2000" dirty="0">
                              <a:latin typeface="+mn-lt"/>
                              <a:ea typeface="Roboto" panose="02000000000000000000" pitchFamily="2" charset="0"/>
                            </a:rPr>
                            <a:t>Simplificación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56897" t="-45455" r="-493" b="-407143"/>
                          </a:stretch>
                        </a:blipFill>
                      </a:tcPr>
                    </a:tc>
                    <a:extLst>
                      <a:ext uri="{0D108BD9-81ED-4DB2-BD59-A6C34878D82A}">
                        <a16:rowId xmlns:a16="http://schemas.microsoft.com/office/drawing/2014/main" val="4259179385"/>
                      </a:ext>
                    </a:extLst>
                  </a:tr>
                  <a:tr h="939864">
                    <a:tc>
                      <a:txBody>
                        <a:bodyPr/>
                        <a:lstStyle/>
                        <a:p>
                          <a:r>
                            <a:rPr lang="es-CO" sz="2000" dirty="0">
                              <a:latin typeface="+mn-lt"/>
                              <a:ea typeface="Roboto" panose="02000000000000000000" pitchFamily="2" charset="0"/>
                            </a:rPr>
                            <a:t>Modus Tollens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6226" t="-144516" r="-193082" b="-304516"/>
                          </a:stretch>
                        </a:blipFill>
                      </a:tcPr>
                    </a:tc>
                    <a:tc>
                      <a:txBody>
                        <a:bodyPr/>
                        <a:lstStyle/>
                        <a:p>
                          <a:r>
                            <a:rPr lang="es-CO" sz="2000" dirty="0">
                              <a:latin typeface="+mn-lt"/>
                              <a:ea typeface="Roboto" panose="02000000000000000000" pitchFamily="2" charset="0"/>
                            </a:rPr>
                            <a:t>Conjunción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56897" t="-144516" r="-493" b="-304516"/>
                          </a:stretch>
                        </a:blipFill>
                      </a:tcPr>
                    </a:tc>
                    <a:extLst>
                      <a:ext uri="{0D108BD9-81ED-4DB2-BD59-A6C34878D82A}">
                        <a16:rowId xmlns:a16="http://schemas.microsoft.com/office/drawing/2014/main" val="1078799334"/>
                      </a:ext>
                    </a:extLst>
                  </a:tr>
                  <a:tr h="939864">
                    <a:tc>
                      <a:txBody>
                        <a:bodyPr/>
                        <a:lstStyle/>
                        <a:p>
                          <a:r>
                            <a:rPr lang="es-CO" sz="2000" dirty="0">
                              <a:latin typeface="+mn-lt"/>
                              <a:ea typeface="Roboto" panose="02000000000000000000" pitchFamily="2" charset="0"/>
                            </a:rPr>
                            <a:t>Silogismo hipotético (Transitividad)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6226" t="-246104" r="-193082" b="-206494"/>
                          </a:stretch>
                        </a:blipFill>
                      </a:tcPr>
                    </a:tc>
                    <a:tc rowSpan="2">
                      <a:txBody>
                        <a:bodyPr/>
                        <a:lstStyle/>
                        <a:p>
                          <a:r>
                            <a:rPr lang="es-CO" sz="2000" dirty="0">
                              <a:latin typeface="+mn-lt"/>
                              <a:ea typeface="Roboto" panose="02000000000000000000" pitchFamily="2" charset="0"/>
                            </a:rPr>
                            <a:t>Prueba de división por casos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endParaRPr lang="es-CO"/>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56897" t="-121474" r="-493" b="-51282"/>
                          </a:stretch>
                        </a:blipFill>
                      </a:tcPr>
                    </a:tc>
                    <a:extLst>
                      <a:ext uri="{0D108BD9-81ED-4DB2-BD59-A6C34878D82A}">
                        <a16:rowId xmlns:a16="http://schemas.microsoft.com/office/drawing/2014/main" val="682340052"/>
                      </a:ext>
                    </a:extLst>
                  </a:tr>
                  <a:tr h="962216">
                    <a:tc>
                      <a:txBody>
                        <a:bodyPr/>
                        <a:lstStyle/>
                        <a:p>
                          <a:r>
                            <a:rPr lang="es-CO" sz="2000" dirty="0">
                              <a:latin typeface="+mn-lt"/>
                              <a:ea typeface="Roboto" panose="02000000000000000000" pitchFamily="2" charset="0"/>
                            </a:rPr>
                            <a:t>Silogismo disyuntivo (Eliminación)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6226" t="-337342" r="-193082" b="-101266"/>
                          </a:stretch>
                        </a:blipFill>
                      </a:tcPr>
                    </a:tc>
                    <a:tc vMerge="1">
                      <a:txBody>
                        <a:bodyPr/>
                        <a:lstStyle/>
                        <a:p>
                          <a:endParaRPr lang="es-CO" dirty="0">
                            <a:latin typeface="Roboto" panose="02000000000000000000" pitchFamily="2" charset="0"/>
                            <a:ea typeface="Roboto" panose="02000000000000000000" pitchFamily="2" charset="0"/>
                          </a:endParaRPr>
                        </a:p>
                      </a:txBody>
                      <a:tcPr/>
                    </a:tc>
                    <a:tc vMerge="1">
                      <a:txBody>
                        <a:bodyPr/>
                        <a:lstStyle/>
                        <a:p>
                          <a:endParaRPr lang="es-CO"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118226202"/>
                      </a:ext>
                    </a:extLst>
                  </a:tr>
                  <a:tr h="962216">
                    <a:tc>
                      <a:txBody>
                        <a:bodyPr/>
                        <a:lstStyle/>
                        <a:p>
                          <a:r>
                            <a:rPr lang="es-CO" sz="2000" dirty="0">
                              <a:latin typeface="+mn-lt"/>
                              <a:ea typeface="Roboto" panose="02000000000000000000" pitchFamily="2" charset="0"/>
                            </a:rPr>
                            <a:t>Adición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6226" t="-437342" r="-193082" b="-1266"/>
                          </a:stretch>
                        </a:blipFill>
                      </a:tcPr>
                    </a:tc>
                    <a:tc>
                      <a:txBody>
                        <a:bodyPr/>
                        <a:lstStyle/>
                        <a:p>
                          <a:r>
                            <a:rPr lang="es-CO" sz="2000" dirty="0">
                              <a:latin typeface="+mn-lt"/>
                              <a:ea typeface="Roboto" panose="02000000000000000000" pitchFamily="2" charset="0"/>
                            </a:rPr>
                            <a:t>Resolución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356897" t="-437342" r="-493" b="-1266"/>
                          </a:stretch>
                        </a:blipFill>
                      </a:tcPr>
                    </a:tc>
                    <a:extLst>
                      <a:ext uri="{0D108BD9-81ED-4DB2-BD59-A6C34878D82A}">
                        <a16:rowId xmlns:a16="http://schemas.microsoft.com/office/drawing/2014/main" val="2217682141"/>
                      </a:ext>
                    </a:extLst>
                  </a:tr>
                </a:tbl>
              </a:graphicData>
            </a:graphic>
          </p:graphicFrame>
        </mc:Fallback>
      </mc:AlternateContent>
    </p:spTree>
    <p:extLst>
      <p:ext uri="{BB962C8B-B14F-4D97-AF65-F5344CB8AC3E}">
        <p14:creationId xmlns:p14="http://schemas.microsoft.com/office/powerpoint/2010/main" val="41792520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title"/>
          </p:nvPr>
        </p:nvSpPr>
        <p:spPr>
          <a:xfrm>
            <a:off x="375618" y="18266"/>
            <a:ext cx="10515600" cy="896139"/>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Equivalencias lógica cuantificacional</a:t>
            </a:r>
            <a:endParaRPr dirty="0"/>
          </a:p>
        </p:txBody>
      </p:sp>
      <mc:AlternateContent xmlns:mc="http://schemas.openxmlformats.org/markup-compatibility/2006">
        <mc:Choice xmlns:a14="http://schemas.microsoft.com/office/drawing/2010/main" Requires="a14">
          <p:graphicFrame>
            <p:nvGraphicFramePr>
              <p:cNvPr id="4" name="Tabla 3">
                <a:extLst>
                  <a:ext uri="{FF2B5EF4-FFF2-40B4-BE49-F238E27FC236}">
                    <a16:creationId xmlns:a16="http://schemas.microsoft.com/office/drawing/2014/main" id="{E6F16F2C-94A0-4B3D-BF58-A745943E44A0}"/>
                  </a:ext>
                </a:extLst>
              </p:cNvPr>
              <p:cNvGraphicFramePr>
                <a:graphicFrameLocks noGrp="1"/>
              </p:cNvGraphicFramePr>
              <p:nvPr>
                <p:extLst>
                  <p:ext uri="{D42A27DB-BD31-4B8C-83A1-F6EECF244321}">
                    <p14:modId xmlns:p14="http://schemas.microsoft.com/office/powerpoint/2010/main" val="2281086948"/>
                  </p:ext>
                </p:extLst>
              </p:nvPr>
            </p:nvGraphicFramePr>
            <p:xfrm>
              <a:off x="497606" y="769033"/>
              <a:ext cx="7260046" cy="5785804"/>
            </p:xfrm>
            <a:graphic>
              <a:graphicData uri="http://schemas.openxmlformats.org/drawingml/2006/table">
                <a:tbl>
                  <a:tblPr firstRow="1" bandRow="1">
                    <a:tableStyleId>{AD6A3598-7CB8-4345-8D95-17CE05F158A0}</a:tableStyleId>
                  </a:tblPr>
                  <a:tblGrid>
                    <a:gridCol w="3607041">
                      <a:extLst>
                        <a:ext uri="{9D8B030D-6E8A-4147-A177-3AD203B41FA5}">
                          <a16:colId xmlns:a16="http://schemas.microsoft.com/office/drawing/2014/main" val="2419793140"/>
                        </a:ext>
                      </a:extLst>
                    </a:gridCol>
                    <a:gridCol w="3653005">
                      <a:extLst>
                        <a:ext uri="{9D8B030D-6E8A-4147-A177-3AD203B41FA5}">
                          <a16:colId xmlns:a16="http://schemas.microsoft.com/office/drawing/2014/main" val="2761119023"/>
                        </a:ext>
                      </a:extLst>
                    </a:gridCol>
                  </a:tblGrid>
                  <a:tr h="259643">
                    <a:tc>
                      <a:txBody>
                        <a:bodyPr/>
                        <a:lstStyle/>
                        <a:p>
                          <a:r>
                            <a:rPr lang="es-CO" sz="1600" b="1" dirty="0">
                              <a:latin typeface="+mn-lt"/>
                              <a:ea typeface="Roboto" panose="02000000000000000000" pitchFamily="2" charset="0"/>
                            </a:rPr>
                            <a:t>Nombre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s-CO" sz="1600" b="1" dirty="0">
                              <a:latin typeface="+mn-lt"/>
                              <a:ea typeface="Roboto" panose="02000000000000000000" pitchFamily="2" charset="0"/>
                            </a:rPr>
                            <a:t>Equivalencia lógica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624526593"/>
                      </a:ext>
                    </a:extLst>
                  </a:tr>
                  <a:tr h="389464">
                    <a:tc>
                      <a:txBody>
                        <a:bodyPr/>
                        <a:lstStyle/>
                        <a:p>
                          <a:r>
                            <a:rPr lang="es-MX" sz="1500" b="0" dirty="0">
                              <a:latin typeface="+mn-lt"/>
                              <a:ea typeface="Roboto" panose="02000000000000000000" pitchFamily="2" charset="0"/>
                            </a:rPr>
                            <a:t>Negación de cuantificadores (De Morgan cuántico)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500" b="0" i="1" smtClean="0">
                                    <a:latin typeface="Cambria Math" panose="02040503050406030204" pitchFamily="18" charset="0"/>
                                    <a:ea typeface="Roboto" panose="02000000000000000000" pitchFamily="2" charset="0"/>
                                  </a:rPr>
                                  <m:t>¬∀</m:t>
                                </m:r>
                                <m:r>
                                  <a:rPr lang="es-MX" sz="1500" b="0" i="1" smtClean="0">
                                    <a:latin typeface="Cambria Math" panose="02040503050406030204" pitchFamily="18" charset="0"/>
                                    <a:ea typeface="Roboto" panose="02000000000000000000" pitchFamily="2" charset="0"/>
                                  </a:rPr>
                                  <m:t>𝑥</m:t>
                                </m:r>
                                <m:r>
                                  <a:rPr lang="es-MX" sz="1500" b="0" i="1" smtClean="0">
                                    <a:latin typeface="Cambria Math" panose="02040503050406030204" pitchFamily="18" charset="0"/>
                                    <a:ea typeface="Roboto" panose="02000000000000000000" pitchFamily="2" charset="0"/>
                                  </a:rPr>
                                  <m:t> </m:t>
                                </m:r>
                                <m:r>
                                  <a:rPr lang="es-MX" sz="1500" b="0" i="1" smtClean="0">
                                    <a:latin typeface="Cambria Math" panose="02040503050406030204" pitchFamily="18" charset="0"/>
                                    <a:ea typeface="Roboto" panose="02000000000000000000" pitchFamily="2" charset="0"/>
                                  </a:rPr>
                                  <m:t>𝑃</m:t>
                                </m:r>
                                <m:d>
                                  <m:dPr>
                                    <m:ctrlPr>
                                      <a:rPr lang="es-MX" sz="1500" b="0" i="1" smtClean="0">
                                        <a:latin typeface="Cambria Math" panose="02040503050406030204" pitchFamily="18" charset="0"/>
                                        <a:ea typeface="Roboto" panose="02000000000000000000" pitchFamily="2" charset="0"/>
                                      </a:rPr>
                                    </m:ctrlPr>
                                  </m:dPr>
                                  <m:e>
                                    <m:r>
                                      <a:rPr lang="es-MX" sz="1500" b="0" i="1" smtClean="0">
                                        <a:latin typeface="Cambria Math" panose="02040503050406030204" pitchFamily="18" charset="0"/>
                                        <a:ea typeface="Roboto" panose="02000000000000000000" pitchFamily="2" charset="0"/>
                                      </a:rPr>
                                      <m:t>𝑥</m:t>
                                    </m:r>
                                  </m:e>
                                </m:d>
                                <m:r>
                                  <a:rPr lang="es-MX" sz="1500" b="0" i="1" smtClean="0">
                                    <a:latin typeface="Cambria Math" panose="02040503050406030204" pitchFamily="18" charset="0"/>
                                    <a:ea typeface="Cambria Math" panose="02040503050406030204" pitchFamily="18" charset="0"/>
                                  </a:rPr>
                                  <m:t>≡</m:t>
                                </m:r>
                                <m:r>
                                  <a:rPr lang="es-MX" sz="1500" b="0" i="1" smtClean="0">
                                    <a:latin typeface="Cambria Math" panose="02040503050406030204" pitchFamily="18" charset="0"/>
                                    <a:ea typeface="Roboto" panose="02000000000000000000" pitchFamily="2" charset="0"/>
                                  </a:rPr>
                                  <m:t>∃</m:t>
                                </m:r>
                                <m:r>
                                  <a:rPr lang="es-MX" sz="1500" b="0" i="1" smtClean="0">
                                    <a:latin typeface="Cambria Math" panose="02040503050406030204" pitchFamily="18" charset="0"/>
                                    <a:ea typeface="Roboto" panose="02000000000000000000" pitchFamily="2" charset="0"/>
                                  </a:rPr>
                                  <m:t>𝑥</m:t>
                                </m:r>
                                <m:r>
                                  <a:rPr lang="es-MX" sz="1500" b="0" i="1" smtClean="0">
                                    <a:latin typeface="Cambria Math" panose="02040503050406030204" pitchFamily="18" charset="0"/>
                                    <a:ea typeface="Roboto" panose="02000000000000000000" pitchFamily="2" charset="0"/>
                                  </a:rPr>
                                  <m:t> ¬</m:t>
                                </m:r>
                                <m:r>
                                  <a:rPr lang="es-MX" sz="1500" b="0" i="1" smtClean="0">
                                    <a:latin typeface="Cambria Math" panose="02040503050406030204" pitchFamily="18" charset="0"/>
                                    <a:ea typeface="Roboto" panose="02000000000000000000" pitchFamily="2" charset="0"/>
                                  </a:rPr>
                                  <m:t>𝑃</m:t>
                                </m:r>
                                <m:d>
                                  <m:dPr>
                                    <m:ctrlPr>
                                      <a:rPr lang="es-MX" sz="1500" b="0" i="1" smtClean="0">
                                        <a:latin typeface="Cambria Math" panose="02040503050406030204" pitchFamily="18" charset="0"/>
                                        <a:ea typeface="Roboto" panose="02000000000000000000" pitchFamily="2" charset="0"/>
                                      </a:rPr>
                                    </m:ctrlPr>
                                  </m:dPr>
                                  <m:e>
                                    <m:r>
                                      <a:rPr lang="es-MX" sz="1500" b="0" i="1" smtClean="0">
                                        <a:latin typeface="Cambria Math" panose="02040503050406030204" pitchFamily="18" charset="0"/>
                                        <a:ea typeface="Roboto" panose="02000000000000000000" pitchFamily="2" charset="0"/>
                                      </a:rPr>
                                      <m:t>𝑥</m:t>
                                    </m:r>
                                  </m:e>
                                </m:d>
                              </m:oMath>
                            </m:oMathPara>
                          </a14:m>
                          <a:endParaRPr lang="es-MX" sz="1500" b="0" i="1" dirty="0">
                            <a:latin typeface="Cambria Math" panose="02040503050406030204" pitchFamily="18" charset="0"/>
                            <a:ea typeface="Roboto" panose="02000000000000000000" pitchFamily="2" charset="0"/>
                          </a:endParaRPr>
                        </a:p>
                        <a:p>
                          <a:pPr/>
                          <a14:m>
                            <m:oMathPara xmlns:m="http://schemas.openxmlformats.org/officeDocument/2006/math">
                              <m:oMathParaPr>
                                <m:jc m:val="centerGroup"/>
                              </m:oMathParaPr>
                              <m:oMath xmlns:m="http://schemas.openxmlformats.org/officeDocument/2006/math">
                                <m:r>
                                  <a:rPr lang="es-MX" sz="1500" b="0" i="1" smtClean="0">
                                    <a:latin typeface="Cambria Math" panose="02040503050406030204" pitchFamily="18" charset="0"/>
                                    <a:ea typeface="Roboto" panose="02000000000000000000" pitchFamily="2" charset="0"/>
                                  </a:rPr>
                                  <m:t>¬∃</m:t>
                                </m:r>
                                <m:r>
                                  <a:rPr lang="es-MX" sz="1500" b="0" i="1" smtClean="0">
                                    <a:latin typeface="Cambria Math" panose="02040503050406030204" pitchFamily="18" charset="0"/>
                                    <a:ea typeface="Roboto" panose="02000000000000000000" pitchFamily="2" charset="0"/>
                                  </a:rPr>
                                  <m:t>𝑥</m:t>
                                </m:r>
                                <m:r>
                                  <a:rPr lang="es-MX" sz="1500" b="0" i="1" smtClean="0">
                                    <a:latin typeface="Cambria Math" panose="02040503050406030204" pitchFamily="18" charset="0"/>
                                    <a:ea typeface="Roboto" panose="02000000000000000000" pitchFamily="2" charset="0"/>
                                  </a:rPr>
                                  <m:t> </m:t>
                                </m:r>
                                <m:r>
                                  <a:rPr lang="es-MX" sz="1500" b="0" i="1" smtClean="0">
                                    <a:latin typeface="Cambria Math" panose="02040503050406030204" pitchFamily="18" charset="0"/>
                                    <a:ea typeface="Roboto" panose="02000000000000000000" pitchFamily="2" charset="0"/>
                                  </a:rPr>
                                  <m:t>𝑃</m:t>
                                </m:r>
                                <m:d>
                                  <m:dPr>
                                    <m:ctrlPr>
                                      <a:rPr lang="es-MX" sz="1500" b="0" i="1" smtClean="0">
                                        <a:latin typeface="Cambria Math" panose="02040503050406030204" pitchFamily="18" charset="0"/>
                                        <a:ea typeface="Roboto" panose="02000000000000000000" pitchFamily="2" charset="0"/>
                                      </a:rPr>
                                    </m:ctrlPr>
                                  </m:dPr>
                                  <m:e>
                                    <m:r>
                                      <a:rPr lang="es-MX" sz="1500" b="0" i="1" smtClean="0">
                                        <a:latin typeface="Cambria Math" panose="02040503050406030204" pitchFamily="18" charset="0"/>
                                        <a:ea typeface="Roboto" panose="02000000000000000000" pitchFamily="2" charset="0"/>
                                      </a:rPr>
                                      <m:t>𝑥</m:t>
                                    </m:r>
                                  </m:e>
                                </m:d>
                                <m:r>
                                  <a:rPr lang="es-MX" sz="1500" b="0" i="1" smtClean="0">
                                    <a:latin typeface="Cambria Math" panose="02040503050406030204" pitchFamily="18" charset="0"/>
                                    <a:ea typeface="Cambria Math" panose="02040503050406030204" pitchFamily="18" charset="0"/>
                                  </a:rPr>
                                  <m:t>≡</m:t>
                                </m:r>
                                <m:r>
                                  <a:rPr lang="es-MX" sz="1500" b="0" i="1" smtClean="0">
                                    <a:latin typeface="Cambria Math" panose="02040503050406030204" pitchFamily="18" charset="0"/>
                                    <a:ea typeface="Roboto" panose="02000000000000000000" pitchFamily="2" charset="0"/>
                                  </a:rPr>
                                  <m:t>∀</m:t>
                                </m:r>
                                <m:r>
                                  <a:rPr lang="es-MX" sz="1500" b="0" i="1" smtClean="0">
                                    <a:latin typeface="Cambria Math" panose="02040503050406030204" pitchFamily="18" charset="0"/>
                                    <a:ea typeface="Roboto" panose="02000000000000000000" pitchFamily="2" charset="0"/>
                                  </a:rPr>
                                  <m:t>𝑥</m:t>
                                </m:r>
                                <m:r>
                                  <a:rPr lang="es-MX" sz="1500" b="0" i="1" smtClean="0">
                                    <a:latin typeface="Cambria Math" panose="02040503050406030204" pitchFamily="18" charset="0"/>
                                    <a:ea typeface="Roboto" panose="02000000000000000000" pitchFamily="2" charset="0"/>
                                  </a:rPr>
                                  <m:t> ¬</m:t>
                                </m:r>
                                <m:r>
                                  <a:rPr lang="es-MX" sz="1500" b="0" i="1" smtClean="0">
                                    <a:latin typeface="Cambria Math" panose="02040503050406030204" pitchFamily="18" charset="0"/>
                                    <a:ea typeface="Roboto" panose="02000000000000000000" pitchFamily="2" charset="0"/>
                                  </a:rPr>
                                  <m:t>𝑃</m:t>
                                </m:r>
                                <m:d>
                                  <m:dPr>
                                    <m:ctrlPr>
                                      <a:rPr lang="es-MX" sz="1500" b="0" i="1" smtClean="0">
                                        <a:latin typeface="Cambria Math" panose="02040503050406030204" pitchFamily="18" charset="0"/>
                                        <a:ea typeface="Roboto" panose="02000000000000000000" pitchFamily="2" charset="0"/>
                                      </a:rPr>
                                    </m:ctrlPr>
                                  </m:dPr>
                                  <m:e>
                                    <m:r>
                                      <a:rPr lang="es-MX" sz="1500" b="0" i="1" smtClean="0">
                                        <a:latin typeface="Cambria Math" panose="02040503050406030204" pitchFamily="18" charset="0"/>
                                        <a:ea typeface="Roboto" panose="02000000000000000000" pitchFamily="2" charset="0"/>
                                      </a:rPr>
                                      <m:t>𝑥</m:t>
                                    </m:r>
                                  </m:e>
                                </m:d>
                              </m:oMath>
                            </m:oMathPara>
                          </a14:m>
                          <a:endParaRPr lang="es-MX" sz="1500" b="0" i="1" dirty="0">
                            <a:latin typeface="Cambria Math" panose="02040503050406030204" pitchFamily="18"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154515760"/>
                      </a:ext>
                    </a:extLst>
                  </a:tr>
                  <a:tr h="389464">
                    <a:tc>
                      <a:txBody>
                        <a:bodyPr/>
                        <a:lstStyle/>
                        <a:p>
                          <a:r>
                            <a:rPr lang="es-MX" sz="1500" b="0" dirty="0">
                              <a:latin typeface="+mn-lt"/>
                              <a:ea typeface="Roboto" panose="02000000000000000000" pitchFamily="2" charset="0"/>
                            </a:rPr>
                            <a:t>Distributividad del cuantificador universal sobre la conjunción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500" b="0" i="1" smtClean="0">
                                    <a:latin typeface="Cambria Math" panose="02040503050406030204" pitchFamily="18" charset="0"/>
                                    <a:ea typeface="Roboto" panose="02000000000000000000" pitchFamily="2" charset="0"/>
                                  </a:rPr>
                                  <m:t>∀</m:t>
                                </m:r>
                                <m:r>
                                  <a:rPr lang="es-MX" sz="1500" b="0" i="1" smtClean="0">
                                    <a:latin typeface="Cambria Math" panose="02040503050406030204" pitchFamily="18" charset="0"/>
                                    <a:ea typeface="Roboto" panose="02000000000000000000" pitchFamily="2" charset="0"/>
                                  </a:rPr>
                                  <m:t>𝑥</m:t>
                                </m:r>
                                <m:d>
                                  <m:dPr>
                                    <m:ctrlPr>
                                      <a:rPr lang="es-MX" sz="1500" b="0" i="1" smtClean="0">
                                        <a:latin typeface="Cambria Math" panose="02040503050406030204" pitchFamily="18" charset="0"/>
                                        <a:ea typeface="Roboto" panose="02000000000000000000" pitchFamily="2" charset="0"/>
                                      </a:rPr>
                                    </m:ctrlPr>
                                  </m:dPr>
                                  <m:e>
                                    <m:r>
                                      <a:rPr lang="es-MX" sz="1500" b="0" i="1" smtClean="0">
                                        <a:latin typeface="Cambria Math" panose="02040503050406030204" pitchFamily="18" charset="0"/>
                                        <a:ea typeface="Roboto" panose="02000000000000000000" pitchFamily="2" charset="0"/>
                                      </a:rPr>
                                      <m:t>𝑃</m:t>
                                    </m:r>
                                    <m:d>
                                      <m:dPr>
                                        <m:ctrlPr>
                                          <a:rPr lang="es-MX" sz="1500" b="0" i="1" smtClean="0">
                                            <a:latin typeface="Cambria Math" panose="02040503050406030204" pitchFamily="18" charset="0"/>
                                            <a:ea typeface="Roboto" panose="02000000000000000000" pitchFamily="2" charset="0"/>
                                          </a:rPr>
                                        </m:ctrlPr>
                                      </m:dPr>
                                      <m:e>
                                        <m:r>
                                          <a:rPr lang="es-MX" sz="1500" b="0" i="1" smtClean="0">
                                            <a:latin typeface="Cambria Math" panose="02040503050406030204" pitchFamily="18" charset="0"/>
                                            <a:ea typeface="Roboto" panose="02000000000000000000" pitchFamily="2" charset="0"/>
                                          </a:rPr>
                                          <m:t>𝑥</m:t>
                                        </m:r>
                                      </m:e>
                                    </m:d>
                                    <m:r>
                                      <a:rPr lang="es-MX" sz="1500" b="0" i="1" smtClean="0">
                                        <a:latin typeface="Cambria Math" panose="02040503050406030204" pitchFamily="18" charset="0"/>
                                        <a:ea typeface="Cambria Math" panose="02040503050406030204" pitchFamily="18" charset="0"/>
                                      </a:rPr>
                                      <m:t>∧</m:t>
                                    </m:r>
                                    <m:r>
                                      <a:rPr lang="es-MX" sz="1500" b="0" i="1" smtClean="0">
                                        <a:latin typeface="Cambria Math" panose="02040503050406030204" pitchFamily="18" charset="0"/>
                                        <a:ea typeface="Roboto" panose="02000000000000000000" pitchFamily="2" charset="0"/>
                                      </a:rPr>
                                      <m:t>𝑄</m:t>
                                    </m:r>
                                    <m:d>
                                      <m:dPr>
                                        <m:ctrlPr>
                                          <a:rPr lang="es-MX" sz="1500" b="0" i="1" smtClean="0">
                                            <a:latin typeface="Cambria Math" panose="02040503050406030204" pitchFamily="18" charset="0"/>
                                            <a:ea typeface="Roboto" panose="02000000000000000000" pitchFamily="2" charset="0"/>
                                          </a:rPr>
                                        </m:ctrlPr>
                                      </m:dPr>
                                      <m:e>
                                        <m:r>
                                          <a:rPr lang="es-MX" sz="1500" b="0" i="1" smtClean="0">
                                            <a:latin typeface="Cambria Math" panose="02040503050406030204" pitchFamily="18" charset="0"/>
                                            <a:ea typeface="Roboto" panose="02000000000000000000" pitchFamily="2" charset="0"/>
                                          </a:rPr>
                                          <m:t>𝑥</m:t>
                                        </m:r>
                                      </m:e>
                                    </m:d>
                                  </m:e>
                                </m:d>
                                <m:r>
                                  <a:rPr lang="es-MX" sz="1500" b="0" i="1" smtClean="0">
                                    <a:latin typeface="Cambria Math" panose="02040503050406030204" pitchFamily="18" charset="0"/>
                                    <a:ea typeface="Cambria Math" panose="02040503050406030204" pitchFamily="18" charset="0"/>
                                  </a:rPr>
                                  <m:t>≡</m:t>
                                </m:r>
                                <m:r>
                                  <a:rPr lang="es-MX" sz="1500" b="0" i="1" smtClean="0">
                                    <a:latin typeface="Cambria Math" panose="02040503050406030204" pitchFamily="18" charset="0"/>
                                    <a:ea typeface="Roboto" panose="02000000000000000000" pitchFamily="2" charset="0"/>
                                  </a:rPr>
                                  <m:t>∀</m:t>
                                </m:r>
                                <m:r>
                                  <a:rPr lang="es-MX" sz="1500" b="0" i="1" smtClean="0">
                                    <a:latin typeface="Cambria Math" panose="02040503050406030204" pitchFamily="18" charset="0"/>
                                    <a:ea typeface="Roboto" panose="02000000000000000000" pitchFamily="2" charset="0"/>
                                  </a:rPr>
                                  <m:t>𝑥</m:t>
                                </m:r>
                                <m:r>
                                  <a:rPr lang="es-MX" sz="1500" b="0" i="1" smtClean="0">
                                    <a:latin typeface="Cambria Math" panose="02040503050406030204" pitchFamily="18" charset="0"/>
                                    <a:ea typeface="Roboto" panose="02000000000000000000" pitchFamily="2" charset="0"/>
                                  </a:rPr>
                                  <m:t> </m:t>
                                </m:r>
                                <m:r>
                                  <a:rPr lang="es-MX" sz="1500" b="0" i="1" smtClean="0">
                                    <a:latin typeface="Cambria Math" panose="02040503050406030204" pitchFamily="18" charset="0"/>
                                    <a:ea typeface="Roboto" panose="02000000000000000000" pitchFamily="2" charset="0"/>
                                  </a:rPr>
                                  <m:t>𝑃</m:t>
                                </m:r>
                                <m:d>
                                  <m:dPr>
                                    <m:ctrlPr>
                                      <a:rPr lang="es-MX" sz="1500" b="0" i="1" smtClean="0">
                                        <a:latin typeface="Cambria Math" panose="02040503050406030204" pitchFamily="18" charset="0"/>
                                        <a:ea typeface="Roboto" panose="02000000000000000000" pitchFamily="2" charset="0"/>
                                      </a:rPr>
                                    </m:ctrlPr>
                                  </m:dPr>
                                  <m:e>
                                    <m:r>
                                      <a:rPr lang="es-MX" sz="1500" b="0" i="1" smtClean="0">
                                        <a:latin typeface="Cambria Math" panose="02040503050406030204" pitchFamily="18" charset="0"/>
                                        <a:ea typeface="Roboto" panose="02000000000000000000" pitchFamily="2" charset="0"/>
                                      </a:rPr>
                                      <m:t>𝑥</m:t>
                                    </m:r>
                                  </m:e>
                                </m:d>
                                <m:r>
                                  <a:rPr lang="es-MX" sz="1500" b="0" i="1" smtClean="0">
                                    <a:latin typeface="Cambria Math" panose="02040503050406030204" pitchFamily="18" charset="0"/>
                                    <a:ea typeface="Cambria Math" panose="02040503050406030204" pitchFamily="18" charset="0"/>
                                  </a:rPr>
                                  <m:t>∧</m:t>
                                </m:r>
                                <m:r>
                                  <a:rPr lang="es-MX" sz="1500" b="0" i="1" smtClean="0">
                                    <a:latin typeface="Cambria Math" panose="02040503050406030204" pitchFamily="18" charset="0"/>
                                    <a:ea typeface="Roboto" panose="02000000000000000000" pitchFamily="2" charset="0"/>
                                  </a:rPr>
                                  <m:t>∀</m:t>
                                </m:r>
                                <m:r>
                                  <a:rPr lang="es-MX" sz="1500" b="0" i="1" smtClean="0">
                                    <a:latin typeface="Cambria Math" panose="02040503050406030204" pitchFamily="18" charset="0"/>
                                    <a:ea typeface="Roboto" panose="02000000000000000000" pitchFamily="2" charset="0"/>
                                  </a:rPr>
                                  <m:t>𝑥</m:t>
                                </m:r>
                                <m:r>
                                  <a:rPr lang="es-MX" sz="1500" b="0" i="1" smtClean="0">
                                    <a:latin typeface="Cambria Math" panose="02040503050406030204" pitchFamily="18" charset="0"/>
                                    <a:ea typeface="Roboto" panose="02000000000000000000" pitchFamily="2" charset="0"/>
                                  </a:rPr>
                                  <m:t> </m:t>
                                </m:r>
                                <m:r>
                                  <a:rPr lang="es-MX" sz="1500" b="0" i="1" smtClean="0">
                                    <a:latin typeface="Cambria Math" panose="02040503050406030204" pitchFamily="18" charset="0"/>
                                    <a:ea typeface="Roboto" panose="02000000000000000000" pitchFamily="2" charset="0"/>
                                  </a:rPr>
                                  <m:t>𝑄</m:t>
                                </m:r>
                                <m:d>
                                  <m:dPr>
                                    <m:ctrlPr>
                                      <a:rPr lang="es-MX" sz="1500" b="0" i="1" smtClean="0">
                                        <a:latin typeface="Cambria Math" panose="02040503050406030204" pitchFamily="18" charset="0"/>
                                        <a:ea typeface="Roboto" panose="02000000000000000000" pitchFamily="2" charset="0"/>
                                      </a:rPr>
                                    </m:ctrlPr>
                                  </m:dPr>
                                  <m:e>
                                    <m:r>
                                      <a:rPr lang="es-MX" sz="1500" b="0" i="1" smtClean="0">
                                        <a:latin typeface="Cambria Math" panose="02040503050406030204" pitchFamily="18" charset="0"/>
                                        <a:ea typeface="Roboto" panose="02000000000000000000" pitchFamily="2" charset="0"/>
                                      </a:rPr>
                                      <m:t>𝑥</m:t>
                                    </m:r>
                                  </m:e>
                                </m:d>
                              </m:oMath>
                            </m:oMathPara>
                          </a14:m>
                          <a:endParaRPr lang="es-CO" sz="1500" dirty="0">
                            <a:latin typeface="Roboto" panose="02000000000000000000" pitchFamily="2"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13743916"/>
                      </a:ext>
                    </a:extLst>
                  </a:tr>
                  <a:tr h="40953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500" b="0" dirty="0">
                              <a:latin typeface="+mn-lt"/>
                              <a:ea typeface="Roboto" panose="02000000000000000000" pitchFamily="2" charset="0"/>
                            </a:rPr>
                            <a:t>Distributividad (en un solo sentido) del cuantificador universal sobre la disyunción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d>
                                  <m:dPr>
                                    <m:ctrlPr>
                                      <a:rPr lang="es-MX" sz="1500" b="0" i="1" smtClean="0">
                                        <a:latin typeface="Cambria Math" panose="02040503050406030204" pitchFamily="18" charset="0"/>
                                        <a:ea typeface="Roboto" panose="02000000000000000000" pitchFamily="2" charset="0"/>
                                      </a:rPr>
                                    </m:ctrlPr>
                                  </m:dPr>
                                  <m:e>
                                    <m:r>
                                      <a:rPr lang="es-MX" sz="1500" b="0" i="1" smtClean="0">
                                        <a:latin typeface="Cambria Math" panose="02040503050406030204" pitchFamily="18" charset="0"/>
                                        <a:ea typeface="Roboto" panose="02000000000000000000" pitchFamily="2" charset="0"/>
                                      </a:rPr>
                                      <m:t>∀</m:t>
                                    </m:r>
                                    <m:r>
                                      <a:rPr lang="es-MX" sz="1500" b="0" i="1" smtClean="0">
                                        <a:latin typeface="Cambria Math" panose="02040503050406030204" pitchFamily="18" charset="0"/>
                                        <a:ea typeface="Roboto" panose="02000000000000000000" pitchFamily="2" charset="0"/>
                                      </a:rPr>
                                      <m:t>𝑥𝑃</m:t>
                                    </m:r>
                                    <m:d>
                                      <m:dPr>
                                        <m:ctrlPr>
                                          <a:rPr lang="es-MX" sz="1500" b="0" i="1" smtClean="0">
                                            <a:latin typeface="Cambria Math" panose="02040503050406030204" pitchFamily="18" charset="0"/>
                                            <a:ea typeface="Roboto" panose="02000000000000000000" pitchFamily="2" charset="0"/>
                                          </a:rPr>
                                        </m:ctrlPr>
                                      </m:dPr>
                                      <m:e>
                                        <m:r>
                                          <a:rPr lang="es-MX" sz="1500" b="0" i="1" smtClean="0">
                                            <a:latin typeface="Cambria Math" panose="02040503050406030204" pitchFamily="18" charset="0"/>
                                            <a:ea typeface="Roboto" panose="02000000000000000000" pitchFamily="2" charset="0"/>
                                          </a:rPr>
                                          <m:t>𝑥</m:t>
                                        </m:r>
                                      </m:e>
                                    </m:d>
                                    <m:r>
                                      <a:rPr lang="es-MX" sz="1500" b="0" i="1" smtClean="0">
                                        <a:latin typeface="Cambria Math" panose="02040503050406030204" pitchFamily="18" charset="0"/>
                                        <a:ea typeface="Cambria Math" panose="02040503050406030204" pitchFamily="18" charset="0"/>
                                      </a:rPr>
                                      <m:t>∨</m:t>
                                    </m:r>
                                    <m:r>
                                      <a:rPr lang="es-MX" sz="1500" b="0" i="1" smtClean="0">
                                        <a:latin typeface="Cambria Math" panose="02040503050406030204" pitchFamily="18" charset="0"/>
                                        <a:ea typeface="Roboto" panose="02000000000000000000" pitchFamily="2" charset="0"/>
                                      </a:rPr>
                                      <m:t>∀</m:t>
                                    </m:r>
                                    <m:r>
                                      <a:rPr lang="es-MX" sz="1500" b="0" i="1" smtClean="0">
                                        <a:latin typeface="Cambria Math" panose="02040503050406030204" pitchFamily="18" charset="0"/>
                                        <a:ea typeface="Roboto" panose="02000000000000000000" pitchFamily="2" charset="0"/>
                                      </a:rPr>
                                      <m:t>𝑥𝑄</m:t>
                                    </m:r>
                                    <m:d>
                                      <m:dPr>
                                        <m:ctrlPr>
                                          <a:rPr lang="es-MX" sz="1500" b="0" i="1" smtClean="0">
                                            <a:latin typeface="Cambria Math" panose="02040503050406030204" pitchFamily="18" charset="0"/>
                                            <a:ea typeface="Roboto" panose="02000000000000000000" pitchFamily="2" charset="0"/>
                                          </a:rPr>
                                        </m:ctrlPr>
                                      </m:dPr>
                                      <m:e>
                                        <m:r>
                                          <a:rPr lang="es-MX" sz="1500" b="0" i="1" smtClean="0">
                                            <a:latin typeface="Cambria Math" panose="02040503050406030204" pitchFamily="18" charset="0"/>
                                            <a:ea typeface="Roboto" panose="02000000000000000000" pitchFamily="2" charset="0"/>
                                          </a:rPr>
                                          <m:t>𝑥</m:t>
                                        </m:r>
                                      </m:e>
                                    </m:d>
                                  </m:e>
                                </m:d>
                                <m:r>
                                  <a:rPr lang="es-MX" sz="1500" b="0" i="1" smtClean="0">
                                    <a:latin typeface="Cambria Math" panose="02040503050406030204" pitchFamily="18" charset="0"/>
                                    <a:ea typeface="Cambria Math" panose="02040503050406030204" pitchFamily="18" charset="0"/>
                                  </a:rPr>
                                  <m:t>→</m:t>
                                </m:r>
                                <m:r>
                                  <a:rPr lang="es-MX" sz="1500" b="0" i="1" smtClean="0">
                                    <a:latin typeface="Cambria Math" panose="02040503050406030204" pitchFamily="18" charset="0"/>
                                    <a:ea typeface="Roboto" panose="02000000000000000000" pitchFamily="2" charset="0"/>
                                  </a:rPr>
                                  <m:t>∀</m:t>
                                </m:r>
                                <m:r>
                                  <a:rPr lang="es-MX" sz="1500" b="0" i="1" smtClean="0">
                                    <a:latin typeface="Cambria Math" panose="02040503050406030204" pitchFamily="18" charset="0"/>
                                    <a:ea typeface="Roboto" panose="02000000000000000000" pitchFamily="2" charset="0"/>
                                  </a:rPr>
                                  <m:t>𝑥</m:t>
                                </m:r>
                                <m:d>
                                  <m:dPr>
                                    <m:ctrlPr>
                                      <a:rPr lang="es-MX" sz="1500" b="0" i="1" smtClean="0">
                                        <a:latin typeface="Cambria Math" panose="02040503050406030204" pitchFamily="18" charset="0"/>
                                        <a:ea typeface="Roboto" panose="02000000000000000000" pitchFamily="2" charset="0"/>
                                      </a:rPr>
                                    </m:ctrlPr>
                                  </m:dPr>
                                  <m:e>
                                    <m:r>
                                      <a:rPr lang="es-MX" sz="1500" b="0" i="1" smtClean="0">
                                        <a:latin typeface="Cambria Math" panose="02040503050406030204" pitchFamily="18" charset="0"/>
                                        <a:ea typeface="Roboto" panose="02000000000000000000" pitchFamily="2" charset="0"/>
                                      </a:rPr>
                                      <m:t>𝑃</m:t>
                                    </m:r>
                                    <m:d>
                                      <m:dPr>
                                        <m:ctrlPr>
                                          <a:rPr lang="es-MX" sz="1500" b="0" i="1" smtClean="0">
                                            <a:latin typeface="Cambria Math" panose="02040503050406030204" pitchFamily="18" charset="0"/>
                                            <a:ea typeface="Roboto" panose="02000000000000000000" pitchFamily="2" charset="0"/>
                                          </a:rPr>
                                        </m:ctrlPr>
                                      </m:dPr>
                                      <m:e>
                                        <m:r>
                                          <a:rPr lang="es-MX" sz="1500" b="0" i="1" smtClean="0">
                                            <a:latin typeface="Cambria Math" panose="02040503050406030204" pitchFamily="18" charset="0"/>
                                            <a:ea typeface="Roboto" panose="02000000000000000000" pitchFamily="2" charset="0"/>
                                          </a:rPr>
                                          <m:t>𝑥</m:t>
                                        </m:r>
                                      </m:e>
                                    </m:d>
                                    <m:r>
                                      <a:rPr lang="es-MX" sz="1500" b="0" i="1" smtClean="0">
                                        <a:latin typeface="Cambria Math" panose="02040503050406030204" pitchFamily="18" charset="0"/>
                                        <a:ea typeface="Cambria Math" panose="02040503050406030204" pitchFamily="18" charset="0"/>
                                      </a:rPr>
                                      <m:t>∨</m:t>
                                    </m:r>
                                    <m:r>
                                      <a:rPr lang="es-MX" sz="1500" b="0" i="1" smtClean="0">
                                        <a:latin typeface="Cambria Math" panose="02040503050406030204" pitchFamily="18" charset="0"/>
                                        <a:ea typeface="Roboto" panose="02000000000000000000" pitchFamily="2" charset="0"/>
                                      </a:rPr>
                                      <m:t>∀</m:t>
                                    </m:r>
                                    <m:r>
                                      <a:rPr lang="es-MX" sz="1500" b="0" i="1" smtClean="0">
                                        <a:latin typeface="Cambria Math" panose="02040503050406030204" pitchFamily="18" charset="0"/>
                                        <a:ea typeface="Roboto" panose="02000000000000000000" pitchFamily="2" charset="0"/>
                                      </a:rPr>
                                      <m:t>𝑥𝑄</m:t>
                                    </m:r>
                                    <m:d>
                                      <m:dPr>
                                        <m:ctrlPr>
                                          <a:rPr lang="es-MX" sz="1500" b="0" i="1" smtClean="0">
                                            <a:latin typeface="Cambria Math" panose="02040503050406030204" pitchFamily="18" charset="0"/>
                                            <a:ea typeface="Roboto" panose="02000000000000000000" pitchFamily="2" charset="0"/>
                                          </a:rPr>
                                        </m:ctrlPr>
                                      </m:dPr>
                                      <m:e>
                                        <m:r>
                                          <a:rPr lang="es-MX" sz="1500" b="0" i="1" smtClean="0">
                                            <a:latin typeface="Cambria Math" panose="02040503050406030204" pitchFamily="18" charset="0"/>
                                            <a:ea typeface="Roboto" panose="02000000000000000000" pitchFamily="2" charset="0"/>
                                          </a:rPr>
                                          <m:t>𝑥</m:t>
                                        </m:r>
                                      </m:e>
                                    </m:d>
                                  </m:e>
                                </m:d>
                              </m:oMath>
                            </m:oMathPara>
                          </a14:m>
                          <a:endParaRPr lang="es-CO" sz="1500" dirty="0">
                            <a:latin typeface="Roboto" panose="02000000000000000000" pitchFamily="2" charset="0"/>
                            <a:ea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500" dirty="0">
                            <a:latin typeface="Roboto" panose="02000000000000000000" pitchFamily="2"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29748753"/>
                      </a:ext>
                    </a:extLst>
                  </a:tr>
                  <a:tr h="409533">
                    <a:tc>
                      <a:txBody>
                        <a:bodyPr/>
                        <a:lstStyle/>
                        <a:p>
                          <a:r>
                            <a:rPr lang="es-MX" sz="1500" b="0" dirty="0">
                              <a:latin typeface="+mn-lt"/>
                              <a:ea typeface="Roboto" panose="02000000000000000000" pitchFamily="2" charset="0"/>
                            </a:rPr>
                            <a:t>Distributividad del cuantificador existencial sobre la disyunción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500" b="0" i="1" smtClean="0">
                                    <a:latin typeface="Cambria Math" panose="02040503050406030204" pitchFamily="18" charset="0"/>
                                    <a:ea typeface="Roboto" panose="02000000000000000000" pitchFamily="2" charset="0"/>
                                  </a:rPr>
                                  <m:t>∃</m:t>
                                </m:r>
                                <m:r>
                                  <a:rPr lang="es-MX" sz="1500" b="0" i="1" smtClean="0">
                                    <a:latin typeface="Cambria Math" panose="02040503050406030204" pitchFamily="18" charset="0"/>
                                    <a:ea typeface="Roboto" panose="02000000000000000000" pitchFamily="2" charset="0"/>
                                  </a:rPr>
                                  <m:t>𝑥</m:t>
                                </m:r>
                                <m:d>
                                  <m:dPr>
                                    <m:ctrlPr>
                                      <a:rPr lang="es-MX" sz="1500" b="0" i="1" smtClean="0">
                                        <a:latin typeface="Cambria Math" panose="02040503050406030204" pitchFamily="18" charset="0"/>
                                        <a:ea typeface="Roboto" panose="02000000000000000000" pitchFamily="2" charset="0"/>
                                      </a:rPr>
                                    </m:ctrlPr>
                                  </m:dPr>
                                  <m:e>
                                    <m:r>
                                      <a:rPr lang="es-MX" sz="1500" b="0" i="1" smtClean="0">
                                        <a:latin typeface="Cambria Math" panose="02040503050406030204" pitchFamily="18" charset="0"/>
                                        <a:ea typeface="Roboto" panose="02000000000000000000" pitchFamily="2" charset="0"/>
                                      </a:rPr>
                                      <m:t>𝑃</m:t>
                                    </m:r>
                                    <m:d>
                                      <m:dPr>
                                        <m:ctrlPr>
                                          <a:rPr lang="es-MX" sz="1500" b="0" i="1" smtClean="0">
                                            <a:latin typeface="Cambria Math" panose="02040503050406030204" pitchFamily="18" charset="0"/>
                                            <a:ea typeface="Roboto" panose="02000000000000000000" pitchFamily="2" charset="0"/>
                                          </a:rPr>
                                        </m:ctrlPr>
                                      </m:dPr>
                                      <m:e>
                                        <m:r>
                                          <a:rPr lang="es-MX" sz="1500" b="0" i="1" smtClean="0">
                                            <a:latin typeface="Cambria Math" panose="02040503050406030204" pitchFamily="18" charset="0"/>
                                            <a:ea typeface="Roboto" panose="02000000000000000000" pitchFamily="2" charset="0"/>
                                          </a:rPr>
                                          <m:t>𝑥</m:t>
                                        </m:r>
                                      </m:e>
                                    </m:d>
                                    <m:r>
                                      <a:rPr lang="es-MX" sz="1500" b="0" i="1" smtClean="0">
                                        <a:latin typeface="Cambria Math" panose="02040503050406030204" pitchFamily="18" charset="0"/>
                                        <a:ea typeface="Cambria Math" panose="02040503050406030204" pitchFamily="18" charset="0"/>
                                      </a:rPr>
                                      <m:t>∨</m:t>
                                    </m:r>
                                    <m:r>
                                      <a:rPr lang="es-MX" sz="1500" b="0" i="1" smtClean="0">
                                        <a:latin typeface="Cambria Math" panose="02040503050406030204" pitchFamily="18" charset="0"/>
                                        <a:ea typeface="Roboto" panose="02000000000000000000" pitchFamily="2" charset="0"/>
                                      </a:rPr>
                                      <m:t>𝑄</m:t>
                                    </m:r>
                                    <m:d>
                                      <m:dPr>
                                        <m:ctrlPr>
                                          <a:rPr lang="es-MX" sz="1500" b="0" i="1" smtClean="0">
                                            <a:latin typeface="Cambria Math" panose="02040503050406030204" pitchFamily="18" charset="0"/>
                                            <a:ea typeface="Roboto" panose="02000000000000000000" pitchFamily="2" charset="0"/>
                                          </a:rPr>
                                        </m:ctrlPr>
                                      </m:dPr>
                                      <m:e>
                                        <m:r>
                                          <a:rPr lang="es-MX" sz="1500" b="0" i="1" smtClean="0">
                                            <a:latin typeface="Cambria Math" panose="02040503050406030204" pitchFamily="18" charset="0"/>
                                            <a:ea typeface="Roboto" panose="02000000000000000000" pitchFamily="2" charset="0"/>
                                          </a:rPr>
                                          <m:t>𝑥</m:t>
                                        </m:r>
                                      </m:e>
                                    </m:d>
                                  </m:e>
                                </m:d>
                                <m:r>
                                  <a:rPr lang="es-MX" sz="1500" b="0" i="1" smtClean="0">
                                    <a:latin typeface="Cambria Math" panose="02040503050406030204" pitchFamily="18" charset="0"/>
                                    <a:ea typeface="Cambria Math" panose="02040503050406030204" pitchFamily="18" charset="0"/>
                                  </a:rPr>
                                  <m:t>≡</m:t>
                                </m:r>
                                <m:r>
                                  <a:rPr lang="es-MX" sz="1500" b="0" i="1" smtClean="0">
                                    <a:latin typeface="Cambria Math" panose="02040503050406030204" pitchFamily="18" charset="0"/>
                                    <a:ea typeface="Roboto" panose="02000000000000000000" pitchFamily="2" charset="0"/>
                                  </a:rPr>
                                  <m:t>∃</m:t>
                                </m:r>
                                <m:r>
                                  <a:rPr lang="es-MX" sz="1500" b="0" i="1" smtClean="0">
                                    <a:latin typeface="Cambria Math" panose="02040503050406030204" pitchFamily="18" charset="0"/>
                                    <a:ea typeface="Roboto" panose="02000000000000000000" pitchFamily="2" charset="0"/>
                                  </a:rPr>
                                  <m:t>𝑥</m:t>
                                </m:r>
                                <m:r>
                                  <a:rPr lang="es-MX" sz="1500" b="0" i="1" smtClean="0">
                                    <a:latin typeface="Cambria Math" panose="02040503050406030204" pitchFamily="18" charset="0"/>
                                    <a:ea typeface="Roboto" panose="02000000000000000000" pitchFamily="2" charset="0"/>
                                  </a:rPr>
                                  <m:t> </m:t>
                                </m:r>
                                <m:r>
                                  <a:rPr lang="es-MX" sz="1500" b="0" i="1" smtClean="0">
                                    <a:latin typeface="Cambria Math" panose="02040503050406030204" pitchFamily="18" charset="0"/>
                                    <a:ea typeface="Roboto" panose="02000000000000000000" pitchFamily="2" charset="0"/>
                                  </a:rPr>
                                  <m:t>𝑃</m:t>
                                </m:r>
                                <m:d>
                                  <m:dPr>
                                    <m:ctrlPr>
                                      <a:rPr lang="es-MX" sz="1500" b="0" i="1" smtClean="0">
                                        <a:latin typeface="Cambria Math" panose="02040503050406030204" pitchFamily="18" charset="0"/>
                                        <a:ea typeface="Roboto" panose="02000000000000000000" pitchFamily="2" charset="0"/>
                                      </a:rPr>
                                    </m:ctrlPr>
                                  </m:dPr>
                                  <m:e>
                                    <m:r>
                                      <a:rPr lang="es-MX" sz="1500" b="0" i="1" smtClean="0">
                                        <a:latin typeface="Cambria Math" panose="02040503050406030204" pitchFamily="18" charset="0"/>
                                        <a:ea typeface="Roboto" panose="02000000000000000000" pitchFamily="2" charset="0"/>
                                      </a:rPr>
                                      <m:t>𝑥</m:t>
                                    </m:r>
                                  </m:e>
                                </m:d>
                                <m:r>
                                  <a:rPr lang="es-MX" sz="1500" b="0" i="1" smtClean="0">
                                    <a:latin typeface="Cambria Math" panose="02040503050406030204" pitchFamily="18" charset="0"/>
                                    <a:ea typeface="Cambria Math" panose="02040503050406030204" pitchFamily="18" charset="0"/>
                                  </a:rPr>
                                  <m:t>∨</m:t>
                                </m:r>
                                <m:r>
                                  <a:rPr lang="es-MX" sz="1500" b="0" i="1" smtClean="0">
                                    <a:latin typeface="Cambria Math" panose="02040503050406030204" pitchFamily="18" charset="0"/>
                                    <a:ea typeface="Roboto" panose="02000000000000000000" pitchFamily="2" charset="0"/>
                                  </a:rPr>
                                  <m:t>∃</m:t>
                                </m:r>
                                <m:r>
                                  <a:rPr lang="es-MX" sz="1500" b="0" i="1" smtClean="0">
                                    <a:latin typeface="Cambria Math" panose="02040503050406030204" pitchFamily="18" charset="0"/>
                                    <a:ea typeface="Roboto" panose="02000000000000000000" pitchFamily="2" charset="0"/>
                                  </a:rPr>
                                  <m:t>𝑥</m:t>
                                </m:r>
                                <m:r>
                                  <a:rPr lang="es-MX" sz="1500" b="0" i="1" smtClean="0">
                                    <a:latin typeface="Cambria Math" panose="02040503050406030204" pitchFamily="18" charset="0"/>
                                    <a:ea typeface="Roboto" panose="02000000000000000000" pitchFamily="2" charset="0"/>
                                  </a:rPr>
                                  <m:t> </m:t>
                                </m:r>
                                <m:r>
                                  <a:rPr lang="es-MX" sz="1500" b="0" i="1" smtClean="0">
                                    <a:latin typeface="Cambria Math" panose="02040503050406030204" pitchFamily="18" charset="0"/>
                                    <a:ea typeface="Roboto" panose="02000000000000000000" pitchFamily="2" charset="0"/>
                                  </a:rPr>
                                  <m:t>𝑄</m:t>
                                </m:r>
                                <m:d>
                                  <m:dPr>
                                    <m:ctrlPr>
                                      <a:rPr lang="es-MX" sz="1500" b="0" i="1" smtClean="0">
                                        <a:latin typeface="Cambria Math" panose="02040503050406030204" pitchFamily="18" charset="0"/>
                                        <a:ea typeface="Roboto" panose="02000000000000000000" pitchFamily="2" charset="0"/>
                                      </a:rPr>
                                    </m:ctrlPr>
                                  </m:dPr>
                                  <m:e>
                                    <m:r>
                                      <a:rPr lang="es-MX" sz="1500" b="0" i="1" smtClean="0">
                                        <a:latin typeface="Cambria Math" panose="02040503050406030204" pitchFamily="18" charset="0"/>
                                        <a:ea typeface="Roboto" panose="02000000000000000000" pitchFamily="2" charset="0"/>
                                      </a:rPr>
                                      <m:t>𝑥</m:t>
                                    </m:r>
                                  </m:e>
                                </m:d>
                              </m:oMath>
                            </m:oMathPara>
                          </a14:m>
                          <a:endParaRPr lang="es-CO" sz="1500" dirty="0">
                            <a:latin typeface="Roboto" panose="02000000000000000000" pitchFamily="2" charset="0"/>
                            <a:ea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500" dirty="0">
                            <a:latin typeface="Roboto" panose="02000000000000000000" pitchFamily="2"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17401643"/>
                      </a:ext>
                    </a:extLst>
                  </a:tr>
                  <a:tr h="40953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500" b="0" dirty="0">
                              <a:latin typeface="+mn-lt"/>
                              <a:ea typeface="Roboto" panose="02000000000000000000" pitchFamily="2" charset="0"/>
                            </a:rPr>
                            <a:t>Distributividad (en un solo sentido) del cuantificador existencial sobre la conjunción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500" b="0" i="1" smtClean="0">
                                    <a:latin typeface="Cambria Math" panose="02040503050406030204" pitchFamily="18" charset="0"/>
                                    <a:ea typeface="Roboto" panose="02000000000000000000" pitchFamily="2" charset="0"/>
                                  </a:rPr>
                                  <m:t>∃</m:t>
                                </m:r>
                                <m:r>
                                  <a:rPr lang="es-MX" sz="1500" b="0" i="1" smtClean="0">
                                    <a:latin typeface="Cambria Math" panose="02040503050406030204" pitchFamily="18" charset="0"/>
                                    <a:ea typeface="Roboto" panose="02000000000000000000" pitchFamily="2" charset="0"/>
                                  </a:rPr>
                                  <m:t>𝑥</m:t>
                                </m:r>
                                <m:d>
                                  <m:dPr>
                                    <m:ctrlPr>
                                      <a:rPr lang="es-MX" sz="1500" b="0" i="1" smtClean="0">
                                        <a:latin typeface="Cambria Math" panose="02040503050406030204" pitchFamily="18" charset="0"/>
                                        <a:ea typeface="Roboto" panose="02000000000000000000" pitchFamily="2" charset="0"/>
                                      </a:rPr>
                                    </m:ctrlPr>
                                  </m:dPr>
                                  <m:e>
                                    <m:r>
                                      <a:rPr lang="es-MX" sz="1500" b="0" i="1" smtClean="0">
                                        <a:latin typeface="Cambria Math" panose="02040503050406030204" pitchFamily="18" charset="0"/>
                                        <a:ea typeface="Roboto" panose="02000000000000000000" pitchFamily="2" charset="0"/>
                                      </a:rPr>
                                      <m:t>𝑃</m:t>
                                    </m:r>
                                    <m:d>
                                      <m:dPr>
                                        <m:ctrlPr>
                                          <a:rPr lang="es-MX" sz="1500" b="0" i="1" smtClean="0">
                                            <a:latin typeface="Cambria Math" panose="02040503050406030204" pitchFamily="18" charset="0"/>
                                            <a:ea typeface="Roboto" panose="02000000000000000000" pitchFamily="2" charset="0"/>
                                          </a:rPr>
                                        </m:ctrlPr>
                                      </m:dPr>
                                      <m:e>
                                        <m:r>
                                          <a:rPr lang="es-MX" sz="1500" b="0" i="1" smtClean="0">
                                            <a:latin typeface="Cambria Math" panose="02040503050406030204" pitchFamily="18" charset="0"/>
                                            <a:ea typeface="Roboto" panose="02000000000000000000" pitchFamily="2" charset="0"/>
                                          </a:rPr>
                                          <m:t>𝑥</m:t>
                                        </m:r>
                                      </m:e>
                                    </m:d>
                                    <m:r>
                                      <a:rPr lang="es-MX" sz="1500" b="0" i="1" smtClean="0">
                                        <a:latin typeface="Cambria Math" panose="02040503050406030204" pitchFamily="18" charset="0"/>
                                        <a:ea typeface="Cambria Math" panose="02040503050406030204" pitchFamily="18" charset="0"/>
                                      </a:rPr>
                                      <m:t>∧</m:t>
                                    </m:r>
                                    <m:r>
                                      <a:rPr lang="es-MX" sz="1500" b="0" i="1" smtClean="0">
                                        <a:latin typeface="Cambria Math" panose="02040503050406030204" pitchFamily="18" charset="0"/>
                                        <a:ea typeface="Roboto" panose="02000000000000000000" pitchFamily="2" charset="0"/>
                                      </a:rPr>
                                      <m:t>𝑄</m:t>
                                    </m:r>
                                    <m:d>
                                      <m:dPr>
                                        <m:ctrlPr>
                                          <a:rPr lang="es-MX" sz="1500" b="0" i="1" smtClean="0">
                                            <a:latin typeface="Cambria Math" panose="02040503050406030204" pitchFamily="18" charset="0"/>
                                            <a:ea typeface="Roboto" panose="02000000000000000000" pitchFamily="2" charset="0"/>
                                          </a:rPr>
                                        </m:ctrlPr>
                                      </m:dPr>
                                      <m:e>
                                        <m:r>
                                          <a:rPr lang="es-MX" sz="1500" b="0" i="1" smtClean="0">
                                            <a:latin typeface="Cambria Math" panose="02040503050406030204" pitchFamily="18" charset="0"/>
                                            <a:ea typeface="Roboto" panose="02000000000000000000" pitchFamily="2" charset="0"/>
                                          </a:rPr>
                                          <m:t>𝑥</m:t>
                                        </m:r>
                                      </m:e>
                                    </m:d>
                                  </m:e>
                                </m:d>
                                <m:r>
                                  <a:rPr lang="es-MX" sz="1500" b="0" i="1" smtClean="0">
                                    <a:latin typeface="Cambria Math" panose="02040503050406030204" pitchFamily="18" charset="0"/>
                                    <a:ea typeface="Cambria Math" panose="02040503050406030204" pitchFamily="18" charset="0"/>
                                  </a:rPr>
                                  <m:t>→</m:t>
                                </m:r>
                                <m:r>
                                  <a:rPr lang="es-MX" sz="1500" b="0" i="1" smtClean="0">
                                    <a:latin typeface="Cambria Math" panose="02040503050406030204" pitchFamily="18" charset="0"/>
                                    <a:ea typeface="Roboto" panose="02000000000000000000" pitchFamily="2" charset="0"/>
                                  </a:rPr>
                                  <m:t>∃</m:t>
                                </m:r>
                                <m:r>
                                  <a:rPr lang="es-MX" sz="1500" b="0" i="1" smtClean="0">
                                    <a:latin typeface="Cambria Math" panose="02040503050406030204" pitchFamily="18" charset="0"/>
                                    <a:ea typeface="Roboto" panose="02000000000000000000" pitchFamily="2" charset="0"/>
                                  </a:rPr>
                                  <m:t>𝑥</m:t>
                                </m:r>
                                <m:r>
                                  <a:rPr lang="es-MX" sz="1500" b="0" i="1" smtClean="0">
                                    <a:latin typeface="Cambria Math" panose="02040503050406030204" pitchFamily="18" charset="0"/>
                                    <a:ea typeface="Roboto" panose="02000000000000000000" pitchFamily="2" charset="0"/>
                                  </a:rPr>
                                  <m:t> </m:t>
                                </m:r>
                                <m:r>
                                  <a:rPr lang="es-MX" sz="1500" b="0" i="1" smtClean="0">
                                    <a:latin typeface="Cambria Math" panose="02040503050406030204" pitchFamily="18" charset="0"/>
                                    <a:ea typeface="Roboto" panose="02000000000000000000" pitchFamily="2" charset="0"/>
                                  </a:rPr>
                                  <m:t>𝑃</m:t>
                                </m:r>
                                <m:d>
                                  <m:dPr>
                                    <m:ctrlPr>
                                      <a:rPr lang="es-MX" sz="1500" b="0" i="1" smtClean="0">
                                        <a:latin typeface="Cambria Math" panose="02040503050406030204" pitchFamily="18" charset="0"/>
                                        <a:ea typeface="Roboto" panose="02000000000000000000" pitchFamily="2" charset="0"/>
                                      </a:rPr>
                                    </m:ctrlPr>
                                  </m:dPr>
                                  <m:e>
                                    <m:r>
                                      <a:rPr lang="es-MX" sz="1500" b="0" i="1" smtClean="0">
                                        <a:latin typeface="Cambria Math" panose="02040503050406030204" pitchFamily="18" charset="0"/>
                                        <a:ea typeface="Roboto" panose="02000000000000000000" pitchFamily="2" charset="0"/>
                                      </a:rPr>
                                      <m:t>𝑥</m:t>
                                    </m:r>
                                  </m:e>
                                </m:d>
                                <m:r>
                                  <a:rPr lang="es-MX" sz="1500" b="0" i="1" smtClean="0">
                                    <a:latin typeface="Cambria Math" panose="02040503050406030204" pitchFamily="18" charset="0"/>
                                    <a:ea typeface="Cambria Math" panose="02040503050406030204" pitchFamily="18" charset="0"/>
                                  </a:rPr>
                                  <m:t>∧</m:t>
                                </m:r>
                                <m:r>
                                  <a:rPr lang="es-MX" sz="1500" b="0" i="1" smtClean="0">
                                    <a:latin typeface="Cambria Math" panose="02040503050406030204" pitchFamily="18" charset="0"/>
                                    <a:ea typeface="Roboto" panose="02000000000000000000" pitchFamily="2" charset="0"/>
                                  </a:rPr>
                                  <m:t>∃</m:t>
                                </m:r>
                                <m:r>
                                  <a:rPr lang="es-MX" sz="1500" b="0" i="1" smtClean="0">
                                    <a:latin typeface="Cambria Math" panose="02040503050406030204" pitchFamily="18" charset="0"/>
                                    <a:ea typeface="Roboto" panose="02000000000000000000" pitchFamily="2" charset="0"/>
                                  </a:rPr>
                                  <m:t>𝑥</m:t>
                                </m:r>
                                <m:r>
                                  <a:rPr lang="es-MX" sz="1500" b="0" i="1" smtClean="0">
                                    <a:latin typeface="Cambria Math" panose="02040503050406030204" pitchFamily="18" charset="0"/>
                                    <a:ea typeface="Roboto" panose="02000000000000000000" pitchFamily="2" charset="0"/>
                                  </a:rPr>
                                  <m:t> </m:t>
                                </m:r>
                                <m:r>
                                  <a:rPr lang="es-MX" sz="1500" b="0" i="1" smtClean="0">
                                    <a:latin typeface="Cambria Math" panose="02040503050406030204" pitchFamily="18" charset="0"/>
                                    <a:ea typeface="Roboto" panose="02000000000000000000" pitchFamily="2" charset="0"/>
                                  </a:rPr>
                                  <m:t>𝑄</m:t>
                                </m:r>
                                <m:d>
                                  <m:dPr>
                                    <m:ctrlPr>
                                      <a:rPr lang="es-MX" sz="1500" b="0" i="1" smtClean="0">
                                        <a:latin typeface="Cambria Math" panose="02040503050406030204" pitchFamily="18" charset="0"/>
                                        <a:ea typeface="Roboto" panose="02000000000000000000" pitchFamily="2" charset="0"/>
                                      </a:rPr>
                                    </m:ctrlPr>
                                  </m:dPr>
                                  <m:e>
                                    <m:r>
                                      <a:rPr lang="es-MX" sz="1500" b="0" i="1" smtClean="0">
                                        <a:latin typeface="Cambria Math" panose="02040503050406030204" pitchFamily="18" charset="0"/>
                                        <a:ea typeface="Roboto" panose="02000000000000000000" pitchFamily="2" charset="0"/>
                                      </a:rPr>
                                      <m:t>𝑥</m:t>
                                    </m:r>
                                  </m:e>
                                </m:d>
                              </m:oMath>
                            </m:oMathPara>
                          </a14:m>
                          <a:endParaRPr lang="es-CO" sz="1500" dirty="0">
                            <a:latin typeface="Roboto" panose="02000000000000000000" pitchFamily="2" charset="0"/>
                            <a:ea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500" dirty="0">
                            <a:latin typeface="Roboto" panose="02000000000000000000" pitchFamily="2"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263083683"/>
                      </a:ext>
                    </a:extLst>
                  </a:tr>
                  <a:tr h="896957">
                    <a:tc>
                      <a:txBody>
                        <a:bodyPr/>
                        <a:lstStyle/>
                        <a:p>
                          <a:r>
                            <a:rPr lang="es-CO" sz="1500" b="0" dirty="0">
                              <a:latin typeface="+mn-lt"/>
                              <a:ea typeface="Roboto" panose="02000000000000000000" pitchFamily="2" charset="0"/>
                            </a:rPr>
                            <a:t>Distribución de cuantificadores (restricciones)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500" dirty="0">
                              <a:latin typeface="+mn-lt"/>
                              <a:ea typeface="Roboto" panose="02000000000000000000" pitchFamily="2" charset="0"/>
                            </a:rPr>
                            <a:t>Si la formula </a:t>
                          </a:r>
                          <a14:m>
                            <m:oMath xmlns:m="http://schemas.openxmlformats.org/officeDocument/2006/math">
                              <m:r>
                                <a:rPr lang="es-MX" sz="1500" b="0" i="1" smtClean="0">
                                  <a:latin typeface="+mn-lt"/>
                                  <a:ea typeface="Roboto" panose="02000000000000000000" pitchFamily="2" charset="0"/>
                                </a:rPr>
                                <m:t>𝑄</m:t>
                              </m:r>
                            </m:oMath>
                          </a14:m>
                          <a:r>
                            <a:rPr lang="es-CO" sz="1500" dirty="0">
                              <a:latin typeface="+mn-lt"/>
                              <a:ea typeface="Roboto" panose="02000000000000000000" pitchFamily="2" charset="0"/>
                            </a:rPr>
                            <a:t> no contiene</a:t>
                          </a:r>
                          <a:r>
                            <a:rPr lang="es-CO" sz="1500" baseline="0" dirty="0">
                              <a:latin typeface="+mn-lt"/>
                              <a:ea typeface="Roboto" panose="02000000000000000000" pitchFamily="2" charset="0"/>
                            </a:rPr>
                            <a:t> la variable cuantificada </a:t>
                          </a:r>
                          <a14:m>
                            <m:oMath xmlns:m="http://schemas.openxmlformats.org/officeDocument/2006/math">
                              <m:r>
                                <a:rPr lang="es-MX" sz="1500" b="0" i="1" smtClean="0">
                                  <a:latin typeface="+mn-lt"/>
                                  <a:ea typeface="Roboto" panose="02000000000000000000" pitchFamily="2" charset="0"/>
                                </a:rPr>
                                <m:t>𝑥</m:t>
                              </m:r>
                            </m:oMath>
                          </a14:m>
                          <a:r>
                            <a:rPr lang="es-CO" sz="1500" dirty="0">
                              <a:latin typeface="+mn-lt"/>
                              <a:ea typeface="Roboto" panose="02000000000000000000" pitchFamily="2" charset="0"/>
                            </a:rPr>
                            <a: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500" dirty="0">
                            <a:latin typeface="Roboto" panose="02000000000000000000" pitchFamily="2" charset="0"/>
                            <a:ea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500" b="0" i="1" smtClean="0">
                                    <a:latin typeface="Cambria Math" panose="02040503050406030204" pitchFamily="18" charset="0"/>
                                    <a:ea typeface="Roboto" panose="02000000000000000000" pitchFamily="2" charset="0"/>
                                  </a:rPr>
                                  <m:t>∀</m:t>
                                </m:r>
                                <m:r>
                                  <a:rPr lang="es-MX" sz="1500" b="0" i="1" smtClean="0">
                                    <a:latin typeface="Cambria Math" panose="02040503050406030204" pitchFamily="18" charset="0"/>
                                    <a:ea typeface="Roboto" panose="02000000000000000000" pitchFamily="2" charset="0"/>
                                  </a:rPr>
                                  <m:t>𝑥</m:t>
                                </m:r>
                                <m:d>
                                  <m:dPr>
                                    <m:ctrlPr>
                                      <a:rPr lang="es-MX" sz="1500" b="0" i="1" smtClean="0">
                                        <a:latin typeface="Cambria Math" panose="02040503050406030204" pitchFamily="18" charset="0"/>
                                        <a:ea typeface="Roboto" panose="02000000000000000000" pitchFamily="2" charset="0"/>
                                      </a:rPr>
                                    </m:ctrlPr>
                                  </m:dPr>
                                  <m:e>
                                    <m:r>
                                      <a:rPr lang="es-MX" sz="1500" b="0" i="1" smtClean="0">
                                        <a:latin typeface="Cambria Math" panose="02040503050406030204" pitchFamily="18" charset="0"/>
                                        <a:ea typeface="Roboto" panose="02000000000000000000" pitchFamily="2" charset="0"/>
                                      </a:rPr>
                                      <m:t>𝑃</m:t>
                                    </m:r>
                                    <m:d>
                                      <m:dPr>
                                        <m:ctrlPr>
                                          <a:rPr lang="es-MX" sz="1500" b="0" i="1" smtClean="0">
                                            <a:latin typeface="Cambria Math" panose="02040503050406030204" pitchFamily="18" charset="0"/>
                                            <a:ea typeface="Roboto" panose="02000000000000000000" pitchFamily="2" charset="0"/>
                                          </a:rPr>
                                        </m:ctrlPr>
                                      </m:dPr>
                                      <m:e>
                                        <m:r>
                                          <a:rPr lang="es-MX" sz="1500" b="0" i="1" smtClean="0">
                                            <a:latin typeface="Cambria Math" panose="02040503050406030204" pitchFamily="18" charset="0"/>
                                            <a:ea typeface="Roboto" panose="02000000000000000000" pitchFamily="2" charset="0"/>
                                          </a:rPr>
                                          <m:t>𝑥</m:t>
                                        </m:r>
                                      </m:e>
                                    </m:d>
                                    <m:r>
                                      <a:rPr lang="es-MX" sz="1500" b="0" i="1" smtClean="0">
                                        <a:latin typeface="Cambria Math" panose="02040503050406030204" pitchFamily="18" charset="0"/>
                                        <a:ea typeface="Cambria Math" panose="02040503050406030204" pitchFamily="18" charset="0"/>
                                      </a:rPr>
                                      <m:t>∨</m:t>
                                    </m:r>
                                    <m:r>
                                      <a:rPr lang="es-MX" sz="1500" b="0" i="1" smtClean="0">
                                        <a:latin typeface="Cambria Math" panose="02040503050406030204" pitchFamily="18" charset="0"/>
                                        <a:ea typeface="Roboto" panose="02000000000000000000" pitchFamily="2" charset="0"/>
                                      </a:rPr>
                                      <m:t>𝑄</m:t>
                                    </m:r>
                                  </m:e>
                                </m:d>
                                <m:r>
                                  <a:rPr lang="es-MX" sz="1500" b="0" i="1" smtClean="0">
                                    <a:latin typeface="Cambria Math" panose="02040503050406030204" pitchFamily="18" charset="0"/>
                                    <a:ea typeface="Cambria Math" panose="02040503050406030204" pitchFamily="18" charset="0"/>
                                  </a:rPr>
                                  <m:t>≡</m:t>
                                </m:r>
                                <m:d>
                                  <m:dPr>
                                    <m:ctrlPr>
                                      <a:rPr lang="es-MX" sz="1500" b="0" i="1" smtClean="0">
                                        <a:latin typeface="Cambria Math" panose="02040503050406030204" pitchFamily="18" charset="0"/>
                                        <a:ea typeface="Cambria Math" panose="02040503050406030204" pitchFamily="18" charset="0"/>
                                      </a:rPr>
                                    </m:ctrlPr>
                                  </m:dPr>
                                  <m:e>
                                    <m:r>
                                      <a:rPr lang="es-MX" sz="1500" b="0" i="1" smtClean="0">
                                        <a:latin typeface="Cambria Math" panose="02040503050406030204" pitchFamily="18" charset="0"/>
                                        <a:ea typeface="Roboto" panose="02000000000000000000" pitchFamily="2" charset="0"/>
                                      </a:rPr>
                                      <m:t>∀</m:t>
                                    </m:r>
                                    <m:r>
                                      <a:rPr lang="es-MX" sz="1500" b="0" i="1" smtClean="0">
                                        <a:latin typeface="Cambria Math" panose="02040503050406030204" pitchFamily="18" charset="0"/>
                                        <a:ea typeface="Roboto" panose="02000000000000000000" pitchFamily="2" charset="0"/>
                                      </a:rPr>
                                      <m:t>𝑥</m:t>
                                    </m:r>
                                    <m:r>
                                      <a:rPr lang="es-MX" sz="1500" b="0" i="1" smtClean="0">
                                        <a:latin typeface="Cambria Math" panose="02040503050406030204" pitchFamily="18" charset="0"/>
                                        <a:ea typeface="Roboto" panose="02000000000000000000" pitchFamily="2" charset="0"/>
                                      </a:rPr>
                                      <m:t> </m:t>
                                    </m:r>
                                    <m:r>
                                      <a:rPr lang="es-MX" sz="1500" b="0" i="1" smtClean="0">
                                        <a:latin typeface="Cambria Math" panose="02040503050406030204" pitchFamily="18" charset="0"/>
                                        <a:ea typeface="Roboto" panose="02000000000000000000" pitchFamily="2" charset="0"/>
                                      </a:rPr>
                                      <m:t>𝑃</m:t>
                                    </m:r>
                                    <m:d>
                                      <m:dPr>
                                        <m:ctrlPr>
                                          <a:rPr lang="es-MX" sz="1500" b="0" i="1" smtClean="0">
                                            <a:latin typeface="Cambria Math" panose="02040503050406030204" pitchFamily="18" charset="0"/>
                                            <a:ea typeface="Roboto" panose="02000000000000000000" pitchFamily="2" charset="0"/>
                                          </a:rPr>
                                        </m:ctrlPr>
                                      </m:dPr>
                                      <m:e>
                                        <m:r>
                                          <a:rPr lang="es-MX" sz="1500" b="0" i="1" smtClean="0">
                                            <a:latin typeface="Cambria Math" panose="02040503050406030204" pitchFamily="18" charset="0"/>
                                            <a:ea typeface="Roboto" panose="02000000000000000000" pitchFamily="2" charset="0"/>
                                          </a:rPr>
                                          <m:t>𝑥</m:t>
                                        </m:r>
                                      </m:e>
                                    </m:d>
                                  </m:e>
                                </m:d>
                                <m:r>
                                  <a:rPr lang="es-MX" sz="1500" b="0" i="1" smtClean="0">
                                    <a:latin typeface="Cambria Math" panose="02040503050406030204" pitchFamily="18" charset="0"/>
                                    <a:ea typeface="Cambria Math" panose="02040503050406030204" pitchFamily="18" charset="0"/>
                                  </a:rPr>
                                  <m:t>∨</m:t>
                                </m:r>
                                <m:r>
                                  <a:rPr lang="es-MX" sz="1500" b="0" i="1" smtClean="0">
                                    <a:latin typeface="Cambria Math" panose="02040503050406030204" pitchFamily="18" charset="0"/>
                                    <a:ea typeface="Roboto" panose="02000000000000000000" pitchFamily="2" charset="0"/>
                                  </a:rPr>
                                  <m:t>𝑄</m:t>
                                </m:r>
                              </m:oMath>
                            </m:oMathPara>
                          </a14:m>
                          <a:endParaRPr lang="es-MX" sz="1500" b="0" i="1" dirty="0">
                            <a:latin typeface="Cambria Math" panose="02040503050406030204" pitchFamily="18" charset="0"/>
                            <a:ea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500" b="0" i="1" smtClean="0">
                                    <a:latin typeface="Cambria Math" panose="02040503050406030204" pitchFamily="18" charset="0"/>
                                    <a:ea typeface="Roboto" panose="02000000000000000000" pitchFamily="2" charset="0"/>
                                  </a:rPr>
                                  <m:t>∃</m:t>
                                </m:r>
                                <m:r>
                                  <a:rPr lang="es-MX" sz="1500" b="0" i="1" smtClean="0">
                                    <a:latin typeface="Cambria Math" panose="02040503050406030204" pitchFamily="18" charset="0"/>
                                    <a:ea typeface="Roboto" panose="02000000000000000000" pitchFamily="2" charset="0"/>
                                  </a:rPr>
                                  <m:t>𝑥</m:t>
                                </m:r>
                                <m:d>
                                  <m:dPr>
                                    <m:ctrlPr>
                                      <a:rPr lang="es-MX" sz="1500" b="0" i="1" smtClean="0">
                                        <a:latin typeface="Cambria Math" panose="02040503050406030204" pitchFamily="18" charset="0"/>
                                        <a:ea typeface="Roboto" panose="02000000000000000000" pitchFamily="2" charset="0"/>
                                      </a:rPr>
                                    </m:ctrlPr>
                                  </m:dPr>
                                  <m:e>
                                    <m:r>
                                      <a:rPr lang="es-MX" sz="1500" b="0" i="1" smtClean="0">
                                        <a:latin typeface="Cambria Math" panose="02040503050406030204" pitchFamily="18" charset="0"/>
                                        <a:ea typeface="Roboto" panose="02000000000000000000" pitchFamily="2" charset="0"/>
                                      </a:rPr>
                                      <m:t>𝑃</m:t>
                                    </m:r>
                                    <m:d>
                                      <m:dPr>
                                        <m:ctrlPr>
                                          <a:rPr lang="es-MX" sz="1500" b="0" i="1" smtClean="0">
                                            <a:latin typeface="Cambria Math" panose="02040503050406030204" pitchFamily="18" charset="0"/>
                                            <a:ea typeface="Roboto" panose="02000000000000000000" pitchFamily="2" charset="0"/>
                                          </a:rPr>
                                        </m:ctrlPr>
                                      </m:dPr>
                                      <m:e>
                                        <m:r>
                                          <a:rPr lang="es-MX" sz="1500" b="0" i="1" smtClean="0">
                                            <a:latin typeface="Cambria Math" panose="02040503050406030204" pitchFamily="18" charset="0"/>
                                            <a:ea typeface="Roboto" panose="02000000000000000000" pitchFamily="2" charset="0"/>
                                          </a:rPr>
                                          <m:t>𝑥</m:t>
                                        </m:r>
                                      </m:e>
                                    </m:d>
                                    <m:r>
                                      <a:rPr lang="es-MX" sz="1500" b="0" i="1" smtClean="0">
                                        <a:latin typeface="Cambria Math" panose="02040503050406030204" pitchFamily="18" charset="0"/>
                                        <a:ea typeface="Cambria Math" panose="02040503050406030204" pitchFamily="18" charset="0"/>
                                      </a:rPr>
                                      <m:t>∧</m:t>
                                    </m:r>
                                    <m:r>
                                      <a:rPr lang="es-MX" sz="1500" b="0" i="1" smtClean="0">
                                        <a:latin typeface="Cambria Math" panose="02040503050406030204" pitchFamily="18" charset="0"/>
                                        <a:ea typeface="Roboto" panose="02000000000000000000" pitchFamily="2" charset="0"/>
                                      </a:rPr>
                                      <m:t>𝑄</m:t>
                                    </m:r>
                                  </m:e>
                                </m:d>
                                <m:r>
                                  <a:rPr lang="es-MX" sz="1500" b="0" i="1" smtClean="0">
                                    <a:latin typeface="Cambria Math" panose="02040503050406030204" pitchFamily="18" charset="0"/>
                                    <a:ea typeface="Cambria Math" panose="02040503050406030204" pitchFamily="18" charset="0"/>
                                  </a:rPr>
                                  <m:t>≡</m:t>
                                </m:r>
                                <m:d>
                                  <m:dPr>
                                    <m:ctrlPr>
                                      <a:rPr lang="es-MX" sz="1500" b="0" i="1" smtClean="0">
                                        <a:latin typeface="Cambria Math" panose="02040503050406030204" pitchFamily="18" charset="0"/>
                                        <a:ea typeface="Cambria Math" panose="02040503050406030204" pitchFamily="18" charset="0"/>
                                      </a:rPr>
                                    </m:ctrlPr>
                                  </m:dPr>
                                  <m:e>
                                    <m:r>
                                      <a:rPr lang="es-MX" sz="1500" b="0" i="1" smtClean="0">
                                        <a:latin typeface="Cambria Math" panose="02040503050406030204" pitchFamily="18" charset="0"/>
                                        <a:ea typeface="Roboto" panose="02000000000000000000" pitchFamily="2" charset="0"/>
                                      </a:rPr>
                                      <m:t>∃</m:t>
                                    </m:r>
                                    <m:r>
                                      <a:rPr lang="es-MX" sz="1500" b="0" i="1" smtClean="0">
                                        <a:latin typeface="Cambria Math" panose="02040503050406030204" pitchFamily="18" charset="0"/>
                                        <a:ea typeface="Roboto" panose="02000000000000000000" pitchFamily="2" charset="0"/>
                                      </a:rPr>
                                      <m:t>𝑥</m:t>
                                    </m:r>
                                    <m:r>
                                      <a:rPr lang="es-MX" sz="1500" b="0" i="1" smtClean="0">
                                        <a:latin typeface="Cambria Math" panose="02040503050406030204" pitchFamily="18" charset="0"/>
                                        <a:ea typeface="Roboto" panose="02000000000000000000" pitchFamily="2" charset="0"/>
                                      </a:rPr>
                                      <m:t> </m:t>
                                    </m:r>
                                    <m:r>
                                      <a:rPr lang="es-MX" sz="1500" b="0" i="1" smtClean="0">
                                        <a:latin typeface="Cambria Math" panose="02040503050406030204" pitchFamily="18" charset="0"/>
                                        <a:ea typeface="Roboto" panose="02000000000000000000" pitchFamily="2" charset="0"/>
                                      </a:rPr>
                                      <m:t>𝑃</m:t>
                                    </m:r>
                                    <m:d>
                                      <m:dPr>
                                        <m:ctrlPr>
                                          <a:rPr lang="es-MX" sz="1500" b="0" i="1" smtClean="0">
                                            <a:latin typeface="Cambria Math" panose="02040503050406030204" pitchFamily="18" charset="0"/>
                                            <a:ea typeface="Roboto" panose="02000000000000000000" pitchFamily="2" charset="0"/>
                                          </a:rPr>
                                        </m:ctrlPr>
                                      </m:dPr>
                                      <m:e>
                                        <m:r>
                                          <a:rPr lang="es-MX" sz="1500" b="0" i="1" smtClean="0">
                                            <a:latin typeface="Cambria Math" panose="02040503050406030204" pitchFamily="18" charset="0"/>
                                            <a:ea typeface="Roboto" panose="02000000000000000000" pitchFamily="2" charset="0"/>
                                          </a:rPr>
                                          <m:t>𝑥</m:t>
                                        </m:r>
                                      </m:e>
                                    </m:d>
                                  </m:e>
                                </m:d>
                                <m:r>
                                  <a:rPr lang="es-MX" sz="1500" b="0" i="1" smtClean="0">
                                    <a:latin typeface="Cambria Math" panose="02040503050406030204" pitchFamily="18" charset="0"/>
                                    <a:ea typeface="Cambria Math" panose="02040503050406030204" pitchFamily="18" charset="0"/>
                                  </a:rPr>
                                  <m:t>∧</m:t>
                                </m:r>
                                <m:r>
                                  <a:rPr lang="es-MX" sz="1500" b="0" i="1" smtClean="0">
                                    <a:latin typeface="Cambria Math" panose="02040503050406030204" pitchFamily="18" charset="0"/>
                                    <a:ea typeface="Roboto" panose="02000000000000000000" pitchFamily="2" charset="0"/>
                                  </a:rPr>
                                  <m:t>𝑄</m:t>
                                </m:r>
                              </m:oMath>
                            </m:oMathPara>
                          </a14:m>
                          <a:endParaRPr lang="es-CO" sz="1500" dirty="0">
                            <a:latin typeface="Roboto" panose="02000000000000000000" pitchFamily="2" charset="0"/>
                            <a:ea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500" dirty="0">
                            <a:latin typeface="Roboto" panose="02000000000000000000" pitchFamily="2"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46818852"/>
                      </a:ext>
                    </a:extLst>
                  </a:tr>
                  <a:tr h="389464">
                    <a:tc>
                      <a:txBody>
                        <a:bodyPr/>
                        <a:lstStyle/>
                        <a:p>
                          <a:r>
                            <a:rPr lang="es-MX" sz="1500" b="0" i="0" u="none" strike="noStrike" cap="none" dirty="0">
                              <a:solidFill>
                                <a:srgbClr val="000000"/>
                              </a:solidFill>
                              <a:latin typeface="+mn-lt"/>
                              <a:ea typeface="Roboto" panose="02000000000000000000" pitchFamily="2" charset="0"/>
                              <a:cs typeface="Arial"/>
                              <a:sym typeface="Arial"/>
                            </a:rPr>
                            <a:t>Intercambio del orden de cuantificadores iguales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500" b="0" i="1" smtClean="0">
                                    <a:latin typeface="Cambria Math" panose="02040503050406030204" pitchFamily="18" charset="0"/>
                                    <a:ea typeface="Roboto" panose="02000000000000000000" pitchFamily="2" charset="0"/>
                                  </a:rPr>
                                  <m:t>∀</m:t>
                                </m:r>
                                <m:r>
                                  <a:rPr lang="es-MX" sz="1500" b="0" i="1" smtClean="0">
                                    <a:latin typeface="Cambria Math" panose="02040503050406030204" pitchFamily="18" charset="0"/>
                                    <a:ea typeface="Roboto" panose="02000000000000000000" pitchFamily="2" charset="0"/>
                                  </a:rPr>
                                  <m:t>𝑥</m:t>
                                </m:r>
                                <m:r>
                                  <a:rPr lang="es-MX" sz="1500" b="0" i="1" smtClean="0">
                                    <a:latin typeface="Cambria Math" panose="02040503050406030204" pitchFamily="18" charset="0"/>
                                    <a:ea typeface="Roboto" panose="02000000000000000000" pitchFamily="2" charset="0"/>
                                  </a:rPr>
                                  <m:t>∀</m:t>
                                </m:r>
                                <m:r>
                                  <a:rPr lang="es-MX" sz="1500" b="0" i="1" smtClean="0">
                                    <a:latin typeface="Cambria Math" panose="02040503050406030204" pitchFamily="18" charset="0"/>
                                    <a:ea typeface="Roboto" panose="02000000000000000000" pitchFamily="2" charset="0"/>
                                  </a:rPr>
                                  <m:t>𝑦</m:t>
                                </m:r>
                                <m:r>
                                  <a:rPr lang="es-MX" sz="1500" b="0" i="1" smtClean="0">
                                    <a:latin typeface="Cambria Math" panose="02040503050406030204" pitchFamily="18" charset="0"/>
                                    <a:ea typeface="Roboto" panose="02000000000000000000" pitchFamily="2" charset="0"/>
                                  </a:rPr>
                                  <m:t> </m:t>
                                </m:r>
                                <m:r>
                                  <a:rPr lang="es-MX" sz="1500" b="0" i="1" smtClean="0">
                                    <a:latin typeface="Cambria Math" panose="02040503050406030204" pitchFamily="18" charset="0"/>
                                    <a:ea typeface="Roboto" panose="02000000000000000000" pitchFamily="2" charset="0"/>
                                  </a:rPr>
                                  <m:t>𝑃</m:t>
                                </m:r>
                                <m:d>
                                  <m:dPr>
                                    <m:ctrlPr>
                                      <a:rPr lang="es-MX" sz="1500" b="0" i="1" smtClean="0">
                                        <a:latin typeface="Cambria Math" panose="02040503050406030204" pitchFamily="18" charset="0"/>
                                        <a:ea typeface="Roboto" panose="02000000000000000000" pitchFamily="2" charset="0"/>
                                      </a:rPr>
                                    </m:ctrlPr>
                                  </m:dPr>
                                  <m:e>
                                    <m:r>
                                      <a:rPr lang="es-MX" sz="1500" b="0" i="1" smtClean="0">
                                        <a:latin typeface="Cambria Math" panose="02040503050406030204" pitchFamily="18" charset="0"/>
                                        <a:ea typeface="Roboto" panose="02000000000000000000" pitchFamily="2" charset="0"/>
                                      </a:rPr>
                                      <m:t>𝑥</m:t>
                                    </m:r>
                                    <m:r>
                                      <a:rPr lang="es-MX" sz="1500" b="0" i="1" smtClean="0">
                                        <a:latin typeface="Cambria Math" panose="02040503050406030204" pitchFamily="18" charset="0"/>
                                        <a:ea typeface="Roboto" panose="02000000000000000000" pitchFamily="2" charset="0"/>
                                      </a:rPr>
                                      <m:t>,</m:t>
                                    </m:r>
                                    <m:r>
                                      <a:rPr lang="es-MX" sz="1500" b="0" i="1" smtClean="0">
                                        <a:latin typeface="Cambria Math" panose="02040503050406030204" pitchFamily="18" charset="0"/>
                                        <a:ea typeface="Roboto" panose="02000000000000000000" pitchFamily="2" charset="0"/>
                                      </a:rPr>
                                      <m:t>𝑦</m:t>
                                    </m:r>
                                  </m:e>
                                </m:d>
                                <m:r>
                                  <a:rPr lang="es-MX" sz="1500" b="0" i="1" smtClean="0">
                                    <a:latin typeface="Cambria Math" panose="02040503050406030204" pitchFamily="18" charset="0"/>
                                    <a:ea typeface="Cambria Math" panose="02040503050406030204" pitchFamily="18" charset="0"/>
                                  </a:rPr>
                                  <m:t>≡</m:t>
                                </m:r>
                                <m:r>
                                  <a:rPr lang="es-MX" sz="1500" b="0" i="1" smtClean="0">
                                    <a:latin typeface="Cambria Math" panose="02040503050406030204" pitchFamily="18" charset="0"/>
                                    <a:ea typeface="Roboto" panose="02000000000000000000" pitchFamily="2" charset="0"/>
                                  </a:rPr>
                                  <m:t>∀</m:t>
                                </m:r>
                                <m:r>
                                  <a:rPr lang="es-MX" sz="1500" b="0" i="1" smtClean="0">
                                    <a:latin typeface="Cambria Math" panose="02040503050406030204" pitchFamily="18" charset="0"/>
                                    <a:ea typeface="Roboto" panose="02000000000000000000" pitchFamily="2" charset="0"/>
                                  </a:rPr>
                                  <m:t>𝑦</m:t>
                                </m:r>
                                <m:r>
                                  <a:rPr lang="es-MX" sz="1500" b="0" i="1" smtClean="0">
                                    <a:latin typeface="Cambria Math" panose="02040503050406030204" pitchFamily="18" charset="0"/>
                                    <a:ea typeface="Roboto" panose="02000000000000000000" pitchFamily="2" charset="0"/>
                                  </a:rPr>
                                  <m:t>∀</m:t>
                                </m:r>
                                <m:r>
                                  <a:rPr lang="es-MX" sz="1500" b="0" i="1" smtClean="0">
                                    <a:latin typeface="Cambria Math" panose="02040503050406030204" pitchFamily="18" charset="0"/>
                                    <a:ea typeface="Roboto" panose="02000000000000000000" pitchFamily="2" charset="0"/>
                                  </a:rPr>
                                  <m:t>𝑥</m:t>
                                </m:r>
                                <m:r>
                                  <a:rPr lang="es-MX" sz="1500" b="0" i="1" smtClean="0">
                                    <a:latin typeface="Cambria Math" panose="02040503050406030204" pitchFamily="18" charset="0"/>
                                    <a:ea typeface="Roboto" panose="02000000000000000000" pitchFamily="2" charset="0"/>
                                  </a:rPr>
                                  <m:t> </m:t>
                                </m:r>
                                <m:r>
                                  <a:rPr lang="es-MX" sz="1500" b="0" i="1" smtClean="0">
                                    <a:latin typeface="Cambria Math" panose="02040503050406030204" pitchFamily="18" charset="0"/>
                                    <a:ea typeface="Roboto" panose="02000000000000000000" pitchFamily="2" charset="0"/>
                                  </a:rPr>
                                  <m:t>𝑃</m:t>
                                </m:r>
                                <m:d>
                                  <m:dPr>
                                    <m:ctrlPr>
                                      <a:rPr lang="es-MX" sz="1500" b="0" i="1" smtClean="0">
                                        <a:latin typeface="Cambria Math" panose="02040503050406030204" pitchFamily="18" charset="0"/>
                                        <a:ea typeface="Roboto" panose="02000000000000000000" pitchFamily="2" charset="0"/>
                                      </a:rPr>
                                    </m:ctrlPr>
                                  </m:dPr>
                                  <m:e>
                                    <m:r>
                                      <a:rPr lang="es-MX" sz="1500" b="0" i="1" smtClean="0">
                                        <a:latin typeface="Cambria Math" panose="02040503050406030204" pitchFamily="18" charset="0"/>
                                        <a:ea typeface="Roboto" panose="02000000000000000000" pitchFamily="2" charset="0"/>
                                      </a:rPr>
                                      <m:t>𝑥</m:t>
                                    </m:r>
                                    <m:r>
                                      <a:rPr lang="es-MX" sz="1500" b="0" i="1" smtClean="0">
                                        <a:latin typeface="Cambria Math" panose="02040503050406030204" pitchFamily="18" charset="0"/>
                                        <a:ea typeface="Roboto" panose="02000000000000000000" pitchFamily="2" charset="0"/>
                                      </a:rPr>
                                      <m:t>,</m:t>
                                    </m:r>
                                    <m:r>
                                      <a:rPr lang="es-MX" sz="1500" b="0" i="1" smtClean="0">
                                        <a:latin typeface="Cambria Math" panose="02040503050406030204" pitchFamily="18" charset="0"/>
                                        <a:ea typeface="Roboto" panose="02000000000000000000" pitchFamily="2" charset="0"/>
                                      </a:rPr>
                                      <m:t>𝑦</m:t>
                                    </m:r>
                                  </m:e>
                                </m:d>
                              </m:oMath>
                            </m:oMathPara>
                          </a14:m>
                          <a:endParaRPr lang="es-MX" sz="1500" b="0" i="1" dirty="0">
                            <a:latin typeface="Cambria Math" panose="02040503050406030204" pitchFamily="18" charset="0"/>
                            <a:ea typeface="Roboto" panose="02000000000000000000" pitchFamily="2" charset="0"/>
                          </a:endParaRPr>
                        </a:p>
                        <a:p>
                          <a:pPr/>
                          <a14:m>
                            <m:oMathPara xmlns:m="http://schemas.openxmlformats.org/officeDocument/2006/math">
                              <m:oMathParaPr>
                                <m:jc m:val="centerGroup"/>
                              </m:oMathParaPr>
                              <m:oMath xmlns:m="http://schemas.openxmlformats.org/officeDocument/2006/math">
                                <m:r>
                                  <a:rPr lang="es-MX" sz="1500" b="0" i="1" smtClean="0">
                                    <a:latin typeface="Cambria Math" panose="02040503050406030204" pitchFamily="18" charset="0"/>
                                    <a:ea typeface="Roboto" panose="02000000000000000000" pitchFamily="2" charset="0"/>
                                  </a:rPr>
                                  <m:t>∃</m:t>
                                </m:r>
                                <m:r>
                                  <a:rPr lang="es-MX" sz="1500" b="0" i="1" smtClean="0">
                                    <a:latin typeface="Cambria Math" panose="02040503050406030204" pitchFamily="18" charset="0"/>
                                    <a:ea typeface="Roboto" panose="02000000000000000000" pitchFamily="2" charset="0"/>
                                  </a:rPr>
                                  <m:t>𝑥</m:t>
                                </m:r>
                                <m:r>
                                  <a:rPr lang="es-MX" sz="1500" b="0" i="1" smtClean="0">
                                    <a:latin typeface="Cambria Math" panose="02040503050406030204" pitchFamily="18" charset="0"/>
                                    <a:ea typeface="Roboto" panose="02000000000000000000" pitchFamily="2" charset="0"/>
                                  </a:rPr>
                                  <m:t>∃</m:t>
                                </m:r>
                                <m:r>
                                  <a:rPr lang="es-MX" sz="1500" b="0" i="1" smtClean="0">
                                    <a:latin typeface="Cambria Math" panose="02040503050406030204" pitchFamily="18" charset="0"/>
                                    <a:ea typeface="Roboto" panose="02000000000000000000" pitchFamily="2" charset="0"/>
                                  </a:rPr>
                                  <m:t>𝑦</m:t>
                                </m:r>
                                <m:r>
                                  <a:rPr lang="es-MX" sz="1500" b="0" i="1" smtClean="0">
                                    <a:latin typeface="Cambria Math" panose="02040503050406030204" pitchFamily="18" charset="0"/>
                                    <a:ea typeface="Roboto" panose="02000000000000000000" pitchFamily="2" charset="0"/>
                                  </a:rPr>
                                  <m:t> </m:t>
                                </m:r>
                                <m:r>
                                  <a:rPr lang="es-MX" sz="1500" b="0" i="1" smtClean="0">
                                    <a:latin typeface="Cambria Math" panose="02040503050406030204" pitchFamily="18" charset="0"/>
                                    <a:ea typeface="Roboto" panose="02000000000000000000" pitchFamily="2" charset="0"/>
                                  </a:rPr>
                                  <m:t>𝑃</m:t>
                                </m:r>
                                <m:d>
                                  <m:dPr>
                                    <m:ctrlPr>
                                      <a:rPr lang="es-MX" sz="1500" b="0" i="1" smtClean="0">
                                        <a:latin typeface="Cambria Math" panose="02040503050406030204" pitchFamily="18" charset="0"/>
                                        <a:ea typeface="Roboto" panose="02000000000000000000" pitchFamily="2" charset="0"/>
                                      </a:rPr>
                                    </m:ctrlPr>
                                  </m:dPr>
                                  <m:e>
                                    <m:r>
                                      <a:rPr lang="es-MX" sz="1500" b="0" i="1" smtClean="0">
                                        <a:latin typeface="Cambria Math" panose="02040503050406030204" pitchFamily="18" charset="0"/>
                                        <a:ea typeface="Roboto" panose="02000000000000000000" pitchFamily="2" charset="0"/>
                                      </a:rPr>
                                      <m:t>𝑥</m:t>
                                    </m:r>
                                    <m:r>
                                      <a:rPr lang="es-MX" sz="1500" b="0" i="1" smtClean="0">
                                        <a:latin typeface="Cambria Math" panose="02040503050406030204" pitchFamily="18" charset="0"/>
                                        <a:ea typeface="Roboto" panose="02000000000000000000" pitchFamily="2" charset="0"/>
                                      </a:rPr>
                                      <m:t>,</m:t>
                                    </m:r>
                                    <m:r>
                                      <a:rPr lang="es-MX" sz="1500" b="0" i="1" smtClean="0">
                                        <a:latin typeface="Cambria Math" panose="02040503050406030204" pitchFamily="18" charset="0"/>
                                        <a:ea typeface="Roboto" panose="02000000000000000000" pitchFamily="2" charset="0"/>
                                      </a:rPr>
                                      <m:t>𝑦</m:t>
                                    </m:r>
                                  </m:e>
                                </m:d>
                                <m:r>
                                  <a:rPr lang="es-MX" sz="1500" b="0" i="1" smtClean="0">
                                    <a:latin typeface="Cambria Math" panose="02040503050406030204" pitchFamily="18" charset="0"/>
                                    <a:ea typeface="Cambria Math" panose="02040503050406030204" pitchFamily="18" charset="0"/>
                                  </a:rPr>
                                  <m:t>≡</m:t>
                                </m:r>
                                <m:r>
                                  <a:rPr lang="es-MX" sz="1500" b="0" i="1" smtClean="0">
                                    <a:latin typeface="Cambria Math" panose="02040503050406030204" pitchFamily="18" charset="0"/>
                                    <a:ea typeface="Roboto" panose="02000000000000000000" pitchFamily="2" charset="0"/>
                                  </a:rPr>
                                  <m:t>∃</m:t>
                                </m:r>
                                <m:r>
                                  <a:rPr lang="es-MX" sz="1500" b="0" i="1" smtClean="0">
                                    <a:latin typeface="Cambria Math" panose="02040503050406030204" pitchFamily="18" charset="0"/>
                                    <a:ea typeface="Roboto" panose="02000000000000000000" pitchFamily="2" charset="0"/>
                                  </a:rPr>
                                  <m:t>𝑦</m:t>
                                </m:r>
                                <m:r>
                                  <a:rPr lang="es-MX" sz="1500" b="0" i="1" smtClean="0">
                                    <a:latin typeface="Cambria Math" panose="02040503050406030204" pitchFamily="18" charset="0"/>
                                    <a:ea typeface="Roboto" panose="02000000000000000000" pitchFamily="2" charset="0"/>
                                  </a:rPr>
                                  <m:t>∃</m:t>
                                </m:r>
                                <m:r>
                                  <a:rPr lang="es-MX" sz="1500" b="0" i="1" smtClean="0">
                                    <a:latin typeface="Cambria Math" panose="02040503050406030204" pitchFamily="18" charset="0"/>
                                    <a:ea typeface="Roboto" panose="02000000000000000000" pitchFamily="2" charset="0"/>
                                  </a:rPr>
                                  <m:t>𝑥</m:t>
                                </m:r>
                                <m:r>
                                  <a:rPr lang="es-MX" sz="1500" b="0" i="1" smtClean="0">
                                    <a:latin typeface="Cambria Math" panose="02040503050406030204" pitchFamily="18" charset="0"/>
                                    <a:ea typeface="Roboto" panose="02000000000000000000" pitchFamily="2" charset="0"/>
                                  </a:rPr>
                                  <m:t> </m:t>
                                </m:r>
                                <m:r>
                                  <a:rPr lang="es-MX" sz="1500" b="0" i="1" smtClean="0">
                                    <a:latin typeface="Cambria Math" panose="02040503050406030204" pitchFamily="18" charset="0"/>
                                    <a:ea typeface="Roboto" panose="02000000000000000000" pitchFamily="2" charset="0"/>
                                  </a:rPr>
                                  <m:t>𝑃</m:t>
                                </m:r>
                                <m:d>
                                  <m:dPr>
                                    <m:ctrlPr>
                                      <a:rPr lang="es-MX" sz="1500" b="0" i="1" smtClean="0">
                                        <a:latin typeface="Cambria Math" panose="02040503050406030204" pitchFamily="18" charset="0"/>
                                        <a:ea typeface="Roboto" panose="02000000000000000000" pitchFamily="2" charset="0"/>
                                      </a:rPr>
                                    </m:ctrlPr>
                                  </m:dPr>
                                  <m:e>
                                    <m:r>
                                      <a:rPr lang="es-MX" sz="1500" b="0" i="1" smtClean="0">
                                        <a:latin typeface="Cambria Math" panose="02040503050406030204" pitchFamily="18" charset="0"/>
                                        <a:ea typeface="Roboto" panose="02000000000000000000" pitchFamily="2" charset="0"/>
                                      </a:rPr>
                                      <m:t>𝑥</m:t>
                                    </m:r>
                                    <m:r>
                                      <a:rPr lang="es-MX" sz="1500" b="0" i="1" smtClean="0">
                                        <a:latin typeface="Cambria Math" panose="02040503050406030204" pitchFamily="18" charset="0"/>
                                        <a:ea typeface="Roboto" panose="02000000000000000000" pitchFamily="2" charset="0"/>
                                      </a:rPr>
                                      <m:t>,</m:t>
                                    </m:r>
                                    <m:r>
                                      <a:rPr lang="es-MX" sz="1500" b="0" i="1" smtClean="0">
                                        <a:latin typeface="Cambria Math" panose="02040503050406030204" pitchFamily="18" charset="0"/>
                                        <a:ea typeface="Roboto" panose="02000000000000000000" pitchFamily="2" charset="0"/>
                                      </a:rPr>
                                      <m:t>𝑦</m:t>
                                    </m:r>
                                  </m:e>
                                </m:d>
                              </m:oMath>
                            </m:oMathPara>
                          </a14:m>
                          <a:endParaRPr lang="es-MX" sz="1500" b="0" i="1" dirty="0">
                            <a:latin typeface="Cambria Math" panose="02040503050406030204" pitchFamily="18"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84315241"/>
                      </a:ext>
                    </a:extLst>
                  </a:tr>
                  <a:tr h="383517">
                    <a:tc>
                      <a:txBody>
                        <a:bodyPr/>
                        <a:lstStyle/>
                        <a:p>
                          <a:r>
                            <a:rPr lang="es-MX" sz="1500" b="0" dirty="0">
                              <a:latin typeface="+mn-lt"/>
                              <a:ea typeface="Roboto" panose="02000000000000000000" pitchFamily="2" charset="0"/>
                            </a:rPr>
                            <a:t>No conmutatividad entre cuantificadores diferentes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500" b="0" i="1" smtClean="0">
                                    <a:latin typeface="Cambria Math" panose="02040503050406030204" pitchFamily="18" charset="0"/>
                                    <a:ea typeface="Roboto" panose="02000000000000000000" pitchFamily="2" charset="0"/>
                                  </a:rPr>
                                  <m:t>∀</m:t>
                                </m:r>
                                <m:r>
                                  <a:rPr lang="es-MX" sz="1500" b="0" i="1" smtClean="0">
                                    <a:latin typeface="Cambria Math" panose="02040503050406030204" pitchFamily="18" charset="0"/>
                                    <a:ea typeface="Roboto" panose="02000000000000000000" pitchFamily="2" charset="0"/>
                                  </a:rPr>
                                  <m:t>𝑥</m:t>
                                </m:r>
                                <m:r>
                                  <a:rPr lang="es-MX" sz="1500" b="0" i="1" smtClean="0">
                                    <a:latin typeface="Cambria Math" panose="02040503050406030204" pitchFamily="18" charset="0"/>
                                    <a:ea typeface="Roboto" panose="02000000000000000000" pitchFamily="2" charset="0"/>
                                  </a:rPr>
                                  <m:t>∃</m:t>
                                </m:r>
                                <m:r>
                                  <a:rPr lang="es-MX" sz="1500" b="0" i="1" smtClean="0">
                                    <a:latin typeface="Cambria Math" panose="02040503050406030204" pitchFamily="18" charset="0"/>
                                    <a:ea typeface="Roboto" panose="02000000000000000000" pitchFamily="2" charset="0"/>
                                  </a:rPr>
                                  <m:t>𝑦𝑃</m:t>
                                </m:r>
                                <m:d>
                                  <m:dPr>
                                    <m:ctrlPr>
                                      <a:rPr lang="es-MX" sz="1500" b="0" i="1" smtClean="0">
                                        <a:latin typeface="Cambria Math" panose="02040503050406030204" pitchFamily="18" charset="0"/>
                                        <a:ea typeface="Roboto" panose="02000000000000000000" pitchFamily="2" charset="0"/>
                                      </a:rPr>
                                    </m:ctrlPr>
                                  </m:dPr>
                                  <m:e>
                                    <m:r>
                                      <a:rPr lang="es-MX" sz="1500" b="0" i="1" smtClean="0">
                                        <a:latin typeface="Cambria Math" panose="02040503050406030204" pitchFamily="18" charset="0"/>
                                        <a:ea typeface="Roboto" panose="02000000000000000000" pitchFamily="2" charset="0"/>
                                      </a:rPr>
                                      <m:t>𝑥</m:t>
                                    </m:r>
                                    <m:r>
                                      <a:rPr lang="es-MX" sz="1500" b="0" i="1" smtClean="0">
                                        <a:latin typeface="Cambria Math" panose="02040503050406030204" pitchFamily="18" charset="0"/>
                                        <a:ea typeface="Roboto" panose="02000000000000000000" pitchFamily="2" charset="0"/>
                                      </a:rPr>
                                      <m:t>,</m:t>
                                    </m:r>
                                    <m:r>
                                      <a:rPr lang="es-MX" sz="1500" b="0" i="1" smtClean="0">
                                        <a:latin typeface="Cambria Math" panose="02040503050406030204" pitchFamily="18" charset="0"/>
                                        <a:ea typeface="Roboto" panose="02000000000000000000" pitchFamily="2" charset="0"/>
                                      </a:rPr>
                                      <m:t>𝑦</m:t>
                                    </m:r>
                                  </m:e>
                                </m:d>
                                <m:r>
                                  <a:rPr lang="es-MX" sz="1500" b="0" i="1" smtClean="0">
                                    <a:latin typeface="Cambria Math" panose="02040503050406030204" pitchFamily="18" charset="0"/>
                                    <a:ea typeface="Cambria Math" panose="02040503050406030204" pitchFamily="18" charset="0"/>
                                  </a:rPr>
                                  <m:t>≢</m:t>
                                </m:r>
                                <m:r>
                                  <a:rPr lang="es-MX" sz="1500" b="0" i="1" smtClean="0">
                                    <a:latin typeface="Cambria Math" panose="02040503050406030204" pitchFamily="18" charset="0"/>
                                    <a:ea typeface="Roboto" panose="02000000000000000000" pitchFamily="2" charset="0"/>
                                  </a:rPr>
                                  <m:t>∃</m:t>
                                </m:r>
                                <m:r>
                                  <a:rPr lang="es-MX" sz="1500" b="0" i="1" smtClean="0">
                                    <a:latin typeface="Cambria Math" panose="02040503050406030204" pitchFamily="18" charset="0"/>
                                    <a:ea typeface="Roboto" panose="02000000000000000000" pitchFamily="2" charset="0"/>
                                  </a:rPr>
                                  <m:t>𝑦</m:t>
                                </m:r>
                                <m:r>
                                  <a:rPr lang="es-MX" sz="1500" b="0" i="1" smtClean="0">
                                    <a:latin typeface="Cambria Math" panose="02040503050406030204" pitchFamily="18" charset="0"/>
                                    <a:ea typeface="Roboto" panose="02000000000000000000" pitchFamily="2" charset="0"/>
                                  </a:rPr>
                                  <m:t>∀</m:t>
                                </m:r>
                                <m:r>
                                  <a:rPr lang="es-MX" sz="1500" b="0" i="1" smtClean="0">
                                    <a:latin typeface="Cambria Math" panose="02040503050406030204" pitchFamily="18" charset="0"/>
                                    <a:ea typeface="Roboto" panose="02000000000000000000" pitchFamily="2" charset="0"/>
                                  </a:rPr>
                                  <m:t>𝑥</m:t>
                                </m:r>
                                <m:r>
                                  <a:rPr lang="es-MX" sz="1500" b="0" i="1" smtClean="0">
                                    <a:latin typeface="Cambria Math" panose="02040503050406030204" pitchFamily="18" charset="0"/>
                                    <a:ea typeface="Roboto" panose="02000000000000000000" pitchFamily="2" charset="0"/>
                                  </a:rPr>
                                  <m:t> </m:t>
                                </m:r>
                                <m:r>
                                  <a:rPr lang="es-MX" sz="1500" b="0" i="1" smtClean="0">
                                    <a:latin typeface="Cambria Math" panose="02040503050406030204" pitchFamily="18" charset="0"/>
                                    <a:ea typeface="Roboto" panose="02000000000000000000" pitchFamily="2" charset="0"/>
                                  </a:rPr>
                                  <m:t>𝑃</m:t>
                                </m:r>
                                <m:d>
                                  <m:dPr>
                                    <m:ctrlPr>
                                      <a:rPr lang="es-MX" sz="1500" b="0" i="1" smtClean="0">
                                        <a:latin typeface="Cambria Math" panose="02040503050406030204" pitchFamily="18" charset="0"/>
                                        <a:ea typeface="Roboto" panose="02000000000000000000" pitchFamily="2" charset="0"/>
                                      </a:rPr>
                                    </m:ctrlPr>
                                  </m:dPr>
                                  <m:e>
                                    <m:r>
                                      <a:rPr lang="es-MX" sz="1500" b="0" i="1" smtClean="0">
                                        <a:latin typeface="Cambria Math" panose="02040503050406030204" pitchFamily="18" charset="0"/>
                                        <a:ea typeface="Roboto" panose="02000000000000000000" pitchFamily="2" charset="0"/>
                                      </a:rPr>
                                      <m:t>𝑥</m:t>
                                    </m:r>
                                    <m:r>
                                      <a:rPr lang="es-MX" sz="1500" b="0" i="1" smtClean="0">
                                        <a:latin typeface="Cambria Math" panose="02040503050406030204" pitchFamily="18" charset="0"/>
                                        <a:ea typeface="Roboto" panose="02000000000000000000" pitchFamily="2" charset="0"/>
                                      </a:rPr>
                                      <m:t>,</m:t>
                                    </m:r>
                                    <m:r>
                                      <a:rPr lang="es-MX" sz="1500" b="0" i="1" smtClean="0">
                                        <a:latin typeface="Cambria Math" panose="02040503050406030204" pitchFamily="18" charset="0"/>
                                        <a:ea typeface="Roboto" panose="02000000000000000000" pitchFamily="2" charset="0"/>
                                      </a:rPr>
                                      <m:t>𝑦</m:t>
                                    </m:r>
                                  </m:e>
                                </m:d>
                              </m:oMath>
                            </m:oMathPara>
                          </a14:m>
                          <a:endParaRPr lang="es-CO" sz="1500" dirty="0">
                            <a:latin typeface="Roboto" panose="02000000000000000000" pitchFamily="2"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582935017"/>
                      </a:ext>
                    </a:extLst>
                  </a:tr>
                </a:tbl>
              </a:graphicData>
            </a:graphic>
          </p:graphicFrame>
        </mc:Choice>
        <mc:Fallback>
          <p:graphicFrame>
            <p:nvGraphicFramePr>
              <p:cNvPr id="4" name="Tabla 3">
                <a:extLst>
                  <a:ext uri="{FF2B5EF4-FFF2-40B4-BE49-F238E27FC236}">
                    <a16:creationId xmlns:a16="http://schemas.microsoft.com/office/drawing/2014/main" id="{E6F16F2C-94A0-4B3D-BF58-A745943E44A0}"/>
                  </a:ext>
                </a:extLst>
              </p:cNvPr>
              <p:cNvGraphicFramePr>
                <a:graphicFrameLocks noGrp="1"/>
              </p:cNvGraphicFramePr>
              <p:nvPr>
                <p:extLst>
                  <p:ext uri="{D42A27DB-BD31-4B8C-83A1-F6EECF244321}">
                    <p14:modId xmlns:p14="http://schemas.microsoft.com/office/powerpoint/2010/main" val="2281086948"/>
                  </p:ext>
                </p:extLst>
              </p:nvPr>
            </p:nvGraphicFramePr>
            <p:xfrm>
              <a:off x="497606" y="769033"/>
              <a:ext cx="7260046" cy="5785804"/>
            </p:xfrm>
            <a:graphic>
              <a:graphicData uri="http://schemas.openxmlformats.org/drawingml/2006/table">
                <a:tbl>
                  <a:tblPr firstRow="1" bandRow="1">
                    <a:tableStyleId>{AD6A3598-7CB8-4345-8D95-17CE05F158A0}</a:tableStyleId>
                  </a:tblPr>
                  <a:tblGrid>
                    <a:gridCol w="3607041">
                      <a:extLst>
                        <a:ext uri="{9D8B030D-6E8A-4147-A177-3AD203B41FA5}">
                          <a16:colId xmlns:a16="http://schemas.microsoft.com/office/drawing/2014/main" val="2419793140"/>
                        </a:ext>
                      </a:extLst>
                    </a:gridCol>
                    <a:gridCol w="3653005">
                      <a:extLst>
                        <a:ext uri="{9D8B030D-6E8A-4147-A177-3AD203B41FA5}">
                          <a16:colId xmlns:a16="http://schemas.microsoft.com/office/drawing/2014/main" val="2761119023"/>
                        </a:ext>
                      </a:extLst>
                    </a:gridCol>
                  </a:tblGrid>
                  <a:tr h="335280">
                    <a:tc>
                      <a:txBody>
                        <a:bodyPr/>
                        <a:lstStyle/>
                        <a:p>
                          <a:r>
                            <a:rPr lang="es-CO" sz="1600" b="1" dirty="0">
                              <a:latin typeface="+mn-lt"/>
                              <a:ea typeface="Roboto" panose="02000000000000000000" pitchFamily="2" charset="0"/>
                            </a:rPr>
                            <a:t>Nombre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s-CO" sz="1600" b="1" dirty="0">
                              <a:latin typeface="+mn-lt"/>
                              <a:ea typeface="Roboto" panose="02000000000000000000" pitchFamily="2" charset="0"/>
                            </a:rPr>
                            <a:t>Equivalencia lógica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624526593"/>
                      </a:ext>
                    </a:extLst>
                  </a:tr>
                  <a:tr h="548640">
                    <a:tc>
                      <a:txBody>
                        <a:bodyPr/>
                        <a:lstStyle/>
                        <a:p>
                          <a:r>
                            <a:rPr lang="es-MX" sz="1500" b="0" dirty="0">
                              <a:latin typeface="+mn-lt"/>
                              <a:ea typeface="Roboto" panose="02000000000000000000" pitchFamily="2" charset="0"/>
                            </a:rPr>
                            <a:t>Negación de cuantificadores (De Morgan cuántico)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8833" t="-64444" r="-333" b="-906667"/>
                          </a:stretch>
                        </a:blipFill>
                      </a:tcPr>
                    </a:tc>
                    <a:extLst>
                      <a:ext uri="{0D108BD9-81ED-4DB2-BD59-A6C34878D82A}">
                        <a16:rowId xmlns:a16="http://schemas.microsoft.com/office/drawing/2014/main" val="3154515760"/>
                      </a:ext>
                    </a:extLst>
                  </a:tr>
                  <a:tr h="548640">
                    <a:tc>
                      <a:txBody>
                        <a:bodyPr/>
                        <a:lstStyle/>
                        <a:p>
                          <a:r>
                            <a:rPr lang="es-MX" sz="1500" b="0" dirty="0">
                              <a:latin typeface="+mn-lt"/>
                              <a:ea typeface="Roboto" panose="02000000000000000000" pitchFamily="2" charset="0"/>
                            </a:rPr>
                            <a:t>Distributividad del cuantificador universal sobre la conjunción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8833" t="-164444" r="-333" b="-806667"/>
                          </a:stretch>
                        </a:blipFill>
                      </a:tcPr>
                    </a:tc>
                    <a:extLst>
                      <a:ext uri="{0D108BD9-81ED-4DB2-BD59-A6C34878D82A}">
                        <a16:rowId xmlns:a16="http://schemas.microsoft.com/office/drawing/2014/main" val="1913743916"/>
                      </a:ext>
                    </a:extLst>
                  </a:tr>
                  <a:tr h="578041">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500" b="0" dirty="0">
                              <a:latin typeface="+mn-lt"/>
                              <a:ea typeface="Roboto" panose="02000000000000000000" pitchFamily="2" charset="0"/>
                            </a:rPr>
                            <a:t>Distributividad (en un solo sentido) del cuantificador universal sobre la disyunción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8833" t="-250526" r="-333" b="-664211"/>
                          </a:stretch>
                        </a:blipFill>
                      </a:tcPr>
                    </a:tc>
                    <a:extLst>
                      <a:ext uri="{0D108BD9-81ED-4DB2-BD59-A6C34878D82A}">
                        <a16:rowId xmlns:a16="http://schemas.microsoft.com/office/drawing/2014/main" val="2329748753"/>
                      </a:ext>
                    </a:extLst>
                  </a:tr>
                  <a:tr h="578041">
                    <a:tc>
                      <a:txBody>
                        <a:bodyPr/>
                        <a:lstStyle/>
                        <a:p>
                          <a:r>
                            <a:rPr lang="es-MX" sz="1500" b="0" dirty="0">
                              <a:latin typeface="+mn-lt"/>
                              <a:ea typeface="Roboto" panose="02000000000000000000" pitchFamily="2" charset="0"/>
                            </a:rPr>
                            <a:t>Distributividad del cuantificador existencial sobre la disyunción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8833" t="-350526" r="-333" b="-564211"/>
                          </a:stretch>
                        </a:blipFill>
                      </a:tcPr>
                    </a:tc>
                    <a:extLst>
                      <a:ext uri="{0D108BD9-81ED-4DB2-BD59-A6C34878D82A}">
                        <a16:rowId xmlns:a16="http://schemas.microsoft.com/office/drawing/2014/main" val="717401643"/>
                      </a:ext>
                    </a:extLst>
                  </a:tr>
                  <a:tr h="578041">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500" b="0" dirty="0">
                              <a:latin typeface="+mn-lt"/>
                              <a:ea typeface="Roboto" panose="02000000000000000000" pitchFamily="2" charset="0"/>
                            </a:rPr>
                            <a:t>Distributividad (en un solo sentido) del cuantificador existencial sobre la conjunción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8833" t="-450526" r="-333" b="-464211"/>
                          </a:stretch>
                        </a:blipFill>
                      </a:tcPr>
                    </a:tc>
                    <a:extLst>
                      <a:ext uri="{0D108BD9-81ED-4DB2-BD59-A6C34878D82A}">
                        <a16:rowId xmlns:a16="http://schemas.microsoft.com/office/drawing/2014/main" val="1263083683"/>
                      </a:ext>
                    </a:extLst>
                  </a:tr>
                  <a:tr h="1521841">
                    <a:tc>
                      <a:txBody>
                        <a:bodyPr/>
                        <a:lstStyle/>
                        <a:p>
                          <a:r>
                            <a:rPr lang="es-CO" sz="1500" b="0" dirty="0">
                              <a:latin typeface="+mn-lt"/>
                              <a:ea typeface="Roboto" panose="02000000000000000000" pitchFamily="2" charset="0"/>
                            </a:rPr>
                            <a:t>Distribución de cuantificadores (restricciones)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8833" t="-209200" r="-333" b="-76400"/>
                          </a:stretch>
                        </a:blipFill>
                      </a:tcPr>
                    </a:tc>
                    <a:extLst>
                      <a:ext uri="{0D108BD9-81ED-4DB2-BD59-A6C34878D82A}">
                        <a16:rowId xmlns:a16="http://schemas.microsoft.com/office/drawing/2014/main" val="2246818852"/>
                      </a:ext>
                    </a:extLst>
                  </a:tr>
                  <a:tr h="548640">
                    <a:tc>
                      <a:txBody>
                        <a:bodyPr/>
                        <a:lstStyle/>
                        <a:p>
                          <a:r>
                            <a:rPr lang="es-MX" sz="1500" b="0" i="0" u="none" strike="noStrike" cap="none" dirty="0">
                              <a:solidFill>
                                <a:srgbClr val="000000"/>
                              </a:solidFill>
                              <a:latin typeface="+mn-lt"/>
                              <a:ea typeface="Roboto" panose="02000000000000000000" pitchFamily="2" charset="0"/>
                              <a:cs typeface="Arial"/>
                              <a:sym typeface="Arial"/>
                            </a:rPr>
                            <a:t>Intercambio del orden de cuantificadores iguales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8833" t="-858889" r="-333" b="-112222"/>
                          </a:stretch>
                        </a:blipFill>
                      </a:tcPr>
                    </a:tc>
                    <a:extLst>
                      <a:ext uri="{0D108BD9-81ED-4DB2-BD59-A6C34878D82A}">
                        <a16:rowId xmlns:a16="http://schemas.microsoft.com/office/drawing/2014/main" val="1684315241"/>
                      </a:ext>
                    </a:extLst>
                  </a:tr>
                  <a:tr h="548640">
                    <a:tc>
                      <a:txBody>
                        <a:bodyPr/>
                        <a:lstStyle/>
                        <a:p>
                          <a:r>
                            <a:rPr lang="es-MX" sz="1500" b="0" dirty="0">
                              <a:latin typeface="+mn-lt"/>
                              <a:ea typeface="Roboto" panose="02000000000000000000" pitchFamily="2" charset="0"/>
                            </a:rPr>
                            <a:t>No conmutatividad entre cuantificadores diferentes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8833" t="-958889" r="-333" b="-12222"/>
                          </a:stretch>
                        </a:blipFill>
                      </a:tcPr>
                    </a:tc>
                    <a:extLst>
                      <a:ext uri="{0D108BD9-81ED-4DB2-BD59-A6C34878D82A}">
                        <a16:rowId xmlns:a16="http://schemas.microsoft.com/office/drawing/2014/main" val="2582935017"/>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5" name="Tabla 4">
                <a:extLst>
                  <a:ext uri="{FF2B5EF4-FFF2-40B4-BE49-F238E27FC236}">
                    <a16:creationId xmlns:a16="http://schemas.microsoft.com/office/drawing/2014/main" id="{30904E27-22AA-4594-8553-5A9D41A4521B}"/>
                  </a:ext>
                </a:extLst>
              </p:cNvPr>
              <p:cNvGraphicFramePr>
                <a:graphicFrameLocks noGrp="1"/>
              </p:cNvGraphicFramePr>
              <p:nvPr>
                <p:extLst>
                  <p:ext uri="{D42A27DB-BD31-4B8C-83A1-F6EECF244321}">
                    <p14:modId xmlns:p14="http://schemas.microsoft.com/office/powerpoint/2010/main" val="3158028011"/>
                  </p:ext>
                </p:extLst>
              </p:nvPr>
            </p:nvGraphicFramePr>
            <p:xfrm>
              <a:off x="7937736" y="2793732"/>
              <a:ext cx="3860977" cy="2651760"/>
            </p:xfrm>
            <a:graphic>
              <a:graphicData uri="http://schemas.openxmlformats.org/drawingml/2006/table">
                <a:tbl>
                  <a:tblPr firstRow="1" bandRow="1">
                    <a:tableStyleId>{AD6A3598-7CB8-4345-8D95-17CE05F158A0}</a:tableStyleId>
                  </a:tblPr>
                  <a:tblGrid>
                    <a:gridCol w="715630">
                      <a:extLst>
                        <a:ext uri="{9D8B030D-6E8A-4147-A177-3AD203B41FA5}">
                          <a16:colId xmlns:a16="http://schemas.microsoft.com/office/drawing/2014/main" val="2874355610"/>
                        </a:ext>
                      </a:extLst>
                    </a:gridCol>
                    <a:gridCol w="1497347">
                      <a:extLst>
                        <a:ext uri="{9D8B030D-6E8A-4147-A177-3AD203B41FA5}">
                          <a16:colId xmlns:a16="http://schemas.microsoft.com/office/drawing/2014/main" val="2423713577"/>
                        </a:ext>
                      </a:extLst>
                    </a:gridCol>
                    <a:gridCol w="1648000">
                      <a:extLst>
                        <a:ext uri="{9D8B030D-6E8A-4147-A177-3AD203B41FA5}">
                          <a16:colId xmlns:a16="http://schemas.microsoft.com/office/drawing/2014/main" val="1166162323"/>
                        </a:ext>
                      </a:extLst>
                    </a:gridCol>
                  </a:tblGrid>
                  <a:tr h="233997">
                    <a:tc>
                      <a:txBody>
                        <a:bodyPr/>
                        <a:lstStyle/>
                        <a:p>
                          <a:r>
                            <a:rPr lang="es-CO" sz="1600" b="1" dirty="0">
                              <a:latin typeface="+mn-lt"/>
                              <a:ea typeface="Roboto" panose="02000000000000000000" pitchFamily="2" charset="0"/>
                            </a:rPr>
                            <a:t>Regla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s-CO" sz="1600" b="1" dirty="0">
                              <a:latin typeface="+mn-lt"/>
                              <a:ea typeface="Roboto" panose="02000000000000000000" pitchFamily="2" charset="0"/>
                            </a:rPr>
                            <a:t>Nombre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s-CO" sz="1600" b="1" dirty="0">
                              <a:latin typeface="+mn-lt"/>
                              <a:ea typeface="Roboto" panose="02000000000000000000" pitchFamily="2" charset="0"/>
                            </a:rPr>
                            <a:t>Forma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285160449"/>
                      </a:ext>
                    </a:extLst>
                  </a:tr>
                  <a:tr h="233997">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𝐼</m:t>
                                </m:r>
                              </m:oMath>
                            </m:oMathPara>
                          </a14:m>
                          <a:endParaRPr lang="es-CO" sz="1600" dirty="0">
                            <a:latin typeface="+mn-lt"/>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600" dirty="0">
                              <a:latin typeface="+mn-lt"/>
                              <a:ea typeface="Roboto" panose="02000000000000000000" pitchFamily="2" charset="0"/>
                            </a:rPr>
                            <a:t>Instanciación universal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𝑥</m:t>
                                </m:r>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𝑃</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𝑥</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𝑃</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𝑐</m:t>
                                    </m:r>
                                  </m:e>
                                </m:d>
                              </m:oMath>
                            </m:oMathPara>
                          </a14:m>
                          <a:endParaRPr lang="es-CO" sz="1600" dirty="0">
                            <a:latin typeface="+mn-lt"/>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73686763"/>
                      </a:ext>
                    </a:extLst>
                  </a:tr>
                  <a:tr h="233997">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𝐺</m:t>
                                </m:r>
                              </m:oMath>
                            </m:oMathPara>
                          </a14:m>
                          <a:endParaRPr lang="es-CO" sz="1600" dirty="0">
                            <a:latin typeface="+mn-lt"/>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600" dirty="0">
                              <a:latin typeface="+mn-lt"/>
                              <a:ea typeface="Roboto" panose="02000000000000000000" pitchFamily="2" charset="0"/>
                            </a:rPr>
                            <a:t>Generalización universal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𝑐</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𝑥</m:t>
                                </m:r>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𝑃</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𝑥</m:t>
                                    </m:r>
                                  </m:e>
                                </m:d>
                              </m:oMath>
                            </m:oMathPara>
                          </a14:m>
                          <a:endParaRPr lang="es-CO" sz="1600" dirty="0">
                            <a:latin typeface="+mn-lt"/>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375821675"/>
                      </a:ext>
                    </a:extLst>
                  </a:tr>
                  <a:tr h="233997">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𝐼</m:t>
                                </m:r>
                              </m:oMath>
                            </m:oMathPara>
                          </a14:m>
                          <a:endParaRPr lang="es-CO" sz="1600" dirty="0">
                            <a:latin typeface="+mn-lt"/>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600" dirty="0">
                              <a:latin typeface="+mn-lt"/>
                              <a:ea typeface="Roboto" panose="02000000000000000000" pitchFamily="2" charset="0"/>
                            </a:rPr>
                            <a:t>Instanciación existencial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𝑥</m:t>
                                </m:r>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𝑃</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𝑥</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𝑃</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𝑐</m:t>
                                    </m:r>
                                  </m:e>
                                </m:d>
                              </m:oMath>
                            </m:oMathPara>
                          </a14:m>
                          <a:endParaRPr lang="es-CO" sz="1600" dirty="0">
                            <a:latin typeface="+mn-lt"/>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426096953"/>
                      </a:ext>
                    </a:extLst>
                  </a:tr>
                  <a:tr h="233997">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𝐺</m:t>
                                </m:r>
                              </m:oMath>
                            </m:oMathPara>
                          </a14:m>
                          <a:endParaRPr lang="es-CO" sz="1600" dirty="0">
                            <a:latin typeface="+mn-lt"/>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600" dirty="0">
                              <a:latin typeface="+mn-lt"/>
                              <a:ea typeface="Roboto" panose="02000000000000000000" pitchFamily="2" charset="0"/>
                            </a:rPr>
                            <a:t>Generalización existencial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𝑐</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𝑥</m:t>
                                </m:r>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𝑃</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𝑥</m:t>
                                    </m:r>
                                  </m:e>
                                </m:d>
                              </m:oMath>
                            </m:oMathPara>
                          </a14:m>
                          <a:endParaRPr lang="es-CO" sz="1600" dirty="0">
                            <a:latin typeface="+mn-lt"/>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71411488"/>
                      </a:ext>
                    </a:extLst>
                  </a:tr>
                </a:tbl>
              </a:graphicData>
            </a:graphic>
          </p:graphicFrame>
        </mc:Choice>
        <mc:Fallback>
          <p:graphicFrame>
            <p:nvGraphicFramePr>
              <p:cNvPr id="5" name="Tabla 4">
                <a:extLst>
                  <a:ext uri="{FF2B5EF4-FFF2-40B4-BE49-F238E27FC236}">
                    <a16:creationId xmlns:a16="http://schemas.microsoft.com/office/drawing/2014/main" id="{30904E27-22AA-4594-8553-5A9D41A4521B}"/>
                  </a:ext>
                </a:extLst>
              </p:cNvPr>
              <p:cNvGraphicFramePr>
                <a:graphicFrameLocks noGrp="1"/>
              </p:cNvGraphicFramePr>
              <p:nvPr>
                <p:extLst>
                  <p:ext uri="{D42A27DB-BD31-4B8C-83A1-F6EECF244321}">
                    <p14:modId xmlns:p14="http://schemas.microsoft.com/office/powerpoint/2010/main" val="3158028011"/>
                  </p:ext>
                </p:extLst>
              </p:nvPr>
            </p:nvGraphicFramePr>
            <p:xfrm>
              <a:off x="7937736" y="2793732"/>
              <a:ext cx="3860977" cy="2651760"/>
            </p:xfrm>
            <a:graphic>
              <a:graphicData uri="http://schemas.openxmlformats.org/drawingml/2006/table">
                <a:tbl>
                  <a:tblPr firstRow="1" bandRow="1">
                    <a:tableStyleId>{AD6A3598-7CB8-4345-8D95-17CE05F158A0}</a:tableStyleId>
                  </a:tblPr>
                  <a:tblGrid>
                    <a:gridCol w="715630">
                      <a:extLst>
                        <a:ext uri="{9D8B030D-6E8A-4147-A177-3AD203B41FA5}">
                          <a16:colId xmlns:a16="http://schemas.microsoft.com/office/drawing/2014/main" val="2874355610"/>
                        </a:ext>
                      </a:extLst>
                    </a:gridCol>
                    <a:gridCol w="1497347">
                      <a:extLst>
                        <a:ext uri="{9D8B030D-6E8A-4147-A177-3AD203B41FA5}">
                          <a16:colId xmlns:a16="http://schemas.microsoft.com/office/drawing/2014/main" val="2423713577"/>
                        </a:ext>
                      </a:extLst>
                    </a:gridCol>
                    <a:gridCol w="1648000">
                      <a:extLst>
                        <a:ext uri="{9D8B030D-6E8A-4147-A177-3AD203B41FA5}">
                          <a16:colId xmlns:a16="http://schemas.microsoft.com/office/drawing/2014/main" val="1166162323"/>
                        </a:ext>
                      </a:extLst>
                    </a:gridCol>
                  </a:tblGrid>
                  <a:tr h="335280">
                    <a:tc>
                      <a:txBody>
                        <a:bodyPr/>
                        <a:lstStyle/>
                        <a:p>
                          <a:r>
                            <a:rPr lang="es-CO" sz="1600" b="1" dirty="0">
                              <a:latin typeface="+mn-lt"/>
                              <a:ea typeface="Roboto" panose="02000000000000000000" pitchFamily="2" charset="0"/>
                            </a:rPr>
                            <a:t>Regla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s-CO" sz="1600" b="1" dirty="0">
                              <a:latin typeface="+mn-lt"/>
                              <a:ea typeface="Roboto" panose="02000000000000000000" pitchFamily="2" charset="0"/>
                            </a:rPr>
                            <a:t>Nombre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s-CO" sz="1600" b="1" dirty="0">
                              <a:latin typeface="+mn-lt"/>
                              <a:ea typeface="Roboto" panose="02000000000000000000" pitchFamily="2" charset="0"/>
                            </a:rPr>
                            <a:t>Forma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285160449"/>
                      </a:ext>
                    </a:extLst>
                  </a:tr>
                  <a:tr h="579120">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47" t="-61053" r="-438983" b="-313684"/>
                          </a:stretch>
                        </a:blip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600" dirty="0">
                              <a:latin typeface="+mn-lt"/>
                              <a:ea typeface="Roboto" panose="02000000000000000000" pitchFamily="2" charset="0"/>
                            </a:rPr>
                            <a:t>Instanciación universal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34317" t="-61053" r="-738" b="-313684"/>
                          </a:stretch>
                        </a:blipFill>
                      </a:tcPr>
                    </a:tc>
                    <a:extLst>
                      <a:ext uri="{0D108BD9-81ED-4DB2-BD59-A6C34878D82A}">
                        <a16:rowId xmlns:a16="http://schemas.microsoft.com/office/drawing/2014/main" val="1973686763"/>
                      </a:ext>
                    </a:extLst>
                  </a:tr>
                  <a:tr h="579120">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47" t="-159375" r="-438983" b="-210417"/>
                          </a:stretch>
                        </a:blip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600" dirty="0">
                              <a:latin typeface="+mn-lt"/>
                              <a:ea typeface="Roboto" panose="02000000000000000000" pitchFamily="2" charset="0"/>
                            </a:rPr>
                            <a:t>Generalización universal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34317" t="-159375" r="-738" b="-210417"/>
                          </a:stretch>
                        </a:blipFill>
                      </a:tcPr>
                    </a:tc>
                    <a:extLst>
                      <a:ext uri="{0D108BD9-81ED-4DB2-BD59-A6C34878D82A}">
                        <a16:rowId xmlns:a16="http://schemas.microsoft.com/office/drawing/2014/main" val="3375821675"/>
                      </a:ext>
                    </a:extLst>
                  </a:tr>
                  <a:tr h="579120">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47" t="-262105" r="-438983" b="-112632"/>
                          </a:stretch>
                        </a:blip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600" dirty="0">
                              <a:latin typeface="+mn-lt"/>
                              <a:ea typeface="Roboto" panose="02000000000000000000" pitchFamily="2" charset="0"/>
                            </a:rPr>
                            <a:t>Instanciación existencial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34317" t="-262105" r="-738" b="-112632"/>
                          </a:stretch>
                        </a:blipFill>
                      </a:tcPr>
                    </a:tc>
                    <a:extLst>
                      <a:ext uri="{0D108BD9-81ED-4DB2-BD59-A6C34878D82A}">
                        <a16:rowId xmlns:a16="http://schemas.microsoft.com/office/drawing/2014/main" val="1426096953"/>
                      </a:ext>
                    </a:extLst>
                  </a:tr>
                  <a:tr h="579120">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847" t="-362105" r="-438983" b="-12632"/>
                          </a:stretch>
                        </a:blip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600" dirty="0">
                              <a:latin typeface="+mn-lt"/>
                              <a:ea typeface="Roboto" panose="02000000000000000000" pitchFamily="2" charset="0"/>
                            </a:rPr>
                            <a:t>Generalización existencial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134317" t="-362105" r="-738" b="-12632"/>
                          </a:stretch>
                        </a:blipFill>
                      </a:tcPr>
                    </a:tc>
                    <a:extLst>
                      <a:ext uri="{0D108BD9-81ED-4DB2-BD59-A6C34878D82A}">
                        <a16:rowId xmlns:a16="http://schemas.microsoft.com/office/drawing/2014/main" val="2271411488"/>
                      </a:ext>
                    </a:extLst>
                  </a:tr>
                </a:tbl>
              </a:graphicData>
            </a:graphic>
          </p:graphicFrame>
        </mc:Fallback>
      </mc:AlternateContent>
    </p:spTree>
    <p:extLst>
      <p:ext uri="{BB962C8B-B14F-4D97-AF65-F5344CB8AC3E}">
        <p14:creationId xmlns:p14="http://schemas.microsoft.com/office/powerpoint/2010/main" val="22478920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title"/>
          </p:nvPr>
        </p:nvSpPr>
        <p:spPr>
          <a:xfrm>
            <a:off x="508000" y="322139"/>
            <a:ext cx="871265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Ejemplo 1</a:t>
            </a:r>
            <a:endParaRPr dirty="0">
              <a:solidFill>
                <a:schemeClr val="tx1"/>
              </a:solidFill>
              <a:latin typeface="+mj-lt"/>
            </a:endParaRPr>
          </a:p>
        </p:txBody>
      </p:sp>
      <p:sp>
        <p:nvSpPr>
          <p:cNvPr id="5" name="CuadroTexto 4">
            <a:extLst>
              <a:ext uri="{FF2B5EF4-FFF2-40B4-BE49-F238E27FC236}">
                <a16:creationId xmlns:a16="http://schemas.microsoft.com/office/drawing/2014/main" id="{D055498E-B21E-4DD3-9366-5DAC438D31FC}"/>
              </a:ext>
            </a:extLst>
          </p:cNvPr>
          <p:cNvSpPr txBox="1"/>
          <p:nvPr/>
        </p:nvSpPr>
        <p:spPr>
          <a:xfrm>
            <a:off x="508000" y="1271639"/>
            <a:ext cx="11356469" cy="830997"/>
          </a:xfrm>
          <a:prstGeom prst="rect">
            <a:avLst/>
          </a:prstGeom>
          <a:noFill/>
        </p:spPr>
        <p:txBody>
          <a:bodyPr wrap="square" rtlCol="0">
            <a:spAutoFit/>
          </a:bodyPr>
          <a:lstStyle/>
          <a:p>
            <a:r>
              <a:rPr lang="es-MX" sz="2400" dirty="0">
                <a:ea typeface="Roboto" panose="02000000000000000000" pitchFamily="2" charset="0"/>
              </a:rPr>
              <a:t>Demuestre que las premisas “</a:t>
            </a:r>
            <a:r>
              <a:rPr lang="es-MX" sz="2400" dirty="0"/>
              <a:t>Todos los hombres son mortales</a:t>
            </a:r>
            <a:r>
              <a:rPr lang="es-MX" sz="2400" dirty="0">
                <a:ea typeface="Roboto" panose="02000000000000000000" pitchFamily="2" charset="0"/>
              </a:rPr>
              <a:t>” y “</a:t>
            </a:r>
            <a:r>
              <a:rPr lang="es-MX" sz="2400" dirty="0"/>
              <a:t>Sócrates es un hombre</a:t>
            </a:r>
            <a:r>
              <a:rPr lang="es-MX" sz="2400" dirty="0">
                <a:ea typeface="Roboto" panose="02000000000000000000" pitchFamily="2" charset="0"/>
              </a:rPr>
              <a:t>” implican la conclusión “</a:t>
            </a:r>
            <a:r>
              <a:rPr lang="es-MX" sz="2400" dirty="0"/>
              <a:t>Sócrates es Mortal</a:t>
            </a:r>
            <a:r>
              <a:rPr lang="es-MX" sz="2400" dirty="0">
                <a:ea typeface="Roboto" panose="02000000000000000000" pitchFamily="2" charset="0"/>
              </a:rPr>
              <a:t>”.</a:t>
            </a:r>
          </a:p>
        </p:txBody>
      </p:sp>
      <p:pic>
        <p:nvPicPr>
          <p:cNvPr id="6" name="Imagen 5">
            <a:extLst>
              <a:ext uri="{FF2B5EF4-FFF2-40B4-BE49-F238E27FC236}">
                <a16:creationId xmlns:a16="http://schemas.microsoft.com/office/drawing/2014/main" id="{11CED77E-5F73-40E1-B570-C348EE1EB30F}"/>
              </a:ext>
            </a:extLst>
          </p:cNvPr>
          <p:cNvPicPr>
            <a:picLocks noChangeAspect="1"/>
          </p:cNvPicPr>
          <p:nvPr/>
        </p:nvPicPr>
        <p:blipFill>
          <a:blip r:embed="rId3"/>
          <a:stretch>
            <a:fillRect/>
          </a:stretch>
        </p:blipFill>
        <p:spPr>
          <a:xfrm>
            <a:off x="4805938" y="2884573"/>
            <a:ext cx="2580124" cy="2701788"/>
          </a:xfrm>
          <a:prstGeom prst="rect">
            <a:avLst/>
          </a:prstGeom>
        </p:spPr>
      </p:pic>
    </p:spTree>
    <p:extLst>
      <p:ext uri="{BB962C8B-B14F-4D97-AF65-F5344CB8AC3E}">
        <p14:creationId xmlns:p14="http://schemas.microsoft.com/office/powerpoint/2010/main" val="21311268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title"/>
          </p:nvPr>
        </p:nvSpPr>
        <p:spPr>
          <a:xfrm>
            <a:off x="324582" y="245131"/>
            <a:ext cx="8683621"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Ejemplo 1</a:t>
            </a:r>
            <a:endParaRPr dirty="0">
              <a:solidFill>
                <a:schemeClr val="tx1"/>
              </a:solidFill>
              <a:latin typeface="+mj-lt"/>
            </a:endParaRPr>
          </a:p>
        </p:txBody>
      </p:sp>
      <mc:AlternateContent xmlns:mc="http://schemas.openxmlformats.org/markup-compatibility/2006">
        <mc:Choice xmlns:a14="http://schemas.microsoft.com/office/drawing/2010/main" Requires="a14">
          <p:graphicFrame>
            <p:nvGraphicFramePr>
              <p:cNvPr id="6" name="Tabla 3">
                <a:extLst>
                  <a:ext uri="{FF2B5EF4-FFF2-40B4-BE49-F238E27FC236}">
                    <a16:creationId xmlns:a16="http://schemas.microsoft.com/office/drawing/2014/main" id="{B268220F-8A60-4908-981E-8C2BA0B3EB23}"/>
                  </a:ext>
                </a:extLst>
              </p:cNvPr>
              <p:cNvGraphicFramePr>
                <a:graphicFrameLocks noGrp="1"/>
              </p:cNvGraphicFramePr>
              <p:nvPr>
                <p:extLst>
                  <p:ext uri="{D42A27DB-BD31-4B8C-83A1-F6EECF244321}">
                    <p14:modId xmlns:p14="http://schemas.microsoft.com/office/powerpoint/2010/main" val="2163173837"/>
                  </p:ext>
                </p:extLst>
              </p:nvPr>
            </p:nvGraphicFramePr>
            <p:xfrm>
              <a:off x="6445409" y="1602431"/>
              <a:ext cx="5504949" cy="2072640"/>
            </p:xfrm>
            <a:graphic>
              <a:graphicData uri="http://schemas.openxmlformats.org/drawingml/2006/table">
                <a:tbl>
                  <a:tblPr firstRow="1" bandRow="1">
                    <a:tableStyleId>{AD6A3598-7CB8-4345-8D95-17CE05F158A0}</a:tableStyleId>
                  </a:tblPr>
                  <a:tblGrid>
                    <a:gridCol w="308834">
                      <a:extLst>
                        <a:ext uri="{9D8B030D-6E8A-4147-A177-3AD203B41FA5}">
                          <a16:colId xmlns:a16="http://schemas.microsoft.com/office/drawing/2014/main" val="2057099001"/>
                        </a:ext>
                      </a:extLst>
                    </a:gridCol>
                    <a:gridCol w="2321281">
                      <a:extLst>
                        <a:ext uri="{9D8B030D-6E8A-4147-A177-3AD203B41FA5}">
                          <a16:colId xmlns:a16="http://schemas.microsoft.com/office/drawing/2014/main" val="2721384015"/>
                        </a:ext>
                      </a:extLst>
                    </a:gridCol>
                    <a:gridCol w="2874834">
                      <a:extLst>
                        <a:ext uri="{9D8B030D-6E8A-4147-A177-3AD203B41FA5}">
                          <a16:colId xmlns:a16="http://schemas.microsoft.com/office/drawing/2014/main" val="3804441368"/>
                        </a:ext>
                      </a:extLst>
                    </a:gridCol>
                  </a:tblGrid>
                  <a:tr h="276552">
                    <a:tc>
                      <a:txBody>
                        <a:bodyPr/>
                        <a:lstStyle/>
                        <a:p>
                          <a:pPr algn="ctr"/>
                          <a:r>
                            <a:rPr lang="es-CO" sz="1600" b="1" dirty="0">
                              <a:latin typeface="+mn-lt"/>
                              <a:ea typeface="Roboto" panose="02000000000000000000" pitchFamily="2"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s-CO" sz="1600" b="1" dirty="0">
                              <a:latin typeface="+mn-lt"/>
                              <a:ea typeface="Roboto" panose="02000000000000000000" pitchFamily="2" charset="0"/>
                            </a:rPr>
                            <a:t>Enunciado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s-CO" sz="1600" b="1" dirty="0">
                              <a:latin typeface="+mn-lt"/>
                              <a:ea typeface="Roboto" panose="02000000000000000000" pitchFamily="2" charset="0"/>
                            </a:rPr>
                            <a:t>Representación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910282906"/>
                      </a:ext>
                    </a:extLst>
                  </a:tr>
                  <a:tr h="27655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600" dirty="0">
                              <a:latin typeface="+mn-lt"/>
                              <a:ea typeface="Roboto" panose="02000000000000000000" pitchFamily="2"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600" b="1" dirty="0">
                              <a:latin typeface="+mn-lt"/>
                              <a:ea typeface="Roboto" panose="02000000000000000000" pitchFamily="2" charset="0"/>
                            </a:rPr>
                            <a:t>Premisa1</a:t>
                          </a:r>
                          <a:r>
                            <a:rPr lang="es-MX" sz="1600" dirty="0">
                              <a:latin typeface="+mn-lt"/>
                              <a:ea typeface="Roboto" panose="02000000000000000000" pitchFamily="2" charset="0"/>
                            </a:rPr>
                            <a:t>: </a:t>
                          </a:r>
                          <a:r>
                            <a:rPr lang="es-MX" sz="1600" dirty="0">
                              <a:latin typeface="+mn-lt"/>
                            </a:rPr>
                            <a:t>Todos los hombres son mortales</a:t>
                          </a:r>
                          <a:endParaRPr lang="es-CO" sz="1600" dirty="0">
                            <a:latin typeface="+mn-lt"/>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𝑥</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h𝑜𝑚𝑏𝑟𝑒</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𝑥</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𝑚𝑜𝑟𝑡𝑎𝑙</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𝑥</m:t>
                                        </m:r>
                                      </m:e>
                                    </m:d>
                                  </m:e>
                                </m:d>
                              </m:oMath>
                            </m:oMathPara>
                          </a14:m>
                          <a:endParaRPr lang="es-MX" sz="1600" dirty="0">
                            <a:latin typeface="+mn-lt"/>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12829917"/>
                      </a:ext>
                    </a:extLst>
                  </a:tr>
                  <a:tr h="27655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MX" sz="1600" dirty="0">
                              <a:latin typeface="+mn-lt"/>
                              <a:ea typeface="Roboto" panose="02000000000000000000" pitchFamily="2"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600" b="1" dirty="0">
                              <a:latin typeface="+mn-lt"/>
                            </a:rPr>
                            <a:t>Premisa 2</a:t>
                          </a:r>
                          <a:r>
                            <a:rPr lang="es-CO" sz="1600" dirty="0">
                              <a:latin typeface="+mn-lt"/>
                            </a:rPr>
                            <a:t>: </a:t>
                          </a:r>
                          <a:r>
                            <a:rPr lang="es-MX" sz="1600" dirty="0">
                              <a:latin typeface="+mn-lt"/>
                            </a:rPr>
                            <a:t>Sócrates es un hombre</a:t>
                          </a:r>
                          <a:endParaRPr lang="es-MX" sz="1600" dirty="0">
                            <a:latin typeface="+mn-lt"/>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Roboto" panose="02000000000000000000" pitchFamily="2" charset="0"/>
                                  </a:rPr>
                                  <m:t>h𝑜𝑚𝑏𝑟𝑒</m:t>
                                </m:r>
                                <m:d>
                                  <m:dPr>
                                    <m:ctrlPr>
                                      <a:rPr lang="es-MX" sz="1600" b="0" i="1" smtClean="0">
                                        <a:latin typeface="Cambria Math" panose="02040503050406030204" pitchFamily="18" charset="0"/>
                                        <a:ea typeface="Roboto" panose="02000000000000000000" pitchFamily="2" charset="0"/>
                                      </a:rPr>
                                    </m:ctrlPr>
                                  </m:dPr>
                                  <m:e>
                                    <m:r>
                                      <m:rPr>
                                        <m:sty m:val="p"/>
                                      </m:rPr>
                                      <a:rPr lang="es-MX" sz="1600" b="0" i="0" smtClean="0">
                                        <a:latin typeface="Cambria Math" panose="02040503050406030204" pitchFamily="18" charset="0"/>
                                        <a:ea typeface="Roboto" panose="02000000000000000000" pitchFamily="2" charset="0"/>
                                      </a:rPr>
                                      <m:t>Socrates</m:t>
                                    </m:r>
                                  </m:e>
                                </m:d>
                              </m:oMath>
                            </m:oMathPara>
                          </a14:m>
                          <a:endParaRPr lang="es-MX" sz="1600" dirty="0">
                            <a:latin typeface="+mn-lt"/>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5296453"/>
                      </a:ext>
                    </a:extLst>
                  </a:tr>
                  <a:tr h="27655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MX" sz="1600" dirty="0">
                              <a:latin typeface="+mn-lt"/>
                              <a:ea typeface="Roboto" panose="02000000000000000000" pitchFamily="2"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600" b="1" dirty="0">
                              <a:latin typeface="+mn-lt"/>
                              <a:ea typeface="Roboto" panose="02000000000000000000" pitchFamily="2" charset="0"/>
                            </a:rPr>
                            <a:t>Conclusión</a:t>
                          </a:r>
                          <a:r>
                            <a:rPr lang="es-MX" sz="1600" dirty="0">
                              <a:latin typeface="+mn-lt"/>
                              <a:ea typeface="Roboto" panose="02000000000000000000" pitchFamily="2" charset="0"/>
                            </a:rPr>
                            <a:t>: </a:t>
                          </a:r>
                          <a:r>
                            <a:rPr lang="es-MX" sz="1600" dirty="0">
                              <a:latin typeface="+mn-lt"/>
                            </a:rPr>
                            <a:t>Sócrates es Mortal</a:t>
                          </a:r>
                          <a:endParaRPr lang="es-MX" sz="1600" dirty="0">
                            <a:latin typeface="+mn-lt"/>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Roboto" panose="02000000000000000000" pitchFamily="2" charset="0"/>
                                  </a:rPr>
                                  <m:t>𝑚𝑜𝑟𝑡𝑎𝑙</m:t>
                                </m:r>
                                <m:d>
                                  <m:dPr>
                                    <m:ctrlPr>
                                      <a:rPr lang="es-MX" sz="1600" b="0" i="1" smtClean="0">
                                        <a:latin typeface="Cambria Math" panose="02040503050406030204" pitchFamily="18" charset="0"/>
                                        <a:ea typeface="Roboto" panose="02000000000000000000" pitchFamily="2" charset="0"/>
                                      </a:rPr>
                                    </m:ctrlPr>
                                  </m:dPr>
                                  <m:e>
                                    <m:r>
                                      <m:rPr>
                                        <m:sty m:val="p"/>
                                      </m:rPr>
                                      <a:rPr lang="es-MX" sz="1600" b="0" i="0" smtClean="0">
                                        <a:latin typeface="Cambria Math" panose="02040503050406030204" pitchFamily="18" charset="0"/>
                                        <a:ea typeface="Roboto" panose="02000000000000000000" pitchFamily="2" charset="0"/>
                                      </a:rPr>
                                      <m:t>Socrates</m:t>
                                    </m:r>
                                  </m:e>
                                </m:d>
                              </m:oMath>
                            </m:oMathPara>
                          </a14:m>
                          <a:endParaRPr lang="es-MX" sz="1600" dirty="0">
                            <a:latin typeface="+mn-lt"/>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9990816"/>
                      </a:ext>
                    </a:extLst>
                  </a:tr>
                </a:tbl>
              </a:graphicData>
            </a:graphic>
          </p:graphicFrame>
        </mc:Choice>
        <mc:Fallback>
          <p:graphicFrame>
            <p:nvGraphicFramePr>
              <p:cNvPr id="6" name="Tabla 3">
                <a:extLst>
                  <a:ext uri="{FF2B5EF4-FFF2-40B4-BE49-F238E27FC236}">
                    <a16:creationId xmlns:a16="http://schemas.microsoft.com/office/drawing/2014/main" id="{B268220F-8A60-4908-981E-8C2BA0B3EB23}"/>
                  </a:ext>
                </a:extLst>
              </p:cNvPr>
              <p:cNvGraphicFramePr>
                <a:graphicFrameLocks noGrp="1"/>
              </p:cNvGraphicFramePr>
              <p:nvPr>
                <p:extLst>
                  <p:ext uri="{D42A27DB-BD31-4B8C-83A1-F6EECF244321}">
                    <p14:modId xmlns:p14="http://schemas.microsoft.com/office/powerpoint/2010/main" val="2163173837"/>
                  </p:ext>
                </p:extLst>
              </p:nvPr>
            </p:nvGraphicFramePr>
            <p:xfrm>
              <a:off x="6445409" y="1602431"/>
              <a:ext cx="5504949" cy="2072640"/>
            </p:xfrm>
            <a:graphic>
              <a:graphicData uri="http://schemas.openxmlformats.org/drawingml/2006/table">
                <a:tbl>
                  <a:tblPr firstRow="1" bandRow="1">
                    <a:tableStyleId>{AD6A3598-7CB8-4345-8D95-17CE05F158A0}</a:tableStyleId>
                  </a:tblPr>
                  <a:tblGrid>
                    <a:gridCol w="308834">
                      <a:extLst>
                        <a:ext uri="{9D8B030D-6E8A-4147-A177-3AD203B41FA5}">
                          <a16:colId xmlns:a16="http://schemas.microsoft.com/office/drawing/2014/main" val="2057099001"/>
                        </a:ext>
                      </a:extLst>
                    </a:gridCol>
                    <a:gridCol w="2321281">
                      <a:extLst>
                        <a:ext uri="{9D8B030D-6E8A-4147-A177-3AD203B41FA5}">
                          <a16:colId xmlns:a16="http://schemas.microsoft.com/office/drawing/2014/main" val="2721384015"/>
                        </a:ext>
                      </a:extLst>
                    </a:gridCol>
                    <a:gridCol w="2874834">
                      <a:extLst>
                        <a:ext uri="{9D8B030D-6E8A-4147-A177-3AD203B41FA5}">
                          <a16:colId xmlns:a16="http://schemas.microsoft.com/office/drawing/2014/main" val="3804441368"/>
                        </a:ext>
                      </a:extLst>
                    </a:gridCol>
                  </a:tblGrid>
                  <a:tr h="335280">
                    <a:tc>
                      <a:txBody>
                        <a:bodyPr/>
                        <a:lstStyle/>
                        <a:p>
                          <a:pPr algn="ctr"/>
                          <a:r>
                            <a:rPr lang="es-CO" sz="1600" b="1" dirty="0">
                              <a:latin typeface="+mn-lt"/>
                              <a:ea typeface="Roboto" panose="02000000000000000000" pitchFamily="2"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s-CO" sz="1600" b="1" dirty="0">
                              <a:latin typeface="+mn-lt"/>
                              <a:ea typeface="Roboto" panose="02000000000000000000" pitchFamily="2" charset="0"/>
                            </a:rPr>
                            <a:t>Enunciado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s-CO" sz="1600" b="1" dirty="0">
                              <a:latin typeface="+mn-lt"/>
                              <a:ea typeface="Roboto" panose="02000000000000000000" pitchFamily="2" charset="0"/>
                            </a:rPr>
                            <a:t>Representación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910282906"/>
                      </a:ext>
                    </a:extLst>
                  </a:tr>
                  <a:tr h="57912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600" dirty="0">
                              <a:latin typeface="+mn-lt"/>
                              <a:ea typeface="Roboto" panose="02000000000000000000" pitchFamily="2"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600" b="1" dirty="0">
                              <a:latin typeface="+mn-lt"/>
                              <a:ea typeface="Roboto" panose="02000000000000000000" pitchFamily="2" charset="0"/>
                            </a:rPr>
                            <a:t>Premisa1</a:t>
                          </a:r>
                          <a:r>
                            <a:rPr lang="es-MX" sz="1600" dirty="0">
                              <a:latin typeface="+mn-lt"/>
                              <a:ea typeface="Roboto" panose="02000000000000000000" pitchFamily="2" charset="0"/>
                            </a:rPr>
                            <a:t>: </a:t>
                          </a:r>
                          <a:r>
                            <a:rPr lang="es-MX" sz="1600" dirty="0">
                              <a:latin typeface="+mn-lt"/>
                            </a:rPr>
                            <a:t>Todos los hombres son mortales</a:t>
                          </a:r>
                          <a:endParaRPr lang="es-CO" sz="1600" dirty="0">
                            <a:latin typeface="+mn-lt"/>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1737" t="-60000" r="-424" b="-214737"/>
                          </a:stretch>
                        </a:blipFill>
                      </a:tcPr>
                    </a:tc>
                    <a:extLst>
                      <a:ext uri="{0D108BD9-81ED-4DB2-BD59-A6C34878D82A}">
                        <a16:rowId xmlns:a16="http://schemas.microsoft.com/office/drawing/2014/main" val="3412829917"/>
                      </a:ext>
                    </a:extLst>
                  </a:tr>
                  <a:tr h="57912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MX" sz="1600" dirty="0">
                              <a:latin typeface="+mn-lt"/>
                              <a:ea typeface="Roboto" panose="02000000000000000000" pitchFamily="2"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600" b="1" dirty="0">
                              <a:latin typeface="+mn-lt"/>
                            </a:rPr>
                            <a:t>Premisa 2</a:t>
                          </a:r>
                          <a:r>
                            <a:rPr lang="es-CO" sz="1600" dirty="0">
                              <a:latin typeface="+mn-lt"/>
                            </a:rPr>
                            <a:t>: </a:t>
                          </a:r>
                          <a:r>
                            <a:rPr lang="es-MX" sz="1600" dirty="0">
                              <a:latin typeface="+mn-lt"/>
                            </a:rPr>
                            <a:t>Sócrates es un hombre</a:t>
                          </a:r>
                          <a:endParaRPr lang="es-MX" sz="1600" dirty="0">
                            <a:latin typeface="+mn-lt"/>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1737" t="-158333" r="-424" b="-112500"/>
                          </a:stretch>
                        </a:blipFill>
                      </a:tcPr>
                    </a:tc>
                    <a:extLst>
                      <a:ext uri="{0D108BD9-81ED-4DB2-BD59-A6C34878D82A}">
                        <a16:rowId xmlns:a16="http://schemas.microsoft.com/office/drawing/2014/main" val="1575296453"/>
                      </a:ext>
                    </a:extLst>
                  </a:tr>
                  <a:tr h="57912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MX" sz="1600" dirty="0">
                              <a:latin typeface="+mn-lt"/>
                              <a:ea typeface="Roboto" panose="02000000000000000000" pitchFamily="2"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600" b="1" dirty="0">
                              <a:latin typeface="+mn-lt"/>
                              <a:ea typeface="Roboto" panose="02000000000000000000" pitchFamily="2" charset="0"/>
                            </a:rPr>
                            <a:t>Conclusión</a:t>
                          </a:r>
                          <a:r>
                            <a:rPr lang="es-MX" sz="1600" dirty="0">
                              <a:latin typeface="+mn-lt"/>
                              <a:ea typeface="Roboto" panose="02000000000000000000" pitchFamily="2" charset="0"/>
                            </a:rPr>
                            <a:t>: </a:t>
                          </a:r>
                          <a:r>
                            <a:rPr lang="es-MX" sz="1600" dirty="0">
                              <a:latin typeface="+mn-lt"/>
                            </a:rPr>
                            <a:t>Sócrates es Mortal</a:t>
                          </a:r>
                          <a:endParaRPr lang="es-MX" sz="1600" dirty="0">
                            <a:latin typeface="+mn-lt"/>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91737" t="-261053" r="-424" b="-13684"/>
                          </a:stretch>
                        </a:blipFill>
                      </a:tcPr>
                    </a:tc>
                    <a:extLst>
                      <a:ext uri="{0D108BD9-81ED-4DB2-BD59-A6C34878D82A}">
                        <a16:rowId xmlns:a16="http://schemas.microsoft.com/office/drawing/2014/main" val="3379990816"/>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7" name="Tabla 2">
                <a:extLst>
                  <a:ext uri="{FF2B5EF4-FFF2-40B4-BE49-F238E27FC236}">
                    <a16:creationId xmlns:a16="http://schemas.microsoft.com/office/drawing/2014/main" id="{48F87D2B-4563-4CD2-AC3D-E9D326A69BAA}"/>
                  </a:ext>
                </a:extLst>
              </p:cNvPr>
              <p:cNvGraphicFramePr>
                <a:graphicFrameLocks noGrp="1"/>
              </p:cNvGraphicFramePr>
              <p:nvPr>
                <p:extLst>
                  <p:ext uri="{D42A27DB-BD31-4B8C-83A1-F6EECF244321}">
                    <p14:modId xmlns:p14="http://schemas.microsoft.com/office/powerpoint/2010/main" val="3466536635"/>
                  </p:ext>
                </p:extLst>
              </p:nvPr>
            </p:nvGraphicFramePr>
            <p:xfrm>
              <a:off x="6445409" y="198649"/>
              <a:ext cx="5504949" cy="1249680"/>
            </p:xfrm>
            <a:graphic>
              <a:graphicData uri="http://schemas.openxmlformats.org/drawingml/2006/table">
                <a:tbl>
                  <a:tblPr firstRow="1" bandRow="1">
                    <a:tableStyleId>{AD6A3598-7CB8-4345-8D95-17CE05F158A0}</a:tableStyleId>
                  </a:tblPr>
                  <a:tblGrid>
                    <a:gridCol w="1209000">
                      <a:extLst>
                        <a:ext uri="{9D8B030D-6E8A-4147-A177-3AD203B41FA5}">
                          <a16:colId xmlns:a16="http://schemas.microsoft.com/office/drawing/2014/main" val="55665907"/>
                        </a:ext>
                      </a:extLst>
                    </a:gridCol>
                    <a:gridCol w="4295949">
                      <a:extLst>
                        <a:ext uri="{9D8B030D-6E8A-4147-A177-3AD203B41FA5}">
                          <a16:colId xmlns:a16="http://schemas.microsoft.com/office/drawing/2014/main" val="2393994677"/>
                        </a:ext>
                      </a:extLst>
                    </a:gridCol>
                  </a:tblGrid>
                  <a:tr h="0">
                    <a:tc>
                      <a:txBody>
                        <a:bodyPr/>
                        <a:lstStyle/>
                        <a:p>
                          <a:r>
                            <a:rPr lang="es-CO" sz="1600" b="1" dirty="0">
                              <a:latin typeface="+mn-lt"/>
                              <a:ea typeface="Roboto" panose="02000000000000000000" pitchFamily="2" charset="0"/>
                            </a:rPr>
                            <a:t>Dominio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600" b="0" i="1" dirty="0" smtClean="0">
                                    <a:latin typeface="Cambria Math" panose="02040503050406030204" pitchFamily="18" charset="0"/>
                                    <a:ea typeface="Roboto" panose="02000000000000000000" pitchFamily="2" charset="0"/>
                                  </a:rPr>
                                  <m:t>𝑈</m:t>
                                </m:r>
                                <m:r>
                                  <a:rPr lang="es-MX" sz="1600" b="0" i="1" dirty="0" smtClean="0">
                                    <a:latin typeface="Cambria Math" panose="02040503050406030204" pitchFamily="18" charset="0"/>
                                    <a:ea typeface="Roboto" panose="02000000000000000000" pitchFamily="2" charset="0"/>
                                  </a:rPr>
                                  <m:t>:</m:t>
                                </m:r>
                                <m:r>
                                  <m:rPr>
                                    <m:sty m:val="p"/>
                                  </m:rPr>
                                  <a:rPr lang="es-MX" sz="1600" b="0" i="0" dirty="0" smtClean="0">
                                    <a:latin typeface="Cambria Math" panose="02040503050406030204" pitchFamily="18" charset="0"/>
                                    <a:ea typeface="Roboto" panose="02000000000000000000" pitchFamily="2" charset="0"/>
                                  </a:rPr>
                                  <m:t>Todos</m:t>
                                </m:r>
                                <m:r>
                                  <a:rPr lang="es-MX" sz="1600" b="0" i="0" dirty="0" smtClean="0">
                                    <a:latin typeface="Cambria Math" panose="02040503050406030204" pitchFamily="18" charset="0"/>
                                    <a:ea typeface="Roboto" panose="02000000000000000000" pitchFamily="2" charset="0"/>
                                  </a:rPr>
                                  <m:t> </m:t>
                                </m:r>
                                <m:r>
                                  <m:rPr>
                                    <m:sty m:val="p"/>
                                  </m:rPr>
                                  <a:rPr lang="es-MX" sz="1600" b="0" i="0" dirty="0" smtClean="0">
                                    <a:latin typeface="Cambria Math" panose="02040503050406030204" pitchFamily="18" charset="0"/>
                                    <a:ea typeface="Roboto" panose="02000000000000000000" pitchFamily="2" charset="0"/>
                                  </a:rPr>
                                  <m:t>los</m:t>
                                </m:r>
                                <m:r>
                                  <a:rPr lang="es-MX" sz="1600" b="0" i="0" dirty="0" smtClean="0">
                                    <a:latin typeface="Cambria Math" panose="02040503050406030204" pitchFamily="18" charset="0"/>
                                    <a:ea typeface="Roboto" panose="02000000000000000000" pitchFamily="2" charset="0"/>
                                  </a:rPr>
                                  <m:t> </m:t>
                                </m:r>
                                <m:r>
                                  <m:rPr>
                                    <m:sty m:val="p"/>
                                  </m:rPr>
                                  <a:rPr lang="es-MX" sz="1600" b="0" i="0" dirty="0" smtClean="0">
                                    <a:latin typeface="Cambria Math" panose="02040503050406030204" pitchFamily="18" charset="0"/>
                                    <a:ea typeface="Roboto" panose="02000000000000000000" pitchFamily="2" charset="0"/>
                                  </a:rPr>
                                  <m:t>seres</m:t>
                                </m:r>
                                <m:r>
                                  <a:rPr lang="es-MX" sz="1600" b="0" i="0" dirty="0" smtClean="0">
                                    <a:latin typeface="Cambria Math" panose="02040503050406030204" pitchFamily="18" charset="0"/>
                                    <a:ea typeface="Roboto" panose="02000000000000000000" pitchFamily="2" charset="0"/>
                                  </a:rPr>
                                  <m:t> </m:t>
                                </m:r>
                                <m:r>
                                  <m:rPr>
                                    <m:sty m:val="p"/>
                                  </m:rPr>
                                  <a:rPr lang="es-MX" sz="1600" b="0" i="0" dirty="0" smtClean="0">
                                    <a:latin typeface="Cambria Math" panose="02040503050406030204" pitchFamily="18" charset="0"/>
                                    <a:ea typeface="Roboto" panose="02000000000000000000" pitchFamily="2" charset="0"/>
                                  </a:rPr>
                                  <m:t>vivos</m:t>
                                </m:r>
                              </m:oMath>
                            </m:oMathPara>
                          </a14:m>
                          <a:endParaRPr lang="es-CO" sz="1600" b="0" i="0" dirty="0">
                            <a:latin typeface="+mn-lt"/>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54054099"/>
                      </a:ext>
                    </a:extLst>
                  </a:tr>
                  <a:tr h="0">
                    <a:tc>
                      <a:txBody>
                        <a:bodyPr/>
                        <a:lstStyle/>
                        <a:p>
                          <a:r>
                            <a:rPr lang="es-CO" sz="1600" b="1" dirty="0">
                              <a:latin typeface="+mn-lt"/>
                              <a:ea typeface="Roboto" panose="02000000000000000000" pitchFamily="2" charset="0"/>
                            </a:rPr>
                            <a:t>Variables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rPr>
                                  <m:t>𝑥</m:t>
                                </m:r>
                              </m:oMath>
                            </m:oMathPara>
                          </a14:m>
                          <a:endParaRPr lang="es-CO" sz="1600" dirty="0">
                            <a:latin typeface="+mn-lt"/>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0970474"/>
                      </a:ext>
                    </a:extLst>
                  </a:tr>
                  <a:tr h="192056">
                    <a:tc>
                      <a:txBody>
                        <a:bodyPr/>
                        <a:lstStyle/>
                        <a:p>
                          <a:r>
                            <a:rPr lang="es-CO" sz="1600" b="1" dirty="0">
                              <a:latin typeface="+mn-lt"/>
                              <a:ea typeface="Roboto" panose="02000000000000000000" pitchFamily="2" charset="0"/>
                            </a:rPr>
                            <a:t>Predicados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14:m>
                            <m:oMath xmlns:m="http://schemas.openxmlformats.org/officeDocument/2006/math">
                              <m:r>
                                <a:rPr lang="es-MX" sz="1600" b="0" i="1" smtClean="0">
                                  <a:latin typeface="Cambria Math" panose="02040503050406030204" pitchFamily="18" charset="0"/>
                                  <a:ea typeface="Cambria Math" panose="02040503050406030204" pitchFamily="18" charset="0"/>
                                </a:rPr>
                                <m:t>h𝑜𝑚𝑏𝑟𝑒</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𝑥</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𝑥</m:t>
                              </m:r>
                              <m:r>
                                <a:rPr lang="es-MX" sz="1600" b="0" i="1" smtClean="0">
                                  <a:latin typeface="Cambria Math" panose="02040503050406030204" pitchFamily="18" charset="0"/>
                                  <a:ea typeface="Cambria Math" panose="02040503050406030204" pitchFamily="18" charset="0"/>
                                </a:rPr>
                                <m:t> </m:t>
                              </m:r>
                              <m:r>
                                <m:rPr>
                                  <m:sty m:val="p"/>
                                </m:rPr>
                                <a:rPr lang="es-MX" sz="1600" b="0" i="0" smtClean="0">
                                  <a:latin typeface="Cambria Math" panose="02040503050406030204" pitchFamily="18" charset="0"/>
                                  <a:ea typeface="Cambria Math" panose="02040503050406030204" pitchFamily="18" charset="0"/>
                                </a:rPr>
                                <m:t>es</m:t>
                              </m:r>
                              <m:r>
                                <a:rPr lang="es-MX" sz="1600" b="0" i="0" smtClean="0">
                                  <a:latin typeface="Cambria Math" panose="02040503050406030204" pitchFamily="18" charset="0"/>
                                  <a:ea typeface="Cambria Math" panose="02040503050406030204" pitchFamily="18" charset="0"/>
                                </a:rPr>
                                <m:t> </m:t>
                              </m:r>
                              <m:r>
                                <m:rPr>
                                  <m:sty m:val="p"/>
                                </m:rPr>
                                <a:rPr lang="es-MX" sz="1600" b="0" i="0" smtClean="0">
                                  <a:latin typeface="Cambria Math" panose="02040503050406030204" pitchFamily="18" charset="0"/>
                                  <a:ea typeface="Cambria Math" panose="02040503050406030204" pitchFamily="18" charset="0"/>
                                </a:rPr>
                                <m:t>un</m:t>
                              </m:r>
                              <m:r>
                                <a:rPr lang="es-MX" sz="1600" b="0" i="0" smtClean="0">
                                  <a:latin typeface="Cambria Math" panose="02040503050406030204" pitchFamily="18" charset="0"/>
                                  <a:ea typeface="Cambria Math" panose="02040503050406030204" pitchFamily="18" charset="0"/>
                                </a:rPr>
                                <m:t> </m:t>
                              </m:r>
                              <m:r>
                                <m:rPr>
                                  <m:sty m:val="p"/>
                                </m:rPr>
                                <a:rPr lang="es-MX" sz="1600" b="0" i="0" smtClean="0">
                                  <a:latin typeface="Cambria Math" panose="02040503050406030204" pitchFamily="18" charset="0"/>
                                  <a:ea typeface="Cambria Math" panose="02040503050406030204" pitchFamily="18" charset="0"/>
                                </a:rPr>
                                <m:t>hombre</m:t>
                              </m:r>
                            </m:oMath>
                          </a14:m>
                          <a:endParaRPr lang="es-MX" sz="1600" b="0" i="1" dirty="0">
                            <a:latin typeface="+mn-lt"/>
                            <a:ea typeface="Cambria Math" panose="02040503050406030204" pitchFamily="18" charset="0"/>
                          </a:endParaRP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14:m>
                            <m:oMath xmlns:m="http://schemas.openxmlformats.org/officeDocument/2006/math">
                              <m:r>
                                <a:rPr lang="es-MX" sz="1600" b="0" i="1" smtClean="0">
                                  <a:solidFill>
                                    <a:schemeClr val="tx1"/>
                                  </a:solidFill>
                                  <a:latin typeface="Cambria Math" panose="02040503050406030204" pitchFamily="18" charset="0"/>
                                  <a:ea typeface="Cambria Math" panose="02040503050406030204" pitchFamily="18" charset="0"/>
                                </a:rPr>
                                <m:t>𝑚𝑜𝑟𝑡𝑎𝑙</m:t>
                              </m:r>
                              <m:d>
                                <m:dPr>
                                  <m:ctrlPr>
                                    <a:rPr lang="es-MX" sz="1600" b="0" i="1" smtClean="0">
                                      <a:solidFill>
                                        <a:schemeClr val="tx1"/>
                                      </a:solidFill>
                                      <a:latin typeface="Cambria Math" panose="02040503050406030204" pitchFamily="18" charset="0"/>
                                      <a:ea typeface="Cambria Math" panose="02040503050406030204" pitchFamily="18" charset="0"/>
                                    </a:rPr>
                                  </m:ctrlPr>
                                </m:dPr>
                                <m:e>
                                  <m:r>
                                    <a:rPr lang="es-MX" sz="1600" b="0" i="1" smtClean="0">
                                      <a:solidFill>
                                        <a:schemeClr val="tx1"/>
                                      </a:solidFill>
                                      <a:latin typeface="Cambria Math" panose="02040503050406030204" pitchFamily="18" charset="0"/>
                                      <a:ea typeface="Cambria Math" panose="02040503050406030204" pitchFamily="18" charset="0"/>
                                    </a:rPr>
                                    <m:t>𝑥</m:t>
                                  </m:r>
                                </m:e>
                              </m:d>
                              <m:r>
                                <a:rPr lang="es-MX" sz="1600" b="0" i="1" smtClean="0">
                                  <a:solidFill>
                                    <a:schemeClr val="tx1"/>
                                  </a:solidFill>
                                  <a:latin typeface="Cambria Math" panose="02040503050406030204" pitchFamily="18" charset="0"/>
                                  <a:ea typeface="Cambria Math" panose="02040503050406030204" pitchFamily="18" charset="0"/>
                                </a:rPr>
                                <m:t>: </m:t>
                              </m:r>
                              <m:r>
                                <a:rPr lang="es-MX" sz="1600" b="0" i="1" smtClean="0">
                                  <a:solidFill>
                                    <a:schemeClr val="tx1"/>
                                  </a:solidFill>
                                  <a:latin typeface="Cambria Math" panose="02040503050406030204" pitchFamily="18" charset="0"/>
                                  <a:ea typeface="Cambria Math" panose="02040503050406030204" pitchFamily="18" charset="0"/>
                                </a:rPr>
                                <m:t>𝑥</m:t>
                              </m:r>
                              <m:r>
                                <a:rPr lang="es-MX" sz="1600" b="0" i="1" smtClean="0">
                                  <a:solidFill>
                                    <a:schemeClr val="tx1"/>
                                  </a:solidFill>
                                  <a:latin typeface="Cambria Math" panose="02040503050406030204" pitchFamily="18" charset="0"/>
                                  <a:ea typeface="Cambria Math" panose="02040503050406030204" pitchFamily="18" charset="0"/>
                                </a:rPr>
                                <m:t> </m:t>
                              </m:r>
                              <m:r>
                                <m:rPr>
                                  <m:sty m:val="p"/>
                                </m:rPr>
                                <a:rPr lang="es-MX" sz="1600" b="0" i="0" smtClean="0">
                                  <a:solidFill>
                                    <a:schemeClr val="tx1"/>
                                  </a:solidFill>
                                  <a:latin typeface="Cambria Math" panose="02040503050406030204" pitchFamily="18" charset="0"/>
                                  <a:ea typeface="Cambria Math" panose="02040503050406030204" pitchFamily="18" charset="0"/>
                                </a:rPr>
                                <m:t>es</m:t>
                              </m:r>
                              <m:r>
                                <a:rPr lang="es-MX" sz="1600" b="0" i="0" smtClean="0">
                                  <a:solidFill>
                                    <a:schemeClr val="tx1"/>
                                  </a:solidFill>
                                  <a:latin typeface="Cambria Math" panose="02040503050406030204" pitchFamily="18" charset="0"/>
                                  <a:ea typeface="Cambria Math" panose="02040503050406030204" pitchFamily="18" charset="0"/>
                                </a:rPr>
                                <m:t> </m:t>
                              </m:r>
                              <m:r>
                                <m:rPr>
                                  <m:sty m:val="p"/>
                                </m:rPr>
                                <a:rPr lang="es-MX" sz="1600" b="0" i="0" smtClean="0">
                                  <a:solidFill>
                                    <a:schemeClr val="tx1"/>
                                  </a:solidFill>
                                  <a:latin typeface="Cambria Math" panose="02040503050406030204" pitchFamily="18" charset="0"/>
                                  <a:ea typeface="Cambria Math" panose="02040503050406030204" pitchFamily="18" charset="0"/>
                                </a:rPr>
                                <m:t>mortal</m:t>
                              </m:r>
                            </m:oMath>
                          </a14:m>
                          <a:endParaRPr lang="es-MX" sz="1600" b="0" i="0" dirty="0">
                            <a:solidFill>
                              <a:schemeClr val="tx1"/>
                            </a:solidFill>
                            <a:latin typeface="+mn-lt"/>
                            <a:ea typeface="Cambria Math"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2933263"/>
                      </a:ext>
                    </a:extLst>
                  </a:tr>
                </a:tbl>
              </a:graphicData>
            </a:graphic>
          </p:graphicFrame>
        </mc:Choice>
        <mc:Fallback>
          <p:graphicFrame>
            <p:nvGraphicFramePr>
              <p:cNvPr id="7" name="Tabla 2">
                <a:extLst>
                  <a:ext uri="{FF2B5EF4-FFF2-40B4-BE49-F238E27FC236}">
                    <a16:creationId xmlns:a16="http://schemas.microsoft.com/office/drawing/2014/main" id="{48F87D2B-4563-4CD2-AC3D-E9D326A69BAA}"/>
                  </a:ext>
                </a:extLst>
              </p:cNvPr>
              <p:cNvGraphicFramePr>
                <a:graphicFrameLocks noGrp="1"/>
              </p:cNvGraphicFramePr>
              <p:nvPr>
                <p:extLst>
                  <p:ext uri="{D42A27DB-BD31-4B8C-83A1-F6EECF244321}">
                    <p14:modId xmlns:p14="http://schemas.microsoft.com/office/powerpoint/2010/main" val="3466536635"/>
                  </p:ext>
                </p:extLst>
              </p:nvPr>
            </p:nvGraphicFramePr>
            <p:xfrm>
              <a:off x="6445409" y="198649"/>
              <a:ext cx="5504949" cy="1249680"/>
            </p:xfrm>
            <a:graphic>
              <a:graphicData uri="http://schemas.openxmlformats.org/drawingml/2006/table">
                <a:tbl>
                  <a:tblPr firstRow="1" bandRow="1">
                    <a:tableStyleId>{AD6A3598-7CB8-4345-8D95-17CE05F158A0}</a:tableStyleId>
                  </a:tblPr>
                  <a:tblGrid>
                    <a:gridCol w="1209000">
                      <a:extLst>
                        <a:ext uri="{9D8B030D-6E8A-4147-A177-3AD203B41FA5}">
                          <a16:colId xmlns:a16="http://schemas.microsoft.com/office/drawing/2014/main" val="55665907"/>
                        </a:ext>
                      </a:extLst>
                    </a:gridCol>
                    <a:gridCol w="4295949">
                      <a:extLst>
                        <a:ext uri="{9D8B030D-6E8A-4147-A177-3AD203B41FA5}">
                          <a16:colId xmlns:a16="http://schemas.microsoft.com/office/drawing/2014/main" val="2393994677"/>
                        </a:ext>
                      </a:extLst>
                    </a:gridCol>
                  </a:tblGrid>
                  <a:tr h="335280">
                    <a:tc>
                      <a:txBody>
                        <a:bodyPr/>
                        <a:lstStyle/>
                        <a:p>
                          <a:r>
                            <a:rPr lang="es-CO" sz="1600" b="1" dirty="0">
                              <a:latin typeface="+mn-lt"/>
                              <a:ea typeface="Roboto" panose="02000000000000000000" pitchFamily="2" charset="0"/>
                            </a:rPr>
                            <a:t>Dominio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8369" t="-3636" r="-284" b="-290909"/>
                          </a:stretch>
                        </a:blipFill>
                      </a:tcPr>
                    </a:tc>
                    <a:extLst>
                      <a:ext uri="{0D108BD9-81ED-4DB2-BD59-A6C34878D82A}">
                        <a16:rowId xmlns:a16="http://schemas.microsoft.com/office/drawing/2014/main" val="2554054099"/>
                      </a:ext>
                    </a:extLst>
                  </a:tr>
                  <a:tr h="335280">
                    <a:tc>
                      <a:txBody>
                        <a:bodyPr/>
                        <a:lstStyle/>
                        <a:p>
                          <a:r>
                            <a:rPr lang="es-CO" sz="1600" b="1" dirty="0">
                              <a:latin typeface="+mn-lt"/>
                              <a:ea typeface="Roboto" panose="02000000000000000000" pitchFamily="2" charset="0"/>
                            </a:rPr>
                            <a:t>Variables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8369" t="-101786" r="-284" b="-185714"/>
                          </a:stretch>
                        </a:blipFill>
                      </a:tcPr>
                    </a:tc>
                    <a:extLst>
                      <a:ext uri="{0D108BD9-81ED-4DB2-BD59-A6C34878D82A}">
                        <a16:rowId xmlns:a16="http://schemas.microsoft.com/office/drawing/2014/main" val="1590970474"/>
                      </a:ext>
                    </a:extLst>
                  </a:tr>
                  <a:tr h="579120">
                    <a:tc>
                      <a:txBody>
                        <a:bodyPr/>
                        <a:lstStyle/>
                        <a:p>
                          <a:r>
                            <a:rPr lang="es-CO" sz="1600" b="1" dirty="0">
                              <a:latin typeface="+mn-lt"/>
                              <a:ea typeface="Roboto" panose="02000000000000000000" pitchFamily="2" charset="0"/>
                            </a:rPr>
                            <a:t>Predicados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28369" t="-118947" r="-284" b="-9474"/>
                          </a:stretch>
                        </a:blipFill>
                      </a:tcPr>
                    </a:tc>
                    <a:extLst>
                      <a:ext uri="{0D108BD9-81ED-4DB2-BD59-A6C34878D82A}">
                        <a16:rowId xmlns:a16="http://schemas.microsoft.com/office/drawing/2014/main" val="1362933263"/>
                      </a:ext>
                    </a:extLst>
                  </a:tr>
                </a:tbl>
              </a:graphicData>
            </a:graphic>
          </p:graphicFrame>
        </mc:Fallback>
      </mc:AlternateContent>
      <p:grpSp>
        <p:nvGrpSpPr>
          <p:cNvPr id="11" name="Grupo 10">
            <a:extLst>
              <a:ext uri="{FF2B5EF4-FFF2-40B4-BE49-F238E27FC236}">
                <a16:creationId xmlns:a16="http://schemas.microsoft.com/office/drawing/2014/main" id="{F3448778-D45A-4A59-83D2-F2D1FBF2CAD1}"/>
              </a:ext>
            </a:extLst>
          </p:cNvPr>
          <p:cNvGrpSpPr/>
          <p:nvPr/>
        </p:nvGrpSpPr>
        <p:grpSpPr>
          <a:xfrm>
            <a:off x="715156" y="1889580"/>
            <a:ext cx="4568080" cy="1402692"/>
            <a:chOff x="4142522" y="4512927"/>
            <a:chExt cx="2392093" cy="1402692"/>
          </a:xfrm>
        </p:grpSpPr>
        <mc:AlternateContent xmlns:mc="http://schemas.openxmlformats.org/markup-compatibility/2006">
          <mc:Choice xmlns:a14="http://schemas.microsoft.com/office/drawing/2010/main" Requires="a14">
            <p:sp>
              <p:nvSpPr>
                <p:cNvPr id="12" name="CuadroTexto 11">
                  <a:extLst>
                    <a:ext uri="{FF2B5EF4-FFF2-40B4-BE49-F238E27FC236}">
                      <a16:creationId xmlns:a16="http://schemas.microsoft.com/office/drawing/2014/main" id="{F91D5BB4-8EBF-40C5-9626-9D0B1F9C3BDA}"/>
                    </a:ext>
                  </a:extLst>
                </p:cNvPr>
                <p:cNvSpPr txBox="1"/>
                <p:nvPr/>
              </p:nvSpPr>
              <p:spPr>
                <a:xfrm>
                  <a:off x="4142522" y="4512927"/>
                  <a:ext cx="2392093" cy="140269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s-MX" sz="2000" i="1" smtClean="0">
                            <a:latin typeface="Cambria Math" panose="02040503050406030204" pitchFamily="18" charset="0"/>
                            <a:ea typeface="Cambria Math" panose="02040503050406030204" pitchFamily="18" charset="0"/>
                          </a:rPr>
                          <m:t>∀</m:t>
                        </m:r>
                        <m:r>
                          <a:rPr lang="es-MX" sz="2000" i="1" smtClean="0">
                            <a:latin typeface="Cambria Math" panose="02040503050406030204" pitchFamily="18" charset="0"/>
                            <a:ea typeface="Cambria Math" panose="02040503050406030204" pitchFamily="18" charset="0"/>
                          </a:rPr>
                          <m:t>𝑥</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h𝑜𝑚𝑏𝑟𝑒</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𝑥</m:t>
                                </m:r>
                              </m:e>
                            </m:d>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𝑚𝑜𝑟𝑡𝑎𝑙</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𝑥</m:t>
                                </m:r>
                              </m:e>
                            </m:d>
                          </m:e>
                        </m:d>
                        <m:r>
                          <a:rPr lang="es-MX" sz="2000" b="0" i="0" smtClean="0">
                            <a:latin typeface="Cambria Math" panose="02040503050406030204" pitchFamily="18" charset="0"/>
                            <a:ea typeface="Cambria Math" panose="02040503050406030204" pitchFamily="18" charset="0"/>
                          </a:rPr>
                          <m:t> </m:t>
                        </m:r>
                        <m:r>
                          <a:rPr lang="es-MX" sz="2000" b="0" i="1" smtClean="0">
                            <a:latin typeface="Cambria Math" panose="02040503050406030204" pitchFamily="18" charset="0"/>
                            <a:ea typeface="Cambria Math" panose="02040503050406030204" pitchFamily="18" charset="0"/>
                          </a:rPr>
                          <m:t>    </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𝑎</m:t>
                        </m:r>
                        <m:r>
                          <a:rPr lang="es-MX" sz="2000" b="0" i="1" smtClean="0">
                            <a:latin typeface="Cambria Math" panose="02040503050406030204" pitchFamily="18" charset="0"/>
                            <a:ea typeface="Roboto" panose="02000000000000000000" pitchFamily="2" charset="0"/>
                          </a:rPr>
                          <m:t>)</m:t>
                        </m:r>
                      </m:oMath>
                    </m:oMathPara>
                  </a14:m>
                  <a:endParaRPr lang="es-MX" sz="2000" b="0" i="1" dirty="0">
                    <a:latin typeface="Cambria Math" panose="02040503050406030204" pitchFamily="18" charset="0"/>
                    <a:ea typeface="Roboto" panose="02000000000000000000" pitchFamily="2" charset="0"/>
                  </a:endParaRPr>
                </a:p>
                <a:p>
                  <a:pPr/>
                  <a14:m>
                    <m:oMathPara xmlns:m="http://schemas.openxmlformats.org/officeDocument/2006/math">
                      <m:oMathParaPr>
                        <m:jc m:val="left"/>
                      </m:oMathParaPr>
                      <m:oMath xmlns:m="http://schemas.openxmlformats.org/officeDocument/2006/math">
                        <m:r>
                          <a:rPr lang="es-MX" sz="2000" i="1">
                            <a:latin typeface="Cambria Math" panose="02040503050406030204" pitchFamily="18" charset="0"/>
                            <a:ea typeface="Roboto" panose="02000000000000000000" pitchFamily="2" charset="0"/>
                          </a:rPr>
                          <m:t>h𝑜𝑚𝑏𝑟𝑒</m:t>
                        </m:r>
                        <m:d>
                          <m:dPr>
                            <m:ctrlPr>
                              <a:rPr lang="es-MX" sz="2000" i="1">
                                <a:latin typeface="Cambria Math" panose="02040503050406030204" pitchFamily="18" charset="0"/>
                                <a:ea typeface="Roboto" panose="02000000000000000000" pitchFamily="2" charset="0"/>
                              </a:rPr>
                            </m:ctrlPr>
                          </m:dPr>
                          <m:e>
                            <m:r>
                              <m:rPr>
                                <m:sty m:val="p"/>
                              </m:rPr>
                              <a:rPr lang="es-MX" sz="2000">
                                <a:latin typeface="Cambria Math" panose="02040503050406030204" pitchFamily="18" charset="0"/>
                                <a:ea typeface="Roboto" panose="02000000000000000000" pitchFamily="2" charset="0"/>
                              </a:rPr>
                              <m:t>Socrates</m:t>
                            </m:r>
                          </m:e>
                        </m:d>
                        <m:r>
                          <a:rPr lang="es-MX" sz="2000" b="0" i="1" smtClean="0">
                            <a:latin typeface="Cambria Math" panose="02040503050406030204" pitchFamily="18" charset="0"/>
                            <a:ea typeface="Roboto" panose="02000000000000000000" pitchFamily="2" charset="0"/>
                          </a:rPr>
                          <m:t>                           </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𝑏</m:t>
                            </m:r>
                          </m:e>
                        </m:d>
                      </m:oMath>
                    </m:oMathPara>
                  </a14:m>
                  <a:endParaRPr lang="es-MX" sz="2000" b="0" i="1" dirty="0">
                    <a:latin typeface="Cambria Math" panose="02040503050406030204" pitchFamily="18" charset="0"/>
                    <a:ea typeface="Roboto" panose="02000000000000000000" pitchFamily="2" charset="0"/>
                  </a:endParaRPr>
                </a:p>
                <a:p>
                  <a:pPr lvl="0">
                    <a:defRPr/>
                  </a:pPr>
                  <a14:m>
                    <m:oMathPara xmlns:m="http://schemas.openxmlformats.org/officeDocument/2006/math">
                      <m:oMathParaPr>
                        <m:jc m:val="left"/>
                      </m:oMathParaPr>
                      <m:oMath xmlns:m="http://schemas.openxmlformats.org/officeDocument/2006/math">
                        <m:r>
                          <a:rPr lang="es-MX" sz="2000" b="0" i="1" smtClean="0">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Roboto" panose="02000000000000000000" pitchFamily="2" charset="0"/>
                          </a:rPr>
                          <m:t>𝑚𝑜𝑟𝑡𝑎𝑙</m:t>
                        </m:r>
                        <m:d>
                          <m:dPr>
                            <m:ctrlPr>
                              <a:rPr lang="es-MX" sz="2000" i="1">
                                <a:latin typeface="Cambria Math" panose="02040503050406030204" pitchFamily="18" charset="0"/>
                                <a:ea typeface="Roboto" panose="02000000000000000000" pitchFamily="2" charset="0"/>
                              </a:rPr>
                            </m:ctrlPr>
                          </m:dPr>
                          <m:e>
                            <m:r>
                              <m:rPr>
                                <m:sty m:val="p"/>
                              </m:rPr>
                              <a:rPr lang="es-MX" sz="2000">
                                <a:latin typeface="Cambria Math" panose="02040503050406030204" pitchFamily="18" charset="0"/>
                                <a:ea typeface="Roboto" panose="02000000000000000000" pitchFamily="2" charset="0"/>
                              </a:rPr>
                              <m:t>Socrates</m:t>
                            </m:r>
                          </m:e>
                        </m:d>
                      </m:oMath>
                    </m:oMathPara>
                  </a14:m>
                  <a:endParaRPr lang="es-MX" sz="2000" dirty="0">
                    <a:latin typeface="Roboto" panose="02000000000000000000" pitchFamily="2" charset="0"/>
                    <a:ea typeface="Roboto" panose="02000000000000000000" pitchFamily="2" charset="0"/>
                  </a:endParaRPr>
                </a:p>
              </p:txBody>
            </p:sp>
          </mc:Choice>
          <mc:Fallback>
            <p:sp>
              <p:nvSpPr>
                <p:cNvPr id="12" name="CuadroTexto 11">
                  <a:extLst>
                    <a:ext uri="{FF2B5EF4-FFF2-40B4-BE49-F238E27FC236}">
                      <a16:creationId xmlns:a16="http://schemas.microsoft.com/office/drawing/2014/main" id="{F91D5BB4-8EBF-40C5-9626-9D0B1F9C3BDA}"/>
                    </a:ext>
                  </a:extLst>
                </p:cNvPr>
                <p:cNvSpPr txBox="1">
                  <a:spLocks noRot="1" noChangeAspect="1" noMove="1" noResize="1" noEditPoints="1" noAdjustHandles="1" noChangeArrowheads="1" noChangeShapeType="1" noTextEdit="1"/>
                </p:cNvSpPr>
                <p:nvPr/>
              </p:nvSpPr>
              <p:spPr>
                <a:xfrm>
                  <a:off x="4142522" y="4512927"/>
                  <a:ext cx="2392093" cy="1402692"/>
                </a:xfrm>
                <a:prstGeom prst="rect">
                  <a:avLst/>
                </a:prstGeom>
                <a:blipFill>
                  <a:blip r:embed="rId5"/>
                  <a:stretch>
                    <a:fillRect/>
                  </a:stretch>
                </a:blipFill>
              </p:spPr>
              <p:txBody>
                <a:bodyPr/>
                <a:lstStyle/>
                <a:p>
                  <a:r>
                    <a:rPr lang="es-CO">
                      <a:noFill/>
                    </a:rPr>
                    <a:t> </a:t>
                  </a:r>
                </a:p>
              </p:txBody>
            </p:sp>
          </mc:Fallback>
        </mc:AlternateContent>
        <p:cxnSp>
          <p:nvCxnSpPr>
            <p:cNvPr id="13" name="Conector recto 12">
              <a:extLst>
                <a:ext uri="{FF2B5EF4-FFF2-40B4-BE49-F238E27FC236}">
                  <a16:creationId xmlns:a16="http://schemas.microsoft.com/office/drawing/2014/main" id="{8FC17297-35A7-4004-B285-1FA8C4731820}"/>
                </a:ext>
              </a:extLst>
            </p:cNvPr>
            <p:cNvCxnSpPr>
              <a:cxnSpLocks/>
            </p:cNvCxnSpPr>
            <p:nvPr/>
          </p:nvCxnSpPr>
          <p:spPr>
            <a:xfrm>
              <a:off x="4218931" y="5212131"/>
              <a:ext cx="219296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graphicFrame>
            <p:nvGraphicFramePr>
              <p:cNvPr id="14" name="Tabla 2">
                <a:extLst>
                  <a:ext uri="{FF2B5EF4-FFF2-40B4-BE49-F238E27FC236}">
                    <a16:creationId xmlns:a16="http://schemas.microsoft.com/office/drawing/2014/main" id="{7220BB13-3652-457C-A378-3DF759F1EC07}"/>
                  </a:ext>
                </a:extLst>
              </p:cNvPr>
              <p:cNvGraphicFramePr>
                <a:graphicFrameLocks noGrp="1"/>
              </p:cNvGraphicFramePr>
              <p:nvPr>
                <p:extLst>
                  <p:ext uri="{D42A27DB-BD31-4B8C-83A1-F6EECF244321}">
                    <p14:modId xmlns:p14="http://schemas.microsoft.com/office/powerpoint/2010/main" val="2275699475"/>
                  </p:ext>
                </p:extLst>
              </p:nvPr>
            </p:nvGraphicFramePr>
            <p:xfrm>
              <a:off x="1392013" y="4048703"/>
              <a:ext cx="9019388" cy="2325243"/>
            </p:xfrm>
            <a:graphic>
              <a:graphicData uri="http://schemas.openxmlformats.org/drawingml/2006/table">
                <a:tbl>
                  <a:tblPr firstRow="1" bandRow="1">
                    <a:tableStyleId>{AD6A3598-7CB8-4345-8D95-17CE05F158A0}</a:tableStyleId>
                  </a:tblPr>
                  <a:tblGrid>
                    <a:gridCol w="747870">
                      <a:extLst>
                        <a:ext uri="{9D8B030D-6E8A-4147-A177-3AD203B41FA5}">
                          <a16:colId xmlns:a16="http://schemas.microsoft.com/office/drawing/2014/main" val="1610952478"/>
                        </a:ext>
                      </a:extLst>
                    </a:gridCol>
                    <a:gridCol w="5837440">
                      <a:extLst>
                        <a:ext uri="{9D8B030D-6E8A-4147-A177-3AD203B41FA5}">
                          <a16:colId xmlns:a16="http://schemas.microsoft.com/office/drawing/2014/main" val="2942974496"/>
                        </a:ext>
                      </a:extLst>
                    </a:gridCol>
                    <a:gridCol w="2434078">
                      <a:extLst>
                        <a:ext uri="{9D8B030D-6E8A-4147-A177-3AD203B41FA5}">
                          <a16:colId xmlns:a16="http://schemas.microsoft.com/office/drawing/2014/main" val="4281859008"/>
                        </a:ext>
                      </a:extLst>
                    </a:gridCol>
                  </a:tblGrid>
                  <a:tr h="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Afirmación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rPr>
                            <a:t>Razón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073712"/>
                      </a:ext>
                    </a:extLst>
                  </a:tr>
                  <a:tr h="370840">
                    <a:tc>
                      <a:txBody>
                        <a:bodyPr/>
                        <a:lstStyle/>
                        <a:p>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Cambria Math" panose="02040503050406030204" pitchFamily="18" charset="0"/>
                                  </a:rPr>
                                  <m:t>𝟏</m:t>
                                </m:r>
                              </m:oMath>
                            </m:oMathPara>
                          </a14:m>
                          <a:endParaRPr lang="es-CO" sz="2000" b="1"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14:m>
                            <m:oMathPara xmlns:m="http://schemas.openxmlformats.org/officeDocument/2006/math">
                              <m:oMathParaPr>
                                <m:jc m:val="left"/>
                              </m:oMathParaPr>
                              <m:oMath xmlns:m="http://schemas.openxmlformats.org/officeDocument/2006/math">
                                <m:r>
                                  <a:rPr lang="es-MX" sz="2000" i="1" smtClean="0">
                                    <a:latin typeface="Cambria Math" panose="02040503050406030204" pitchFamily="18" charset="0"/>
                                    <a:ea typeface="Cambria Math" panose="02040503050406030204" pitchFamily="18" charset="0"/>
                                  </a:rPr>
                                  <m:t>∀</m:t>
                                </m:r>
                                <m:r>
                                  <a:rPr lang="es-MX" sz="2000" i="1" smtClean="0">
                                    <a:latin typeface="Cambria Math" panose="02040503050406030204" pitchFamily="18" charset="0"/>
                                    <a:ea typeface="Cambria Math" panose="02040503050406030204" pitchFamily="18" charset="0"/>
                                  </a:rPr>
                                  <m:t>𝑥</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h𝑜𝑚𝑏𝑟𝑒</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𝑥</m:t>
                                        </m:r>
                                      </m:e>
                                    </m:d>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𝑚𝑜𝑟𝑡𝑎𝑙</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𝑥</m:t>
                                        </m:r>
                                      </m:e>
                                    </m:d>
                                  </m:e>
                                </m:d>
                              </m:oMath>
                            </m:oMathPara>
                          </a14:m>
                          <a:endParaRPr lang="es-CO" sz="20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2000" dirty="0">
                              <a:latin typeface="+mn-lt"/>
                              <a:ea typeface="Roboto" panose="02000000000000000000" pitchFamily="2" charset="0"/>
                            </a:rPr>
                            <a:t>Premisa </a:t>
                          </a:r>
                          <a:r>
                            <a:rPr lang="es-CO" sz="2000" b="1" dirty="0">
                              <a:latin typeface="+mn-lt"/>
                              <a:ea typeface="Roboto" panose="02000000000000000000" pitchFamily="2" charset="0"/>
                            </a:rPr>
                            <a:t>a</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43470127"/>
                      </a:ext>
                    </a:extLst>
                  </a:tr>
                  <a:tr h="370840">
                    <a:tc>
                      <a:txBody>
                        <a:bodyPr/>
                        <a:lstStyle/>
                        <a:p>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Cambria Math" panose="02040503050406030204" pitchFamily="18" charset="0"/>
                                  </a:rPr>
                                  <m:t>𝟐</m:t>
                                </m:r>
                              </m:oMath>
                            </m:oMathPara>
                          </a14:m>
                          <a:endParaRPr lang="es-CO" sz="20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14:m>
                            <m:oMathPara xmlns:m="http://schemas.openxmlformats.org/officeDocument/2006/math">
                              <m:oMathParaPr>
                                <m:jc m:val="left"/>
                              </m:oMathParaPr>
                              <m:oMath xmlns:m="http://schemas.openxmlformats.org/officeDocument/2006/math">
                                <m:r>
                                  <a:rPr lang="es-MX" sz="2000" i="1" smtClean="0">
                                    <a:latin typeface="Cambria Math" panose="02040503050406030204" pitchFamily="18" charset="0"/>
                                    <a:ea typeface="Cambria Math" panose="02040503050406030204" pitchFamily="18" charset="0"/>
                                  </a:rPr>
                                  <m:t>h𝑜𝑚𝑏𝑟𝑒</m:t>
                                </m:r>
                                <m:d>
                                  <m:dPr>
                                    <m:ctrlPr>
                                      <a:rPr lang="es-MX" sz="2000" i="1">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𝑆𝑜𝑐𝑟𝑎𝑡𝑒𝑠</m:t>
                                    </m:r>
                                  </m:e>
                                </m:d>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𝑚𝑜𝑟𝑡𝑎𝑙</m:t>
                                </m:r>
                                <m:d>
                                  <m:dPr>
                                    <m:ctrlPr>
                                      <a:rPr lang="es-MX" sz="2000" i="1">
                                        <a:latin typeface="Cambria Math" panose="02040503050406030204" pitchFamily="18" charset="0"/>
                                        <a:ea typeface="Cambria Math" panose="02040503050406030204" pitchFamily="18" charset="0"/>
                                      </a:rPr>
                                    </m:ctrlPr>
                                  </m:dPr>
                                  <m:e>
                                    <m:r>
                                      <m:rPr>
                                        <m:sty m:val="p"/>
                                      </m:rPr>
                                      <a:rPr lang="es-MX" sz="2000" b="0" i="0" smtClean="0">
                                        <a:latin typeface="Cambria Math" panose="02040503050406030204" pitchFamily="18" charset="0"/>
                                        <a:ea typeface="Cambria Math" panose="02040503050406030204" pitchFamily="18" charset="0"/>
                                      </a:rPr>
                                      <m:t>Socrates</m:t>
                                    </m:r>
                                  </m:e>
                                </m:d>
                              </m:oMath>
                            </m:oMathPara>
                          </a14:m>
                          <a:endParaRPr lang="es-CO" sz="20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2000" dirty="0">
                              <a:latin typeface="+mn-lt"/>
                              <a:ea typeface="Roboto" panose="02000000000000000000" pitchFamily="2" charset="0"/>
                            </a:rPr>
                            <a:t>Instanciación universal en </a:t>
                          </a:r>
                          <a:r>
                            <a:rPr lang="es-CO" sz="2000" b="1" dirty="0">
                              <a:latin typeface="+mn-lt"/>
                              <a:ea typeface="Roboto" panose="02000000000000000000" pitchFamily="2" charset="0"/>
                            </a:rPr>
                            <a:t>1</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7809005"/>
                      </a:ext>
                    </a:extLst>
                  </a:tr>
                  <a:tr h="370840">
                    <a:tc>
                      <a:txBody>
                        <a:bodyPr/>
                        <a:lstStyle/>
                        <a:p>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Cambria Math" panose="02040503050406030204" pitchFamily="18" charset="0"/>
                                  </a:rPr>
                                  <m:t>𝟑</m:t>
                                </m:r>
                              </m:oMath>
                            </m:oMathPara>
                          </a14:m>
                          <a:endParaRPr lang="es-CO" sz="20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2000" i="1" smtClean="0">
                                    <a:latin typeface="Cambria Math" panose="02040503050406030204" pitchFamily="18" charset="0"/>
                                    <a:ea typeface="Roboto" panose="02000000000000000000" pitchFamily="2" charset="0"/>
                                  </a:rPr>
                                  <m:t>h𝑜𝑚𝑏𝑟𝑒</m:t>
                                </m:r>
                                <m:d>
                                  <m:dPr>
                                    <m:ctrlPr>
                                      <a:rPr lang="es-MX" sz="2000" i="1">
                                        <a:latin typeface="Cambria Math" panose="02040503050406030204" pitchFamily="18" charset="0"/>
                                        <a:ea typeface="Roboto" panose="02000000000000000000" pitchFamily="2" charset="0"/>
                                      </a:rPr>
                                    </m:ctrlPr>
                                  </m:dPr>
                                  <m:e>
                                    <m:r>
                                      <m:rPr>
                                        <m:sty m:val="p"/>
                                      </m:rPr>
                                      <a:rPr lang="es-MX" sz="2000">
                                        <a:latin typeface="Cambria Math" panose="02040503050406030204" pitchFamily="18" charset="0"/>
                                        <a:ea typeface="Roboto" panose="02000000000000000000" pitchFamily="2" charset="0"/>
                                      </a:rPr>
                                      <m:t>Socrates</m:t>
                                    </m:r>
                                  </m:e>
                                </m:d>
                              </m:oMath>
                            </m:oMathPara>
                          </a14:m>
                          <a:endParaRPr lang="es-CO" sz="20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2000" dirty="0">
                              <a:latin typeface="+mn-lt"/>
                              <a:ea typeface="Roboto" panose="02000000000000000000" pitchFamily="2" charset="0"/>
                            </a:rPr>
                            <a:t>Premisa </a:t>
                          </a:r>
                          <a:r>
                            <a:rPr lang="es-CO" sz="2000" b="1" dirty="0">
                              <a:latin typeface="+mn-lt"/>
                              <a:ea typeface="Roboto" panose="02000000000000000000" pitchFamily="2" charset="0"/>
                            </a:rPr>
                            <a:t>b</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396960"/>
                      </a:ext>
                    </a:extLst>
                  </a:tr>
                  <a:tr h="370840">
                    <a:tc>
                      <a:txBody>
                        <a:bodyPr/>
                        <a:lstStyle/>
                        <a:p>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Cambria Math" panose="02040503050406030204" pitchFamily="18" charset="0"/>
                                  </a:rPr>
                                  <m:t>𝟒</m:t>
                                </m:r>
                              </m:oMath>
                            </m:oMathPara>
                          </a14:m>
                          <a:endParaRPr lang="es-CO" sz="20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14:m>
                            <m:oMathPara xmlns:m="http://schemas.openxmlformats.org/officeDocument/2006/math">
                              <m:oMathParaPr>
                                <m:jc m:val="left"/>
                              </m:oMathParaPr>
                              <m:oMath xmlns:m="http://schemas.openxmlformats.org/officeDocument/2006/math">
                                <m:r>
                                  <a:rPr lang="es-MX" sz="2000" i="1" smtClean="0">
                                    <a:latin typeface="Cambria Math" panose="02040503050406030204" pitchFamily="18" charset="0"/>
                                    <a:ea typeface="Cambria Math" panose="02040503050406030204" pitchFamily="18" charset="0"/>
                                  </a:rPr>
                                  <m:t>𝑚𝑜𝑟𝑡𝑎𝑙</m:t>
                                </m:r>
                                <m:d>
                                  <m:dPr>
                                    <m:ctrlPr>
                                      <a:rPr lang="es-MX" sz="2000" i="1">
                                        <a:latin typeface="Cambria Math" panose="02040503050406030204" pitchFamily="18" charset="0"/>
                                        <a:ea typeface="Cambria Math" panose="02040503050406030204" pitchFamily="18" charset="0"/>
                                      </a:rPr>
                                    </m:ctrlPr>
                                  </m:dPr>
                                  <m:e>
                                    <m:r>
                                      <m:rPr>
                                        <m:sty m:val="p"/>
                                      </m:rPr>
                                      <a:rPr lang="es-MX" sz="2000" b="0" i="0" smtClean="0">
                                        <a:latin typeface="Cambria Math" panose="02040503050406030204" pitchFamily="18" charset="0"/>
                                        <a:ea typeface="Cambria Math" panose="02040503050406030204" pitchFamily="18" charset="0"/>
                                      </a:rPr>
                                      <m:t>Socrates</m:t>
                                    </m:r>
                                  </m:e>
                                </m:d>
                              </m:oMath>
                            </m:oMathPara>
                          </a14:m>
                          <a:endParaRPr lang="es-CO" sz="20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2000" dirty="0">
                              <a:latin typeface="+mn-lt"/>
                              <a:ea typeface="Roboto" panose="02000000000000000000" pitchFamily="2" charset="0"/>
                            </a:rPr>
                            <a:t>Modus ponens </a:t>
                          </a:r>
                          <a:r>
                            <a:rPr lang="es-CO" sz="2000" b="1" dirty="0">
                              <a:latin typeface="+mn-lt"/>
                              <a:ea typeface="Roboto" panose="02000000000000000000" pitchFamily="2" charset="0"/>
                            </a:rPr>
                            <a:t>2 </a:t>
                          </a:r>
                          <a:r>
                            <a:rPr lang="es-CO" sz="2000" b="0" dirty="0">
                              <a:latin typeface="+mn-lt"/>
                              <a:ea typeface="Roboto" panose="02000000000000000000" pitchFamily="2" charset="0"/>
                            </a:rPr>
                            <a:t>y</a:t>
                          </a:r>
                          <a:r>
                            <a:rPr lang="es-CO" sz="2000" b="1" dirty="0">
                              <a:latin typeface="+mn-lt"/>
                              <a:ea typeface="Roboto" panose="02000000000000000000" pitchFamily="2" charset="0"/>
                            </a:rPr>
                            <a:t> 3</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87912512"/>
                      </a:ext>
                    </a:extLst>
                  </a:tr>
                </a:tbl>
              </a:graphicData>
            </a:graphic>
          </p:graphicFrame>
        </mc:Choice>
        <mc:Fallback>
          <p:graphicFrame>
            <p:nvGraphicFramePr>
              <p:cNvPr id="14" name="Tabla 2">
                <a:extLst>
                  <a:ext uri="{FF2B5EF4-FFF2-40B4-BE49-F238E27FC236}">
                    <a16:creationId xmlns:a16="http://schemas.microsoft.com/office/drawing/2014/main" id="{7220BB13-3652-457C-A378-3DF759F1EC07}"/>
                  </a:ext>
                </a:extLst>
              </p:cNvPr>
              <p:cNvGraphicFramePr>
                <a:graphicFrameLocks noGrp="1"/>
              </p:cNvGraphicFramePr>
              <p:nvPr>
                <p:extLst>
                  <p:ext uri="{D42A27DB-BD31-4B8C-83A1-F6EECF244321}">
                    <p14:modId xmlns:p14="http://schemas.microsoft.com/office/powerpoint/2010/main" val="2275699475"/>
                  </p:ext>
                </p:extLst>
              </p:nvPr>
            </p:nvGraphicFramePr>
            <p:xfrm>
              <a:off x="1392013" y="4048703"/>
              <a:ext cx="9019388" cy="2325243"/>
            </p:xfrm>
            <a:graphic>
              <a:graphicData uri="http://schemas.openxmlformats.org/drawingml/2006/table">
                <a:tbl>
                  <a:tblPr firstRow="1" bandRow="1">
                    <a:tableStyleId>{AD6A3598-7CB8-4345-8D95-17CE05F158A0}</a:tableStyleId>
                  </a:tblPr>
                  <a:tblGrid>
                    <a:gridCol w="747870">
                      <a:extLst>
                        <a:ext uri="{9D8B030D-6E8A-4147-A177-3AD203B41FA5}">
                          <a16:colId xmlns:a16="http://schemas.microsoft.com/office/drawing/2014/main" val="1610952478"/>
                        </a:ext>
                      </a:extLst>
                    </a:gridCol>
                    <a:gridCol w="5837440">
                      <a:extLst>
                        <a:ext uri="{9D8B030D-6E8A-4147-A177-3AD203B41FA5}">
                          <a16:colId xmlns:a16="http://schemas.microsoft.com/office/drawing/2014/main" val="2942974496"/>
                        </a:ext>
                      </a:extLst>
                    </a:gridCol>
                    <a:gridCol w="2434078">
                      <a:extLst>
                        <a:ext uri="{9D8B030D-6E8A-4147-A177-3AD203B41FA5}">
                          <a16:colId xmlns:a16="http://schemas.microsoft.com/office/drawing/2014/main" val="4281859008"/>
                        </a:ext>
                      </a:extLst>
                    </a:gridCol>
                  </a:tblGrid>
                  <a:tr h="3962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Afirmación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rPr>
                            <a:t>Razón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073712"/>
                      </a:ext>
                    </a:extLst>
                  </a:tr>
                  <a:tr h="435483">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t="-97222" r="-1104065" b="-365278"/>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l="-12839" t="-97222" r="-41754" b="-365278"/>
                          </a:stretch>
                        </a:blipFill>
                      </a:tcPr>
                    </a:tc>
                    <a:tc>
                      <a:txBody>
                        <a:bodyPr/>
                        <a:lstStyle/>
                        <a:p>
                          <a:r>
                            <a:rPr lang="es-CO" sz="2000" dirty="0">
                              <a:latin typeface="+mn-lt"/>
                              <a:ea typeface="Roboto" panose="02000000000000000000" pitchFamily="2" charset="0"/>
                            </a:rPr>
                            <a:t>Premisa </a:t>
                          </a:r>
                          <a:r>
                            <a:rPr lang="es-CO" sz="2000" b="1" dirty="0">
                              <a:latin typeface="+mn-lt"/>
                              <a:ea typeface="Roboto" panose="02000000000000000000" pitchFamily="2" charset="0"/>
                            </a:rPr>
                            <a:t>a</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43470127"/>
                      </a:ext>
                    </a:extLst>
                  </a:tr>
                  <a:tr h="70104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t="-123478" r="-1104065" b="-128696"/>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l="-12839" t="-123478" r="-41754" b="-128696"/>
                          </a:stretch>
                        </a:blipFill>
                      </a:tcPr>
                    </a:tc>
                    <a:tc>
                      <a:txBody>
                        <a:bodyPr/>
                        <a:lstStyle/>
                        <a:p>
                          <a:r>
                            <a:rPr lang="es-CO" sz="2000" dirty="0">
                              <a:latin typeface="+mn-lt"/>
                              <a:ea typeface="Roboto" panose="02000000000000000000" pitchFamily="2" charset="0"/>
                            </a:rPr>
                            <a:t>Instanciación universal en </a:t>
                          </a:r>
                          <a:r>
                            <a:rPr lang="es-CO" sz="2000" b="1" dirty="0">
                              <a:latin typeface="+mn-lt"/>
                              <a:ea typeface="Roboto" panose="02000000000000000000" pitchFamily="2" charset="0"/>
                            </a:rPr>
                            <a:t>1</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7809005"/>
                      </a:ext>
                    </a:extLst>
                  </a:tr>
                  <a:tr h="39624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t="-395385" r="-1104065" b="-127692"/>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l="-12839" t="-395385" r="-41754" b="-127692"/>
                          </a:stretch>
                        </a:blipFill>
                      </a:tcPr>
                    </a:tc>
                    <a:tc>
                      <a:txBody>
                        <a:bodyPr/>
                        <a:lstStyle/>
                        <a:p>
                          <a:r>
                            <a:rPr lang="es-CO" sz="2000" dirty="0">
                              <a:latin typeface="+mn-lt"/>
                              <a:ea typeface="Roboto" panose="02000000000000000000" pitchFamily="2" charset="0"/>
                            </a:rPr>
                            <a:t>Premisa </a:t>
                          </a:r>
                          <a:r>
                            <a:rPr lang="es-CO" sz="2000" b="1" dirty="0">
                              <a:latin typeface="+mn-lt"/>
                              <a:ea typeface="Roboto" panose="02000000000000000000" pitchFamily="2" charset="0"/>
                            </a:rPr>
                            <a:t>b</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396960"/>
                      </a:ext>
                    </a:extLst>
                  </a:tr>
                  <a:tr h="39624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t="-495385" r="-1104065" b="-27692"/>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l="-12839" t="-495385" r="-41754" b="-27692"/>
                          </a:stretch>
                        </a:blipFill>
                      </a:tcPr>
                    </a:tc>
                    <a:tc>
                      <a:txBody>
                        <a:bodyPr/>
                        <a:lstStyle/>
                        <a:p>
                          <a:r>
                            <a:rPr lang="es-CO" sz="2000" dirty="0">
                              <a:latin typeface="+mn-lt"/>
                              <a:ea typeface="Roboto" panose="02000000000000000000" pitchFamily="2" charset="0"/>
                            </a:rPr>
                            <a:t>Modus ponens </a:t>
                          </a:r>
                          <a:r>
                            <a:rPr lang="es-CO" sz="2000" b="1" dirty="0">
                              <a:latin typeface="+mn-lt"/>
                              <a:ea typeface="Roboto" panose="02000000000000000000" pitchFamily="2" charset="0"/>
                            </a:rPr>
                            <a:t>2 </a:t>
                          </a:r>
                          <a:r>
                            <a:rPr lang="es-CO" sz="2000" b="0" dirty="0">
                              <a:latin typeface="+mn-lt"/>
                              <a:ea typeface="Roboto" panose="02000000000000000000" pitchFamily="2" charset="0"/>
                            </a:rPr>
                            <a:t>y</a:t>
                          </a:r>
                          <a:r>
                            <a:rPr lang="es-CO" sz="2000" b="1" dirty="0">
                              <a:latin typeface="+mn-lt"/>
                              <a:ea typeface="Roboto" panose="02000000000000000000" pitchFamily="2" charset="0"/>
                            </a:rPr>
                            <a:t> 3</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87912512"/>
                      </a:ext>
                    </a:extLst>
                  </a:tr>
                </a:tbl>
              </a:graphicData>
            </a:graphic>
          </p:graphicFrame>
        </mc:Fallback>
      </mc:AlternateContent>
    </p:spTree>
    <p:extLst>
      <p:ext uri="{BB962C8B-B14F-4D97-AF65-F5344CB8AC3E}">
        <p14:creationId xmlns:p14="http://schemas.microsoft.com/office/powerpoint/2010/main" val="7668626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title"/>
          </p:nvPr>
        </p:nvSpPr>
        <p:spPr>
          <a:xfrm>
            <a:off x="466707" y="96038"/>
            <a:ext cx="8753943"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Ejemplo 2</a:t>
            </a:r>
            <a:endParaRPr dirty="0">
              <a:solidFill>
                <a:schemeClr val="tx1"/>
              </a:solidFill>
              <a:latin typeface="+mj-lt"/>
            </a:endParaRPr>
          </a:p>
        </p:txBody>
      </p:sp>
      <p:sp>
        <p:nvSpPr>
          <p:cNvPr id="5" name="CuadroTexto 4">
            <a:extLst>
              <a:ext uri="{FF2B5EF4-FFF2-40B4-BE49-F238E27FC236}">
                <a16:creationId xmlns:a16="http://schemas.microsoft.com/office/drawing/2014/main" id="{D055498E-B21E-4DD3-9366-5DAC438D31FC}"/>
              </a:ext>
            </a:extLst>
          </p:cNvPr>
          <p:cNvSpPr txBox="1"/>
          <p:nvPr/>
        </p:nvSpPr>
        <p:spPr>
          <a:xfrm>
            <a:off x="466707" y="1085957"/>
            <a:ext cx="10947819" cy="1200329"/>
          </a:xfrm>
          <a:prstGeom prst="rect">
            <a:avLst/>
          </a:prstGeom>
          <a:noFill/>
        </p:spPr>
        <p:txBody>
          <a:bodyPr wrap="square" rtlCol="0">
            <a:spAutoFit/>
          </a:bodyPr>
          <a:lstStyle/>
          <a:p>
            <a:r>
              <a:rPr lang="es-MX" sz="2400" dirty="0">
                <a:ea typeface="Roboto" panose="02000000000000000000" pitchFamily="2" charset="0"/>
              </a:rPr>
              <a:t>Demuestre que las premisas “Todos en esta clase de matemáticas discretas han tomado un curso de informática” y “Josefina es una estudiante de esta clase” implican la conclusión “Josefina ha tomado un curso de informática”.</a:t>
            </a:r>
          </a:p>
        </p:txBody>
      </p:sp>
    </p:spTree>
    <p:extLst>
      <p:ext uri="{BB962C8B-B14F-4D97-AF65-F5344CB8AC3E}">
        <p14:creationId xmlns:p14="http://schemas.microsoft.com/office/powerpoint/2010/main" val="5817690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title"/>
          </p:nvPr>
        </p:nvSpPr>
        <p:spPr>
          <a:xfrm>
            <a:off x="457203" y="96038"/>
            <a:ext cx="8763448"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Ejemplo 2</a:t>
            </a:r>
            <a:endParaRPr dirty="0">
              <a:solidFill>
                <a:schemeClr val="tx1"/>
              </a:solidFill>
              <a:latin typeface="+mj-lt"/>
            </a:endParaRPr>
          </a:p>
        </p:txBody>
      </p:sp>
      <mc:AlternateContent xmlns:mc="http://schemas.openxmlformats.org/markup-compatibility/2006">
        <mc:Choice xmlns:a14="http://schemas.microsoft.com/office/drawing/2010/main" Requires="a14">
          <p:graphicFrame>
            <p:nvGraphicFramePr>
              <p:cNvPr id="6" name="Tabla 3">
                <a:extLst>
                  <a:ext uri="{FF2B5EF4-FFF2-40B4-BE49-F238E27FC236}">
                    <a16:creationId xmlns:a16="http://schemas.microsoft.com/office/drawing/2014/main" id="{B268220F-8A60-4908-981E-8C2BA0B3EB23}"/>
                  </a:ext>
                </a:extLst>
              </p:cNvPr>
              <p:cNvGraphicFramePr>
                <a:graphicFrameLocks noGrp="1"/>
              </p:cNvGraphicFramePr>
              <p:nvPr>
                <p:extLst>
                  <p:ext uri="{D42A27DB-BD31-4B8C-83A1-F6EECF244321}">
                    <p14:modId xmlns:p14="http://schemas.microsoft.com/office/powerpoint/2010/main" val="764541551"/>
                  </p:ext>
                </p:extLst>
              </p:nvPr>
            </p:nvGraphicFramePr>
            <p:xfrm>
              <a:off x="5729892" y="1625838"/>
              <a:ext cx="6190039" cy="2072640"/>
            </p:xfrm>
            <a:graphic>
              <a:graphicData uri="http://schemas.openxmlformats.org/drawingml/2006/table">
                <a:tbl>
                  <a:tblPr firstRow="1" bandRow="1">
                    <a:tableStyleId>{AD6A3598-7CB8-4345-8D95-17CE05F158A0}</a:tableStyleId>
                  </a:tblPr>
                  <a:tblGrid>
                    <a:gridCol w="308091">
                      <a:extLst>
                        <a:ext uri="{9D8B030D-6E8A-4147-A177-3AD203B41FA5}">
                          <a16:colId xmlns:a16="http://schemas.microsoft.com/office/drawing/2014/main" val="2057099001"/>
                        </a:ext>
                      </a:extLst>
                    </a:gridCol>
                    <a:gridCol w="4079411">
                      <a:extLst>
                        <a:ext uri="{9D8B030D-6E8A-4147-A177-3AD203B41FA5}">
                          <a16:colId xmlns:a16="http://schemas.microsoft.com/office/drawing/2014/main" val="2721384015"/>
                        </a:ext>
                      </a:extLst>
                    </a:gridCol>
                    <a:gridCol w="1802537">
                      <a:extLst>
                        <a:ext uri="{9D8B030D-6E8A-4147-A177-3AD203B41FA5}">
                          <a16:colId xmlns:a16="http://schemas.microsoft.com/office/drawing/2014/main" val="3804441368"/>
                        </a:ext>
                      </a:extLst>
                    </a:gridCol>
                  </a:tblGrid>
                  <a:tr h="171085">
                    <a:tc>
                      <a:txBody>
                        <a:bodyPr/>
                        <a:lstStyle/>
                        <a:p>
                          <a:pPr algn="ctr"/>
                          <a:r>
                            <a:rPr lang="es-CO" sz="1600" b="1" dirty="0">
                              <a:latin typeface="+mn-lt"/>
                              <a:ea typeface="Roboto" panose="02000000000000000000" pitchFamily="2"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s-CO" sz="1600" b="1" dirty="0">
                              <a:latin typeface="+mn-lt"/>
                              <a:ea typeface="Roboto" panose="02000000000000000000" pitchFamily="2" charset="0"/>
                            </a:rPr>
                            <a:t>Enunciado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s-CO" sz="1600" b="1" dirty="0">
                              <a:latin typeface="+mn-lt"/>
                              <a:ea typeface="Roboto" panose="02000000000000000000" pitchFamily="2" charset="0"/>
                            </a:rPr>
                            <a:t>Representación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910282906"/>
                      </a:ext>
                    </a:extLst>
                  </a:tr>
                  <a:tr h="27655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600" dirty="0">
                              <a:latin typeface="+mn-lt"/>
                              <a:ea typeface="Roboto" panose="02000000000000000000" pitchFamily="2"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600" b="1" dirty="0">
                              <a:latin typeface="+mn-lt"/>
                              <a:ea typeface="Roboto" panose="02000000000000000000" pitchFamily="2" charset="0"/>
                            </a:rPr>
                            <a:t>Premisa1</a:t>
                          </a:r>
                          <a:r>
                            <a:rPr lang="es-MX" sz="1600" dirty="0">
                              <a:latin typeface="+mn-lt"/>
                              <a:ea typeface="Roboto" panose="02000000000000000000" pitchFamily="2" charset="0"/>
                            </a:rPr>
                            <a:t>: Todos en esta clase de matemáticas discretas han tomado un curso de informática</a:t>
                          </a:r>
                          <a:endParaRPr lang="es-CO" sz="1600" dirty="0">
                            <a:latin typeface="+mn-lt"/>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𝑥</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𝐷</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𝑥</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𝐼</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𝑥</m:t>
                                        </m:r>
                                      </m:e>
                                    </m:d>
                                  </m:e>
                                </m:d>
                              </m:oMath>
                            </m:oMathPara>
                          </a14:m>
                          <a:endParaRPr lang="es-MX" sz="1600" dirty="0">
                            <a:latin typeface="+mn-lt"/>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12829917"/>
                      </a:ext>
                    </a:extLst>
                  </a:tr>
                  <a:tr h="27655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MX" sz="1600" dirty="0">
                              <a:latin typeface="+mn-lt"/>
                              <a:ea typeface="Roboto" panose="02000000000000000000" pitchFamily="2"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600" b="1" dirty="0">
                              <a:latin typeface="+mn-lt"/>
                            </a:rPr>
                            <a:t>Premisa 2</a:t>
                          </a:r>
                          <a:r>
                            <a:rPr lang="es-CO" sz="1600" dirty="0">
                              <a:latin typeface="+mn-lt"/>
                            </a:rPr>
                            <a:t>: Josefina es una estudiante de esta clase</a:t>
                          </a:r>
                          <a:endParaRPr lang="es-MX" sz="1600" dirty="0">
                            <a:latin typeface="+mn-lt"/>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Roboto" panose="02000000000000000000" pitchFamily="2" charset="0"/>
                                  </a:rPr>
                                  <m:t>𝐷</m:t>
                                </m:r>
                                <m:d>
                                  <m:dPr>
                                    <m:ctrlPr>
                                      <a:rPr lang="es-MX" sz="1600" b="0" i="1" smtClean="0">
                                        <a:latin typeface="Cambria Math" panose="02040503050406030204" pitchFamily="18" charset="0"/>
                                        <a:ea typeface="Roboto" panose="02000000000000000000" pitchFamily="2" charset="0"/>
                                      </a:rPr>
                                    </m:ctrlPr>
                                  </m:dPr>
                                  <m:e>
                                    <m:r>
                                      <m:rPr>
                                        <m:sty m:val="p"/>
                                      </m:rPr>
                                      <a:rPr lang="es-MX" sz="1600" b="0" i="0" smtClean="0">
                                        <a:latin typeface="Cambria Math" panose="02040503050406030204" pitchFamily="18" charset="0"/>
                                        <a:ea typeface="Roboto" panose="02000000000000000000" pitchFamily="2" charset="0"/>
                                      </a:rPr>
                                      <m:t>Josefina</m:t>
                                    </m:r>
                                  </m:e>
                                </m:d>
                              </m:oMath>
                            </m:oMathPara>
                          </a14:m>
                          <a:endParaRPr lang="es-MX" sz="1600" dirty="0">
                            <a:latin typeface="+mn-lt"/>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5296453"/>
                      </a:ext>
                    </a:extLst>
                  </a:tr>
                  <a:tr h="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MX" sz="1600" dirty="0">
                              <a:latin typeface="+mn-lt"/>
                              <a:ea typeface="Roboto" panose="02000000000000000000" pitchFamily="2"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600" b="1" dirty="0">
                              <a:latin typeface="+mn-lt"/>
                              <a:ea typeface="Roboto" panose="02000000000000000000" pitchFamily="2" charset="0"/>
                            </a:rPr>
                            <a:t>Conclusión</a:t>
                          </a:r>
                          <a:r>
                            <a:rPr lang="es-MX" sz="1600" dirty="0">
                              <a:latin typeface="+mn-lt"/>
                              <a:ea typeface="Roboto" panose="02000000000000000000" pitchFamily="2" charset="0"/>
                            </a:rPr>
                            <a:t>: Josefina ha tomado un curso de informática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Roboto" panose="02000000000000000000" pitchFamily="2" charset="0"/>
                                  </a:rPr>
                                  <m:t>𝐼</m:t>
                                </m:r>
                                <m:d>
                                  <m:dPr>
                                    <m:ctrlPr>
                                      <a:rPr lang="es-MX" sz="1600" b="0" i="1" smtClean="0">
                                        <a:latin typeface="Cambria Math" panose="02040503050406030204" pitchFamily="18" charset="0"/>
                                        <a:ea typeface="Roboto" panose="02000000000000000000" pitchFamily="2" charset="0"/>
                                      </a:rPr>
                                    </m:ctrlPr>
                                  </m:dPr>
                                  <m:e>
                                    <m:r>
                                      <m:rPr>
                                        <m:sty m:val="p"/>
                                      </m:rPr>
                                      <a:rPr lang="es-MX" sz="1600" b="0" i="0" smtClean="0">
                                        <a:latin typeface="Cambria Math" panose="02040503050406030204" pitchFamily="18" charset="0"/>
                                        <a:ea typeface="Roboto" panose="02000000000000000000" pitchFamily="2" charset="0"/>
                                      </a:rPr>
                                      <m:t>Josefina</m:t>
                                    </m:r>
                                  </m:e>
                                </m:d>
                              </m:oMath>
                            </m:oMathPara>
                          </a14:m>
                          <a:endParaRPr lang="es-MX" sz="1600" dirty="0">
                            <a:latin typeface="+mn-lt"/>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9990816"/>
                      </a:ext>
                    </a:extLst>
                  </a:tr>
                </a:tbl>
              </a:graphicData>
            </a:graphic>
          </p:graphicFrame>
        </mc:Choice>
        <mc:Fallback>
          <p:graphicFrame>
            <p:nvGraphicFramePr>
              <p:cNvPr id="6" name="Tabla 3">
                <a:extLst>
                  <a:ext uri="{FF2B5EF4-FFF2-40B4-BE49-F238E27FC236}">
                    <a16:creationId xmlns:a16="http://schemas.microsoft.com/office/drawing/2014/main" id="{B268220F-8A60-4908-981E-8C2BA0B3EB23}"/>
                  </a:ext>
                </a:extLst>
              </p:cNvPr>
              <p:cNvGraphicFramePr>
                <a:graphicFrameLocks noGrp="1"/>
              </p:cNvGraphicFramePr>
              <p:nvPr>
                <p:extLst>
                  <p:ext uri="{D42A27DB-BD31-4B8C-83A1-F6EECF244321}">
                    <p14:modId xmlns:p14="http://schemas.microsoft.com/office/powerpoint/2010/main" val="764541551"/>
                  </p:ext>
                </p:extLst>
              </p:nvPr>
            </p:nvGraphicFramePr>
            <p:xfrm>
              <a:off x="5729892" y="1625838"/>
              <a:ext cx="6190039" cy="2072640"/>
            </p:xfrm>
            <a:graphic>
              <a:graphicData uri="http://schemas.openxmlformats.org/drawingml/2006/table">
                <a:tbl>
                  <a:tblPr firstRow="1" bandRow="1">
                    <a:tableStyleId>{AD6A3598-7CB8-4345-8D95-17CE05F158A0}</a:tableStyleId>
                  </a:tblPr>
                  <a:tblGrid>
                    <a:gridCol w="308091">
                      <a:extLst>
                        <a:ext uri="{9D8B030D-6E8A-4147-A177-3AD203B41FA5}">
                          <a16:colId xmlns:a16="http://schemas.microsoft.com/office/drawing/2014/main" val="2057099001"/>
                        </a:ext>
                      </a:extLst>
                    </a:gridCol>
                    <a:gridCol w="4079411">
                      <a:extLst>
                        <a:ext uri="{9D8B030D-6E8A-4147-A177-3AD203B41FA5}">
                          <a16:colId xmlns:a16="http://schemas.microsoft.com/office/drawing/2014/main" val="2721384015"/>
                        </a:ext>
                      </a:extLst>
                    </a:gridCol>
                    <a:gridCol w="1802537">
                      <a:extLst>
                        <a:ext uri="{9D8B030D-6E8A-4147-A177-3AD203B41FA5}">
                          <a16:colId xmlns:a16="http://schemas.microsoft.com/office/drawing/2014/main" val="3804441368"/>
                        </a:ext>
                      </a:extLst>
                    </a:gridCol>
                  </a:tblGrid>
                  <a:tr h="335280">
                    <a:tc>
                      <a:txBody>
                        <a:bodyPr/>
                        <a:lstStyle/>
                        <a:p>
                          <a:pPr algn="ctr"/>
                          <a:r>
                            <a:rPr lang="es-CO" sz="1600" b="1" dirty="0">
                              <a:latin typeface="+mn-lt"/>
                              <a:ea typeface="Roboto" panose="02000000000000000000" pitchFamily="2"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s-CO" sz="1600" b="1" dirty="0">
                              <a:latin typeface="+mn-lt"/>
                              <a:ea typeface="Roboto" panose="02000000000000000000" pitchFamily="2" charset="0"/>
                            </a:rPr>
                            <a:t>Enunciado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s-CO" sz="1600" b="1" dirty="0">
                              <a:latin typeface="+mn-lt"/>
                              <a:ea typeface="Roboto" panose="02000000000000000000" pitchFamily="2" charset="0"/>
                            </a:rPr>
                            <a:t>Representación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910282906"/>
                      </a:ext>
                    </a:extLst>
                  </a:tr>
                  <a:tr h="57912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600" dirty="0">
                              <a:latin typeface="+mn-lt"/>
                              <a:ea typeface="Roboto" panose="02000000000000000000" pitchFamily="2"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600" b="1" dirty="0">
                              <a:latin typeface="+mn-lt"/>
                              <a:ea typeface="Roboto" panose="02000000000000000000" pitchFamily="2" charset="0"/>
                            </a:rPr>
                            <a:t>Premisa1</a:t>
                          </a:r>
                          <a:r>
                            <a:rPr lang="es-MX" sz="1600" dirty="0">
                              <a:latin typeface="+mn-lt"/>
                              <a:ea typeface="Roboto" panose="02000000000000000000" pitchFamily="2" charset="0"/>
                            </a:rPr>
                            <a:t>: Todos en esta clase de matemáticas discretas han tomado un curso de informática</a:t>
                          </a:r>
                          <a:endParaRPr lang="es-CO" sz="1600" dirty="0">
                            <a:latin typeface="+mn-lt"/>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43919" t="-60000" r="-676" b="-214737"/>
                          </a:stretch>
                        </a:blipFill>
                      </a:tcPr>
                    </a:tc>
                    <a:extLst>
                      <a:ext uri="{0D108BD9-81ED-4DB2-BD59-A6C34878D82A}">
                        <a16:rowId xmlns:a16="http://schemas.microsoft.com/office/drawing/2014/main" val="3412829917"/>
                      </a:ext>
                    </a:extLst>
                  </a:tr>
                  <a:tr h="57912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MX" sz="1600" dirty="0">
                              <a:latin typeface="+mn-lt"/>
                              <a:ea typeface="Roboto" panose="02000000000000000000" pitchFamily="2"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600" b="1" dirty="0">
                              <a:latin typeface="+mn-lt"/>
                            </a:rPr>
                            <a:t>Premisa 2</a:t>
                          </a:r>
                          <a:r>
                            <a:rPr lang="es-CO" sz="1600" dirty="0">
                              <a:latin typeface="+mn-lt"/>
                            </a:rPr>
                            <a:t>: Josefina es una estudiante de esta clase</a:t>
                          </a:r>
                          <a:endParaRPr lang="es-MX" sz="1600" dirty="0">
                            <a:latin typeface="+mn-lt"/>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43919" t="-158333" r="-676" b="-112500"/>
                          </a:stretch>
                        </a:blipFill>
                      </a:tcPr>
                    </a:tc>
                    <a:extLst>
                      <a:ext uri="{0D108BD9-81ED-4DB2-BD59-A6C34878D82A}">
                        <a16:rowId xmlns:a16="http://schemas.microsoft.com/office/drawing/2014/main" val="1575296453"/>
                      </a:ext>
                    </a:extLst>
                  </a:tr>
                  <a:tr h="57912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MX" sz="1600" dirty="0">
                              <a:latin typeface="+mn-lt"/>
                              <a:ea typeface="Roboto" panose="02000000000000000000" pitchFamily="2"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600" b="1" dirty="0">
                              <a:latin typeface="+mn-lt"/>
                              <a:ea typeface="Roboto" panose="02000000000000000000" pitchFamily="2" charset="0"/>
                            </a:rPr>
                            <a:t>Conclusión</a:t>
                          </a:r>
                          <a:r>
                            <a:rPr lang="es-MX" sz="1600" dirty="0">
                              <a:latin typeface="+mn-lt"/>
                              <a:ea typeface="Roboto" panose="02000000000000000000" pitchFamily="2" charset="0"/>
                            </a:rPr>
                            <a:t>: Josefina ha tomado un curso de informática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243919" t="-261053" r="-676" b="-13684"/>
                          </a:stretch>
                        </a:blipFill>
                      </a:tcPr>
                    </a:tc>
                    <a:extLst>
                      <a:ext uri="{0D108BD9-81ED-4DB2-BD59-A6C34878D82A}">
                        <a16:rowId xmlns:a16="http://schemas.microsoft.com/office/drawing/2014/main" val="3379990816"/>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7" name="Tabla 2">
                <a:extLst>
                  <a:ext uri="{FF2B5EF4-FFF2-40B4-BE49-F238E27FC236}">
                    <a16:creationId xmlns:a16="http://schemas.microsoft.com/office/drawing/2014/main" id="{48F87D2B-4563-4CD2-AC3D-E9D326A69BAA}"/>
                  </a:ext>
                </a:extLst>
              </p:cNvPr>
              <p:cNvGraphicFramePr>
                <a:graphicFrameLocks noGrp="1"/>
              </p:cNvGraphicFramePr>
              <p:nvPr>
                <p:extLst>
                  <p:ext uri="{D42A27DB-BD31-4B8C-83A1-F6EECF244321}">
                    <p14:modId xmlns:p14="http://schemas.microsoft.com/office/powerpoint/2010/main" val="2288598234"/>
                  </p:ext>
                </p:extLst>
              </p:nvPr>
            </p:nvGraphicFramePr>
            <p:xfrm>
              <a:off x="5715141" y="207459"/>
              <a:ext cx="6190039" cy="1249680"/>
            </p:xfrm>
            <a:graphic>
              <a:graphicData uri="http://schemas.openxmlformats.org/drawingml/2006/table">
                <a:tbl>
                  <a:tblPr firstRow="1" bandRow="1">
                    <a:tableStyleId>{AD6A3598-7CB8-4345-8D95-17CE05F158A0}</a:tableStyleId>
                  </a:tblPr>
                  <a:tblGrid>
                    <a:gridCol w="1470460">
                      <a:extLst>
                        <a:ext uri="{9D8B030D-6E8A-4147-A177-3AD203B41FA5}">
                          <a16:colId xmlns:a16="http://schemas.microsoft.com/office/drawing/2014/main" val="55665907"/>
                        </a:ext>
                      </a:extLst>
                    </a:gridCol>
                    <a:gridCol w="4719579">
                      <a:extLst>
                        <a:ext uri="{9D8B030D-6E8A-4147-A177-3AD203B41FA5}">
                          <a16:colId xmlns:a16="http://schemas.microsoft.com/office/drawing/2014/main" val="2393994677"/>
                        </a:ext>
                      </a:extLst>
                    </a:gridCol>
                  </a:tblGrid>
                  <a:tr h="0">
                    <a:tc>
                      <a:txBody>
                        <a:bodyPr/>
                        <a:lstStyle/>
                        <a:p>
                          <a:r>
                            <a:rPr lang="es-CO" sz="1600" b="1" dirty="0">
                              <a:latin typeface="+mn-lt"/>
                              <a:ea typeface="Roboto" panose="02000000000000000000" pitchFamily="2" charset="0"/>
                            </a:rPr>
                            <a:t>Dominio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600" b="0" i="1" dirty="0" smtClean="0">
                                    <a:latin typeface="Cambria Math" panose="02040503050406030204" pitchFamily="18" charset="0"/>
                                    <a:ea typeface="Roboto" panose="02000000000000000000" pitchFamily="2" charset="0"/>
                                  </a:rPr>
                                  <m:t>𝑈</m:t>
                                </m:r>
                                <m:r>
                                  <a:rPr lang="es-MX" sz="1600" b="0" i="1" dirty="0" smtClean="0">
                                    <a:latin typeface="Cambria Math" panose="02040503050406030204" pitchFamily="18" charset="0"/>
                                    <a:ea typeface="Roboto" panose="02000000000000000000" pitchFamily="2" charset="0"/>
                                  </a:rPr>
                                  <m:t>:</m:t>
                                </m:r>
                                <m:r>
                                  <m:rPr>
                                    <m:sty m:val="p"/>
                                  </m:rPr>
                                  <a:rPr lang="es-MX" sz="1600" b="0" i="0" dirty="0" smtClean="0">
                                    <a:latin typeface="Cambria Math" panose="02040503050406030204" pitchFamily="18" charset="0"/>
                                    <a:ea typeface="Roboto" panose="02000000000000000000" pitchFamily="2" charset="0"/>
                                  </a:rPr>
                                  <m:t>Todos</m:t>
                                </m:r>
                                <m:r>
                                  <a:rPr lang="es-MX" sz="1600" b="0" i="0" dirty="0" smtClean="0">
                                    <a:latin typeface="Cambria Math" panose="02040503050406030204" pitchFamily="18" charset="0"/>
                                    <a:ea typeface="Roboto" panose="02000000000000000000" pitchFamily="2" charset="0"/>
                                  </a:rPr>
                                  <m:t> </m:t>
                                </m:r>
                                <m:r>
                                  <m:rPr>
                                    <m:sty m:val="p"/>
                                  </m:rPr>
                                  <a:rPr lang="es-MX" sz="1600" b="0" i="0" dirty="0" smtClean="0">
                                    <a:latin typeface="Cambria Math" panose="02040503050406030204" pitchFamily="18" charset="0"/>
                                    <a:ea typeface="Roboto" panose="02000000000000000000" pitchFamily="2" charset="0"/>
                                  </a:rPr>
                                  <m:t>los</m:t>
                                </m:r>
                                <m:r>
                                  <a:rPr lang="es-MX" sz="1600" b="0" i="0" dirty="0" smtClean="0">
                                    <a:latin typeface="Cambria Math" panose="02040503050406030204" pitchFamily="18" charset="0"/>
                                    <a:ea typeface="Roboto" panose="02000000000000000000" pitchFamily="2" charset="0"/>
                                  </a:rPr>
                                  <m:t> </m:t>
                                </m:r>
                                <m:r>
                                  <m:rPr>
                                    <m:sty m:val="p"/>
                                  </m:rPr>
                                  <a:rPr lang="es-MX" sz="1600" b="0" i="0" dirty="0" smtClean="0">
                                    <a:latin typeface="Cambria Math" panose="02040503050406030204" pitchFamily="18" charset="0"/>
                                    <a:ea typeface="Roboto" panose="02000000000000000000" pitchFamily="2" charset="0"/>
                                  </a:rPr>
                                  <m:t>estudiantes</m:t>
                                </m:r>
                              </m:oMath>
                            </m:oMathPara>
                          </a14:m>
                          <a:endParaRPr lang="es-CO" sz="1600" b="0" i="0" dirty="0">
                            <a:latin typeface="Roboto" panose="02000000000000000000" pitchFamily="2"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54054099"/>
                      </a:ext>
                    </a:extLst>
                  </a:tr>
                  <a:tr h="0">
                    <a:tc>
                      <a:txBody>
                        <a:bodyPr/>
                        <a:lstStyle/>
                        <a:p>
                          <a:r>
                            <a:rPr lang="es-CO" sz="1600" b="1" dirty="0">
                              <a:latin typeface="+mn-lt"/>
                              <a:ea typeface="Roboto" panose="02000000000000000000" pitchFamily="2" charset="0"/>
                            </a:rPr>
                            <a:t>Variables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rPr>
                                  <m:t>𝑥</m:t>
                                </m:r>
                              </m:oMath>
                            </m:oMathPara>
                          </a14:m>
                          <a:endParaRPr lang="es-CO" sz="1600" dirty="0">
                            <a:latin typeface="Roboto" panose="02000000000000000000" pitchFamily="2"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0970474"/>
                      </a:ext>
                    </a:extLst>
                  </a:tr>
                  <a:tr h="201398">
                    <a:tc>
                      <a:txBody>
                        <a:bodyPr/>
                        <a:lstStyle/>
                        <a:p>
                          <a:r>
                            <a:rPr lang="es-CO" sz="1600" b="1" dirty="0">
                              <a:latin typeface="+mn-lt"/>
                              <a:ea typeface="Roboto" panose="02000000000000000000" pitchFamily="2" charset="0"/>
                            </a:rPr>
                            <a:t>Predicados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14:m>
                            <m:oMath xmlns:m="http://schemas.openxmlformats.org/officeDocument/2006/math">
                              <m:r>
                                <a:rPr lang="es-MX" sz="1600" b="0" i="1" smtClean="0">
                                  <a:latin typeface="Cambria Math" panose="02040503050406030204" pitchFamily="18" charset="0"/>
                                  <a:ea typeface="Cambria Math" panose="02040503050406030204" pitchFamily="18" charset="0"/>
                                </a:rPr>
                                <m:t>𝐷</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𝑥</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𝑥</m:t>
                              </m:r>
                              <m:r>
                                <a:rPr lang="es-MX" sz="1600" b="0" i="1" smtClean="0">
                                  <a:latin typeface="Cambria Math" panose="02040503050406030204" pitchFamily="18" charset="0"/>
                                  <a:ea typeface="Cambria Math" panose="02040503050406030204" pitchFamily="18" charset="0"/>
                                </a:rPr>
                                <m:t> </m:t>
                              </m:r>
                              <m:r>
                                <m:rPr>
                                  <m:sty m:val="p"/>
                                </m:rPr>
                                <a:rPr lang="es-MX" sz="1600" b="0" i="0" smtClean="0">
                                  <a:latin typeface="Cambria Math" panose="02040503050406030204" pitchFamily="18" charset="0"/>
                                  <a:ea typeface="Cambria Math" panose="02040503050406030204" pitchFamily="18" charset="0"/>
                                </a:rPr>
                                <m:t>esta</m:t>
                              </m:r>
                              <m:r>
                                <a:rPr lang="es-MX" sz="1600" b="0" i="0" smtClean="0">
                                  <a:latin typeface="Cambria Math" panose="02040503050406030204" pitchFamily="18" charset="0"/>
                                  <a:ea typeface="Cambria Math" panose="02040503050406030204" pitchFamily="18" charset="0"/>
                                </a:rPr>
                                <m:t> </m:t>
                              </m:r>
                              <m:r>
                                <m:rPr>
                                  <m:sty m:val="p"/>
                                </m:rPr>
                                <a:rPr lang="es-MX" sz="1600" b="0" i="0" smtClean="0">
                                  <a:latin typeface="Cambria Math" panose="02040503050406030204" pitchFamily="18" charset="0"/>
                                  <a:ea typeface="Cambria Math" panose="02040503050406030204" pitchFamily="18" charset="0"/>
                                </a:rPr>
                                <m:t>en</m:t>
                              </m:r>
                              <m:r>
                                <a:rPr lang="es-MX" sz="1600" b="0" i="0" smtClean="0">
                                  <a:latin typeface="Cambria Math" panose="02040503050406030204" pitchFamily="18" charset="0"/>
                                  <a:ea typeface="Cambria Math" panose="02040503050406030204" pitchFamily="18" charset="0"/>
                                </a:rPr>
                                <m:t> </m:t>
                              </m:r>
                              <m:r>
                                <m:rPr>
                                  <m:sty m:val="p"/>
                                </m:rPr>
                                <a:rPr lang="es-MX" sz="1600" b="0" i="0" smtClean="0">
                                  <a:latin typeface="Cambria Math" panose="02040503050406030204" pitchFamily="18" charset="0"/>
                                  <a:ea typeface="Cambria Math" panose="02040503050406030204" pitchFamily="18" charset="0"/>
                                </a:rPr>
                                <m:t>Matematicas</m:t>
                              </m:r>
                              <m:r>
                                <a:rPr lang="es-MX" sz="1600" b="0" i="0" smtClean="0">
                                  <a:latin typeface="Cambria Math" panose="02040503050406030204" pitchFamily="18" charset="0"/>
                                  <a:ea typeface="Cambria Math" panose="02040503050406030204" pitchFamily="18" charset="0"/>
                                </a:rPr>
                                <m:t> </m:t>
                              </m:r>
                              <m:r>
                                <m:rPr>
                                  <m:sty m:val="p"/>
                                </m:rPr>
                                <a:rPr lang="es-MX" sz="1600" b="0" i="0" smtClean="0">
                                  <a:latin typeface="Cambria Math" panose="02040503050406030204" pitchFamily="18" charset="0"/>
                                  <a:ea typeface="Cambria Math" panose="02040503050406030204" pitchFamily="18" charset="0"/>
                                </a:rPr>
                                <m:t>discretas</m:t>
                              </m:r>
                            </m:oMath>
                          </a14:m>
                          <a:endParaRPr lang="es-MX" sz="1600" b="0" i="1" dirty="0">
                            <a:latin typeface="Cambria Math" panose="02040503050406030204" pitchFamily="18" charset="0"/>
                            <a:ea typeface="Cambria Math" panose="02040503050406030204" pitchFamily="18" charset="0"/>
                          </a:endParaRP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14:m>
                            <m:oMath xmlns:m="http://schemas.openxmlformats.org/officeDocument/2006/math">
                              <m:r>
                                <a:rPr lang="es-MX" sz="1600" b="0" i="1" smtClean="0">
                                  <a:solidFill>
                                    <a:schemeClr val="tx1"/>
                                  </a:solidFill>
                                  <a:latin typeface="Cambria Math" panose="02040503050406030204" pitchFamily="18" charset="0"/>
                                  <a:ea typeface="Cambria Math" panose="02040503050406030204" pitchFamily="18" charset="0"/>
                                </a:rPr>
                                <m:t>𝐼</m:t>
                              </m:r>
                              <m:d>
                                <m:dPr>
                                  <m:ctrlPr>
                                    <a:rPr lang="es-MX" sz="1600" b="0" i="1" smtClean="0">
                                      <a:solidFill>
                                        <a:schemeClr val="tx1"/>
                                      </a:solidFill>
                                      <a:latin typeface="Cambria Math" panose="02040503050406030204" pitchFamily="18" charset="0"/>
                                      <a:ea typeface="Cambria Math" panose="02040503050406030204" pitchFamily="18" charset="0"/>
                                    </a:rPr>
                                  </m:ctrlPr>
                                </m:dPr>
                                <m:e>
                                  <m:r>
                                    <a:rPr lang="es-MX" sz="1600" b="0" i="1" smtClean="0">
                                      <a:solidFill>
                                        <a:schemeClr val="tx1"/>
                                      </a:solidFill>
                                      <a:latin typeface="Cambria Math" panose="02040503050406030204" pitchFamily="18" charset="0"/>
                                      <a:ea typeface="Cambria Math" panose="02040503050406030204" pitchFamily="18" charset="0"/>
                                    </a:rPr>
                                    <m:t>𝑥</m:t>
                                  </m:r>
                                </m:e>
                              </m:d>
                              <m:r>
                                <a:rPr lang="es-MX" sz="1600" b="0" i="1" smtClean="0">
                                  <a:solidFill>
                                    <a:schemeClr val="tx1"/>
                                  </a:solidFill>
                                  <a:latin typeface="Cambria Math" panose="02040503050406030204" pitchFamily="18" charset="0"/>
                                  <a:ea typeface="Cambria Math" panose="02040503050406030204" pitchFamily="18" charset="0"/>
                                </a:rPr>
                                <m:t>: </m:t>
                              </m:r>
                              <m:r>
                                <a:rPr lang="es-MX" sz="1600" b="0" i="1" smtClean="0">
                                  <a:solidFill>
                                    <a:schemeClr val="tx1"/>
                                  </a:solidFill>
                                  <a:latin typeface="Cambria Math" panose="02040503050406030204" pitchFamily="18" charset="0"/>
                                  <a:ea typeface="Cambria Math" panose="02040503050406030204" pitchFamily="18" charset="0"/>
                                </a:rPr>
                                <m:t>𝑥</m:t>
                              </m:r>
                              <m:r>
                                <a:rPr lang="es-MX" sz="1600" b="0" i="1" smtClean="0">
                                  <a:solidFill>
                                    <a:schemeClr val="tx1"/>
                                  </a:solidFill>
                                  <a:latin typeface="Cambria Math" panose="02040503050406030204" pitchFamily="18" charset="0"/>
                                  <a:ea typeface="Cambria Math" panose="02040503050406030204" pitchFamily="18" charset="0"/>
                                </a:rPr>
                                <m:t> </m:t>
                              </m:r>
                              <m:r>
                                <m:rPr>
                                  <m:sty m:val="p"/>
                                </m:rPr>
                                <a:rPr lang="es-MX" sz="1600" b="0" i="0" smtClean="0">
                                  <a:solidFill>
                                    <a:schemeClr val="tx1"/>
                                  </a:solidFill>
                                  <a:latin typeface="Cambria Math" panose="02040503050406030204" pitchFamily="18" charset="0"/>
                                  <a:ea typeface="Cambria Math" panose="02040503050406030204" pitchFamily="18" charset="0"/>
                                </a:rPr>
                                <m:t>ha</m:t>
                              </m:r>
                              <m:r>
                                <a:rPr lang="es-MX" sz="1600" b="0" i="0" smtClean="0">
                                  <a:solidFill>
                                    <a:schemeClr val="tx1"/>
                                  </a:solidFill>
                                  <a:latin typeface="Cambria Math" panose="02040503050406030204" pitchFamily="18" charset="0"/>
                                  <a:ea typeface="Cambria Math" panose="02040503050406030204" pitchFamily="18" charset="0"/>
                                </a:rPr>
                                <m:t> </m:t>
                              </m:r>
                              <m:r>
                                <m:rPr>
                                  <m:sty m:val="p"/>
                                </m:rPr>
                                <a:rPr lang="es-MX" sz="1600" b="0" i="0" smtClean="0">
                                  <a:solidFill>
                                    <a:schemeClr val="tx1"/>
                                  </a:solidFill>
                                  <a:latin typeface="Cambria Math" panose="02040503050406030204" pitchFamily="18" charset="0"/>
                                  <a:ea typeface="Cambria Math" panose="02040503050406030204" pitchFamily="18" charset="0"/>
                                </a:rPr>
                                <m:t>tomado</m:t>
                              </m:r>
                              <m:r>
                                <a:rPr lang="es-MX" sz="1600" b="0" i="0" smtClean="0">
                                  <a:solidFill>
                                    <a:schemeClr val="tx1"/>
                                  </a:solidFill>
                                  <a:latin typeface="Cambria Math" panose="02040503050406030204" pitchFamily="18" charset="0"/>
                                  <a:ea typeface="Cambria Math" panose="02040503050406030204" pitchFamily="18" charset="0"/>
                                </a:rPr>
                                <m:t> </m:t>
                              </m:r>
                              <m:r>
                                <m:rPr>
                                  <m:sty m:val="p"/>
                                </m:rPr>
                                <a:rPr lang="es-MX" sz="1600" b="0" i="0" smtClean="0">
                                  <a:solidFill>
                                    <a:schemeClr val="tx1"/>
                                  </a:solidFill>
                                  <a:latin typeface="Cambria Math" panose="02040503050406030204" pitchFamily="18" charset="0"/>
                                  <a:ea typeface="Cambria Math" panose="02040503050406030204" pitchFamily="18" charset="0"/>
                                </a:rPr>
                                <m:t>un</m:t>
                              </m:r>
                              <m:r>
                                <a:rPr lang="es-MX" sz="1600" b="0" i="0" smtClean="0">
                                  <a:solidFill>
                                    <a:schemeClr val="tx1"/>
                                  </a:solidFill>
                                  <a:latin typeface="Cambria Math" panose="02040503050406030204" pitchFamily="18" charset="0"/>
                                  <a:ea typeface="Cambria Math" panose="02040503050406030204" pitchFamily="18" charset="0"/>
                                </a:rPr>
                                <m:t> </m:t>
                              </m:r>
                              <m:r>
                                <m:rPr>
                                  <m:sty m:val="p"/>
                                </m:rPr>
                                <a:rPr lang="es-MX" sz="1600" b="0" i="0" smtClean="0">
                                  <a:solidFill>
                                    <a:schemeClr val="tx1"/>
                                  </a:solidFill>
                                  <a:latin typeface="Cambria Math" panose="02040503050406030204" pitchFamily="18" charset="0"/>
                                  <a:ea typeface="Cambria Math" panose="02040503050406030204" pitchFamily="18" charset="0"/>
                                </a:rPr>
                                <m:t>curso</m:t>
                              </m:r>
                              <m:r>
                                <a:rPr lang="es-MX" sz="1600" b="0" i="0" smtClean="0">
                                  <a:solidFill>
                                    <a:schemeClr val="tx1"/>
                                  </a:solidFill>
                                  <a:latin typeface="Cambria Math" panose="02040503050406030204" pitchFamily="18" charset="0"/>
                                  <a:ea typeface="Cambria Math" panose="02040503050406030204" pitchFamily="18" charset="0"/>
                                </a:rPr>
                                <m:t> </m:t>
                              </m:r>
                              <m:r>
                                <m:rPr>
                                  <m:sty m:val="p"/>
                                </m:rPr>
                                <a:rPr lang="es-MX" sz="1600" b="0" i="0" smtClean="0">
                                  <a:solidFill>
                                    <a:schemeClr val="tx1"/>
                                  </a:solidFill>
                                  <a:latin typeface="Cambria Math" panose="02040503050406030204" pitchFamily="18" charset="0"/>
                                  <a:ea typeface="Cambria Math" panose="02040503050406030204" pitchFamily="18" charset="0"/>
                                </a:rPr>
                                <m:t>de</m:t>
                              </m:r>
                              <m:r>
                                <a:rPr lang="es-MX" sz="1600" b="0" i="0" smtClean="0">
                                  <a:solidFill>
                                    <a:schemeClr val="tx1"/>
                                  </a:solidFill>
                                  <a:latin typeface="Cambria Math" panose="02040503050406030204" pitchFamily="18" charset="0"/>
                                  <a:ea typeface="Cambria Math" panose="02040503050406030204" pitchFamily="18" charset="0"/>
                                </a:rPr>
                                <m:t> </m:t>
                              </m:r>
                              <m:r>
                                <m:rPr>
                                  <m:sty m:val="p"/>
                                </m:rPr>
                                <a:rPr lang="es-MX" sz="1600" b="0" i="0" smtClean="0">
                                  <a:solidFill>
                                    <a:schemeClr val="tx1"/>
                                  </a:solidFill>
                                  <a:latin typeface="Cambria Math" panose="02040503050406030204" pitchFamily="18" charset="0"/>
                                  <a:ea typeface="Cambria Math" panose="02040503050406030204" pitchFamily="18" charset="0"/>
                                </a:rPr>
                                <m:t>informatica</m:t>
                              </m:r>
                            </m:oMath>
                          </a14:m>
                          <a:endParaRPr lang="es-MX" sz="1600" b="0" i="1" dirty="0">
                            <a:solidFill>
                              <a:schemeClr val="tx1"/>
                            </a:solidFill>
                            <a:latin typeface="Cambria Math" panose="02040503050406030204" pitchFamily="18" charset="0"/>
                            <a:ea typeface="Cambria Math"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2933263"/>
                      </a:ext>
                    </a:extLst>
                  </a:tr>
                </a:tbl>
              </a:graphicData>
            </a:graphic>
          </p:graphicFrame>
        </mc:Choice>
        <mc:Fallback>
          <p:graphicFrame>
            <p:nvGraphicFramePr>
              <p:cNvPr id="7" name="Tabla 2">
                <a:extLst>
                  <a:ext uri="{FF2B5EF4-FFF2-40B4-BE49-F238E27FC236}">
                    <a16:creationId xmlns:a16="http://schemas.microsoft.com/office/drawing/2014/main" id="{48F87D2B-4563-4CD2-AC3D-E9D326A69BAA}"/>
                  </a:ext>
                </a:extLst>
              </p:cNvPr>
              <p:cNvGraphicFramePr>
                <a:graphicFrameLocks noGrp="1"/>
              </p:cNvGraphicFramePr>
              <p:nvPr>
                <p:extLst>
                  <p:ext uri="{D42A27DB-BD31-4B8C-83A1-F6EECF244321}">
                    <p14:modId xmlns:p14="http://schemas.microsoft.com/office/powerpoint/2010/main" val="2288598234"/>
                  </p:ext>
                </p:extLst>
              </p:nvPr>
            </p:nvGraphicFramePr>
            <p:xfrm>
              <a:off x="5715141" y="207459"/>
              <a:ext cx="6190039" cy="1249680"/>
            </p:xfrm>
            <a:graphic>
              <a:graphicData uri="http://schemas.openxmlformats.org/drawingml/2006/table">
                <a:tbl>
                  <a:tblPr firstRow="1" bandRow="1">
                    <a:tableStyleId>{AD6A3598-7CB8-4345-8D95-17CE05F158A0}</a:tableStyleId>
                  </a:tblPr>
                  <a:tblGrid>
                    <a:gridCol w="1470460">
                      <a:extLst>
                        <a:ext uri="{9D8B030D-6E8A-4147-A177-3AD203B41FA5}">
                          <a16:colId xmlns:a16="http://schemas.microsoft.com/office/drawing/2014/main" val="55665907"/>
                        </a:ext>
                      </a:extLst>
                    </a:gridCol>
                    <a:gridCol w="4719579">
                      <a:extLst>
                        <a:ext uri="{9D8B030D-6E8A-4147-A177-3AD203B41FA5}">
                          <a16:colId xmlns:a16="http://schemas.microsoft.com/office/drawing/2014/main" val="2393994677"/>
                        </a:ext>
                      </a:extLst>
                    </a:gridCol>
                  </a:tblGrid>
                  <a:tr h="335280">
                    <a:tc>
                      <a:txBody>
                        <a:bodyPr/>
                        <a:lstStyle/>
                        <a:p>
                          <a:r>
                            <a:rPr lang="es-CO" sz="1600" b="1" dirty="0">
                              <a:latin typeface="+mn-lt"/>
                              <a:ea typeface="Roboto" panose="02000000000000000000" pitchFamily="2" charset="0"/>
                            </a:rPr>
                            <a:t>Dominio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1226" t="-5455" r="-387" b="-292727"/>
                          </a:stretch>
                        </a:blipFill>
                      </a:tcPr>
                    </a:tc>
                    <a:extLst>
                      <a:ext uri="{0D108BD9-81ED-4DB2-BD59-A6C34878D82A}">
                        <a16:rowId xmlns:a16="http://schemas.microsoft.com/office/drawing/2014/main" val="2554054099"/>
                      </a:ext>
                    </a:extLst>
                  </a:tr>
                  <a:tr h="335280">
                    <a:tc>
                      <a:txBody>
                        <a:bodyPr/>
                        <a:lstStyle/>
                        <a:p>
                          <a:r>
                            <a:rPr lang="es-CO" sz="1600" b="1" dirty="0">
                              <a:latin typeface="+mn-lt"/>
                              <a:ea typeface="Roboto" panose="02000000000000000000" pitchFamily="2" charset="0"/>
                            </a:rPr>
                            <a:t>Variables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1226" t="-103571" r="-387" b="-187500"/>
                          </a:stretch>
                        </a:blipFill>
                      </a:tcPr>
                    </a:tc>
                    <a:extLst>
                      <a:ext uri="{0D108BD9-81ED-4DB2-BD59-A6C34878D82A}">
                        <a16:rowId xmlns:a16="http://schemas.microsoft.com/office/drawing/2014/main" val="1590970474"/>
                      </a:ext>
                    </a:extLst>
                  </a:tr>
                  <a:tr h="579120">
                    <a:tc>
                      <a:txBody>
                        <a:bodyPr/>
                        <a:lstStyle/>
                        <a:p>
                          <a:r>
                            <a:rPr lang="es-CO" sz="1600" b="1" dirty="0">
                              <a:latin typeface="+mn-lt"/>
                              <a:ea typeface="Roboto" panose="02000000000000000000" pitchFamily="2" charset="0"/>
                            </a:rPr>
                            <a:t>Predicados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1226" t="-120000" r="-387" b="-10526"/>
                          </a:stretch>
                        </a:blipFill>
                      </a:tcPr>
                    </a:tc>
                    <a:extLst>
                      <a:ext uri="{0D108BD9-81ED-4DB2-BD59-A6C34878D82A}">
                        <a16:rowId xmlns:a16="http://schemas.microsoft.com/office/drawing/2014/main" val="1362933263"/>
                      </a:ext>
                    </a:extLst>
                  </a:tr>
                </a:tbl>
              </a:graphicData>
            </a:graphic>
          </p:graphicFrame>
        </mc:Fallback>
      </mc:AlternateContent>
      <p:grpSp>
        <p:nvGrpSpPr>
          <p:cNvPr id="11" name="Grupo 10">
            <a:extLst>
              <a:ext uri="{FF2B5EF4-FFF2-40B4-BE49-F238E27FC236}">
                <a16:creationId xmlns:a16="http://schemas.microsoft.com/office/drawing/2014/main" id="{F3448778-D45A-4A59-83D2-F2D1FBF2CAD1}"/>
              </a:ext>
            </a:extLst>
          </p:cNvPr>
          <p:cNvGrpSpPr/>
          <p:nvPr/>
        </p:nvGrpSpPr>
        <p:grpSpPr>
          <a:xfrm>
            <a:off x="1535339" y="1714328"/>
            <a:ext cx="2777205" cy="1402692"/>
            <a:chOff x="4134911" y="4512927"/>
            <a:chExt cx="2392093" cy="1402692"/>
          </a:xfrm>
        </p:grpSpPr>
        <mc:AlternateContent xmlns:mc="http://schemas.openxmlformats.org/markup-compatibility/2006">
          <mc:Choice xmlns:a14="http://schemas.microsoft.com/office/drawing/2010/main" Requires="a14">
            <p:sp>
              <p:nvSpPr>
                <p:cNvPr id="12" name="CuadroTexto 11">
                  <a:extLst>
                    <a:ext uri="{FF2B5EF4-FFF2-40B4-BE49-F238E27FC236}">
                      <a16:creationId xmlns:a16="http://schemas.microsoft.com/office/drawing/2014/main" id="{F91D5BB4-8EBF-40C5-9626-9D0B1F9C3BDA}"/>
                    </a:ext>
                  </a:extLst>
                </p:cNvPr>
                <p:cNvSpPr txBox="1"/>
                <p:nvPr/>
              </p:nvSpPr>
              <p:spPr>
                <a:xfrm>
                  <a:off x="4134911" y="4512927"/>
                  <a:ext cx="2392093" cy="140269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s-MX" sz="2000" i="1" smtClean="0">
                            <a:latin typeface="Cambria Math" panose="02040503050406030204" pitchFamily="18" charset="0"/>
                            <a:ea typeface="Cambria Math" panose="02040503050406030204" pitchFamily="18" charset="0"/>
                          </a:rPr>
                          <m:t>∀</m:t>
                        </m:r>
                        <m:r>
                          <a:rPr lang="es-MX" sz="2000" i="1" smtClean="0">
                            <a:latin typeface="Cambria Math" panose="02040503050406030204" pitchFamily="18" charset="0"/>
                            <a:ea typeface="Cambria Math" panose="02040503050406030204" pitchFamily="18" charset="0"/>
                          </a:rPr>
                          <m:t>𝑥</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𝐷</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𝑥</m:t>
                                </m:r>
                              </m:e>
                            </m:d>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𝐼</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𝑥</m:t>
                                </m:r>
                              </m:e>
                            </m:d>
                          </m:e>
                        </m:d>
                        <m:r>
                          <a:rPr lang="es-MX" sz="2000" b="0" i="1" smtClean="0">
                            <a:latin typeface="Cambria Math" panose="02040503050406030204" pitchFamily="18" charset="0"/>
                            <a:ea typeface="Cambria Math" panose="02040503050406030204" pitchFamily="18" charset="0"/>
                          </a:rPr>
                          <m:t>   </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𝑎</m:t>
                        </m:r>
                        <m:r>
                          <a:rPr lang="es-MX" sz="2000" b="0" i="1" smtClean="0">
                            <a:latin typeface="Cambria Math" panose="02040503050406030204" pitchFamily="18" charset="0"/>
                            <a:ea typeface="Roboto" panose="02000000000000000000" pitchFamily="2" charset="0"/>
                          </a:rPr>
                          <m:t>)</m:t>
                        </m:r>
                      </m:oMath>
                    </m:oMathPara>
                  </a14:m>
                  <a:endParaRPr lang="es-MX" sz="2000" b="0" i="1" dirty="0">
                    <a:latin typeface="Cambria Math" panose="02040503050406030204" pitchFamily="18" charset="0"/>
                    <a:ea typeface="Roboto" panose="02000000000000000000" pitchFamily="2" charset="0"/>
                  </a:endParaRPr>
                </a:p>
                <a:p>
                  <a:pPr/>
                  <a14:m>
                    <m:oMathPara xmlns:m="http://schemas.openxmlformats.org/officeDocument/2006/math">
                      <m:oMathParaPr>
                        <m:jc m:val="left"/>
                      </m:oMathParaPr>
                      <m:oMath xmlns:m="http://schemas.openxmlformats.org/officeDocument/2006/math">
                        <m:r>
                          <a:rPr lang="es-MX" sz="2000" i="1">
                            <a:latin typeface="Cambria Math" panose="02040503050406030204" pitchFamily="18" charset="0"/>
                            <a:ea typeface="Roboto" panose="02000000000000000000" pitchFamily="2" charset="0"/>
                          </a:rPr>
                          <m:t>𝐷</m:t>
                        </m:r>
                        <m:d>
                          <m:dPr>
                            <m:ctrlPr>
                              <a:rPr lang="es-MX" sz="2000" i="1">
                                <a:latin typeface="Cambria Math" panose="02040503050406030204" pitchFamily="18" charset="0"/>
                                <a:ea typeface="Roboto" panose="02000000000000000000" pitchFamily="2" charset="0"/>
                              </a:rPr>
                            </m:ctrlPr>
                          </m:dPr>
                          <m:e>
                            <m:r>
                              <m:rPr>
                                <m:sty m:val="p"/>
                              </m:rPr>
                              <a:rPr lang="es-MX" sz="2000">
                                <a:latin typeface="Cambria Math" panose="02040503050406030204" pitchFamily="18" charset="0"/>
                                <a:ea typeface="Roboto" panose="02000000000000000000" pitchFamily="2" charset="0"/>
                              </a:rPr>
                              <m:t>Josefina</m:t>
                            </m:r>
                          </m:e>
                        </m:d>
                        <m:r>
                          <a:rPr lang="es-MX" sz="2000" b="0" i="1" smtClean="0">
                            <a:latin typeface="Cambria Math" panose="02040503050406030204" pitchFamily="18" charset="0"/>
                            <a:ea typeface="Roboto" panose="02000000000000000000" pitchFamily="2" charset="0"/>
                          </a:rPr>
                          <m:t>              </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𝑏</m:t>
                            </m:r>
                          </m:e>
                        </m:d>
                      </m:oMath>
                    </m:oMathPara>
                  </a14:m>
                  <a:endParaRPr lang="es-MX" sz="2000" b="0" i="1" dirty="0">
                    <a:latin typeface="Cambria Math" panose="02040503050406030204" pitchFamily="18" charset="0"/>
                    <a:ea typeface="Roboto" panose="02000000000000000000" pitchFamily="2" charset="0"/>
                  </a:endParaRPr>
                </a:p>
                <a:p>
                  <a:pPr/>
                  <a14:m>
                    <m:oMathPara xmlns:m="http://schemas.openxmlformats.org/officeDocument/2006/math">
                      <m:oMathParaPr>
                        <m:jc m:val="left"/>
                      </m:oMathParaPr>
                      <m:oMath xmlns:m="http://schemas.openxmlformats.org/officeDocument/2006/math">
                        <m:r>
                          <a:rPr lang="es-MX" sz="2000" b="0" i="1" smtClean="0">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Roboto" panose="02000000000000000000" pitchFamily="2" charset="0"/>
                          </a:rPr>
                          <m:t>𝐼</m:t>
                        </m:r>
                        <m:d>
                          <m:dPr>
                            <m:ctrlPr>
                              <a:rPr lang="es-MX" sz="2000" i="1">
                                <a:latin typeface="Cambria Math" panose="02040503050406030204" pitchFamily="18" charset="0"/>
                                <a:ea typeface="Roboto" panose="02000000000000000000" pitchFamily="2" charset="0"/>
                              </a:rPr>
                            </m:ctrlPr>
                          </m:dPr>
                          <m:e>
                            <m:r>
                              <m:rPr>
                                <m:sty m:val="p"/>
                              </m:rPr>
                              <a:rPr lang="es-MX" sz="2000">
                                <a:latin typeface="Cambria Math" panose="02040503050406030204" pitchFamily="18" charset="0"/>
                                <a:ea typeface="Roboto" panose="02000000000000000000" pitchFamily="2" charset="0"/>
                              </a:rPr>
                              <m:t>Josefina</m:t>
                            </m:r>
                          </m:e>
                        </m:d>
                      </m:oMath>
                    </m:oMathPara>
                  </a14:m>
                  <a:endParaRPr lang="es-MX" sz="2000" dirty="0">
                    <a:latin typeface="Roboto" panose="02000000000000000000" pitchFamily="2" charset="0"/>
                    <a:ea typeface="Roboto" panose="02000000000000000000" pitchFamily="2" charset="0"/>
                  </a:endParaRPr>
                </a:p>
              </p:txBody>
            </p:sp>
          </mc:Choice>
          <mc:Fallback>
            <p:sp>
              <p:nvSpPr>
                <p:cNvPr id="12" name="CuadroTexto 11">
                  <a:extLst>
                    <a:ext uri="{FF2B5EF4-FFF2-40B4-BE49-F238E27FC236}">
                      <a16:creationId xmlns:a16="http://schemas.microsoft.com/office/drawing/2014/main" id="{F91D5BB4-8EBF-40C5-9626-9D0B1F9C3BDA}"/>
                    </a:ext>
                  </a:extLst>
                </p:cNvPr>
                <p:cNvSpPr txBox="1">
                  <a:spLocks noRot="1" noChangeAspect="1" noMove="1" noResize="1" noEditPoints="1" noAdjustHandles="1" noChangeArrowheads="1" noChangeShapeType="1" noTextEdit="1"/>
                </p:cNvSpPr>
                <p:nvPr/>
              </p:nvSpPr>
              <p:spPr>
                <a:xfrm>
                  <a:off x="4134911" y="4512927"/>
                  <a:ext cx="2392093" cy="1402692"/>
                </a:xfrm>
                <a:prstGeom prst="rect">
                  <a:avLst/>
                </a:prstGeom>
                <a:blipFill>
                  <a:blip r:embed="rId5"/>
                  <a:stretch>
                    <a:fillRect/>
                  </a:stretch>
                </a:blipFill>
              </p:spPr>
              <p:txBody>
                <a:bodyPr/>
                <a:lstStyle/>
                <a:p>
                  <a:r>
                    <a:rPr lang="es-CO">
                      <a:noFill/>
                    </a:rPr>
                    <a:t> </a:t>
                  </a:r>
                </a:p>
              </p:txBody>
            </p:sp>
          </mc:Fallback>
        </mc:AlternateContent>
        <p:cxnSp>
          <p:nvCxnSpPr>
            <p:cNvPr id="13" name="Conector recto 12">
              <a:extLst>
                <a:ext uri="{FF2B5EF4-FFF2-40B4-BE49-F238E27FC236}">
                  <a16:creationId xmlns:a16="http://schemas.microsoft.com/office/drawing/2014/main" id="{8FC17297-35A7-4004-B285-1FA8C4731820}"/>
                </a:ext>
              </a:extLst>
            </p:cNvPr>
            <p:cNvCxnSpPr>
              <a:cxnSpLocks/>
            </p:cNvCxnSpPr>
            <p:nvPr/>
          </p:nvCxnSpPr>
          <p:spPr>
            <a:xfrm>
              <a:off x="4218931" y="5224831"/>
              <a:ext cx="219296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graphicFrame>
            <p:nvGraphicFramePr>
              <p:cNvPr id="14" name="Tabla 2">
                <a:extLst>
                  <a:ext uri="{FF2B5EF4-FFF2-40B4-BE49-F238E27FC236}">
                    <a16:creationId xmlns:a16="http://schemas.microsoft.com/office/drawing/2014/main" id="{7220BB13-3652-457C-A378-3DF759F1EC07}"/>
                  </a:ext>
                </a:extLst>
              </p:cNvPr>
              <p:cNvGraphicFramePr>
                <a:graphicFrameLocks noGrp="1"/>
              </p:cNvGraphicFramePr>
              <p:nvPr>
                <p:extLst>
                  <p:ext uri="{D42A27DB-BD31-4B8C-83A1-F6EECF244321}">
                    <p14:modId xmlns:p14="http://schemas.microsoft.com/office/powerpoint/2010/main" val="3136981149"/>
                  </p:ext>
                </p:extLst>
              </p:nvPr>
            </p:nvGraphicFramePr>
            <p:xfrm>
              <a:off x="3041927" y="4143279"/>
              <a:ext cx="6190039" cy="2325243"/>
            </p:xfrm>
            <a:graphic>
              <a:graphicData uri="http://schemas.openxmlformats.org/drawingml/2006/table">
                <a:tbl>
                  <a:tblPr firstRow="1" bandRow="1">
                    <a:tableStyleId>{AD6A3598-7CB8-4345-8D95-17CE05F158A0}</a:tableStyleId>
                  </a:tblPr>
                  <a:tblGrid>
                    <a:gridCol w="523215">
                      <a:extLst>
                        <a:ext uri="{9D8B030D-6E8A-4147-A177-3AD203B41FA5}">
                          <a16:colId xmlns:a16="http://schemas.microsoft.com/office/drawing/2014/main" val="1610952478"/>
                        </a:ext>
                      </a:extLst>
                    </a:gridCol>
                    <a:gridCol w="3179265">
                      <a:extLst>
                        <a:ext uri="{9D8B030D-6E8A-4147-A177-3AD203B41FA5}">
                          <a16:colId xmlns:a16="http://schemas.microsoft.com/office/drawing/2014/main" val="2942974496"/>
                        </a:ext>
                      </a:extLst>
                    </a:gridCol>
                    <a:gridCol w="2487559">
                      <a:extLst>
                        <a:ext uri="{9D8B030D-6E8A-4147-A177-3AD203B41FA5}">
                          <a16:colId xmlns:a16="http://schemas.microsoft.com/office/drawing/2014/main" val="4281859008"/>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Afirmación</a:t>
                          </a:r>
                          <a:endParaRPr lang="es-CO" sz="200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Razón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073712"/>
                      </a:ext>
                    </a:extLst>
                  </a:tr>
                  <a:tr h="370840">
                    <a:tc>
                      <a:txBody>
                        <a:bodyPr/>
                        <a:lstStyle/>
                        <a:p>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Cambria Math" panose="02040503050406030204" pitchFamily="18" charset="0"/>
                                  </a:rPr>
                                  <m:t>𝟏</m:t>
                                </m:r>
                              </m:oMath>
                            </m:oMathPara>
                          </a14:m>
                          <a:endParaRPr lang="es-CO" sz="2000" b="1"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14:m>
                            <m:oMathPara xmlns:m="http://schemas.openxmlformats.org/officeDocument/2006/math">
                              <m:oMathParaPr>
                                <m:jc m:val="left"/>
                              </m:oMathParaPr>
                              <m:oMath xmlns:m="http://schemas.openxmlformats.org/officeDocument/2006/math">
                                <m:r>
                                  <a:rPr lang="es-MX" sz="2000" i="1" smtClean="0">
                                    <a:latin typeface="Cambria Math" panose="02040503050406030204" pitchFamily="18" charset="0"/>
                                    <a:ea typeface="Cambria Math" panose="02040503050406030204" pitchFamily="18" charset="0"/>
                                  </a:rPr>
                                  <m:t>∀</m:t>
                                </m:r>
                                <m:r>
                                  <a:rPr lang="es-MX" sz="2000" i="1" smtClean="0">
                                    <a:latin typeface="Cambria Math" panose="02040503050406030204" pitchFamily="18" charset="0"/>
                                    <a:ea typeface="Cambria Math" panose="02040503050406030204" pitchFamily="18" charset="0"/>
                                  </a:rPr>
                                  <m:t>𝑥</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𝐷</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𝑥</m:t>
                                        </m:r>
                                      </m:e>
                                    </m:d>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𝐼</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𝑥</m:t>
                                        </m:r>
                                      </m:e>
                                    </m:d>
                                  </m:e>
                                </m:d>
                              </m:oMath>
                            </m:oMathPara>
                          </a14:m>
                          <a:endParaRPr lang="es-CO" sz="20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2000" dirty="0">
                              <a:latin typeface="+mn-lt"/>
                              <a:ea typeface="Roboto" panose="02000000000000000000" pitchFamily="2" charset="0"/>
                            </a:rPr>
                            <a:t>Premisa </a:t>
                          </a:r>
                          <a:r>
                            <a:rPr lang="es-CO" sz="2000" b="1" dirty="0">
                              <a:latin typeface="+mn-lt"/>
                              <a:ea typeface="Roboto" panose="02000000000000000000" pitchFamily="2" charset="0"/>
                            </a:rPr>
                            <a:t>a</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43470127"/>
                      </a:ext>
                    </a:extLst>
                  </a:tr>
                  <a:tr h="370840">
                    <a:tc>
                      <a:txBody>
                        <a:bodyPr/>
                        <a:lstStyle/>
                        <a:p>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Cambria Math" panose="02040503050406030204" pitchFamily="18" charset="0"/>
                                  </a:rPr>
                                  <m:t>𝟐</m:t>
                                </m:r>
                              </m:oMath>
                            </m:oMathPara>
                          </a14:m>
                          <a:endParaRPr lang="es-CO" sz="20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14:m>
                            <m:oMathPara xmlns:m="http://schemas.openxmlformats.org/officeDocument/2006/math">
                              <m:oMathParaPr>
                                <m:jc m:val="left"/>
                              </m:oMathParaPr>
                              <m:oMath xmlns:m="http://schemas.openxmlformats.org/officeDocument/2006/math">
                                <m:r>
                                  <a:rPr lang="es-MX" sz="2000" i="1" smtClean="0">
                                    <a:latin typeface="Cambria Math" panose="02040503050406030204" pitchFamily="18" charset="0"/>
                                    <a:ea typeface="Cambria Math" panose="02040503050406030204" pitchFamily="18" charset="0"/>
                                  </a:rPr>
                                  <m:t>𝐷</m:t>
                                </m:r>
                                <m:d>
                                  <m:dPr>
                                    <m:ctrlPr>
                                      <a:rPr lang="es-MX" sz="2000" i="1">
                                        <a:latin typeface="Cambria Math" panose="02040503050406030204" pitchFamily="18" charset="0"/>
                                        <a:ea typeface="Cambria Math" panose="02040503050406030204" pitchFamily="18" charset="0"/>
                                      </a:rPr>
                                    </m:ctrlPr>
                                  </m:dPr>
                                  <m:e>
                                    <m:r>
                                      <m:rPr>
                                        <m:sty m:val="p"/>
                                      </m:rPr>
                                      <a:rPr lang="es-MX" sz="2000" b="0" i="0" smtClean="0">
                                        <a:latin typeface="Cambria Math" panose="02040503050406030204" pitchFamily="18" charset="0"/>
                                        <a:ea typeface="Cambria Math" panose="02040503050406030204" pitchFamily="18" charset="0"/>
                                      </a:rPr>
                                      <m:t>Josefina</m:t>
                                    </m:r>
                                  </m:e>
                                </m:d>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𝐼</m:t>
                                </m:r>
                                <m:d>
                                  <m:dPr>
                                    <m:ctrlPr>
                                      <a:rPr lang="es-MX" sz="2000" i="1">
                                        <a:latin typeface="Cambria Math" panose="02040503050406030204" pitchFamily="18" charset="0"/>
                                        <a:ea typeface="Cambria Math" panose="02040503050406030204" pitchFamily="18" charset="0"/>
                                      </a:rPr>
                                    </m:ctrlPr>
                                  </m:dPr>
                                  <m:e>
                                    <m:r>
                                      <m:rPr>
                                        <m:sty m:val="p"/>
                                      </m:rPr>
                                      <a:rPr lang="es-MX" sz="2000" b="0" i="0" smtClean="0">
                                        <a:latin typeface="Cambria Math" panose="02040503050406030204" pitchFamily="18" charset="0"/>
                                        <a:ea typeface="Cambria Math" panose="02040503050406030204" pitchFamily="18" charset="0"/>
                                      </a:rPr>
                                      <m:t>Josefina</m:t>
                                    </m:r>
                                  </m:e>
                                </m:d>
                              </m:oMath>
                            </m:oMathPara>
                          </a14:m>
                          <a:endParaRPr lang="es-CO" sz="20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2000" dirty="0">
                              <a:latin typeface="+mn-lt"/>
                              <a:ea typeface="Roboto" panose="02000000000000000000" pitchFamily="2" charset="0"/>
                            </a:rPr>
                            <a:t>Instanciación universal en 1</a:t>
                          </a:r>
                          <a:endParaRPr lang="es-CO" sz="20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7809005"/>
                      </a:ext>
                    </a:extLst>
                  </a:tr>
                  <a:tr h="370840">
                    <a:tc>
                      <a:txBody>
                        <a:bodyPr/>
                        <a:lstStyle/>
                        <a:p>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Cambria Math" panose="02040503050406030204" pitchFamily="18" charset="0"/>
                                  </a:rPr>
                                  <m:t>𝟑</m:t>
                                </m:r>
                              </m:oMath>
                            </m:oMathPara>
                          </a14:m>
                          <a:endParaRPr lang="es-CO" sz="20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2000" i="1" smtClean="0">
                                    <a:latin typeface="Cambria Math" panose="02040503050406030204" pitchFamily="18" charset="0"/>
                                    <a:ea typeface="Roboto" panose="02000000000000000000" pitchFamily="2" charset="0"/>
                                  </a:rPr>
                                  <m:t>𝐷</m:t>
                                </m:r>
                                <m:d>
                                  <m:dPr>
                                    <m:ctrlPr>
                                      <a:rPr lang="es-MX" sz="2000" i="1">
                                        <a:latin typeface="Cambria Math" panose="02040503050406030204" pitchFamily="18" charset="0"/>
                                        <a:ea typeface="Roboto" panose="02000000000000000000" pitchFamily="2" charset="0"/>
                                      </a:rPr>
                                    </m:ctrlPr>
                                  </m:dPr>
                                  <m:e>
                                    <m:r>
                                      <m:rPr>
                                        <m:sty m:val="p"/>
                                      </m:rPr>
                                      <a:rPr lang="es-MX" sz="2000">
                                        <a:latin typeface="Cambria Math" panose="02040503050406030204" pitchFamily="18" charset="0"/>
                                        <a:ea typeface="Roboto" panose="02000000000000000000" pitchFamily="2" charset="0"/>
                                      </a:rPr>
                                      <m:t>Josefina</m:t>
                                    </m:r>
                                  </m:e>
                                </m:d>
                              </m:oMath>
                            </m:oMathPara>
                          </a14:m>
                          <a:endParaRPr lang="es-CO" sz="20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2000" dirty="0">
                              <a:latin typeface="+mn-lt"/>
                              <a:ea typeface="Roboto" panose="02000000000000000000" pitchFamily="2" charset="0"/>
                            </a:rPr>
                            <a:t>Premisa </a:t>
                          </a:r>
                          <a:r>
                            <a:rPr lang="es-CO" sz="2000" b="1" dirty="0">
                              <a:latin typeface="+mn-lt"/>
                              <a:ea typeface="Roboto" panose="02000000000000000000" pitchFamily="2" charset="0"/>
                            </a:rPr>
                            <a:t>b</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396960"/>
                      </a:ext>
                    </a:extLst>
                  </a:tr>
                  <a:tr h="370840">
                    <a:tc>
                      <a:txBody>
                        <a:bodyPr/>
                        <a:lstStyle/>
                        <a:p>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Cambria Math" panose="02040503050406030204" pitchFamily="18" charset="0"/>
                                  </a:rPr>
                                  <m:t>𝟒</m:t>
                                </m:r>
                              </m:oMath>
                            </m:oMathPara>
                          </a14:m>
                          <a:endParaRPr lang="es-CO" sz="20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2000" i="1" smtClean="0">
                                    <a:latin typeface="Cambria Math" panose="02040503050406030204" pitchFamily="18" charset="0"/>
                                    <a:ea typeface="Cambria Math" panose="02040503050406030204" pitchFamily="18" charset="0"/>
                                  </a:rPr>
                                  <m:t>𝐼</m:t>
                                </m:r>
                                <m:d>
                                  <m:dPr>
                                    <m:ctrlPr>
                                      <a:rPr lang="es-MX" sz="2000" i="1">
                                        <a:latin typeface="Cambria Math" panose="02040503050406030204" pitchFamily="18" charset="0"/>
                                        <a:ea typeface="Cambria Math" panose="02040503050406030204" pitchFamily="18" charset="0"/>
                                      </a:rPr>
                                    </m:ctrlPr>
                                  </m:dPr>
                                  <m:e>
                                    <m:r>
                                      <m:rPr>
                                        <m:sty m:val="p"/>
                                      </m:rPr>
                                      <a:rPr lang="es-MX" sz="2000" b="0" i="0" smtClean="0">
                                        <a:latin typeface="Cambria Math" panose="02040503050406030204" pitchFamily="18" charset="0"/>
                                        <a:ea typeface="Cambria Math" panose="02040503050406030204" pitchFamily="18" charset="0"/>
                                      </a:rPr>
                                      <m:t>Josefina</m:t>
                                    </m:r>
                                  </m:e>
                                </m:d>
                              </m:oMath>
                            </m:oMathPara>
                          </a14:m>
                          <a:endParaRPr lang="es-CO" sz="20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2000" dirty="0">
                              <a:latin typeface="+mn-lt"/>
                              <a:ea typeface="Roboto" panose="02000000000000000000" pitchFamily="2" charset="0"/>
                            </a:rPr>
                            <a:t>Modus ponens </a:t>
                          </a:r>
                          <a:r>
                            <a:rPr lang="es-CO" sz="2000" b="1" dirty="0">
                              <a:latin typeface="+mn-lt"/>
                              <a:ea typeface="Roboto" panose="02000000000000000000" pitchFamily="2" charset="0"/>
                            </a:rPr>
                            <a:t>2 </a:t>
                          </a:r>
                          <a:r>
                            <a:rPr lang="es-CO" sz="2000" b="0" dirty="0">
                              <a:latin typeface="+mn-lt"/>
                              <a:ea typeface="Roboto" panose="02000000000000000000" pitchFamily="2" charset="0"/>
                            </a:rPr>
                            <a:t>y</a:t>
                          </a:r>
                          <a:r>
                            <a:rPr lang="es-CO" sz="2000" b="1" dirty="0">
                              <a:latin typeface="+mn-lt"/>
                              <a:ea typeface="Roboto" panose="02000000000000000000" pitchFamily="2" charset="0"/>
                            </a:rPr>
                            <a:t> 3</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87912512"/>
                      </a:ext>
                    </a:extLst>
                  </a:tr>
                </a:tbl>
              </a:graphicData>
            </a:graphic>
          </p:graphicFrame>
        </mc:Choice>
        <mc:Fallback>
          <p:graphicFrame>
            <p:nvGraphicFramePr>
              <p:cNvPr id="14" name="Tabla 2">
                <a:extLst>
                  <a:ext uri="{FF2B5EF4-FFF2-40B4-BE49-F238E27FC236}">
                    <a16:creationId xmlns:a16="http://schemas.microsoft.com/office/drawing/2014/main" id="{7220BB13-3652-457C-A378-3DF759F1EC07}"/>
                  </a:ext>
                </a:extLst>
              </p:cNvPr>
              <p:cNvGraphicFramePr>
                <a:graphicFrameLocks noGrp="1"/>
              </p:cNvGraphicFramePr>
              <p:nvPr>
                <p:extLst>
                  <p:ext uri="{D42A27DB-BD31-4B8C-83A1-F6EECF244321}">
                    <p14:modId xmlns:p14="http://schemas.microsoft.com/office/powerpoint/2010/main" val="3136981149"/>
                  </p:ext>
                </p:extLst>
              </p:nvPr>
            </p:nvGraphicFramePr>
            <p:xfrm>
              <a:off x="3041927" y="4143279"/>
              <a:ext cx="6190039" cy="2325243"/>
            </p:xfrm>
            <a:graphic>
              <a:graphicData uri="http://schemas.openxmlformats.org/drawingml/2006/table">
                <a:tbl>
                  <a:tblPr firstRow="1" bandRow="1">
                    <a:tableStyleId>{AD6A3598-7CB8-4345-8D95-17CE05F158A0}</a:tableStyleId>
                  </a:tblPr>
                  <a:tblGrid>
                    <a:gridCol w="523215">
                      <a:extLst>
                        <a:ext uri="{9D8B030D-6E8A-4147-A177-3AD203B41FA5}">
                          <a16:colId xmlns:a16="http://schemas.microsoft.com/office/drawing/2014/main" val="1610952478"/>
                        </a:ext>
                      </a:extLst>
                    </a:gridCol>
                    <a:gridCol w="3179265">
                      <a:extLst>
                        <a:ext uri="{9D8B030D-6E8A-4147-A177-3AD203B41FA5}">
                          <a16:colId xmlns:a16="http://schemas.microsoft.com/office/drawing/2014/main" val="2942974496"/>
                        </a:ext>
                      </a:extLst>
                    </a:gridCol>
                    <a:gridCol w="2487559">
                      <a:extLst>
                        <a:ext uri="{9D8B030D-6E8A-4147-A177-3AD203B41FA5}">
                          <a16:colId xmlns:a16="http://schemas.microsoft.com/office/drawing/2014/main" val="4281859008"/>
                        </a:ext>
                      </a:extLst>
                    </a:gridCol>
                  </a:tblGrid>
                  <a:tr h="3962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Afirmación</a:t>
                          </a:r>
                          <a:endParaRPr lang="es-CO" sz="200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Razón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073712"/>
                      </a:ext>
                    </a:extLst>
                  </a:tr>
                  <a:tr h="435483">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t="-97222" r="-1082558" b="-365278"/>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l="-16475" t="-97222" r="-78352" b="-365278"/>
                          </a:stretch>
                        </a:blipFill>
                      </a:tcPr>
                    </a:tc>
                    <a:tc>
                      <a:txBody>
                        <a:bodyPr/>
                        <a:lstStyle/>
                        <a:p>
                          <a:r>
                            <a:rPr lang="es-CO" sz="2000" dirty="0">
                              <a:latin typeface="+mn-lt"/>
                              <a:ea typeface="Roboto" panose="02000000000000000000" pitchFamily="2" charset="0"/>
                            </a:rPr>
                            <a:t>Premisa </a:t>
                          </a:r>
                          <a:r>
                            <a:rPr lang="es-CO" sz="2000" b="1" dirty="0">
                              <a:latin typeface="+mn-lt"/>
                              <a:ea typeface="Roboto" panose="02000000000000000000" pitchFamily="2" charset="0"/>
                            </a:rPr>
                            <a:t>a</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43470127"/>
                      </a:ext>
                    </a:extLst>
                  </a:tr>
                  <a:tr h="70104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t="-123478" r="-1082558" b="-128696"/>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l="-16475" t="-123478" r="-78352" b="-128696"/>
                          </a:stretch>
                        </a:blipFill>
                      </a:tcPr>
                    </a:tc>
                    <a:tc>
                      <a:txBody>
                        <a:bodyPr/>
                        <a:lstStyle/>
                        <a:p>
                          <a:r>
                            <a:rPr lang="es-CO" sz="2000" dirty="0">
                              <a:latin typeface="+mn-lt"/>
                              <a:ea typeface="Roboto" panose="02000000000000000000" pitchFamily="2" charset="0"/>
                            </a:rPr>
                            <a:t>Instanciación universal en 1</a:t>
                          </a:r>
                          <a:endParaRPr lang="es-CO" sz="20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7809005"/>
                      </a:ext>
                    </a:extLst>
                  </a:tr>
                  <a:tr h="39624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t="-389394" r="-1082558" b="-124242"/>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l="-16475" t="-389394" r="-78352" b="-124242"/>
                          </a:stretch>
                        </a:blipFill>
                      </a:tcPr>
                    </a:tc>
                    <a:tc>
                      <a:txBody>
                        <a:bodyPr/>
                        <a:lstStyle/>
                        <a:p>
                          <a:r>
                            <a:rPr lang="es-CO" sz="2000" dirty="0">
                              <a:latin typeface="+mn-lt"/>
                              <a:ea typeface="Roboto" panose="02000000000000000000" pitchFamily="2" charset="0"/>
                            </a:rPr>
                            <a:t>Premisa </a:t>
                          </a:r>
                          <a:r>
                            <a:rPr lang="es-CO" sz="2000" b="1" dirty="0">
                              <a:latin typeface="+mn-lt"/>
                              <a:ea typeface="Roboto" panose="02000000000000000000" pitchFamily="2" charset="0"/>
                            </a:rPr>
                            <a:t>b</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396960"/>
                      </a:ext>
                    </a:extLst>
                  </a:tr>
                  <a:tr h="39624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t="-496923" r="-1082558" b="-26154"/>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l="-16475" t="-496923" r="-78352" b="-26154"/>
                          </a:stretch>
                        </a:blipFill>
                      </a:tcPr>
                    </a:tc>
                    <a:tc>
                      <a:txBody>
                        <a:bodyPr/>
                        <a:lstStyle/>
                        <a:p>
                          <a:r>
                            <a:rPr lang="es-CO" sz="2000" dirty="0">
                              <a:latin typeface="+mn-lt"/>
                              <a:ea typeface="Roboto" panose="02000000000000000000" pitchFamily="2" charset="0"/>
                            </a:rPr>
                            <a:t>Modus ponens </a:t>
                          </a:r>
                          <a:r>
                            <a:rPr lang="es-CO" sz="2000" b="1" dirty="0">
                              <a:latin typeface="+mn-lt"/>
                              <a:ea typeface="Roboto" panose="02000000000000000000" pitchFamily="2" charset="0"/>
                            </a:rPr>
                            <a:t>2 </a:t>
                          </a:r>
                          <a:r>
                            <a:rPr lang="es-CO" sz="2000" b="0" dirty="0">
                              <a:latin typeface="+mn-lt"/>
                              <a:ea typeface="Roboto" panose="02000000000000000000" pitchFamily="2" charset="0"/>
                            </a:rPr>
                            <a:t>y</a:t>
                          </a:r>
                          <a:r>
                            <a:rPr lang="es-CO" sz="2000" b="1" dirty="0">
                              <a:latin typeface="+mn-lt"/>
                              <a:ea typeface="Roboto" panose="02000000000000000000" pitchFamily="2" charset="0"/>
                            </a:rPr>
                            <a:t> 3</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87912512"/>
                      </a:ext>
                    </a:extLst>
                  </a:tr>
                </a:tbl>
              </a:graphicData>
            </a:graphic>
          </p:graphicFrame>
        </mc:Fallback>
      </mc:AlternateContent>
    </p:spTree>
    <p:extLst>
      <p:ext uri="{BB962C8B-B14F-4D97-AF65-F5344CB8AC3E}">
        <p14:creationId xmlns:p14="http://schemas.microsoft.com/office/powerpoint/2010/main" val="19074298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title"/>
          </p:nvPr>
        </p:nvSpPr>
        <p:spPr>
          <a:xfrm>
            <a:off x="391886" y="96038"/>
            <a:ext cx="8828764"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Ejemplo 3</a:t>
            </a:r>
            <a:endParaRPr dirty="0">
              <a:solidFill>
                <a:schemeClr val="tx1"/>
              </a:solidFill>
              <a:latin typeface="+mj-lt"/>
            </a:endParaRPr>
          </a:p>
        </p:txBody>
      </p:sp>
      <p:sp>
        <p:nvSpPr>
          <p:cNvPr id="5" name="CuadroTexto 4">
            <a:extLst>
              <a:ext uri="{FF2B5EF4-FFF2-40B4-BE49-F238E27FC236}">
                <a16:creationId xmlns:a16="http://schemas.microsoft.com/office/drawing/2014/main" id="{D055498E-B21E-4DD3-9366-5DAC438D31FC}"/>
              </a:ext>
            </a:extLst>
          </p:cNvPr>
          <p:cNvSpPr txBox="1"/>
          <p:nvPr/>
        </p:nvSpPr>
        <p:spPr>
          <a:xfrm>
            <a:off x="391886" y="1087737"/>
            <a:ext cx="11472583" cy="1200329"/>
          </a:xfrm>
          <a:prstGeom prst="rect">
            <a:avLst/>
          </a:prstGeom>
          <a:noFill/>
        </p:spPr>
        <p:txBody>
          <a:bodyPr wrap="square" rtlCol="0">
            <a:spAutoFit/>
          </a:bodyPr>
          <a:lstStyle/>
          <a:p>
            <a:r>
              <a:rPr lang="es-MX" sz="2400" b="1" dirty="0">
                <a:ea typeface="Roboto" panose="02000000000000000000" pitchFamily="2" charset="0"/>
              </a:rPr>
              <a:t>Ejemplo</a:t>
            </a:r>
            <a:r>
              <a:rPr lang="es-MX" sz="2400" dirty="0">
                <a:ea typeface="Roboto" panose="02000000000000000000" pitchFamily="2" charset="0"/>
              </a:rPr>
              <a:t>: Demuestre que las premisas “Un estudiante de esta clase no ha leído el libro” y “Todos en esta clase aprobaron el primer examen” implican la conclusión “Alguien que aprobó el primer examen no ha leído el libro”.</a:t>
            </a:r>
          </a:p>
        </p:txBody>
      </p:sp>
    </p:spTree>
    <p:extLst>
      <p:ext uri="{BB962C8B-B14F-4D97-AF65-F5344CB8AC3E}">
        <p14:creationId xmlns:p14="http://schemas.microsoft.com/office/powerpoint/2010/main" val="21872319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title"/>
          </p:nvPr>
        </p:nvSpPr>
        <p:spPr>
          <a:xfrm>
            <a:off x="406400" y="96038"/>
            <a:ext cx="881425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Ejemplo 3</a:t>
            </a:r>
            <a:endParaRPr dirty="0">
              <a:solidFill>
                <a:schemeClr val="tx1"/>
              </a:solidFill>
              <a:latin typeface="+mj-lt"/>
            </a:endParaRPr>
          </a:p>
        </p:txBody>
      </p:sp>
      <mc:AlternateContent xmlns:mc="http://schemas.openxmlformats.org/markup-compatibility/2006">
        <mc:Choice xmlns:a14="http://schemas.microsoft.com/office/drawing/2010/main" Requires="a14">
          <p:graphicFrame>
            <p:nvGraphicFramePr>
              <p:cNvPr id="6" name="Tabla 3">
                <a:extLst>
                  <a:ext uri="{FF2B5EF4-FFF2-40B4-BE49-F238E27FC236}">
                    <a16:creationId xmlns:a16="http://schemas.microsoft.com/office/drawing/2014/main" id="{B268220F-8A60-4908-981E-8C2BA0B3EB23}"/>
                  </a:ext>
                </a:extLst>
              </p:cNvPr>
              <p:cNvGraphicFramePr>
                <a:graphicFrameLocks noGrp="1"/>
              </p:cNvGraphicFramePr>
              <p:nvPr>
                <p:extLst>
                  <p:ext uri="{D42A27DB-BD31-4B8C-83A1-F6EECF244321}">
                    <p14:modId xmlns:p14="http://schemas.microsoft.com/office/powerpoint/2010/main" val="429910996"/>
                  </p:ext>
                </p:extLst>
              </p:nvPr>
            </p:nvGraphicFramePr>
            <p:xfrm>
              <a:off x="7316418" y="2085912"/>
              <a:ext cx="4531929" cy="2804160"/>
            </p:xfrm>
            <a:graphic>
              <a:graphicData uri="http://schemas.openxmlformats.org/drawingml/2006/table">
                <a:tbl>
                  <a:tblPr firstRow="1" bandRow="1">
                    <a:tableStyleId>{AD6A3598-7CB8-4345-8D95-17CE05F158A0}</a:tableStyleId>
                  </a:tblPr>
                  <a:tblGrid>
                    <a:gridCol w="254247">
                      <a:extLst>
                        <a:ext uri="{9D8B030D-6E8A-4147-A177-3AD203B41FA5}">
                          <a16:colId xmlns:a16="http://schemas.microsoft.com/office/drawing/2014/main" val="2057099001"/>
                        </a:ext>
                      </a:extLst>
                    </a:gridCol>
                    <a:gridCol w="2502216">
                      <a:extLst>
                        <a:ext uri="{9D8B030D-6E8A-4147-A177-3AD203B41FA5}">
                          <a16:colId xmlns:a16="http://schemas.microsoft.com/office/drawing/2014/main" val="2721384015"/>
                        </a:ext>
                      </a:extLst>
                    </a:gridCol>
                    <a:gridCol w="1775466">
                      <a:extLst>
                        <a:ext uri="{9D8B030D-6E8A-4147-A177-3AD203B41FA5}">
                          <a16:colId xmlns:a16="http://schemas.microsoft.com/office/drawing/2014/main" val="3804441368"/>
                        </a:ext>
                      </a:extLst>
                    </a:gridCol>
                  </a:tblGrid>
                  <a:tr h="276552">
                    <a:tc>
                      <a:txBody>
                        <a:bodyPr/>
                        <a:lstStyle/>
                        <a:p>
                          <a:pPr algn="ctr"/>
                          <a:r>
                            <a:rPr lang="es-CO" sz="1600" b="1" dirty="0">
                              <a:latin typeface="+mn-lt"/>
                              <a:ea typeface="Roboto" panose="02000000000000000000" pitchFamily="2"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s-CO" sz="1600" b="1" dirty="0">
                              <a:latin typeface="+mn-lt"/>
                              <a:ea typeface="Roboto" panose="02000000000000000000" pitchFamily="2" charset="0"/>
                            </a:rPr>
                            <a:t>Enunciado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s-CO" sz="1600" b="1" dirty="0">
                              <a:latin typeface="+mn-lt"/>
                              <a:ea typeface="Roboto" panose="02000000000000000000" pitchFamily="2" charset="0"/>
                            </a:rPr>
                            <a:t>Representación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910282906"/>
                      </a:ext>
                    </a:extLst>
                  </a:tr>
                  <a:tr h="27655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600" dirty="0">
                              <a:latin typeface="+mn-lt"/>
                              <a:ea typeface="Roboto" panose="02000000000000000000" pitchFamily="2"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600" b="1" dirty="0">
                              <a:latin typeface="+mn-lt"/>
                              <a:ea typeface="Roboto" panose="02000000000000000000" pitchFamily="2" charset="0"/>
                            </a:rPr>
                            <a:t>Premisa1</a:t>
                          </a:r>
                          <a:r>
                            <a:rPr lang="es-MX" sz="1600" dirty="0">
                              <a:latin typeface="+mn-lt"/>
                              <a:ea typeface="Roboto" panose="02000000000000000000" pitchFamily="2" charset="0"/>
                            </a:rPr>
                            <a:t>: Un estudiante de esta clase no ha leído el libro</a:t>
                          </a:r>
                          <a:endParaRPr lang="es-CO" sz="1600" dirty="0">
                            <a:latin typeface="+mn-lt"/>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𝑥</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𝐶</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𝑥</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𝐿</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𝑥</m:t>
                                        </m:r>
                                      </m:e>
                                    </m:d>
                                  </m:e>
                                </m:d>
                              </m:oMath>
                            </m:oMathPara>
                          </a14:m>
                          <a:endParaRPr lang="es-MX" sz="1600" dirty="0">
                            <a:latin typeface="+mn-lt"/>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12829917"/>
                      </a:ext>
                    </a:extLst>
                  </a:tr>
                  <a:tr h="27655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MX" sz="1600" dirty="0">
                              <a:latin typeface="+mn-lt"/>
                              <a:ea typeface="Roboto" panose="02000000000000000000" pitchFamily="2"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600" b="1" dirty="0">
                              <a:latin typeface="+mn-lt"/>
                            </a:rPr>
                            <a:t>Premisa 2</a:t>
                          </a:r>
                          <a:r>
                            <a:rPr lang="es-CO" sz="1600" dirty="0">
                              <a:latin typeface="+mn-lt"/>
                            </a:rPr>
                            <a:t>: </a:t>
                          </a:r>
                          <a:r>
                            <a:rPr lang="es-MX" sz="1600" dirty="0">
                              <a:latin typeface="+mn-lt"/>
                              <a:ea typeface="Roboto" panose="02000000000000000000" pitchFamily="2" charset="0"/>
                            </a:rPr>
                            <a:t>Todos en esta clase aprobaron el primer examen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𝑥</m:t>
                                </m:r>
                                <m:r>
                                  <a:rPr lang="es-MX" sz="1600" b="0" i="1" smtClean="0">
                                    <a:latin typeface="Cambria Math" panose="02040503050406030204" pitchFamily="18" charset="0"/>
                                    <a:ea typeface="Cambria Math" panose="02040503050406030204" pitchFamily="18" charset="0"/>
                                  </a:rPr>
                                  <m:t> </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𝐶</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𝑥</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𝐴</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𝑥</m:t>
                                        </m:r>
                                      </m:e>
                                    </m:d>
                                  </m:e>
                                </m:d>
                              </m:oMath>
                            </m:oMathPara>
                          </a14:m>
                          <a:endParaRPr lang="es-MX" sz="1600" dirty="0">
                            <a:latin typeface="+mn-lt"/>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5296453"/>
                      </a:ext>
                    </a:extLst>
                  </a:tr>
                  <a:tr h="27655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MX" sz="1600" dirty="0">
                              <a:latin typeface="+mn-lt"/>
                              <a:ea typeface="Roboto" panose="02000000000000000000" pitchFamily="2"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600" b="1" dirty="0">
                              <a:latin typeface="+mn-lt"/>
                              <a:ea typeface="Roboto" panose="02000000000000000000" pitchFamily="2" charset="0"/>
                            </a:rPr>
                            <a:t>Conclusión</a:t>
                          </a:r>
                          <a:r>
                            <a:rPr lang="es-MX" sz="1600" dirty="0">
                              <a:latin typeface="+mn-lt"/>
                              <a:ea typeface="Roboto" panose="02000000000000000000" pitchFamily="2" charset="0"/>
                            </a:rPr>
                            <a:t>: Alguien que aprobó el primer examen no ha leído el libro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𝑥</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𝐴</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𝑥</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𝐿</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𝑥</m:t>
                                        </m:r>
                                      </m:e>
                                    </m:d>
                                  </m:e>
                                </m:d>
                              </m:oMath>
                            </m:oMathPara>
                          </a14:m>
                          <a:endParaRPr lang="es-MX" sz="1600" dirty="0">
                            <a:latin typeface="+mn-lt"/>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9990816"/>
                      </a:ext>
                    </a:extLst>
                  </a:tr>
                </a:tbl>
              </a:graphicData>
            </a:graphic>
          </p:graphicFrame>
        </mc:Choice>
        <mc:Fallback>
          <p:graphicFrame>
            <p:nvGraphicFramePr>
              <p:cNvPr id="6" name="Tabla 3">
                <a:extLst>
                  <a:ext uri="{FF2B5EF4-FFF2-40B4-BE49-F238E27FC236}">
                    <a16:creationId xmlns:a16="http://schemas.microsoft.com/office/drawing/2014/main" id="{B268220F-8A60-4908-981E-8C2BA0B3EB23}"/>
                  </a:ext>
                </a:extLst>
              </p:cNvPr>
              <p:cNvGraphicFramePr>
                <a:graphicFrameLocks noGrp="1"/>
              </p:cNvGraphicFramePr>
              <p:nvPr>
                <p:extLst>
                  <p:ext uri="{D42A27DB-BD31-4B8C-83A1-F6EECF244321}">
                    <p14:modId xmlns:p14="http://schemas.microsoft.com/office/powerpoint/2010/main" val="429910996"/>
                  </p:ext>
                </p:extLst>
              </p:nvPr>
            </p:nvGraphicFramePr>
            <p:xfrm>
              <a:off x="7316418" y="2085912"/>
              <a:ext cx="4531929" cy="2804160"/>
            </p:xfrm>
            <a:graphic>
              <a:graphicData uri="http://schemas.openxmlformats.org/drawingml/2006/table">
                <a:tbl>
                  <a:tblPr firstRow="1" bandRow="1">
                    <a:tableStyleId>{AD6A3598-7CB8-4345-8D95-17CE05F158A0}</a:tableStyleId>
                  </a:tblPr>
                  <a:tblGrid>
                    <a:gridCol w="254247">
                      <a:extLst>
                        <a:ext uri="{9D8B030D-6E8A-4147-A177-3AD203B41FA5}">
                          <a16:colId xmlns:a16="http://schemas.microsoft.com/office/drawing/2014/main" val="2057099001"/>
                        </a:ext>
                      </a:extLst>
                    </a:gridCol>
                    <a:gridCol w="2502216">
                      <a:extLst>
                        <a:ext uri="{9D8B030D-6E8A-4147-A177-3AD203B41FA5}">
                          <a16:colId xmlns:a16="http://schemas.microsoft.com/office/drawing/2014/main" val="2721384015"/>
                        </a:ext>
                      </a:extLst>
                    </a:gridCol>
                    <a:gridCol w="1775466">
                      <a:extLst>
                        <a:ext uri="{9D8B030D-6E8A-4147-A177-3AD203B41FA5}">
                          <a16:colId xmlns:a16="http://schemas.microsoft.com/office/drawing/2014/main" val="3804441368"/>
                        </a:ext>
                      </a:extLst>
                    </a:gridCol>
                  </a:tblGrid>
                  <a:tr h="335280">
                    <a:tc>
                      <a:txBody>
                        <a:bodyPr/>
                        <a:lstStyle/>
                        <a:p>
                          <a:pPr algn="ctr"/>
                          <a:r>
                            <a:rPr lang="es-CO" sz="1600" b="1" dirty="0">
                              <a:latin typeface="+mn-lt"/>
                              <a:ea typeface="Roboto" panose="02000000000000000000" pitchFamily="2"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s-CO" sz="1600" b="1" dirty="0">
                              <a:latin typeface="+mn-lt"/>
                              <a:ea typeface="Roboto" panose="02000000000000000000" pitchFamily="2" charset="0"/>
                            </a:rPr>
                            <a:t>Enunciado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r>
                            <a:rPr lang="es-CO" sz="1600" b="1" dirty="0">
                              <a:latin typeface="+mn-lt"/>
                              <a:ea typeface="Roboto" panose="02000000000000000000" pitchFamily="2" charset="0"/>
                            </a:rPr>
                            <a:t>Representación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910282906"/>
                      </a:ext>
                    </a:extLst>
                  </a:tr>
                  <a:tr h="82296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600" dirty="0">
                              <a:latin typeface="+mn-lt"/>
                              <a:ea typeface="Roboto" panose="02000000000000000000" pitchFamily="2"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600" b="1" dirty="0">
                              <a:latin typeface="+mn-lt"/>
                              <a:ea typeface="Roboto" panose="02000000000000000000" pitchFamily="2" charset="0"/>
                            </a:rPr>
                            <a:t>Premisa1</a:t>
                          </a:r>
                          <a:r>
                            <a:rPr lang="es-MX" sz="1600" dirty="0">
                              <a:latin typeface="+mn-lt"/>
                              <a:ea typeface="Roboto" panose="02000000000000000000" pitchFamily="2" charset="0"/>
                            </a:rPr>
                            <a:t>: Un estudiante de esta clase no ha leído el libro</a:t>
                          </a:r>
                          <a:endParaRPr lang="es-CO" sz="1600" dirty="0">
                            <a:latin typeface="+mn-lt"/>
                            <a:ea typeface="Roboto" panose="02000000000000000000" pitchFamily="2"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56014" t="-42963" r="-687" b="-209630"/>
                          </a:stretch>
                        </a:blipFill>
                      </a:tcPr>
                    </a:tc>
                    <a:extLst>
                      <a:ext uri="{0D108BD9-81ED-4DB2-BD59-A6C34878D82A}">
                        <a16:rowId xmlns:a16="http://schemas.microsoft.com/office/drawing/2014/main" val="3412829917"/>
                      </a:ext>
                    </a:extLst>
                  </a:tr>
                  <a:tr h="82296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MX" sz="1600" dirty="0">
                              <a:latin typeface="+mn-lt"/>
                              <a:ea typeface="Roboto" panose="02000000000000000000" pitchFamily="2"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600" b="1" dirty="0">
                              <a:latin typeface="+mn-lt"/>
                            </a:rPr>
                            <a:t>Premisa 2</a:t>
                          </a:r>
                          <a:r>
                            <a:rPr lang="es-CO" sz="1600" dirty="0">
                              <a:latin typeface="+mn-lt"/>
                            </a:rPr>
                            <a:t>: </a:t>
                          </a:r>
                          <a:r>
                            <a:rPr lang="es-MX" sz="1600" dirty="0">
                              <a:latin typeface="+mn-lt"/>
                              <a:ea typeface="Roboto" panose="02000000000000000000" pitchFamily="2" charset="0"/>
                            </a:rPr>
                            <a:t>Todos en esta clase aprobaron el primer examen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56014" t="-141912" r="-687" b="-108088"/>
                          </a:stretch>
                        </a:blipFill>
                      </a:tcPr>
                    </a:tc>
                    <a:extLst>
                      <a:ext uri="{0D108BD9-81ED-4DB2-BD59-A6C34878D82A}">
                        <a16:rowId xmlns:a16="http://schemas.microsoft.com/office/drawing/2014/main" val="1575296453"/>
                      </a:ext>
                    </a:extLst>
                  </a:tr>
                  <a:tr h="82296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MX" sz="1600" dirty="0">
                              <a:latin typeface="+mn-lt"/>
                              <a:ea typeface="Roboto" panose="02000000000000000000" pitchFamily="2"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600" b="1" dirty="0">
                              <a:latin typeface="+mn-lt"/>
                              <a:ea typeface="Roboto" panose="02000000000000000000" pitchFamily="2" charset="0"/>
                            </a:rPr>
                            <a:t>Conclusión</a:t>
                          </a:r>
                          <a:r>
                            <a:rPr lang="es-MX" sz="1600" dirty="0">
                              <a:latin typeface="+mn-lt"/>
                              <a:ea typeface="Roboto" panose="02000000000000000000" pitchFamily="2" charset="0"/>
                            </a:rPr>
                            <a:t>: Alguien que aprobó el primer examen no ha leído el libro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s-CO"/>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3"/>
                          <a:stretch>
                            <a:fillRect l="-156014" t="-243704" r="-687" b="-8889"/>
                          </a:stretch>
                        </a:blipFill>
                      </a:tcPr>
                    </a:tc>
                    <a:extLst>
                      <a:ext uri="{0D108BD9-81ED-4DB2-BD59-A6C34878D82A}">
                        <a16:rowId xmlns:a16="http://schemas.microsoft.com/office/drawing/2014/main" val="3379990816"/>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7" name="Tabla 2">
                <a:extLst>
                  <a:ext uri="{FF2B5EF4-FFF2-40B4-BE49-F238E27FC236}">
                    <a16:creationId xmlns:a16="http://schemas.microsoft.com/office/drawing/2014/main" id="{48F87D2B-4563-4CD2-AC3D-E9D326A69BAA}"/>
                  </a:ext>
                </a:extLst>
              </p:cNvPr>
              <p:cNvGraphicFramePr>
                <a:graphicFrameLocks noGrp="1"/>
              </p:cNvGraphicFramePr>
              <p:nvPr>
                <p:extLst>
                  <p:ext uri="{D42A27DB-BD31-4B8C-83A1-F6EECF244321}">
                    <p14:modId xmlns:p14="http://schemas.microsoft.com/office/powerpoint/2010/main" val="1252830575"/>
                  </p:ext>
                </p:extLst>
              </p:nvPr>
            </p:nvGraphicFramePr>
            <p:xfrm>
              <a:off x="7328509" y="290566"/>
              <a:ext cx="4519838" cy="1493520"/>
            </p:xfrm>
            <a:graphic>
              <a:graphicData uri="http://schemas.openxmlformats.org/drawingml/2006/table">
                <a:tbl>
                  <a:tblPr firstRow="1" bandRow="1">
                    <a:tableStyleId>{AD6A3598-7CB8-4345-8D95-17CE05F158A0}</a:tableStyleId>
                  </a:tblPr>
                  <a:tblGrid>
                    <a:gridCol w="1152525">
                      <a:extLst>
                        <a:ext uri="{9D8B030D-6E8A-4147-A177-3AD203B41FA5}">
                          <a16:colId xmlns:a16="http://schemas.microsoft.com/office/drawing/2014/main" val="55665907"/>
                        </a:ext>
                      </a:extLst>
                    </a:gridCol>
                    <a:gridCol w="3367313">
                      <a:extLst>
                        <a:ext uri="{9D8B030D-6E8A-4147-A177-3AD203B41FA5}">
                          <a16:colId xmlns:a16="http://schemas.microsoft.com/office/drawing/2014/main" val="2393994677"/>
                        </a:ext>
                      </a:extLst>
                    </a:gridCol>
                  </a:tblGrid>
                  <a:tr h="0">
                    <a:tc>
                      <a:txBody>
                        <a:bodyPr/>
                        <a:lstStyle/>
                        <a:p>
                          <a:r>
                            <a:rPr lang="es-CO" sz="1600" b="1" dirty="0">
                              <a:latin typeface="+mn-lt"/>
                              <a:ea typeface="Roboto" panose="02000000000000000000" pitchFamily="2" charset="0"/>
                            </a:rPr>
                            <a:t>Dominio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600" b="0" i="1" dirty="0" smtClean="0">
                                    <a:latin typeface="Cambria Math" panose="02040503050406030204" pitchFamily="18" charset="0"/>
                                    <a:ea typeface="Roboto" panose="02000000000000000000" pitchFamily="2" charset="0"/>
                                  </a:rPr>
                                  <m:t>𝑈</m:t>
                                </m:r>
                                <m:r>
                                  <a:rPr lang="es-MX" sz="1600" b="0" i="1" dirty="0" smtClean="0">
                                    <a:latin typeface="Cambria Math" panose="02040503050406030204" pitchFamily="18" charset="0"/>
                                    <a:ea typeface="Roboto" panose="02000000000000000000" pitchFamily="2" charset="0"/>
                                  </a:rPr>
                                  <m:t>:</m:t>
                                </m:r>
                                <m:r>
                                  <m:rPr>
                                    <m:sty m:val="p"/>
                                  </m:rPr>
                                  <a:rPr lang="es-MX" sz="1600" b="0" i="0" dirty="0" smtClean="0">
                                    <a:latin typeface="Cambria Math" panose="02040503050406030204" pitchFamily="18" charset="0"/>
                                    <a:ea typeface="Roboto" panose="02000000000000000000" pitchFamily="2" charset="0"/>
                                  </a:rPr>
                                  <m:t>Todos</m:t>
                                </m:r>
                                <m:r>
                                  <a:rPr lang="es-MX" sz="1600" b="0" i="0" dirty="0" smtClean="0">
                                    <a:latin typeface="Cambria Math" panose="02040503050406030204" pitchFamily="18" charset="0"/>
                                    <a:ea typeface="Roboto" panose="02000000000000000000" pitchFamily="2" charset="0"/>
                                  </a:rPr>
                                  <m:t> </m:t>
                                </m:r>
                                <m:r>
                                  <m:rPr>
                                    <m:sty m:val="p"/>
                                  </m:rPr>
                                  <a:rPr lang="es-MX" sz="1600" b="0" i="0" dirty="0" smtClean="0">
                                    <a:latin typeface="Cambria Math" panose="02040503050406030204" pitchFamily="18" charset="0"/>
                                    <a:ea typeface="Roboto" panose="02000000000000000000" pitchFamily="2" charset="0"/>
                                  </a:rPr>
                                  <m:t>los</m:t>
                                </m:r>
                                <m:r>
                                  <a:rPr lang="es-MX" sz="1600" b="0" i="0" dirty="0" smtClean="0">
                                    <a:latin typeface="Cambria Math" panose="02040503050406030204" pitchFamily="18" charset="0"/>
                                    <a:ea typeface="Roboto" panose="02000000000000000000" pitchFamily="2" charset="0"/>
                                  </a:rPr>
                                  <m:t> </m:t>
                                </m:r>
                                <m:r>
                                  <m:rPr>
                                    <m:sty m:val="p"/>
                                  </m:rPr>
                                  <a:rPr lang="es-MX" sz="1600" b="0" i="0" dirty="0" smtClean="0">
                                    <a:latin typeface="Cambria Math" panose="02040503050406030204" pitchFamily="18" charset="0"/>
                                    <a:ea typeface="Roboto" panose="02000000000000000000" pitchFamily="2" charset="0"/>
                                  </a:rPr>
                                  <m:t>estudiantes</m:t>
                                </m:r>
                              </m:oMath>
                            </m:oMathPara>
                          </a14:m>
                          <a:endParaRPr lang="es-CO" sz="1600" b="0" i="0" dirty="0">
                            <a:latin typeface="Roboto" panose="02000000000000000000" pitchFamily="2"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54054099"/>
                      </a:ext>
                    </a:extLst>
                  </a:tr>
                  <a:tr h="0">
                    <a:tc>
                      <a:txBody>
                        <a:bodyPr/>
                        <a:lstStyle/>
                        <a:p>
                          <a:r>
                            <a:rPr lang="es-CO" sz="1600" b="1" dirty="0">
                              <a:latin typeface="+mn-lt"/>
                              <a:ea typeface="Roboto" panose="02000000000000000000" pitchFamily="2" charset="0"/>
                            </a:rPr>
                            <a:t>Variables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rPr>
                                  <m:t>𝑥</m:t>
                                </m:r>
                              </m:oMath>
                            </m:oMathPara>
                          </a14:m>
                          <a:endParaRPr lang="es-CO" sz="1600" dirty="0">
                            <a:latin typeface="Roboto" panose="02000000000000000000" pitchFamily="2" charset="0"/>
                            <a:ea typeface="Roboto" panose="02000000000000000000" pitchFamily="2"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90970474"/>
                      </a:ext>
                    </a:extLst>
                  </a:tr>
                  <a:tr h="192056">
                    <a:tc>
                      <a:txBody>
                        <a:bodyPr/>
                        <a:lstStyle/>
                        <a:p>
                          <a:r>
                            <a:rPr lang="es-CO" sz="1600" b="1" dirty="0">
                              <a:latin typeface="+mn-lt"/>
                              <a:ea typeface="Roboto" panose="02000000000000000000" pitchFamily="2" charset="0"/>
                            </a:rPr>
                            <a:t>Predicados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14:m>
                            <m:oMath xmlns:m="http://schemas.openxmlformats.org/officeDocument/2006/math">
                              <m:r>
                                <a:rPr lang="es-MX" sz="1600" b="0" i="1" smtClean="0">
                                  <a:latin typeface="Cambria Math" panose="02040503050406030204" pitchFamily="18" charset="0"/>
                                  <a:ea typeface="Cambria Math" panose="02040503050406030204" pitchFamily="18" charset="0"/>
                                </a:rPr>
                                <m:t>𝐶</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𝑥</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𝑥</m:t>
                              </m:r>
                              <m:r>
                                <a:rPr lang="es-MX" sz="1600" b="0" i="1" smtClean="0">
                                  <a:latin typeface="Cambria Math" panose="02040503050406030204" pitchFamily="18" charset="0"/>
                                  <a:ea typeface="Cambria Math" panose="02040503050406030204" pitchFamily="18" charset="0"/>
                                </a:rPr>
                                <m:t> </m:t>
                              </m:r>
                              <m:r>
                                <m:rPr>
                                  <m:sty m:val="p"/>
                                </m:rPr>
                                <a:rPr lang="es-MX" sz="1600" b="0" i="0" smtClean="0">
                                  <a:latin typeface="Cambria Math" panose="02040503050406030204" pitchFamily="18" charset="0"/>
                                  <a:ea typeface="Cambria Math" panose="02040503050406030204" pitchFamily="18" charset="0"/>
                                </a:rPr>
                                <m:t>esta</m:t>
                              </m:r>
                              <m:r>
                                <a:rPr lang="es-MX" sz="1600" b="0" i="0" smtClean="0">
                                  <a:latin typeface="Cambria Math" panose="02040503050406030204" pitchFamily="18" charset="0"/>
                                  <a:ea typeface="Cambria Math" panose="02040503050406030204" pitchFamily="18" charset="0"/>
                                </a:rPr>
                                <m:t> </m:t>
                              </m:r>
                              <m:r>
                                <m:rPr>
                                  <m:sty m:val="p"/>
                                </m:rPr>
                                <a:rPr lang="es-MX" sz="1600" b="0" i="0" smtClean="0">
                                  <a:latin typeface="Cambria Math" panose="02040503050406030204" pitchFamily="18" charset="0"/>
                                  <a:ea typeface="Cambria Math" panose="02040503050406030204" pitchFamily="18" charset="0"/>
                                </a:rPr>
                                <m:t>en</m:t>
                              </m:r>
                              <m:r>
                                <a:rPr lang="es-MX" sz="1600" b="0" i="0" smtClean="0">
                                  <a:latin typeface="Cambria Math" panose="02040503050406030204" pitchFamily="18" charset="0"/>
                                  <a:ea typeface="Cambria Math" panose="02040503050406030204" pitchFamily="18" charset="0"/>
                                </a:rPr>
                                <m:t> </m:t>
                              </m:r>
                              <m:r>
                                <m:rPr>
                                  <m:sty m:val="p"/>
                                </m:rPr>
                                <a:rPr lang="es-MX" sz="1600" b="0" i="0" smtClean="0">
                                  <a:latin typeface="Cambria Math" panose="02040503050406030204" pitchFamily="18" charset="0"/>
                                  <a:ea typeface="Cambria Math" panose="02040503050406030204" pitchFamily="18" charset="0"/>
                                </a:rPr>
                                <m:t>esta</m:t>
                              </m:r>
                              <m:r>
                                <a:rPr lang="es-MX" sz="1600" b="0" i="0" smtClean="0">
                                  <a:latin typeface="Cambria Math" panose="02040503050406030204" pitchFamily="18" charset="0"/>
                                  <a:ea typeface="Cambria Math" panose="02040503050406030204" pitchFamily="18" charset="0"/>
                                </a:rPr>
                                <m:t> </m:t>
                              </m:r>
                              <m:r>
                                <m:rPr>
                                  <m:sty m:val="p"/>
                                </m:rPr>
                                <a:rPr lang="es-MX" sz="1600" b="0" i="0" smtClean="0">
                                  <a:latin typeface="Cambria Math" panose="02040503050406030204" pitchFamily="18" charset="0"/>
                                  <a:ea typeface="Cambria Math" panose="02040503050406030204" pitchFamily="18" charset="0"/>
                                </a:rPr>
                                <m:t>clase</m:t>
                              </m:r>
                            </m:oMath>
                          </a14:m>
                          <a:endParaRPr lang="es-MX" sz="1600" b="0" i="0" dirty="0">
                            <a:latin typeface="Cambria Math" panose="02040503050406030204" pitchFamily="18" charset="0"/>
                            <a:ea typeface="Cambria Math" panose="02040503050406030204" pitchFamily="18" charset="0"/>
                          </a:endParaRP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14:m>
                            <m:oMath xmlns:m="http://schemas.openxmlformats.org/officeDocument/2006/math">
                              <m:r>
                                <a:rPr lang="es-MX" sz="1600" b="0" i="1" smtClean="0">
                                  <a:solidFill>
                                    <a:schemeClr val="tx1"/>
                                  </a:solidFill>
                                  <a:latin typeface="Cambria Math" panose="02040503050406030204" pitchFamily="18" charset="0"/>
                                  <a:ea typeface="Cambria Math" panose="02040503050406030204" pitchFamily="18" charset="0"/>
                                </a:rPr>
                                <m:t>𝐿</m:t>
                              </m:r>
                              <m:d>
                                <m:dPr>
                                  <m:ctrlPr>
                                    <a:rPr lang="es-MX" sz="1600" b="0" i="1" smtClean="0">
                                      <a:solidFill>
                                        <a:schemeClr val="tx1"/>
                                      </a:solidFill>
                                      <a:latin typeface="Cambria Math" panose="02040503050406030204" pitchFamily="18" charset="0"/>
                                      <a:ea typeface="Cambria Math" panose="02040503050406030204" pitchFamily="18" charset="0"/>
                                    </a:rPr>
                                  </m:ctrlPr>
                                </m:dPr>
                                <m:e>
                                  <m:r>
                                    <a:rPr lang="es-MX" sz="1600" b="0" i="1" smtClean="0">
                                      <a:solidFill>
                                        <a:schemeClr val="tx1"/>
                                      </a:solidFill>
                                      <a:latin typeface="Cambria Math" panose="02040503050406030204" pitchFamily="18" charset="0"/>
                                      <a:ea typeface="Cambria Math" panose="02040503050406030204" pitchFamily="18" charset="0"/>
                                    </a:rPr>
                                    <m:t>𝑥</m:t>
                                  </m:r>
                                </m:e>
                              </m:d>
                              <m:r>
                                <a:rPr lang="es-MX" sz="1600" b="0" i="1" smtClean="0">
                                  <a:solidFill>
                                    <a:schemeClr val="tx1"/>
                                  </a:solidFill>
                                  <a:latin typeface="Cambria Math" panose="02040503050406030204" pitchFamily="18" charset="0"/>
                                  <a:ea typeface="Cambria Math" panose="02040503050406030204" pitchFamily="18" charset="0"/>
                                </a:rPr>
                                <m:t>: </m:t>
                              </m:r>
                              <m:r>
                                <a:rPr lang="es-MX" sz="1600" b="0" i="1" smtClean="0">
                                  <a:solidFill>
                                    <a:schemeClr val="tx1"/>
                                  </a:solidFill>
                                  <a:latin typeface="Cambria Math" panose="02040503050406030204" pitchFamily="18" charset="0"/>
                                  <a:ea typeface="Cambria Math" panose="02040503050406030204" pitchFamily="18" charset="0"/>
                                </a:rPr>
                                <m:t>𝑥</m:t>
                              </m:r>
                              <m:r>
                                <a:rPr lang="es-MX" sz="1600" b="0" i="1" smtClean="0">
                                  <a:solidFill>
                                    <a:schemeClr val="tx1"/>
                                  </a:solidFill>
                                  <a:latin typeface="Cambria Math" panose="02040503050406030204" pitchFamily="18" charset="0"/>
                                  <a:ea typeface="Cambria Math" panose="02040503050406030204" pitchFamily="18" charset="0"/>
                                </a:rPr>
                                <m:t> </m:t>
                              </m:r>
                              <m:r>
                                <m:rPr>
                                  <m:sty m:val="p"/>
                                </m:rPr>
                                <a:rPr lang="es-MX" sz="1600" b="0" i="0" smtClean="0">
                                  <a:solidFill>
                                    <a:schemeClr val="tx1"/>
                                  </a:solidFill>
                                  <a:latin typeface="Cambria Math" panose="02040503050406030204" pitchFamily="18" charset="0"/>
                                  <a:ea typeface="Cambria Math" panose="02040503050406030204" pitchFamily="18" charset="0"/>
                                </a:rPr>
                                <m:t>leyo</m:t>
                              </m:r>
                              <m:r>
                                <a:rPr lang="es-MX" sz="1600" b="0" i="0" smtClean="0">
                                  <a:solidFill>
                                    <a:schemeClr val="tx1"/>
                                  </a:solidFill>
                                  <a:latin typeface="Cambria Math" panose="02040503050406030204" pitchFamily="18" charset="0"/>
                                  <a:ea typeface="Cambria Math" panose="02040503050406030204" pitchFamily="18" charset="0"/>
                                </a:rPr>
                                <m:t> </m:t>
                              </m:r>
                              <m:r>
                                <m:rPr>
                                  <m:sty m:val="p"/>
                                </m:rPr>
                                <a:rPr lang="es-MX" sz="1600" b="0" i="0" smtClean="0">
                                  <a:solidFill>
                                    <a:schemeClr val="tx1"/>
                                  </a:solidFill>
                                  <a:latin typeface="Cambria Math" panose="02040503050406030204" pitchFamily="18" charset="0"/>
                                  <a:ea typeface="Cambria Math" panose="02040503050406030204" pitchFamily="18" charset="0"/>
                                </a:rPr>
                                <m:t>el</m:t>
                              </m:r>
                              <m:r>
                                <a:rPr lang="es-MX" sz="1600" b="0" i="0" smtClean="0">
                                  <a:solidFill>
                                    <a:schemeClr val="tx1"/>
                                  </a:solidFill>
                                  <a:latin typeface="Cambria Math" panose="02040503050406030204" pitchFamily="18" charset="0"/>
                                  <a:ea typeface="Cambria Math" panose="02040503050406030204" pitchFamily="18" charset="0"/>
                                </a:rPr>
                                <m:t> </m:t>
                              </m:r>
                              <m:r>
                                <m:rPr>
                                  <m:sty m:val="p"/>
                                </m:rPr>
                                <a:rPr lang="es-MX" sz="1600" b="0" i="0" smtClean="0">
                                  <a:solidFill>
                                    <a:schemeClr val="tx1"/>
                                  </a:solidFill>
                                  <a:latin typeface="Cambria Math" panose="02040503050406030204" pitchFamily="18" charset="0"/>
                                  <a:ea typeface="Cambria Math" panose="02040503050406030204" pitchFamily="18" charset="0"/>
                                </a:rPr>
                                <m:t>libro</m:t>
                              </m:r>
                            </m:oMath>
                          </a14:m>
                          <a:endParaRPr lang="es-MX" sz="1600" b="0" i="1" dirty="0">
                            <a:solidFill>
                              <a:schemeClr val="tx1"/>
                            </a:solidFill>
                            <a:latin typeface="Cambria Math" panose="02040503050406030204" pitchFamily="18" charset="0"/>
                            <a:ea typeface="Cambria Math" panose="02040503050406030204" pitchFamily="18" charset="0"/>
                          </a:endParaRP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14:m>
                            <m:oMath xmlns:m="http://schemas.openxmlformats.org/officeDocument/2006/math">
                              <m:r>
                                <a:rPr lang="es-MX" sz="1600" b="0" i="1" smtClean="0">
                                  <a:solidFill>
                                    <a:schemeClr val="tx1"/>
                                  </a:solidFill>
                                  <a:latin typeface="Cambria Math" panose="02040503050406030204" pitchFamily="18" charset="0"/>
                                  <a:ea typeface="Cambria Math" panose="02040503050406030204" pitchFamily="18" charset="0"/>
                                </a:rPr>
                                <m:t>𝐴</m:t>
                              </m:r>
                              <m:d>
                                <m:dPr>
                                  <m:ctrlPr>
                                    <a:rPr lang="es-MX" sz="1600" b="0" i="1" smtClean="0">
                                      <a:solidFill>
                                        <a:schemeClr val="tx1"/>
                                      </a:solidFill>
                                      <a:latin typeface="Cambria Math" panose="02040503050406030204" pitchFamily="18" charset="0"/>
                                      <a:ea typeface="Cambria Math" panose="02040503050406030204" pitchFamily="18" charset="0"/>
                                    </a:rPr>
                                  </m:ctrlPr>
                                </m:dPr>
                                <m:e>
                                  <m:r>
                                    <a:rPr lang="es-MX" sz="1600" b="0" i="1" smtClean="0">
                                      <a:solidFill>
                                        <a:schemeClr val="tx1"/>
                                      </a:solidFill>
                                      <a:latin typeface="Cambria Math" panose="02040503050406030204" pitchFamily="18" charset="0"/>
                                      <a:ea typeface="Cambria Math" panose="02040503050406030204" pitchFamily="18" charset="0"/>
                                    </a:rPr>
                                    <m:t>𝑥</m:t>
                                  </m:r>
                                </m:e>
                              </m:d>
                              <m:r>
                                <a:rPr lang="es-MX" sz="1600" b="0" i="1" smtClean="0">
                                  <a:solidFill>
                                    <a:schemeClr val="tx1"/>
                                  </a:solidFill>
                                  <a:latin typeface="Cambria Math" panose="02040503050406030204" pitchFamily="18" charset="0"/>
                                  <a:ea typeface="Cambria Math" panose="02040503050406030204" pitchFamily="18" charset="0"/>
                                </a:rPr>
                                <m:t>: </m:t>
                              </m:r>
                              <m:r>
                                <a:rPr lang="es-MX" sz="1600" b="0" i="1" smtClean="0">
                                  <a:solidFill>
                                    <a:schemeClr val="tx1"/>
                                  </a:solidFill>
                                  <a:latin typeface="Cambria Math" panose="02040503050406030204" pitchFamily="18" charset="0"/>
                                  <a:ea typeface="Cambria Math" panose="02040503050406030204" pitchFamily="18" charset="0"/>
                                </a:rPr>
                                <m:t>𝑥</m:t>
                              </m:r>
                              <m:r>
                                <a:rPr lang="es-MX" sz="1600" b="0" i="1" smtClean="0">
                                  <a:solidFill>
                                    <a:schemeClr val="tx1"/>
                                  </a:solidFill>
                                  <a:latin typeface="Cambria Math" panose="02040503050406030204" pitchFamily="18" charset="0"/>
                                  <a:ea typeface="Cambria Math" panose="02040503050406030204" pitchFamily="18" charset="0"/>
                                </a:rPr>
                                <m:t> </m:t>
                              </m:r>
                              <m:r>
                                <m:rPr>
                                  <m:sty m:val="p"/>
                                </m:rPr>
                                <a:rPr lang="es-MX" sz="1600" b="0" i="0" smtClean="0">
                                  <a:solidFill>
                                    <a:schemeClr val="tx1"/>
                                  </a:solidFill>
                                  <a:latin typeface="Cambria Math" panose="02040503050406030204" pitchFamily="18" charset="0"/>
                                  <a:ea typeface="Cambria Math" panose="02040503050406030204" pitchFamily="18" charset="0"/>
                                </a:rPr>
                                <m:t>aprobo</m:t>
                              </m:r>
                              <m:r>
                                <a:rPr lang="es-MX" sz="1600" b="0" i="0" smtClean="0">
                                  <a:solidFill>
                                    <a:schemeClr val="tx1"/>
                                  </a:solidFill>
                                  <a:latin typeface="Cambria Math" panose="02040503050406030204" pitchFamily="18" charset="0"/>
                                  <a:ea typeface="Cambria Math" panose="02040503050406030204" pitchFamily="18" charset="0"/>
                                </a:rPr>
                                <m:t> </m:t>
                              </m:r>
                              <m:r>
                                <m:rPr>
                                  <m:sty m:val="p"/>
                                </m:rPr>
                                <a:rPr lang="es-MX" sz="1600" b="0" i="0" smtClean="0">
                                  <a:solidFill>
                                    <a:schemeClr val="tx1"/>
                                  </a:solidFill>
                                  <a:latin typeface="Cambria Math" panose="02040503050406030204" pitchFamily="18" charset="0"/>
                                  <a:ea typeface="Cambria Math" panose="02040503050406030204" pitchFamily="18" charset="0"/>
                                </a:rPr>
                                <m:t>el</m:t>
                              </m:r>
                              <m:r>
                                <a:rPr lang="es-MX" sz="1600" b="0" i="0" smtClean="0">
                                  <a:solidFill>
                                    <a:schemeClr val="tx1"/>
                                  </a:solidFill>
                                  <a:latin typeface="Cambria Math" panose="02040503050406030204" pitchFamily="18" charset="0"/>
                                  <a:ea typeface="Cambria Math" panose="02040503050406030204" pitchFamily="18" charset="0"/>
                                </a:rPr>
                                <m:t> </m:t>
                              </m:r>
                              <m:r>
                                <m:rPr>
                                  <m:sty m:val="p"/>
                                </m:rPr>
                                <a:rPr lang="es-MX" sz="1600" b="0" i="0" smtClean="0">
                                  <a:solidFill>
                                    <a:schemeClr val="tx1"/>
                                  </a:solidFill>
                                  <a:latin typeface="Cambria Math" panose="02040503050406030204" pitchFamily="18" charset="0"/>
                                  <a:ea typeface="Cambria Math" panose="02040503050406030204" pitchFamily="18" charset="0"/>
                                </a:rPr>
                                <m:t>primer</m:t>
                              </m:r>
                              <m:r>
                                <a:rPr lang="es-MX" sz="1600" b="0" i="0" smtClean="0">
                                  <a:solidFill>
                                    <a:schemeClr val="tx1"/>
                                  </a:solidFill>
                                  <a:latin typeface="Cambria Math" panose="02040503050406030204" pitchFamily="18" charset="0"/>
                                  <a:ea typeface="Cambria Math" panose="02040503050406030204" pitchFamily="18" charset="0"/>
                                </a:rPr>
                                <m:t> </m:t>
                              </m:r>
                              <m:r>
                                <m:rPr>
                                  <m:sty m:val="p"/>
                                </m:rPr>
                                <a:rPr lang="es-MX" sz="1600" b="0" i="0" smtClean="0">
                                  <a:solidFill>
                                    <a:schemeClr val="tx1"/>
                                  </a:solidFill>
                                  <a:latin typeface="Cambria Math" panose="02040503050406030204" pitchFamily="18" charset="0"/>
                                  <a:ea typeface="Cambria Math" panose="02040503050406030204" pitchFamily="18" charset="0"/>
                                </a:rPr>
                                <m:t>examen</m:t>
                              </m:r>
                            </m:oMath>
                          </a14:m>
                          <a:endParaRPr lang="es-MX" sz="1600" b="0" i="1" dirty="0">
                            <a:solidFill>
                              <a:schemeClr val="tx1"/>
                            </a:solidFill>
                            <a:latin typeface="Cambria Math" panose="02040503050406030204" pitchFamily="18" charset="0"/>
                            <a:ea typeface="Cambria Math" panose="020405030504060302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2933263"/>
                      </a:ext>
                    </a:extLst>
                  </a:tr>
                </a:tbl>
              </a:graphicData>
            </a:graphic>
          </p:graphicFrame>
        </mc:Choice>
        <mc:Fallback>
          <p:graphicFrame>
            <p:nvGraphicFramePr>
              <p:cNvPr id="7" name="Tabla 2">
                <a:extLst>
                  <a:ext uri="{FF2B5EF4-FFF2-40B4-BE49-F238E27FC236}">
                    <a16:creationId xmlns:a16="http://schemas.microsoft.com/office/drawing/2014/main" id="{48F87D2B-4563-4CD2-AC3D-E9D326A69BAA}"/>
                  </a:ext>
                </a:extLst>
              </p:cNvPr>
              <p:cNvGraphicFramePr>
                <a:graphicFrameLocks noGrp="1"/>
              </p:cNvGraphicFramePr>
              <p:nvPr>
                <p:extLst>
                  <p:ext uri="{D42A27DB-BD31-4B8C-83A1-F6EECF244321}">
                    <p14:modId xmlns:p14="http://schemas.microsoft.com/office/powerpoint/2010/main" val="1252830575"/>
                  </p:ext>
                </p:extLst>
              </p:nvPr>
            </p:nvGraphicFramePr>
            <p:xfrm>
              <a:off x="7328509" y="290566"/>
              <a:ext cx="4519838" cy="1493520"/>
            </p:xfrm>
            <a:graphic>
              <a:graphicData uri="http://schemas.openxmlformats.org/drawingml/2006/table">
                <a:tbl>
                  <a:tblPr firstRow="1" bandRow="1">
                    <a:tableStyleId>{AD6A3598-7CB8-4345-8D95-17CE05F158A0}</a:tableStyleId>
                  </a:tblPr>
                  <a:tblGrid>
                    <a:gridCol w="1152525">
                      <a:extLst>
                        <a:ext uri="{9D8B030D-6E8A-4147-A177-3AD203B41FA5}">
                          <a16:colId xmlns:a16="http://schemas.microsoft.com/office/drawing/2014/main" val="55665907"/>
                        </a:ext>
                      </a:extLst>
                    </a:gridCol>
                    <a:gridCol w="3367313">
                      <a:extLst>
                        <a:ext uri="{9D8B030D-6E8A-4147-A177-3AD203B41FA5}">
                          <a16:colId xmlns:a16="http://schemas.microsoft.com/office/drawing/2014/main" val="2393994677"/>
                        </a:ext>
                      </a:extLst>
                    </a:gridCol>
                  </a:tblGrid>
                  <a:tr h="335280">
                    <a:tc>
                      <a:txBody>
                        <a:bodyPr/>
                        <a:lstStyle/>
                        <a:p>
                          <a:r>
                            <a:rPr lang="es-CO" sz="1600" b="1" dirty="0">
                              <a:latin typeface="+mn-lt"/>
                              <a:ea typeface="Roboto" panose="02000000000000000000" pitchFamily="2" charset="0"/>
                            </a:rPr>
                            <a:t>Dominio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4358" t="-3636" r="-362" b="-365455"/>
                          </a:stretch>
                        </a:blipFill>
                      </a:tcPr>
                    </a:tc>
                    <a:extLst>
                      <a:ext uri="{0D108BD9-81ED-4DB2-BD59-A6C34878D82A}">
                        <a16:rowId xmlns:a16="http://schemas.microsoft.com/office/drawing/2014/main" val="2554054099"/>
                      </a:ext>
                    </a:extLst>
                  </a:tr>
                  <a:tr h="335280">
                    <a:tc>
                      <a:txBody>
                        <a:bodyPr/>
                        <a:lstStyle/>
                        <a:p>
                          <a:r>
                            <a:rPr lang="es-CO" sz="1600" b="1" dirty="0">
                              <a:latin typeface="+mn-lt"/>
                              <a:ea typeface="Roboto" panose="02000000000000000000" pitchFamily="2" charset="0"/>
                            </a:rPr>
                            <a:t>Variables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4358" t="-103636" r="-362" b="-265455"/>
                          </a:stretch>
                        </a:blipFill>
                      </a:tcPr>
                    </a:tc>
                    <a:extLst>
                      <a:ext uri="{0D108BD9-81ED-4DB2-BD59-A6C34878D82A}">
                        <a16:rowId xmlns:a16="http://schemas.microsoft.com/office/drawing/2014/main" val="1590970474"/>
                      </a:ext>
                    </a:extLst>
                  </a:tr>
                  <a:tr h="822960">
                    <a:tc>
                      <a:txBody>
                        <a:bodyPr/>
                        <a:lstStyle/>
                        <a:p>
                          <a:r>
                            <a:rPr lang="es-CO" sz="1600" b="1" dirty="0">
                              <a:latin typeface="+mn-lt"/>
                              <a:ea typeface="Roboto" panose="02000000000000000000" pitchFamily="2" charset="0"/>
                            </a:rPr>
                            <a:t>Predicados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endParaRPr lang="es-CO"/>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4"/>
                          <a:stretch>
                            <a:fillRect l="-34358" t="-82353" r="-362" b="-7353"/>
                          </a:stretch>
                        </a:blipFill>
                      </a:tcPr>
                    </a:tc>
                    <a:extLst>
                      <a:ext uri="{0D108BD9-81ED-4DB2-BD59-A6C34878D82A}">
                        <a16:rowId xmlns:a16="http://schemas.microsoft.com/office/drawing/2014/main" val="1362933263"/>
                      </a:ext>
                    </a:extLst>
                  </a:tr>
                </a:tbl>
              </a:graphicData>
            </a:graphic>
          </p:graphicFrame>
        </mc:Fallback>
      </mc:AlternateContent>
      <p:grpSp>
        <p:nvGrpSpPr>
          <p:cNvPr id="11" name="Grupo 10">
            <a:extLst>
              <a:ext uri="{FF2B5EF4-FFF2-40B4-BE49-F238E27FC236}">
                <a16:creationId xmlns:a16="http://schemas.microsoft.com/office/drawing/2014/main" id="{F3448778-D45A-4A59-83D2-F2D1FBF2CAD1}"/>
              </a:ext>
            </a:extLst>
          </p:cNvPr>
          <p:cNvGrpSpPr/>
          <p:nvPr/>
        </p:nvGrpSpPr>
        <p:grpSpPr>
          <a:xfrm>
            <a:off x="1968103" y="1037326"/>
            <a:ext cx="3125642" cy="1829347"/>
            <a:chOff x="4134911" y="4512927"/>
            <a:chExt cx="2392093" cy="1829347"/>
          </a:xfrm>
        </p:grpSpPr>
        <mc:AlternateContent xmlns:mc="http://schemas.openxmlformats.org/markup-compatibility/2006">
          <mc:Choice xmlns:a14="http://schemas.microsoft.com/office/drawing/2010/main" Requires="a14">
            <p:sp>
              <p:nvSpPr>
                <p:cNvPr id="12" name="CuadroTexto 11">
                  <a:extLst>
                    <a:ext uri="{FF2B5EF4-FFF2-40B4-BE49-F238E27FC236}">
                      <a16:creationId xmlns:a16="http://schemas.microsoft.com/office/drawing/2014/main" id="{F91D5BB4-8EBF-40C5-9626-9D0B1F9C3BDA}"/>
                    </a:ext>
                  </a:extLst>
                </p:cNvPr>
                <p:cNvSpPr txBox="1"/>
                <p:nvPr/>
              </p:nvSpPr>
              <p:spPr>
                <a:xfrm>
                  <a:off x="4134911" y="4512927"/>
                  <a:ext cx="2392093" cy="1829347"/>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s-MX" sz="2000" i="1" smtClean="0">
                            <a:latin typeface="Cambria Math" panose="02040503050406030204" pitchFamily="18" charset="0"/>
                            <a:ea typeface="Cambria Math" panose="02040503050406030204" pitchFamily="18" charset="0"/>
                          </a:rPr>
                          <m:t>∃</m:t>
                        </m:r>
                        <m:r>
                          <a:rPr lang="es-MX" sz="2000" i="1" smtClean="0">
                            <a:latin typeface="Cambria Math" panose="02040503050406030204" pitchFamily="18" charset="0"/>
                            <a:ea typeface="Cambria Math" panose="02040503050406030204" pitchFamily="18" charset="0"/>
                          </a:rPr>
                          <m:t>𝑥</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𝐶</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𝑥</m:t>
                                </m:r>
                              </m:e>
                            </m:d>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𝐿</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𝑥</m:t>
                                </m:r>
                              </m:e>
                            </m:d>
                          </m:e>
                        </m:d>
                        <m:r>
                          <a:rPr lang="es-MX" sz="2000" b="0" i="0" smtClean="0">
                            <a:latin typeface="Cambria Math" panose="02040503050406030204" pitchFamily="18" charset="0"/>
                            <a:ea typeface="Cambria Math" panose="02040503050406030204" pitchFamily="18" charset="0"/>
                          </a:rPr>
                          <m:t>     </m:t>
                        </m:r>
                        <m:r>
                          <a:rPr lang="es-MX" sz="2000" b="0" i="1" smtClean="0">
                            <a:latin typeface="Cambria Math" panose="02040503050406030204" pitchFamily="18" charset="0"/>
                            <a:ea typeface="Roboto" panose="02000000000000000000" pitchFamily="2" charset="0"/>
                          </a:rPr>
                          <m:t>(</m:t>
                        </m:r>
                        <m:r>
                          <a:rPr lang="es-MX" sz="2000" b="0" i="1" smtClean="0">
                            <a:latin typeface="Cambria Math" panose="02040503050406030204" pitchFamily="18" charset="0"/>
                            <a:ea typeface="Roboto" panose="02000000000000000000" pitchFamily="2" charset="0"/>
                          </a:rPr>
                          <m:t>𝑎</m:t>
                        </m:r>
                        <m:r>
                          <a:rPr lang="es-MX" sz="2000" b="0" i="1" smtClean="0">
                            <a:latin typeface="Cambria Math" panose="02040503050406030204" pitchFamily="18" charset="0"/>
                            <a:ea typeface="Roboto" panose="02000000000000000000" pitchFamily="2" charset="0"/>
                          </a:rPr>
                          <m:t>)</m:t>
                        </m:r>
                      </m:oMath>
                    </m:oMathPara>
                  </a14:m>
                  <a:endParaRPr lang="es-MX" sz="2000" b="0" i="1" dirty="0">
                    <a:latin typeface="Cambria Math" panose="02040503050406030204" pitchFamily="18" charset="0"/>
                    <a:ea typeface="Roboto" panose="02000000000000000000" pitchFamily="2" charset="0"/>
                  </a:endParaRPr>
                </a:p>
                <a:p>
                  <a:pPr/>
                  <a14:m>
                    <m:oMathPara xmlns:m="http://schemas.openxmlformats.org/officeDocument/2006/math">
                      <m:oMathParaPr>
                        <m:jc m:val="left"/>
                      </m:oMathParaPr>
                      <m:oMath xmlns:m="http://schemas.openxmlformats.org/officeDocument/2006/math">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𝑥</m:t>
                        </m:r>
                        <m:r>
                          <a:rPr lang="es-MX" sz="2000" i="1">
                            <a:latin typeface="Cambria Math" panose="02040503050406030204" pitchFamily="18" charset="0"/>
                            <a:ea typeface="Cambria Math" panose="02040503050406030204" pitchFamily="18" charset="0"/>
                          </a:rPr>
                          <m:t> </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𝐶</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𝑥</m:t>
                                </m:r>
                              </m:e>
                            </m:d>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𝐴</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𝑥</m:t>
                                </m:r>
                              </m:e>
                            </m:d>
                          </m:e>
                        </m:d>
                        <m:r>
                          <a:rPr lang="es-MX" sz="2000" b="0" i="0" smtClean="0">
                            <a:latin typeface="Cambria Math" panose="02040503050406030204" pitchFamily="18" charset="0"/>
                            <a:ea typeface="Cambria Math" panose="02040503050406030204" pitchFamily="18" charset="0"/>
                          </a:rPr>
                          <m:t>     </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𝑏</m:t>
                            </m:r>
                          </m:e>
                        </m:d>
                      </m:oMath>
                    </m:oMathPara>
                  </a14:m>
                  <a:endParaRPr lang="es-MX" sz="2000" b="0" i="1" dirty="0">
                    <a:latin typeface="Cambria Math" panose="02040503050406030204" pitchFamily="18" charset="0"/>
                    <a:ea typeface="Roboto" panose="02000000000000000000" pitchFamily="2" charset="0"/>
                  </a:endParaRPr>
                </a:p>
                <a:p>
                  <a:pPr/>
                  <a14:m>
                    <m:oMathPara xmlns:m="http://schemas.openxmlformats.org/officeDocument/2006/math">
                      <m:oMathParaPr>
                        <m:jc m:val="left"/>
                      </m:oMathParaPr>
                      <m:oMath xmlns:m="http://schemas.openxmlformats.org/officeDocument/2006/math">
                        <m:r>
                          <a:rPr lang="es-MX" sz="2000" b="0" i="1" smtClean="0">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𝑥</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𝐴</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𝑥</m:t>
                                </m:r>
                              </m:e>
                            </m:d>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𝐿</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𝑥</m:t>
                                </m:r>
                              </m:e>
                            </m:d>
                          </m:e>
                        </m:d>
                      </m:oMath>
                    </m:oMathPara>
                  </a14:m>
                  <a:endParaRPr lang="es-MX" sz="2000" dirty="0">
                    <a:latin typeface="Roboto" panose="02000000000000000000" pitchFamily="2" charset="0"/>
                    <a:ea typeface="Roboto" panose="02000000000000000000" pitchFamily="2" charset="0"/>
                  </a:endParaRPr>
                </a:p>
              </p:txBody>
            </p:sp>
          </mc:Choice>
          <mc:Fallback>
            <p:sp>
              <p:nvSpPr>
                <p:cNvPr id="12" name="CuadroTexto 11">
                  <a:extLst>
                    <a:ext uri="{FF2B5EF4-FFF2-40B4-BE49-F238E27FC236}">
                      <a16:creationId xmlns:a16="http://schemas.microsoft.com/office/drawing/2014/main" id="{F91D5BB4-8EBF-40C5-9626-9D0B1F9C3BDA}"/>
                    </a:ext>
                  </a:extLst>
                </p:cNvPr>
                <p:cNvSpPr txBox="1">
                  <a:spLocks noRot="1" noChangeAspect="1" noMove="1" noResize="1" noEditPoints="1" noAdjustHandles="1" noChangeArrowheads="1" noChangeShapeType="1" noTextEdit="1"/>
                </p:cNvSpPr>
                <p:nvPr/>
              </p:nvSpPr>
              <p:spPr>
                <a:xfrm>
                  <a:off x="4134911" y="4512927"/>
                  <a:ext cx="2392093" cy="1829347"/>
                </a:xfrm>
                <a:prstGeom prst="rect">
                  <a:avLst/>
                </a:prstGeom>
                <a:blipFill>
                  <a:blip r:embed="rId5"/>
                  <a:stretch>
                    <a:fillRect/>
                  </a:stretch>
                </a:blipFill>
              </p:spPr>
              <p:txBody>
                <a:bodyPr/>
                <a:lstStyle/>
                <a:p>
                  <a:r>
                    <a:rPr lang="es-CO">
                      <a:noFill/>
                    </a:rPr>
                    <a:t> </a:t>
                  </a:r>
                </a:p>
              </p:txBody>
            </p:sp>
          </mc:Fallback>
        </mc:AlternateContent>
        <p:cxnSp>
          <p:nvCxnSpPr>
            <p:cNvPr id="13" name="Conector recto 12">
              <a:extLst>
                <a:ext uri="{FF2B5EF4-FFF2-40B4-BE49-F238E27FC236}">
                  <a16:creationId xmlns:a16="http://schemas.microsoft.com/office/drawing/2014/main" id="{8FC17297-35A7-4004-B285-1FA8C4731820}"/>
                </a:ext>
              </a:extLst>
            </p:cNvPr>
            <p:cNvCxnSpPr>
              <a:cxnSpLocks/>
            </p:cNvCxnSpPr>
            <p:nvPr/>
          </p:nvCxnSpPr>
          <p:spPr>
            <a:xfrm>
              <a:off x="4218931" y="5254327"/>
              <a:ext cx="219296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graphicFrame>
            <p:nvGraphicFramePr>
              <p:cNvPr id="14" name="Tabla 2">
                <a:extLst>
                  <a:ext uri="{FF2B5EF4-FFF2-40B4-BE49-F238E27FC236}">
                    <a16:creationId xmlns:a16="http://schemas.microsoft.com/office/drawing/2014/main" id="{7220BB13-3652-457C-A378-3DF759F1EC07}"/>
                  </a:ext>
                </a:extLst>
              </p:cNvPr>
              <p:cNvGraphicFramePr>
                <a:graphicFrameLocks noGrp="1"/>
              </p:cNvGraphicFramePr>
              <p:nvPr>
                <p:extLst>
                  <p:ext uri="{D42A27DB-BD31-4B8C-83A1-F6EECF244321}">
                    <p14:modId xmlns:p14="http://schemas.microsoft.com/office/powerpoint/2010/main" val="2420816506"/>
                  </p:ext>
                </p:extLst>
              </p:nvPr>
            </p:nvGraphicFramePr>
            <p:xfrm>
              <a:off x="381399" y="2472358"/>
              <a:ext cx="6258432" cy="4080129"/>
            </p:xfrm>
            <a:graphic>
              <a:graphicData uri="http://schemas.openxmlformats.org/drawingml/2006/table">
                <a:tbl>
                  <a:tblPr firstRow="1" bandRow="1">
                    <a:tableStyleId>{AD6A3598-7CB8-4345-8D95-17CE05F158A0}</a:tableStyleId>
                  </a:tblPr>
                  <a:tblGrid>
                    <a:gridCol w="388469">
                      <a:extLst>
                        <a:ext uri="{9D8B030D-6E8A-4147-A177-3AD203B41FA5}">
                          <a16:colId xmlns:a16="http://schemas.microsoft.com/office/drawing/2014/main" val="1610952478"/>
                        </a:ext>
                      </a:extLst>
                    </a:gridCol>
                    <a:gridCol w="140527">
                      <a:extLst>
                        <a:ext uri="{9D8B030D-6E8A-4147-A177-3AD203B41FA5}">
                          <a16:colId xmlns:a16="http://schemas.microsoft.com/office/drawing/2014/main" val="1919891108"/>
                        </a:ext>
                      </a:extLst>
                    </a:gridCol>
                    <a:gridCol w="2283148">
                      <a:extLst>
                        <a:ext uri="{9D8B030D-6E8A-4147-A177-3AD203B41FA5}">
                          <a16:colId xmlns:a16="http://schemas.microsoft.com/office/drawing/2014/main" val="2942974496"/>
                        </a:ext>
                      </a:extLst>
                    </a:gridCol>
                    <a:gridCol w="3446288">
                      <a:extLst>
                        <a:ext uri="{9D8B030D-6E8A-4147-A177-3AD203B41FA5}">
                          <a16:colId xmlns:a16="http://schemas.microsoft.com/office/drawing/2014/main" val="4281859008"/>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Afirmación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Razón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073712"/>
                      </a:ext>
                    </a:extLst>
                  </a:tr>
                  <a:tr h="370840">
                    <a:tc gridSpan="2">
                      <a:txBody>
                        <a:bodyPr/>
                        <a:lstStyle/>
                        <a:p>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Cambria Math" panose="02040503050406030204" pitchFamily="18" charset="0"/>
                                  </a:rPr>
                                  <m:t>𝟏</m:t>
                                </m:r>
                              </m:oMath>
                            </m:oMathPara>
                          </a14:m>
                          <a:endParaRPr lang="es-CO" sz="2000" b="1"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sz="1600" b="1"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14:m>
                            <m:oMathPara xmlns:m="http://schemas.openxmlformats.org/officeDocument/2006/math">
                              <m:oMathParaPr>
                                <m:jc m:val="left"/>
                              </m:oMathParaPr>
                              <m:oMath xmlns:m="http://schemas.openxmlformats.org/officeDocument/2006/math">
                                <m:r>
                                  <a:rPr lang="es-MX" sz="2000" i="1" smtClean="0">
                                    <a:latin typeface="Cambria Math" panose="02040503050406030204" pitchFamily="18" charset="0"/>
                                    <a:ea typeface="Cambria Math" panose="02040503050406030204" pitchFamily="18" charset="0"/>
                                  </a:rPr>
                                  <m:t>∃</m:t>
                                </m:r>
                                <m:r>
                                  <a:rPr lang="es-MX" sz="2000" i="1" smtClean="0">
                                    <a:latin typeface="Cambria Math" panose="02040503050406030204" pitchFamily="18" charset="0"/>
                                    <a:ea typeface="Cambria Math" panose="02040503050406030204" pitchFamily="18" charset="0"/>
                                  </a:rPr>
                                  <m:t>𝑥</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𝐶</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𝑥</m:t>
                                        </m:r>
                                      </m:e>
                                    </m:d>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𝐿</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𝑥</m:t>
                                        </m:r>
                                      </m:e>
                                    </m:d>
                                  </m:e>
                                </m:d>
                              </m:oMath>
                            </m:oMathPara>
                          </a14:m>
                          <a:endParaRPr lang="es-CO" sz="20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2000" dirty="0">
                              <a:latin typeface="+mn-lt"/>
                              <a:ea typeface="Roboto" panose="02000000000000000000" pitchFamily="2" charset="0"/>
                            </a:rPr>
                            <a:t>Premisa </a:t>
                          </a:r>
                          <a:r>
                            <a:rPr lang="es-CO" sz="2000" b="1" dirty="0">
                              <a:latin typeface="+mn-lt"/>
                              <a:ea typeface="Roboto" panose="02000000000000000000" pitchFamily="2" charset="0"/>
                            </a:rPr>
                            <a:t>a</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43470127"/>
                      </a:ext>
                    </a:extLst>
                  </a:tr>
                  <a:tr h="370840">
                    <a:tc gridSpan="2">
                      <a:txBody>
                        <a:bodyPr/>
                        <a:lstStyle/>
                        <a:p>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Cambria Math" panose="02040503050406030204" pitchFamily="18" charset="0"/>
                                  </a:rPr>
                                  <m:t>𝟐</m:t>
                                </m:r>
                              </m:oMath>
                            </m:oMathPara>
                          </a14:m>
                          <a:endParaRPr lang="es-CO" sz="20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14:m>
                            <m:oMathPara xmlns:m="http://schemas.openxmlformats.org/officeDocument/2006/math">
                              <m:oMathParaPr>
                                <m:jc m:val="left"/>
                              </m:oMathParaPr>
                              <m:oMath xmlns:m="http://schemas.openxmlformats.org/officeDocument/2006/math">
                                <m:r>
                                  <a:rPr lang="es-MX" sz="2000" i="1" smtClean="0">
                                    <a:latin typeface="Cambria Math" panose="02040503050406030204" pitchFamily="18" charset="0"/>
                                    <a:ea typeface="Cambria Math" panose="02040503050406030204" pitchFamily="18" charset="0"/>
                                  </a:rPr>
                                  <m:t>𝐶</m:t>
                                </m:r>
                                <m:d>
                                  <m:dPr>
                                    <m:ctrlPr>
                                      <a:rPr lang="es-MX" sz="2000" i="1">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𝑎</m:t>
                                    </m:r>
                                  </m:e>
                                </m:d>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𝐿</m:t>
                                </m:r>
                                <m:d>
                                  <m:dPr>
                                    <m:ctrlPr>
                                      <a:rPr lang="es-MX" sz="2000" i="1">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𝑎</m:t>
                                    </m:r>
                                  </m:e>
                                </m:d>
                              </m:oMath>
                            </m:oMathPara>
                          </a14:m>
                          <a:endParaRPr lang="es-CO" sz="20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2000" dirty="0">
                              <a:latin typeface="+mn-lt"/>
                              <a:ea typeface="Roboto" panose="02000000000000000000" pitchFamily="2" charset="0"/>
                            </a:rPr>
                            <a:t>Instanciación existencial en </a:t>
                          </a:r>
                          <a:r>
                            <a:rPr lang="es-CO" sz="2000" b="1" dirty="0">
                              <a:latin typeface="+mn-lt"/>
                              <a:ea typeface="Roboto" panose="02000000000000000000" pitchFamily="2" charset="0"/>
                            </a:rPr>
                            <a:t>1</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7809005"/>
                      </a:ext>
                    </a:extLst>
                  </a:tr>
                  <a:tr h="370840">
                    <a:tc gridSpan="2">
                      <a:txBody>
                        <a:bodyPr/>
                        <a:lstStyle/>
                        <a:p>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Cambria Math" panose="02040503050406030204" pitchFamily="18" charset="0"/>
                                  </a:rPr>
                                  <m:t>𝟑</m:t>
                                </m:r>
                              </m:oMath>
                            </m:oMathPara>
                          </a14:m>
                          <a:endParaRPr lang="es-CO" sz="20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14:m>
                            <m:oMathPara xmlns:m="http://schemas.openxmlformats.org/officeDocument/2006/math">
                              <m:oMathParaPr>
                                <m:jc m:val="left"/>
                              </m:oMathParaPr>
                              <m:oMath xmlns:m="http://schemas.openxmlformats.org/officeDocument/2006/math">
                                <m:r>
                                  <a:rPr lang="es-MX" sz="2000" i="1" smtClean="0">
                                    <a:latin typeface="Cambria Math" panose="02040503050406030204" pitchFamily="18" charset="0"/>
                                    <a:ea typeface="Cambria Math" panose="02040503050406030204" pitchFamily="18" charset="0"/>
                                  </a:rPr>
                                  <m:t>𝐶</m:t>
                                </m:r>
                                <m:d>
                                  <m:dPr>
                                    <m:ctrlPr>
                                      <a:rPr lang="es-MX" sz="2000" i="1">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𝑎</m:t>
                                    </m:r>
                                  </m:e>
                                </m:d>
                              </m:oMath>
                            </m:oMathPara>
                          </a14:m>
                          <a:endParaRPr lang="es-CO" sz="20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2000" b="0" dirty="0">
                              <a:latin typeface="+mn-lt"/>
                              <a:ea typeface="Roboto" panose="02000000000000000000" pitchFamily="2" charset="0"/>
                            </a:rPr>
                            <a:t>Simplificación en </a:t>
                          </a:r>
                          <a:r>
                            <a:rPr lang="es-CO" sz="2000" b="1" dirty="0">
                              <a:latin typeface="+mn-lt"/>
                              <a:ea typeface="Roboto" panose="02000000000000000000" pitchFamily="2" charset="0"/>
                            </a:rPr>
                            <a:t>2</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25827864"/>
                      </a:ext>
                    </a:extLst>
                  </a:tr>
                  <a:tr h="370840">
                    <a:tc gridSpan="2">
                      <a:txBody>
                        <a:bodyPr/>
                        <a:lstStyle/>
                        <a:p>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Cambria Math" panose="02040503050406030204" pitchFamily="18" charset="0"/>
                                  </a:rPr>
                                  <m:t>𝟒</m:t>
                                </m:r>
                              </m:oMath>
                            </m:oMathPara>
                          </a14:m>
                          <a:endParaRPr lang="es-CO" sz="20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2000" i="1" smtClean="0">
                                    <a:latin typeface="Cambria Math" panose="02040503050406030204" pitchFamily="18" charset="0"/>
                                    <a:ea typeface="Cambria Math" panose="02040503050406030204" pitchFamily="18" charset="0"/>
                                  </a:rPr>
                                  <m:t>∀</m:t>
                                </m:r>
                                <m:r>
                                  <a:rPr lang="es-MX" sz="2000" i="1" smtClean="0">
                                    <a:latin typeface="Cambria Math" panose="02040503050406030204" pitchFamily="18" charset="0"/>
                                    <a:ea typeface="Cambria Math" panose="02040503050406030204" pitchFamily="18" charset="0"/>
                                  </a:rPr>
                                  <m:t>𝑥</m:t>
                                </m:r>
                                <m:r>
                                  <a:rPr lang="es-MX" sz="2000" i="1" smtClean="0">
                                    <a:latin typeface="Cambria Math" panose="02040503050406030204" pitchFamily="18" charset="0"/>
                                    <a:ea typeface="Cambria Math" panose="02040503050406030204" pitchFamily="18" charset="0"/>
                                  </a:rPr>
                                  <m:t> </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𝐶</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𝑥</m:t>
                                        </m:r>
                                      </m:e>
                                    </m:d>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𝐴</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𝑥</m:t>
                                        </m:r>
                                      </m:e>
                                    </m:d>
                                  </m:e>
                                </m:d>
                              </m:oMath>
                            </m:oMathPara>
                          </a14:m>
                          <a:endParaRPr lang="es-CO" sz="20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2000" dirty="0">
                              <a:latin typeface="+mn-lt"/>
                              <a:ea typeface="Roboto" panose="02000000000000000000" pitchFamily="2" charset="0"/>
                            </a:rPr>
                            <a:t>Premisa </a:t>
                          </a:r>
                          <a:r>
                            <a:rPr lang="es-CO" sz="2000" b="1" dirty="0">
                              <a:latin typeface="+mn-lt"/>
                              <a:ea typeface="Roboto" panose="02000000000000000000" pitchFamily="2" charset="0"/>
                            </a:rPr>
                            <a:t>b</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396960"/>
                      </a:ext>
                    </a:extLst>
                  </a:tr>
                  <a:tr h="370840">
                    <a:tc gridSpan="2">
                      <a:txBody>
                        <a:bodyPr/>
                        <a:lstStyle/>
                        <a:p>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Cambria Math" panose="02040503050406030204" pitchFamily="18" charset="0"/>
                                  </a:rPr>
                                  <m:t>𝟓</m:t>
                                </m:r>
                              </m:oMath>
                            </m:oMathPara>
                          </a14:m>
                          <a:endParaRPr lang="es-CO" sz="20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2000" i="1" smtClean="0">
                                    <a:latin typeface="Cambria Math" panose="02040503050406030204" pitchFamily="18" charset="0"/>
                                    <a:ea typeface="Cambria Math" panose="02040503050406030204" pitchFamily="18" charset="0"/>
                                  </a:rPr>
                                  <m:t>𝐶</m:t>
                                </m:r>
                                <m:d>
                                  <m:dPr>
                                    <m:ctrlPr>
                                      <a:rPr lang="es-MX" sz="2000" i="1">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𝑎</m:t>
                                    </m:r>
                                  </m:e>
                                </m:d>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𝐴</m:t>
                                </m:r>
                                <m:d>
                                  <m:dPr>
                                    <m:ctrlPr>
                                      <a:rPr lang="es-MX" sz="2000" i="1">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𝑎</m:t>
                                    </m:r>
                                  </m:e>
                                </m:d>
                              </m:oMath>
                            </m:oMathPara>
                          </a14:m>
                          <a:endParaRPr lang="es-CO" sz="20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2000" dirty="0">
                              <a:latin typeface="+mn-lt"/>
                              <a:ea typeface="Roboto" panose="02000000000000000000" pitchFamily="2" charset="0"/>
                            </a:rPr>
                            <a:t>Instanciación universal en </a:t>
                          </a:r>
                          <a:r>
                            <a:rPr lang="es-CO" sz="2000" b="1" dirty="0">
                              <a:latin typeface="+mn-lt"/>
                              <a:ea typeface="Roboto" panose="02000000000000000000" pitchFamily="2" charset="0"/>
                            </a:rPr>
                            <a:t>4</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87912512"/>
                      </a:ext>
                    </a:extLst>
                  </a:tr>
                  <a:tr h="370840">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Cambria Math" panose="02040503050406030204" pitchFamily="18" charset="0"/>
                                  </a:rPr>
                                  <m:t>𝟔</m:t>
                                </m:r>
                              </m:oMath>
                            </m:oMathPara>
                          </a14:m>
                          <a:endParaRPr lang="es-CO" sz="20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2000" i="1" smtClean="0">
                                    <a:latin typeface="Cambria Math" panose="02040503050406030204" pitchFamily="18" charset="0"/>
                                    <a:ea typeface="Cambria Math" panose="02040503050406030204" pitchFamily="18" charset="0"/>
                                  </a:rPr>
                                  <m:t>𝐴</m:t>
                                </m:r>
                                <m:d>
                                  <m:dPr>
                                    <m:ctrlPr>
                                      <a:rPr lang="es-MX" sz="2000" i="1">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𝑎</m:t>
                                    </m:r>
                                  </m:e>
                                </m:d>
                              </m:oMath>
                            </m:oMathPara>
                          </a14:m>
                          <a:endParaRPr lang="es-CO" sz="20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2000" b="0" dirty="0">
                              <a:latin typeface="+mn-lt"/>
                              <a:ea typeface="Roboto" panose="02000000000000000000" pitchFamily="2" charset="0"/>
                            </a:rPr>
                            <a:t>Modus Ponens </a:t>
                          </a:r>
                          <a:r>
                            <a:rPr lang="es-CO" sz="2000" b="1" dirty="0">
                              <a:latin typeface="+mn-lt"/>
                              <a:ea typeface="Roboto" panose="02000000000000000000" pitchFamily="2" charset="0"/>
                            </a:rPr>
                            <a:t>3</a:t>
                          </a:r>
                          <a:r>
                            <a:rPr lang="es-CO" sz="2000" b="0" dirty="0">
                              <a:latin typeface="+mn-lt"/>
                              <a:ea typeface="Roboto" panose="02000000000000000000" pitchFamily="2" charset="0"/>
                            </a:rPr>
                            <a:t> y </a:t>
                          </a:r>
                          <a:r>
                            <a:rPr lang="es-CO" sz="2000" b="1" dirty="0">
                              <a:latin typeface="+mn-lt"/>
                              <a:ea typeface="Roboto" panose="02000000000000000000" pitchFamily="2" charset="0"/>
                            </a:rPr>
                            <a:t>5</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44816522"/>
                      </a:ext>
                    </a:extLst>
                  </a:tr>
                  <a:tr h="370840">
                    <a:tc gridSpan="2">
                      <a:txBody>
                        <a:bodyPr/>
                        <a:lstStyle/>
                        <a:p>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Cambria Math" panose="02040503050406030204" pitchFamily="18" charset="0"/>
                                  </a:rPr>
                                  <m:t>𝟕</m:t>
                                </m:r>
                              </m:oMath>
                            </m:oMathPara>
                          </a14:m>
                          <a:endParaRPr lang="es-CO" sz="20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14:m>
                            <m:oMathPara xmlns:m="http://schemas.openxmlformats.org/officeDocument/2006/math">
                              <m:oMathParaPr>
                                <m:jc m:val="left"/>
                              </m:oMathParaPr>
                              <m:oMath xmlns:m="http://schemas.openxmlformats.org/officeDocument/2006/math">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𝐿</m:t>
                                </m:r>
                                <m:d>
                                  <m:dPr>
                                    <m:ctrlPr>
                                      <a:rPr lang="es-MX" sz="2000" i="1">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𝑎</m:t>
                                    </m:r>
                                  </m:e>
                                </m:d>
                              </m:oMath>
                            </m:oMathPara>
                          </a14:m>
                          <a:endParaRPr lang="es-CO" sz="20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2000" b="0" dirty="0">
                              <a:latin typeface="+mn-lt"/>
                              <a:ea typeface="Roboto" panose="02000000000000000000" pitchFamily="2" charset="0"/>
                            </a:rPr>
                            <a:t>Simplificación en </a:t>
                          </a:r>
                          <a:r>
                            <a:rPr lang="es-CO" sz="2000" b="1" dirty="0">
                              <a:latin typeface="+mn-lt"/>
                              <a:ea typeface="Roboto" panose="02000000000000000000" pitchFamily="2" charset="0"/>
                            </a:rPr>
                            <a:t>2</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38459320"/>
                      </a:ext>
                    </a:extLst>
                  </a:tr>
                  <a:tr h="370840">
                    <a:tc gridSpan="2">
                      <a:txBody>
                        <a:bodyPr/>
                        <a:lstStyle/>
                        <a:p>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Cambria Math" panose="02040503050406030204" pitchFamily="18" charset="0"/>
                                  </a:rPr>
                                  <m:t>𝟖</m:t>
                                </m:r>
                              </m:oMath>
                            </m:oMathPara>
                          </a14:m>
                          <a:endParaRPr lang="es-CO" sz="20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14:m>
                            <m:oMathPara xmlns:m="http://schemas.openxmlformats.org/officeDocument/2006/math">
                              <m:oMathParaPr>
                                <m:jc m:val="left"/>
                              </m:oMathParaPr>
                              <m:oMath xmlns:m="http://schemas.openxmlformats.org/officeDocument/2006/math">
                                <m:r>
                                  <a:rPr lang="es-MX" sz="2000" i="1" smtClean="0">
                                    <a:latin typeface="Cambria Math" panose="02040503050406030204" pitchFamily="18" charset="0"/>
                                    <a:ea typeface="Cambria Math" panose="02040503050406030204" pitchFamily="18" charset="0"/>
                                  </a:rPr>
                                  <m:t>𝐴</m:t>
                                </m:r>
                                <m:d>
                                  <m:dPr>
                                    <m:ctrlPr>
                                      <a:rPr lang="es-MX" sz="2000" i="1">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𝑎</m:t>
                                    </m:r>
                                  </m:e>
                                </m:d>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𝐿</m:t>
                                </m:r>
                                <m:d>
                                  <m:dPr>
                                    <m:ctrlPr>
                                      <a:rPr lang="es-MX" sz="2000" i="1">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𝑎</m:t>
                                    </m:r>
                                  </m:e>
                                </m:d>
                              </m:oMath>
                            </m:oMathPara>
                          </a14:m>
                          <a:endParaRPr lang="es-CO" sz="20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2000" b="0" dirty="0">
                              <a:latin typeface="+mn-lt"/>
                              <a:ea typeface="Roboto" panose="02000000000000000000" pitchFamily="2" charset="0"/>
                            </a:rPr>
                            <a:t>Conjunción en </a:t>
                          </a:r>
                          <a:r>
                            <a:rPr lang="es-CO" sz="2000" b="1" dirty="0">
                              <a:latin typeface="+mn-lt"/>
                              <a:ea typeface="Roboto" panose="02000000000000000000" pitchFamily="2" charset="0"/>
                            </a:rPr>
                            <a:t>6 </a:t>
                          </a:r>
                          <a:r>
                            <a:rPr lang="es-CO" sz="2000" b="0" dirty="0">
                              <a:latin typeface="+mn-lt"/>
                              <a:ea typeface="Roboto" panose="02000000000000000000" pitchFamily="2" charset="0"/>
                            </a:rPr>
                            <a:t>y</a:t>
                          </a:r>
                          <a:r>
                            <a:rPr lang="es-CO" sz="2000" b="1" dirty="0">
                              <a:latin typeface="+mn-lt"/>
                              <a:ea typeface="Roboto" panose="02000000000000000000" pitchFamily="2" charset="0"/>
                            </a:rPr>
                            <a:t> 7</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20592092"/>
                      </a:ext>
                    </a:extLst>
                  </a:tr>
                  <a:tr h="370840">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2000" b="1" i="1" smtClean="0">
                                    <a:latin typeface="Cambria Math" panose="02040503050406030204" pitchFamily="18" charset="0"/>
                                    <a:ea typeface="Cambria Math" panose="02040503050406030204" pitchFamily="18" charset="0"/>
                                  </a:rPr>
                                  <m:t>𝟗</m:t>
                                </m:r>
                              </m:oMath>
                            </m:oMathPara>
                          </a14:m>
                          <a:endParaRPr lang="es-CO" sz="20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2000" i="1" smtClean="0">
                                    <a:latin typeface="Cambria Math" panose="02040503050406030204" pitchFamily="18" charset="0"/>
                                    <a:ea typeface="Cambria Math" panose="02040503050406030204" pitchFamily="18" charset="0"/>
                                  </a:rPr>
                                  <m:t>∃</m:t>
                                </m:r>
                                <m:r>
                                  <a:rPr lang="es-MX" sz="2000" i="1" smtClean="0">
                                    <a:latin typeface="Cambria Math" panose="02040503050406030204" pitchFamily="18" charset="0"/>
                                    <a:ea typeface="Cambria Math" panose="02040503050406030204" pitchFamily="18" charset="0"/>
                                  </a:rPr>
                                  <m:t>𝑥</m:t>
                                </m:r>
                                <m:d>
                                  <m:dPr>
                                    <m:ctrlPr>
                                      <a:rPr lang="es-MX" sz="2000" i="1">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𝐴</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𝑥</m:t>
                                        </m:r>
                                      </m:e>
                                    </m:d>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𝐿</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𝑥</m:t>
                                        </m:r>
                                      </m:e>
                                    </m:d>
                                  </m:e>
                                </m:d>
                              </m:oMath>
                            </m:oMathPara>
                          </a14:m>
                          <a:endParaRPr lang="es-CO" sz="20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2000" b="0" dirty="0">
                              <a:latin typeface="+mn-lt"/>
                              <a:ea typeface="Roboto" panose="02000000000000000000" pitchFamily="2" charset="0"/>
                            </a:rPr>
                            <a:t>Generalización existencial en </a:t>
                          </a:r>
                          <a:r>
                            <a:rPr lang="es-CO" sz="2000" b="1" dirty="0">
                              <a:latin typeface="+mn-lt"/>
                              <a:ea typeface="Roboto" panose="02000000000000000000" pitchFamily="2" charset="0"/>
                            </a:rPr>
                            <a:t>8</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16840162"/>
                      </a:ext>
                    </a:extLst>
                  </a:tr>
                </a:tbl>
              </a:graphicData>
            </a:graphic>
          </p:graphicFrame>
        </mc:Choice>
        <mc:Fallback>
          <p:graphicFrame>
            <p:nvGraphicFramePr>
              <p:cNvPr id="14" name="Tabla 2">
                <a:extLst>
                  <a:ext uri="{FF2B5EF4-FFF2-40B4-BE49-F238E27FC236}">
                    <a16:creationId xmlns:a16="http://schemas.microsoft.com/office/drawing/2014/main" id="{7220BB13-3652-457C-A378-3DF759F1EC07}"/>
                  </a:ext>
                </a:extLst>
              </p:cNvPr>
              <p:cNvGraphicFramePr>
                <a:graphicFrameLocks noGrp="1"/>
              </p:cNvGraphicFramePr>
              <p:nvPr>
                <p:extLst>
                  <p:ext uri="{D42A27DB-BD31-4B8C-83A1-F6EECF244321}">
                    <p14:modId xmlns:p14="http://schemas.microsoft.com/office/powerpoint/2010/main" val="2420816506"/>
                  </p:ext>
                </p:extLst>
              </p:nvPr>
            </p:nvGraphicFramePr>
            <p:xfrm>
              <a:off x="381399" y="2472358"/>
              <a:ext cx="6258432" cy="4080129"/>
            </p:xfrm>
            <a:graphic>
              <a:graphicData uri="http://schemas.openxmlformats.org/drawingml/2006/table">
                <a:tbl>
                  <a:tblPr firstRow="1" bandRow="1">
                    <a:tableStyleId>{AD6A3598-7CB8-4345-8D95-17CE05F158A0}</a:tableStyleId>
                  </a:tblPr>
                  <a:tblGrid>
                    <a:gridCol w="388469">
                      <a:extLst>
                        <a:ext uri="{9D8B030D-6E8A-4147-A177-3AD203B41FA5}">
                          <a16:colId xmlns:a16="http://schemas.microsoft.com/office/drawing/2014/main" val="1610952478"/>
                        </a:ext>
                      </a:extLst>
                    </a:gridCol>
                    <a:gridCol w="140527">
                      <a:extLst>
                        <a:ext uri="{9D8B030D-6E8A-4147-A177-3AD203B41FA5}">
                          <a16:colId xmlns:a16="http://schemas.microsoft.com/office/drawing/2014/main" val="1919891108"/>
                        </a:ext>
                      </a:extLst>
                    </a:gridCol>
                    <a:gridCol w="2283148">
                      <a:extLst>
                        <a:ext uri="{9D8B030D-6E8A-4147-A177-3AD203B41FA5}">
                          <a16:colId xmlns:a16="http://schemas.microsoft.com/office/drawing/2014/main" val="2942974496"/>
                        </a:ext>
                      </a:extLst>
                    </a:gridCol>
                    <a:gridCol w="3446288">
                      <a:extLst>
                        <a:ext uri="{9D8B030D-6E8A-4147-A177-3AD203B41FA5}">
                          <a16:colId xmlns:a16="http://schemas.microsoft.com/office/drawing/2014/main" val="4281859008"/>
                        </a:ext>
                      </a:extLst>
                    </a:gridCol>
                  </a:tblGrid>
                  <a:tr h="3962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Afirmación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Razón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073712"/>
                      </a:ext>
                    </a:extLst>
                  </a:tr>
                  <a:tr h="435483">
                    <a:tc gridSpan="2">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t="-97222" r="-1082759" b="-761111"/>
                          </a:stretch>
                        </a:blipFill>
                      </a:tcPr>
                    </a:tc>
                    <a:tc hMerge="1">
                      <a:txBody>
                        <a:bodyPr/>
                        <a:lstStyle/>
                        <a:p>
                          <a:endParaRPr lang="es-CO" sz="1600" b="1"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l="-23200" t="-97222" r="-151200" b="-761111"/>
                          </a:stretch>
                        </a:blipFill>
                      </a:tcPr>
                    </a:tc>
                    <a:tc>
                      <a:txBody>
                        <a:bodyPr/>
                        <a:lstStyle/>
                        <a:p>
                          <a:r>
                            <a:rPr lang="es-CO" sz="2000" dirty="0">
                              <a:latin typeface="+mn-lt"/>
                              <a:ea typeface="Roboto" panose="02000000000000000000" pitchFamily="2" charset="0"/>
                            </a:rPr>
                            <a:t>Premisa </a:t>
                          </a:r>
                          <a:r>
                            <a:rPr lang="es-CO" sz="2000" b="1" dirty="0">
                              <a:latin typeface="+mn-lt"/>
                              <a:ea typeface="Roboto" panose="02000000000000000000" pitchFamily="2" charset="0"/>
                            </a:rPr>
                            <a:t>a</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43470127"/>
                      </a:ext>
                    </a:extLst>
                  </a:tr>
                  <a:tr h="396240">
                    <a:tc gridSpan="2">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t="-218462" r="-1082759" b="-743077"/>
                          </a:stretch>
                        </a:blipFill>
                      </a:tcPr>
                    </a:tc>
                    <a:tc hMerge="1">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l="-23200" t="-218462" r="-151200" b="-743077"/>
                          </a:stretch>
                        </a:blipFill>
                      </a:tcPr>
                    </a:tc>
                    <a:tc>
                      <a:txBody>
                        <a:bodyPr/>
                        <a:lstStyle/>
                        <a:p>
                          <a:r>
                            <a:rPr lang="es-CO" sz="2000" dirty="0">
                              <a:latin typeface="+mn-lt"/>
                              <a:ea typeface="Roboto" panose="02000000000000000000" pitchFamily="2" charset="0"/>
                            </a:rPr>
                            <a:t>Instanciación existencial en </a:t>
                          </a:r>
                          <a:r>
                            <a:rPr lang="es-CO" sz="2000" b="1" dirty="0">
                              <a:latin typeface="+mn-lt"/>
                              <a:ea typeface="Roboto" panose="02000000000000000000" pitchFamily="2" charset="0"/>
                            </a:rPr>
                            <a:t>1</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7809005"/>
                      </a:ext>
                    </a:extLst>
                  </a:tr>
                  <a:tr h="396240">
                    <a:tc gridSpan="2">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t="-318462" r="-1082759" b="-643077"/>
                          </a:stretch>
                        </a:blipFill>
                      </a:tcPr>
                    </a:tc>
                    <a:tc hMerge="1">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l="-23200" t="-318462" r="-151200" b="-643077"/>
                          </a:stretch>
                        </a:blipFill>
                      </a:tcPr>
                    </a:tc>
                    <a:tc>
                      <a:txBody>
                        <a:bodyPr/>
                        <a:lstStyle/>
                        <a:p>
                          <a:r>
                            <a:rPr lang="es-CO" sz="2000" b="0" dirty="0">
                              <a:latin typeface="+mn-lt"/>
                              <a:ea typeface="Roboto" panose="02000000000000000000" pitchFamily="2" charset="0"/>
                            </a:rPr>
                            <a:t>Simplificación en </a:t>
                          </a:r>
                          <a:r>
                            <a:rPr lang="es-CO" sz="2000" b="1" dirty="0">
                              <a:latin typeface="+mn-lt"/>
                              <a:ea typeface="Roboto" panose="02000000000000000000" pitchFamily="2" charset="0"/>
                            </a:rPr>
                            <a:t>2</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25827864"/>
                      </a:ext>
                    </a:extLst>
                  </a:tr>
                  <a:tr h="435483">
                    <a:tc gridSpan="2">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t="-383099" r="-1082759" b="-488732"/>
                          </a:stretch>
                        </a:blipFill>
                      </a:tcPr>
                    </a:tc>
                    <a:tc hMerge="1">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l="-23200" t="-383099" r="-151200" b="-488732"/>
                          </a:stretch>
                        </a:blipFill>
                      </a:tcPr>
                    </a:tc>
                    <a:tc>
                      <a:txBody>
                        <a:bodyPr/>
                        <a:lstStyle/>
                        <a:p>
                          <a:r>
                            <a:rPr lang="es-CO" sz="2000" dirty="0">
                              <a:latin typeface="+mn-lt"/>
                              <a:ea typeface="Roboto" panose="02000000000000000000" pitchFamily="2" charset="0"/>
                            </a:rPr>
                            <a:t>Premisa </a:t>
                          </a:r>
                          <a:r>
                            <a:rPr lang="es-CO" sz="2000" b="1" dirty="0">
                              <a:latin typeface="+mn-lt"/>
                              <a:ea typeface="Roboto" panose="02000000000000000000" pitchFamily="2" charset="0"/>
                            </a:rPr>
                            <a:t>b</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396960"/>
                      </a:ext>
                    </a:extLst>
                  </a:tr>
                  <a:tr h="396240">
                    <a:tc gridSpan="2">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t="-527692" r="-1082759" b="-433846"/>
                          </a:stretch>
                        </a:blipFill>
                      </a:tcPr>
                    </a:tc>
                    <a:tc hMerge="1">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l="-23200" t="-527692" r="-151200" b="-433846"/>
                          </a:stretch>
                        </a:blipFill>
                      </a:tcPr>
                    </a:tc>
                    <a:tc>
                      <a:txBody>
                        <a:bodyPr/>
                        <a:lstStyle/>
                        <a:p>
                          <a:r>
                            <a:rPr lang="es-CO" sz="2000" dirty="0">
                              <a:latin typeface="+mn-lt"/>
                              <a:ea typeface="Roboto" panose="02000000000000000000" pitchFamily="2" charset="0"/>
                            </a:rPr>
                            <a:t>Instanciación universal en </a:t>
                          </a:r>
                          <a:r>
                            <a:rPr lang="es-CO" sz="2000" b="1" dirty="0">
                              <a:latin typeface="+mn-lt"/>
                              <a:ea typeface="Roboto" panose="02000000000000000000" pitchFamily="2" charset="0"/>
                            </a:rPr>
                            <a:t>4</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87912512"/>
                      </a:ext>
                    </a:extLst>
                  </a:tr>
                  <a:tr h="396240">
                    <a:tc gridSpan="2">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t="-627692" r="-1082759" b="-333846"/>
                          </a:stretch>
                        </a:blipFill>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l="-23200" t="-627692" r="-151200" b="-333846"/>
                          </a:stretch>
                        </a:blipFill>
                      </a:tcPr>
                    </a:tc>
                    <a:tc>
                      <a:txBody>
                        <a:bodyPr/>
                        <a:lstStyle/>
                        <a:p>
                          <a:r>
                            <a:rPr lang="es-CO" sz="2000" b="0" dirty="0">
                              <a:latin typeface="+mn-lt"/>
                              <a:ea typeface="Roboto" panose="02000000000000000000" pitchFamily="2" charset="0"/>
                            </a:rPr>
                            <a:t>Modus Ponens </a:t>
                          </a:r>
                          <a:r>
                            <a:rPr lang="es-CO" sz="2000" b="1" dirty="0">
                              <a:latin typeface="+mn-lt"/>
                              <a:ea typeface="Roboto" panose="02000000000000000000" pitchFamily="2" charset="0"/>
                            </a:rPr>
                            <a:t>3</a:t>
                          </a:r>
                          <a:r>
                            <a:rPr lang="es-CO" sz="2000" b="0" dirty="0">
                              <a:latin typeface="+mn-lt"/>
                              <a:ea typeface="Roboto" panose="02000000000000000000" pitchFamily="2" charset="0"/>
                            </a:rPr>
                            <a:t> y </a:t>
                          </a:r>
                          <a:r>
                            <a:rPr lang="es-CO" sz="2000" b="1" dirty="0">
                              <a:latin typeface="+mn-lt"/>
                              <a:ea typeface="Roboto" panose="02000000000000000000" pitchFamily="2" charset="0"/>
                            </a:rPr>
                            <a:t>5</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44816522"/>
                      </a:ext>
                    </a:extLst>
                  </a:tr>
                  <a:tr h="396240">
                    <a:tc gridSpan="2">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t="-727692" r="-1082759" b="-233846"/>
                          </a:stretch>
                        </a:blipFill>
                      </a:tcPr>
                    </a:tc>
                    <a:tc hMerge="1">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l="-23200" t="-727692" r="-151200" b="-233846"/>
                          </a:stretch>
                        </a:blipFill>
                      </a:tcPr>
                    </a:tc>
                    <a:tc>
                      <a:txBody>
                        <a:bodyPr/>
                        <a:lstStyle/>
                        <a:p>
                          <a:r>
                            <a:rPr lang="es-CO" sz="2000" b="0" dirty="0">
                              <a:latin typeface="+mn-lt"/>
                              <a:ea typeface="Roboto" panose="02000000000000000000" pitchFamily="2" charset="0"/>
                            </a:rPr>
                            <a:t>Simplificación en </a:t>
                          </a:r>
                          <a:r>
                            <a:rPr lang="es-CO" sz="2000" b="1" dirty="0">
                              <a:latin typeface="+mn-lt"/>
                              <a:ea typeface="Roboto" panose="02000000000000000000" pitchFamily="2" charset="0"/>
                            </a:rPr>
                            <a:t>2</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38459320"/>
                      </a:ext>
                    </a:extLst>
                  </a:tr>
                  <a:tr h="396240">
                    <a:tc gridSpan="2">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t="-827692" r="-1082759" b="-133846"/>
                          </a:stretch>
                        </a:blipFill>
                      </a:tcPr>
                    </a:tc>
                    <a:tc hMerge="1">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l="-23200" t="-827692" r="-151200" b="-133846"/>
                          </a:stretch>
                        </a:blipFill>
                      </a:tcPr>
                    </a:tc>
                    <a:tc>
                      <a:txBody>
                        <a:bodyPr/>
                        <a:lstStyle/>
                        <a:p>
                          <a:r>
                            <a:rPr lang="es-CO" sz="2000" b="0" dirty="0">
                              <a:latin typeface="+mn-lt"/>
                              <a:ea typeface="Roboto" panose="02000000000000000000" pitchFamily="2" charset="0"/>
                            </a:rPr>
                            <a:t>Conjunción en </a:t>
                          </a:r>
                          <a:r>
                            <a:rPr lang="es-CO" sz="2000" b="1" dirty="0">
                              <a:latin typeface="+mn-lt"/>
                              <a:ea typeface="Roboto" panose="02000000000000000000" pitchFamily="2" charset="0"/>
                            </a:rPr>
                            <a:t>6 </a:t>
                          </a:r>
                          <a:r>
                            <a:rPr lang="es-CO" sz="2000" b="0" dirty="0">
                              <a:latin typeface="+mn-lt"/>
                              <a:ea typeface="Roboto" panose="02000000000000000000" pitchFamily="2" charset="0"/>
                            </a:rPr>
                            <a:t>y</a:t>
                          </a:r>
                          <a:r>
                            <a:rPr lang="es-CO" sz="2000" b="1" dirty="0">
                              <a:latin typeface="+mn-lt"/>
                              <a:ea typeface="Roboto" panose="02000000000000000000" pitchFamily="2" charset="0"/>
                            </a:rPr>
                            <a:t> 7</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20592092"/>
                      </a:ext>
                    </a:extLst>
                  </a:tr>
                  <a:tr h="435483">
                    <a:tc gridSpan="2">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t="-837500" r="-1082759" b="-20833"/>
                          </a:stretch>
                        </a:blipFill>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l="-23200" t="-837500" r="-151200" b="-20833"/>
                          </a:stretch>
                        </a:blipFill>
                      </a:tcPr>
                    </a:tc>
                    <a:tc>
                      <a:txBody>
                        <a:bodyPr/>
                        <a:lstStyle/>
                        <a:p>
                          <a:r>
                            <a:rPr lang="es-CO" sz="2000" b="0" dirty="0">
                              <a:latin typeface="+mn-lt"/>
                              <a:ea typeface="Roboto" panose="02000000000000000000" pitchFamily="2" charset="0"/>
                            </a:rPr>
                            <a:t>Generalización existencial en </a:t>
                          </a:r>
                          <a:r>
                            <a:rPr lang="es-CO" sz="2000" b="1" dirty="0">
                              <a:latin typeface="+mn-lt"/>
                              <a:ea typeface="Roboto" panose="02000000000000000000" pitchFamily="2" charset="0"/>
                            </a:rPr>
                            <a:t>8</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16840162"/>
                      </a:ext>
                    </a:extLst>
                  </a:tr>
                </a:tbl>
              </a:graphicData>
            </a:graphic>
          </p:graphicFrame>
        </mc:Fallback>
      </mc:AlternateContent>
    </p:spTree>
    <p:extLst>
      <p:ext uri="{BB962C8B-B14F-4D97-AF65-F5344CB8AC3E}">
        <p14:creationId xmlns:p14="http://schemas.microsoft.com/office/powerpoint/2010/main" val="16831413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title"/>
          </p:nvPr>
        </p:nvSpPr>
        <p:spPr>
          <a:xfrm>
            <a:off x="508000" y="96038"/>
            <a:ext cx="871265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Ejercicios de repaso</a:t>
            </a:r>
            <a:endParaRPr dirty="0">
              <a:solidFill>
                <a:schemeClr val="tx1"/>
              </a:solidFill>
              <a:latin typeface="+mj-lt"/>
            </a:endParaRPr>
          </a:p>
        </p:txBody>
      </p:sp>
      <mc:AlternateContent xmlns:mc="http://schemas.openxmlformats.org/markup-compatibility/2006">
        <mc:Choice xmlns:a14="http://schemas.microsoft.com/office/drawing/2010/main" Requires="a14">
          <p:sp>
            <p:nvSpPr>
              <p:cNvPr id="5" name="CuadroTexto 4">
                <a:extLst>
                  <a:ext uri="{FF2B5EF4-FFF2-40B4-BE49-F238E27FC236}">
                    <a16:creationId xmlns:a16="http://schemas.microsoft.com/office/drawing/2014/main" id="{D055498E-B21E-4DD3-9366-5DAC438D31FC}"/>
                  </a:ext>
                </a:extLst>
              </p:cNvPr>
              <p:cNvSpPr txBox="1"/>
              <p:nvPr/>
            </p:nvSpPr>
            <p:spPr>
              <a:xfrm>
                <a:off x="283988" y="957050"/>
                <a:ext cx="11356469" cy="5509200"/>
              </a:xfrm>
              <a:prstGeom prst="rect">
                <a:avLst/>
              </a:prstGeom>
              <a:noFill/>
            </p:spPr>
            <p:txBody>
              <a:bodyPr wrap="square" rtlCol="0">
                <a:spAutoFit/>
              </a:bodyPr>
              <a:lstStyle/>
              <a:p>
                <a:pPr marL="457200" indent="-457200">
                  <a:buFont typeface="+mj-lt"/>
                  <a:buAutoNum type="arabicPeriod"/>
                </a:pPr>
                <a:r>
                  <a:rPr lang="es-MX" sz="2200" dirty="0">
                    <a:ea typeface="Roboto" panose="02000000000000000000" pitchFamily="2" charset="0"/>
                  </a:rPr>
                  <a:t>Considere el conjunto de premisas dado por:</a:t>
                </a:r>
              </a:p>
              <a:p>
                <a:pPr marL="914400" lvl="1" indent="-457200">
                  <a:buFont typeface="+mj-lt"/>
                  <a:buAutoNum type="alphaLcPeriod"/>
                </a:pPr>
                <a:r>
                  <a:rPr lang="es-MX" sz="2200" dirty="0">
                    <a:ea typeface="Roboto" panose="02000000000000000000" pitchFamily="2" charset="0"/>
                  </a:rPr>
                  <a:t>Todo numero real es positivo o es negativo o es cero.</a:t>
                </a:r>
              </a:p>
              <a:p>
                <a:pPr marL="914400" lvl="1" indent="-457200">
                  <a:buFont typeface="+mj-lt"/>
                  <a:buAutoNum type="alphaLcPeriod"/>
                </a:pPr>
                <a:r>
                  <a:rPr lang="es-MX" sz="2200" dirty="0">
                    <a:ea typeface="Roboto" panose="02000000000000000000" pitchFamily="2" charset="0"/>
                  </a:rPr>
                  <a:t>4 no es un numero negativo.</a:t>
                </a:r>
              </a:p>
              <a:p>
                <a:pPr marL="914400" lvl="1" indent="-457200">
                  <a:buFont typeface="+mj-lt"/>
                  <a:buAutoNum type="alphaLcPeriod"/>
                </a:pPr>
                <a:r>
                  <a:rPr lang="es-MX" sz="2200" dirty="0">
                    <a:ea typeface="Roboto" panose="02000000000000000000" pitchFamily="2" charset="0"/>
                  </a:rPr>
                  <a:t>4 no es cero</a:t>
                </a:r>
              </a:p>
              <a:p>
                <a:pPr lvl="1"/>
                <a:r>
                  <a:rPr lang="es-MX" sz="2200" dirty="0">
                    <a:ea typeface="Roboto" panose="02000000000000000000" pitchFamily="2" charset="0"/>
                  </a:rPr>
                  <a:t>Y la siguiente conclusión: “4 es un numero positivo”.</a:t>
                </a:r>
              </a:p>
              <a:p>
                <a:pPr marL="457200" indent="-457200">
                  <a:buFont typeface="+mj-lt"/>
                  <a:buAutoNum type="arabicPeriod"/>
                </a:pPr>
                <a:r>
                  <a:rPr lang="es-MX" sz="2200" dirty="0">
                    <a:ea typeface="Roboto" panose="02000000000000000000" pitchFamily="2" charset="0"/>
                  </a:rPr>
                  <a:t>El dominio de referencia es </a:t>
                </a:r>
                <a14:m>
                  <m:oMath xmlns:m="http://schemas.openxmlformats.org/officeDocument/2006/math">
                    <m:r>
                      <a:rPr lang="es-MX" sz="2200" i="1" smtClean="0">
                        <a:latin typeface="Cambria Math" panose="02040503050406030204" pitchFamily="18" charset="0"/>
                        <a:ea typeface="Cambria Math" panose="02040503050406030204" pitchFamily="18" charset="0"/>
                      </a:rPr>
                      <m:t>ℤ</m:t>
                    </m:r>
                  </m:oMath>
                </a14:m>
                <a:r>
                  <a:rPr lang="es-MX" sz="2200" dirty="0">
                    <a:ea typeface="Roboto" panose="02000000000000000000" pitchFamily="2" charset="0"/>
                  </a:rPr>
                  <a:t> y se definen las siguientes premisas:</a:t>
                </a:r>
              </a:p>
              <a:p>
                <a:pPr marL="914400" lvl="1" indent="-457200">
                  <a:buFont typeface="+mj-lt"/>
                  <a:buAutoNum type="alphaLcPeriod"/>
                </a:pPr>
                <a:r>
                  <a:rPr lang="es-MX" sz="2200" dirty="0">
                    <a:ea typeface="Roboto" panose="02000000000000000000" pitchFamily="2" charset="0"/>
                  </a:rPr>
                  <a:t>Para cada </a:t>
                </a:r>
                <a14:m>
                  <m:oMath xmlns:m="http://schemas.openxmlformats.org/officeDocument/2006/math">
                    <m:r>
                      <a:rPr lang="es-MX" sz="2200" b="0" i="1" smtClean="0">
                        <a:latin typeface="Cambria Math" panose="02040503050406030204" pitchFamily="18" charset="0"/>
                        <a:ea typeface="Roboto" panose="02000000000000000000" pitchFamily="2" charset="0"/>
                      </a:rPr>
                      <m:t>𝑥</m:t>
                    </m:r>
                  </m:oMath>
                </a14:m>
                <a:r>
                  <a:rPr lang="es-MX" sz="2200" dirty="0">
                    <a:ea typeface="Roboto" panose="02000000000000000000" pitchFamily="2" charset="0"/>
                  </a:rPr>
                  <a:t>, si </a:t>
                </a:r>
                <a14:m>
                  <m:oMath xmlns:m="http://schemas.openxmlformats.org/officeDocument/2006/math">
                    <m:r>
                      <a:rPr lang="es-MX" sz="2200" b="0" i="1" smtClean="0">
                        <a:latin typeface="Cambria Math" panose="02040503050406030204" pitchFamily="18" charset="0"/>
                        <a:ea typeface="Roboto" panose="02000000000000000000" pitchFamily="2" charset="0"/>
                      </a:rPr>
                      <m:t>𝑥</m:t>
                    </m:r>
                  </m:oMath>
                </a14:m>
                <a:r>
                  <a:rPr lang="es-MX" sz="2200" dirty="0">
                    <a:ea typeface="Roboto" panose="02000000000000000000" pitchFamily="2" charset="0"/>
                  </a:rPr>
                  <a:t> es un numero par, entonces </a:t>
                </a:r>
                <a14:m>
                  <m:oMath xmlns:m="http://schemas.openxmlformats.org/officeDocument/2006/math">
                    <m:r>
                      <a:rPr lang="es-MX" sz="2200" b="0" i="1" smtClean="0">
                        <a:latin typeface="Cambria Math" panose="02040503050406030204" pitchFamily="18" charset="0"/>
                        <a:ea typeface="Roboto" panose="02000000000000000000" pitchFamily="2" charset="0"/>
                      </a:rPr>
                      <m:t>𝑥</m:t>
                    </m:r>
                    <m:r>
                      <a:rPr lang="es-MX" sz="2200" b="0" i="1" smtClean="0">
                        <a:latin typeface="Cambria Math" panose="02040503050406030204" pitchFamily="18" charset="0"/>
                        <a:ea typeface="Roboto" panose="02000000000000000000" pitchFamily="2" charset="0"/>
                      </a:rPr>
                      <m:t>+4</m:t>
                    </m:r>
                  </m:oMath>
                </a14:m>
                <a:r>
                  <a:rPr lang="es-MX" sz="2200" dirty="0">
                    <a:ea typeface="Roboto" panose="02000000000000000000" pitchFamily="2" charset="0"/>
                  </a:rPr>
                  <a:t> es un numero par.</a:t>
                </a:r>
              </a:p>
              <a:p>
                <a:pPr marL="914400" lvl="1" indent="-457200">
                  <a:buFont typeface="+mj-lt"/>
                  <a:buAutoNum type="alphaLcPeriod"/>
                </a:pPr>
                <a:r>
                  <a:rPr lang="es-MX" sz="2200" dirty="0">
                    <a:ea typeface="Roboto" panose="02000000000000000000" pitchFamily="2" charset="0"/>
                  </a:rPr>
                  <a:t>Para cada </a:t>
                </a:r>
                <a14:m>
                  <m:oMath xmlns:m="http://schemas.openxmlformats.org/officeDocument/2006/math">
                    <m:r>
                      <a:rPr lang="es-MX" sz="2200" b="0" i="1" smtClean="0">
                        <a:latin typeface="Cambria Math" panose="02040503050406030204" pitchFamily="18" charset="0"/>
                        <a:ea typeface="Roboto" panose="02000000000000000000" pitchFamily="2" charset="0"/>
                      </a:rPr>
                      <m:t>𝑥</m:t>
                    </m:r>
                  </m:oMath>
                </a14:m>
                <a:r>
                  <a:rPr lang="es-MX" sz="2200" dirty="0">
                    <a:ea typeface="Roboto" panose="02000000000000000000" pitchFamily="2" charset="0"/>
                  </a:rPr>
                  <a:t>, si </a:t>
                </a:r>
                <a14:m>
                  <m:oMath xmlns:m="http://schemas.openxmlformats.org/officeDocument/2006/math">
                    <m:r>
                      <a:rPr lang="es-MX" sz="2200" b="0" i="1" smtClean="0">
                        <a:latin typeface="Cambria Math" panose="02040503050406030204" pitchFamily="18" charset="0"/>
                        <a:ea typeface="Roboto" panose="02000000000000000000" pitchFamily="2" charset="0"/>
                      </a:rPr>
                      <m:t>𝑥</m:t>
                    </m:r>
                  </m:oMath>
                </a14:m>
                <a:r>
                  <a:rPr lang="es-MX" sz="2200" dirty="0">
                    <a:ea typeface="Roboto" panose="02000000000000000000" pitchFamily="2" charset="0"/>
                  </a:rPr>
                  <a:t> es un numero par, entonces </a:t>
                </a:r>
                <a14:m>
                  <m:oMath xmlns:m="http://schemas.openxmlformats.org/officeDocument/2006/math">
                    <m:r>
                      <a:rPr lang="es-MX" sz="2200" b="0" i="1" smtClean="0">
                        <a:latin typeface="Cambria Math" panose="02040503050406030204" pitchFamily="18" charset="0"/>
                        <a:ea typeface="Roboto" panose="02000000000000000000" pitchFamily="2" charset="0"/>
                      </a:rPr>
                      <m:t>𝑥</m:t>
                    </m:r>
                  </m:oMath>
                </a14:m>
                <a:r>
                  <a:rPr lang="es-MX" sz="2200" dirty="0">
                    <a:ea typeface="Roboto" panose="02000000000000000000" pitchFamily="2" charset="0"/>
                  </a:rPr>
                  <a:t> no es un numero par.</a:t>
                </a:r>
              </a:p>
              <a:p>
                <a:pPr marL="914400" lvl="1" indent="-457200">
                  <a:buFont typeface="+mj-lt"/>
                  <a:buAutoNum type="alphaLcPeriod"/>
                </a:pPr>
                <a:r>
                  <a:rPr lang="es-MX" sz="2200" dirty="0">
                    <a:ea typeface="Roboto" panose="02000000000000000000" pitchFamily="2" charset="0"/>
                  </a:rPr>
                  <a:t>Dos es un numero par.</a:t>
                </a:r>
              </a:p>
              <a:p>
                <a:pPr lvl="1"/>
                <a:r>
                  <a:rPr lang="es-MX" sz="2200" dirty="0">
                    <a:ea typeface="Roboto" panose="02000000000000000000" pitchFamily="2" charset="0"/>
                  </a:rPr>
                  <a:t>La conclusión que se sigue es: “2+4 no es un numero impar”</a:t>
                </a:r>
              </a:p>
              <a:p>
                <a:pPr marL="457200" indent="-457200">
                  <a:buFont typeface="+mj-lt"/>
                  <a:buAutoNum type="arabicPeriod"/>
                </a:pPr>
                <a:r>
                  <a:rPr lang="es-MX" sz="2200" dirty="0">
                    <a:ea typeface="Roboto" panose="02000000000000000000" pitchFamily="2" charset="0"/>
                  </a:rPr>
                  <a:t>“Alguien en esta clase disfruta observar ballenas, toda persona que disfruta observar ballenas se preocupa por la contaminación del océano”. Por lo tanto, “hay una persona en esta clase que se preocupa por la contaminación del océano”</a:t>
                </a:r>
              </a:p>
              <a:p>
                <a:pPr marL="457200" indent="-457200">
                  <a:buFont typeface="+mj-lt"/>
                  <a:buAutoNum type="arabicPeriod"/>
                </a:pPr>
                <a:r>
                  <a:rPr lang="es-MX" sz="2200" dirty="0">
                    <a:ea typeface="Roboto" panose="02000000000000000000" pitchFamily="2" charset="0"/>
                  </a:rPr>
                  <a:t>“Toda persona en Nueva Jersey vive a menos de 50 millas del océano. Alguien en Nueva Jersey nunca ha visto el océano”. Por lo tanto, “Alguien que vive a menos de 50 millas del océano nunca ha visto el océano”.</a:t>
                </a:r>
              </a:p>
            </p:txBody>
          </p:sp>
        </mc:Choice>
        <mc:Fallback>
          <p:sp>
            <p:nvSpPr>
              <p:cNvPr id="5" name="CuadroTexto 4">
                <a:extLst>
                  <a:ext uri="{FF2B5EF4-FFF2-40B4-BE49-F238E27FC236}">
                    <a16:creationId xmlns:a16="http://schemas.microsoft.com/office/drawing/2014/main" id="{D055498E-B21E-4DD3-9366-5DAC438D31FC}"/>
                  </a:ext>
                </a:extLst>
              </p:cNvPr>
              <p:cNvSpPr txBox="1">
                <a:spLocks noRot="1" noChangeAspect="1" noMove="1" noResize="1" noEditPoints="1" noAdjustHandles="1" noChangeArrowheads="1" noChangeShapeType="1" noTextEdit="1"/>
              </p:cNvSpPr>
              <p:nvPr/>
            </p:nvSpPr>
            <p:spPr>
              <a:xfrm>
                <a:off x="283988" y="957050"/>
                <a:ext cx="11356469" cy="5509200"/>
              </a:xfrm>
              <a:prstGeom prst="rect">
                <a:avLst/>
              </a:prstGeom>
              <a:blipFill>
                <a:blip r:embed="rId3"/>
                <a:stretch>
                  <a:fillRect l="-751" t="-885" r="-966" b="-1217"/>
                </a:stretch>
              </a:blipFill>
            </p:spPr>
            <p:txBody>
              <a:bodyPr/>
              <a:lstStyle/>
              <a:p>
                <a:r>
                  <a:rPr lang="es-CO">
                    <a:noFill/>
                  </a:rPr>
                  <a:t> </a:t>
                </a:r>
              </a:p>
            </p:txBody>
          </p:sp>
        </mc:Fallback>
      </mc:AlternateContent>
    </p:spTree>
    <p:extLst>
      <p:ext uri="{BB962C8B-B14F-4D97-AF65-F5344CB8AC3E}">
        <p14:creationId xmlns:p14="http://schemas.microsoft.com/office/powerpoint/2010/main" val="17264560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title"/>
          </p:nvPr>
        </p:nvSpPr>
        <p:spPr>
          <a:xfrm>
            <a:off x="508000" y="96038"/>
            <a:ext cx="871265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Ejercicios de repaso</a:t>
            </a:r>
            <a:endParaRPr dirty="0">
              <a:solidFill>
                <a:schemeClr val="tx1"/>
              </a:solidFill>
              <a:latin typeface="+mj-lt"/>
            </a:endParaRPr>
          </a:p>
        </p:txBody>
      </p:sp>
      <p:sp>
        <p:nvSpPr>
          <p:cNvPr id="5" name="CuadroTexto 4">
            <a:extLst>
              <a:ext uri="{FF2B5EF4-FFF2-40B4-BE49-F238E27FC236}">
                <a16:creationId xmlns:a16="http://schemas.microsoft.com/office/drawing/2014/main" id="{D055498E-B21E-4DD3-9366-5DAC438D31FC}"/>
              </a:ext>
            </a:extLst>
          </p:cNvPr>
          <p:cNvSpPr txBox="1"/>
          <p:nvPr/>
        </p:nvSpPr>
        <p:spPr>
          <a:xfrm>
            <a:off x="283988" y="1045538"/>
            <a:ext cx="11356469" cy="3231654"/>
          </a:xfrm>
          <a:prstGeom prst="rect">
            <a:avLst/>
          </a:prstGeom>
          <a:noFill/>
        </p:spPr>
        <p:txBody>
          <a:bodyPr wrap="square" rtlCol="0">
            <a:spAutoFit/>
          </a:bodyPr>
          <a:lstStyle/>
          <a:p>
            <a:pPr marL="457200" indent="-457200">
              <a:buFont typeface="+mj-lt"/>
              <a:buAutoNum type="arabicPeriod" startAt="5"/>
            </a:pPr>
            <a:r>
              <a:rPr lang="es-MX" sz="2200" dirty="0">
                <a:ea typeface="Roboto" panose="02000000000000000000" pitchFamily="2" charset="0"/>
              </a:rPr>
              <a:t>Deduzca los teoremas con base en el sistema de lógica cuantificacional.</a:t>
            </a:r>
          </a:p>
          <a:p>
            <a:pPr marL="457200" indent="-457200">
              <a:buFont typeface="+mj-lt"/>
              <a:buAutoNum type="arabicPeriod" startAt="5"/>
            </a:pPr>
            <a:endParaRPr lang="es-MX" sz="2000" dirty="0">
              <a:ea typeface="Roboto" panose="02000000000000000000" pitchFamily="2" charset="0"/>
            </a:endParaRPr>
          </a:p>
          <a:p>
            <a:pPr marL="457200" indent="-457200">
              <a:buFont typeface="+mj-lt"/>
              <a:buAutoNum type="arabicPeriod" startAt="5"/>
            </a:pPr>
            <a:endParaRPr lang="es-MX" sz="2000" dirty="0">
              <a:ea typeface="Roboto" panose="02000000000000000000" pitchFamily="2" charset="0"/>
            </a:endParaRPr>
          </a:p>
          <a:p>
            <a:pPr marL="457200" indent="-457200">
              <a:buFont typeface="+mj-lt"/>
              <a:buAutoNum type="arabicPeriod" startAt="5"/>
            </a:pPr>
            <a:endParaRPr lang="es-MX" sz="2000" dirty="0">
              <a:ea typeface="Roboto" panose="02000000000000000000" pitchFamily="2" charset="0"/>
            </a:endParaRPr>
          </a:p>
          <a:p>
            <a:pPr marL="457200" indent="-457200">
              <a:buFont typeface="+mj-lt"/>
              <a:buAutoNum type="arabicPeriod" startAt="5"/>
            </a:pPr>
            <a:endParaRPr lang="es-MX" sz="2000" dirty="0">
              <a:ea typeface="Roboto" panose="02000000000000000000" pitchFamily="2" charset="0"/>
            </a:endParaRPr>
          </a:p>
          <a:p>
            <a:pPr marL="457200" indent="-457200">
              <a:buFont typeface="+mj-lt"/>
              <a:buAutoNum type="arabicPeriod" startAt="5"/>
            </a:pPr>
            <a:endParaRPr lang="es-MX" sz="2000" dirty="0">
              <a:ea typeface="Roboto" panose="02000000000000000000" pitchFamily="2" charset="0"/>
            </a:endParaRPr>
          </a:p>
          <a:p>
            <a:pPr marL="457200" indent="-457200">
              <a:buFont typeface="+mj-lt"/>
              <a:buAutoNum type="arabicPeriod" startAt="5"/>
            </a:pPr>
            <a:endParaRPr lang="es-MX" sz="2000" dirty="0">
              <a:ea typeface="Roboto" panose="02000000000000000000" pitchFamily="2" charset="0"/>
            </a:endParaRPr>
          </a:p>
          <a:p>
            <a:pPr marL="457200" indent="-457200">
              <a:buFont typeface="+mj-lt"/>
              <a:buAutoNum type="arabicPeriod" startAt="5"/>
            </a:pPr>
            <a:endParaRPr lang="es-MX" sz="2000" dirty="0">
              <a:ea typeface="Roboto" panose="02000000000000000000" pitchFamily="2" charset="0"/>
            </a:endParaRPr>
          </a:p>
          <a:p>
            <a:pPr marL="457200" indent="-457200">
              <a:buFont typeface="+mj-lt"/>
              <a:buAutoNum type="arabicPeriod" startAt="5"/>
            </a:pPr>
            <a:endParaRPr lang="es-MX" sz="2000" dirty="0">
              <a:ea typeface="Roboto" panose="02000000000000000000" pitchFamily="2" charset="0"/>
            </a:endParaRPr>
          </a:p>
          <a:p>
            <a:pPr marL="457200" indent="-457200">
              <a:buFont typeface="+mj-lt"/>
              <a:buAutoNum type="arabicPeriod" startAt="5"/>
            </a:pPr>
            <a:r>
              <a:rPr lang="es-MX" sz="2200" dirty="0">
                <a:ea typeface="Roboto" panose="02000000000000000000" pitchFamily="2" charset="0"/>
              </a:rPr>
              <a:t>Deduzca los teoremas con base en el sistema de lógica cuantificacional.</a:t>
            </a:r>
          </a:p>
        </p:txBody>
      </p:sp>
      <mc:AlternateContent xmlns:mc="http://schemas.openxmlformats.org/markup-compatibility/2006" xmlns:a14="http://schemas.microsoft.com/office/drawing/2010/main">
        <mc:Choice Requires="a14">
          <p:graphicFrame>
            <p:nvGraphicFramePr>
              <p:cNvPr id="2" name="Tabla 2">
                <a:extLst>
                  <a:ext uri="{FF2B5EF4-FFF2-40B4-BE49-F238E27FC236}">
                    <a16:creationId xmlns:a16="http://schemas.microsoft.com/office/drawing/2014/main" id="{4758FF90-D44F-4BBD-B6DB-E09AB97BE035}"/>
                  </a:ext>
                </a:extLst>
              </p:cNvPr>
              <p:cNvGraphicFramePr>
                <a:graphicFrameLocks noGrp="1"/>
              </p:cNvGraphicFramePr>
              <p:nvPr>
                <p:extLst>
                  <p:ext uri="{D42A27DB-BD31-4B8C-83A1-F6EECF244321}">
                    <p14:modId xmlns:p14="http://schemas.microsoft.com/office/powerpoint/2010/main" val="957115633"/>
                  </p:ext>
                </p:extLst>
              </p:nvPr>
            </p:nvGraphicFramePr>
            <p:xfrm>
              <a:off x="1378858" y="1614528"/>
              <a:ext cx="8128000" cy="1655572"/>
            </p:xfrm>
            <a:graphic>
              <a:graphicData uri="http://schemas.openxmlformats.org/drawingml/2006/table">
                <a:tbl>
                  <a:tblPr firstRow="1" bandRow="1">
                    <a:tableStyleId>{AD6A3598-7CB8-4345-8D95-17CE05F158A0}</a:tableStyleId>
                  </a:tblPr>
                  <a:tblGrid>
                    <a:gridCol w="4064000">
                      <a:extLst>
                        <a:ext uri="{9D8B030D-6E8A-4147-A177-3AD203B41FA5}">
                          <a16:colId xmlns:a16="http://schemas.microsoft.com/office/drawing/2014/main" val="3377211390"/>
                        </a:ext>
                      </a:extLst>
                    </a:gridCol>
                    <a:gridCol w="4064000">
                      <a:extLst>
                        <a:ext uri="{9D8B030D-6E8A-4147-A177-3AD203B41FA5}">
                          <a16:colId xmlns:a16="http://schemas.microsoft.com/office/drawing/2014/main" val="1918659203"/>
                        </a:ext>
                      </a:extLst>
                    </a:gridCol>
                  </a:tblGrid>
                  <a:tr h="370840">
                    <a:tc>
                      <a:txBody>
                        <a:bodyPr/>
                        <a:lstStyle/>
                        <a:p>
                          <a:pPr algn="ctr"/>
                          <a:r>
                            <a:rPr lang="es-CO" sz="2000" b="1" dirty="0">
                              <a:latin typeface="+mn-lt"/>
                              <a:cs typeface="Arial" panose="020B0604020202020204" pitchFamily="34" charset="0"/>
                            </a:rPr>
                            <a:t>Premisas</a:t>
                          </a:r>
                        </a:p>
                      </a:txBody>
                      <a:tcP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s-CO" sz="2000" b="1" dirty="0">
                              <a:latin typeface="+mn-lt"/>
                              <a:cs typeface="Arial" panose="020B0604020202020204" pitchFamily="34" charset="0"/>
                            </a:rPr>
                            <a:t>Conclusión</a:t>
                          </a:r>
                        </a:p>
                      </a:txBody>
                      <a:tcP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2695394"/>
                      </a:ext>
                    </a:extLst>
                  </a:tr>
                  <a:tr h="370840">
                    <a:tc>
                      <a:txBody>
                        <a:bodyPr/>
                        <a:lstStyle/>
                        <a:p>
                          <a:pPr/>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cs typeface="Arial" panose="020B0604020202020204" pitchFamily="34" charset="0"/>
                                  </a:rPr>
                                  <m:t>∀</m:t>
                                </m:r>
                                <m:r>
                                  <a:rPr lang="es-MX" b="0" i="1" smtClean="0">
                                    <a:latin typeface="Cambria Math" panose="02040503050406030204" pitchFamily="18" charset="0"/>
                                    <a:cs typeface="Arial" panose="020B0604020202020204" pitchFamily="34" charset="0"/>
                                  </a:rPr>
                                  <m:t>𝑥</m:t>
                                </m:r>
                                <m:d>
                                  <m:dPr>
                                    <m:ctrlPr>
                                      <a:rPr lang="es-MX" b="0" i="1" smtClean="0">
                                        <a:latin typeface="Cambria Math" panose="02040503050406030204" pitchFamily="18" charset="0"/>
                                        <a:cs typeface="Arial" panose="020B0604020202020204" pitchFamily="34" charset="0"/>
                                      </a:rPr>
                                    </m:ctrlPr>
                                  </m:dPr>
                                  <m:e>
                                    <m:d>
                                      <m:dPr>
                                        <m:ctrlPr>
                                          <a:rPr lang="es-MX" b="0" i="1" smtClean="0">
                                            <a:latin typeface="Cambria Math" panose="02040503050406030204" pitchFamily="18" charset="0"/>
                                            <a:cs typeface="Arial" panose="020B0604020202020204" pitchFamily="34" charset="0"/>
                                          </a:rPr>
                                        </m:ctrlPr>
                                      </m:dPr>
                                      <m:e>
                                        <m:r>
                                          <a:rPr lang="es-MX" b="0" i="1" smtClean="0">
                                            <a:latin typeface="Cambria Math" panose="02040503050406030204" pitchFamily="18" charset="0"/>
                                            <a:cs typeface="Arial" panose="020B0604020202020204" pitchFamily="34" charset="0"/>
                                          </a:rPr>
                                          <m:t>𝑥</m:t>
                                        </m:r>
                                        <m:r>
                                          <a:rPr lang="es-MX" b="0" i="1" smtClean="0">
                                            <a:latin typeface="Cambria Math" panose="02040503050406030204" pitchFamily="18" charset="0"/>
                                            <a:cs typeface="Arial" panose="020B0604020202020204" pitchFamily="34" charset="0"/>
                                          </a:rPr>
                                          <m:t>&lt;4</m:t>
                                        </m:r>
                                      </m:e>
                                    </m:d>
                                    <m:r>
                                      <a:rPr lang="es-MX" b="0" i="1" smtClean="0">
                                        <a:latin typeface="Cambria Math" panose="02040503050406030204" pitchFamily="18" charset="0"/>
                                        <a:ea typeface="Cambria Math" panose="02040503050406030204" pitchFamily="18" charset="0"/>
                                        <a:cs typeface="Arial" panose="020B0604020202020204" pitchFamily="34" charset="0"/>
                                      </a:rPr>
                                      <m:t>∧</m:t>
                                    </m:r>
                                    <m:d>
                                      <m:dPr>
                                        <m:ctrlPr>
                                          <a:rPr lang="es-MX" b="0" i="1" smtClean="0">
                                            <a:latin typeface="Cambria Math" panose="02040503050406030204" pitchFamily="18" charset="0"/>
                                            <a:ea typeface="Cambria Math" panose="02040503050406030204" pitchFamily="18" charset="0"/>
                                            <a:cs typeface="Arial" panose="020B0604020202020204" pitchFamily="34" charset="0"/>
                                          </a:rPr>
                                        </m:ctrlPr>
                                      </m:dPr>
                                      <m:e>
                                        <m:r>
                                          <a:rPr lang="es-MX" b="0" i="1" smtClean="0">
                                            <a:latin typeface="Cambria Math" panose="02040503050406030204" pitchFamily="18" charset="0"/>
                                            <a:ea typeface="Cambria Math" panose="02040503050406030204" pitchFamily="18" charset="0"/>
                                            <a:cs typeface="Arial" panose="020B0604020202020204" pitchFamily="34" charset="0"/>
                                          </a:rPr>
                                          <m:t>4&lt;5</m:t>
                                        </m:r>
                                      </m:e>
                                    </m:d>
                                    <m:r>
                                      <a:rPr lang="es-MX" b="0" i="1" smtClean="0">
                                        <a:latin typeface="Cambria Math" panose="02040503050406030204" pitchFamily="18" charset="0"/>
                                        <a:ea typeface="Cambria Math" panose="02040503050406030204" pitchFamily="18" charset="0"/>
                                        <a:cs typeface="Arial" panose="020B0604020202020204" pitchFamily="34" charset="0"/>
                                      </a:rPr>
                                      <m:t>→</m:t>
                                    </m:r>
                                    <m:r>
                                      <a:rPr lang="es-MX" b="0" i="1" smtClean="0">
                                        <a:latin typeface="Cambria Math" panose="02040503050406030204" pitchFamily="18" charset="0"/>
                                        <a:ea typeface="Cambria Math" panose="02040503050406030204" pitchFamily="18" charset="0"/>
                                        <a:cs typeface="Arial" panose="020B0604020202020204" pitchFamily="34" charset="0"/>
                                      </a:rPr>
                                      <m:t>𝑥</m:t>
                                    </m:r>
                                    <m:r>
                                      <a:rPr lang="es-MX" b="0" i="1" smtClean="0">
                                        <a:latin typeface="Cambria Math" panose="02040503050406030204" pitchFamily="18" charset="0"/>
                                        <a:ea typeface="Cambria Math" panose="02040503050406030204" pitchFamily="18" charset="0"/>
                                        <a:cs typeface="Arial" panose="020B0604020202020204" pitchFamily="34" charset="0"/>
                                      </a:rPr>
                                      <m:t>&lt;5</m:t>
                                    </m:r>
                                  </m:e>
                                </m:d>
                              </m:oMath>
                            </m:oMathPara>
                          </a14:m>
                          <a:endParaRPr lang="es-MX" b="0" dirty="0">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cs typeface="Arial" panose="020B0604020202020204" pitchFamily="34" charset="0"/>
                                  </a:rPr>
                                  <m:t>∀</m:t>
                                </m:r>
                                <m:r>
                                  <a:rPr lang="es-MX" b="0" i="1" smtClean="0">
                                    <a:latin typeface="Cambria Math" panose="02040503050406030204" pitchFamily="18" charset="0"/>
                                    <a:cs typeface="Arial" panose="020B0604020202020204" pitchFamily="34" charset="0"/>
                                  </a:rPr>
                                  <m:t>𝑥</m:t>
                                </m:r>
                                <m:d>
                                  <m:dPr>
                                    <m:ctrlPr>
                                      <a:rPr lang="es-MX" b="0" i="1" smtClean="0">
                                        <a:latin typeface="Cambria Math" panose="02040503050406030204" pitchFamily="18" charset="0"/>
                                        <a:cs typeface="Arial" panose="020B0604020202020204" pitchFamily="34" charset="0"/>
                                      </a:rPr>
                                    </m:ctrlPr>
                                  </m:dPr>
                                  <m:e>
                                    <m:d>
                                      <m:dPr>
                                        <m:ctrlPr>
                                          <a:rPr lang="es-MX" b="0" i="1" smtClean="0">
                                            <a:latin typeface="Cambria Math" panose="02040503050406030204" pitchFamily="18" charset="0"/>
                                            <a:cs typeface="Arial" panose="020B0604020202020204" pitchFamily="34" charset="0"/>
                                          </a:rPr>
                                        </m:ctrlPr>
                                      </m:dPr>
                                      <m:e>
                                        <m:r>
                                          <a:rPr lang="es-MX" b="0" i="1" smtClean="0">
                                            <a:latin typeface="Cambria Math" panose="02040503050406030204" pitchFamily="18" charset="0"/>
                                            <a:cs typeface="Arial" panose="020B0604020202020204" pitchFamily="34" charset="0"/>
                                          </a:rPr>
                                          <m:t>−4&lt;</m:t>
                                        </m:r>
                                        <m:r>
                                          <a:rPr lang="es-MX" b="0" i="1" smtClean="0">
                                            <a:latin typeface="Cambria Math" panose="02040503050406030204" pitchFamily="18" charset="0"/>
                                            <a:cs typeface="Arial" panose="020B0604020202020204" pitchFamily="34" charset="0"/>
                                          </a:rPr>
                                          <m:t>𝑥</m:t>
                                        </m:r>
                                      </m:e>
                                    </m:d>
                                    <m:r>
                                      <a:rPr lang="es-MX" b="0" i="1" smtClean="0">
                                        <a:latin typeface="Cambria Math" panose="02040503050406030204" pitchFamily="18" charset="0"/>
                                        <a:ea typeface="Cambria Math" panose="02040503050406030204" pitchFamily="18" charset="0"/>
                                        <a:cs typeface="Arial" panose="020B0604020202020204" pitchFamily="34" charset="0"/>
                                      </a:rPr>
                                      <m:t>↔</m:t>
                                    </m:r>
                                    <m:d>
                                      <m:dPr>
                                        <m:ctrlPr>
                                          <a:rPr lang="es-MX" b="0" i="1" smtClean="0">
                                            <a:latin typeface="Cambria Math" panose="02040503050406030204" pitchFamily="18" charset="0"/>
                                            <a:ea typeface="Cambria Math" panose="02040503050406030204" pitchFamily="18" charset="0"/>
                                            <a:cs typeface="Arial" panose="020B0604020202020204" pitchFamily="34" charset="0"/>
                                          </a:rPr>
                                        </m:ctrlPr>
                                      </m:dPr>
                                      <m:e>
                                        <m:r>
                                          <a:rPr lang="es-MX" b="0" i="1" smtClean="0">
                                            <a:latin typeface="Cambria Math" panose="02040503050406030204" pitchFamily="18" charset="0"/>
                                            <a:ea typeface="Cambria Math" panose="02040503050406030204" pitchFamily="18" charset="0"/>
                                            <a:cs typeface="Arial" panose="020B0604020202020204" pitchFamily="34" charset="0"/>
                                          </a:rPr>
                                          <m:t>𝑥</m:t>
                                        </m:r>
                                        <m:r>
                                          <a:rPr lang="es-MX" b="0" i="1" smtClean="0">
                                            <a:latin typeface="Cambria Math" panose="02040503050406030204" pitchFamily="18" charset="0"/>
                                            <a:ea typeface="Cambria Math" panose="02040503050406030204" pitchFamily="18" charset="0"/>
                                            <a:cs typeface="Arial" panose="020B0604020202020204" pitchFamily="34" charset="0"/>
                                          </a:rPr>
                                          <m:t>&lt;4</m:t>
                                        </m:r>
                                      </m:e>
                                    </m:d>
                                  </m:e>
                                </m:d>
                              </m:oMath>
                            </m:oMathPara>
                          </a14:m>
                          <a:endParaRPr lang="es-CO" sz="1800" kern="1200" dirty="0">
                            <a:solidFill>
                              <a:srgbClr val="000000"/>
                            </a:solidFill>
                            <a:latin typeface="Arial"/>
                            <a:ea typeface="Arial"/>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cs typeface="Arial" panose="020B0604020202020204" pitchFamily="34" charset="0"/>
                                  </a:rPr>
                                  <m:t>4&lt;5</m:t>
                                </m:r>
                              </m:oMath>
                            </m:oMathPara>
                          </a14:m>
                          <a:endParaRPr lang="es-MX" b="0" dirty="0">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cs typeface="Arial" panose="020B0604020202020204" pitchFamily="34" charset="0"/>
                                  </a:rPr>
                                  <m:t>−4&lt;−3</m:t>
                                </m:r>
                              </m:oMath>
                            </m:oMathPara>
                          </a14:m>
                          <a:endParaRPr lang="es-CO" sz="1800" kern="1200" dirty="0">
                            <a:solidFill>
                              <a:srgbClr val="000000"/>
                            </a:solidFill>
                            <a:latin typeface="Arial"/>
                            <a:ea typeface="Arial"/>
                            <a:cs typeface="Arial" panose="020B0604020202020204" pitchFamily="34" charset="0"/>
                          </a:endParaRPr>
                        </a:p>
                      </a:txBody>
                      <a:tcP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cs typeface="Arial" panose="020B0604020202020204" pitchFamily="34" charset="0"/>
                                  </a:rPr>
                                  <m:t>3&lt;5</m:t>
                                </m:r>
                              </m:oMath>
                            </m:oMathPara>
                          </a14:m>
                          <a:endParaRPr lang="es-CO" sz="1800" kern="1200" dirty="0">
                            <a:solidFill>
                              <a:srgbClr val="000000"/>
                            </a:solidFill>
                            <a:latin typeface="Arial"/>
                            <a:ea typeface="Arial"/>
                            <a:cs typeface="Arial" panose="020B0604020202020204" pitchFamily="34" charset="0"/>
                          </a:endParaRPr>
                        </a:p>
                        <a:p>
                          <a:endParaRPr lang="es-CO" dirty="0">
                            <a:latin typeface="+mn-lt"/>
                            <a:cs typeface="Arial" panose="020B0604020202020204" pitchFamily="34" charset="0"/>
                          </a:endParaRPr>
                        </a:p>
                      </a:txBody>
                      <a:tcP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714967203"/>
                      </a:ext>
                    </a:extLst>
                  </a:tr>
                </a:tbl>
              </a:graphicData>
            </a:graphic>
          </p:graphicFrame>
        </mc:Choice>
        <mc:Fallback xmlns="">
          <p:graphicFrame>
            <p:nvGraphicFramePr>
              <p:cNvPr id="2" name="Tabla 2">
                <a:extLst>
                  <a:ext uri="{FF2B5EF4-FFF2-40B4-BE49-F238E27FC236}">
                    <a16:creationId xmlns:a16="http://schemas.microsoft.com/office/drawing/2014/main" id="{4758FF90-D44F-4BBD-B6DB-E09AB97BE035}"/>
                  </a:ext>
                </a:extLst>
              </p:cNvPr>
              <p:cNvGraphicFramePr>
                <a:graphicFrameLocks noGrp="1"/>
              </p:cNvGraphicFramePr>
              <p:nvPr>
                <p:extLst>
                  <p:ext uri="{D42A27DB-BD31-4B8C-83A1-F6EECF244321}">
                    <p14:modId xmlns:p14="http://schemas.microsoft.com/office/powerpoint/2010/main" val="957115633"/>
                  </p:ext>
                </p:extLst>
              </p:nvPr>
            </p:nvGraphicFramePr>
            <p:xfrm>
              <a:off x="1378858" y="1614528"/>
              <a:ext cx="8128000" cy="1655572"/>
            </p:xfrm>
            <a:graphic>
              <a:graphicData uri="http://schemas.openxmlformats.org/drawingml/2006/table">
                <a:tbl>
                  <a:tblPr firstRow="1" bandRow="1">
                    <a:tableStyleId>{AD6A3598-7CB8-4345-8D95-17CE05F158A0}</a:tableStyleId>
                  </a:tblPr>
                  <a:tblGrid>
                    <a:gridCol w="4064000">
                      <a:extLst>
                        <a:ext uri="{9D8B030D-6E8A-4147-A177-3AD203B41FA5}">
                          <a16:colId xmlns:a16="http://schemas.microsoft.com/office/drawing/2014/main" val="3377211390"/>
                        </a:ext>
                      </a:extLst>
                    </a:gridCol>
                    <a:gridCol w="4064000">
                      <a:extLst>
                        <a:ext uri="{9D8B030D-6E8A-4147-A177-3AD203B41FA5}">
                          <a16:colId xmlns:a16="http://schemas.microsoft.com/office/drawing/2014/main" val="1918659203"/>
                        </a:ext>
                      </a:extLst>
                    </a:gridCol>
                  </a:tblGrid>
                  <a:tr h="396240">
                    <a:tc>
                      <a:txBody>
                        <a:bodyPr/>
                        <a:lstStyle/>
                        <a:p>
                          <a:pPr algn="ctr"/>
                          <a:r>
                            <a:rPr lang="es-CO" sz="2000" b="1" dirty="0">
                              <a:latin typeface="+mn-lt"/>
                              <a:cs typeface="Arial" panose="020B0604020202020204" pitchFamily="34" charset="0"/>
                            </a:rPr>
                            <a:t>Premisas</a:t>
                          </a:r>
                        </a:p>
                      </a:txBody>
                      <a:tcP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s-CO" sz="2000" b="1" dirty="0">
                              <a:latin typeface="+mn-lt"/>
                              <a:cs typeface="Arial" panose="020B0604020202020204" pitchFamily="34" charset="0"/>
                            </a:rPr>
                            <a:t>Conclusión</a:t>
                          </a:r>
                        </a:p>
                      </a:txBody>
                      <a:tcP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2695394"/>
                      </a:ext>
                    </a:extLst>
                  </a:tr>
                  <a:tr h="1259332">
                    <a:tc>
                      <a:txBody>
                        <a:bodyPr/>
                        <a:lstStyle/>
                        <a:p>
                          <a:endParaRPr lang="es-CO"/>
                        </a:p>
                      </a:txBody>
                      <a:tcP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3"/>
                          <a:stretch>
                            <a:fillRect t="-33654" r="-100150" b="-481"/>
                          </a:stretch>
                        </a:blipFill>
                      </a:tcPr>
                    </a:tc>
                    <a:tc>
                      <a:txBody>
                        <a:bodyPr/>
                        <a:lstStyle/>
                        <a:p>
                          <a:endParaRPr lang="es-CO"/>
                        </a:p>
                      </a:txBody>
                      <a:tcP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3"/>
                          <a:stretch>
                            <a:fillRect l="-100000" t="-33654" r="-150" b="-481"/>
                          </a:stretch>
                        </a:blipFill>
                      </a:tcPr>
                    </a:tc>
                    <a:extLst>
                      <a:ext uri="{0D108BD9-81ED-4DB2-BD59-A6C34878D82A}">
                        <a16:rowId xmlns:a16="http://schemas.microsoft.com/office/drawing/2014/main" val="71496720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7" name="Tabla 2">
                <a:extLst>
                  <a:ext uri="{FF2B5EF4-FFF2-40B4-BE49-F238E27FC236}">
                    <a16:creationId xmlns:a16="http://schemas.microsoft.com/office/drawing/2014/main" id="{2C8D1343-44DE-4DBF-AF43-18191B859832}"/>
                  </a:ext>
                </a:extLst>
              </p:cNvPr>
              <p:cNvGraphicFramePr>
                <a:graphicFrameLocks noGrp="1"/>
              </p:cNvGraphicFramePr>
              <p:nvPr>
                <p:extLst>
                  <p:ext uri="{D42A27DB-BD31-4B8C-83A1-F6EECF244321}">
                    <p14:modId xmlns:p14="http://schemas.microsoft.com/office/powerpoint/2010/main" val="4118325175"/>
                  </p:ext>
                </p:extLst>
              </p:nvPr>
            </p:nvGraphicFramePr>
            <p:xfrm>
              <a:off x="1378858" y="4415686"/>
              <a:ext cx="8128000" cy="1416558"/>
            </p:xfrm>
            <a:graphic>
              <a:graphicData uri="http://schemas.openxmlformats.org/drawingml/2006/table">
                <a:tbl>
                  <a:tblPr firstRow="1" bandRow="1">
                    <a:tableStyleId>{AD6A3598-7CB8-4345-8D95-17CE05F158A0}</a:tableStyleId>
                  </a:tblPr>
                  <a:tblGrid>
                    <a:gridCol w="4064000">
                      <a:extLst>
                        <a:ext uri="{9D8B030D-6E8A-4147-A177-3AD203B41FA5}">
                          <a16:colId xmlns:a16="http://schemas.microsoft.com/office/drawing/2014/main" val="3377211390"/>
                        </a:ext>
                      </a:extLst>
                    </a:gridCol>
                    <a:gridCol w="4064000">
                      <a:extLst>
                        <a:ext uri="{9D8B030D-6E8A-4147-A177-3AD203B41FA5}">
                          <a16:colId xmlns:a16="http://schemas.microsoft.com/office/drawing/2014/main" val="1918659203"/>
                        </a:ext>
                      </a:extLst>
                    </a:gridCol>
                  </a:tblGrid>
                  <a:tr h="370840">
                    <a:tc>
                      <a:txBody>
                        <a:bodyPr/>
                        <a:lstStyle/>
                        <a:p>
                          <a:pPr algn="ctr"/>
                          <a:r>
                            <a:rPr lang="es-CO" sz="2000" b="1" dirty="0">
                              <a:latin typeface="+mn-lt"/>
                              <a:cs typeface="Arial" panose="020B0604020202020204" pitchFamily="34" charset="0"/>
                            </a:rPr>
                            <a:t>Premisas</a:t>
                          </a:r>
                        </a:p>
                      </a:txBody>
                      <a:tcP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s-CO" sz="2000" b="1" dirty="0">
                              <a:latin typeface="+mn-lt"/>
                              <a:cs typeface="Arial" panose="020B0604020202020204" pitchFamily="34" charset="0"/>
                            </a:rPr>
                            <a:t>Conclusión</a:t>
                          </a:r>
                        </a:p>
                      </a:txBody>
                      <a:tcP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2695394"/>
                      </a:ext>
                    </a:extLst>
                  </a:tr>
                  <a:tr h="370840">
                    <a:tc>
                      <a:txBody>
                        <a:bodyPr/>
                        <a:lstStyle/>
                        <a:p>
                          <a:pPr/>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cs typeface="Arial" panose="020B0604020202020204" pitchFamily="34" charset="0"/>
                                  </a:rPr>
                                  <m:t>∀</m:t>
                                </m:r>
                                <m:r>
                                  <a:rPr lang="es-MX" b="0" i="1" smtClean="0">
                                    <a:latin typeface="Cambria Math" panose="02040503050406030204" pitchFamily="18" charset="0"/>
                                    <a:cs typeface="Arial" panose="020B0604020202020204" pitchFamily="34" charset="0"/>
                                  </a:rPr>
                                  <m:t>𝑥</m:t>
                                </m:r>
                                <m:d>
                                  <m:dPr>
                                    <m:ctrlPr>
                                      <a:rPr lang="es-MX" b="0" i="1" smtClean="0">
                                        <a:latin typeface="Cambria Math" panose="02040503050406030204" pitchFamily="18" charset="0"/>
                                        <a:cs typeface="Arial" panose="020B0604020202020204" pitchFamily="34" charset="0"/>
                                      </a:rPr>
                                    </m:ctrlPr>
                                  </m:dPr>
                                  <m:e>
                                    <m:r>
                                      <a:rPr lang="es-MX" b="0" i="1" smtClean="0">
                                        <a:latin typeface="Cambria Math" panose="02040503050406030204" pitchFamily="18" charset="0"/>
                                        <a:cs typeface="Arial" panose="020B0604020202020204" pitchFamily="34" charset="0"/>
                                      </a:rPr>
                                      <m:t>𝑅</m:t>
                                    </m:r>
                                    <m:d>
                                      <m:dPr>
                                        <m:ctrlPr>
                                          <a:rPr lang="es-MX" b="0" i="1" smtClean="0">
                                            <a:latin typeface="Cambria Math" panose="02040503050406030204" pitchFamily="18" charset="0"/>
                                            <a:cs typeface="Arial" panose="020B0604020202020204" pitchFamily="34" charset="0"/>
                                          </a:rPr>
                                        </m:ctrlPr>
                                      </m:dPr>
                                      <m:e>
                                        <m:r>
                                          <a:rPr lang="es-MX" b="0" i="1" smtClean="0">
                                            <a:latin typeface="Cambria Math" panose="02040503050406030204" pitchFamily="18" charset="0"/>
                                            <a:cs typeface="Arial" panose="020B0604020202020204" pitchFamily="34" charset="0"/>
                                          </a:rPr>
                                          <m:t>𝑥</m:t>
                                        </m:r>
                                      </m:e>
                                    </m:d>
                                    <m:r>
                                      <a:rPr lang="es-MX" b="0" i="1" smtClean="0">
                                        <a:latin typeface="Cambria Math" panose="02040503050406030204" pitchFamily="18" charset="0"/>
                                        <a:ea typeface="Cambria Math" panose="02040503050406030204" pitchFamily="18" charset="0"/>
                                        <a:cs typeface="Arial" panose="020B0604020202020204" pitchFamily="34" charset="0"/>
                                      </a:rPr>
                                      <m:t>∨</m:t>
                                    </m:r>
                                    <m:r>
                                      <a:rPr lang="es-MX" b="0" i="1" smtClean="0">
                                        <a:latin typeface="Cambria Math" panose="02040503050406030204" pitchFamily="18" charset="0"/>
                                        <a:ea typeface="Cambria Math" panose="02040503050406030204" pitchFamily="18" charset="0"/>
                                        <a:cs typeface="Arial" panose="020B0604020202020204" pitchFamily="34" charset="0"/>
                                      </a:rPr>
                                      <m:t>𝑍</m:t>
                                    </m:r>
                                    <m:d>
                                      <m:dPr>
                                        <m:ctrlPr>
                                          <a:rPr lang="es-MX" b="0" i="1" smtClean="0">
                                            <a:latin typeface="Cambria Math" panose="02040503050406030204" pitchFamily="18" charset="0"/>
                                            <a:ea typeface="Cambria Math" panose="02040503050406030204" pitchFamily="18" charset="0"/>
                                            <a:cs typeface="Arial" panose="020B0604020202020204" pitchFamily="34" charset="0"/>
                                          </a:rPr>
                                        </m:ctrlPr>
                                      </m:dPr>
                                      <m:e>
                                        <m:r>
                                          <a:rPr lang="es-MX" b="0" i="1" smtClean="0">
                                            <a:latin typeface="Cambria Math" panose="02040503050406030204" pitchFamily="18" charset="0"/>
                                            <a:ea typeface="Cambria Math" panose="02040503050406030204" pitchFamily="18" charset="0"/>
                                            <a:cs typeface="Arial" panose="020B0604020202020204" pitchFamily="34" charset="0"/>
                                          </a:rPr>
                                          <m:t>𝑥</m:t>
                                        </m:r>
                                      </m:e>
                                    </m:d>
                                  </m:e>
                                </m:d>
                              </m:oMath>
                            </m:oMathPara>
                          </a14:m>
                          <a:endParaRPr lang="es-MX" b="0" dirty="0">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cs typeface="Arial" panose="020B0604020202020204" pitchFamily="34" charset="0"/>
                                  </a:rPr>
                                  <m:t>∀</m:t>
                                </m:r>
                                <m:r>
                                  <a:rPr lang="es-MX" b="0" i="1" smtClean="0">
                                    <a:latin typeface="Cambria Math" panose="02040503050406030204" pitchFamily="18" charset="0"/>
                                    <a:cs typeface="Arial" panose="020B0604020202020204" pitchFamily="34" charset="0"/>
                                  </a:rPr>
                                  <m:t>𝑥</m:t>
                                </m:r>
                                <m:d>
                                  <m:dPr>
                                    <m:ctrlPr>
                                      <a:rPr lang="es-MX" b="0" i="1" smtClean="0">
                                        <a:latin typeface="Cambria Math" panose="02040503050406030204" pitchFamily="18" charset="0"/>
                                        <a:cs typeface="Arial" panose="020B0604020202020204" pitchFamily="34" charset="0"/>
                                      </a:rPr>
                                    </m:ctrlPr>
                                  </m:dPr>
                                  <m:e>
                                    <m:r>
                                      <a:rPr lang="es-MX" b="0" i="1" smtClean="0">
                                        <a:latin typeface="Cambria Math" panose="02040503050406030204" pitchFamily="18" charset="0"/>
                                        <a:cs typeface="Arial" panose="020B0604020202020204" pitchFamily="34" charset="0"/>
                                      </a:rPr>
                                      <m:t>¬</m:t>
                                    </m:r>
                                    <m:r>
                                      <a:rPr lang="es-MX" b="0" i="1" smtClean="0">
                                        <a:latin typeface="Cambria Math" panose="02040503050406030204" pitchFamily="18" charset="0"/>
                                        <a:cs typeface="Arial" panose="020B0604020202020204" pitchFamily="34" charset="0"/>
                                      </a:rPr>
                                      <m:t>𝑇</m:t>
                                    </m:r>
                                    <m:d>
                                      <m:dPr>
                                        <m:ctrlPr>
                                          <a:rPr lang="es-MX" b="0" i="1" smtClean="0">
                                            <a:latin typeface="Cambria Math" panose="02040503050406030204" pitchFamily="18" charset="0"/>
                                            <a:cs typeface="Arial" panose="020B0604020202020204" pitchFamily="34" charset="0"/>
                                          </a:rPr>
                                        </m:ctrlPr>
                                      </m:dPr>
                                      <m:e>
                                        <m:r>
                                          <a:rPr lang="es-MX" b="0" i="1" smtClean="0">
                                            <a:latin typeface="Cambria Math" panose="02040503050406030204" pitchFamily="18" charset="0"/>
                                            <a:cs typeface="Arial" panose="020B0604020202020204" pitchFamily="34" charset="0"/>
                                          </a:rPr>
                                          <m:t>𝑥</m:t>
                                        </m:r>
                                      </m:e>
                                    </m:d>
                                    <m:r>
                                      <a:rPr lang="es-MX" b="0" i="1" smtClean="0">
                                        <a:latin typeface="Cambria Math" panose="02040503050406030204" pitchFamily="18" charset="0"/>
                                        <a:ea typeface="Cambria Math" panose="02040503050406030204" pitchFamily="18" charset="0"/>
                                        <a:cs typeface="Arial" panose="020B0604020202020204" pitchFamily="34" charset="0"/>
                                      </a:rPr>
                                      <m:t>→¬</m:t>
                                    </m:r>
                                    <m:r>
                                      <a:rPr lang="es-MX" b="0" i="1" smtClean="0">
                                        <a:latin typeface="Cambria Math" panose="02040503050406030204" pitchFamily="18" charset="0"/>
                                        <a:ea typeface="Cambria Math" panose="02040503050406030204" pitchFamily="18" charset="0"/>
                                        <a:cs typeface="Arial" panose="020B0604020202020204" pitchFamily="34" charset="0"/>
                                      </a:rPr>
                                      <m:t>𝑅</m:t>
                                    </m:r>
                                    <m:d>
                                      <m:dPr>
                                        <m:ctrlPr>
                                          <a:rPr lang="es-MX" b="0" i="1" smtClean="0">
                                            <a:latin typeface="Cambria Math" panose="02040503050406030204" pitchFamily="18" charset="0"/>
                                            <a:ea typeface="Cambria Math" panose="02040503050406030204" pitchFamily="18" charset="0"/>
                                            <a:cs typeface="Arial" panose="020B0604020202020204" pitchFamily="34" charset="0"/>
                                          </a:rPr>
                                        </m:ctrlPr>
                                      </m:dPr>
                                      <m:e>
                                        <m:r>
                                          <a:rPr lang="es-MX" b="0" i="1" smtClean="0">
                                            <a:latin typeface="Cambria Math" panose="02040503050406030204" pitchFamily="18" charset="0"/>
                                            <a:ea typeface="Cambria Math" panose="02040503050406030204" pitchFamily="18" charset="0"/>
                                            <a:cs typeface="Arial" panose="020B0604020202020204" pitchFamily="34" charset="0"/>
                                          </a:rPr>
                                          <m:t>𝑥</m:t>
                                        </m:r>
                                      </m:e>
                                    </m:d>
                                  </m:e>
                                </m:d>
                              </m:oMath>
                            </m:oMathPara>
                          </a14:m>
                          <a:endParaRPr lang="es-CO" sz="1800" kern="1200" dirty="0">
                            <a:solidFill>
                              <a:srgbClr val="000000"/>
                            </a:solidFill>
                            <a:latin typeface="Arial"/>
                            <a:ea typeface="Arial"/>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cs typeface="Arial" panose="020B0604020202020204" pitchFamily="34" charset="0"/>
                                  </a:rPr>
                                  <m:t>∃</m:t>
                                </m:r>
                                <m:r>
                                  <a:rPr lang="es-MX" b="0" i="1" smtClean="0">
                                    <a:latin typeface="Cambria Math" panose="02040503050406030204" pitchFamily="18" charset="0"/>
                                    <a:cs typeface="Arial" panose="020B0604020202020204" pitchFamily="34" charset="0"/>
                                  </a:rPr>
                                  <m:t>𝑥</m:t>
                                </m:r>
                                <m:d>
                                  <m:dPr>
                                    <m:ctrlPr>
                                      <a:rPr lang="es-MX" b="0" i="1" smtClean="0">
                                        <a:latin typeface="Cambria Math" panose="02040503050406030204" pitchFamily="18" charset="0"/>
                                        <a:cs typeface="Arial" panose="020B0604020202020204" pitchFamily="34" charset="0"/>
                                      </a:rPr>
                                    </m:ctrlPr>
                                  </m:dPr>
                                  <m:e>
                                    <m:r>
                                      <a:rPr lang="es-MX" b="0" i="1" smtClean="0">
                                        <a:latin typeface="Cambria Math" panose="02040503050406030204" pitchFamily="18" charset="0"/>
                                        <a:cs typeface="Arial" panose="020B0604020202020204" pitchFamily="34" charset="0"/>
                                      </a:rPr>
                                      <m:t>¬</m:t>
                                    </m:r>
                                    <m:r>
                                      <a:rPr lang="es-MX" b="0" i="1" smtClean="0">
                                        <a:latin typeface="Cambria Math" panose="02040503050406030204" pitchFamily="18" charset="0"/>
                                        <a:cs typeface="Arial" panose="020B0604020202020204" pitchFamily="34" charset="0"/>
                                      </a:rPr>
                                      <m:t>𝑍</m:t>
                                    </m:r>
                                    <m:d>
                                      <m:dPr>
                                        <m:ctrlPr>
                                          <a:rPr lang="es-MX" b="0" i="1" smtClean="0">
                                            <a:latin typeface="Cambria Math" panose="02040503050406030204" pitchFamily="18" charset="0"/>
                                            <a:cs typeface="Arial" panose="020B0604020202020204" pitchFamily="34" charset="0"/>
                                          </a:rPr>
                                        </m:ctrlPr>
                                      </m:dPr>
                                      <m:e>
                                        <m:r>
                                          <a:rPr lang="es-MX" b="0" i="1" smtClean="0">
                                            <a:latin typeface="Cambria Math" panose="02040503050406030204" pitchFamily="18" charset="0"/>
                                            <a:cs typeface="Arial" panose="020B0604020202020204" pitchFamily="34" charset="0"/>
                                          </a:rPr>
                                          <m:t>𝑥</m:t>
                                        </m:r>
                                      </m:e>
                                    </m:d>
                                    <m:r>
                                      <a:rPr lang="es-MX" b="0" i="1" smtClean="0">
                                        <a:latin typeface="Cambria Math" panose="02040503050406030204" pitchFamily="18" charset="0"/>
                                        <a:ea typeface="Cambria Math" panose="02040503050406030204" pitchFamily="18" charset="0"/>
                                        <a:cs typeface="Arial" panose="020B0604020202020204" pitchFamily="34" charset="0"/>
                                      </a:rPr>
                                      <m:t>∨</m:t>
                                    </m:r>
                                    <m:r>
                                      <a:rPr lang="es-MX" b="0" i="1" smtClean="0">
                                        <a:latin typeface="Cambria Math" panose="02040503050406030204" pitchFamily="18" charset="0"/>
                                        <a:ea typeface="Cambria Math" panose="02040503050406030204" pitchFamily="18" charset="0"/>
                                        <a:cs typeface="Arial" panose="020B0604020202020204" pitchFamily="34" charset="0"/>
                                      </a:rPr>
                                      <m:t>𝑄</m:t>
                                    </m:r>
                                    <m:d>
                                      <m:dPr>
                                        <m:ctrlPr>
                                          <a:rPr lang="es-MX" b="0" i="1" smtClean="0">
                                            <a:latin typeface="Cambria Math" panose="02040503050406030204" pitchFamily="18" charset="0"/>
                                            <a:ea typeface="Cambria Math" panose="02040503050406030204" pitchFamily="18" charset="0"/>
                                            <a:cs typeface="Arial" panose="020B0604020202020204" pitchFamily="34" charset="0"/>
                                          </a:rPr>
                                        </m:ctrlPr>
                                      </m:dPr>
                                      <m:e>
                                        <m:r>
                                          <a:rPr lang="es-MX" b="0" i="1" smtClean="0">
                                            <a:latin typeface="Cambria Math" panose="02040503050406030204" pitchFamily="18" charset="0"/>
                                            <a:ea typeface="Cambria Math" panose="02040503050406030204" pitchFamily="18" charset="0"/>
                                            <a:cs typeface="Arial" panose="020B0604020202020204" pitchFamily="34" charset="0"/>
                                          </a:rPr>
                                          <m:t>𝑥</m:t>
                                        </m:r>
                                      </m:e>
                                    </m:d>
                                  </m:e>
                                </m:d>
                                <m:r>
                                  <a:rPr lang="es-MX" b="0" i="1" smtClean="0">
                                    <a:latin typeface="Cambria Math" panose="02040503050406030204" pitchFamily="18" charset="0"/>
                                    <a:cs typeface="Arial" panose="020B0604020202020204" pitchFamily="34" charset="0"/>
                                  </a:rPr>
                                  <m:t>  </m:t>
                                </m:r>
                              </m:oMath>
                            </m:oMathPara>
                          </a14:m>
                          <a:endParaRPr lang="es-MX" b="0" dirty="0">
                            <a:latin typeface="+mn-lt"/>
                            <a:cs typeface="Arial" panose="020B0604020202020204" pitchFamily="34" charset="0"/>
                          </a:endParaRPr>
                        </a:p>
                      </a:txBody>
                      <a:tcP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cs typeface="Arial" panose="020B0604020202020204" pitchFamily="34" charset="0"/>
                                  </a:rPr>
                                  <m:t>∃</m:t>
                                </m:r>
                                <m:r>
                                  <a:rPr lang="es-MX" b="0" i="1" smtClean="0">
                                    <a:latin typeface="Cambria Math" panose="02040503050406030204" pitchFamily="18" charset="0"/>
                                    <a:cs typeface="Arial" panose="020B0604020202020204" pitchFamily="34" charset="0"/>
                                  </a:rPr>
                                  <m:t>𝑥</m:t>
                                </m:r>
                                <m:d>
                                  <m:dPr>
                                    <m:ctrlPr>
                                      <a:rPr lang="es-MX" b="0" i="1" smtClean="0">
                                        <a:latin typeface="Cambria Math" panose="02040503050406030204" pitchFamily="18" charset="0"/>
                                        <a:cs typeface="Arial" panose="020B0604020202020204" pitchFamily="34" charset="0"/>
                                      </a:rPr>
                                    </m:ctrlPr>
                                  </m:dPr>
                                  <m:e>
                                    <m:r>
                                      <a:rPr lang="es-MX" b="0" i="1" smtClean="0">
                                        <a:latin typeface="Cambria Math" panose="02040503050406030204" pitchFamily="18" charset="0"/>
                                        <a:cs typeface="Arial" panose="020B0604020202020204" pitchFamily="34" charset="0"/>
                                      </a:rPr>
                                      <m:t>𝑇</m:t>
                                    </m:r>
                                    <m:d>
                                      <m:dPr>
                                        <m:ctrlPr>
                                          <a:rPr lang="es-MX" b="0" i="1" smtClean="0">
                                            <a:latin typeface="Cambria Math" panose="02040503050406030204" pitchFamily="18" charset="0"/>
                                            <a:cs typeface="Arial" panose="020B0604020202020204" pitchFamily="34" charset="0"/>
                                          </a:rPr>
                                        </m:ctrlPr>
                                      </m:dPr>
                                      <m:e>
                                        <m:r>
                                          <a:rPr lang="es-MX" b="0" i="1" smtClean="0">
                                            <a:latin typeface="Cambria Math" panose="02040503050406030204" pitchFamily="18" charset="0"/>
                                            <a:cs typeface="Arial" panose="020B0604020202020204" pitchFamily="34" charset="0"/>
                                          </a:rPr>
                                          <m:t>𝑥</m:t>
                                        </m:r>
                                      </m:e>
                                    </m:d>
                                    <m:r>
                                      <a:rPr lang="es-MX" b="0" i="1" smtClean="0">
                                        <a:latin typeface="Cambria Math" panose="02040503050406030204" pitchFamily="18" charset="0"/>
                                        <a:ea typeface="Cambria Math" panose="02040503050406030204" pitchFamily="18" charset="0"/>
                                        <a:cs typeface="Arial" panose="020B0604020202020204" pitchFamily="34" charset="0"/>
                                      </a:rPr>
                                      <m:t>∨</m:t>
                                    </m:r>
                                    <m:r>
                                      <a:rPr lang="es-MX" b="0" i="1" smtClean="0">
                                        <a:latin typeface="Cambria Math" panose="02040503050406030204" pitchFamily="18" charset="0"/>
                                        <a:ea typeface="Cambria Math" panose="02040503050406030204" pitchFamily="18" charset="0"/>
                                        <a:cs typeface="Arial" panose="020B0604020202020204" pitchFamily="34" charset="0"/>
                                      </a:rPr>
                                      <m:t>𝑄</m:t>
                                    </m:r>
                                    <m:d>
                                      <m:dPr>
                                        <m:ctrlPr>
                                          <a:rPr lang="es-MX" b="0" i="1" smtClean="0">
                                            <a:latin typeface="Cambria Math" panose="02040503050406030204" pitchFamily="18" charset="0"/>
                                            <a:ea typeface="Cambria Math" panose="02040503050406030204" pitchFamily="18" charset="0"/>
                                            <a:cs typeface="Arial" panose="020B0604020202020204" pitchFamily="34" charset="0"/>
                                          </a:rPr>
                                        </m:ctrlPr>
                                      </m:dPr>
                                      <m:e>
                                        <m:r>
                                          <a:rPr lang="es-MX" b="0" i="1" smtClean="0">
                                            <a:latin typeface="Cambria Math" panose="02040503050406030204" pitchFamily="18" charset="0"/>
                                            <a:ea typeface="Cambria Math" panose="02040503050406030204" pitchFamily="18" charset="0"/>
                                            <a:cs typeface="Arial" panose="020B0604020202020204" pitchFamily="34" charset="0"/>
                                          </a:rPr>
                                          <m:t>𝑥</m:t>
                                        </m:r>
                                      </m:e>
                                    </m:d>
                                    <m:r>
                                      <a:rPr lang="es-MX" b="0" i="1" smtClean="0">
                                        <a:latin typeface="Cambria Math" panose="02040503050406030204" pitchFamily="18" charset="0"/>
                                        <a:ea typeface="Cambria Math" panose="02040503050406030204" pitchFamily="18" charset="0"/>
                                        <a:cs typeface="Arial" panose="020B0604020202020204" pitchFamily="34" charset="0"/>
                                      </a:rPr>
                                      <m:t>∨</m:t>
                                    </m:r>
                                    <m:r>
                                      <a:rPr lang="es-MX" b="0" i="1" smtClean="0">
                                        <a:latin typeface="Cambria Math" panose="02040503050406030204" pitchFamily="18" charset="0"/>
                                        <a:ea typeface="Cambria Math" panose="02040503050406030204" pitchFamily="18" charset="0"/>
                                        <a:cs typeface="Arial" panose="020B0604020202020204" pitchFamily="34" charset="0"/>
                                      </a:rPr>
                                      <m:t>𝑀</m:t>
                                    </m:r>
                                    <m:d>
                                      <m:dPr>
                                        <m:ctrlPr>
                                          <a:rPr lang="es-MX" b="0" i="1" smtClean="0">
                                            <a:latin typeface="Cambria Math" panose="02040503050406030204" pitchFamily="18" charset="0"/>
                                            <a:ea typeface="Cambria Math" panose="02040503050406030204" pitchFamily="18" charset="0"/>
                                            <a:cs typeface="Arial" panose="020B0604020202020204" pitchFamily="34" charset="0"/>
                                          </a:rPr>
                                        </m:ctrlPr>
                                      </m:dPr>
                                      <m:e>
                                        <m:r>
                                          <a:rPr lang="es-MX" b="0" i="1" smtClean="0">
                                            <a:latin typeface="Cambria Math" panose="02040503050406030204" pitchFamily="18" charset="0"/>
                                            <a:ea typeface="Cambria Math" panose="02040503050406030204" pitchFamily="18" charset="0"/>
                                            <a:cs typeface="Arial" panose="020B0604020202020204" pitchFamily="34" charset="0"/>
                                          </a:rPr>
                                          <m:t>𝑥</m:t>
                                        </m:r>
                                      </m:e>
                                    </m:d>
                                  </m:e>
                                </m:d>
                                <m:r>
                                  <a:rPr lang="es-MX" b="0" i="1" smtClean="0">
                                    <a:latin typeface="Cambria Math" panose="02040503050406030204" pitchFamily="18" charset="0"/>
                                    <a:ea typeface="Cambria Math" panose="02040503050406030204" pitchFamily="18" charset="0"/>
                                    <a:cs typeface="Arial" panose="020B0604020202020204" pitchFamily="34" charset="0"/>
                                  </a:rPr>
                                  <m:t> </m:t>
                                </m:r>
                                <m:r>
                                  <a:rPr lang="es-MX" b="0" i="1" smtClean="0">
                                    <a:latin typeface="Cambria Math" panose="02040503050406030204" pitchFamily="18" charset="0"/>
                                    <a:cs typeface="Arial" panose="020B0604020202020204" pitchFamily="34" charset="0"/>
                                  </a:rPr>
                                  <m:t>  </m:t>
                                </m:r>
                              </m:oMath>
                            </m:oMathPara>
                          </a14:m>
                          <a:endParaRPr lang="es-MX" sz="1800" b="0" kern="1200" dirty="0">
                            <a:solidFill>
                              <a:srgbClr val="000000"/>
                            </a:solidFill>
                            <a:latin typeface="Arial"/>
                            <a:ea typeface="Arial"/>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s-CO" sz="1800" kern="1200" dirty="0">
                            <a:solidFill>
                              <a:srgbClr val="000000"/>
                            </a:solidFill>
                            <a:latin typeface="Arial"/>
                            <a:ea typeface="Arial"/>
                            <a:cs typeface="Arial" panose="020B0604020202020204" pitchFamily="34" charset="0"/>
                          </a:endParaRPr>
                        </a:p>
                        <a:p>
                          <a:endParaRPr lang="es-CO" dirty="0">
                            <a:latin typeface="+mn-lt"/>
                            <a:cs typeface="Arial" panose="020B0604020202020204" pitchFamily="34" charset="0"/>
                          </a:endParaRPr>
                        </a:p>
                      </a:txBody>
                      <a:tcP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714967203"/>
                      </a:ext>
                    </a:extLst>
                  </a:tr>
                </a:tbl>
              </a:graphicData>
            </a:graphic>
          </p:graphicFrame>
        </mc:Choice>
        <mc:Fallback xmlns="">
          <p:graphicFrame>
            <p:nvGraphicFramePr>
              <p:cNvPr id="7" name="Tabla 2">
                <a:extLst>
                  <a:ext uri="{FF2B5EF4-FFF2-40B4-BE49-F238E27FC236}">
                    <a16:creationId xmlns:a16="http://schemas.microsoft.com/office/drawing/2014/main" id="{2C8D1343-44DE-4DBF-AF43-18191B859832}"/>
                  </a:ext>
                </a:extLst>
              </p:cNvPr>
              <p:cNvGraphicFramePr>
                <a:graphicFrameLocks noGrp="1"/>
              </p:cNvGraphicFramePr>
              <p:nvPr>
                <p:extLst>
                  <p:ext uri="{D42A27DB-BD31-4B8C-83A1-F6EECF244321}">
                    <p14:modId xmlns:p14="http://schemas.microsoft.com/office/powerpoint/2010/main" val="4118325175"/>
                  </p:ext>
                </p:extLst>
              </p:nvPr>
            </p:nvGraphicFramePr>
            <p:xfrm>
              <a:off x="1378858" y="4415686"/>
              <a:ext cx="8128000" cy="1416558"/>
            </p:xfrm>
            <a:graphic>
              <a:graphicData uri="http://schemas.openxmlformats.org/drawingml/2006/table">
                <a:tbl>
                  <a:tblPr firstRow="1" bandRow="1">
                    <a:tableStyleId>{AD6A3598-7CB8-4345-8D95-17CE05F158A0}</a:tableStyleId>
                  </a:tblPr>
                  <a:tblGrid>
                    <a:gridCol w="4064000">
                      <a:extLst>
                        <a:ext uri="{9D8B030D-6E8A-4147-A177-3AD203B41FA5}">
                          <a16:colId xmlns:a16="http://schemas.microsoft.com/office/drawing/2014/main" val="3377211390"/>
                        </a:ext>
                      </a:extLst>
                    </a:gridCol>
                    <a:gridCol w="4064000">
                      <a:extLst>
                        <a:ext uri="{9D8B030D-6E8A-4147-A177-3AD203B41FA5}">
                          <a16:colId xmlns:a16="http://schemas.microsoft.com/office/drawing/2014/main" val="1918659203"/>
                        </a:ext>
                      </a:extLst>
                    </a:gridCol>
                  </a:tblGrid>
                  <a:tr h="396240">
                    <a:tc>
                      <a:txBody>
                        <a:bodyPr/>
                        <a:lstStyle/>
                        <a:p>
                          <a:pPr algn="ctr"/>
                          <a:r>
                            <a:rPr lang="es-CO" sz="2000" b="1" dirty="0">
                              <a:latin typeface="+mn-lt"/>
                              <a:cs typeface="Arial" panose="020B0604020202020204" pitchFamily="34" charset="0"/>
                            </a:rPr>
                            <a:t>Premisas</a:t>
                          </a:r>
                        </a:p>
                      </a:txBody>
                      <a:tcP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s-CO" sz="2000" b="1" dirty="0">
                              <a:latin typeface="+mn-lt"/>
                              <a:cs typeface="Arial" panose="020B0604020202020204" pitchFamily="34" charset="0"/>
                            </a:rPr>
                            <a:t>Conclusión</a:t>
                          </a:r>
                        </a:p>
                      </a:txBody>
                      <a:tcP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2695394"/>
                      </a:ext>
                    </a:extLst>
                  </a:tr>
                  <a:tr h="1020318">
                    <a:tc>
                      <a:txBody>
                        <a:bodyPr/>
                        <a:lstStyle/>
                        <a:p>
                          <a:endParaRPr lang="es-CO"/>
                        </a:p>
                      </a:txBody>
                      <a:tcP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41667" r="-100150" b="-2381"/>
                          </a:stretch>
                        </a:blipFill>
                      </a:tcPr>
                    </a:tc>
                    <a:tc>
                      <a:txBody>
                        <a:bodyPr/>
                        <a:lstStyle/>
                        <a:p>
                          <a:endParaRPr lang="es-CO"/>
                        </a:p>
                      </a:txBody>
                      <a:tcP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100000" t="-41667" r="-150" b="-2381"/>
                          </a:stretch>
                        </a:blipFill>
                      </a:tcPr>
                    </a:tc>
                    <a:extLst>
                      <a:ext uri="{0D108BD9-81ED-4DB2-BD59-A6C34878D82A}">
                        <a16:rowId xmlns:a16="http://schemas.microsoft.com/office/drawing/2014/main" val="714967203"/>
                      </a:ext>
                    </a:extLst>
                  </a:tr>
                </a:tbl>
              </a:graphicData>
            </a:graphic>
          </p:graphicFrame>
        </mc:Fallback>
      </mc:AlternateContent>
    </p:spTree>
    <p:extLst>
      <p:ext uri="{BB962C8B-B14F-4D97-AF65-F5344CB8AC3E}">
        <p14:creationId xmlns:p14="http://schemas.microsoft.com/office/powerpoint/2010/main" val="28609496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title"/>
          </p:nvPr>
        </p:nvSpPr>
        <p:spPr>
          <a:xfrm>
            <a:off x="195498" y="96038"/>
            <a:ext cx="9025152"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Ejercicio 1</a:t>
            </a:r>
            <a:endParaRPr dirty="0">
              <a:solidFill>
                <a:schemeClr val="tx1"/>
              </a:solidFill>
              <a:latin typeface="+mj-lt"/>
            </a:endParaRPr>
          </a:p>
        </p:txBody>
      </p:sp>
      <p:sp>
        <p:nvSpPr>
          <p:cNvPr id="5" name="CuadroTexto 4">
            <a:extLst>
              <a:ext uri="{FF2B5EF4-FFF2-40B4-BE49-F238E27FC236}">
                <a16:creationId xmlns:a16="http://schemas.microsoft.com/office/drawing/2014/main" id="{D055498E-B21E-4DD3-9366-5DAC438D31FC}"/>
              </a:ext>
            </a:extLst>
          </p:cNvPr>
          <p:cNvSpPr txBox="1"/>
          <p:nvPr/>
        </p:nvSpPr>
        <p:spPr>
          <a:xfrm>
            <a:off x="195498" y="868559"/>
            <a:ext cx="11356469" cy="1631216"/>
          </a:xfrm>
          <a:prstGeom prst="rect">
            <a:avLst/>
          </a:prstGeom>
          <a:noFill/>
        </p:spPr>
        <p:txBody>
          <a:bodyPr wrap="square" rtlCol="0">
            <a:spAutoFit/>
          </a:bodyPr>
          <a:lstStyle/>
          <a:p>
            <a:r>
              <a:rPr lang="es-MX" sz="2000" dirty="0">
                <a:ea typeface="Roboto" panose="02000000000000000000" pitchFamily="2" charset="0"/>
              </a:rPr>
              <a:t>Considere el conjunto de premisas dado por:</a:t>
            </a:r>
          </a:p>
          <a:p>
            <a:pPr marL="457200" indent="-457200">
              <a:buFont typeface="+mj-lt"/>
              <a:buAutoNum type="alphaLcPeriod"/>
            </a:pPr>
            <a:r>
              <a:rPr lang="es-MX" sz="2000" dirty="0">
                <a:ea typeface="Roboto" panose="02000000000000000000" pitchFamily="2" charset="0"/>
              </a:rPr>
              <a:t>Todo numero real es positivo o es negativo o es cero.</a:t>
            </a:r>
          </a:p>
          <a:p>
            <a:pPr marL="457200" indent="-457200">
              <a:buFont typeface="+mj-lt"/>
              <a:buAutoNum type="alphaLcPeriod"/>
            </a:pPr>
            <a:r>
              <a:rPr lang="es-MX" sz="2000" dirty="0">
                <a:ea typeface="Roboto" panose="02000000000000000000" pitchFamily="2" charset="0"/>
              </a:rPr>
              <a:t>4 no es un numero negativo.</a:t>
            </a:r>
          </a:p>
          <a:p>
            <a:pPr marL="457200" indent="-457200">
              <a:buFont typeface="+mj-lt"/>
              <a:buAutoNum type="alphaLcPeriod"/>
            </a:pPr>
            <a:r>
              <a:rPr lang="es-MX" sz="2000" dirty="0">
                <a:ea typeface="Roboto" panose="02000000000000000000" pitchFamily="2" charset="0"/>
              </a:rPr>
              <a:t>4 no es cero</a:t>
            </a:r>
          </a:p>
          <a:p>
            <a:r>
              <a:rPr lang="es-MX" sz="2000" dirty="0">
                <a:ea typeface="Roboto" panose="02000000000000000000" pitchFamily="2" charset="0"/>
              </a:rPr>
              <a:t>Y la siguiente conclusión: “4 es un numero positivo”.</a:t>
            </a:r>
          </a:p>
        </p:txBody>
      </p:sp>
      <p:graphicFrame>
        <p:nvGraphicFramePr>
          <p:cNvPr id="4" name="Tabla 2">
            <a:extLst>
              <a:ext uri="{FF2B5EF4-FFF2-40B4-BE49-F238E27FC236}">
                <a16:creationId xmlns:a16="http://schemas.microsoft.com/office/drawing/2014/main" id="{18A08823-9AB7-4B08-AE1A-592A21AA10AD}"/>
              </a:ext>
            </a:extLst>
          </p:cNvPr>
          <p:cNvGraphicFramePr>
            <a:graphicFrameLocks noGrp="1"/>
          </p:cNvGraphicFramePr>
          <p:nvPr>
            <p:extLst>
              <p:ext uri="{D42A27DB-BD31-4B8C-83A1-F6EECF244321}">
                <p14:modId xmlns:p14="http://schemas.microsoft.com/office/powerpoint/2010/main" val="4184829872"/>
              </p:ext>
            </p:extLst>
          </p:nvPr>
        </p:nvGraphicFramePr>
        <p:xfrm>
          <a:off x="5235676" y="2595560"/>
          <a:ext cx="6434277" cy="3742150"/>
        </p:xfrm>
        <a:graphic>
          <a:graphicData uri="http://schemas.openxmlformats.org/drawingml/2006/table">
            <a:tbl>
              <a:tblPr firstRow="1" bandRow="1">
                <a:tableStyleId>{AD6A3598-7CB8-4345-8D95-17CE05F158A0}</a:tableStyleId>
              </a:tblPr>
              <a:tblGrid>
                <a:gridCol w="309716">
                  <a:extLst>
                    <a:ext uri="{9D8B030D-6E8A-4147-A177-3AD203B41FA5}">
                      <a16:colId xmlns:a16="http://schemas.microsoft.com/office/drawing/2014/main" val="1610952478"/>
                    </a:ext>
                  </a:extLst>
                </a:gridCol>
                <a:gridCol w="2581441">
                  <a:extLst>
                    <a:ext uri="{9D8B030D-6E8A-4147-A177-3AD203B41FA5}">
                      <a16:colId xmlns:a16="http://schemas.microsoft.com/office/drawing/2014/main" val="1919891108"/>
                    </a:ext>
                  </a:extLst>
                </a:gridCol>
                <a:gridCol w="3543120">
                  <a:extLst>
                    <a:ext uri="{9D8B030D-6E8A-4147-A177-3AD203B41FA5}">
                      <a16:colId xmlns:a16="http://schemas.microsoft.com/office/drawing/2014/main" val="4281859008"/>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Afirmación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Razón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073712"/>
                  </a:ext>
                </a:extLst>
              </a:tr>
              <a:tr h="370840">
                <a:tc>
                  <a:txBody>
                    <a:bodyPr/>
                    <a:lstStyle/>
                    <a:p>
                      <a:endParaRPr lang="es-CO" sz="1600" b="1"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600" b="1"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43470127"/>
                  </a:ext>
                </a:extLst>
              </a:tr>
              <a:tr h="370840">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7809005"/>
                  </a:ext>
                </a:extLst>
              </a:tr>
              <a:tr h="370840">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25827864"/>
                  </a:ext>
                </a:extLst>
              </a:tr>
              <a:tr h="379190">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396960"/>
                  </a:ext>
                </a:extLst>
              </a:tr>
              <a:tr h="370840">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87912512"/>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44816522"/>
                  </a:ext>
                </a:extLst>
              </a:tr>
              <a:tr h="370840">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38459320"/>
                  </a:ext>
                </a:extLst>
              </a:tr>
              <a:tr h="370840">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20592092"/>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16840162"/>
                  </a:ext>
                </a:extLst>
              </a:tr>
            </a:tbl>
          </a:graphicData>
        </a:graphic>
      </p:graphicFrame>
    </p:spTree>
    <p:extLst>
      <p:ext uri="{BB962C8B-B14F-4D97-AF65-F5344CB8AC3E}">
        <p14:creationId xmlns:p14="http://schemas.microsoft.com/office/powerpoint/2010/main" val="15275006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title"/>
          </p:nvPr>
        </p:nvSpPr>
        <p:spPr>
          <a:xfrm>
            <a:off x="283988" y="96038"/>
            <a:ext cx="8936662"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Ejercicio 2</a:t>
            </a:r>
            <a:endParaRPr dirty="0">
              <a:solidFill>
                <a:schemeClr val="tx1"/>
              </a:solidFill>
              <a:latin typeface="+mj-lt"/>
            </a:endParaRPr>
          </a:p>
        </p:txBody>
      </p:sp>
      <mc:AlternateContent xmlns:mc="http://schemas.openxmlformats.org/markup-compatibility/2006">
        <mc:Choice xmlns:a14="http://schemas.microsoft.com/office/drawing/2010/main" Requires="a14">
          <p:sp>
            <p:nvSpPr>
              <p:cNvPr id="5" name="CuadroTexto 4">
                <a:extLst>
                  <a:ext uri="{FF2B5EF4-FFF2-40B4-BE49-F238E27FC236}">
                    <a16:creationId xmlns:a16="http://schemas.microsoft.com/office/drawing/2014/main" id="{D055498E-B21E-4DD3-9366-5DAC438D31FC}"/>
                  </a:ext>
                </a:extLst>
              </p:cNvPr>
              <p:cNvSpPr txBox="1"/>
              <p:nvPr/>
            </p:nvSpPr>
            <p:spPr>
              <a:xfrm>
                <a:off x="283988" y="942302"/>
                <a:ext cx="11356469" cy="1631216"/>
              </a:xfrm>
              <a:prstGeom prst="rect">
                <a:avLst/>
              </a:prstGeom>
              <a:noFill/>
            </p:spPr>
            <p:txBody>
              <a:bodyPr wrap="square" rtlCol="0">
                <a:spAutoFit/>
              </a:bodyPr>
              <a:lstStyle/>
              <a:p>
                <a:r>
                  <a:rPr lang="es-MX" sz="2000" dirty="0">
                    <a:ea typeface="Roboto" panose="02000000000000000000" pitchFamily="2" charset="0"/>
                  </a:rPr>
                  <a:t>El dominio de referencia es </a:t>
                </a:r>
                <a14:m>
                  <m:oMath xmlns:m="http://schemas.openxmlformats.org/officeDocument/2006/math">
                    <m:r>
                      <a:rPr lang="es-MX" sz="2000" i="1" smtClean="0">
                        <a:latin typeface="Cambria Math" panose="02040503050406030204" pitchFamily="18" charset="0"/>
                        <a:ea typeface="Cambria Math" panose="02040503050406030204" pitchFamily="18" charset="0"/>
                      </a:rPr>
                      <m:t>ℤ</m:t>
                    </m:r>
                  </m:oMath>
                </a14:m>
                <a:r>
                  <a:rPr lang="es-MX" sz="2000" dirty="0">
                    <a:ea typeface="Roboto" panose="02000000000000000000" pitchFamily="2" charset="0"/>
                  </a:rPr>
                  <a:t> y se definen las siguientes premisas:</a:t>
                </a:r>
              </a:p>
              <a:p>
                <a:pPr marL="457200" indent="-457200">
                  <a:buFont typeface="+mj-lt"/>
                  <a:buAutoNum type="alphaLcPeriod"/>
                </a:pPr>
                <a:r>
                  <a:rPr lang="es-MX" sz="2000" dirty="0">
                    <a:ea typeface="Roboto" panose="02000000000000000000" pitchFamily="2" charset="0"/>
                  </a:rPr>
                  <a:t>Para cada </a:t>
                </a:r>
                <a14:m>
                  <m:oMath xmlns:m="http://schemas.openxmlformats.org/officeDocument/2006/math">
                    <m:r>
                      <a:rPr lang="es-MX" sz="2000" b="0" i="1" smtClean="0">
                        <a:latin typeface="Cambria Math" panose="02040503050406030204" pitchFamily="18" charset="0"/>
                        <a:ea typeface="Roboto" panose="02000000000000000000" pitchFamily="2" charset="0"/>
                      </a:rPr>
                      <m:t>𝑥</m:t>
                    </m:r>
                  </m:oMath>
                </a14:m>
                <a:r>
                  <a:rPr lang="es-MX" sz="2000" dirty="0">
                    <a:ea typeface="Roboto" panose="02000000000000000000" pitchFamily="2" charset="0"/>
                  </a:rPr>
                  <a:t>, si </a:t>
                </a:r>
                <a14:m>
                  <m:oMath xmlns:m="http://schemas.openxmlformats.org/officeDocument/2006/math">
                    <m:r>
                      <a:rPr lang="es-MX" sz="2000" b="0" i="1" smtClean="0">
                        <a:latin typeface="Cambria Math" panose="02040503050406030204" pitchFamily="18" charset="0"/>
                        <a:ea typeface="Roboto" panose="02000000000000000000" pitchFamily="2" charset="0"/>
                      </a:rPr>
                      <m:t>𝑥</m:t>
                    </m:r>
                  </m:oMath>
                </a14:m>
                <a:r>
                  <a:rPr lang="es-MX" sz="2000" dirty="0">
                    <a:ea typeface="Roboto" panose="02000000000000000000" pitchFamily="2" charset="0"/>
                  </a:rPr>
                  <a:t> es un numero par, entonces </a:t>
                </a:r>
                <a14:m>
                  <m:oMath xmlns:m="http://schemas.openxmlformats.org/officeDocument/2006/math">
                    <m:r>
                      <a:rPr lang="es-MX" sz="2000" b="0" i="1" smtClean="0">
                        <a:latin typeface="Cambria Math" panose="02040503050406030204" pitchFamily="18" charset="0"/>
                        <a:ea typeface="Roboto" panose="02000000000000000000" pitchFamily="2" charset="0"/>
                      </a:rPr>
                      <m:t>𝑥</m:t>
                    </m:r>
                    <m:r>
                      <a:rPr lang="es-MX" sz="2000" b="0" i="1" smtClean="0">
                        <a:latin typeface="Cambria Math" panose="02040503050406030204" pitchFamily="18" charset="0"/>
                        <a:ea typeface="Roboto" panose="02000000000000000000" pitchFamily="2" charset="0"/>
                      </a:rPr>
                      <m:t>+4</m:t>
                    </m:r>
                  </m:oMath>
                </a14:m>
                <a:r>
                  <a:rPr lang="es-MX" sz="2000" dirty="0">
                    <a:ea typeface="Roboto" panose="02000000000000000000" pitchFamily="2" charset="0"/>
                  </a:rPr>
                  <a:t> es un numero par.</a:t>
                </a:r>
              </a:p>
              <a:p>
                <a:pPr marL="457200" indent="-457200">
                  <a:buFont typeface="+mj-lt"/>
                  <a:buAutoNum type="alphaLcPeriod"/>
                </a:pPr>
                <a:r>
                  <a:rPr lang="es-MX" sz="2000" dirty="0">
                    <a:ea typeface="Roboto" panose="02000000000000000000" pitchFamily="2" charset="0"/>
                  </a:rPr>
                  <a:t>Para cada </a:t>
                </a:r>
                <a14:m>
                  <m:oMath xmlns:m="http://schemas.openxmlformats.org/officeDocument/2006/math">
                    <m:r>
                      <a:rPr lang="es-MX" sz="2000" b="0" i="1" smtClean="0">
                        <a:latin typeface="Cambria Math" panose="02040503050406030204" pitchFamily="18" charset="0"/>
                        <a:ea typeface="Roboto" panose="02000000000000000000" pitchFamily="2" charset="0"/>
                      </a:rPr>
                      <m:t>𝑥</m:t>
                    </m:r>
                  </m:oMath>
                </a14:m>
                <a:r>
                  <a:rPr lang="es-MX" sz="2000" dirty="0">
                    <a:ea typeface="Roboto" panose="02000000000000000000" pitchFamily="2" charset="0"/>
                  </a:rPr>
                  <a:t>, si </a:t>
                </a:r>
                <a14:m>
                  <m:oMath xmlns:m="http://schemas.openxmlformats.org/officeDocument/2006/math">
                    <m:r>
                      <a:rPr lang="es-MX" sz="2000" b="0" i="1" smtClean="0">
                        <a:latin typeface="Cambria Math" panose="02040503050406030204" pitchFamily="18" charset="0"/>
                        <a:ea typeface="Roboto" panose="02000000000000000000" pitchFamily="2" charset="0"/>
                      </a:rPr>
                      <m:t>𝑥</m:t>
                    </m:r>
                  </m:oMath>
                </a14:m>
                <a:r>
                  <a:rPr lang="es-MX" sz="2000" dirty="0">
                    <a:ea typeface="Roboto" panose="02000000000000000000" pitchFamily="2" charset="0"/>
                  </a:rPr>
                  <a:t> es un numero par, entonces </a:t>
                </a:r>
                <a14:m>
                  <m:oMath xmlns:m="http://schemas.openxmlformats.org/officeDocument/2006/math">
                    <m:r>
                      <a:rPr lang="es-MX" sz="2000" b="0" i="1" smtClean="0">
                        <a:latin typeface="Cambria Math" panose="02040503050406030204" pitchFamily="18" charset="0"/>
                        <a:ea typeface="Roboto" panose="02000000000000000000" pitchFamily="2" charset="0"/>
                      </a:rPr>
                      <m:t>𝑥</m:t>
                    </m:r>
                  </m:oMath>
                </a14:m>
                <a:r>
                  <a:rPr lang="es-MX" sz="2000" dirty="0">
                    <a:ea typeface="Roboto" panose="02000000000000000000" pitchFamily="2" charset="0"/>
                  </a:rPr>
                  <a:t> no es un numero par.</a:t>
                </a:r>
              </a:p>
              <a:p>
                <a:pPr marL="457200" indent="-457200">
                  <a:buFont typeface="+mj-lt"/>
                  <a:buAutoNum type="alphaLcPeriod"/>
                </a:pPr>
                <a:r>
                  <a:rPr lang="es-MX" sz="2000" dirty="0">
                    <a:ea typeface="Roboto" panose="02000000000000000000" pitchFamily="2" charset="0"/>
                  </a:rPr>
                  <a:t>Dos es un numero par.</a:t>
                </a:r>
              </a:p>
              <a:p>
                <a:r>
                  <a:rPr lang="es-MX" sz="2000" dirty="0">
                    <a:ea typeface="Roboto" panose="02000000000000000000" pitchFamily="2" charset="0"/>
                  </a:rPr>
                  <a:t>La conclusión que se sigue es: “2+4 no es un numero impar”</a:t>
                </a:r>
              </a:p>
            </p:txBody>
          </p:sp>
        </mc:Choice>
        <mc:Fallback>
          <p:sp>
            <p:nvSpPr>
              <p:cNvPr id="5" name="CuadroTexto 4">
                <a:extLst>
                  <a:ext uri="{FF2B5EF4-FFF2-40B4-BE49-F238E27FC236}">
                    <a16:creationId xmlns:a16="http://schemas.microsoft.com/office/drawing/2014/main" id="{D055498E-B21E-4DD3-9366-5DAC438D31FC}"/>
                  </a:ext>
                </a:extLst>
              </p:cNvPr>
              <p:cNvSpPr txBox="1">
                <a:spLocks noRot="1" noChangeAspect="1" noMove="1" noResize="1" noEditPoints="1" noAdjustHandles="1" noChangeArrowheads="1" noChangeShapeType="1" noTextEdit="1"/>
              </p:cNvSpPr>
              <p:nvPr/>
            </p:nvSpPr>
            <p:spPr>
              <a:xfrm>
                <a:off x="283988" y="942302"/>
                <a:ext cx="11356469" cy="1631216"/>
              </a:xfrm>
              <a:prstGeom prst="rect">
                <a:avLst/>
              </a:prstGeom>
              <a:blipFill>
                <a:blip r:embed="rId3"/>
                <a:stretch>
                  <a:fillRect l="-590" t="-2247" b="-5993"/>
                </a:stretch>
              </a:blipFill>
            </p:spPr>
            <p:txBody>
              <a:bodyPr/>
              <a:lstStyle/>
              <a:p>
                <a:r>
                  <a:rPr lang="es-CO">
                    <a:noFill/>
                  </a:rPr>
                  <a:t> </a:t>
                </a:r>
              </a:p>
            </p:txBody>
          </p:sp>
        </mc:Fallback>
      </mc:AlternateContent>
      <p:graphicFrame>
        <p:nvGraphicFramePr>
          <p:cNvPr id="6" name="Tabla 2">
            <a:extLst>
              <a:ext uri="{FF2B5EF4-FFF2-40B4-BE49-F238E27FC236}">
                <a16:creationId xmlns:a16="http://schemas.microsoft.com/office/drawing/2014/main" id="{BAEB7B70-FE08-4393-9569-99AB2ED0543C}"/>
              </a:ext>
            </a:extLst>
          </p:cNvPr>
          <p:cNvGraphicFramePr>
            <a:graphicFrameLocks noGrp="1"/>
          </p:cNvGraphicFramePr>
          <p:nvPr>
            <p:extLst>
              <p:ext uri="{D42A27DB-BD31-4B8C-83A1-F6EECF244321}">
                <p14:modId xmlns:p14="http://schemas.microsoft.com/office/powerpoint/2010/main" val="1530214860"/>
              </p:ext>
            </p:extLst>
          </p:nvPr>
        </p:nvGraphicFramePr>
        <p:xfrm>
          <a:off x="5530642" y="2595560"/>
          <a:ext cx="6434277" cy="3742150"/>
        </p:xfrm>
        <a:graphic>
          <a:graphicData uri="http://schemas.openxmlformats.org/drawingml/2006/table">
            <a:tbl>
              <a:tblPr firstRow="1" bandRow="1">
                <a:tableStyleId>{AD6A3598-7CB8-4345-8D95-17CE05F158A0}</a:tableStyleId>
              </a:tblPr>
              <a:tblGrid>
                <a:gridCol w="309716">
                  <a:extLst>
                    <a:ext uri="{9D8B030D-6E8A-4147-A177-3AD203B41FA5}">
                      <a16:colId xmlns:a16="http://schemas.microsoft.com/office/drawing/2014/main" val="1610952478"/>
                    </a:ext>
                  </a:extLst>
                </a:gridCol>
                <a:gridCol w="2581441">
                  <a:extLst>
                    <a:ext uri="{9D8B030D-6E8A-4147-A177-3AD203B41FA5}">
                      <a16:colId xmlns:a16="http://schemas.microsoft.com/office/drawing/2014/main" val="1919891108"/>
                    </a:ext>
                  </a:extLst>
                </a:gridCol>
                <a:gridCol w="3543120">
                  <a:extLst>
                    <a:ext uri="{9D8B030D-6E8A-4147-A177-3AD203B41FA5}">
                      <a16:colId xmlns:a16="http://schemas.microsoft.com/office/drawing/2014/main" val="4281859008"/>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Afirmación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Razón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073712"/>
                  </a:ext>
                </a:extLst>
              </a:tr>
              <a:tr h="370840">
                <a:tc>
                  <a:txBody>
                    <a:bodyPr/>
                    <a:lstStyle/>
                    <a:p>
                      <a:endParaRPr lang="es-CO" sz="1600" b="1"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600" b="1"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43470127"/>
                  </a:ext>
                </a:extLst>
              </a:tr>
              <a:tr h="370840">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7809005"/>
                  </a:ext>
                </a:extLst>
              </a:tr>
              <a:tr h="370840">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25827864"/>
                  </a:ext>
                </a:extLst>
              </a:tr>
              <a:tr h="379190">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396960"/>
                  </a:ext>
                </a:extLst>
              </a:tr>
              <a:tr h="370840">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87912512"/>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44816522"/>
                  </a:ext>
                </a:extLst>
              </a:tr>
              <a:tr h="370840">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38459320"/>
                  </a:ext>
                </a:extLst>
              </a:tr>
              <a:tr h="370840">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20592092"/>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16840162"/>
                  </a:ext>
                </a:extLst>
              </a:tr>
            </a:tbl>
          </a:graphicData>
        </a:graphic>
      </p:graphicFrame>
    </p:spTree>
    <p:extLst>
      <p:ext uri="{BB962C8B-B14F-4D97-AF65-F5344CB8AC3E}">
        <p14:creationId xmlns:p14="http://schemas.microsoft.com/office/powerpoint/2010/main" val="29089118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title"/>
          </p:nvPr>
        </p:nvSpPr>
        <p:spPr>
          <a:xfrm>
            <a:off x="283988" y="96038"/>
            <a:ext cx="8936662"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Ejercicio 3</a:t>
            </a:r>
            <a:endParaRPr dirty="0">
              <a:solidFill>
                <a:schemeClr val="tx1"/>
              </a:solidFill>
              <a:latin typeface="+mj-lt"/>
            </a:endParaRPr>
          </a:p>
        </p:txBody>
      </p:sp>
      <p:sp>
        <p:nvSpPr>
          <p:cNvPr id="5" name="CuadroTexto 4">
            <a:extLst>
              <a:ext uri="{FF2B5EF4-FFF2-40B4-BE49-F238E27FC236}">
                <a16:creationId xmlns:a16="http://schemas.microsoft.com/office/drawing/2014/main" id="{D055498E-B21E-4DD3-9366-5DAC438D31FC}"/>
              </a:ext>
            </a:extLst>
          </p:cNvPr>
          <p:cNvSpPr txBox="1"/>
          <p:nvPr/>
        </p:nvSpPr>
        <p:spPr>
          <a:xfrm>
            <a:off x="283988" y="896458"/>
            <a:ext cx="11356469" cy="1323439"/>
          </a:xfrm>
          <a:prstGeom prst="rect">
            <a:avLst/>
          </a:prstGeom>
          <a:noFill/>
        </p:spPr>
        <p:txBody>
          <a:bodyPr wrap="square" rtlCol="0">
            <a:spAutoFit/>
          </a:bodyPr>
          <a:lstStyle/>
          <a:p>
            <a:r>
              <a:rPr lang="es-MX" sz="2000" dirty="0">
                <a:ea typeface="Roboto" panose="02000000000000000000" pitchFamily="2" charset="0"/>
              </a:rPr>
              <a:t>“Alguien en esta clase disfruta observar ballenas, toda persona que disfruta observar ballenas se preocupa por la contaminación del océano”.</a:t>
            </a:r>
          </a:p>
          <a:p>
            <a:endParaRPr lang="es-MX" sz="2000" dirty="0">
              <a:ea typeface="Roboto" panose="02000000000000000000" pitchFamily="2" charset="0"/>
            </a:endParaRPr>
          </a:p>
          <a:p>
            <a:r>
              <a:rPr lang="es-MX" sz="2000" dirty="0">
                <a:ea typeface="Roboto" panose="02000000000000000000" pitchFamily="2" charset="0"/>
              </a:rPr>
              <a:t>Por lo tanto, “hay una persona en esta clase que se preocupa por la contaminación del océano”</a:t>
            </a:r>
          </a:p>
        </p:txBody>
      </p:sp>
      <p:graphicFrame>
        <p:nvGraphicFramePr>
          <p:cNvPr id="6" name="Tabla 2">
            <a:extLst>
              <a:ext uri="{FF2B5EF4-FFF2-40B4-BE49-F238E27FC236}">
                <a16:creationId xmlns:a16="http://schemas.microsoft.com/office/drawing/2014/main" id="{17035BAA-CCB8-447B-B125-17079619C82D}"/>
              </a:ext>
            </a:extLst>
          </p:cNvPr>
          <p:cNvGraphicFramePr>
            <a:graphicFrameLocks noGrp="1"/>
          </p:cNvGraphicFramePr>
          <p:nvPr>
            <p:extLst>
              <p:ext uri="{D42A27DB-BD31-4B8C-83A1-F6EECF244321}">
                <p14:modId xmlns:p14="http://schemas.microsoft.com/office/powerpoint/2010/main" val="1390045689"/>
              </p:ext>
            </p:extLst>
          </p:nvPr>
        </p:nvGraphicFramePr>
        <p:xfrm>
          <a:off x="5530642" y="2285847"/>
          <a:ext cx="6434277" cy="3742150"/>
        </p:xfrm>
        <a:graphic>
          <a:graphicData uri="http://schemas.openxmlformats.org/drawingml/2006/table">
            <a:tbl>
              <a:tblPr firstRow="1" bandRow="1">
                <a:tableStyleId>{AD6A3598-7CB8-4345-8D95-17CE05F158A0}</a:tableStyleId>
              </a:tblPr>
              <a:tblGrid>
                <a:gridCol w="309716">
                  <a:extLst>
                    <a:ext uri="{9D8B030D-6E8A-4147-A177-3AD203B41FA5}">
                      <a16:colId xmlns:a16="http://schemas.microsoft.com/office/drawing/2014/main" val="1610952478"/>
                    </a:ext>
                  </a:extLst>
                </a:gridCol>
                <a:gridCol w="2581441">
                  <a:extLst>
                    <a:ext uri="{9D8B030D-6E8A-4147-A177-3AD203B41FA5}">
                      <a16:colId xmlns:a16="http://schemas.microsoft.com/office/drawing/2014/main" val="1919891108"/>
                    </a:ext>
                  </a:extLst>
                </a:gridCol>
                <a:gridCol w="3543120">
                  <a:extLst>
                    <a:ext uri="{9D8B030D-6E8A-4147-A177-3AD203B41FA5}">
                      <a16:colId xmlns:a16="http://schemas.microsoft.com/office/drawing/2014/main" val="4281859008"/>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Afirmación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Razón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073712"/>
                  </a:ext>
                </a:extLst>
              </a:tr>
              <a:tr h="370840">
                <a:tc>
                  <a:txBody>
                    <a:bodyPr/>
                    <a:lstStyle/>
                    <a:p>
                      <a:endParaRPr lang="es-CO" sz="1600" b="1"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600" b="1"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43470127"/>
                  </a:ext>
                </a:extLst>
              </a:tr>
              <a:tr h="370840">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7809005"/>
                  </a:ext>
                </a:extLst>
              </a:tr>
              <a:tr h="370840">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25827864"/>
                  </a:ext>
                </a:extLst>
              </a:tr>
              <a:tr h="379190">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396960"/>
                  </a:ext>
                </a:extLst>
              </a:tr>
              <a:tr h="370840">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87912512"/>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44816522"/>
                  </a:ext>
                </a:extLst>
              </a:tr>
              <a:tr h="370840">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38459320"/>
                  </a:ext>
                </a:extLst>
              </a:tr>
              <a:tr h="370840">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20592092"/>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16840162"/>
                  </a:ext>
                </a:extLst>
              </a:tr>
            </a:tbl>
          </a:graphicData>
        </a:graphic>
      </p:graphicFrame>
    </p:spTree>
    <p:extLst>
      <p:ext uri="{BB962C8B-B14F-4D97-AF65-F5344CB8AC3E}">
        <p14:creationId xmlns:p14="http://schemas.microsoft.com/office/powerpoint/2010/main" val="17291053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title"/>
          </p:nvPr>
        </p:nvSpPr>
        <p:spPr>
          <a:xfrm>
            <a:off x="283988" y="96038"/>
            <a:ext cx="871265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Ejercicio 4</a:t>
            </a:r>
            <a:endParaRPr dirty="0">
              <a:solidFill>
                <a:schemeClr val="tx1"/>
              </a:solidFill>
              <a:latin typeface="+mj-lt"/>
            </a:endParaRPr>
          </a:p>
        </p:txBody>
      </p:sp>
      <p:sp>
        <p:nvSpPr>
          <p:cNvPr id="5" name="CuadroTexto 4">
            <a:extLst>
              <a:ext uri="{FF2B5EF4-FFF2-40B4-BE49-F238E27FC236}">
                <a16:creationId xmlns:a16="http://schemas.microsoft.com/office/drawing/2014/main" id="{D055498E-B21E-4DD3-9366-5DAC438D31FC}"/>
              </a:ext>
            </a:extLst>
          </p:cNvPr>
          <p:cNvSpPr txBox="1"/>
          <p:nvPr/>
        </p:nvSpPr>
        <p:spPr>
          <a:xfrm>
            <a:off x="283988" y="883308"/>
            <a:ext cx="11356469" cy="707886"/>
          </a:xfrm>
          <a:prstGeom prst="rect">
            <a:avLst/>
          </a:prstGeom>
          <a:noFill/>
        </p:spPr>
        <p:txBody>
          <a:bodyPr wrap="square" rtlCol="0">
            <a:spAutoFit/>
          </a:bodyPr>
          <a:lstStyle/>
          <a:p>
            <a:r>
              <a:rPr lang="es-MX" sz="2000" dirty="0">
                <a:ea typeface="Roboto" panose="02000000000000000000" pitchFamily="2" charset="0"/>
              </a:rPr>
              <a:t>“Toda persona en Nueva Jersey vive a menos de 50 millas del océano. Alguien en Nueva Jersey nunca ha visto el océano”. Por lo tanto, “Alguien que vive a menos de 50 millas del océano nunca ha visto el océano”.</a:t>
            </a:r>
          </a:p>
        </p:txBody>
      </p:sp>
      <p:graphicFrame>
        <p:nvGraphicFramePr>
          <p:cNvPr id="6" name="Tabla 2">
            <a:extLst>
              <a:ext uri="{FF2B5EF4-FFF2-40B4-BE49-F238E27FC236}">
                <a16:creationId xmlns:a16="http://schemas.microsoft.com/office/drawing/2014/main" id="{690EA7A3-336A-4499-AA3E-732BE73095A4}"/>
              </a:ext>
            </a:extLst>
          </p:cNvPr>
          <p:cNvGraphicFramePr>
            <a:graphicFrameLocks noGrp="1"/>
          </p:cNvGraphicFramePr>
          <p:nvPr>
            <p:extLst>
              <p:ext uri="{D42A27DB-BD31-4B8C-83A1-F6EECF244321}">
                <p14:modId xmlns:p14="http://schemas.microsoft.com/office/powerpoint/2010/main" val="2948959940"/>
              </p:ext>
            </p:extLst>
          </p:nvPr>
        </p:nvGraphicFramePr>
        <p:xfrm>
          <a:off x="5530642" y="1740160"/>
          <a:ext cx="6434277" cy="3742150"/>
        </p:xfrm>
        <a:graphic>
          <a:graphicData uri="http://schemas.openxmlformats.org/drawingml/2006/table">
            <a:tbl>
              <a:tblPr firstRow="1" bandRow="1">
                <a:tableStyleId>{AD6A3598-7CB8-4345-8D95-17CE05F158A0}</a:tableStyleId>
              </a:tblPr>
              <a:tblGrid>
                <a:gridCol w="309716">
                  <a:extLst>
                    <a:ext uri="{9D8B030D-6E8A-4147-A177-3AD203B41FA5}">
                      <a16:colId xmlns:a16="http://schemas.microsoft.com/office/drawing/2014/main" val="1610952478"/>
                    </a:ext>
                  </a:extLst>
                </a:gridCol>
                <a:gridCol w="2581441">
                  <a:extLst>
                    <a:ext uri="{9D8B030D-6E8A-4147-A177-3AD203B41FA5}">
                      <a16:colId xmlns:a16="http://schemas.microsoft.com/office/drawing/2014/main" val="1919891108"/>
                    </a:ext>
                  </a:extLst>
                </a:gridCol>
                <a:gridCol w="3543120">
                  <a:extLst>
                    <a:ext uri="{9D8B030D-6E8A-4147-A177-3AD203B41FA5}">
                      <a16:colId xmlns:a16="http://schemas.microsoft.com/office/drawing/2014/main" val="4281859008"/>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Afirmación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Razón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073712"/>
                  </a:ext>
                </a:extLst>
              </a:tr>
              <a:tr h="370840">
                <a:tc>
                  <a:txBody>
                    <a:bodyPr/>
                    <a:lstStyle/>
                    <a:p>
                      <a:endParaRPr lang="es-CO" sz="1600" b="1"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600" b="1"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43470127"/>
                  </a:ext>
                </a:extLst>
              </a:tr>
              <a:tr h="370840">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7809005"/>
                  </a:ext>
                </a:extLst>
              </a:tr>
              <a:tr h="370840">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25827864"/>
                  </a:ext>
                </a:extLst>
              </a:tr>
              <a:tr h="379190">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396960"/>
                  </a:ext>
                </a:extLst>
              </a:tr>
              <a:tr h="370840">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87912512"/>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44816522"/>
                  </a:ext>
                </a:extLst>
              </a:tr>
              <a:tr h="370840">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38459320"/>
                  </a:ext>
                </a:extLst>
              </a:tr>
              <a:tr h="370840">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20592092"/>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16840162"/>
                  </a:ext>
                </a:extLst>
              </a:tr>
            </a:tbl>
          </a:graphicData>
        </a:graphic>
      </p:graphicFrame>
    </p:spTree>
    <p:extLst>
      <p:ext uri="{BB962C8B-B14F-4D97-AF65-F5344CB8AC3E}">
        <p14:creationId xmlns:p14="http://schemas.microsoft.com/office/powerpoint/2010/main" val="38456986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title"/>
          </p:nvPr>
        </p:nvSpPr>
        <p:spPr>
          <a:xfrm>
            <a:off x="508000" y="96038"/>
            <a:ext cx="871265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Ejercicio 5</a:t>
            </a:r>
            <a:endParaRPr dirty="0">
              <a:solidFill>
                <a:schemeClr val="tx1"/>
              </a:solidFill>
              <a:latin typeface="+mj-lt"/>
            </a:endParaRPr>
          </a:p>
        </p:txBody>
      </p:sp>
      <p:sp>
        <p:nvSpPr>
          <p:cNvPr id="4" name="CuadroTexto 3">
            <a:extLst>
              <a:ext uri="{FF2B5EF4-FFF2-40B4-BE49-F238E27FC236}">
                <a16:creationId xmlns:a16="http://schemas.microsoft.com/office/drawing/2014/main" id="{AF909063-CAA1-41D3-A0B2-2A2D736D4430}"/>
              </a:ext>
            </a:extLst>
          </p:cNvPr>
          <p:cNvSpPr txBox="1"/>
          <p:nvPr/>
        </p:nvSpPr>
        <p:spPr>
          <a:xfrm>
            <a:off x="283988" y="1045538"/>
            <a:ext cx="4582980" cy="707886"/>
          </a:xfrm>
          <a:prstGeom prst="rect">
            <a:avLst/>
          </a:prstGeom>
          <a:noFill/>
        </p:spPr>
        <p:txBody>
          <a:bodyPr wrap="square" rtlCol="0">
            <a:spAutoFit/>
          </a:bodyPr>
          <a:lstStyle/>
          <a:p>
            <a:pPr marL="457200" indent="-457200">
              <a:buFont typeface="+mj-lt"/>
              <a:buAutoNum type="arabicPeriod" startAt="5"/>
            </a:pPr>
            <a:r>
              <a:rPr lang="es-MX" sz="2000" dirty="0">
                <a:ea typeface="Roboto" panose="02000000000000000000" pitchFamily="2" charset="0"/>
              </a:rPr>
              <a:t>Deduzca los teoremas con base en el sistema de lógica cuantificacional.</a:t>
            </a:r>
          </a:p>
        </p:txBody>
      </p:sp>
      <mc:AlternateContent xmlns:mc="http://schemas.openxmlformats.org/markup-compatibility/2006">
        <mc:Choice xmlns:a14="http://schemas.microsoft.com/office/drawing/2010/main" Requires="a14">
          <p:graphicFrame>
            <p:nvGraphicFramePr>
              <p:cNvPr id="6" name="Tabla 2">
                <a:extLst>
                  <a:ext uri="{FF2B5EF4-FFF2-40B4-BE49-F238E27FC236}">
                    <a16:creationId xmlns:a16="http://schemas.microsoft.com/office/drawing/2014/main" id="{18B2A7AE-0C8B-4674-A42D-54AA8FC0005B}"/>
                  </a:ext>
                </a:extLst>
              </p:cNvPr>
              <p:cNvGraphicFramePr>
                <a:graphicFrameLocks noGrp="1"/>
              </p:cNvGraphicFramePr>
              <p:nvPr>
                <p:extLst>
                  <p:ext uri="{D42A27DB-BD31-4B8C-83A1-F6EECF244321}">
                    <p14:modId xmlns:p14="http://schemas.microsoft.com/office/powerpoint/2010/main" val="2429095752"/>
                  </p:ext>
                </p:extLst>
              </p:nvPr>
            </p:nvGraphicFramePr>
            <p:xfrm>
              <a:off x="5320071" y="278630"/>
              <a:ext cx="6388276" cy="1655572"/>
            </p:xfrm>
            <a:graphic>
              <a:graphicData uri="http://schemas.openxmlformats.org/drawingml/2006/table">
                <a:tbl>
                  <a:tblPr firstRow="1" bandRow="1">
                    <a:tableStyleId>{AD6A3598-7CB8-4345-8D95-17CE05F158A0}</a:tableStyleId>
                  </a:tblPr>
                  <a:tblGrid>
                    <a:gridCol w="3602703">
                      <a:extLst>
                        <a:ext uri="{9D8B030D-6E8A-4147-A177-3AD203B41FA5}">
                          <a16:colId xmlns:a16="http://schemas.microsoft.com/office/drawing/2014/main" val="3377211390"/>
                        </a:ext>
                      </a:extLst>
                    </a:gridCol>
                    <a:gridCol w="2785573">
                      <a:extLst>
                        <a:ext uri="{9D8B030D-6E8A-4147-A177-3AD203B41FA5}">
                          <a16:colId xmlns:a16="http://schemas.microsoft.com/office/drawing/2014/main" val="1918659203"/>
                        </a:ext>
                      </a:extLst>
                    </a:gridCol>
                  </a:tblGrid>
                  <a:tr h="370840">
                    <a:tc>
                      <a:txBody>
                        <a:bodyPr/>
                        <a:lstStyle/>
                        <a:p>
                          <a:pPr algn="ctr"/>
                          <a:r>
                            <a:rPr lang="es-CO" sz="2000" b="1" dirty="0">
                              <a:latin typeface="+mn-lt"/>
                              <a:cs typeface="Arial" panose="020B0604020202020204" pitchFamily="34" charset="0"/>
                            </a:rPr>
                            <a:t>Premisas</a:t>
                          </a:r>
                        </a:p>
                      </a:txBody>
                      <a:tcP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s-CO" sz="2000" b="1" dirty="0">
                              <a:latin typeface="+mn-lt"/>
                              <a:cs typeface="Arial" panose="020B0604020202020204" pitchFamily="34" charset="0"/>
                            </a:rPr>
                            <a:t>Conclusión</a:t>
                          </a:r>
                        </a:p>
                      </a:txBody>
                      <a:tcP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2695394"/>
                      </a:ext>
                    </a:extLst>
                  </a:tr>
                  <a:tr h="370840">
                    <a:tc>
                      <a:txBody>
                        <a:bodyPr/>
                        <a:lstStyle/>
                        <a:p>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cs typeface="Arial" panose="020B0604020202020204" pitchFamily="34" charset="0"/>
                                  </a:rPr>
                                  <m:t>∀</m:t>
                                </m:r>
                                <m:r>
                                  <a:rPr lang="es-MX" sz="1800" b="0" i="1" smtClean="0">
                                    <a:latin typeface="Cambria Math" panose="02040503050406030204" pitchFamily="18" charset="0"/>
                                    <a:cs typeface="Arial" panose="020B0604020202020204" pitchFamily="34" charset="0"/>
                                  </a:rPr>
                                  <m:t>𝑥</m:t>
                                </m:r>
                                <m:d>
                                  <m:dPr>
                                    <m:ctrlPr>
                                      <a:rPr lang="es-MX" sz="1800" b="0" i="1" smtClean="0">
                                        <a:latin typeface="Cambria Math" panose="02040503050406030204" pitchFamily="18" charset="0"/>
                                        <a:cs typeface="Arial" panose="020B0604020202020204" pitchFamily="34" charset="0"/>
                                      </a:rPr>
                                    </m:ctrlPr>
                                  </m:dPr>
                                  <m:e>
                                    <m:d>
                                      <m:dPr>
                                        <m:ctrlPr>
                                          <a:rPr lang="es-MX" sz="1800" b="0" i="1" smtClean="0">
                                            <a:latin typeface="Cambria Math" panose="02040503050406030204" pitchFamily="18" charset="0"/>
                                            <a:cs typeface="Arial" panose="020B0604020202020204" pitchFamily="34" charset="0"/>
                                          </a:rPr>
                                        </m:ctrlPr>
                                      </m:dPr>
                                      <m:e>
                                        <m:r>
                                          <a:rPr lang="es-MX" sz="1800" b="0" i="1" smtClean="0">
                                            <a:latin typeface="Cambria Math" panose="02040503050406030204" pitchFamily="18" charset="0"/>
                                            <a:cs typeface="Arial" panose="020B0604020202020204" pitchFamily="34" charset="0"/>
                                          </a:rPr>
                                          <m:t>𝑥</m:t>
                                        </m:r>
                                        <m:r>
                                          <a:rPr lang="es-MX" sz="1800" b="0" i="1" smtClean="0">
                                            <a:latin typeface="Cambria Math" panose="02040503050406030204" pitchFamily="18" charset="0"/>
                                            <a:cs typeface="Arial" panose="020B0604020202020204" pitchFamily="34" charset="0"/>
                                          </a:rPr>
                                          <m:t>&lt;4</m:t>
                                        </m:r>
                                      </m:e>
                                    </m:d>
                                    <m:r>
                                      <a:rPr lang="es-MX" sz="1800" b="0" i="1" smtClean="0">
                                        <a:latin typeface="Cambria Math" panose="02040503050406030204" pitchFamily="18" charset="0"/>
                                        <a:ea typeface="Cambria Math" panose="02040503050406030204" pitchFamily="18" charset="0"/>
                                        <a:cs typeface="Arial" panose="020B0604020202020204" pitchFamily="34" charset="0"/>
                                      </a:rPr>
                                      <m:t>∧</m:t>
                                    </m:r>
                                    <m:d>
                                      <m:dPr>
                                        <m:ctrlPr>
                                          <a:rPr lang="es-MX" sz="1800" b="0" i="1" smtClean="0">
                                            <a:latin typeface="Cambria Math" panose="02040503050406030204" pitchFamily="18" charset="0"/>
                                            <a:ea typeface="Cambria Math" panose="02040503050406030204" pitchFamily="18" charset="0"/>
                                            <a:cs typeface="Arial" panose="020B0604020202020204" pitchFamily="34" charset="0"/>
                                          </a:rPr>
                                        </m:ctrlPr>
                                      </m:dPr>
                                      <m:e>
                                        <m:r>
                                          <a:rPr lang="es-MX" sz="1800" b="0" i="1" smtClean="0">
                                            <a:latin typeface="Cambria Math" panose="02040503050406030204" pitchFamily="18" charset="0"/>
                                            <a:ea typeface="Cambria Math" panose="02040503050406030204" pitchFamily="18" charset="0"/>
                                            <a:cs typeface="Arial" panose="020B0604020202020204" pitchFamily="34" charset="0"/>
                                          </a:rPr>
                                          <m:t>4&lt;5</m:t>
                                        </m:r>
                                      </m:e>
                                    </m:d>
                                    <m:r>
                                      <a:rPr lang="es-MX" sz="1800" b="0" i="1" smtClean="0">
                                        <a:latin typeface="Cambria Math" panose="02040503050406030204" pitchFamily="18" charset="0"/>
                                        <a:ea typeface="Cambria Math" panose="02040503050406030204" pitchFamily="18" charset="0"/>
                                        <a:cs typeface="Arial" panose="020B0604020202020204" pitchFamily="34" charset="0"/>
                                      </a:rPr>
                                      <m:t>→</m:t>
                                    </m:r>
                                    <m:r>
                                      <a:rPr lang="es-MX" sz="1800" b="0" i="1" smtClean="0">
                                        <a:latin typeface="Cambria Math" panose="02040503050406030204" pitchFamily="18" charset="0"/>
                                        <a:ea typeface="Cambria Math" panose="02040503050406030204" pitchFamily="18" charset="0"/>
                                        <a:cs typeface="Arial" panose="020B0604020202020204" pitchFamily="34" charset="0"/>
                                      </a:rPr>
                                      <m:t>𝑥</m:t>
                                    </m:r>
                                    <m:r>
                                      <a:rPr lang="es-MX" sz="1800" b="0" i="1" smtClean="0">
                                        <a:latin typeface="Cambria Math" panose="02040503050406030204" pitchFamily="18" charset="0"/>
                                        <a:ea typeface="Cambria Math" panose="02040503050406030204" pitchFamily="18" charset="0"/>
                                        <a:cs typeface="Arial" panose="020B0604020202020204" pitchFamily="34" charset="0"/>
                                      </a:rPr>
                                      <m:t>&lt;5</m:t>
                                    </m:r>
                                  </m:e>
                                </m:d>
                              </m:oMath>
                            </m:oMathPara>
                          </a14:m>
                          <a:endParaRPr lang="es-MX" sz="1800" b="0" dirty="0">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cs typeface="Arial" panose="020B0604020202020204" pitchFamily="34" charset="0"/>
                                  </a:rPr>
                                  <m:t>∀</m:t>
                                </m:r>
                                <m:r>
                                  <a:rPr lang="es-MX" sz="1800" b="0" i="1" smtClean="0">
                                    <a:latin typeface="Cambria Math" panose="02040503050406030204" pitchFamily="18" charset="0"/>
                                    <a:cs typeface="Arial" panose="020B0604020202020204" pitchFamily="34" charset="0"/>
                                  </a:rPr>
                                  <m:t>𝑥</m:t>
                                </m:r>
                                <m:d>
                                  <m:dPr>
                                    <m:ctrlPr>
                                      <a:rPr lang="es-MX" sz="1800" b="0" i="1" smtClean="0">
                                        <a:latin typeface="Cambria Math" panose="02040503050406030204" pitchFamily="18" charset="0"/>
                                        <a:cs typeface="Arial" panose="020B0604020202020204" pitchFamily="34" charset="0"/>
                                      </a:rPr>
                                    </m:ctrlPr>
                                  </m:dPr>
                                  <m:e>
                                    <m:d>
                                      <m:dPr>
                                        <m:ctrlPr>
                                          <a:rPr lang="es-MX" sz="1800" b="0" i="1" smtClean="0">
                                            <a:latin typeface="Cambria Math" panose="02040503050406030204" pitchFamily="18" charset="0"/>
                                            <a:cs typeface="Arial" panose="020B0604020202020204" pitchFamily="34" charset="0"/>
                                          </a:rPr>
                                        </m:ctrlPr>
                                      </m:dPr>
                                      <m:e>
                                        <m:r>
                                          <a:rPr lang="es-MX" sz="1800" b="0" i="1" smtClean="0">
                                            <a:latin typeface="Cambria Math" panose="02040503050406030204" pitchFamily="18" charset="0"/>
                                            <a:cs typeface="Arial" panose="020B0604020202020204" pitchFamily="34" charset="0"/>
                                          </a:rPr>
                                          <m:t>−4&lt;</m:t>
                                        </m:r>
                                        <m:r>
                                          <a:rPr lang="es-MX" sz="1800" b="0" i="1" smtClean="0">
                                            <a:latin typeface="Cambria Math" panose="02040503050406030204" pitchFamily="18" charset="0"/>
                                            <a:cs typeface="Arial" panose="020B0604020202020204" pitchFamily="34" charset="0"/>
                                          </a:rPr>
                                          <m:t>𝑥</m:t>
                                        </m:r>
                                      </m:e>
                                    </m:d>
                                    <m:r>
                                      <a:rPr lang="es-MX" sz="1800" b="0" i="1" smtClean="0">
                                        <a:latin typeface="Cambria Math" panose="02040503050406030204" pitchFamily="18" charset="0"/>
                                        <a:ea typeface="Cambria Math" panose="02040503050406030204" pitchFamily="18" charset="0"/>
                                        <a:cs typeface="Arial" panose="020B0604020202020204" pitchFamily="34" charset="0"/>
                                      </a:rPr>
                                      <m:t>↔</m:t>
                                    </m:r>
                                    <m:d>
                                      <m:dPr>
                                        <m:ctrlPr>
                                          <a:rPr lang="es-MX" sz="1800" b="0" i="1" smtClean="0">
                                            <a:latin typeface="Cambria Math" panose="02040503050406030204" pitchFamily="18" charset="0"/>
                                            <a:ea typeface="Cambria Math" panose="02040503050406030204" pitchFamily="18" charset="0"/>
                                            <a:cs typeface="Arial" panose="020B0604020202020204" pitchFamily="34" charset="0"/>
                                          </a:rPr>
                                        </m:ctrlPr>
                                      </m:dPr>
                                      <m:e>
                                        <m:r>
                                          <a:rPr lang="es-MX" sz="1800" b="0" i="1" smtClean="0">
                                            <a:latin typeface="Cambria Math" panose="02040503050406030204" pitchFamily="18" charset="0"/>
                                            <a:ea typeface="Cambria Math" panose="02040503050406030204" pitchFamily="18" charset="0"/>
                                            <a:cs typeface="Arial" panose="020B0604020202020204" pitchFamily="34" charset="0"/>
                                          </a:rPr>
                                          <m:t>𝑥</m:t>
                                        </m:r>
                                        <m:r>
                                          <a:rPr lang="es-MX" sz="1800" b="0" i="1" smtClean="0">
                                            <a:latin typeface="Cambria Math" panose="02040503050406030204" pitchFamily="18" charset="0"/>
                                            <a:ea typeface="Cambria Math" panose="02040503050406030204" pitchFamily="18" charset="0"/>
                                            <a:cs typeface="Arial" panose="020B0604020202020204" pitchFamily="34" charset="0"/>
                                          </a:rPr>
                                          <m:t>&lt;4</m:t>
                                        </m:r>
                                      </m:e>
                                    </m:d>
                                  </m:e>
                                </m:d>
                              </m:oMath>
                            </m:oMathPara>
                          </a14:m>
                          <a:endParaRPr lang="es-CO" sz="1800" kern="1200" dirty="0">
                            <a:solidFill>
                              <a:srgbClr val="000000"/>
                            </a:solidFill>
                            <a:latin typeface="Arial"/>
                            <a:ea typeface="Arial"/>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cs typeface="Arial" panose="020B0604020202020204" pitchFamily="34" charset="0"/>
                                  </a:rPr>
                                  <m:t>4&lt;5</m:t>
                                </m:r>
                              </m:oMath>
                            </m:oMathPara>
                          </a14:m>
                          <a:endParaRPr lang="es-MX" sz="1800" b="0" dirty="0">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cs typeface="Arial" panose="020B0604020202020204" pitchFamily="34" charset="0"/>
                                  </a:rPr>
                                  <m:t>−4&lt;−3</m:t>
                                </m:r>
                              </m:oMath>
                            </m:oMathPara>
                          </a14:m>
                          <a:endParaRPr lang="es-CO" sz="1800" kern="1200" dirty="0">
                            <a:solidFill>
                              <a:srgbClr val="000000"/>
                            </a:solidFill>
                            <a:latin typeface="Arial"/>
                            <a:ea typeface="Arial"/>
                            <a:cs typeface="Arial" panose="020B0604020202020204" pitchFamily="34" charset="0"/>
                          </a:endParaRPr>
                        </a:p>
                      </a:txBody>
                      <a:tcP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cs typeface="Arial" panose="020B0604020202020204" pitchFamily="34" charset="0"/>
                                  </a:rPr>
                                  <m:t>3&lt;5</m:t>
                                </m:r>
                              </m:oMath>
                            </m:oMathPara>
                          </a14:m>
                          <a:endParaRPr lang="es-CO" sz="1800" kern="1200" dirty="0">
                            <a:solidFill>
                              <a:srgbClr val="000000"/>
                            </a:solidFill>
                            <a:latin typeface="Arial"/>
                            <a:ea typeface="Arial"/>
                            <a:cs typeface="Arial" panose="020B0604020202020204" pitchFamily="34" charset="0"/>
                          </a:endParaRPr>
                        </a:p>
                        <a:p>
                          <a:endParaRPr lang="es-CO" sz="1800" dirty="0">
                            <a:latin typeface="+mn-lt"/>
                            <a:cs typeface="Arial" panose="020B0604020202020204" pitchFamily="34" charset="0"/>
                          </a:endParaRPr>
                        </a:p>
                      </a:txBody>
                      <a:tcP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714967203"/>
                      </a:ext>
                    </a:extLst>
                  </a:tr>
                </a:tbl>
              </a:graphicData>
            </a:graphic>
          </p:graphicFrame>
        </mc:Choice>
        <mc:Fallback>
          <p:graphicFrame>
            <p:nvGraphicFramePr>
              <p:cNvPr id="6" name="Tabla 2">
                <a:extLst>
                  <a:ext uri="{FF2B5EF4-FFF2-40B4-BE49-F238E27FC236}">
                    <a16:creationId xmlns:a16="http://schemas.microsoft.com/office/drawing/2014/main" id="{18B2A7AE-0C8B-4674-A42D-54AA8FC0005B}"/>
                  </a:ext>
                </a:extLst>
              </p:cNvPr>
              <p:cNvGraphicFramePr>
                <a:graphicFrameLocks noGrp="1"/>
              </p:cNvGraphicFramePr>
              <p:nvPr>
                <p:extLst>
                  <p:ext uri="{D42A27DB-BD31-4B8C-83A1-F6EECF244321}">
                    <p14:modId xmlns:p14="http://schemas.microsoft.com/office/powerpoint/2010/main" val="2429095752"/>
                  </p:ext>
                </p:extLst>
              </p:nvPr>
            </p:nvGraphicFramePr>
            <p:xfrm>
              <a:off x="5320071" y="278630"/>
              <a:ext cx="6388276" cy="1655572"/>
            </p:xfrm>
            <a:graphic>
              <a:graphicData uri="http://schemas.openxmlformats.org/drawingml/2006/table">
                <a:tbl>
                  <a:tblPr firstRow="1" bandRow="1">
                    <a:tableStyleId>{AD6A3598-7CB8-4345-8D95-17CE05F158A0}</a:tableStyleId>
                  </a:tblPr>
                  <a:tblGrid>
                    <a:gridCol w="3602703">
                      <a:extLst>
                        <a:ext uri="{9D8B030D-6E8A-4147-A177-3AD203B41FA5}">
                          <a16:colId xmlns:a16="http://schemas.microsoft.com/office/drawing/2014/main" val="3377211390"/>
                        </a:ext>
                      </a:extLst>
                    </a:gridCol>
                    <a:gridCol w="2785573">
                      <a:extLst>
                        <a:ext uri="{9D8B030D-6E8A-4147-A177-3AD203B41FA5}">
                          <a16:colId xmlns:a16="http://schemas.microsoft.com/office/drawing/2014/main" val="1918659203"/>
                        </a:ext>
                      </a:extLst>
                    </a:gridCol>
                  </a:tblGrid>
                  <a:tr h="396240">
                    <a:tc>
                      <a:txBody>
                        <a:bodyPr/>
                        <a:lstStyle/>
                        <a:p>
                          <a:pPr algn="ctr"/>
                          <a:r>
                            <a:rPr lang="es-CO" sz="2000" b="1" dirty="0">
                              <a:latin typeface="+mn-lt"/>
                              <a:cs typeface="Arial" panose="020B0604020202020204" pitchFamily="34" charset="0"/>
                            </a:rPr>
                            <a:t>Premisas</a:t>
                          </a:r>
                        </a:p>
                      </a:txBody>
                      <a:tcP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s-CO" sz="2000" b="1" dirty="0">
                              <a:latin typeface="+mn-lt"/>
                              <a:cs typeface="Arial" panose="020B0604020202020204" pitchFamily="34" charset="0"/>
                            </a:rPr>
                            <a:t>Conclusión</a:t>
                          </a:r>
                        </a:p>
                      </a:txBody>
                      <a:tcP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2695394"/>
                      </a:ext>
                    </a:extLst>
                  </a:tr>
                  <a:tr h="1259332">
                    <a:tc>
                      <a:txBody>
                        <a:bodyPr/>
                        <a:lstStyle/>
                        <a:p>
                          <a:endParaRPr lang="es-CO"/>
                        </a:p>
                      </a:txBody>
                      <a:tcP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3"/>
                          <a:stretch>
                            <a:fillRect t="-33654" r="-77365" b="-481"/>
                          </a:stretch>
                        </a:blipFill>
                      </a:tcPr>
                    </a:tc>
                    <a:tc>
                      <a:txBody>
                        <a:bodyPr/>
                        <a:lstStyle/>
                        <a:p>
                          <a:endParaRPr lang="es-CO"/>
                        </a:p>
                      </a:txBody>
                      <a:tcP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3"/>
                          <a:stretch>
                            <a:fillRect l="-129540" t="-33654" r="-219" b="-481"/>
                          </a:stretch>
                        </a:blipFill>
                      </a:tcPr>
                    </a:tc>
                    <a:extLst>
                      <a:ext uri="{0D108BD9-81ED-4DB2-BD59-A6C34878D82A}">
                        <a16:rowId xmlns:a16="http://schemas.microsoft.com/office/drawing/2014/main" val="714967203"/>
                      </a:ext>
                    </a:extLst>
                  </a:tr>
                </a:tbl>
              </a:graphicData>
            </a:graphic>
          </p:graphicFrame>
        </mc:Fallback>
      </mc:AlternateContent>
      <p:graphicFrame>
        <p:nvGraphicFramePr>
          <p:cNvPr id="9" name="Tabla 2">
            <a:extLst>
              <a:ext uri="{FF2B5EF4-FFF2-40B4-BE49-F238E27FC236}">
                <a16:creationId xmlns:a16="http://schemas.microsoft.com/office/drawing/2014/main" id="{7E05D993-31CA-43F8-BA57-2830F45541E7}"/>
              </a:ext>
            </a:extLst>
          </p:cNvPr>
          <p:cNvGraphicFramePr>
            <a:graphicFrameLocks noGrp="1"/>
          </p:cNvGraphicFramePr>
          <p:nvPr>
            <p:extLst>
              <p:ext uri="{D42A27DB-BD31-4B8C-83A1-F6EECF244321}">
                <p14:modId xmlns:p14="http://schemas.microsoft.com/office/powerpoint/2010/main" val="3074388741"/>
              </p:ext>
            </p:extLst>
          </p:nvPr>
        </p:nvGraphicFramePr>
        <p:xfrm>
          <a:off x="5530642" y="2167862"/>
          <a:ext cx="6434277" cy="3742150"/>
        </p:xfrm>
        <a:graphic>
          <a:graphicData uri="http://schemas.openxmlformats.org/drawingml/2006/table">
            <a:tbl>
              <a:tblPr firstRow="1" bandRow="1">
                <a:tableStyleId>{AD6A3598-7CB8-4345-8D95-17CE05F158A0}</a:tableStyleId>
              </a:tblPr>
              <a:tblGrid>
                <a:gridCol w="309716">
                  <a:extLst>
                    <a:ext uri="{9D8B030D-6E8A-4147-A177-3AD203B41FA5}">
                      <a16:colId xmlns:a16="http://schemas.microsoft.com/office/drawing/2014/main" val="1610952478"/>
                    </a:ext>
                  </a:extLst>
                </a:gridCol>
                <a:gridCol w="2581441">
                  <a:extLst>
                    <a:ext uri="{9D8B030D-6E8A-4147-A177-3AD203B41FA5}">
                      <a16:colId xmlns:a16="http://schemas.microsoft.com/office/drawing/2014/main" val="1919891108"/>
                    </a:ext>
                  </a:extLst>
                </a:gridCol>
                <a:gridCol w="3543120">
                  <a:extLst>
                    <a:ext uri="{9D8B030D-6E8A-4147-A177-3AD203B41FA5}">
                      <a16:colId xmlns:a16="http://schemas.microsoft.com/office/drawing/2014/main" val="4281859008"/>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Afirmación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Razón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073712"/>
                  </a:ext>
                </a:extLst>
              </a:tr>
              <a:tr h="370840">
                <a:tc>
                  <a:txBody>
                    <a:bodyPr/>
                    <a:lstStyle/>
                    <a:p>
                      <a:endParaRPr lang="es-CO" sz="1600" b="1"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600" b="1"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43470127"/>
                  </a:ext>
                </a:extLst>
              </a:tr>
              <a:tr h="370840">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7809005"/>
                  </a:ext>
                </a:extLst>
              </a:tr>
              <a:tr h="370840">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25827864"/>
                  </a:ext>
                </a:extLst>
              </a:tr>
              <a:tr h="379190">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396960"/>
                  </a:ext>
                </a:extLst>
              </a:tr>
              <a:tr h="370840">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87912512"/>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44816522"/>
                  </a:ext>
                </a:extLst>
              </a:tr>
              <a:tr h="370840">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38459320"/>
                  </a:ext>
                </a:extLst>
              </a:tr>
              <a:tr h="370840">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20592092"/>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16840162"/>
                  </a:ext>
                </a:extLst>
              </a:tr>
            </a:tbl>
          </a:graphicData>
        </a:graphic>
      </p:graphicFrame>
    </p:spTree>
    <p:extLst>
      <p:ext uri="{BB962C8B-B14F-4D97-AF65-F5344CB8AC3E}">
        <p14:creationId xmlns:p14="http://schemas.microsoft.com/office/powerpoint/2010/main" val="23866170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title"/>
          </p:nvPr>
        </p:nvSpPr>
        <p:spPr>
          <a:xfrm>
            <a:off x="283988" y="96038"/>
            <a:ext cx="8936662"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solidFill>
                  <a:schemeClr val="tx1"/>
                </a:solidFill>
                <a:latin typeface="+mj-lt"/>
              </a:rPr>
              <a:t>Ejercicio 6</a:t>
            </a:r>
            <a:endParaRPr dirty="0">
              <a:solidFill>
                <a:schemeClr val="tx1"/>
              </a:solidFill>
              <a:latin typeface="+mj-lt"/>
            </a:endParaRPr>
          </a:p>
        </p:txBody>
      </p:sp>
      <p:sp>
        <p:nvSpPr>
          <p:cNvPr id="4" name="CuadroTexto 3">
            <a:extLst>
              <a:ext uri="{FF2B5EF4-FFF2-40B4-BE49-F238E27FC236}">
                <a16:creationId xmlns:a16="http://schemas.microsoft.com/office/drawing/2014/main" id="{AF909063-CAA1-41D3-A0B2-2A2D736D4430}"/>
              </a:ext>
            </a:extLst>
          </p:cNvPr>
          <p:cNvSpPr txBox="1"/>
          <p:nvPr/>
        </p:nvSpPr>
        <p:spPr>
          <a:xfrm>
            <a:off x="283988" y="912806"/>
            <a:ext cx="5615367" cy="707886"/>
          </a:xfrm>
          <a:prstGeom prst="rect">
            <a:avLst/>
          </a:prstGeom>
          <a:noFill/>
        </p:spPr>
        <p:txBody>
          <a:bodyPr wrap="square" rtlCol="0">
            <a:spAutoFit/>
          </a:bodyPr>
          <a:lstStyle/>
          <a:p>
            <a:r>
              <a:rPr lang="es-MX" sz="2000" dirty="0">
                <a:ea typeface="Roboto" panose="02000000000000000000" pitchFamily="2" charset="0"/>
              </a:rPr>
              <a:t>Deduzca los teoremas con base en el sistema de lógica cuantificacional.</a:t>
            </a:r>
          </a:p>
        </p:txBody>
      </p:sp>
      <mc:AlternateContent xmlns:mc="http://schemas.openxmlformats.org/markup-compatibility/2006">
        <mc:Choice xmlns:a14="http://schemas.microsoft.com/office/drawing/2010/main" Requires="a14">
          <p:graphicFrame>
            <p:nvGraphicFramePr>
              <p:cNvPr id="7" name="Tabla 2">
                <a:extLst>
                  <a:ext uri="{FF2B5EF4-FFF2-40B4-BE49-F238E27FC236}">
                    <a16:creationId xmlns:a16="http://schemas.microsoft.com/office/drawing/2014/main" id="{D07020A5-7841-4BCC-B2A6-312198312307}"/>
                  </a:ext>
                </a:extLst>
              </p:cNvPr>
              <p:cNvGraphicFramePr>
                <a:graphicFrameLocks noGrp="1"/>
              </p:cNvGraphicFramePr>
              <p:nvPr>
                <p:extLst>
                  <p:ext uri="{D42A27DB-BD31-4B8C-83A1-F6EECF244321}">
                    <p14:modId xmlns:p14="http://schemas.microsoft.com/office/powerpoint/2010/main" val="3928932910"/>
                  </p:ext>
                </p:extLst>
              </p:nvPr>
            </p:nvGraphicFramePr>
            <p:xfrm>
              <a:off x="5775748" y="322876"/>
              <a:ext cx="5908252" cy="1416558"/>
            </p:xfrm>
            <a:graphic>
              <a:graphicData uri="http://schemas.openxmlformats.org/drawingml/2006/table">
                <a:tbl>
                  <a:tblPr firstRow="1" bandRow="1">
                    <a:tableStyleId>{AD6A3598-7CB8-4345-8D95-17CE05F158A0}</a:tableStyleId>
                  </a:tblPr>
                  <a:tblGrid>
                    <a:gridCol w="2954126">
                      <a:extLst>
                        <a:ext uri="{9D8B030D-6E8A-4147-A177-3AD203B41FA5}">
                          <a16:colId xmlns:a16="http://schemas.microsoft.com/office/drawing/2014/main" val="3377211390"/>
                        </a:ext>
                      </a:extLst>
                    </a:gridCol>
                    <a:gridCol w="2954126">
                      <a:extLst>
                        <a:ext uri="{9D8B030D-6E8A-4147-A177-3AD203B41FA5}">
                          <a16:colId xmlns:a16="http://schemas.microsoft.com/office/drawing/2014/main" val="1918659203"/>
                        </a:ext>
                      </a:extLst>
                    </a:gridCol>
                  </a:tblGrid>
                  <a:tr h="370840">
                    <a:tc>
                      <a:txBody>
                        <a:bodyPr/>
                        <a:lstStyle/>
                        <a:p>
                          <a:pPr algn="ctr"/>
                          <a:r>
                            <a:rPr lang="es-CO" sz="2000" b="1" dirty="0">
                              <a:latin typeface="+mn-lt"/>
                              <a:cs typeface="Arial" panose="020B0604020202020204" pitchFamily="34" charset="0"/>
                            </a:rPr>
                            <a:t>Premisas</a:t>
                          </a:r>
                        </a:p>
                      </a:txBody>
                      <a:tcP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s-CO" sz="2000" b="1" dirty="0">
                              <a:latin typeface="+mn-lt"/>
                              <a:cs typeface="Arial" panose="020B0604020202020204" pitchFamily="34" charset="0"/>
                            </a:rPr>
                            <a:t>Conclusión</a:t>
                          </a:r>
                        </a:p>
                      </a:txBody>
                      <a:tcP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2695394"/>
                      </a:ext>
                    </a:extLst>
                  </a:tr>
                  <a:tr h="370840">
                    <a:tc>
                      <a:txBody>
                        <a:bodyPr/>
                        <a:lstStyle/>
                        <a:p>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cs typeface="Arial" panose="020B0604020202020204" pitchFamily="34" charset="0"/>
                                  </a:rPr>
                                  <m:t>∀</m:t>
                                </m:r>
                                <m:r>
                                  <a:rPr lang="es-MX" sz="1800" b="0" i="1" smtClean="0">
                                    <a:latin typeface="Cambria Math" panose="02040503050406030204" pitchFamily="18" charset="0"/>
                                    <a:cs typeface="Arial" panose="020B0604020202020204" pitchFamily="34" charset="0"/>
                                  </a:rPr>
                                  <m:t>𝑥</m:t>
                                </m:r>
                                <m:d>
                                  <m:dPr>
                                    <m:ctrlPr>
                                      <a:rPr lang="es-MX" sz="1800" b="0" i="1" smtClean="0">
                                        <a:latin typeface="Cambria Math" panose="02040503050406030204" pitchFamily="18" charset="0"/>
                                        <a:cs typeface="Arial" panose="020B0604020202020204" pitchFamily="34" charset="0"/>
                                      </a:rPr>
                                    </m:ctrlPr>
                                  </m:dPr>
                                  <m:e>
                                    <m:r>
                                      <a:rPr lang="es-MX" sz="1800" b="0" i="1" smtClean="0">
                                        <a:latin typeface="Cambria Math" panose="02040503050406030204" pitchFamily="18" charset="0"/>
                                        <a:cs typeface="Arial" panose="020B0604020202020204" pitchFamily="34" charset="0"/>
                                      </a:rPr>
                                      <m:t>𝑅</m:t>
                                    </m:r>
                                    <m:d>
                                      <m:dPr>
                                        <m:ctrlPr>
                                          <a:rPr lang="es-MX" sz="1800" b="0" i="1" smtClean="0">
                                            <a:latin typeface="Cambria Math" panose="02040503050406030204" pitchFamily="18" charset="0"/>
                                            <a:cs typeface="Arial" panose="020B0604020202020204" pitchFamily="34" charset="0"/>
                                          </a:rPr>
                                        </m:ctrlPr>
                                      </m:dPr>
                                      <m:e>
                                        <m:r>
                                          <a:rPr lang="es-MX" sz="1800" b="0" i="1" smtClean="0">
                                            <a:latin typeface="Cambria Math" panose="02040503050406030204" pitchFamily="18" charset="0"/>
                                            <a:cs typeface="Arial" panose="020B0604020202020204" pitchFamily="34" charset="0"/>
                                          </a:rPr>
                                          <m:t>𝑥</m:t>
                                        </m:r>
                                      </m:e>
                                    </m:d>
                                    <m:r>
                                      <a:rPr lang="es-MX" sz="1800" b="0" i="1" smtClean="0">
                                        <a:latin typeface="Cambria Math" panose="02040503050406030204" pitchFamily="18" charset="0"/>
                                        <a:ea typeface="Cambria Math" panose="02040503050406030204" pitchFamily="18" charset="0"/>
                                        <a:cs typeface="Arial" panose="020B0604020202020204" pitchFamily="34" charset="0"/>
                                      </a:rPr>
                                      <m:t>∨</m:t>
                                    </m:r>
                                    <m:r>
                                      <a:rPr lang="es-MX" sz="1800" b="0" i="1" smtClean="0">
                                        <a:latin typeface="Cambria Math" panose="02040503050406030204" pitchFamily="18" charset="0"/>
                                        <a:ea typeface="Cambria Math" panose="02040503050406030204" pitchFamily="18" charset="0"/>
                                        <a:cs typeface="Arial" panose="020B0604020202020204" pitchFamily="34" charset="0"/>
                                      </a:rPr>
                                      <m:t>𝑍</m:t>
                                    </m:r>
                                    <m:d>
                                      <m:dPr>
                                        <m:ctrlPr>
                                          <a:rPr lang="es-MX" sz="1800" b="0" i="1" smtClean="0">
                                            <a:latin typeface="Cambria Math" panose="02040503050406030204" pitchFamily="18" charset="0"/>
                                            <a:ea typeface="Cambria Math" panose="02040503050406030204" pitchFamily="18" charset="0"/>
                                            <a:cs typeface="Arial" panose="020B0604020202020204" pitchFamily="34" charset="0"/>
                                          </a:rPr>
                                        </m:ctrlPr>
                                      </m:dPr>
                                      <m:e>
                                        <m:r>
                                          <a:rPr lang="es-MX" sz="1800" b="0" i="1" smtClean="0">
                                            <a:latin typeface="Cambria Math" panose="02040503050406030204" pitchFamily="18" charset="0"/>
                                            <a:ea typeface="Cambria Math" panose="02040503050406030204" pitchFamily="18" charset="0"/>
                                            <a:cs typeface="Arial" panose="020B0604020202020204" pitchFamily="34" charset="0"/>
                                          </a:rPr>
                                          <m:t>𝑥</m:t>
                                        </m:r>
                                      </m:e>
                                    </m:d>
                                  </m:e>
                                </m:d>
                              </m:oMath>
                            </m:oMathPara>
                          </a14:m>
                          <a:endParaRPr lang="es-MX" sz="1800" b="0" dirty="0">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cs typeface="Arial" panose="020B0604020202020204" pitchFamily="34" charset="0"/>
                                  </a:rPr>
                                  <m:t>∀</m:t>
                                </m:r>
                                <m:r>
                                  <a:rPr lang="es-MX" sz="1800" b="0" i="1" smtClean="0">
                                    <a:latin typeface="Cambria Math" panose="02040503050406030204" pitchFamily="18" charset="0"/>
                                    <a:cs typeface="Arial" panose="020B0604020202020204" pitchFamily="34" charset="0"/>
                                  </a:rPr>
                                  <m:t>𝑥</m:t>
                                </m:r>
                                <m:d>
                                  <m:dPr>
                                    <m:ctrlPr>
                                      <a:rPr lang="es-MX" sz="1800" b="0" i="1" smtClean="0">
                                        <a:latin typeface="Cambria Math" panose="02040503050406030204" pitchFamily="18" charset="0"/>
                                        <a:cs typeface="Arial" panose="020B0604020202020204" pitchFamily="34" charset="0"/>
                                      </a:rPr>
                                    </m:ctrlPr>
                                  </m:dPr>
                                  <m:e>
                                    <m:r>
                                      <a:rPr lang="es-MX" sz="1800" b="0" i="1" smtClean="0">
                                        <a:latin typeface="Cambria Math" panose="02040503050406030204" pitchFamily="18" charset="0"/>
                                        <a:cs typeface="Arial" panose="020B0604020202020204" pitchFamily="34" charset="0"/>
                                      </a:rPr>
                                      <m:t>¬</m:t>
                                    </m:r>
                                    <m:r>
                                      <a:rPr lang="es-MX" sz="1800" b="0" i="1" smtClean="0">
                                        <a:latin typeface="Cambria Math" panose="02040503050406030204" pitchFamily="18" charset="0"/>
                                        <a:cs typeface="Arial" panose="020B0604020202020204" pitchFamily="34" charset="0"/>
                                      </a:rPr>
                                      <m:t>𝑇</m:t>
                                    </m:r>
                                    <m:d>
                                      <m:dPr>
                                        <m:ctrlPr>
                                          <a:rPr lang="es-MX" sz="1800" b="0" i="1" smtClean="0">
                                            <a:latin typeface="Cambria Math" panose="02040503050406030204" pitchFamily="18" charset="0"/>
                                            <a:cs typeface="Arial" panose="020B0604020202020204" pitchFamily="34" charset="0"/>
                                          </a:rPr>
                                        </m:ctrlPr>
                                      </m:dPr>
                                      <m:e>
                                        <m:r>
                                          <a:rPr lang="es-MX" sz="1800" b="0" i="1" smtClean="0">
                                            <a:latin typeface="Cambria Math" panose="02040503050406030204" pitchFamily="18" charset="0"/>
                                            <a:cs typeface="Arial" panose="020B0604020202020204" pitchFamily="34" charset="0"/>
                                          </a:rPr>
                                          <m:t>𝑥</m:t>
                                        </m:r>
                                      </m:e>
                                    </m:d>
                                    <m:r>
                                      <a:rPr lang="es-MX" sz="1800" b="0" i="1" smtClean="0">
                                        <a:latin typeface="Cambria Math" panose="02040503050406030204" pitchFamily="18" charset="0"/>
                                        <a:ea typeface="Cambria Math" panose="02040503050406030204" pitchFamily="18" charset="0"/>
                                        <a:cs typeface="Arial" panose="020B0604020202020204" pitchFamily="34" charset="0"/>
                                      </a:rPr>
                                      <m:t>→¬</m:t>
                                    </m:r>
                                    <m:r>
                                      <a:rPr lang="es-MX" sz="1800" b="0" i="1" smtClean="0">
                                        <a:latin typeface="Cambria Math" panose="02040503050406030204" pitchFamily="18" charset="0"/>
                                        <a:ea typeface="Cambria Math" panose="02040503050406030204" pitchFamily="18" charset="0"/>
                                        <a:cs typeface="Arial" panose="020B0604020202020204" pitchFamily="34" charset="0"/>
                                      </a:rPr>
                                      <m:t>𝑅</m:t>
                                    </m:r>
                                    <m:d>
                                      <m:dPr>
                                        <m:ctrlPr>
                                          <a:rPr lang="es-MX" sz="1800" b="0" i="1" smtClean="0">
                                            <a:latin typeface="Cambria Math" panose="02040503050406030204" pitchFamily="18" charset="0"/>
                                            <a:ea typeface="Cambria Math" panose="02040503050406030204" pitchFamily="18" charset="0"/>
                                            <a:cs typeface="Arial" panose="020B0604020202020204" pitchFamily="34" charset="0"/>
                                          </a:rPr>
                                        </m:ctrlPr>
                                      </m:dPr>
                                      <m:e>
                                        <m:r>
                                          <a:rPr lang="es-MX" sz="1800" b="0" i="1" smtClean="0">
                                            <a:latin typeface="Cambria Math" panose="02040503050406030204" pitchFamily="18" charset="0"/>
                                            <a:ea typeface="Cambria Math" panose="02040503050406030204" pitchFamily="18" charset="0"/>
                                            <a:cs typeface="Arial" panose="020B0604020202020204" pitchFamily="34" charset="0"/>
                                          </a:rPr>
                                          <m:t>𝑥</m:t>
                                        </m:r>
                                      </m:e>
                                    </m:d>
                                  </m:e>
                                </m:d>
                              </m:oMath>
                            </m:oMathPara>
                          </a14:m>
                          <a:endParaRPr lang="es-CO" sz="1800" kern="1200" dirty="0">
                            <a:solidFill>
                              <a:srgbClr val="000000"/>
                            </a:solidFill>
                            <a:latin typeface="Arial"/>
                            <a:ea typeface="Arial"/>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cs typeface="Arial" panose="020B0604020202020204" pitchFamily="34" charset="0"/>
                                  </a:rPr>
                                  <m:t>∃</m:t>
                                </m:r>
                                <m:r>
                                  <a:rPr lang="es-MX" sz="1800" b="0" i="1" smtClean="0">
                                    <a:latin typeface="Cambria Math" panose="02040503050406030204" pitchFamily="18" charset="0"/>
                                    <a:cs typeface="Arial" panose="020B0604020202020204" pitchFamily="34" charset="0"/>
                                  </a:rPr>
                                  <m:t>𝑥</m:t>
                                </m:r>
                                <m:d>
                                  <m:dPr>
                                    <m:ctrlPr>
                                      <a:rPr lang="es-MX" sz="1800" b="0" i="1" smtClean="0">
                                        <a:latin typeface="Cambria Math" panose="02040503050406030204" pitchFamily="18" charset="0"/>
                                        <a:cs typeface="Arial" panose="020B0604020202020204" pitchFamily="34" charset="0"/>
                                      </a:rPr>
                                    </m:ctrlPr>
                                  </m:dPr>
                                  <m:e>
                                    <m:r>
                                      <a:rPr lang="es-MX" sz="1800" b="0" i="1" smtClean="0">
                                        <a:latin typeface="Cambria Math" panose="02040503050406030204" pitchFamily="18" charset="0"/>
                                        <a:cs typeface="Arial" panose="020B0604020202020204" pitchFamily="34" charset="0"/>
                                      </a:rPr>
                                      <m:t>¬</m:t>
                                    </m:r>
                                    <m:r>
                                      <a:rPr lang="es-MX" sz="1800" b="0" i="1" smtClean="0">
                                        <a:latin typeface="Cambria Math" panose="02040503050406030204" pitchFamily="18" charset="0"/>
                                        <a:cs typeface="Arial" panose="020B0604020202020204" pitchFamily="34" charset="0"/>
                                      </a:rPr>
                                      <m:t>𝑍</m:t>
                                    </m:r>
                                    <m:d>
                                      <m:dPr>
                                        <m:ctrlPr>
                                          <a:rPr lang="es-MX" sz="1800" b="0" i="1" smtClean="0">
                                            <a:latin typeface="Cambria Math" panose="02040503050406030204" pitchFamily="18" charset="0"/>
                                            <a:cs typeface="Arial" panose="020B0604020202020204" pitchFamily="34" charset="0"/>
                                          </a:rPr>
                                        </m:ctrlPr>
                                      </m:dPr>
                                      <m:e>
                                        <m:r>
                                          <a:rPr lang="es-MX" sz="1800" b="0" i="1" smtClean="0">
                                            <a:latin typeface="Cambria Math" panose="02040503050406030204" pitchFamily="18" charset="0"/>
                                            <a:cs typeface="Arial" panose="020B0604020202020204" pitchFamily="34" charset="0"/>
                                          </a:rPr>
                                          <m:t>𝑥</m:t>
                                        </m:r>
                                      </m:e>
                                    </m:d>
                                    <m:r>
                                      <a:rPr lang="es-MX" sz="1800" b="0" i="1" smtClean="0">
                                        <a:latin typeface="Cambria Math" panose="02040503050406030204" pitchFamily="18" charset="0"/>
                                        <a:ea typeface="Cambria Math" panose="02040503050406030204" pitchFamily="18" charset="0"/>
                                        <a:cs typeface="Arial" panose="020B0604020202020204" pitchFamily="34" charset="0"/>
                                      </a:rPr>
                                      <m:t>∨</m:t>
                                    </m:r>
                                    <m:r>
                                      <a:rPr lang="es-MX" sz="1800" b="0" i="1" smtClean="0">
                                        <a:latin typeface="Cambria Math" panose="02040503050406030204" pitchFamily="18" charset="0"/>
                                        <a:ea typeface="Cambria Math" panose="02040503050406030204" pitchFamily="18" charset="0"/>
                                        <a:cs typeface="Arial" panose="020B0604020202020204" pitchFamily="34" charset="0"/>
                                      </a:rPr>
                                      <m:t>𝑄</m:t>
                                    </m:r>
                                    <m:d>
                                      <m:dPr>
                                        <m:ctrlPr>
                                          <a:rPr lang="es-MX" sz="1800" b="0" i="1" smtClean="0">
                                            <a:latin typeface="Cambria Math" panose="02040503050406030204" pitchFamily="18" charset="0"/>
                                            <a:ea typeface="Cambria Math" panose="02040503050406030204" pitchFamily="18" charset="0"/>
                                            <a:cs typeface="Arial" panose="020B0604020202020204" pitchFamily="34" charset="0"/>
                                          </a:rPr>
                                        </m:ctrlPr>
                                      </m:dPr>
                                      <m:e>
                                        <m:r>
                                          <a:rPr lang="es-MX" sz="1800" b="0" i="1" smtClean="0">
                                            <a:latin typeface="Cambria Math" panose="02040503050406030204" pitchFamily="18" charset="0"/>
                                            <a:ea typeface="Cambria Math" panose="02040503050406030204" pitchFamily="18" charset="0"/>
                                            <a:cs typeface="Arial" panose="020B0604020202020204" pitchFamily="34" charset="0"/>
                                          </a:rPr>
                                          <m:t>𝑥</m:t>
                                        </m:r>
                                      </m:e>
                                    </m:d>
                                  </m:e>
                                </m:d>
                                <m:r>
                                  <a:rPr lang="es-MX" sz="1800" b="0" i="1" smtClean="0">
                                    <a:latin typeface="Cambria Math" panose="02040503050406030204" pitchFamily="18" charset="0"/>
                                    <a:cs typeface="Arial" panose="020B0604020202020204" pitchFamily="34" charset="0"/>
                                  </a:rPr>
                                  <m:t>  </m:t>
                                </m:r>
                              </m:oMath>
                            </m:oMathPara>
                          </a14:m>
                          <a:endParaRPr lang="es-MX" sz="1800" b="0" dirty="0">
                            <a:latin typeface="+mn-lt"/>
                            <a:cs typeface="Arial" panose="020B0604020202020204" pitchFamily="34" charset="0"/>
                          </a:endParaRPr>
                        </a:p>
                      </a:txBody>
                      <a:tcP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cs typeface="Arial" panose="020B0604020202020204" pitchFamily="34" charset="0"/>
                                  </a:rPr>
                                  <m:t>∃</m:t>
                                </m:r>
                                <m:r>
                                  <a:rPr lang="es-MX" sz="1800" b="0" i="1" smtClean="0">
                                    <a:latin typeface="Cambria Math" panose="02040503050406030204" pitchFamily="18" charset="0"/>
                                    <a:cs typeface="Arial" panose="020B0604020202020204" pitchFamily="34" charset="0"/>
                                  </a:rPr>
                                  <m:t>𝑥</m:t>
                                </m:r>
                                <m:d>
                                  <m:dPr>
                                    <m:ctrlPr>
                                      <a:rPr lang="es-MX" sz="1800" b="0" i="1" smtClean="0">
                                        <a:latin typeface="Cambria Math" panose="02040503050406030204" pitchFamily="18" charset="0"/>
                                        <a:cs typeface="Arial" panose="020B0604020202020204" pitchFamily="34" charset="0"/>
                                      </a:rPr>
                                    </m:ctrlPr>
                                  </m:dPr>
                                  <m:e>
                                    <m:r>
                                      <a:rPr lang="es-MX" sz="1800" b="0" i="1" smtClean="0">
                                        <a:latin typeface="Cambria Math" panose="02040503050406030204" pitchFamily="18" charset="0"/>
                                        <a:cs typeface="Arial" panose="020B0604020202020204" pitchFamily="34" charset="0"/>
                                      </a:rPr>
                                      <m:t>𝑇</m:t>
                                    </m:r>
                                    <m:d>
                                      <m:dPr>
                                        <m:ctrlPr>
                                          <a:rPr lang="es-MX" sz="1800" b="0" i="1" smtClean="0">
                                            <a:latin typeface="Cambria Math" panose="02040503050406030204" pitchFamily="18" charset="0"/>
                                            <a:cs typeface="Arial" panose="020B0604020202020204" pitchFamily="34" charset="0"/>
                                          </a:rPr>
                                        </m:ctrlPr>
                                      </m:dPr>
                                      <m:e>
                                        <m:r>
                                          <a:rPr lang="es-MX" sz="1800" b="0" i="1" smtClean="0">
                                            <a:latin typeface="Cambria Math" panose="02040503050406030204" pitchFamily="18" charset="0"/>
                                            <a:cs typeface="Arial" panose="020B0604020202020204" pitchFamily="34" charset="0"/>
                                          </a:rPr>
                                          <m:t>𝑥</m:t>
                                        </m:r>
                                      </m:e>
                                    </m:d>
                                    <m:r>
                                      <a:rPr lang="es-MX" sz="1800" b="0" i="1" smtClean="0">
                                        <a:latin typeface="Cambria Math" panose="02040503050406030204" pitchFamily="18" charset="0"/>
                                        <a:ea typeface="Cambria Math" panose="02040503050406030204" pitchFamily="18" charset="0"/>
                                        <a:cs typeface="Arial" panose="020B0604020202020204" pitchFamily="34" charset="0"/>
                                      </a:rPr>
                                      <m:t>∨</m:t>
                                    </m:r>
                                    <m:r>
                                      <a:rPr lang="es-MX" sz="1800" b="0" i="1" smtClean="0">
                                        <a:latin typeface="Cambria Math" panose="02040503050406030204" pitchFamily="18" charset="0"/>
                                        <a:ea typeface="Cambria Math" panose="02040503050406030204" pitchFamily="18" charset="0"/>
                                        <a:cs typeface="Arial" panose="020B0604020202020204" pitchFamily="34" charset="0"/>
                                      </a:rPr>
                                      <m:t>𝑄</m:t>
                                    </m:r>
                                    <m:d>
                                      <m:dPr>
                                        <m:ctrlPr>
                                          <a:rPr lang="es-MX" sz="1800" b="0" i="1" smtClean="0">
                                            <a:latin typeface="Cambria Math" panose="02040503050406030204" pitchFamily="18" charset="0"/>
                                            <a:ea typeface="Cambria Math" panose="02040503050406030204" pitchFamily="18" charset="0"/>
                                            <a:cs typeface="Arial" panose="020B0604020202020204" pitchFamily="34" charset="0"/>
                                          </a:rPr>
                                        </m:ctrlPr>
                                      </m:dPr>
                                      <m:e>
                                        <m:r>
                                          <a:rPr lang="es-MX" sz="1800" b="0" i="1" smtClean="0">
                                            <a:latin typeface="Cambria Math" panose="02040503050406030204" pitchFamily="18" charset="0"/>
                                            <a:ea typeface="Cambria Math" panose="02040503050406030204" pitchFamily="18" charset="0"/>
                                            <a:cs typeface="Arial" panose="020B0604020202020204" pitchFamily="34" charset="0"/>
                                          </a:rPr>
                                          <m:t>𝑥</m:t>
                                        </m:r>
                                      </m:e>
                                    </m:d>
                                    <m:r>
                                      <a:rPr lang="es-MX" sz="1800" b="0" i="1" smtClean="0">
                                        <a:latin typeface="Cambria Math" panose="02040503050406030204" pitchFamily="18" charset="0"/>
                                        <a:ea typeface="Cambria Math" panose="02040503050406030204" pitchFamily="18" charset="0"/>
                                        <a:cs typeface="Arial" panose="020B0604020202020204" pitchFamily="34" charset="0"/>
                                      </a:rPr>
                                      <m:t>∨</m:t>
                                    </m:r>
                                    <m:r>
                                      <a:rPr lang="es-MX" sz="1800" b="0" i="1" smtClean="0">
                                        <a:latin typeface="Cambria Math" panose="02040503050406030204" pitchFamily="18" charset="0"/>
                                        <a:ea typeface="Cambria Math" panose="02040503050406030204" pitchFamily="18" charset="0"/>
                                        <a:cs typeface="Arial" panose="020B0604020202020204" pitchFamily="34" charset="0"/>
                                      </a:rPr>
                                      <m:t>𝑀</m:t>
                                    </m:r>
                                    <m:d>
                                      <m:dPr>
                                        <m:ctrlPr>
                                          <a:rPr lang="es-MX" sz="1800" b="0" i="1" smtClean="0">
                                            <a:latin typeface="Cambria Math" panose="02040503050406030204" pitchFamily="18" charset="0"/>
                                            <a:ea typeface="Cambria Math" panose="02040503050406030204" pitchFamily="18" charset="0"/>
                                            <a:cs typeface="Arial" panose="020B0604020202020204" pitchFamily="34" charset="0"/>
                                          </a:rPr>
                                        </m:ctrlPr>
                                      </m:dPr>
                                      <m:e>
                                        <m:r>
                                          <a:rPr lang="es-MX" sz="1800" b="0" i="1" smtClean="0">
                                            <a:latin typeface="Cambria Math" panose="02040503050406030204" pitchFamily="18" charset="0"/>
                                            <a:ea typeface="Cambria Math" panose="02040503050406030204" pitchFamily="18" charset="0"/>
                                            <a:cs typeface="Arial" panose="020B0604020202020204" pitchFamily="34" charset="0"/>
                                          </a:rPr>
                                          <m:t>𝑥</m:t>
                                        </m:r>
                                      </m:e>
                                    </m:d>
                                  </m:e>
                                </m:d>
                                <m:r>
                                  <a:rPr lang="es-MX" sz="1800" b="0" i="1" smtClean="0">
                                    <a:latin typeface="Cambria Math" panose="02040503050406030204" pitchFamily="18" charset="0"/>
                                    <a:ea typeface="Cambria Math" panose="02040503050406030204" pitchFamily="18" charset="0"/>
                                    <a:cs typeface="Arial" panose="020B0604020202020204" pitchFamily="34" charset="0"/>
                                  </a:rPr>
                                  <m:t> </m:t>
                                </m:r>
                                <m:r>
                                  <a:rPr lang="es-MX" sz="1800" b="0" i="1" smtClean="0">
                                    <a:latin typeface="Cambria Math" panose="02040503050406030204" pitchFamily="18" charset="0"/>
                                    <a:cs typeface="Arial" panose="020B0604020202020204" pitchFamily="34" charset="0"/>
                                  </a:rPr>
                                  <m:t>  </m:t>
                                </m:r>
                              </m:oMath>
                            </m:oMathPara>
                          </a14:m>
                          <a:endParaRPr lang="es-MX" sz="1800" b="0" kern="1200" dirty="0">
                            <a:solidFill>
                              <a:srgbClr val="000000"/>
                            </a:solidFill>
                            <a:latin typeface="Arial"/>
                            <a:ea typeface="Arial"/>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s-CO" sz="1800" kern="1200" dirty="0">
                            <a:solidFill>
                              <a:srgbClr val="000000"/>
                            </a:solidFill>
                            <a:latin typeface="Arial"/>
                            <a:ea typeface="Arial"/>
                            <a:cs typeface="Arial" panose="020B0604020202020204" pitchFamily="34" charset="0"/>
                          </a:endParaRPr>
                        </a:p>
                        <a:p>
                          <a:endParaRPr lang="es-CO" sz="1800" dirty="0">
                            <a:latin typeface="+mn-lt"/>
                            <a:cs typeface="Arial" panose="020B0604020202020204" pitchFamily="34" charset="0"/>
                          </a:endParaRPr>
                        </a:p>
                      </a:txBody>
                      <a:tcP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714967203"/>
                      </a:ext>
                    </a:extLst>
                  </a:tr>
                </a:tbl>
              </a:graphicData>
            </a:graphic>
          </p:graphicFrame>
        </mc:Choice>
        <mc:Fallback>
          <p:graphicFrame>
            <p:nvGraphicFramePr>
              <p:cNvPr id="7" name="Tabla 2">
                <a:extLst>
                  <a:ext uri="{FF2B5EF4-FFF2-40B4-BE49-F238E27FC236}">
                    <a16:creationId xmlns:a16="http://schemas.microsoft.com/office/drawing/2014/main" id="{D07020A5-7841-4BCC-B2A6-312198312307}"/>
                  </a:ext>
                </a:extLst>
              </p:cNvPr>
              <p:cNvGraphicFramePr>
                <a:graphicFrameLocks noGrp="1"/>
              </p:cNvGraphicFramePr>
              <p:nvPr>
                <p:extLst>
                  <p:ext uri="{D42A27DB-BD31-4B8C-83A1-F6EECF244321}">
                    <p14:modId xmlns:p14="http://schemas.microsoft.com/office/powerpoint/2010/main" val="3928932910"/>
                  </p:ext>
                </p:extLst>
              </p:nvPr>
            </p:nvGraphicFramePr>
            <p:xfrm>
              <a:off x="5775748" y="322876"/>
              <a:ext cx="5908252" cy="1416558"/>
            </p:xfrm>
            <a:graphic>
              <a:graphicData uri="http://schemas.openxmlformats.org/drawingml/2006/table">
                <a:tbl>
                  <a:tblPr firstRow="1" bandRow="1">
                    <a:tableStyleId>{AD6A3598-7CB8-4345-8D95-17CE05F158A0}</a:tableStyleId>
                  </a:tblPr>
                  <a:tblGrid>
                    <a:gridCol w="2954126">
                      <a:extLst>
                        <a:ext uri="{9D8B030D-6E8A-4147-A177-3AD203B41FA5}">
                          <a16:colId xmlns:a16="http://schemas.microsoft.com/office/drawing/2014/main" val="3377211390"/>
                        </a:ext>
                      </a:extLst>
                    </a:gridCol>
                    <a:gridCol w="2954126">
                      <a:extLst>
                        <a:ext uri="{9D8B030D-6E8A-4147-A177-3AD203B41FA5}">
                          <a16:colId xmlns:a16="http://schemas.microsoft.com/office/drawing/2014/main" val="1918659203"/>
                        </a:ext>
                      </a:extLst>
                    </a:gridCol>
                  </a:tblGrid>
                  <a:tr h="396240">
                    <a:tc>
                      <a:txBody>
                        <a:bodyPr/>
                        <a:lstStyle/>
                        <a:p>
                          <a:pPr algn="ctr"/>
                          <a:r>
                            <a:rPr lang="es-CO" sz="2000" b="1" dirty="0">
                              <a:latin typeface="+mn-lt"/>
                              <a:cs typeface="Arial" panose="020B0604020202020204" pitchFamily="34" charset="0"/>
                            </a:rPr>
                            <a:t>Premisas</a:t>
                          </a:r>
                        </a:p>
                      </a:txBody>
                      <a:tcP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s-CO" sz="2000" b="1" dirty="0">
                              <a:latin typeface="+mn-lt"/>
                              <a:cs typeface="Arial" panose="020B0604020202020204" pitchFamily="34" charset="0"/>
                            </a:rPr>
                            <a:t>Conclusión</a:t>
                          </a:r>
                        </a:p>
                      </a:txBody>
                      <a:tcP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2695394"/>
                      </a:ext>
                    </a:extLst>
                  </a:tr>
                  <a:tr h="1020318">
                    <a:tc>
                      <a:txBody>
                        <a:bodyPr/>
                        <a:lstStyle/>
                        <a:p>
                          <a:endParaRPr lang="es-CO"/>
                        </a:p>
                      </a:txBody>
                      <a:tcP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3"/>
                          <a:stretch>
                            <a:fillRect t="-41420" r="-100206" b="-1775"/>
                          </a:stretch>
                        </a:blipFill>
                      </a:tcPr>
                    </a:tc>
                    <a:tc>
                      <a:txBody>
                        <a:bodyPr/>
                        <a:lstStyle/>
                        <a:p>
                          <a:endParaRPr lang="es-CO"/>
                        </a:p>
                      </a:txBody>
                      <a:tcP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3"/>
                          <a:stretch>
                            <a:fillRect l="-100000" t="-41420" r="-206" b="-1775"/>
                          </a:stretch>
                        </a:blipFill>
                      </a:tcPr>
                    </a:tc>
                    <a:extLst>
                      <a:ext uri="{0D108BD9-81ED-4DB2-BD59-A6C34878D82A}">
                        <a16:rowId xmlns:a16="http://schemas.microsoft.com/office/drawing/2014/main" val="714967203"/>
                      </a:ext>
                    </a:extLst>
                  </a:tr>
                </a:tbl>
              </a:graphicData>
            </a:graphic>
          </p:graphicFrame>
        </mc:Fallback>
      </mc:AlternateContent>
      <p:graphicFrame>
        <p:nvGraphicFramePr>
          <p:cNvPr id="6" name="Tabla 2">
            <a:extLst>
              <a:ext uri="{FF2B5EF4-FFF2-40B4-BE49-F238E27FC236}">
                <a16:creationId xmlns:a16="http://schemas.microsoft.com/office/drawing/2014/main" id="{486A19E1-3780-4046-AF60-0AD74E533049}"/>
              </a:ext>
            </a:extLst>
          </p:cNvPr>
          <p:cNvGraphicFramePr>
            <a:graphicFrameLocks noGrp="1"/>
          </p:cNvGraphicFramePr>
          <p:nvPr>
            <p:extLst>
              <p:ext uri="{D42A27DB-BD31-4B8C-83A1-F6EECF244321}">
                <p14:modId xmlns:p14="http://schemas.microsoft.com/office/powerpoint/2010/main" val="2921531505"/>
              </p:ext>
            </p:extLst>
          </p:nvPr>
        </p:nvGraphicFramePr>
        <p:xfrm>
          <a:off x="5530642" y="2079372"/>
          <a:ext cx="6434277" cy="3742150"/>
        </p:xfrm>
        <a:graphic>
          <a:graphicData uri="http://schemas.openxmlformats.org/drawingml/2006/table">
            <a:tbl>
              <a:tblPr firstRow="1" bandRow="1">
                <a:tableStyleId>{AD6A3598-7CB8-4345-8D95-17CE05F158A0}</a:tableStyleId>
              </a:tblPr>
              <a:tblGrid>
                <a:gridCol w="309716">
                  <a:extLst>
                    <a:ext uri="{9D8B030D-6E8A-4147-A177-3AD203B41FA5}">
                      <a16:colId xmlns:a16="http://schemas.microsoft.com/office/drawing/2014/main" val="1610952478"/>
                    </a:ext>
                  </a:extLst>
                </a:gridCol>
                <a:gridCol w="2581441">
                  <a:extLst>
                    <a:ext uri="{9D8B030D-6E8A-4147-A177-3AD203B41FA5}">
                      <a16:colId xmlns:a16="http://schemas.microsoft.com/office/drawing/2014/main" val="1919891108"/>
                    </a:ext>
                  </a:extLst>
                </a:gridCol>
                <a:gridCol w="3543120">
                  <a:extLst>
                    <a:ext uri="{9D8B030D-6E8A-4147-A177-3AD203B41FA5}">
                      <a16:colId xmlns:a16="http://schemas.microsoft.com/office/drawing/2014/main" val="4281859008"/>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Afirmación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Razón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073712"/>
                  </a:ext>
                </a:extLst>
              </a:tr>
              <a:tr h="370840">
                <a:tc>
                  <a:txBody>
                    <a:bodyPr/>
                    <a:lstStyle/>
                    <a:p>
                      <a:endParaRPr lang="es-CO" sz="1600" b="1"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600" b="1"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43470127"/>
                  </a:ext>
                </a:extLst>
              </a:tr>
              <a:tr h="370840">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7809005"/>
                  </a:ext>
                </a:extLst>
              </a:tr>
              <a:tr h="370840">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25827864"/>
                  </a:ext>
                </a:extLst>
              </a:tr>
              <a:tr h="379190">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396960"/>
                  </a:ext>
                </a:extLst>
              </a:tr>
              <a:tr h="370840">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87912512"/>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44816522"/>
                  </a:ext>
                </a:extLst>
              </a:tr>
              <a:tr h="370840">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38459320"/>
                  </a:ext>
                </a:extLst>
              </a:tr>
              <a:tr h="370840">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20592092"/>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16840162"/>
                  </a:ext>
                </a:extLst>
              </a:tr>
            </a:tbl>
          </a:graphicData>
        </a:graphic>
      </p:graphicFrame>
    </p:spTree>
    <p:extLst>
      <p:ext uri="{BB962C8B-B14F-4D97-AF65-F5344CB8AC3E}">
        <p14:creationId xmlns:p14="http://schemas.microsoft.com/office/powerpoint/2010/main" val="305643442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27866</TotalTime>
  <Words>3024</Words>
  <Application>Microsoft Office PowerPoint</Application>
  <PresentationFormat>Panorámica</PresentationFormat>
  <Paragraphs>606</Paragraphs>
  <Slides>30</Slides>
  <Notes>30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30</vt:i4>
      </vt:variant>
    </vt:vector>
  </HeadingPairs>
  <TitlesOfParts>
    <vt:vector size="37" baseType="lpstr">
      <vt:lpstr>Arial</vt:lpstr>
      <vt:lpstr>Calibri</vt:lpstr>
      <vt:lpstr>Calibri Light</vt:lpstr>
      <vt:lpstr>Roboto Slab</vt:lpstr>
      <vt:lpstr>Cambria Math</vt:lpstr>
      <vt:lpstr>Roboto</vt:lpstr>
      <vt:lpstr>Tema de Office</vt:lpstr>
      <vt:lpstr> Matemáticas Discretas I</vt:lpstr>
      <vt:lpstr>Equivalencias en lógica de predicados (Parte 1)</vt:lpstr>
      <vt:lpstr>Equivalencias en lógica de predicados (Parte 2)</vt:lpstr>
      <vt:lpstr>Equivalencias de lógica proposicional</vt:lpstr>
      <vt:lpstr>Equivalencias lógica cuantificacional (Parte 1)</vt:lpstr>
      <vt:lpstr>Equivalencias lógica cuantificacional (Parte 2)</vt:lpstr>
      <vt:lpstr>Reglas de inferencia</vt:lpstr>
      <vt:lpstr>Lógica proposicional</vt:lpstr>
      <vt:lpstr>Reglas de inferencia con cuantificadores</vt:lpstr>
      <vt:lpstr>Reglas de inferencia con cuantificadores</vt:lpstr>
      <vt:lpstr>Reglas de inferencia con cuantificadores</vt:lpstr>
      <vt:lpstr>Reglas de inferencia con cuantificadores</vt:lpstr>
      <vt:lpstr>Reglas de inferencia con cuantificadores</vt:lpstr>
      <vt:lpstr>Equivalencias de lógica proposicional</vt:lpstr>
      <vt:lpstr>Reglas de inferencia</vt:lpstr>
      <vt:lpstr>Equivalencias lógica cuantificacional</vt:lpstr>
      <vt:lpstr>Ejemplo 1</vt:lpstr>
      <vt:lpstr>Ejemplo 1</vt:lpstr>
      <vt:lpstr>Ejemplo 2</vt:lpstr>
      <vt:lpstr>Ejemplo 2</vt:lpstr>
      <vt:lpstr>Ejemplo 3</vt:lpstr>
      <vt:lpstr>Ejemplo 3</vt:lpstr>
      <vt:lpstr>Ejercicios de repaso</vt:lpstr>
      <vt:lpstr>Ejercicios de repaso</vt:lpstr>
      <vt:lpstr>Ejercicio 1</vt:lpstr>
      <vt:lpstr>Ejercicio 2</vt:lpstr>
      <vt:lpstr>Ejercicio 3</vt:lpstr>
      <vt:lpstr>Ejercicio 4</vt:lpstr>
      <vt:lpstr>Ejercicio 5</vt:lpstr>
      <vt:lpstr>Ejercicio 6</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Curso Matemáticas Discretas I</dc:title>
  <dc:creator>Usuario</dc:creator>
  <cp:lastModifiedBy>HENRY ALBERTO ARCILA RAMIREZ</cp:lastModifiedBy>
  <cp:revision>350</cp:revision>
  <dcterms:modified xsi:type="dcterms:W3CDTF">2026-09-30T16:27:49Z</dcterms:modified>
</cp:coreProperties>
</file>