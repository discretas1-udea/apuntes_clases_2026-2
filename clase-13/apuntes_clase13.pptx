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42"/>
  </p:notesMasterIdLst>
  <p:sldIdLst>
    <p:sldId id="256" r:id="rId2"/>
    <p:sldId id="516" r:id="rId3"/>
    <p:sldId id="522" r:id="rId4"/>
    <p:sldId id="582" r:id="rId5"/>
    <p:sldId id="517" r:id="rId6"/>
    <p:sldId id="518" r:id="rId7"/>
    <p:sldId id="584" r:id="rId8"/>
    <p:sldId id="519" r:id="rId9"/>
    <p:sldId id="585" r:id="rId10"/>
    <p:sldId id="521" r:id="rId11"/>
    <p:sldId id="586" r:id="rId12"/>
    <p:sldId id="520" r:id="rId13"/>
    <p:sldId id="587" r:id="rId14"/>
    <p:sldId id="525" r:id="rId15"/>
    <p:sldId id="532" r:id="rId16"/>
    <p:sldId id="545" r:id="rId17"/>
    <p:sldId id="538" r:id="rId18"/>
    <p:sldId id="533" r:id="rId19"/>
    <p:sldId id="547" r:id="rId20"/>
    <p:sldId id="548" r:id="rId21"/>
    <p:sldId id="549" r:id="rId22"/>
    <p:sldId id="550" r:id="rId23"/>
    <p:sldId id="551" r:id="rId24"/>
    <p:sldId id="552" r:id="rId25"/>
    <p:sldId id="553" r:id="rId26"/>
    <p:sldId id="554" r:id="rId27"/>
    <p:sldId id="555" r:id="rId28"/>
    <p:sldId id="556" r:id="rId29"/>
    <p:sldId id="557" r:id="rId30"/>
    <p:sldId id="559" r:id="rId31"/>
    <p:sldId id="560" r:id="rId32"/>
    <p:sldId id="561" r:id="rId33"/>
    <p:sldId id="563" r:id="rId34"/>
    <p:sldId id="565" r:id="rId35"/>
    <p:sldId id="581" r:id="rId36"/>
    <p:sldId id="564" r:id="rId37"/>
    <p:sldId id="580" r:id="rId38"/>
    <p:sldId id="566" r:id="rId39"/>
    <p:sldId id="567" r:id="rId40"/>
    <p:sldId id="568" r:id="rId41"/>
  </p:sldIdLst>
  <p:sldSz cx="12192000" cy="6858000"/>
  <p:notesSz cx="6858000" cy="9144000"/>
  <p:embeddedFontLst>
    <p:embeddedFont>
      <p:font typeface="Calibri" panose="020F0502020204030204" pitchFamily="34" charset="0"/>
      <p:regular r:id="rId43"/>
      <p:bold r:id="rId44"/>
      <p:italic r:id="rId45"/>
      <p:boldItalic r:id="rId46"/>
    </p:embeddedFont>
    <p:embeddedFont>
      <p:font typeface="Calibri Light" panose="020F0302020204030204" pitchFamily="34" charset="0"/>
      <p:regular r:id="rId47"/>
      <p:italic r:id="rId48"/>
    </p:embeddedFont>
    <p:embeddedFont>
      <p:font typeface="Cambria Math" panose="02040503050406030204" pitchFamily="18" charset="0"/>
      <p:regular r:id="rId49"/>
    </p:embeddedFont>
    <p:embeddedFont>
      <p:font typeface="Roboto" panose="02000000000000000000" pitchFamily="2" charset="0"/>
      <p:regular r:id="rId50"/>
      <p:bold r:id="rId51"/>
      <p:italic r:id="rId52"/>
      <p:boldItalic r:id="rId53"/>
    </p:embeddedFont>
    <p:embeddedFont>
      <p:font typeface="Roboto Slab" panose="020B0604020202020204" charset="0"/>
      <p:regular r:id="rId54"/>
      <p:bold r:id="rId55"/>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820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2947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9303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890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8172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9199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211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9287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9281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42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884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7372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265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33842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00339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62329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80396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89958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41621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474520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68656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3333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586181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49155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3713323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7134950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500984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9481307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8219562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355214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2447010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1757435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453195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952668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6744868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66360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431077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36292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894182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260950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6953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b="1" dirty="0"/>
              <a:t>Matemáticas Discretas I</a:t>
            </a:r>
            <a:endParaRPr sz="3200" dirty="0"/>
          </a:p>
        </p:txBody>
      </p:sp>
      <p:sp>
        <p:nvSpPr>
          <p:cNvPr id="140" name="Google Shape;140;p17"/>
          <p:cNvSpPr txBox="1">
            <a:spLocks noGrp="1"/>
          </p:cNvSpPr>
          <p:nvPr>
            <p:ph type="subTitle" idx="1"/>
          </p:nvPr>
        </p:nvSpPr>
        <p:spPr>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13 – Operaciones entre conjuntos e identidades</a:t>
            </a:r>
          </a:p>
          <a:p>
            <a:pPr marL="0" lvl="0" indent="0" algn="ctr" rtl="0">
              <a:spcBef>
                <a:spcPts val="1000"/>
              </a:spcBef>
              <a:spcAft>
                <a:spcPts val="0"/>
              </a:spcAft>
              <a:buNone/>
            </a:pPr>
            <a:r>
              <a:rPr lang="es-CO" sz="2800" dirty="0"/>
              <a:t>Universidad de Antioquia</a:t>
            </a:r>
          </a:p>
          <a:p>
            <a:r>
              <a:rPr lang="es-CO" sz="2800" dirty="0"/>
              <a:t>Facultad de Ingeniería</a:t>
            </a:r>
          </a:p>
          <a:p>
            <a:r>
              <a:rPr lang="es-CO" sz="2800" dirty="0"/>
              <a:t>Ingeniería de Sistemas</a:t>
            </a:r>
          </a:p>
          <a:p>
            <a:pPr marL="0" lvl="0" indent="0" algn="ctr" rtl="0">
              <a:spcBef>
                <a:spcPts val="1000"/>
              </a:spcBef>
              <a:spcAft>
                <a:spcPts val="0"/>
              </a:spcAft>
              <a:buNone/>
            </a:pPr>
            <a:endParaRPr dirty="0">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53961" y="96038"/>
            <a:ext cx="8866689" cy="949500"/>
          </a:xfrm>
        </p:spPr>
        <p:txBody>
          <a:bodyPr/>
          <a:lstStyle/>
          <a:p>
            <a:r>
              <a:rPr lang="es-CO" dirty="0">
                <a:solidFill>
                  <a:schemeClr val="tx1"/>
                </a:solidFill>
                <a:latin typeface="+mj-lt"/>
              </a:rPr>
              <a:t>Operaciones entre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353962" y="985339"/>
            <a:ext cx="11606980" cy="492443"/>
          </a:xfrm>
          <a:prstGeom prst="rect">
            <a:avLst/>
          </a:prstGeom>
          <a:noFill/>
        </p:spPr>
        <p:txBody>
          <a:bodyPr wrap="square" rtlCol="0">
            <a:spAutoFit/>
          </a:bodyPr>
          <a:lstStyle/>
          <a:p>
            <a:r>
              <a:rPr lang="es-MX" sz="2600" b="1" dirty="0">
                <a:ea typeface="Roboto" panose="02000000000000000000" pitchFamily="2" charset="0"/>
              </a:rPr>
              <a:t>Sobre las operaciones entre conjuntos</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353961" y="1492531"/>
            <a:ext cx="11552901" cy="39201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Las operaciones entre conjuntos permiten combinar o modificar conjuntos para crear nuevos conjuntos. Las principales son:</a:t>
            </a:r>
          </a:p>
          <a:p>
            <a:r>
              <a:rPr lang="es-MX" sz="2200" dirty="0">
                <a:latin typeface="+mn-lt"/>
                <a:ea typeface="Roboto" panose="02000000000000000000" pitchFamily="2" charset="0"/>
              </a:rPr>
              <a:t>Unión</a:t>
            </a:r>
          </a:p>
          <a:p>
            <a:r>
              <a:rPr lang="es-MX" sz="2200" dirty="0">
                <a:latin typeface="+mn-lt"/>
                <a:ea typeface="Roboto" panose="02000000000000000000" pitchFamily="2" charset="0"/>
              </a:rPr>
              <a:t>Intersección.</a:t>
            </a:r>
          </a:p>
          <a:p>
            <a:r>
              <a:rPr lang="es-MX" sz="2200" dirty="0">
                <a:latin typeface="+mn-lt"/>
                <a:ea typeface="Roboto" panose="02000000000000000000" pitchFamily="2" charset="0"/>
              </a:rPr>
              <a:t>Diferencia de conjuntos.</a:t>
            </a:r>
          </a:p>
          <a:p>
            <a:r>
              <a:rPr lang="es-MX" sz="2200" dirty="0">
                <a:latin typeface="+mn-lt"/>
                <a:ea typeface="Roboto" panose="02000000000000000000" pitchFamily="2" charset="0"/>
              </a:rPr>
              <a:t>Complemento de un conjunto.</a:t>
            </a:r>
          </a:p>
          <a:p>
            <a:r>
              <a:rPr lang="es-MX" sz="2200" dirty="0">
                <a:latin typeface="+mn-lt"/>
                <a:ea typeface="Roboto" panose="02000000000000000000" pitchFamily="2" charset="0"/>
              </a:rPr>
              <a:t>Diferencia simétrica.</a:t>
            </a:r>
          </a:p>
          <a:p>
            <a:endParaRPr lang="es-MX" sz="2000" dirty="0">
              <a:latin typeface="+mn-lt"/>
              <a:ea typeface="Roboto" panose="02000000000000000000" pitchFamily="2" charset="0"/>
            </a:endParaRPr>
          </a:p>
        </p:txBody>
      </p:sp>
    </p:spTree>
    <p:extLst>
      <p:ext uri="{BB962C8B-B14F-4D97-AF65-F5344CB8AC3E}">
        <p14:creationId xmlns:p14="http://schemas.microsoft.com/office/powerpoint/2010/main" val="266416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408039" y="991085"/>
            <a:ext cx="11375921" cy="48758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a:pPr>
            <a:r>
              <a:rPr lang="es-MX" sz="2200" dirty="0">
                <a:latin typeface="+mn-lt"/>
                <a:ea typeface="Roboto" panose="02000000000000000000" pitchFamily="2" charset="0"/>
              </a:rPr>
              <a:t>La representación por comprensión y extensión de cada conjunto.</a:t>
            </a:r>
          </a:p>
          <a:p>
            <a:pPr marL="584200" indent="-457200">
              <a:buFont typeface="+mj-lt"/>
              <a:buAutoNum type="arabicPeriod"/>
            </a:pPr>
            <a:r>
              <a:rPr lang="es-MX" sz="2200" dirty="0">
                <a:latin typeface="+mn-lt"/>
                <a:ea typeface="Roboto" panose="02000000000000000000" pitchFamily="2" charset="0"/>
              </a:rPr>
              <a:t>El conjunto universal.</a:t>
            </a:r>
          </a:p>
          <a:p>
            <a:pPr marL="584200" indent="-457200">
              <a:buFont typeface="+mj-lt"/>
              <a:buAutoNum type="arabicPeriod"/>
            </a:pPr>
            <a:r>
              <a:rPr lang="es-MX" sz="2200" dirty="0">
                <a:latin typeface="+mn-lt"/>
                <a:ea typeface="Roboto" panose="02000000000000000000" pitchFamily="2" charset="0"/>
              </a:rPr>
              <a:t>Dibuje el diagrama de ven que represente el problema.</a:t>
            </a:r>
          </a:p>
          <a:p>
            <a:pPr marL="584200" indent="-457200">
              <a:buFont typeface="+mj-lt"/>
              <a:buAutoNum type="arabicPeriod"/>
            </a:pPr>
            <a:r>
              <a:rPr lang="es-MX" sz="2200" dirty="0">
                <a:latin typeface="+mn-lt"/>
                <a:ea typeface="Roboto" panose="02000000000000000000" pitchFamily="2" charset="0"/>
              </a:rPr>
              <a:t>Las letras que aparecen en cualquiera de los dos conjuntos.</a:t>
            </a:r>
          </a:p>
          <a:p>
            <a:pPr marL="584200" indent="-457200">
              <a:buFont typeface="+mj-lt"/>
              <a:buAutoNum type="arabicPeriod"/>
            </a:pPr>
            <a:r>
              <a:rPr lang="es-MX" sz="2200" dirty="0">
                <a:latin typeface="+mn-lt"/>
                <a:ea typeface="Roboto" panose="02000000000000000000" pitchFamily="2" charset="0"/>
              </a:rPr>
              <a:t>Las letras que aparecen en ambos conjuntos.</a:t>
            </a:r>
          </a:p>
          <a:p>
            <a:pPr marL="584200" indent="-457200">
              <a:buFont typeface="+mj-lt"/>
              <a:buAutoNum type="arabicPeriod"/>
            </a:pPr>
            <a:r>
              <a:rPr lang="es-MX" sz="2200" dirty="0">
                <a:latin typeface="+mn-lt"/>
                <a:ea typeface="Roboto" panose="02000000000000000000" pitchFamily="2" charset="0"/>
              </a:rPr>
              <a:t>Las que solo aparecen en el conjunto A pero que no están en el conjunto B.</a:t>
            </a:r>
          </a:p>
          <a:p>
            <a:pPr marL="584200" indent="-457200">
              <a:buFont typeface="+mj-lt"/>
              <a:buAutoNum type="arabicPeriod"/>
            </a:pPr>
            <a:r>
              <a:rPr lang="es-MX" sz="2200" dirty="0">
                <a:latin typeface="+mn-lt"/>
                <a:ea typeface="Roboto" panose="02000000000000000000" pitchFamily="2" charset="0"/>
              </a:rPr>
              <a:t>Las que solo aparecen en el conjunto B pero que no están en el conjunto A.</a:t>
            </a:r>
          </a:p>
          <a:p>
            <a:pPr marL="584200" indent="-457200">
              <a:buFont typeface="+mj-lt"/>
              <a:buAutoNum type="arabicPeriod"/>
            </a:pPr>
            <a:r>
              <a:rPr lang="es-MX" sz="2200" dirty="0">
                <a:latin typeface="+mn-lt"/>
                <a:ea typeface="Roboto" panose="02000000000000000000" pitchFamily="2" charset="0"/>
              </a:rPr>
              <a:t>Las letras que no se encuentran en A.</a:t>
            </a:r>
          </a:p>
          <a:p>
            <a:pPr marL="584200" indent="-457200">
              <a:buFont typeface="+mj-lt"/>
              <a:buAutoNum type="arabicPeriod"/>
            </a:pPr>
            <a:r>
              <a:rPr lang="es-MX" sz="2200" dirty="0">
                <a:latin typeface="+mn-lt"/>
                <a:ea typeface="Roboto" panose="02000000000000000000" pitchFamily="2" charset="0"/>
              </a:rPr>
              <a:t>Las letras que no se encuentran en B.</a:t>
            </a:r>
          </a:p>
          <a:p>
            <a:pPr marL="584200" indent="-457200">
              <a:buFont typeface="+mj-lt"/>
              <a:buAutoNum type="arabicPeriod"/>
            </a:pPr>
            <a:r>
              <a:rPr lang="es-MX" sz="2200" dirty="0">
                <a:latin typeface="+mn-lt"/>
                <a:ea typeface="Roboto" panose="02000000000000000000" pitchFamily="2" charset="0"/>
              </a:rPr>
              <a:t>Las letras que están solo en A o en B.</a:t>
            </a:r>
          </a:p>
        </p:txBody>
      </p:sp>
    </p:spTree>
    <p:extLst>
      <p:ext uri="{BB962C8B-B14F-4D97-AF65-F5344CB8AC3E}">
        <p14:creationId xmlns:p14="http://schemas.microsoft.com/office/powerpoint/2010/main" val="671241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76981" y="991085"/>
            <a:ext cx="11842954" cy="48758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a:pPr>
            <a:r>
              <a:rPr lang="es-MX" sz="2200" dirty="0">
                <a:latin typeface="+mn-lt"/>
                <a:ea typeface="Roboto" panose="02000000000000000000" pitchFamily="2" charset="0"/>
              </a:rPr>
              <a:t>La representación por comprensión y extensión de cada conjunto.</a:t>
            </a: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r>
              <a:rPr lang="es-MX" sz="2200" dirty="0">
                <a:latin typeface="+mn-lt"/>
                <a:ea typeface="Roboto" panose="02000000000000000000" pitchFamily="2" charset="0"/>
              </a:rPr>
              <a:t>El conjunto universal.</a:t>
            </a: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r>
              <a:rPr lang="es-MX" sz="2200" dirty="0">
                <a:latin typeface="+mn-lt"/>
                <a:ea typeface="Roboto" panose="02000000000000000000" pitchFamily="2" charset="0"/>
              </a:rPr>
              <a:t>Dibuje el diagrama de ven que represente el problema.</a:t>
            </a:r>
          </a:p>
        </p:txBody>
      </p:sp>
    </p:spTree>
    <p:extLst>
      <p:ext uri="{BB962C8B-B14F-4D97-AF65-F5344CB8AC3E}">
        <p14:creationId xmlns:p14="http://schemas.microsoft.com/office/powerpoint/2010/main" val="478962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68710" y="96038"/>
            <a:ext cx="8851940" cy="949500"/>
          </a:xfrm>
        </p:spPr>
        <p:txBody>
          <a:bodyPr/>
          <a:lstStyle/>
          <a:p>
            <a:r>
              <a:rPr lang="es-CO" dirty="0">
                <a:solidFill>
                  <a:schemeClr val="tx1"/>
                </a:solidFill>
                <a:latin typeface="+mj-lt"/>
              </a:rPr>
              <a:t>Operaciones entre conjuntos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19C6E9F-BCCF-4FD4-8EC3-574D66199786}"/>
                  </a:ext>
                </a:extLst>
              </p:cNvPr>
              <p:cNvSpPr txBox="1"/>
              <p:nvPr/>
            </p:nvSpPr>
            <p:spPr>
              <a:xfrm>
                <a:off x="501446" y="985339"/>
                <a:ext cx="11459496" cy="492443"/>
              </a:xfrm>
              <a:prstGeom prst="rect">
                <a:avLst/>
              </a:prstGeom>
              <a:noFill/>
            </p:spPr>
            <p:txBody>
              <a:bodyPr wrap="square" rtlCol="0">
                <a:spAutoFit/>
              </a:bodyPr>
              <a:lstStyle/>
              <a:p>
                <a:r>
                  <a:rPr lang="es-MX" sz="2600" b="1" dirty="0">
                    <a:solidFill>
                      <a:schemeClr val="tx1"/>
                    </a:solidFill>
                    <a:ea typeface="Roboto" panose="02000000000000000000" pitchFamily="2" charset="0"/>
                  </a:rPr>
                  <a:t>Unión (</a:t>
                </a:r>
                <a14:m>
                  <m:oMath xmlns:m="http://schemas.openxmlformats.org/officeDocument/2006/math">
                    <m:r>
                      <a:rPr lang="es-MX" sz="2600" b="1" i="1" smtClean="0">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Cambria Math" panose="02040503050406030204" pitchFamily="18" charset="0"/>
                      </a:rPr>
                      <m:t>∪</m:t>
                    </m:r>
                    <m:r>
                      <a:rPr lang="es-MX" sz="2600" b="1" i="1" smtClean="0">
                        <a:solidFill>
                          <a:schemeClr val="tx1"/>
                        </a:solidFill>
                        <a:latin typeface="Cambria Math" panose="02040503050406030204" pitchFamily="18" charset="0"/>
                        <a:ea typeface="Cambria Math" panose="02040503050406030204" pitchFamily="18" charset="0"/>
                      </a:rPr>
                      <m:t>𝑩</m:t>
                    </m:r>
                  </m:oMath>
                </a14:m>
                <a:r>
                  <a:rPr lang="es-MX" sz="2600" b="1" dirty="0">
                    <a:solidFill>
                      <a:schemeClr val="tx1"/>
                    </a:solidFill>
                    <a:ea typeface="Roboto" panose="02000000000000000000" pitchFamily="2" charset="0"/>
                  </a:rPr>
                  <a:t>)</a:t>
                </a:r>
              </a:p>
            </p:txBody>
          </p:sp>
        </mc:Choice>
        <mc:Fallback xmlns="">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501446" y="985339"/>
                <a:ext cx="11459496" cy="492443"/>
              </a:xfrm>
              <a:prstGeom prst="rect">
                <a:avLst/>
              </a:prstGeom>
              <a:blipFill>
                <a:blip r:embed="rId3"/>
                <a:stretch>
                  <a:fillRect l="-957" t="-11250" b="-3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368710" y="1477783"/>
                <a:ext cx="11326761" cy="27640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unión de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el conjunto de todos los elementos que pertenecen a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a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o a ambos.</a:t>
                </a:r>
              </a:p>
              <a:p>
                <a:pPr marL="127000" indent="0">
                  <a:buNone/>
                </a:pPr>
                <a:endParaRPr lang="es-MX" sz="2200" dirty="0">
                  <a:latin typeface="+mn-lt"/>
                  <a:ea typeface="Roboto" panose="02000000000000000000" pitchFamily="2"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368710" y="1477783"/>
                <a:ext cx="11326761" cy="2764018"/>
              </a:xfrm>
              <a:prstGeom prst="rect">
                <a:avLst/>
              </a:prstGeom>
              <a:blipFill>
                <a:blip r:embed="rId4"/>
                <a:stretch>
                  <a:fillRect/>
                </a:stretch>
              </a:blipFill>
              <a:ln>
                <a:noFill/>
              </a:ln>
            </p:spPr>
            <p:txBody>
              <a:bodyPr/>
              <a:lstStyle/>
              <a:p>
                <a:r>
                  <a:rPr lang="es-CO">
                    <a:noFill/>
                  </a:rPr>
                  <a:t> </a:t>
                </a:r>
              </a:p>
            </p:txBody>
          </p:sp>
        </mc:Fallback>
      </mc:AlternateContent>
      <p:pic>
        <p:nvPicPr>
          <p:cNvPr id="4" name="Imagen 3">
            <a:extLst>
              <a:ext uri="{FF2B5EF4-FFF2-40B4-BE49-F238E27FC236}">
                <a16:creationId xmlns:a16="http://schemas.microsoft.com/office/drawing/2014/main" id="{BC20E4E9-62D4-4A37-9915-F9AFDB4EC5B1}"/>
              </a:ext>
            </a:extLst>
          </p:cNvPr>
          <p:cNvPicPr>
            <a:picLocks noChangeAspect="1"/>
          </p:cNvPicPr>
          <p:nvPr/>
        </p:nvPicPr>
        <p:blipFill>
          <a:blip r:embed="rId5"/>
          <a:stretch>
            <a:fillRect/>
          </a:stretch>
        </p:blipFill>
        <p:spPr>
          <a:xfrm>
            <a:off x="3594114" y="4192479"/>
            <a:ext cx="4288034" cy="2569483"/>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1F8B108-D5A8-4460-ADB2-888D6A903DEA}"/>
                  </a:ext>
                </a:extLst>
              </p:cNvPr>
              <p:cNvSpPr txBox="1"/>
              <p:nvPr/>
            </p:nvSpPr>
            <p:spPr>
              <a:xfrm>
                <a:off x="4083351" y="3259723"/>
                <a:ext cx="3309560" cy="338554"/>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e>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oMath>
                  </m:oMathPara>
                </a14:m>
                <a:endParaRPr lang="es-MX" sz="22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01F8B108-D5A8-4460-ADB2-888D6A903DEA}"/>
                  </a:ext>
                </a:extLst>
              </p:cNvPr>
              <p:cNvSpPr txBox="1">
                <a:spLocks noRot="1" noChangeAspect="1" noMove="1" noResize="1" noEditPoints="1" noAdjustHandles="1" noChangeArrowheads="1" noChangeShapeType="1" noTextEdit="1"/>
              </p:cNvSpPr>
              <p:nvPr/>
            </p:nvSpPr>
            <p:spPr>
              <a:xfrm>
                <a:off x="4083351" y="3259723"/>
                <a:ext cx="3309560" cy="338554"/>
              </a:xfrm>
              <a:prstGeom prst="rect">
                <a:avLst/>
              </a:prstGeom>
              <a:blipFill>
                <a:blip r:embed="rId6"/>
                <a:stretch>
                  <a:fillRect l="-1473" b="-9091"/>
                </a:stretch>
              </a:blipFill>
            </p:spPr>
            <p:txBody>
              <a:bodyPr/>
              <a:lstStyle/>
              <a:p>
                <a:r>
                  <a:rPr lang="es-CO">
                    <a:noFill/>
                  </a:rPr>
                  <a:t> </a:t>
                </a:r>
              </a:p>
            </p:txBody>
          </p:sp>
        </mc:Fallback>
      </mc:AlternateContent>
    </p:spTree>
    <p:extLst>
      <p:ext uri="{BB962C8B-B14F-4D97-AF65-F5344CB8AC3E}">
        <p14:creationId xmlns:p14="http://schemas.microsoft.com/office/powerpoint/2010/main" val="3323282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98206" y="96038"/>
            <a:ext cx="8822444" cy="949500"/>
          </a:xfrm>
        </p:spPr>
        <p:txBody>
          <a:bodyPr/>
          <a:lstStyle/>
          <a:p>
            <a:r>
              <a:rPr lang="es-CO" dirty="0">
                <a:solidFill>
                  <a:schemeClr val="tx1"/>
                </a:solidFill>
                <a:latin typeface="+mj-lt"/>
              </a:rPr>
              <a:t>Operaciones entre conjuntos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19C6E9F-BCCF-4FD4-8EC3-574D66199786}"/>
                  </a:ext>
                </a:extLst>
              </p:cNvPr>
              <p:cNvSpPr txBox="1"/>
              <p:nvPr/>
            </p:nvSpPr>
            <p:spPr>
              <a:xfrm>
                <a:off x="398206" y="985339"/>
                <a:ext cx="11562736" cy="492443"/>
              </a:xfrm>
              <a:prstGeom prst="rect">
                <a:avLst/>
              </a:prstGeom>
              <a:noFill/>
            </p:spPr>
            <p:txBody>
              <a:bodyPr wrap="square" rtlCol="0">
                <a:spAutoFit/>
              </a:bodyPr>
              <a:lstStyle/>
              <a:p>
                <a:r>
                  <a:rPr lang="es-MX" sz="2600" b="1" dirty="0">
                    <a:solidFill>
                      <a:schemeClr val="tx1"/>
                    </a:solidFill>
                    <a:ea typeface="Roboto" panose="02000000000000000000" pitchFamily="2" charset="0"/>
                  </a:rPr>
                  <a:t>Intersección (</a:t>
                </a:r>
                <a14:m>
                  <m:oMath xmlns:m="http://schemas.openxmlformats.org/officeDocument/2006/math">
                    <m:r>
                      <a:rPr lang="es-MX" sz="2600" b="1" i="1" smtClean="0">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Cambria Math" panose="02040503050406030204" pitchFamily="18" charset="0"/>
                      </a:rPr>
                      <m:t>∩</m:t>
                    </m:r>
                    <m:r>
                      <a:rPr lang="es-MX" sz="2600" b="1" i="1" smtClean="0">
                        <a:solidFill>
                          <a:schemeClr val="tx1"/>
                        </a:solidFill>
                        <a:latin typeface="Cambria Math" panose="02040503050406030204" pitchFamily="18" charset="0"/>
                        <a:ea typeface="Cambria Math" panose="02040503050406030204" pitchFamily="18" charset="0"/>
                      </a:rPr>
                      <m:t>𝑩</m:t>
                    </m:r>
                  </m:oMath>
                </a14:m>
                <a:r>
                  <a:rPr lang="es-MX" sz="2600" b="1" dirty="0">
                    <a:solidFill>
                      <a:schemeClr val="tx1"/>
                    </a:solidFill>
                    <a:ea typeface="Roboto" panose="02000000000000000000" pitchFamily="2" charset="0"/>
                  </a:rPr>
                  <a:t>)</a:t>
                </a:r>
              </a:p>
            </p:txBody>
          </p:sp>
        </mc:Choice>
        <mc:Fallback xmlns="">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398206" y="985339"/>
                <a:ext cx="11562736" cy="492443"/>
              </a:xfrm>
              <a:prstGeom prst="rect">
                <a:avLst/>
              </a:prstGeom>
              <a:blipFill>
                <a:blip r:embed="rId3"/>
                <a:stretch>
                  <a:fillRect l="-949" t="-11250" b="-3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250723" y="1484515"/>
                <a:ext cx="11710219" cy="28783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intersección de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el conjunto de elementos que pertenecen a ambos conjuntos simultáneamente.</a:t>
                </a:r>
              </a:p>
              <a:p>
                <a:endParaRPr lang="es-MX" sz="2200" b="1" dirty="0">
                  <a:latin typeface="+mn-lt"/>
                  <a:ea typeface="Roboto" panose="02000000000000000000" pitchFamily="2"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lvl="1"/>
                <a:endParaRPr lang="es-MX"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250723" y="1484515"/>
                <a:ext cx="11710219" cy="2878318"/>
              </a:xfrm>
              <a:prstGeom prst="rect">
                <a:avLst/>
              </a:prstGeom>
              <a:blipFill>
                <a:blip r:embed="rId4"/>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F20BE0B-4DFD-4F2D-9A71-D1B0D1AD7515}"/>
                  </a:ext>
                </a:extLst>
              </p:cNvPr>
              <p:cNvSpPr txBox="1"/>
              <p:nvPr/>
            </p:nvSpPr>
            <p:spPr>
              <a:xfrm>
                <a:off x="3801048" y="3429000"/>
                <a:ext cx="3437801" cy="338554"/>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e>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oMath>
                  </m:oMathPara>
                </a14:m>
                <a:endParaRPr lang="es-MX" sz="22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CF20BE0B-4DFD-4F2D-9A71-D1B0D1AD7515}"/>
                  </a:ext>
                </a:extLst>
              </p:cNvPr>
              <p:cNvSpPr txBox="1">
                <a:spLocks noRot="1" noChangeAspect="1" noMove="1" noResize="1" noEditPoints="1" noAdjustHandles="1" noChangeArrowheads="1" noChangeShapeType="1" noTextEdit="1"/>
              </p:cNvSpPr>
              <p:nvPr/>
            </p:nvSpPr>
            <p:spPr>
              <a:xfrm>
                <a:off x="3801048" y="3429000"/>
                <a:ext cx="3437801" cy="338554"/>
              </a:xfrm>
              <a:prstGeom prst="rect">
                <a:avLst/>
              </a:prstGeom>
              <a:blipFill>
                <a:blip r:embed="rId5"/>
                <a:stretch>
                  <a:fillRect b="-7273"/>
                </a:stretch>
              </a:blipFill>
            </p:spPr>
            <p:txBody>
              <a:bodyPr/>
              <a:lstStyle/>
              <a:p>
                <a:r>
                  <a:rPr lang="es-CO">
                    <a:noFill/>
                  </a:rPr>
                  <a:t> </a:t>
                </a:r>
              </a:p>
            </p:txBody>
          </p:sp>
        </mc:Fallback>
      </mc:AlternateContent>
      <p:pic>
        <p:nvPicPr>
          <p:cNvPr id="4" name="Imagen 3">
            <a:extLst>
              <a:ext uri="{FF2B5EF4-FFF2-40B4-BE49-F238E27FC236}">
                <a16:creationId xmlns:a16="http://schemas.microsoft.com/office/drawing/2014/main" id="{835A20F8-7E12-4D28-AC2A-85186032E2C2}"/>
              </a:ext>
            </a:extLst>
          </p:cNvPr>
          <p:cNvPicPr>
            <a:picLocks noChangeAspect="1"/>
          </p:cNvPicPr>
          <p:nvPr/>
        </p:nvPicPr>
        <p:blipFill>
          <a:blip r:embed="rId6"/>
          <a:stretch>
            <a:fillRect/>
          </a:stretch>
        </p:blipFill>
        <p:spPr>
          <a:xfrm>
            <a:off x="3520957" y="4048072"/>
            <a:ext cx="4395241" cy="2650826"/>
          </a:xfrm>
          <a:prstGeom prst="rect">
            <a:avLst/>
          </a:prstGeom>
        </p:spPr>
      </p:pic>
    </p:spTree>
    <p:extLst>
      <p:ext uri="{BB962C8B-B14F-4D97-AF65-F5344CB8AC3E}">
        <p14:creationId xmlns:p14="http://schemas.microsoft.com/office/powerpoint/2010/main" val="3288140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21226" y="991085"/>
            <a:ext cx="11375921" cy="48758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584200" indent="-457200">
              <a:buFont typeface="+mj-lt"/>
              <a:buAutoNum type="arabicPeriod" startAt="4"/>
            </a:pPr>
            <a:r>
              <a:rPr lang="es-MX" sz="2200" dirty="0">
                <a:latin typeface="+mn-lt"/>
                <a:ea typeface="Roboto" panose="02000000000000000000" pitchFamily="2" charset="0"/>
              </a:rPr>
              <a:t>Las letras que aparecen en cualquiera de los dos conjuntos.</a:t>
            </a:r>
          </a:p>
          <a:p>
            <a:pPr marL="584200" indent="-457200">
              <a:buFont typeface="+mj-lt"/>
              <a:buAutoNum type="arabicPeriod" startAt="4"/>
            </a:pPr>
            <a:endParaRPr lang="es-MX" sz="2200" dirty="0">
              <a:latin typeface="+mn-lt"/>
              <a:ea typeface="Roboto" panose="02000000000000000000" pitchFamily="2" charset="0"/>
            </a:endParaRPr>
          </a:p>
          <a:p>
            <a:pPr marL="584200" indent="-457200">
              <a:buFont typeface="+mj-lt"/>
              <a:buAutoNum type="arabicPeriod" startAt="4"/>
            </a:pPr>
            <a:r>
              <a:rPr lang="es-MX" sz="2200" dirty="0">
                <a:latin typeface="+mn-lt"/>
                <a:ea typeface="Roboto" panose="02000000000000000000" pitchFamily="2" charset="0"/>
              </a:rPr>
              <a:t>Las letras que aparecen en ambos conjuntos.</a:t>
            </a:r>
          </a:p>
        </p:txBody>
      </p:sp>
    </p:spTree>
    <p:extLst>
      <p:ext uri="{BB962C8B-B14F-4D97-AF65-F5344CB8AC3E}">
        <p14:creationId xmlns:p14="http://schemas.microsoft.com/office/powerpoint/2010/main" val="2399015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96038"/>
            <a:ext cx="10830231" cy="949500"/>
          </a:xfrm>
        </p:spPr>
        <p:txBody>
          <a:bodyPr/>
          <a:lstStyle/>
          <a:p>
            <a:r>
              <a:rPr lang="es-CO" dirty="0">
                <a:solidFill>
                  <a:schemeClr val="tx1"/>
                </a:solidFill>
                <a:latin typeface="+mj-lt"/>
              </a:rPr>
              <a:t>Operaciones entre conjuntos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19C6E9F-BCCF-4FD4-8EC3-574D66199786}"/>
                  </a:ext>
                </a:extLst>
              </p:cNvPr>
              <p:cNvSpPr txBox="1"/>
              <p:nvPr/>
            </p:nvSpPr>
            <p:spPr>
              <a:xfrm>
                <a:off x="353962" y="985339"/>
                <a:ext cx="11606980" cy="492443"/>
              </a:xfrm>
              <a:prstGeom prst="rect">
                <a:avLst/>
              </a:prstGeom>
              <a:noFill/>
            </p:spPr>
            <p:txBody>
              <a:bodyPr wrap="square" rtlCol="0">
                <a:spAutoFit/>
              </a:bodyPr>
              <a:lstStyle/>
              <a:p>
                <a:r>
                  <a:rPr lang="es-MX" sz="2600" b="1" dirty="0">
                    <a:solidFill>
                      <a:schemeClr val="tx1"/>
                    </a:solidFill>
                    <a:ea typeface="Roboto" panose="02000000000000000000" pitchFamily="2" charset="0"/>
                  </a:rPr>
                  <a:t>Diferencia (</a:t>
                </a:r>
                <a14:m>
                  <m:oMath xmlns:m="http://schemas.openxmlformats.org/officeDocument/2006/math">
                    <m:r>
                      <a:rPr lang="es-MX" sz="2600" b="1" i="1">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Roboto" panose="02000000000000000000" pitchFamily="2" charset="0"/>
                      </a:rPr>
                      <m:t>−</m:t>
                    </m:r>
                    <m:r>
                      <a:rPr lang="es-MX" sz="2600" b="1" i="1" smtClean="0">
                        <a:solidFill>
                          <a:schemeClr val="tx1"/>
                        </a:solidFill>
                        <a:latin typeface="Cambria Math" panose="02040503050406030204" pitchFamily="18" charset="0"/>
                        <a:ea typeface="Roboto" panose="02000000000000000000" pitchFamily="2" charset="0"/>
                      </a:rPr>
                      <m:t>𝑩</m:t>
                    </m:r>
                  </m:oMath>
                </a14:m>
                <a:r>
                  <a:rPr lang="es-MX" sz="2600" b="1" dirty="0">
                    <a:solidFill>
                      <a:schemeClr val="tx1"/>
                    </a:solidFill>
                    <a:ea typeface="Roboto" panose="02000000000000000000" pitchFamily="2" charset="0"/>
                  </a:rPr>
                  <a:t> ó </a:t>
                </a:r>
                <a14:m>
                  <m:oMath xmlns:m="http://schemas.openxmlformats.org/officeDocument/2006/math">
                    <m:r>
                      <a:rPr lang="es-MX" sz="2600" b="1" i="1" smtClean="0">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Roboto" panose="02000000000000000000" pitchFamily="2" charset="0"/>
                      </a:rPr>
                      <m:t> \</m:t>
                    </m:r>
                    <m:r>
                      <m:rPr>
                        <m:lit/>
                      </m:rPr>
                      <a:rPr lang="es-MX" sz="2600" b="1" i="1" smtClean="0">
                        <a:solidFill>
                          <a:schemeClr val="tx1"/>
                        </a:solidFill>
                        <a:latin typeface="Cambria Math" panose="02040503050406030204" pitchFamily="18" charset="0"/>
                        <a:ea typeface="Cambria Math" panose="02040503050406030204" pitchFamily="18" charset="0"/>
                      </a:rPr>
                      <m:t> </m:t>
                    </m:r>
                    <m:r>
                      <a:rPr lang="es-MX" sz="2600" b="1" i="1" smtClean="0">
                        <a:solidFill>
                          <a:schemeClr val="tx1"/>
                        </a:solidFill>
                        <a:latin typeface="Cambria Math" panose="02040503050406030204" pitchFamily="18" charset="0"/>
                        <a:ea typeface="Cambria Math" panose="02040503050406030204" pitchFamily="18" charset="0"/>
                      </a:rPr>
                      <m:t>𝑩</m:t>
                    </m:r>
                  </m:oMath>
                </a14:m>
                <a:r>
                  <a:rPr lang="es-MX" sz="2600" b="1" dirty="0">
                    <a:solidFill>
                      <a:schemeClr val="tx1"/>
                    </a:solidFill>
                    <a:ea typeface="Roboto" panose="02000000000000000000" pitchFamily="2" charset="0"/>
                  </a:rPr>
                  <a:t>)</a:t>
                </a:r>
              </a:p>
            </p:txBody>
          </p:sp>
        </mc:Choice>
        <mc:Fallback xmlns="">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353962" y="985339"/>
                <a:ext cx="11606980" cy="492443"/>
              </a:xfrm>
              <a:prstGeom prst="rect">
                <a:avLst/>
              </a:prstGeom>
              <a:blipFill>
                <a:blip r:embed="rId3"/>
                <a:stretch>
                  <a:fillRect l="-945" t="-11250" b="-3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353962" y="1477783"/>
                <a:ext cx="11459496" cy="27222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diferencia (o complemento relativo) de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el conjunto de elementos que están en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pero no en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a:t>
                </a:r>
              </a:p>
              <a:p>
                <a:pPr marL="127000" indent="0">
                  <a:buNone/>
                </a:pPr>
                <a:r>
                  <a:rPr lang="es-MX" sz="2200" dirty="0">
                    <a:latin typeface="+mn-lt"/>
                    <a:ea typeface="Roboto" panose="02000000000000000000" pitchFamily="2" charset="0"/>
                  </a:rPr>
                  <a:t> </a:t>
                </a: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endParaRPr lang="es-MX" sz="2200" b="1" dirty="0">
                  <a:latin typeface="+mn-lt"/>
                  <a:ea typeface="Roboto" panose="02000000000000000000" pitchFamily="2" charset="0"/>
                </a:endParaRPr>
              </a:p>
              <a:p>
                <a:endParaRPr lang="es-MX" sz="2200" b="1" dirty="0">
                  <a:latin typeface="+mn-lt"/>
                  <a:ea typeface="Roboto" panose="02000000000000000000" pitchFamily="2" charset="0"/>
                </a:endParaRPr>
              </a:p>
              <a:p>
                <a:pPr lvl="1"/>
                <a:endParaRPr lang="es-MX"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353962" y="1477783"/>
                <a:ext cx="11459496" cy="2722236"/>
              </a:xfrm>
              <a:prstGeom prst="rect">
                <a:avLst/>
              </a:prstGeom>
              <a:blipFill>
                <a:blip r:embed="rId4"/>
                <a:stretch>
                  <a:fillRect r="-106"/>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16B97773-3F9C-4A18-ABB2-61AEE464493D}"/>
                  </a:ext>
                </a:extLst>
              </p:cNvPr>
              <p:cNvSpPr txBox="1"/>
              <p:nvPr/>
            </p:nvSpPr>
            <p:spPr>
              <a:xfrm>
                <a:off x="4353588" y="3451123"/>
                <a:ext cx="3460243" cy="338554"/>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e>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oMath>
                  </m:oMathPara>
                </a14:m>
                <a:endParaRPr lang="es-MX" sz="22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16B97773-3F9C-4A18-ABB2-61AEE464493D}"/>
                  </a:ext>
                </a:extLst>
              </p:cNvPr>
              <p:cNvSpPr txBox="1">
                <a:spLocks noRot="1" noChangeAspect="1" noMove="1" noResize="1" noEditPoints="1" noAdjustHandles="1" noChangeArrowheads="1" noChangeShapeType="1" noTextEdit="1"/>
              </p:cNvSpPr>
              <p:nvPr/>
            </p:nvSpPr>
            <p:spPr>
              <a:xfrm>
                <a:off x="4353588" y="3451123"/>
                <a:ext cx="3460243" cy="338554"/>
              </a:xfrm>
              <a:prstGeom prst="rect">
                <a:avLst/>
              </a:prstGeom>
              <a:blipFill>
                <a:blip r:embed="rId5"/>
                <a:stretch>
                  <a:fillRect b="-17857"/>
                </a:stretch>
              </a:blipFill>
            </p:spPr>
            <p:txBody>
              <a:bodyPr/>
              <a:lstStyle/>
              <a:p>
                <a:r>
                  <a:rPr lang="es-CO">
                    <a:noFill/>
                  </a:rPr>
                  <a:t> </a:t>
                </a:r>
              </a:p>
            </p:txBody>
          </p:sp>
        </mc:Fallback>
      </mc:AlternateContent>
      <p:pic>
        <p:nvPicPr>
          <p:cNvPr id="4" name="Imagen 3">
            <a:extLst>
              <a:ext uri="{FF2B5EF4-FFF2-40B4-BE49-F238E27FC236}">
                <a16:creationId xmlns:a16="http://schemas.microsoft.com/office/drawing/2014/main" id="{DB10C07B-19B4-49C3-ADD4-4D9617B63F8B}"/>
              </a:ext>
            </a:extLst>
          </p:cNvPr>
          <p:cNvPicPr>
            <a:picLocks noChangeAspect="1"/>
          </p:cNvPicPr>
          <p:nvPr/>
        </p:nvPicPr>
        <p:blipFill>
          <a:blip r:embed="rId6"/>
          <a:stretch>
            <a:fillRect/>
          </a:stretch>
        </p:blipFill>
        <p:spPr>
          <a:xfrm>
            <a:off x="3992702" y="4125742"/>
            <a:ext cx="3946040" cy="2636220"/>
          </a:xfrm>
          <a:prstGeom prst="rect">
            <a:avLst/>
          </a:prstGeom>
        </p:spPr>
      </p:pic>
    </p:spTree>
    <p:extLst>
      <p:ext uri="{BB962C8B-B14F-4D97-AF65-F5344CB8AC3E}">
        <p14:creationId xmlns:p14="http://schemas.microsoft.com/office/powerpoint/2010/main" val="3624167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91729" y="991085"/>
            <a:ext cx="11842955" cy="48758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584200" indent="-457200">
              <a:buFont typeface="+mj-lt"/>
              <a:buAutoNum type="arabicPeriod" startAt="6"/>
            </a:pPr>
            <a:r>
              <a:rPr lang="es-MX" sz="2200" dirty="0">
                <a:latin typeface="+mn-lt"/>
                <a:ea typeface="Roboto" panose="02000000000000000000" pitchFamily="2" charset="0"/>
              </a:rPr>
              <a:t>Las que solo aparecen en el conjunto A pero que no están en el conjunto B.</a:t>
            </a:r>
          </a:p>
          <a:p>
            <a:pPr marL="584200" indent="-457200">
              <a:buFont typeface="+mj-lt"/>
              <a:buAutoNum type="arabicPeriod" startAt="6"/>
            </a:pPr>
            <a:endParaRPr lang="es-MX" sz="2200" dirty="0">
              <a:latin typeface="+mn-lt"/>
              <a:ea typeface="Roboto" panose="02000000000000000000" pitchFamily="2" charset="0"/>
            </a:endParaRPr>
          </a:p>
          <a:p>
            <a:pPr marL="584200" indent="-457200">
              <a:buFont typeface="+mj-lt"/>
              <a:buAutoNum type="arabicPeriod" startAt="6"/>
            </a:pPr>
            <a:endParaRPr lang="es-MX" sz="2200" dirty="0">
              <a:latin typeface="+mn-lt"/>
              <a:ea typeface="Roboto" panose="02000000000000000000" pitchFamily="2" charset="0"/>
            </a:endParaRPr>
          </a:p>
          <a:p>
            <a:pPr marL="584200" indent="-457200">
              <a:buFont typeface="+mj-lt"/>
              <a:buAutoNum type="arabicPeriod" startAt="6"/>
            </a:pPr>
            <a:r>
              <a:rPr lang="es-MX" sz="2200" dirty="0">
                <a:latin typeface="+mn-lt"/>
                <a:ea typeface="Roboto" panose="02000000000000000000" pitchFamily="2" charset="0"/>
              </a:rPr>
              <a:t>Las que solo aparecen en el conjunto B pero que no están en el conjunto A.</a:t>
            </a:r>
          </a:p>
        </p:txBody>
      </p:sp>
    </p:spTree>
    <p:extLst>
      <p:ext uri="{BB962C8B-B14F-4D97-AF65-F5344CB8AC3E}">
        <p14:creationId xmlns:p14="http://schemas.microsoft.com/office/powerpoint/2010/main" val="3367739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58579" y="96038"/>
            <a:ext cx="8862071" cy="949500"/>
          </a:xfrm>
        </p:spPr>
        <p:txBody>
          <a:bodyPr/>
          <a:lstStyle/>
          <a:p>
            <a:r>
              <a:rPr lang="es-CO" dirty="0">
                <a:solidFill>
                  <a:schemeClr val="tx1"/>
                </a:solidFill>
                <a:latin typeface="+mj-lt"/>
              </a:rPr>
              <a:t>Operaciones entre conjuntos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19C6E9F-BCCF-4FD4-8EC3-574D66199786}"/>
                  </a:ext>
                </a:extLst>
              </p:cNvPr>
              <p:cNvSpPr txBox="1"/>
              <p:nvPr/>
            </p:nvSpPr>
            <p:spPr>
              <a:xfrm>
                <a:off x="418170" y="985340"/>
                <a:ext cx="11415251" cy="492443"/>
              </a:xfrm>
              <a:prstGeom prst="rect">
                <a:avLst/>
              </a:prstGeom>
              <a:noFill/>
            </p:spPr>
            <p:txBody>
              <a:bodyPr wrap="square" rtlCol="0">
                <a:spAutoFit/>
              </a:bodyPr>
              <a:lstStyle/>
              <a:p>
                <a:r>
                  <a:rPr lang="es-MX" sz="2600" b="1" dirty="0">
                    <a:solidFill>
                      <a:schemeClr val="tx1"/>
                    </a:solidFill>
                    <a:ea typeface="Roboto" panose="02000000000000000000" pitchFamily="2" charset="0"/>
                  </a:rPr>
                  <a:t>Complemento (</a:t>
                </a:r>
                <a14:m>
                  <m:oMath xmlns:m="http://schemas.openxmlformats.org/officeDocument/2006/math">
                    <m:sSup>
                      <m:sSupPr>
                        <m:ctrlPr>
                          <a:rPr lang="es-MX" sz="2600" b="1" i="1" smtClean="0">
                            <a:solidFill>
                              <a:schemeClr val="tx1"/>
                            </a:solidFill>
                            <a:latin typeface="Cambria Math" panose="02040503050406030204" pitchFamily="18" charset="0"/>
                            <a:ea typeface="Roboto" panose="02000000000000000000" pitchFamily="2" charset="0"/>
                          </a:rPr>
                        </m:ctrlPr>
                      </m:sSupPr>
                      <m:e>
                        <m:r>
                          <a:rPr lang="es-MX" sz="2600" b="1" i="1">
                            <a:solidFill>
                              <a:schemeClr val="tx1"/>
                            </a:solidFill>
                            <a:latin typeface="Cambria Math" panose="02040503050406030204" pitchFamily="18" charset="0"/>
                            <a:ea typeface="Roboto" panose="02000000000000000000" pitchFamily="2" charset="0"/>
                          </a:rPr>
                          <m:t>𝑨</m:t>
                        </m:r>
                      </m:e>
                      <m:sup>
                        <m:r>
                          <a:rPr lang="es-MX" sz="2600" b="1" i="1" smtClean="0">
                            <a:solidFill>
                              <a:schemeClr val="tx1"/>
                            </a:solidFill>
                            <a:latin typeface="Cambria Math" panose="02040503050406030204" pitchFamily="18" charset="0"/>
                            <a:ea typeface="Roboto" panose="02000000000000000000" pitchFamily="2" charset="0"/>
                          </a:rPr>
                          <m:t>𝒄</m:t>
                        </m:r>
                      </m:sup>
                    </m:sSup>
                  </m:oMath>
                </a14:m>
                <a:r>
                  <a:rPr lang="es-MX" sz="2600" b="1" dirty="0">
                    <a:solidFill>
                      <a:schemeClr val="tx1"/>
                    </a:solidFill>
                    <a:ea typeface="Roboto" panose="02000000000000000000" pitchFamily="2" charset="0"/>
                  </a:rPr>
                  <a:t> ó </a:t>
                </a:r>
                <a14:m>
                  <m:oMath xmlns:m="http://schemas.openxmlformats.org/officeDocument/2006/math">
                    <m:r>
                      <a:rPr lang="es-MX" sz="2600" b="1" i="1" smtClean="0">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Roboto" panose="02000000000000000000" pitchFamily="2" charset="0"/>
                      </a:rPr>
                      <m:t>′</m:t>
                    </m:r>
                  </m:oMath>
                </a14:m>
                <a:r>
                  <a:rPr lang="es-MX" sz="2600" b="1" dirty="0">
                    <a:solidFill>
                      <a:schemeClr val="tx1"/>
                    </a:solidFill>
                    <a:ea typeface="Roboto" panose="02000000000000000000" pitchFamily="2" charset="0"/>
                  </a:rPr>
                  <a:t> ó </a:t>
                </a:r>
                <a14:m>
                  <m:oMath xmlns:m="http://schemas.openxmlformats.org/officeDocument/2006/math">
                    <m:acc>
                      <m:accPr>
                        <m:chr m:val="̅"/>
                        <m:ctrlPr>
                          <a:rPr lang="es-MX" sz="2600" b="1" i="1" smtClean="0">
                            <a:solidFill>
                              <a:schemeClr val="tx1"/>
                            </a:solidFill>
                            <a:latin typeface="Cambria Math" panose="02040503050406030204" pitchFamily="18" charset="0"/>
                            <a:ea typeface="Roboto" panose="02000000000000000000" pitchFamily="2" charset="0"/>
                          </a:rPr>
                        </m:ctrlPr>
                      </m:accPr>
                      <m:e>
                        <m:r>
                          <a:rPr lang="es-MX" sz="2600" b="1" i="1">
                            <a:solidFill>
                              <a:schemeClr val="tx1"/>
                            </a:solidFill>
                            <a:latin typeface="Cambria Math" panose="02040503050406030204" pitchFamily="18" charset="0"/>
                            <a:ea typeface="Roboto" panose="02000000000000000000" pitchFamily="2" charset="0"/>
                          </a:rPr>
                          <m:t>𝑨</m:t>
                        </m:r>
                      </m:e>
                    </m:acc>
                  </m:oMath>
                </a14:m>
                <a:r>
                  <a:rPr lang="es-MX" sz="2600" b="1" dirty="0">
                    <a:solidFill>
                      <a:schemeClr val="tx1"/>
                    </a:solidFill>
                    <a:ea typeface="Roboto" panose="02000000000000000000" pitchFamily="2" charset="0"/>
                  </a:rPr>
                  <a:t>)</a:t>
                </a:r>
              </a:p>
            </p:txBody>
          </p:sp>
        </mc:Choice>
        <mc:Fallback xmlns="">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418170" y="985340"/>
                <a:ext cx="11415251" cy="492443"/>
              </a:xfrm>
              <a:prstGeom prst="rect">
                <a:avLst/>
              </a:prstGeom>
              <a:blipFill>
                <a:blip r:embed="rId3"/>
                <a:stretch>
                  <a:fillRect l="-962" t="-11250" b="-3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358579" y="1477783"/>
                <a:ext cx="11602362" cy="23576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complemento de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a:t>
                </a:r>
                <a14:m>
                  <m:oMath xmlns:m="http://schemas.openxmlformats.org/officeDocument/2006/math">
                    <m:r>
                      <a:rPr lang="es-MX" sz="2200" i="1">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es el conjunto de elementos del universo </a:t>
                </a:r>
                <a14:m>
                  <m:oMath xmlns:m="http://schemas.openxmlformats.org/officeDocument/2006/math">
                    <m:r>
                      <a:rPr lang="es-MX" sz="2200" b="0" i="1" smtClean="0">
                        <a:latin typeface="Cambria Math" panose="02040503050406030204" pitchFamily="18" charset="0"/>
                        <a:ea typeface="Cambria Math" panose="02040503050406030204" pitchFamily="18" charset="0"/>
                      </a:rPr>
                      <m:t>𝑈</m:t>
                    </m:r>
                  </m:oMath>
                </a14:m>
                <a:r>
                  <a:rPr lang="es-MX" sz="2200" dirty="0">
                    <a:latin typeface="+mn-lt"/>
                    <a:ea typeface="Roboto" panose="02000000000000000000" pitchFamily="2" charset="0"/>
                  </a:rPr>
                  <a:t> que no pertenecen a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a:t>
                </a:r>
              </a:p>
              <a:p>
                <a:pPr marL="127000" indent="0">
                  <a:buNone/>
                </a:pPr>
                <a:endParaRPr lang="es-MX" sz="2200" dirty="0">
                  <a:latin typeface="+mn-lt"/>
                  <a:ea typeface="Roboto" panose="02000000000000000000" pitchFamily="2"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endParaRPr lang="es-MX" sz="2200" b="1" dirty="0">
                  <a:latin typeface="+mn-lt"/>
                  <a:ea typeface="Roboto" panose="02000000000000000000" pitchFamily="2" charset="0"/>
                </a:endParaRPr>
              </a:p>
              <a:p>
                <a:endParaRPr lang="es-MX" sz="2200" b="1" dirty="0">
                  <a:latin typeface="+mn-lt"/>
                  <a:ea typeface="Roboto" panose="02000000000000000000" pitchFamily="2" charset="0"/>
                </a:endParaRPr>
              </a:p>
              <a:p>
                <a:pPr lvl="1"/>
                <a:endParaRPr lang="es-MX"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358579" y="1477783"/>
                <a:ext cx="11602362" cy="2357618"/>
              </a:xfrm>
              <a:prstGeom prst="rect">
                <a:avLst/>
              </a:prstGeom>
              <a:blipFill>
                <a:blip r:embed="rId4"/>
                <a:stretch>
                  <a:fillRect/>
                </a:stretch>
              </a:blipFill>
              <a:ln>
                <a:noFill/>
              </a:ln>
            </p:spPr>
            <p:txBody>
              <a:bodyPr/>
              <a:lstStyle/>
              <a:p>
                <a:r>
                  <a:rPr lang="es-CO">
                    <a:noFill/>
                  </a:rPr>
                  <a:t> </a:t>
                </a:r>
              </a:p>
            </p:txBody>
          </p:sp>
        </mc:Fallback>
      </mc:AlternateContent>
      <p:pic>
        <p:nvPicPr>
          <p:cNvPr id="4" name="Imagen 3">
            <a:extLst>
              <a:ext uri="{FF2B5EF4-FFF2-40B4-BE49-F238E27FC236}">
                <a16:creationId xmlns:a16="http://schemas.microsoft.com/office/drawing/2014/main" id="{965A374F-ED7A-4228-BDCA-44F198D3902C}"/>
              </a:ext>
            </a:extLst>
          </p:cNvPr>
          <p:cNvPicPr>
            <a:picLocks noChangeAspect="1"/>
          </p:cNvPicPr>
          <p:nvPr/>
        </p:nvPicPr>
        <p:blipFill>
          <a:blip r:embed="rId5"/>
          <a:stretch>
            <a:fillRect/>
          </a:stretch>
        </p:blipFill>
        <p:spPr>
          <a:xfrm>
            <a:off x="4200332" y="3835401"/>
            <a:ext cx="3791335" cy="2610700"/>
          </a:xfrm>
          <a:prstGeom prst="rect">
            <a:avLst/>
          </a:prstGeom>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F97A43A-7318-47E9-A946-53A4B229A0C8}"/>
                  </a:ext>
                </a:extLst>
              </p:cNvPr>
              <p:cNvSpPr txBox="1"/>
              <p:nvPr/>
            </p:nvSpPr>
            <p:spPr>
              <a:xfrm>
                <a:off x="4171839" y="3233879"/>
                <a:ext cx="3819828" cy="338554"/>
              </a:xfrm>
              <a:prstGeom prst="rect">
                <a:avLst/>
              </a:prstGeom>
              <a:solidFill>
                <a:schemeClr val="bg1">
                  <a:lumMod val="95000"/>
                </a:schemeClr>
              </a:solidFill>
            </p:spPr>
            <p:txBody>
              <a:bodyPr wrap="none" lIns="0" tIns="0" rIns="0" bIns="0" rtlCol="0">
                <a:spAutoFit/>
              </a:bodyPr>
              <a:lstStyle/>
              <a:p>
                <a:pPr marL="127000" indent="0">
                  <a:buNone/>
                </a:pPr>
                <a14:m>
                  <m:oMathPara xmlns:m="http://schemas.openxmlformats.org/officeDocument/2006/math">
                    <m:oMathParaPr>
                      <m:jc m:val="centerGroup"/>
                    </m:oMathParaPr>
                    <m:oMath xmlns:m="http://schemas.openxmlformats.org/officeDocument/2006/math">
                      <m:sSup>
                        <m:sSupPr>
                          <m:ctrlPr>
                            <a:rPr lang="es-MX" sz="2200" i="1">
                              <a:latin typeface="Cambria Math" panose="02040503050406030204" pitchFamily="18" charset="0"/>
                              <a:ea typeface="Cambria Math" panose="02040503050406030204" pitchFamily="18" charset="0"/>
                            </a:rPr>
                          </m:ctrlPr>
                        </m:sSupPr>
                        <m:e>
                          <m:r>
                            <a:rPr lang="es-MX" sz="2200" i="1">
                              <a:latin typeface="Cambria Math" panose="02040503050406030204" pitchFamily="18" charset="0"/>
                            </a:rPr>
                            <m:t>𝐴</m:t>
                          </m:r>
                        </m:e>
                        <m:sup>
                          <m:r>
                            <a:rPr lang="es-MX" sz="2200" i="1">
                              <a:latin typeface="Cambria Math" panose="02040503050406030204" pitchFamily="18" charset="0"/>
                              <a:ea typeface="Cambria Math" panose="02040503050406030204" pitchFamily="18" charset="0"/>
                            </a:rPr>
                            <m:t>′</m:t>
                          </m:r>
                        </m:sup>
                      </m:sSup>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𝑈</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𝑈</m:t>
                          </m:r>
                        </m:e>
                        <m:e>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e>
                          </m:d>
                        </m:e>
                      </m:d>
                    </m:oMath>
                  </m:oMathPara>
                </a14:m>
                <a:endParaRPr lang="es-MX" sz="2200" dirty="0">
                  <a:latin typeface="Roboto" panose="02000000000000000000" pitchFamily="2" charset="0"/>
                  <a:ea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4F97A43A-7318-47E9-A946-53A4B229A0C8}"/>
                  </a:ext>
                </a:extLst>
              </p:cNvPr>
              <p:cNvSpPr txBox="1">
                <a:spLocks noRot="1" noChangeAspect="1" noMove="1" noResize="1" noEditPoints="1" noAdjustHandles="1" noChangeArrowheads="1" noChangeShapeType="1" noTextEdit="1"/>
              </p:cNvSpPr>
              <p:nvPr/>
            </p:nvSpPr>
            <p:spPr>
              <a:xfrm>
                <a:off x="4171839" y="3233879"/>
                <a:ext cx="3819828" cy="338554"/>
              </a:xfrm>
              <a:prstGeom prst="rect">
                <a:avLst/>
              </a:prstGeom>
              <a:blipFill>
                <a:blip r:embed="rId6"/>
                <a:stretch>
                  <a:fillRect b="-17857"/>
                </a:stretch>
              </a:blipFill>
            </p:spPr>
            <p:txBody>
              <a:bodyPr/>
              <a:lstStyle/>
              <a:p>
                <a:r>
                  <a:rPr lang="es-CO">
                    <a:noFill/>
                  </a:rPr>
                  <a:t> </a:t>
                </a:r>
              </a:p>
            </p:txBody>
          </p:sp>
        </mc:Fallback>
      </mc:AlternateContent>
    </p:spTree>
    <p:extLst>
      <p:ext uri="{BB962C8B-B14F-4D97-AF65-F5344CB8AC3E}">
        <p14:creationId xmlns:p14="http://schemas.microsoft.com/office/powerpoint/2010/main" val="492496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91729" y="991085"/>
            <a:ext cx="11375921" cy="560144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startAt="8"/>
            </a:pPr>
            <a:r>
              <a:rPr lang="es-MX" sz="2200" dirty="0">
                <a:latin typeface="+mn-lt"/>
                <a:ea typeface="Roboto" panose="02000000000000000000" pitchFamily="2" charset="0"/>
              </a:rPr>
              <a:t>Las letras que no se encuentran en A.</a:t>
            </a: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r>
              <a:rPr lang="es-MX" sz="2200" dirty="0">
                <a:latin typeface="+mn-lt"/>
                <a:ea typeface="Roboto" panose="02000000000000000000" pitchFamily="2" charset="0"/>
              </a:rPr>
              <a:t>Las letras que no se encuentran en B.</a:t>
            </a: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endParaRPr lang="es-MX" sz="2200" dirty="0">
              <a:latin typeface="+mn-lt"/>
              <a:ea typeface="Roboto" panose="02000000000000000000" pitchFamily="2" charset="0"/>
            </a:endParaRPr>
          </a:p>
          <a:p>
            <a:pPr marL="584200" indent="-457200">
              <a:buFont typeface="+mj-lt"/>
              <a:buAutoNum type="arabicPeriod" startAt="8"/>
            </a:pPr>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160599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71948" y="96038"/>
            <a:ext cx="8748702" cy="949500"/>
          </a:xfrm>
        </p:spPr>
        <p:txBody>
          <a:bodyPr/>
          <a:lstStyle/>
          <a:p>
            <a:r>
              <a:rPr lang="es-CO" dirty="0">
                <a:solidFill>
                  <a:schemeClr val="tx1"/>
                </a:solidFill>
                <a:latin typeface="+mj-lt"/>
              </a:rPr>
              <a:t>Operaciones entre conjuntos</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19C6E9F-BCCF-4FD4-8EC3-574D66199786}"/>
                  </a:ext>
                </a:extLst>
              </p:cNvPr>
              <p:cNvSpPr txBox="1"/>
              <p:nvPr/>
            </p:nvSpPr>
            <p:spPr>
              <a:xfrm>
                <a:off x="471948" y="985339"/>
                <a:ext cx="11488993" cy="492443"/>
              </a:xfrm>
              <a:prstGeom prst="rect">
                <a:avLst/>
              </a:prstGeom>
              <a:noFill/>
            </p:spPr>
            <p:txBody>
              <a:bodyPr wrap="square" rtlCol="0">
                <a:spAutoFit/>
              </a:bodyPr>
              <a:lstStyle/>
              <a:p>
                <a:r>
                  <a:rPr lang="es-MX" sz="2600" b="1" dirty="0">
                    <a:solidFill>
                      <a:schemeClr val="tx1"/>
                    </a:solidFill>
                    <a:ea typeface="Roboto" panose="02000000000000000000" pitchFamily="2" charset="0"/>
                  </a:rPr>
                  <a:t>Diferencia simétrica (</a:t>
                </a:r>
                <a14:m>
                  <m:oMath xmlns:m="http://schemas.openxmlformats.org/officeDocument/2006/math">
                    <m:r>
                      <a:rPr lang="es-MX" sz="2600" b="1" i="1">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Cambria Math" panose="02040503050406030204" pitchFamily="18" charset="0"/>
                      </a:rPr>
                      <m:t>⊕</m:t>
                    </m:r>
                    <m:r>
                      <a:rPr lang="es-MX" sz="2600" b="1" i="1" smtClean="0">
                        <a:solidFill>
                          <a:schemeClr val="tx1"/>
                        </a:solidFill>
                        <a:latin typeface="Cambria Math" panose="02040503050406030204" pitchFamily="18" charset="0"/>
                        <a:ea typeface="Roboto" panose="02000000000000000000" pitchFamily="2" charset="0"/>
                      </a:rPr>
                      <m:t>𝑩</m:t>
                    </m:r>
                  </m:oMath>
                </a14:m>
                <a:r>
                  <a:rPr lang="es-MX" sz="2600" b="1" dirty="0">
                    <a:solidFill>
                      <a:schemeClr val="tx1"/>
                    </a:solidFill>
                    <a:ea typeface="Roboto" panose="02000000000000000000" pitchFamily="2" charset="0"/>
                  </a:rPr>
                  <a:t> ó </a:t>
                </a:r>
                <a14:m>
                  <m:oMath xmlns:m="http://schemas.openxmlformats.org/officeDocument/2006/math">
                    <m:r>
                      <a:rPr lang="es-MX" sz="2600" b="1" i="1" smtClean="0">
                        <a:solidFill>
                          <a:schemeClr val="tx1"/>
                        </a:solidFill>
                        <a:latin typeface="Cambria Math" panose="02040503050406030204" pitchFamily="18" charset="0"/>
                        <a:ea typeface="Roboto" panose="02000000000000000000" pitchFamily="2" charset="0"/>
                      </a:rPr>
                      <m:t>𝑨</m:t>
                    </m:r>
                    <m:r>
                      <a:rPr lang="es-MX" sz="2600" b="1" i="1" smtClean="0">
                        <a:solidFill>
                          <a:schemeClr val="tx1"/>
                        </a:solidFill>
                        <a:latin typeface="Cambria Math" panose="02040503050406030204" pitchFamily="18" charset="0"/>
                        <a:ea typeface="Cambria Math" panose="02040503050406030204" pitchFamily="18" charset="0"/>
                      </a:rPr>
                      <m:t>△</m:t>
                    </m:r>
                    <m:r>
                      <a:rPr lang="es-MX" sz="2600" b="1" i="1" smtClean="0">
                        <a:solidFill>
                          <a:schemeClr val="tx1"/>
                        </a:solidFill>
                        <a:latin typeface="Cambria Math" panose="02040503050406030204" pitchFamily="18" charset="0"/>
                        <a:ea typeface="Cambria Math" panose="02040503050406030204" pitchFamily="18" charset="0"/>
                      </a:rPr>
                      <m:t>𝑩</m:t>
                    </m:r>
                  </m:oMath>
                </a14:m>
                <a:r>
                  <a:rPr lang="es-MX" sz="2600" b="1" dirty="0">
                    <a:solidFill>
                      <a:schemeClr val="tx1"/>
                    </a:solidFill>
                    <a:ea typeface="Roboto" panose="02000000000000000000" pitchFamily="2" charset="0"/>
                  </a:rPr>
                  <a:t>)</a:t>
                </a:r>
              </a:p>
            </p:txBody>
          </p:sp>
        </mc:Choice>
        <mc:Fallback xmlns="">
          <p:sp>
            <p:nvSpPr>
              <p:cNvPr id="10" name="CuadroTexto 9">
                <a:extLst>
                  <a:ext uri="{FF2B5EF4-FFF2-40B4-BE49-F238E27FC236}">
                    <a16:creationId xmlns:a16="http://schemas.microsoft.com/office/drawing/2014/main" id="{A19C6E9F-BCCF-4FD4-8EC3-574D66199786}"/>
                  </a:ext>
                </a:extLst>
              </p:cNvPr>
              <p:cNvSpPr txBox="1">
                <a:spLocks noRot="1" noChangeAspect="1" noMove="1" noResize="1" noEditPoints="1" noAdjustHandles="1" noChangeArrowheads="1" noChangeShapeType="1" noTextEdit="1"/>
              </p:cNvSpPr>
              <p:nvPr/>
            </p:nvSpPr>
            <p:spPr>
              <a:xfrm>
                <a:off x="471948" y="985339"/>
                <a:ext cx="11488993" cy="492443"/>
              </a:xfrm>
              <a:prstGeom prst="rect">
                <a:avLst/>
              </a:prstGeom>
              <a:blipFill>
                <a:blip r:embed="rId3"/>
                <a:stretch>
                  <a:fillRect l="-955" t="-11250" b="-3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74048116-F8B3-487E-B641-CCAA4370A901}"/>
                  </a:ext>
                </a:extLst>
              </p:cNvPr>
              <p:cNvSpPr txBox="1">
                <a:spLocks/>
              </p:cNvSpPr>
              <p:nvPr/>
            </p:nvSpPr>
            <p:spPr>
              <a:xfrm>
                <a:off x="471948" y="1477783"/>
                <a:ext cx="11488993" cy="12781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diferencia simétrica de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el conjunto de elementos que están en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o en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pero no en ambos.</a:t>
                </a:r>
              </a:p>
              <a:p>
                <a:pPr marL="127000" indent="0">
                  <a:buNone/>
                </a:pPr>
                <a:endParaRPr lang="es-MX" sz="2200" dirty="0">
                  <a:latin typeface="+mn-lt"/>
                  <a:ea typeface="Roboto" panose="02000000000000000000" pitchFamily="2"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pPr lvl="1"/>
                <a:endParaRPr lang="es-MX"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74048116-F8B3-487E-B641-CCAA4370A901}"/>
                  </a:ext>
                </a:extLst>
              </p:cNvPr>
              <p:cNvSpPr txBox="1">
                <a:spLocks noRot="1" noChangeAspect="1" noMove="1" noResize="1" noEditPoints="1" noAdjustHandles="1" noChangeArrowheads="1" noChangeShapeType="1" noTextEdit="1"/>
              </p:cNvSpPr>
              <p:nvPr/>
            </p:nvSpPr>
            <p:spPr>
              <a:xfrm>
                <a:off x="471948" y="1477783"/>
                <a:ext cx="11488993" cy="1278118"/>
              </a:xfrm>
              <a:prstGeom prst="rect">
                <a:avLst/>
              </a:prstGeom>
              <a:blipFill>
                <a:blip r:embed="rId4"/>
                <a:stretch>
                  <a:fillRect b="-40952"/>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D820D55-97C5-4D3A-95DE-137EB59AACC9}"/>
                  </a:ext>
                </a:extLst>
              </p:cNvPr>
              <p:cNvSpPr txBox="1"/>
              <p:nvPr/>
            </p:nvSpPr>
            <p:spPr>
              <a:xfrm>
                <a:off x="3680800" y="3613428"/>
                <a:ext cx="3398687" cy="338554"/>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oMath>
                  </m:oMathPara>
                </a14:m>
                <a:endParaRPr lang="es-CO" sz="2200" dirty="0"/>
              </a:p>
            </p:txBody>
          </p:sp>
        </mc:Choice>
        <mc:Fallback xmlns="">
          <p:sp>
            <p:nvSpPr>
              <p:cNvPr id="6" name="CuadroTexto 5">
                <a:extLst>
                  <a:ext uri="{FF2B5EF4-FFF2-40B4-BE49-F238E27FC236}">
                    <a16:creationId xmlns:a16="http://schemas.microsoft.com/office/drawing/2014/main" id="{CD820D55-97C5-4D3A-95DE-137EB59AACC9}"/>
                  </a:ext>
                </a:extLst>
              </p:cNvPr>
              <p:cNvSpPr txBox="1">
                <a:spLocks noRot="1" noChangeAspect="1" noMove="1" noResize="1" noEditPoints="1" noAdjustHandles="1" noChangeArrowheads="1" noChangeShapeType="1" noTextEdit="1"/>
              </p:cNvSpPr>
              <p:nvPr/>
            </p:nvSpPr>
            <p:spPr>
              <a:xfrm>
                <a:off x="3680800" y="3613428"/>
                <a:ext cx="3398687" cy="338554"/>
              </a:xfrm>
              <a:prstGeom prst="rect">
                <a:avLst/>
              </a:prstGeom>
              <a:blipFill>
                <a:blip r:embed="rId5"/>
                <a:stretch>
                  <a:fillRect l="-1436" b="-2363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9DE927D3-FAAE-4CC0-BAFE-590CAD8019C7}"/>
                  </a:ext>
                </a:extLst>
              </p:cNvPr>
              <p:cNvSpPr txBox="1"/>
              <p:nvPr/>
            </p:nvSpPr>
            <p:spPr>
              <a:xfrm>
                <a:off x="2433952" y="5210940"/>
                <a:ext cx="5874750" cy="338554"/>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e>
                        <m:e>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e>
                          </m:d>
                        </m:e>
                      </m:d>
                    </m:oMath>
                  </m:oMathPara>
                </a14:m>
                <a:endParaRPr lang="es-CO" sz="2200" dirty="0"/>
              </a:p>
            </p:txBody>
          </p:sp>
        </mc:Choice>
        <mc:Fallback xmlns="">
          <p:sp>
            <p:nvSpPr>
              <p:cNvPr id="12" name="CuadroTexto 11">
                <a:extLst>
                  <a:ext uri="{FF2B5EF4-FFF2-40B4-BE49-F238E27FC236}">
                    <a16:creationId xmlns:a16="http://schemas.microsoft.com/office/drawing/2014/main" id="{9DE927D3-FAAE-4CC0-BAFE-590CAD8019C7}"/>
                  </a:ext>
                </a:extLst>
              </p:cNvPr>
              <p:cNvSpPr txBox="1">
                <a:spLocks noRot="1" noChangeAspect="1" noMove="1" noResize="1" noEditPoints="1" noAdjustHandles="1" noChangeArrowheads="1" noChangeShapeType="1" noTextEdit="1"/>
              </p:cNvSpPr>
              <p:nvPr/>
            </p:nvSpPr>
            <p:spPr>
              <a:xfrm>
                <a:off x="2433952" y="5210940"/>
                <a:ext cx="5874750" cy="338554"/>
              </a:xfrm>
              <a:prstGeom prst="rect">
                <a:avLst/>
              </a:prstGeom>
              <a:blipFill>
                <a:blip r:embed="rId6"/>
                <a:stretch>
                  <a:fillRect l="-622" b="-2363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2D4F892-4706-49A6-BE46-2D373C7724EE}"/>
                  </a:ext>
                </a:extLst>
              </p:cNvPr>
              <p:cNvSpPr txBox="1"/>
              <p:nvPr/>
            </p:nvSpPr>
            <p:spPr>
              <a:xfrm>
                <a:off x="3663167" y="4412184"/>
                <a:ext cx="3416320" cy="338554"/>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e>
                      </m:d>
                    </m:oMath>
                  </m:oMathPara>
                </a14:m>
                <a:endParaRPr lang="es-CO" sz="2200" dirty="0"/>
              </a:p>
            </p:txBody>
          </p:sp>
        </mc:Choice>
        <mc:Fallback xmlns="">
          <p:sp>
            <p:nvSpPr>
              <p:cNvPr id="13" name="CuadroTexto 12">
                <a:extLst>
                  <a:ext uri="{FF2B5EF4-FFF2-40B4-BE49-F238E27FC236}">
                    <a16:creationId xmlns:a16="http://schemas.microsoft.com/office/drawing/2014/main" id="{92D4F892-4706-49A6-BE46-2D373C7724EE}"/>
                  </a:ext>
                </a:extLst>
              </p:cNvPr>
              <p:cNvSpPr txBox="1">
                <a:spLocks noRot="1" noChangeAspect="1" noMove="1" noResize="1" noEditPoints="1" noAdjustHandles="1" noChangeArrowheads="1" noChangeShapeType="1" noTextEdit="1"/>
              </p:cNvSpPr>
              <p:nvPr/>
            </p:nvSpPr>
            <p:spPr>
              <a:xfrm>
                <a:off x="3663167" y="4412184"/>
                <a:ext cx="3416320" cy="338554"/>
              </a:xfrm>
              <a:prstGeom prst="rect">
                <a:avLst/>
              </a:prstGeom>
              <a:blipFill>
                <a:blip r:embed="rId7"/>
                <a:stretch>
                  <a:fillRect l="-1429" b="-23636"/>
                </a:stretch>
              </a:blipFill>
            </p:spPr>
            <p:txBody>
              <a:bodyPr/>
              <a:lstStyle/>
              <a:p>
                <a:r>
                  <a:rPr lang="es-CO">
                    <a:noFill/>
                  </a:rPr>
                  <a:t> </a:t>
                </a:r>
              </a:p>
            </p:txBody>
          </p:sp>
        </mc:Fallback>
      </mc:AlternateContent>
    </p:spTree>
    <p:extLst>
      <p:ext uri="{BB962C8B-B14F-4D97-AF65-F5344CB8AC3E}">
        <p14:creationId xmlns:p14="http://schemas.microsoft.com/office/powerpoint/2010/main" val="2957273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Operaciones entre conjuntos - Ejemplo</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50723" y="991085"/>
            <a:ext cx="11592232" cy="54097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Sea A el conjunto de todas las letras que conforman la palabra calculo ‘calculo’ y B el conjunto asociado de letras que aparecen en ‘matemáticas discretas’. Determine:</a:t>
            </a:r>
          </a:p>
          <a:p>
            <a:pPr marL="584200" indent="-457200">
              <a:buFont typeface="+mj-lt"/>
              <a:buAutoNum type="arabicPeriod" startAt="10"/>
            </a:pPr>
            <a:endParaRPr lang="es-MX" sz="2200" dirty="0">
              <a:latin typeface="+mn-lt"/>
              <a:ea typeface="Roboto" panose="02000000000000000000" pitchFamily="2" charset="0"/>
            </a:endParaRPr>
          </a:p>
          <a:p>
            <a:pPr marL="584200" indent="-457200">
              <a:buFont typeface="+mj-lt"/>
              <a:buAutoNum type="arabicPeriod" startAt="10"/>
            </a:pPr>
            <a:endParaRPr lang="es-MX" sz="2200" dirty="0">
              <a:latin typeface="+mn-lt"/>
              <a:ea typeface="Roboto" panose="02000000000000000000" pitchFamily="2" charset="0"/>
            </a:endParaRPr>
          </a:p>
          <a:p>
            <a:pPr marL="584200" indent="-457200">
              <a:buFont typeface="+mj-lt"/>
              <a:buAutoNum type="arabicPeriod" startAt="10"/>
            </a:pPr>
            <a:endParaRPr lang="es-MX" sz="2200" dirty="0">
              <a:latin typeface="+mn-lt"/>
              <a:ea typeface="Roboto" panose="02000000000000000000" pitchFamily="2" charset="0"/>
            </a:endParaRPr>
          </a:p>
          <a:p>
            <a:pPr marL="584200" indent="-457200">
              <a:buFont typeface="+mj-lt"/>
              <a:buAutoNum type="arabicPeriod" startAt="10"/>
            </a:pPr>
            <a:endParaRPr lang="es-MX" sz="2200" dirty="0">
              <a:latin typeface="+mn-lt"/>
              <a:ea typeface="Roboto" panose="02000000000000000000" pitchFamily="2" charset="0"/>
            </a:endParaRPr>
          </a:p>
          <a:p>
            <a:pPr marL="584200" indent="-457200">
              <a:buFont typeface="+mj-lt"/>
              <a:buAutoNum type="arabicPeriod" startAt="10"/>
            </a:pPr>
            <a:endParaRPr lang="es-MX" sz="2200" dirty="0">
              <a:latin typeface="+mn-lt"/>
              <a:ea typeface="Roboto" panose="02000000000000000000" pitchFamily="2" charset="0"/>
            </a:endParaRPr>
          </a:p>
          <a:p>
            <a:pPr marL="584200" indent="-457200">
              <a:buFont typeface="+mj-lt"/>
              <a:buAutoNum type="arabicPeriod" startAt="10"/>
            </a:pPr>
            <a:r>
              <a:rPr lang="es-MX" sz="2200" dirty="0">
                <a:latin typeface="+mn-lt"/>
                <a:ea typeface="Roboto" panose="02000000000000000000" pitchFamily="2" charset="0"/>
              </a:rPr>
              <a:t>Las letras que están solo en A o en B.</a:t>
            </a:r>
          </a:p>
        </p:txBody>
      </p:sp>
    </p:spTree>
    <p:extLst>
      <p:ext uri="{BB962C8B-B14F-4D97-AF65-F5344CB8AC3E}">
        <p14:creationId xmlns:p14="http://schemas.microsoft.com/office/powerpoint/2010/main" val="2161102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70960" y="46480"/>
            <a:ext cx="11044291" cy="949500"/>
          </a:xfrm>
        </p:spPr>
        <p:txBody>
          <a:bodyPr/>
          <a:lstStyle/>
          <a:p>
            <a:r>
              <a:rPr lang="es-CO" dirty="0">
                <a:solidFill>
                  <a:schemeClr val="tx1"/>
                </a:solidFill>
                <a:latin typeface="+mj-lt"/>
              </a:rPr>
              <a:t>Operaciones entre conjuntos - Resumen</a:t>
            </a:r>
          </a:p>
        </p:txBody>
      </p:sp>
      <mc:AlternateContent xmlns:mc="http://schemas.openxmlformats.org/markup-compatibility/2006" xmlns:a14="http://schemas.microsoft.com/office/drawing/2010/main">
        <mc:Choice Requires="a14">
          <p:graphicFrame>
            <p:nvGraphicFramePr>
              <p:cNvPr id="12" name="Tabla 4">
                <a:extLst>
                  <a:ext uri="{FF2B5EF4-FFF2-40B4-BE49-F238E27FC236}">
                    <a16:creationId xmlns:a16="http://schemas.microsoft.com/office/drawing/2014/main" id="{F59169A5-5CF2-4611-AC44-B0246806BF37}"/>
                  </a:ext>
                </a:extLst>
              </p:cNvPr>
              <p:cNvGraphicFramePr>
                <a:graphicFrameLocks noGrp="1"/>
              </p:cNvGraphicFramePr>
              <p:nvPr>
                <p:extLst>
                  <p:ext uri="{D42A27DB-BD31-4B8C-83A1-F6EECF244321}">
                    <p14:modId xmlns:p14="http://schemas.microsoft.com/office/powerpoint/2010/main" val="849422801"/>
                  </p:ext>
                </p:extLst>
              </p:nvPr>
            </p:nvGraphicFramePr>
            <p:xfrm>
              <a:off x="259611" y="995980"/>
              <a:ext cx="11702273" cy="5516880"/>
            </p:xfrm>
            <a:graphic>
              <a:graphicData uri="http://schemas.openxmlformats.org/drawingml/2006/table">
                <a:tbl>
                  <a:tblPr firstRow="1" bandRow="1">
                    <a:tableStyleId>{AD6A3598-7CB8-4345-8D95-17CE05F158A0}</a:tableStyleId>
                  </a:tblPr>
                  <a:tblGrid>
                    <a:gridCol w="1771140">
                      <a:extLst>
                        <a:ext uri="{9D8B030D-6E8A-4147-A177-3AD203B41FA5}">
                          <a16:colId xmlns:a16="http://schemas.microsoft.com/office/drawing/2014/main" val="3517824357"/>
                        </a:ext>
                      </a:extLst>
                    </a:gridCol>
                    <a:gridCol w="4723496">
                      <a:extLst>
                        <a:ext uri="{9D8B030D-6E8A-4147-A177-3AD203B41FA5}">
                          <a16:colId xmlns:a16="http://schemas.microsoft.com/office/drawing/2014/main" val="2272156606"/>
                        </a:ext>
                      </a:extLst>
                    </a:gridCol>
                    <a:gridCol w="3263452">
                      <a:extLst>
                        <a:ext uri="{9D8B030D-6E8A-4147-A177-3AD203B41FA5}">
                          <a16:colId xmlns:a16="http://schemas.microsoft.com/office/drawing/2014/main" val="2212776800"/>
                        </a:ext>
                      </a:extLst>
                    </a:gridCol>
                    <a:gridCol w="1944185">
                      <a:extLst>
                        <a:ext uri="{9D8B030D-6E8A-4147-A177-3AD203B41FA5}">
                          <a16:colId xmlns:a16="http://schemas.microsoft.com/office/drawing/2014/main" val="25054674"/>
                        </a:ext>
                      </a:extLst>
                    </a:gridCol>
                  </a:tblGrid>
                  <a:tr h="0">
                    <a:tc>
                      <a:txBody>
                        <a:bodyPr/>
                        <a:lstStyle/>
                        <a:p>
                          <a:r>
                            <a:rPr lang="es-CO" sz="2000" b="1" dirty="0">
                              <a:latin typeface="+mn-lt"/>
                              <a:ea typeface="Roboto" panose="02000000000000000000" pitchFamily="2" charset="0"/>
                            </a:rPr>
                            <a:t>Operación</a:t>
                          </a:r>
                        </a:p>
                      </a:txBody>
                      <a:tcPr>
                        <a:solidFill>
                          <a:schemeClr val="bg1">
                            <a:lumMod val="95000"/>
                          </a:schemeClr>
                        </a:solidFill>
                      </a:tcPr>
                    </a:tc>
                    <a:tc>
                      <a:txBody>
                        <a:bodyPr/>
                        <a:lstStyle/>
                        <a:p>
                          <a:endParaRPr lang="es-CO" sz="2000" b="1" dirty="0">
                            <a:latin typeface="+mn-lt"/>
                            <a:ea typeface="Roboto" panose="02000000000000000000" pitchFamily="2" charset="0"/>
                          </a:endParaRPr>
                        </a:p>
                      </a:txBody>
                      <a:tcPr>
                        <a:solidFill>
                          <a:schemeClr val="bg1">
                            <a:lumMod val="95000"/>
                          </a:schemeClr>
                        </a:solidFill>
                      </a:tcPr>
                    </a:tc>
                    <a:tc>
                      <a:txBody>
                        <a:bodyPr/>
                        <a:lstStyle/>
                        <a:p>
                          <a:r>
                            <a:rPr lang="es-CO" sz="2000" b="1" dirty="0">
                              <a:latin typeface="+mn-lt"/>
                              <a:ea typeface="Roboto" panose="02000000000000000000" pitchFamily="2" charset="0"/>
                            </a:rPr>
                            <a:t>Definición</a:t>
                          </a:r>
                        </a:p>
                      </a:txBody>
                      <a:tcPr>
                        <a:solidFill>
                          <a:schemeClr val="bg1">
                            <a:lumMod val="95000"/>
                          </a:schemeClr>
                        </a:solidFill>
                      </a:tcPr>
                    </a:tc>
                    <a:tc>
                      <a:txBody>
                        <a:bodyPr/>
                        <a:lstStyle/>
                        <a:p>
                          <a:r>
                            <a:rPr lang="es-CO" sz="2000" b="1" dirty="0">
                              <a:latin typeface="+mn-lt"/>
                              <a:ea typeface="Roboto" panose="02000000000000000000" pitchFamily="2" charset="0"/>
                            </a:rPr>
                            <a:t>Ejemplo</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2000" b="1" dirty="0">
                              <a:latin typeface="+mn-lt"/>
                              <a:ea typeface="Roboto" panose="02000000000000000000" pitchFamily="2" charset="0"/>
                            </a:rPr>
                            <a:t>Unión</a:t>
                          </a: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e>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e>
                                </m:d>
                              </m:oMath>
                            </m:oMathPara>
                          </a14:m>
                          <a:endParaRPr lang="es-CO" sz="1800" dirty="0">
                            <a:latin typeface="+mn-lt"/>
                            <a:ea typeface="Roboto" panose="02000000000000000000" pitchFamily="2" charset="0"/>
                          </a:endParaRPr>
                        </a:p>
                      </a:txBody>
                      <a:tcPr/>
                    </a:tc>
                    <a:tc>
                      <a:txBody>
                        <a:bodyPr/>
                        <a:lstStyle/>
                        <a:p>
                          <a:pPr lvl="0" algn="l"/>
                          <a:r>
                            <a:rPr lang="es-MX" sz="2000" dirty="0">
                              <a:latin typeface="+mn-lt"/>
                              <a:ea typeface="Roboto" panose="02000000000000000000" pitchFamily="2" charset="0"/>
                            </a:rPr>
                            <a:t>Conjunto de elementos que están en A o en B (o en ambos)</a:t>
                          </a:r>
                          <a:endParaRPr lang="es-CO" sz="2000" dirty="0">
                            <a:latin typeface="+mn-lt"/>
                            <a:ea typeface="Roboto" panose="02000000000000000000" pitchFamily="2" charset="0"/>
                          </a:endParaRPr>
                        </a:p>
                      </a:txBody>
                      <a:tcPr/>
                    </a:tc>
                    <a:tc>
                      <a:txBody>
                        <a:bodyPr/>
                        <a:lstStyle/>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m:t>
                                    </m:r>
                                  </m:e>
                                </m:d>
                              </m:oMath>
                            </m:oMathPara>
                          </a14:m>
                          <a:endParaRPr lang="es-MX" sz="1800" b="0" i="1" dirty="0">
                            <a:latin typeface="Cambria Math" panose="02040503050406030204" pitchFamily="18" charset="0"/>
                            <a:ea typeface="Roboto" panose="02000000000000000000" pitchFamily="2" charset="0"/>
                          </a:endParaRPr>
                        </a:p>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2,3</m:t>
                                    </m:r>
                                  </m:e>
                                </m:d>
                              </m:oMath>
                            </m:oMathPara>
                          </a14:m>
                          <a:endParaRPr lang="es-MX" sz="18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1,2,3</m:t>
                                    </m:r>
                                  </m:e>
                                </m:d>
                              </m:oMath>
                            </m:oMathPara>
                          </a14:m>
                          <a:endParaRPr lang="es-MX" sz="1800" b="0" i="1" dirty="0">
                            <a:latin typeface="+mn-lt"/>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2000" b="1" dirty="0">
                              <a:latin typeface="+mn-lt"/>
                              <a:ea typeface="Roboto" panose="02000000000000000000" pitchFamily="2" charset="0"/>
                            </a:rPr>
                            <a:t>Intersección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e>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e>
                                </m:d>
                              </m:oMath>
                            </m:oMathPara>
                          </a14:m>
                          <a:endParaRPr lang="es-CO" sz="1800" dirty="0">
                            <a:latin typeface="+mn-lt"/>
                            <a:ea typeface="Roboto" panose="02000000000000000000" pitchFamily="2" charset="0"/>
                          </a:endParaRPr>
                        </a:p>
                        <a:p>
                          <a:endParaRPr lang="es-CO" sz="1800" dirty="0">
                            <a:latin typeface="+mn-lt"/>
                            <a:ea typeface="Roboto" panose="02000000000000000000" pitchFamily="2" charset="0"/>
                          </a:endParaRPr>
                        </a:p>
                      </a:txBody>
                      <a:tcPr/>
                    </a:tc>
                    <a:tc>
                      <a:txBody>
                        <a:bodyPr/>
                        <a:lstStyle/>
                        <a:p>
                          <a:pPr lvl="0" algn="l"/>
                          <a:r>
                            <a:rPr lang="es-MX" sz="2000" dirty="0">
                              <a:latin typeface="+mn-lt"/>
                              <a:ea typeface="Roboto" panose="02000000000000000000" pitchFamily="2" charset="0"/>
                            </a:rPr>
                            <a:t>Conjunto de elementos que están tanto en A como en B</a:t>
                          </a:r>
                          <a:endParaRPr lang="es-CO" sz="2000" dirty="0">
                            <a:latin typeface="+mn-lt"/>
                            <a:ea typeface="Roboto" panose="02000000000000000000" pitchFamily="2" charset="0"/>
                          </a:endParaRPr>
                        </a:p>
                      </a:txBody>
                      <a:tcPr/>
                    </a:tc>
                    <a:tc>
                      <a:txBody>
                        <a:bodyPr/>
                        <a:lstStyle/>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m:t>
                                    </m:r>
                                  </m:e>
                                </m:d>
                              </m:oMath>
                            </m:oMathPara>
                          </a14:m>
                          <a:endParaRPr lang="es-MX" sz="1800" b="0" i="1" dirty="0">
                            <a:latin typeface="+mn-lt"/>
                            <a:ea typeface="Roboto" panose="02000000000000000000" pitchFamily="2" charset="0"/>
                          </a:endParaRPr>
                        </a:p>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2,3</m:t>
                                    </m:r>
                                  </m:e>
                                </m:d>
                              </m:oMath>
                            </m:oMathPara>
                          </a14:m>
                          <a:endParaRPr lang="es-MX" sz="18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2</m:t>
                                    </m:r>
                                  </m:e>
                                </m:d>
                              </m:oMath>
                            </m:oMathPara>
                          </a14:m>
                          <a:endParaRPr lang="es-MX" sz="1800" b="0" i="1" dirty="0">
                            <a:latin typeface="+mn-lt"/>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2000" b="1" dirty="0">
                              <a:latin typeface="+mn-lt"/>
                              <a:ea typeface="Roboto" panose="02000000000000000000" pitchFamily="2" charset="0"/>
                            </a:rPr>
                            <a:t>Diferencia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e>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e>
                                </m:d>
                              </m:oMath>
                            </m:oMathPara>
                          </a14:m>
                          <a:endParaRPr lang="es-CO" sz="1800" dirty="0">
                            <a:latin typeface="+mn-lt"/>
                            <a:ea typeface="Roboto" panose="02000000000000000000" pitchFamily="2" charset="0"/>
                          </a:endParaRPr>
                        </a:p>
                        <a:p>
                          <a:endParaRPr lang="es-CO" sz="1800" dirty="0">
                            <a:latin typeface="+mn-lt"/>
                            <a:ea typeface="Roboto" panose="02000000000000000000" pitchFamily="2" charset="0"/>
                          </a:endParaRPr>
                        </a:p>
                      </a:txBody>
                      <a:tcPr/>
                    </a:tc>
                    <a:tc>
                      <a:txBody>
                        <a:bodyPr/>
                        <a:lstStyle/>
                        <a:p>
                          <a:pPr lvl="0" algn="l"/>
                          <a:r>
                            <a:rPr lang="es-MX" sz="2000" dirty="0">
                              <a:latin typeface="+mn-lt"/>
                              <a:ea typeface="Roboto" panose="02000000000000000000" pitchFamily="2" charset="0"/>
                            </a:rPr>
                            <a:t>Conjunto de elementos que están en A pero no en B</a:t>
                          </a:r>
                          <a:endParaRPr lang="es-CO" sz="2000" dirty="0">
                            <a:latin typeface="+mn-lt"/>
                            <a:ea typeface="Roboto" panose="02000000000000000000" pitchFamily="2" charset="0"/>
                          </a:endParaRPr>
                        </a:p>
                      </a:txBody>
                      <a:tcPr/>
                    </a:tc>
                    <a:tc>
                      <a:txBody>
                        <a:bodyPr/>
                        <a:lstStyle/>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1,2,3</m:t>
                                    </m:r>
                                  </m:e>
                                </m:d>
                              </m:oMath>
                            </m:oMathPara>
                          </a14:m>
                          <a:endParaRPr lang="es-MX" sz="1800" b="0" i="1" dirty="0">
                            <a:latin typeface="+mn-lt"/>
                            <a:ea typeface="Roboto" panose="02000000000000000000" pitchFamily="2" charset="0"/>
                          </a:endParaRPr>
                        </a:p>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2</m:t>
                                    </m:r>
                                  </m:e>
                                </m:d>
                              </m:oMath>
                            </m:oMathPara>
                          </a14:m>
                          <a:endParaRPr lang="es-MX" sz="1800" b="0" i="1"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1,3</m:t>
                                    </m:r>
                                  </m:e>
                                </m:d>
                              </m:oMath>
                            </m:oMathPara>
                          </a14:m>
                          <a:endParaRPr lang="es-MX" sz="1800" b="0" dirty="0">
                            <a:latin typeface="+mn-lt"/>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d>
                                <m:r>
                                  <a:rPr lang="es-MX" sz="1800" b="0" i="1" smtClean="0">
                                    <a:latin typeface="Cambria Math" panose="02040503050406030204" pitchFamily="18" charset="0"/>
                                    <a:ea typeface="Roboto" panose="02000000000000000000" pitchFamily="2" charset="0"/>
                                  </a:rPr>
                                  <m:t>=∅</m:t>
                                </m:r>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682340052"/>
                      </a:ext>
                    </a:extLst>
                  </a:tr>
                  <a:tr h="243775">
                    <a:tc>
                      <a:txBody>
                        <a:bodyPr/>
                        <a:lstStyle/>
                        <a:p>
                          <a:r>
                            <a:rPr lang="es-CO" sz="2000" b="1" dirty="0">
                              <a:latin typeface="+mn-lt"/>
                              <a:ea typeface="Roboto" panose="02000000000000000000" pitchFamily="2" charset="0"/>
                            </a:rPr>
                            <a:t>Diferencia simétrica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e>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e>
                                    </m:d>
                                    <m:r>
                                      <a:rPr lang="es-MX" sz="1800" b="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e>
                                    </m:d>
                                  </m:e>
                                </m:d>
                              </m:oMath>
                            </m:oMathPara>
                          </a14:m>
                          <a:endParaRPr lang="es-CO" sz="1800" dirty="0">
                            <a:latin typeface="+mn-lt"/>
                            <a:ea typeface="Roboto" panose="02000000000000000000" pitchFamily="2" charset="0"/>
                          </a:endParaRPr>
                        </a:p>
                        <a:p>
                          <a:endParaRPr lang="es-CO" sz="1800" dirty="0">
                            <a:latin typeface="+mn-lt"/>
                            <a:ea typeface="Roboto" panose="02000000000000000000" pitchFamily="2" charset="0"/>
                          </a:endParaRPr>
                        </a:p>
                      </a:txBody>
                      <a:tcPr/>
                    </a:tc>
                    <a:tc>
                      <a:txBody>
                        <a:bodyPr/>
                        <a:lstStyle/>
                        <a:p>
                          <a:pPr lvl="0" algn="l"/>
                          <a:r>
                            <a:rPr lang="es-MX" sz="2000" dirty="0">
                              <a:latin typeface="+mn-lt"/>
                              <a:ea typeface="Roboto" panose="02000000000000000000" pitchFamily="2" charset="0"/>
                            </a:rPr>
                            <a:t>Conjunto de elementos que están en A o en B, pero no en ambos</a:t>
                          </a:r>
                          <a:endParaRPr lang="es-CO" sz="2000" dirty="0">
                            <a:latin typeface="+mn-lt"/>
                            <a:ea typeface="Roboto" panose="02000000000000000000" pitchFamily="2" charset="0"/>
                          </a:endParaRPr>
                        </a:p>
                      </a:txBody>
                      <a:tcPr/>
                    </a:tc>
                    <a:tc>
                      <a:txBody>
                        <a:bodyPr/>
                        <a:lstStyle/>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m:t>
                                    </m:r>
                                  </m:e>
                                </m:d>
                              </m:oMath>
                            </m:oMathPara>
                          </a14:m>
                          <a:endParaRPr lang="es-MX" sz="1800" b="0" i="1" dirty="0">
                            <a:latin typeface="+mn-lt"/>
                            <a:ea typeface="Roboto" panose="02000000000000000000" pitchFamily="2" charset="0"/>
                          </a:endParaRPr>
                        </a:p>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2,3</m:t>
                                    </m:r>
                                  </m:e>
                                </m:d>
                              </m:oMath>
                            </m:oMathPara>
                          </a14:m>
                          <a:endParaRPr lang="es-MX" sz="1800" b="0" i="1" dirty="0">
                            <a:latin typeface="+mn-lt"/>
                            <a:ea typeface="Roboto" panose="02000000000000000000" pitchFamily="2" charset="0"/>
                          </a:endParaRPr>
                        </a:p>
                        <a:p>
                          <a:pPr marL="0" marR="0" lvl="0" indent="-45720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1,3</m:t>
                                    </m:r>
                                  </m:e>
                                </m:d>
                              </m:oMath>
                            </m:oMathPara>
                          </a14:m>
                          <a:endParaRPr lang="es-MX" sz="1800" b="0" i="1" dirty="0">
                            <a:latin typeface="+mn-lt"/>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2000" b="1" dirty="0">
                              <a:latin typeface="+mn-lt"/>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1800" b="0" i="1" smtClean="0">
                                        <a:latin typeface="Cambria Math" panose="02040503050406030204" pitchFamily="18" charset="0"/>
                                        <a:ea typeface="Roboto" panose="02000000000000000000" pitchFamily="2" charset="0"/>
                                      </a:rPr>
                                    </m:ctrlPr>
                                  </m:sSupPr>
                                  <m:e>
                                    <m:r>
                                      <a:rPr lang="es-MX" sz="1800" b="0" i="1" smtClean="0">
                                        <a:latin typeface="Cambria Math" panose="02040503050406030204" pitchFamily="18" charset="0"/>
                                        <a:ea typeface="Roboto" panose="02000000000000000000" pitchFamily="2" charset="0"/>
                                      </a:rPr>
                                      <m:t>𝐴</m:t>
                                    </m:r>
                                  </m:e>
                                  <m:sup>
                                    <m:r>
                                      <a:rPr lang="es-MX" sz="1800" b="0" i="1" smtClean="0">
                                        <a:latin typeface="Cambria Math" panose="02040503050406030204" pitchFamily="18" charset="0"/>
                                        <a:ea typeface="Roboto" panose="02000000000000000000" pitchFamily="2" charset="0"/>
                                      </a:rPr>
                                      <m:t>′</m:t>
                                    </m:r>
                                  </m:sup>
                                </m:sSup>
                                <m:r>
                                  <a:rPr lang="es-MX" sz="1800" b="0" i="1" smtClean="0">
                                    <a:latin typeface="Cambria Math" panose="02040503050406030204" pitchFamily="18" charset="0"/>
                                    <a:ea typeface="Cambria Math" panose="02040503050406030204" pitchFamily="18" charset="0"/>
                                  </a:rPr>
                                  <m:t>=</m:t>
                                </m:r>
                                <m:sSup>
                                  <m:sSupPr>
                                    <m:ctrlPr>
                                      <a:rPr lang="es-MX" sz="1800" b="0" i="1" smtClean="0">
                                        <a:latin typeface="Cambria Math" panose="02040503050406030204" pitchFamily="18" charset="0"/>
                                        <a:ea typeface="Cambria Math" panose="02040503050406030204" pitchFamily="18" charset="0"/>
                                      </a:rPr>
                                    </m:ctrlPr>
                                  </m:sSupPr>
                                  <m:e>
                                    <m:r>
                                      <a:rPr lang="es-MX" sz="1800" b="0" i="1" smtClean="0">
                                        <a:latin typeface="Cambria Math" panose="02040503050406030204" pitchFamily="18" charset="0"/>
                                        <a:ea typeface="Cambria Math" panose="02040503050406030204" pitchFamily="18" charset="0"/>
                                      </a:rPr>
                                      <m:t>𝐴</m:t>
                                    </m:r>
                                  </m:e>
                                  <m:sup>
                                    <m:r>
                                      <a:rPr lang="es-MX" sz="1800" b="0" i="1" smtClean="0">
                                        <a:latin typeface="Cambria Math" panose="02040503050406030204" pitchFamily="18" charset="0"/>
                                        <a:ea typeface="Cambria Math" panose="02040503050406030204" pitchFamily="18" charset="0"/>
                                      </a:rPr>
                                      <m:t>𝐶</m:t>
                                    </m:r>
                                  </m:sup>
                                </m:sSup>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𝑈</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𝐴</m:t>
                                </m:r>
                              </m:oMath>
                            </m:oMathPara>
                          </a14:m>
                          <a:endParaRPr lang="es-CO" sz="1800" dirty="0">
                            <a:latin typeface="+mn-lt"/>
                            <a:ea typeface="Roboto" panose="02000000000000000000" pitchFamily="2" charset="0"/>
                          </a:endParaRPr>
                        </a:p>
                        <a:p>
                          <a:endParaRPr lang="es-CO" sz="1800" dirty="0">
                            <a:latin typeface="+mn-lt"/>
                            <a:ea typeface="Roboto" panose="02000000000000000000" pitchFamily="2" charset="0"/>
                          </a:endParaRPr>
                        </a:p>
                      </a:txBody>
                      <a:tcPr/>
                    </a:tc>
                    <a:tc>
                      <a:txBody>
                        <a:bodyPr/>
                        <a:lstStyle/>
                        <a:p>
                          <a:pPr lvl="0" algn="l"/>
                          <a:r>
                            <a:rPr lang="es-MX" sz="2000" dirty="0">
                              <a:latin typeface="+mn-lt"/>
                              <a:ea typeface="Roboto" panose="02000000000000000000" pitchFamily="2" charset="0"/>
                            </a:rPr>
                            <a:t>Conjunto de elementos que están en el universo pero no en A</a:t>
                          </a:r>
                          <a:endParaRPr lang="es-CO" sz="2000" dirty="0">
                            <a:latin typeface="+mn-lt"/>
                            <a:ea typeface="Roboto" panose="02000000000000000000" pitchFamily="2" charset="0"/>
                          </a:endParaRPr>
                        </a:p>
                      </a:txBody>
                      <a:tcPr/>
                    </a:tc>
                    <a:tc>
                      <a:txBody>
                        <a:bodyPr/>
                        <a:lstStyle/>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𝑈</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1,2,3</m:t>
                                    </m:r>
                                  </m:e>
                                </m:d>
                              </m:oMath>
                            </m:oMathPara>
                          </a14:m>
                          <a:endParaRPr lang="es-MX" sz="1800" b="0" i="1" dirty="0">
                            <a:latin typeface="+mn-lt"/>
                            <a:ea typeface="Roboto" panose="02000000000000000000" pitchFamily="2" charset="0"/>
                          </a:endParaRPr>
                        </a:p>
                        <a:p>
                          <a:pPr lvl="0" algn="l"/>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m:t>
                                    </m:r>
                                  </m:e>
                                </m:d>
                              </m:oMath>
                            </m:oMathPara>
                          </a14:m>
                          <a:endParaRPr lang="es-MX" sz="1800" b="0" i="1" dirty="0">
                            <a:latin typeface="+mn-lt"/>
                            <a:ea typeface="Roboto" panose="02000000000000000000" pitchFamily="2" charset="0"/>
                          </a:endParaRPr>
                        </a:p>
                        <a:p>
                          <a:pPr marL="0" marR="0" lvl="0" indent="-45720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sSup>
                                  <m:sSupPr>
                                    <m:ctrlPr>
                                      <a:rPr lang="es-MX" sz="1800" b="0" i="1" smtClean="0">
                                        <a:latin typeface="Cambria Math" panose="02040503050406030204" pitchFamily="18" charset="0"/>
                                        <a:ea typeface="Cambria Math" panose="02040503050406030204" pitchFamily="18" charset="0"/>
                                      </a:rPr>
                                    </m:ctrlPr>
                                  </m:sSupPr>
                                  <m:e>
                                    <m:r>
                                      <a:rPr lang="es-MX" sz="1800" b="0" i="1" smtClean="0">
                                        <a:latin typeface="Cambria Math" panose="02040503050406030204" pitchFamily="18" charset="0"/>
                                        <a:ea typeface="Roboto" panose="02000000000000000000" pitchFamily="2" charset="0"/>
                                      </a:rPr>
                                      <m:t>𝐴</m:t>
                                    </m:r>
                                  </m:e>
                                  <m:sup>
                                    <m:r>
                                      <a:rPr lang="es-MX" sz="1800" b="0" i="1" smtClean="0">
                                        <a:latin typeface="Cambria Math" panose="02040503050406030204" pitchFamily="18" charset="0"/>
                                        <a:ea typeface="Cambria Math" panose="02040503050406030204" pitchFamily="18" charset="0"/>
                                      </a:rPr>
                                      <m:t>′</m:t>
                                    </m:r>
                                  </m:sup>
                                </m:sSup>
                                <m:r>
                                  <a:rPr lang="es-MX" sz="1800" b="0" i="1" smtClean="0">
                                    <a:latin typeface="Cambria Math" panose="02040503050406030204" pitchFamily="18" charset="0"/>
                                    <a:ea typeface="Cambria Math" panose="02040503050406030204" pitchFamily="18" charset="0"/>
                                  </a:rPr>
                                  <m:t>=</m:t>
                                </m:r>
                                <m:sSup>
                                  <m:sSupPr>
                                    <m:ctrlPr>
                                      <a:rPr lang="es-MX" sz="1800" b="0" i="1" smtClean="0">
                                        <a:latin typeface="Cambria Math" panose="02040503050406030204" pitchFamily="18" charset="0"/>
                                        <a:ea typeface="Cambria Math" panose="02040503050406030204" pitchFamily="18" charset="0"/>
                                      </a:rPr>
                                    </m:ctrlPr>
                                  </m:sSupPr>
                                  <m:e>
                                    <m:r>
                                      <a:rPr lang="es-MX" sz="1800" b="0" i="1" smtClean="0">
                                        <a:latin typeface="Cambria Math" panose="02040503050406030204" pitchFamily="18" charset="0"/>
                                        <a:ea typeface="Cambria Math" panose="02040503050406030204" pitchFamily="18" charset="0"/>
                                      </a:rPr>
                                      <m:t>𝐴</m:t>
                                    </m:r>
                                  </m:e>
                                  <m:sup>
                                    <m:r>
                                      <a:rPr lang="es-MX" sz="1800" b="0" i="1" smtClean="0">
                                        <a:latin typeface="Cambria Math" panose="02040503050406030204" pitchFamily="18" charset="0"/>
                                        <a:ea typeface="Cambria Math" panose="02040503050406030204" pitchFamily="18" charset="0"/>
                                      </a:rPr>
                                      <m:t>𝐶</m:t>
                                    </m:r>
                                  </m:sup>
                                </m:sSup>
                                <m:r>
                                  <a:rPr lang="es-MX" sz="1800" b="0" i="1" smtClean="0">
                                    <a:latin typeface="Cambria Math" panose="02040503050406030204" pitchFamily="18" charset="0"/>
                                    <a:ea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3</m:t>
                                    </m:r>
                                  </m:e>
                                </m:d>
                              </m:oMath>
                            </m:oMathPara>
                          </a14:m>
                          <a:endParaRPr lang="es-MX" sz="1800" b="0" i="1" dirty="0">
                            <a:latin typeface="+mn-lt"/>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xmlns="">
          <p:graphicFrame>
            <p:nvGraphicFramePr>
              <p:cNvPr id="12" name="Tabla 4">
                <a:extLst>
                  <a:ext uri="{FF2B5EF4-FFF2-40B4-BE49-F238E27FC236}">
                    <a16:creationId xmlns:a16="http://schemas.microsoft.com/office/drawing/2014/main" id="{F59169A5-5CF2-4611-AC44-B0246806BF37}"/>
                  </a:ext>
                </a:extLst>
              </p:cNvPr>
              <p:cNvGraphicFramePr>
                <a:graphicFrameLocks noGrp="1"/>
              </p:cNvGraphicFramePr>
              <p:nvPr>
                <p:extLst>
                  <p:ext uri="{D42A27DB-BD31-4B8C-83A1-F6EECF244321}">
                    <p14:modId xmlns:p14="http://schemas.microsoft.com/office/powerpoint/2010/main" val="849422801"/>
                  </p:ext>
                </p:extLst>
              </p:nvPr>
            </p:nvGraphicFramePr>
            <p:xfrm>
              <a:off x="259611" y="995980"/>
              <a:ext cx="11702273" cy="5516880"/>
            </p:xfrm>
            <a:graphic>
              <a:graphicData uri="http://schemas.openxmlformats.org/drawingml/2006/table">
                <a:tbl>
                  <a:tblPr firstRow="1" bandRow="1">
                    <a:tableStyleId>{AD6A3598-7CB8-4345-8D95-17CE05F158A0}</a:tableStyleId>
                  </a:tblPr>
                  <a:tblGrid>
                    <a:gridCol w="1771140">
                      <a:extLst>
                        <a:ext uri="{9D8B030D-6E8A-4147-A177-3AD203B41FA5}">
                          <a16:colId xmlns:a16="http://schemas.microsoft.com/office/drawing/2014/main" val="3517824357"/>
                        </a:ext>
                      </a:extLst>
                    </a:gridCol>
                    <a:gridCol w="4723496">
                      <a:extLst>
                        <a:ext uri="{9D8B030D-6E8A-4147-A177-3AD203B41FA5}">
                          <a16:colId xmlns:a16="http://schemas.microsoft.com/office/drawing/2014/main" val="2272156606"/>
                        </a:ext>
                      </a:extLst>
                    </a:gridCol>
                    <a:gridCol w="3263452">
                      <a:extLst>
                        <a:ext uri="{9D8B030D-6E8A-4147-A177-3AD203B41FA5}">
                          <a16:colId xmlns:a16="http://schemas.microsoft.com/office/drawing/2014/main" val="2212776800"/>
                        </a:ext>
                      </a:extLst>
                    </a:gridCol>
                    <a:gridCol w="1944185">
                      <a:extLst>
                        <a:ext uri="{9D8B030D-6E8A-4147-A177-3AD203B41FA5}">
                          <a16:colId xmlns:a16="http://schemas.microsoft.com/office/drawing/2014/main" val="25054674"/>
                        </a:ext>
                      </a:extLst>
                    </a:gridCol>
                  </a:tblGrid>
                  <a:tr h="396240">
                    <a:tc>
                      <a:txBody>
                        <a:bodyPr/>
                        <a:lstStyle/>
                        <a:p>
                          <a:r>
                            <a:rPr lang="es-CO" sz="2000" b="1" dirty="0">
                              <a:latin typeface="+mn-lt"/>
                              <a:ea typeface="Roboto" panose="02000000000000000000" pitchFamily="2" charset="0"/>
                            </a:rPr>
                            <a:t>Operación</a:t>
                          </a:r>
                        </a:p>
                      </a:txBody>
                      <a:tcPr>
                        <a:solidFill>
                          <a:schemeClr val="bg1">
                            <a:lumMod val="95000"/>
                          </a:schemeClr>
                        </a:solidFill>
                      </a:tcPr>
                    </a:tc>
                    <a:tc>
                      <a:txBody>
                        <a:bodyPr/>
                        <a:lstStyle/>
                        <a:p>
                          <a:endParaRPr lang="es-CO" sz="2000" b="1" dirty="0">
                            <a:latin typeface="+mn-lt"/>
                            <a:ea typeface="Roboto" panose="02000000000000000000" pitchFamily="2" charset="0"/>
                          </a:endParaRPr>
                        </a:p>
                      </a:txBody>
                      <a:tcPr>
                        <a:solidFill>
                          <a:schemeClr val="bg1">
                            <a:lumMod val="95000"/>
                          </a:schemeClr>
                        </a:solidFill>
                      </a:tcPr>
                    </a:tc>
                    <a:tc>
                      <a:txBody>
                        <a:bodyPr/>
                        <a:lstStyle/>
                        <a:p>
                          <a:r>
                            <a:rPr lang="es-CO" sz="2000" b="1" dirty="0">
                              <a:latin typeface="+mn-lt"/>
                              <a:ea typeface="Roboto" panose="02000000000000000000" pitchFamily="2" charset="0"/>
                            </a:rPr>
                            <a:t>Definición</a:t>
                          </a:r>
                        </a:p>
                      </a:txBody>
                      <a:tcPr>
                        <a:solidFill>
                          <a:schemeClr val="bg1">
                            <a:lumMod val="95000"/>
                          </a:schemeClr>
                        </a:solidFill>
                      </a:tcPr>
                    </a:tc>
                    <a:tc>
                      <a:txBody>
                        <a:bodyPr/>
                        <a:lstStyle/>
                        <a:p>
                          <a:r>
                            <a:rPr lang="es-CO" sz="2000" b="1" dirty="0">
                              <a:latin typeface="+mn-lt"/>
                              <a:ea typeface="Roboto" panose="02000000000000000000" pitchFamily="2" charset="0"/>
                            </a:rPr>
                            <a:t>Ejemplo</a:t>
                          </a:r>
                        </a:p>
                      </a:txBody>
                      <a:tcPr>
                        <a:solidFill>
                          <a:schemeClr val="bg1">
                            <a:lumMod val="95000"/>
                          </a:schemeClr>
                        </a:solidFill>
                      </a:tcPr>
                    </a:tc>
                    <a:extLst>
                      <a:ext uri="{0D108BD9-81ED-4DB2-BD59-A6C34878D82A}">
                        <a16:rowId xmlns:a16="http://schemas.microsoft.com/office/drawing/2014/main" val="3873507432"/>
                      </a:ext>
                    </a:extLst>
                  </a:tr>
                  <a:tr h="1005840">
                    <a:tc>
                      <a:txBody>
                        <a:bodyPr/>
                        <a:lstStyle/>
                        <a:p>
                          <a:r>
                            <a:rPr lang="es-CO" sz="2000" b="1" dirty="0">
                              <a:latin typeface="+mn-lt"/>
                              <a:ea typeface="Roboto" panose="02000000000000000000" pitchFamily="2" charset="0"/>
                            </a:rPr>
                            <a:t>Unión</a:t>
                          </a:r>
                        </a:p>
                      </a:txBody>
                      <a:tcPr/>
                    </a:tc>
                    <a:tc>
                      <a:txBody>
                        <a:bodyPr/>
                        <a:lstStyle/>
                        <a:p>
                          <a:endParaRPr lang="es-CO"/>
                        </a:p>
                      </a:txBody>
                      <a:tcPr>
                        <a:blipFill>
                          <a:blip r:embed="rId3"/>
                          <a:stretch>
                            <a:fillRect l="-37677" t="-42424" r="-110452" b="-420000"/>
                          </a:stretch>
                        </a:blipFill>
                      </a:tcPr>
                    </a:tc>
                    <a:tc>
                      <a:txBody>
                        <a:bodyPr/>
                        <a:lstStyle/>
                        <a:p>
                          <a:pPr lvl="0" algn="l"/>
                          <a:r>
                            <a:rPr lang="es-MX" sz="2000" dirty="0">
                              <a:latin typeface="+mn-lt"/>
                              <a:ea typeface="Roboto" panose="02000000000000000000" pitchFamily="2" charset="0"/>
                            </a:rPr>
                            <a:t>Conjunto de elementos que están en A o en B (o en ambos)</a:t>
                          </a:r>
                          <a:endParaRPr lang="es-CO" sz="2000" dirty="0">
                            <a:latin typeface="+mn-lt"/>
                            <a:ea typeface="Roboto" panose="02000000000000000000" pitchFamily="2" charset="0"/>
                          </a:endParaRPr>
                        </a:p>
                      </a:txBody>
                      <a:tcPr/>
                    </a:tc>
                    <a:tc>
                      <a:txBody>
                        <a:bodyPr/>
                        <a:lstStyle/>
                        <a:p>
                          <a:endParaRPr lang="es-CO"/>
                        </a:p>
                      </a:txBody>
                      <a:tcPr>
                        <a:blipFill>
                          <a:blip r:embed="rId3"/>
                          <a:stretch>
                            <a:fillRect l="-502508" t="-42424" r="-313" b="-420000"/>
                          </a:stretch>
                        </a:blipFill>
                      </a:tcPr>
                    </a:tc>
                    <a:extLst>
                      <a:ext uri="{0D108BD9-81ED-4DB2-BD59-A6C34878D82A}">
                        <a16:rowId xmlns:a16="http://schemas.microsoft.com/office/drawing/2014/main" val="4259179385"/>
                      </a:ext>
                    </a:extLst>
                  </a:tr>
                  <a:tr h="914400">
                    <a:tc>
                      <a:txBody>
                        <a:bodyPr/>
                        <a:lstStyle/>
                        <a:p>
                          <a:r>
                            <a:rPr lang="es-CO" sz="2000" b="1" dirty="0">
                              <a:latin typeface="+mn-lt"/>
                              <a:ea typeface="Roboto" panose="02000000000000000000" pitchFamily="2" charset="0"/>
                            </a:rPr>
                            <a:t>Intersección </a:t>
                          </a:r>
                        </a:p>
                      </a:txBody>
                      <a:tcPr/>
                    </a:tc>
                    <a:tc>
                      <a:txBody>
                        <a:bodyPr/>
                        <a:lstStyle/>
                        <a:p>
                          <a:endParaRPr lang="es-CO"/>
                        </a:p>
                      </a:txBody>
                      <a:tcPr>
                        <a:blipFill>
                          <a:blip r:embed="rId3"/>
                          <a:stretch>
                            <a:fillRect l="-37677" t="-156667" r="-110452" b="-362000"/>
                          </a:stretch>
                        </a:blipFill>
                      </a:tcPr>
                    </a:tc>
                    <a:tc>
                      <a:txBody>
                        <a:bodyPr/>
                        <a:lstStyle/>
                        <a:p>
                          <a:pPr lvl="0" algn="l"/>
                          <a:r>
                            <a:rPr lang="es-MX" sz="2000" dirty="0">
                              <a:latin typeface="+mn-lt"/>
                              <a:ea typeface="Roboto" panose="02000000000000000000" pitchFamily="2" charset="0"/>
                            </a:rPr>
                            <a:t>Conjunto de elementos que están tanto en A como en B</a:t>
                          </a:r>
                          <a:endParaRPr lang="es-CO" sz="2000" dirty="0">
                            <a:latin typeface="+mn-lt"/>
                            <a:ea typeface="Roboto" panose="02000000000000000000" pitchFamily="2" charset="0"/>
                          </a:endParaRPr>
                        </a:p>
                      </a:txBody>
                      <a:tcPr/>
                    </a:tc>
                    <a:tc>
                      <a:txBody>
                        <a:bodyPr/>
                        <a:lstStyle/>
                        <a:p>
                          <a:endParaRPr lang="es-CO"/>
                        </a:p>
                      </a:txBody>
                      <a:tcPr>
                        <a:blipFill>
                          <a:blip r:embed="rId3"/>
                          <a:stretch>
                            <a:fillRect l="-502508" t="-156667" r="-313" b="-362000"/>
                          </a:stretch>
                        </a:blipFill>
                      </a:tcPr>
                    </a:tc>
                    <a:extLst>
                      <a:ext uri="{0D108BD9-81ED-4DB2-BD59-A6C34878D82A}">
                        <a16:rowId xmlns:a16="http://schemas.microsoft.com/office/drawing/2014/main" val="1078799334"/>
                      </a:ext>
                    </a:extLst>
                  </a:tr>
                  <a:tr h="1188720">
                    <a:tc>
                      <a:txBody>
                        <a:bodyPr/>
                        <a:lstStyle/>
                        <a:p>
                          <a:r>
                            <a:rPr lang="es-CO" sz="2000" b="1" dirty="0">
                              <a:latin typeface="+mn-lt"/>
                              <a:ea typeface="Roboto" panose="02000000000000000000" pitchFamily="2" charset="0"/>
                            </a:rPr>
                            <a:t>Diferencia</a:t>
                          </a:r>
                        </a:p>
                      </a:txBody>
                      <a:tcPr/>
                    </a:tc>
                    <a:tc>
                      <a:txBody>
                        <a:bodyPr/>
                        <a:lstStyle/>
                        <a:p>
                          <a:endParaRPr lang="es-CO"/>
                        </a:p>
                      </a:txBody>
                      <a:tcPr>
                        <a:blipFill>
                          <a:blip r:embed="rId3"/>
                          <a:stretch>
                            <a:fillRect l="-37677" t="-196429" r="-110452" b="-177041"/>
                          </a:stretch>
                        </a:blipFill>
                      </a:tcPr>
                    </a:tc>
                    <a:tc>
                      <a:txBody>
                        <a:bodyPr/>
                        <a:lstStyle/>
                        <a:p>
                          <a:pPr lvl="0" algn="l"/>
                          <a:r>
                            <a:rPr lang="es-MX" sz="2000" dirty="0">
                              <a:latin typeface="+mn-lt"/>
                              <a:ea typeface="Roboto" panose="02000000000000000000" pitchFamily="2" charset="0"/>
                            </a:rPr>
                            <a:t>Conjunto de elementos que están en A pero no en B</a:t>
                          </a:r>
                          <a:endParaRPr lang="es-CO" sz="2000" dirty="0">
                            <a:latin typeface="+mn-lt"/>
                            <a:ea typeface="Roboto" panose="02000000000000000000" pitchFamily="2" charset="0"/>
                          </a:endParaRPr>
                        </a:p>
                      </a:txBody>
                      <a:tcPr/>
                    </a:tc>
                    <a:tc>
                      <a:txBody>
                        <a:bodyPr/>
                        <a:lstStyle/>
                        <a:p>
                          <a:endParaRPr lang="es-CO"/>
                        </a:p>
                      </a:txBody>
                      <a:tcPr>
                        <a:blipFill>
                          <a:blip r:embed="rId3"/>
                          <a:stretch>
                            <a:fillRect l="-502508" t="-196429" r="-313" b="-177041"/>
                          </a:stretch>
                        </a:blipFill>
                      </a:tcPr>
                    </a:tc>
                    <a:extLst>
                      <a:ext uri="{0D108BD9-81ED-4DB2-BD59-A6C34878D82A}">
                        <a16:rowId xmlns:a16="http://schemas.microsoft.com/office/drawing/2014/main" val="682340052"/>
                      </a:ext>
                    </a:extLst>
                  </a:tr>
                  <a:tr h="1005840">
                    <a:tc>
                      <a:txBody>
                        <a:bodyPr/>
                        <a:lstStyle/>
                        <a:p>
                          <a:r>
                            <a:rPr lang="es-CO" sz="2000" b="1" dirty="0">
                              <a:latin typeface="+mn-lt"/>
                              <a:ea typeface="Roboto" panose="02000000000000000000" pitchFamily="2" charset="0"/>
                            </a:rPr>
                            <a:t>Diferencia simétrica</a:t>
                          </a:r>
                        </a:p>
                      </a:txBody>
                      <a:tcPr/>
                    </a:tc>
                    <a:tc>
                      <a:txBody>
                        <a:bodyPr/>
                        <a:lstStyle/>
                        <a:p>
                          <a:endParaRPr lang="es-CO"/>
                        </a:p>
                      </a:txBody>
                      <a:tcPr>
                        <a:blipFill>
                          <a:blip r:embed="rId3"/>
                          <a:stretch>
                            <a:fillRect l="-37677" t="-352121" r="-110452" b="-110303"/>
                          </a:stretch>
                        </a:blipFill>
                      </a:tcPr>
                    </a:tc>
                    <a:tc>
                      <a:txBody>
                        <a:bodyPr/>
                        <a:lstStyle/>
                        <a:p>
                          <a:pPr lvl="0" algn="l"/>
                          <a:r>
                            <a:rPr lang="es-MX" sz="2000" dirty="0">
                              <a:latin typeface="+mn-lt"/>
                              <a:ea typeface="Roboto" panose="02000000000000000000" pitchFamily="2" charset="0"/>
                            </a:rPr>
                            <a:t>Conjunto de elementos que están en A o en B, pero no en ambos</a:t>
                          </a:r>
                          <a:endParaRPr lang="es-CO" sz="2000" dirty="0">
                            <a:latin typeface="+mn-lt"/>
                            <a:ea typeface="Roboto" panose="02000000000000000000" pitchFamily="2" charset="0"/>
                          </a:endParaRPr>
                        </a:p>
                      </a:txBody>
                      <a:tcPr/>
                    </a:tc>
                    <a:tc>
                      <a:txBody>
                        <a:bodyPr/>
                        <a:lstStyle/>
                        <a:p>
                          <a:endParaRPr lang="es-CO"/>
                        </a:p>
                      </a:txBody>
                      <a:tcPr>
                        <a:blipFill>
                          <a:blip r:embed="rId3"/>
                          <a:stretch>
                            <a:fillRect l="-502508" t="-352121" r="-313" b="-110303"/>
                          </a:stretch>
                        </a:blipFill>
                      </a:tcPr>
                    </a:tc>
                    <a:extLst>
                      <a:ext uri="{0D108BD9-81ED-4DB2-BD59-A6C34878D82A}">
                        <a16:rowId xmlns:a16="http://schemas.microsoft.com/office/drawing/2014/main" val="3118226202"/>
                      </a:ext>
                    </a:extLst>
                  </a:tr>
                  <a:tr h="1005840">
                    <a:tc>
                      <a:txBody>
                        <a:bodyPr/>
                        <a:lstStyle/>
                        <a:p>
                          <a:r>
                            <a:rPr lang="es-CO" sz="2000" b="1" dirty="0">
                              <a:latin typeface="+mn-lt"/>
                              <a:ea typeface="Roboto" panose="02000000000000000000" pitchFamily="2" charset="0"/>
                            </a:rPr>
                            <a:t>Complemento</a:t>
                          </a:r>
                        </a:p>
                      </a:txBody>
                      <a:tcPr/>
                    </a:tc>
                    <a:tc>
                      <a:txBody>
                        <a:bodyPr/>
                        <a:lstStyle/>
                        <a:p>
                          <a:endParaRPr lang="es-CO"/>
                        </a:p>
                      </a:txBody>
                      <a:tcPr>
                        <a:blipFill>
                          <a:blip r:embed="rId3"/>
                          <a:stretch>
                            <a:fillRect l="-37677" t="-452121" r="-110452" b="-10303"/>
                          </a:stretch>
                        </a:blipFill>
                      </a:tcPr>
                    </a:tc>
                    <a:tc>
                      <a:txBody>
                        <a:bodyPr/>
                        <a:lstStyle/>
                        <a:p>
                          <a:pPr lvl="0" algn="l"/>
                          <a:r>
                            <a:rPr lang="es-MX" sz="2000" dirty="0">
                              <a:latin typeface="+mn-lt"/>
                              <a:ea typeface="Roboto" panose="02000000000000000000" pitchFamily="2" charset="0"/>
                            </a:rPr>
                            <a:t>Conjunto de elementos que están en el universo pero no en A</a:t>
                          </a:r>
                          <a:endParaRPr lang="es-CO" sz="2000" dirty="0">
                            <a:latin typeface="+mn-lt"/>
                            <a:ea typeface="Roboto" panose="02000000000000000000" pitchFamily="2" charset="0"/>
                          </a:endParaRPr>
                        </a:p>
                      </a:txBody>
                      <a:tcPr/>
                    </a:tc>
                    <a:tc>
                      <a:txBody>
                        <a:bodyPr/>
                        <a:lstStyle/>
                        <a:p>
                          <a:endParaRPr lang="es-CO"/>
                        </a:p>
                      </a:txBody>
                      <a:tcPr>
                        <a:blipFill>
                          <a:blip r:embed="rId3"/>
                          <a:stretch>
                            <a:fillRect l="-502508" t="-452121" r="-313" b="-10303"/>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367127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27703" y="131422"/>
            <a:ext cx="87929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 básicas para conjuntos</a:t>
            </a:r>
            <a:endParaRPr dirty="0"/>
          </a:p>
        </p:txBody>
      </p:sp>
      <mc:AlternateContent xmlns:mc="http://schemas.openxmlformats.org/markup-compatibility/2006" xmlns:a14="http://schemas.microsoft.com/office/drawing/2010/main">
        <mc:Choice Requires="a14">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1440041568"/>
                  </p:ext>
                </p:extLst>
              </p:nvPr>
            </p:nvGraphicFramePr>
            <p:xfrm>
              <a:off x="1337069" y="933442"/>
              <a:ext cx="9517862" cy="4454967"/>
            </p:xfrm>
            <a:graphic>
              <a:graphicData uri="http://schemas.openxmlformats.org/drawingml/2006/table">
                <a:tbl>
                  <a:tblPr firstRow="1" bandRow="1">
                    <a:tableStyleId>{AD6A3598-7CB8-4345-8D95-17CE05F158A0}</a:tableStyleId>
                  </a:tblPr>
                  <a:tblGrid>
                    <a:gridCol w="2372989">
                      <a:extLst>
                        <a:ext uri="{9D8B030D-6E8A-4147-A177-3AD203B41FA5}">
                          <a16:colId xmlns:a16="http://schemas.microsoft.com/office/drawing/2014/main" val="2419793140"/>
                        </a:ext>
                      </a:extLst>
                    </a:gridCol>
                    <a:gridCol w="3490550">
                      <a:extLst>
                        <a:ext uri="{9D8B030D-6E8A-4147-A177-3AD203B41FA5}">
                          <a16:colId xmlns:a16="http://schemas.microsoft.com/office/drawing/2014/main" val="2761119023"/>
                        </a:ext>
                      </a:extLst>
                    </a:gridCol>
                    <a:gridCol w="135284">
                      <a:extLst>
                        <a:ext uri="{9D8B030D-6E8A-4147-A177-3AD203B41FA5}">
                          <a16:colId xmlns:a16="http://schemas.microsoft.com/office/drawing/2014/main" val="3891570482"/>
                        </a:ext>
                      </a:extLst>
                    </a:gridCol>
                    <a:gridCol w="3519039">
                      <a:extLst>
                        <a:ext uri="{9D8B030D-6E8A-4147-A177-3AD203B41FA5}">
                          <a16:colId xmlns:a16="http://schemas.microsoft.com/office/drawing/2014/main" val="1788288122"/>
                        </a:ext>
                      </a:extLst>
                    </a:gridCol>
                  </a:tblGrid>
                  <a:tr h="324502">
                    <a:tc>
                      <a:txBody>
                        <a:bodyPr/>
                        <a:lstStyle/>
                        <a:p>
                          <a:r>
                            <a:rPr lang="es-CO" sz="20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20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281235">
                    <a:tc>
                      <a:txBody>
                        <a:bodyPr/>
                        <a:lstStyle/>
                        <a:p>
                          <a:r>
                            <a:rPr lang="es-CO" sz="2000" b="1" dirty="0">
                              <a:latin typeface="+mn-lt"/>
                              <a:ea typeface="Roboto" panose="02000000000000000000" pitchFamily="2" charset="0"/>
                            </a:rPr>
                            <a:t>Idempotencia</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𝐴</m:t>
                                </m:r>
                              </m:oMath>
                            </m:oMathPara>
                          </a14:m>
                          <a:endParaRPr lang="es-CO" sz="20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𝐴</m:t>
                                </m:r>
                              </m:oMath>
                            </m:oMathPara>
                          </a14:m>
                          <a:endParaRPr lang="es-CO" sz="20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154515760"/>
                      </a:ext>
                    </a:extLst>
                  </a:tr>
                  <a:tr h="281235">
                    <a:tc>
                      <a:txBody>
                        <a:bodyPr/>
                        <a:lstStyle/>
                        <a:p>
                          <a:r>
                            <a:rPr lang="es-CO" sz="2000" b="1" dirty="0">
                              <a:latin typeface="+mn-lt"/>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𝟏</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𝐴</m:t>
                                </m:r>
                              </m:oMath>
                            </m:oMathPara>
                          </a14:m>
                          <a:endParaRPr lang="es-CO" sz="20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𝟎</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𝐴</m:t>
                                </m:r>
                              </m:oMath>
                            </m:oMathPara>
                          </a14:m>
                          <a:endParaRPr lang="es-CO" sz="20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13743916"/>
                      </a:ext>
                    </a:extLst>
                  </a:tr>
                  <a:tr h="281235">
                    <a:tc>
                      <a:txBody>
                        <a:bodyPr/>
                        <a:lstStyle/>
                        <a:p>
                          <a:r>
                            <a:rPr lang="es-CO" sz="2000" b="1" dirty="0">
                              <a:latin typeface="+mn-lt"/>
                              <a:ea typeface="Roboto" panose="02000000000000000000" pitchFamily="2" charset="0"/>
                            </a:rPr>
                            <a:t>Dominación</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𝟎</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𝟎</m:t>
                                </m:r>
                              </m:oMath>
                            </m:oMathPara>
                          </a14:m>
                          <a:endParaRPr lang="es-CO" sz="2000" b="1"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𝟏</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𝟏</m:t>
                                </m:r>
                              </m:oMath>
                            </m:oMathPara>
                          </a14:m>
                          <a:endParaRPr lang="es-CO" sz="2000" b="1"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717401643"/>
                      </a:ext>
                    </a:extLst>
                  </a:tr>
                  <a:tr h="281235">
                    <a:tc>
                      <a:txBody>
                        <a:bodyPr/>
                        <a:lstStyle/>
                        <a:p>
                          <a:r>
                            <a:rPr lang="es-CO" sz="2000" b="1" dirty="0">
                              <a:latin typeface="+mn-lt"/>
                              <a:ea typeface="Roboto" panose="02000000000000000000" pitchFamily="2" charset="0"/>
                            </a:rPr>
                            <a:t>Conmutativa</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oMath>
                            </m:oMathPara>
                          </a14:m>
                          <a:endParaRPr lang="es-CO" sz="2000"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oMath>
                            </m:oMathPara>
                          </a14:m>
                          <a:endParaRPr lang="es-CO" sz="20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246818852"/>
                      </a:ext>
                    </a:extLst>
                  </a:tr>
                  <a:tr h="281235">
                    <a:tc>
                      <a:txBody>
                        <a:bodyPr/>
                        <a:lstStyle/>
                        <a:p>
                          <a:r>
                            <a:rPr lang="es-CO" sz="2000" b="1" dirty="0">
                              <a:latin typeface="+mn-lt"/>
                              <a:ea typeface="Roboto" panose="02000000000000000000" pitchFamily="2" charset="0"/>
                            </a:rPr>
                            <a:t>Asociativa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oMath>
                            </m:oMathPara>
                          </a14:m>
                          <a:endParaRPr lang="es-CO" sz="20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oMath>
                            </m:oMathPara>
                          </a14:m>
                          <a:endParaRPr lang="es-CO" sz="20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992230363"/>
                      </a:ext>
                    </a:extLst>
                  </a:tr>
                  <a:tr h="492567">
                    <a:tc>
                      <a:txBody>
                        <a:bodyPr/>
                        <a:lstStyle/>
                        <a:p>
                          <a:r>
                            <a:rPr lang="es-CO" sz="2000" b="1" dirty="0">
                              <a:latin typeface="+mn-lt"/>
                              <a:ea typeface="Roboto" panose="02000000000000000000" pitchFamily="2" charset="0"/>
                            </a:rPr>
                            <a:t>Distributiva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oMath>
                            </m:oMathPara>
                          </a14:m>
                          <a:endParaRPr lang="es-CO" sz="2000" dirty="0">
                            <a:latin typeface="+mn-lt"/>
                            <a:ea typeface="Roboto" panose="02000000000000000000" pitchFamily="2" charset="0"/>
                          </a:endParaRP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oMath>
                            </m:oMathPara>
                          </a14:m>
                          <a:endParaRPr lang="es-CO" sz="2000"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2113060234"/>
                      </a:ext>
                    </a:extLst>
                  </a:tr>
                  <a:tr h="281235">
                    <a:tc>
                      <a:txBody>
                        <a:bodyPr/>
                        <a:lstStyle/>
                        <a:p>
                          <a:r>
                            <a:rPr lang="es-CO" sz="2000" b="1" dirty="0">
                              <a:latin typeface="+mn-lt"/>
                              <a:ea typeface="Roboto" panose="02000000000000000000" pitchFamily="2" charset="0"/>
                            </a:rPr>
                            <a:t>Complemento</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𝟎</m:t>
                                </m:r>
                              </m:oMath>
                            </m:oMathPara>
                          </a14:m>
                          <a:endParaRPr lang="es-CO" sz="2000" b="1" dirty="0">
                            <a:latin typeface="+mn-lt"/>
                            <a:ea typeface="Roboto" panose="02000000000000000000" pitchFamily="2" charset="0"/>
                          </a:endParaRPr>
                        </a:p>
                      </a:txBody>
                      <a:tcPr/>
                    </a:tc>
                    <a:tc gridSpan="2">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𝟏</m:t>
                                </m:r>
                              </m:oMath>
                            </m:oMathPara>
                          </a14:m>
                          <a:endParaRPr lang="es-CO" sz="2000" b="1" dirty="0">
                            <a:latin typeface="+mn-lt"/>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232652958"/>
                      </a:ext>
                    </a:extLst>
                  </a:tr>
                  <a:tr h="281235">
                    <a:tc>
                      <a:txBody>
                        <a:bodyPr/>
                        <a:lstStyle/>
                        <a:p>
                          <a:r>
                            <a:rPr lang="es-CO" sz="2000" b="1" dirty="0">
                              <a:latin typeface="+mn-lt"/>
                              <a:ea typeface="Roboto" panose="02000000000000000000" pitchFamily="2" charset="0"/>
                            </a:rPr>
                            <a:t>Doble negación</a:t>
                          </a:r>
                        </a:p>
                      </a:txBody>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oMath>
                            </m:oMathPara>
                          </a14:m>
                          <a:endParaRPr lang="es-CO" sz="2000" b="1" dirty="0">
                            <a:latin typeface="+mn-lt"/>
                            <a:ea typeface="Roboto" panose="02000000000000000000" pitchFamily="2"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281235">
                    <a:tc>
                      <a:txBody>
                        <a:bodyPr/>
                        <a:lstStyle/>
                        <a:p>
                          <a:r>
                            <a:rPr lang="es-CO" sz="2000" b="1" dirty="0">
                              <a:latin typeface="+mn-lt"/>
                              <a:ea typeface="Roboto" panose="02000000000000000000" pitchFamily="2" charset="0"/>
                            </a:rPr>
                            <a:t>Absorción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oMath>
                            </m:oMathPara>
                          </a14:m>
                          <a:endParaRPr lang="es-CO" sz="2000" dirty="0">
                            <a:latin typeface="+mn-lt"/>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3483938044"/>
                      </a:ext>
                    </a:extLst>
                  </a:tr>
                  <a:tr h="281235">
                    <a:tc>
                      <a:txBody>
                        <a:bodyPr/>
                        <a:lstStyle/>
                        <a:p>
                          <a:r>
                            <a:rPr lang="es-CO" sz="2000" b="1" dirty="0">
                              <a:latin typeface="+mn-lt"/>
                              <a:ea typeface="Roboto" panose="02000000000000000000" pitchFamily="2" charset="0"/>
                            </a:rPr>
                            <a:t>De Morgan</a:t>
                          </a: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2000" b="0" i="1" smtClean="0">
                                        <a:latin typeface="Cambria Math" panose="02040503050406030204" pitchFamily="18" charset="0"/>
                                        <a:ea typeface="Cambria Math" panose="02040503050406030204" pitchFamily="18" charset="0"/>
                                      </a:rPr>
                                    </m:ctrlPr>
                                  </m:sSup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e>
                                  <m:sup>
                                    <m:r>
                                      <a:rPr lang="es-MX" sz="2000" b="0" i="1" smtClean="0">
                                        <a:latin typeface="Cambria Math" panose="02040503050406030204" pitchFamily="18" charset="0"/>
                                        <a:ea typeface="Cambria Math" panose="02040503050406030204" pitchFamily="18" charset="0"/>
                                      </a:rPr>
                                      <m:t>′</m:t>
                                    </m:r>
                                  </m:sup>
                                </m:sSup>
                                <m:r>
                                  <a:rPr lang="es-MX" sz="2000" b="0" i="1" smtClean="0">
                                    <a:latin typeface="Cambria Math" panose="02040503050406030204" pitchFamily="18" charset="0"/>
                                    <a:ea typeface="Cambria Math" panose="02040503050406030204" pitchFamily="18" charset="0"/>
                                  </a:rPr>
                                  <m:t>=</m:t>
                                </m:r>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𝐴</m:t>
                                    </m:r>
                                  </m:e>
                                  <m:sup>
                                    <m:r>
                                      <a:rPr lang="es-MX" sz="2000" b="0" i="1" smtClean="0">
                                        <a:latin typeface="Cambria Math" panose="02040503050406030204" pitchFamily="18" charset="0"/>
                                        <a:ea typeface="Cambria Math" panose="02040503050406030204" pitchFamily="18" charset="0"/>
                                      </a:rPr>
                                      <m:t>′</m:t>
                                    </m:r>
                                  </m:sup>
                                </m:sSup>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mn-lt"/>
                            <a:ea typeface="Roboto" panose="02000000000000000000" pitchFamily="2" charset="0"/>
                          </a:endParaRPr>
                        </a:p>
                      </a:txBody>
                      <a:tcPr/>
                    </a:tc>
                    <a:tc hMerge="1">
                      <a:txBody>
                        <a:bodyPr/>
                        <a:lstStyle/>
                        <a:p>
                          <a:endParaRPr lang="es-C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s-MX" sz="2000" b="0" i="1" smtClean="0">
                                        <a:latin typeface="Cambria Math" panose="02040503050406030204" pitchFamily="18" charset="0"/>
                                        <a:ea typeface="Cambria Math" panose="02040503050406030204" pitchFamily="18" charset="0"/>
                                      </a:rPr>
                                    </m:ctrlPr>
                                  </m:sSup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e>
                                  <m:sup>
                                    <m:r>
                                      <a:rPr lang="es-MX" sz="2000" b="0" i="1" smtClean="0">
                                        <a:latin typeface="Cambria Math" panose="02040503050406030204" pitchFamily="18" charset="0"/>
                                        <a:ea typeface="Cambria Math" panose="02040503050406030204" pitchFamily="18" charset="0"/>
                                      </a:rPr>
                                      <m:t>′</m:t>
                                    </m:r>
                                  </m:sup>
                                </m:sSup>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493544081"/>
                      </a:ext>
                    </a:extLst>
                  </a:tr>
                </a:tbl>
              </a:graphicData>
            </a:graphic>
          </p:graphicFrame>
        </mc:Choice>
        <mc:Fallback xmlns="">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1440041568"/>
                  </p:ext>
                </p:extLst>
              </p:nvPr>
            </p:nvGraphicFramePr>
            <p:xfrm>
              <a:off x="1337069" y="933442"/>
              <a:ext cx="9517862" cy="4454967"/>
            </p:xfrm>
            <a:graphic>
              <a:graphicData uri="http://schemas.openxmlformats.org/drawingml/2006/table">
                <a:tbl>
                  <a:tblPr firstRow="1" bandRow="1">
                    <a:tableStyleId>{AD6A3598-7CB8-4345-8D95-17CE05F158A0}</a:tableStyleId>
                  </a:tblPr>
                  <a:tblGrid>
                    <a:gridCol w="2372989">
                      <a:extLst>
                        <a:ext uri="{9D8B030D-6E8A-4147-A177-3AD203B41FA5}">
                          <a16:colId xmlns:a16="http://schemas.microsoft.com/office/drawing/2014/main" val="2419793140"/>
                        </a:ext>
                      </a:extLst>
                    </a:gridCol>
                    <a:gridCol w="3490550">
                      <a:extLst>
                        <a:ext uri="{9D8B030D-6E8A-4147-A177-3AD203B41FA5}">
                          <a16:colId xmlns:a16="http://schemas.microsoft.com/office/drawing/2014/main" val="2761119023"/>
                        </a:ext>
                      </a:extLst>
                    </a:gridCol>
                    <a:gridCol w="135284">
                      <a:extLst>
                        <a:ext uri="{9D8B030D-6E8A-4147-A177-3AD203B41FA5}">
                          <a16:colId xmlns:a16="http://schemas.microsoft.com/office/drawing/2014/main" val="3891570482"/>
                        </a:ext>
                      </a:extLst>
                    </a:gridCol>
                    <a:gridCol w="3519039">
                      <a:extLst>
                        <a:ext uri="{9D8B030D-6E8A-4147-A177-3AD203B41FA5}">
                          <a16:colId xmlns:a16="http://schemas.microsoft.com/office/drawing/2014/main" val="1788288122"/>
                        </a:ext>
                      </a:extLst>
                    </a:gridCol>
                  </a:tblGrid>
                  <a:tr h="396240">
                    <a:tc>
                      <a:txBody>
                        <a:bodyPr/>
                        <a:lstStyle/>
                        <a:p>
                          <a:r>
                            <a:rPr lang="es-CO" sz="2000" b="1" dirty="0">
                              <a:latin typeface="+mn-lt"/>
                              <a:ea typeface="Roboto" panose="02000000000000000000" pitchFamily="2" charset="0"/>
                            </a:rPr>
                            <a:t>Nombre</a:t>
                          </a:r>
                        </a:p>
                      </a:txBody>
                      <a:tcPr>
                        <a:solidFill>
                          <a:schemeClr val="bg1">
                            <a:lumMod val="95000"/>
                          </a:schemeClr>
                        </a:solidFill>
                      </a:tcPr>
                    </a:tc>
                    <a:tc gridSpan="3">
                      <a:txBody>
                        <a:bodyPr/>
                        <a:lstStyle/>
                        <a:p>
                          <a:pPr algn="ctr"/>
                          <a:r>
                            <a:rPr lang="es-CO" sz="2000" b="1" dirty="0">
                              <a:latin typeface="+mn-lt"/>
                              <a:ea typeface="Roboto" panose="02000000000000000000" pitchFamily="2" charset="0"/>
                            </a:rPr>
                            <a:t>Equivalencia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1624526593"/>
                      </a:ext>
                    </a:extLst>
                  </a:tr>
                  <a:tr h="396240">
                    <a:tc>
                      <a:txBody>
                        <a:bodyPr/>
                        <a:lstStyle/>
                        <a:p>
                          <a:r>
                            <a:rPr lang="es-CO" sz="2000" b="1" dirty="0">
                              <a:latin typeface="+mn-lt"/>
                              <a:ea typeface="Roboto" panose="02000000000000000000" pitchFamily="2" charset="0"/>
                            </a:rPr>
                            <a:t>Idempotencia</a:t>
                          </a:r>
                        </a:p>
                      </a:txBody>
                      <a:tcPr/>
                    </a:tc>
                    <a:tc>
                      <a:txBody>
                        <a:bodyPr/>
                        <a:lstStyle/>
                        <a:p>
                          <a:endParaRPr lang="es-CO"/>
                        </a:p>
                      </a:txBody>
                      <a:tcPr>
                        <a:blipFill>
                          <a:blip r:embed="rId3"/>
                          <a:stretch>
                            <a:fillRect l="-68063" t="-107692" r="-105061" b="-952308"/>
                          </a:stretch>
                        </a:blipFill>
                      </a:tcPr>
                    </a:tc>
                    <a:tc gridSpan="2">
                      <a:txBody>
                        <a:bodyPr/>
                        <a:lstStyle/>
                        <a:p>
                          <a:endParaRPr lang="es-CO"/>
                        </a:p>
                      </a:txBody>
                      <a:tcPr>
                        <a:blipFill>
                          <a:blip r:embed="rId3"/>
                          <a:stretch>
                            <a:fillRect l="-160500" t="-107692" r="-333" b="-952308"/>
                          </a:stretch>
                        </a:blipFill>
                      </a:tcPr>
                    </a:tc>
                    <a:tc hMerge="1">
                      <a:txBody>
                        <a:bodyPr/>
                        <a:lstStyle/>
                        <a:p>
                          <a:endParaRPr lang="es-CO"/>
                        </a:p>
                      </a:txBody>
                      <a:tcPr/>
                    </a:tc>
                    <a:extLst>
                      <a:ext uri="{0D108BD9-81ED-4DB2-BD59-A6C34878D82A}">
                        <a16:rowId xmlns:a16="http://schemas.microsoft.com/office/drawing/2014/main" val="3154515760"/>
                      </a:ext>
                    </a:extLst>
                  </a:tr>
                  <a:tr h="396240">
                    <a:tc>
                      <a:txBody>
                        <a:bodyPr/>
                        <a:lstStyle/>
                        <a:p>
                          <a:r>
                            <a:rPr lang="es-CO" sz="2000" b="1" dirty="0">
                              <a:latin typeface="+mn-lt"/>
                              <a:ea typeface="Roboto" panose="02000000000000000000" pitchFamily="2" charset="0"/>
                            </a:rPr>
                            <a:t>Identidad</a:t>
                          </a:r>
                        </a:p>
                      </a:txBody>
                      <a:tcPr/>
                    </a:tc>
                    <a:tc>
                      <a:txBody>
                        <a:bodyPr/>
                        <a:lstStyle/>
                        <a:p>
                          <a:endParaRPr lang="es-CO"/>
                        </a:p>
                      </a:txBody>
                      <a:tcPr>
                        <a:blipFill>
                          <a:blip r:embed="rId3"/>
                          <a:stretch>
                            <a:fillRect l="-68063" t="-207692" r="-105061" b="-852308"/>
                          </a:stretch>
                        </a:blipFill>
                      </a:tcPr>
                    </a:tc>
                    <a:tc gridSpan="2">
                      <a:txBody>
                        <a:bodyPr/>
                        <a:lstStyle/>
                        <a:p>
                          <a:endParaRPr lang="es-CO"/>
                        </a:p>
                      </a:txBody>
                      <a:tcPr>
                        <a:blipFill>
                          <a:blip r:embed="rId3"/>
                          <a:stretch>
                            <a:fillRect l="-160500" t="-207692" r="-333" b="-852308"/>
                          </a:stretch>
                        </a:blipFill>
                      </a:tcPr>
                    </a:tc>
                    <a:tc hMerge="1">
                      <a:txBody>
                        <a:bodyPr/>
                        <a:lstStyle/>
                        <a:p>
                          <a:endParaRPr lang="es-CO"/>
                        </a:p>
                      </a:txBody>
                      <a:tcPr/>
                    </a:tc>
                    <a:extLst>
                      <a:ext uri="{0D108BD9-81ED-4DB2-BD59-A6C34878D82A}">
                        <a16:rowId xmlns:a16="http://schemas.microsoft.com/office/drawing/2014/main" val="1913743916"/>
                      </a:ext>
                    </a:extLst>
                  </a:tr>
                  <a:tr h="396240">
                    <a:tc>
                      <a:txBody>
                        <a:bodyPr/>
                        <a:lstStyle/>
                        <a:p>
                          <a:r>
                            <a:rPr lang="es-CO" sz="2000" b="1" dirty="0">
                              <a:latin typeface="+mn-lt"/>
                              <a:ea typeface="Roboto" panose="02000000000000000000" pitchFamily="2" charset="0"/>
                            </a:rPr>
                            <a:t>Dominación</a:t>
                          </a:r>
                        </a:p>
                      </a:txBody>
                      <a:tcPr/>
                    </a:tc>
                    <a:tc>
                      <a:txBody>
                        <a:bodyPr/>
                        <a:lstStyle/>
                        <a:p>
                          <a:endParaRPr lang="es-CO"/>
                        </a:p>
                      </a:txBody>
                      <a:tcPr>
                        <a:blipFill>
                          <a:blip r:embed="rId3"/>
                          <a:stretch>
                            <a:fillRect l="-68063" t="-307692" r="-105061" b="-752308"/>
                          </a:stretch>
                        </a:blipFill>
                      </a:tcPr>
                    </a:tc>
                    <a:tc gridSpan="2">
                      <a:txBody>
                        <a:bodyPr/>
                        <a:lstStyle/>
                        <a:p>
                          <a:endParaRPr lang="es-CO"/>
                        </a:p>
                      </a:txBody>
                      <a:tcPr>
                        <a:blipFill>
                          <a:blip r:embed="rId3"/>
                          <a:stretch>
                            <a:fillRect l="-160500" t="-307692" r="-333" b="-752308"/>
                          </a:stretch>
                        </a:blipFill>
                      </a:tcPr>
                    </a:tc>
                    <a:tc hMerge="1">
                      <a:txBody>
                        <a:bodyPr/>
                        <a:lstStyle/>
                        <a:p>
                          <a:endParaRPr lang="es-CO"/>
                        </a:p>
                      </a:txBody>
                      <a:tcPr/>
                    </a:tc>
                    <a:extLst>
                      <a:ext uri="{0D108BD9-81ED-4DB2-BD59-A6C34878D82A}">
                        <a16:rowId xmlns:a16="http://schemas.microsoft.com/office/drawing/2014/main" val="717401643"/>
                      </a:ext>
                    </a:extLst>
                  </a:tr>
                  <a:tr h="396240">
                    <a:tc>
                      <a:txBody>
                        <a:bodyPr/>
                        <a:lstStyle/>
                        <a:p>
                          <a:r>
                            <a:rPr lang="es-CO" sz="2000" b="1" dirty="0">
                              <a:latin typeface="+mn-lt"/>
                              <a:ea typeface="Roboto" panose="02000000000000000000" pitchFamily="2" charset="0"/>
                            </a:rPr>
                            <a:t>Conmutativa</a:t>
                          </a:r>
                        </a:p>
                      </a:txBody>
                      <a:tcPr/>
                    </a:tc>
                    <a:tc>
                      <a:txBody>
                        <a:bodyPr/>
                        <a:lstStyle/>
                        <a:p>
                          <a:endParaRPr lang="es-CO"/>
                        </a:p>
                      </a:txBody>
                      <a:tcPr>
                        <a:blipFill>
                          <a:blip r:embed="rId3"/>
                          <a:stretch>
                            <a:fillRect l="-68063" t="-407692" r="-105061" b="-652308"/>
                          </a:stretch>
                        </a:blipFill>
                      </a:tcPr>
                    </a:tc>
                    <a:tc gridSpan="2">
                      <a:txBody>
                        <a:bodyPr/>
                        <a:lstStyle/>
                        <a:p>
                          <a:endParaRPr lang="es-CO"/>
                        </a:p>
                      </a:txBody>
                      <a:tcPr>
                        <a:blipFill>
                          <a:blip r:embed="rId3"/>
                          <a:stretch>
                            <a:fillRect l="-160500" t="-407692" r="-333" b="-652308"/>
                          </a:stretch>
                        </a:blipFill>
                      </a:tcPr>
                    </a:tc>
                    <a:tc hMerge="1">
                      <a:txBody>
                        <a:bodyPr/>
                        <a:lstStyle/>
                        <a:p>
                          <a:endParaRPr lang="es-CO"/>
                        </a:p>
                      </a:txBody>
                      <a:tcPr/>
                    </a:tc>
                    <a:extLst>
                      <a:ext uri="{0D108BD9-81ED-4DB2-BD59-A6C34878D82A}">
                        <a16:rowId xmlns:a16="http://schemas.microsoft.com/office/drawing/2014/main" val="2246818852"/>
                      </a:ext>
                    </a:extLst>
                  </a:tr>
                  <a:tr h="396240">
                    <a:tc>
                      <a:txBody>
                        <a:bodyPr/>
                        <a:lstStyle/>
                        <a:p>
                          <a:r>
                            <a:rPr lang="es-CO" sz="2000" b="1" dirty="0">
                              <a:latin typeface="+mn-lt"/>
                              <a:ea typeface="Roboto" panose="02000000000000000000" pitchFamily="2" charset="0"/>
                            </a:rPr>
                            <a:t>Asociativa</a:t>
                          </a:r>
                        </a:p>
                      </a:txBody>
                      <a:tcPr/>
                    </a:tc>
                    <a:tc>
                      <a:txBody>
                        <a:bodyPr/>
                        <a:lstStyle/>
                        <a:p>
                          <a:endParaRPr lang="es-CO"/>
                        </a:p>
                      </a:txBody>
                      <a:tcPr>
                        <a:blipFill>
                          <a:blip r:embed="rId3"/>
                          <a:stretch>
                            <a:fillRect l="-68063" t="-507692" r="-105061" b="-552308"/>
                          </a:stretch>
                        </a:blipFill>
                      </a:tcPr>
                    </a:tc>
                    <a:tc gridSpan="2">
                      <a:txBody>
                        <a:bodyPr/>
                        <a:lstStyle/>
                        <a:p>
                          <a:endParaRPr lang="es-CO"/>
                        </a:p>
                      </a:txBody>
                      <a:tcPr>
                        <a:blipFill>
                          <a:blip r:embed="rId3"/>
                          <a:stretch>
                            <a:fillRect l="-160500" t="-507692" r="-333" b="-552308"/>
                          </a:stretch>
                        </a:blipFill>
                      </a:tcPr>
                    </a:tc>
                    <a:tc hMerge="1">
                      <a:txBody>
                        <a:bodyPr/>
                        <a:lstStyle/>
                        <a:p>
                          <a:endParaRPr lang="es-CO"/>
                        </a:p>
                      </a:txBody>
                      <a:tcPr/>
                    </a:tc>
                    <a:extLst>
                      <a:ext uri="{0D108BD9-81ED-4DB2-BD59-A6C34878D82A}">
                        <a16:rowId xmlns:a16="http://schemas.microsoft.com/office/drawing/2014/main" val="1992230363"/>
                      </a:ext>
                    </a:extLst>
                  </a:tr>
                  <a:tr h="492567">
                    <a:tc>
                      <a:txBody>
                        <a:bodyPr/>
                        <a:lstStyle/>
                        <a:p>
                          <a:r>
                            <a:rPr lang="es-CO" sz="2000" b="1" dirty="0">
                              <a:latin typeface="+mn-lt"/>
                              <a:ea typeface="Roboto" panose="02000000000000000000" pitchFamily="2" charset="0"/>
                            </a:rPr>
                            <a:t>Distributiva</a:t>
                          </a:r>
                        </a:p>
                      </a:txBody>
                      <a:tcPr/>
                    </a:tc>
                    <a:tc>
                      <a:txBody>
                        <a:bodyPr/>
                        <a:lstStyle/>
                        <a:p>
                          <a:endParaRPr lang="es-CO"/>
                        </a:p>
                      </a:txBody>
                      <a:tcPr>
                        <a:blipFill>
                          <a:blip r:embed="rId3"/>
                          <a:stretch>
                            <a:fillRect l="-68063" t="-487654" r="-105061" b="-343210"/>
                          </a:stretch>
                        </a:blipFill>
                      </a:tcPr>
                    </a:tc>
                    <a:tc gridSpan="2">
                      <a:txBody>
                        <a:bodyPr/>
                        <a:lstStyle/>
                        <a:p>
                          <a:endParaRPr lang="es-CO"/>
                        </a:p>
                      </a:txBody>
                      <a:tcPr>
                        <a:blipFill>
                          <a:blip r:embed="rId3"/>
                          <a:stretch>
                            <a:fillRect l="-160500" t="-487654" r="-333" b="-343210"/>
                          </a:stretch>
                        </a:blipFill>
                      </a:tcPr>
                    </a:tc>
                    <a:tc hMerge="1">
                      <a:txBody>
                        <a:bodyPr/>
                        <a:lstStyle/>
                        <a:p>
                          <a:endParaRPr lang="es-CO"/>
                        </a:p>
                      </a:txBody>
                      <a:tcPr/>
                    </a:tc>
                    <a:extLst>
                      <a:ext uri="{0D108BD9-81ED-4DB2-BD59-A6C34878D82A}">
                        <a16:rowId xmlns:a16="http://schemas.microsoft.com/office/drawing/2014/main" val="2113060234"/>
                      </a:ext>
                    </a:extLst>
                  </a:tr>
                  <a:tr h="396240">
                    <a:tc>
                      <a:txBody>
                        <a:bodyPr/>
                        <a:lstStyle/>
                        <a:p>
                          <a:r>
                            <a:rPr lang="es-CO" sz="2000" b="1" dirty="0">
                              <a:latin typeface="+mn-lt"/>
                              <a:ea typeface="Roboto" panose="02000000000000000000" pitchFamily="2" charset="0"/>
                            </a:rPr>
                            <a:t>Complemento</a:t>
                          </a:r>
                        </a:p>
                      </a:txBody>
                      <a:tcPr/>
                    </a:tc>
                    <a:tc>
                      <a:txBody>
                        <a:bodyPr/>
                        <a:lstStyle/>
                        <a:p>
                          <a:endParaRPr lang="es-CO"/>
                        </a:p>
                      </a:txBody>
                      <a:tcPr>
                        <a:blipFill>
                          <a:blip r:embed="rId3"/>
                          <a:stretch>
                            <a:fillRect l="-68063" t="-732308" r="-105061" b="-327692"/>
                          </a:stretch>
                        </a:blipFill>
                      </a:tcPr>
                    </a:tc>
                    <a:tc gridSpan="2">
                      <a:txBody>
                        <a:bodyPr/>
                        <a:lstStyle/>
                        <a:p>
                          <a:endParaRPr lang="es-CO"/>
                        </a:p>
                      </a:txBody>
                      <a:tcPr>
                        <a:blipFill>
                          <a:blip r:embed="rId3"/>
                          <a:stretch>
                            <a:fillRect l="-160500" t="-732308" r="-333" b="-327692"/>
                          </a:stretch>
                        </a:blipFill>
                      </a:tcPr>
                    </a:tc>
                    <a:tc hMerge="1">
                      <a:txBody>
                        <a:bodyPr/>
                        <a:lstStyle/>
                        <a:p>
                          <a:endParaRPr lang="es-CO"/>
                        </a:p>
                      </a:txBody>
                      <a:tcPr/>
                    </a:tc>
                    <a:extLst>
                      <a:ext uri="{0D108BD9-81ED-4DB2-BD59-A6C34878D82A}">
                        <a16:rowId xmlns:a16="http://schemas.microsoft.com/office/drawing/2014/main" val="1232652958"/>
                      </a:ext>
                    </a:extLst>
                  </a:tr>
                  <a:tr h="396240">
                    <a:tc>
                      <a:txBody>
                        <a:bodyPr/>
                        <a:lstStyle/>
                        <a:p>
                          <a:r>
                            <a:rPr lang="es-CO" sz="2000" b="1" dirty="0">
                              <a:latin typeface="+mn-lt"/>
                              <a:ea typeface="Roboto" panose="02000000000000000000" pitchFamily="2" charset="0"/>
                            </a:rPr>
                            <a:t>Doble negación</a:t>
                          </a:r>
                        </a:p>
                      </a:txBody>
                      <a:tcPr/>
                    </a:tc>
                    <a:tc gridSpan="3">
                      <a:txBody>
                        <a:bodyPr/>
                        <a:lstStyle/>
                        <a:p>
                          <a:endParaRPr lang="es-CO"/>
                        </a:p>
                      </a:txBody>
                      <a:tcPr>
                        <a:blipFill>
                          <a:blip r:embed="rId3"/>
                          <a:stretch>
                            <a:fillRect l="-33248" t="-832308" r="-171" b="-227692"/>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xmlns:a14="http://schemas.microsoft.com/office/drawing/2010/main">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770911309"/>
                      </a:ext>
                    </a:extLst>
                  </a:tr>
                  <a:tr h="396240">
                    <a:tc>
                      <a:txBody>
                        <a:bodyPr/>
                        <a:lstStyle/>
                        <a:p>
                          <a:r>
                            <a:rPr lang="es-CO" sz="2000" b="1" dirty="0">
                              <a:latin typeface="+mn-lt"/>
                              <a:ea typeface="Roboto" panose="02000000000000000000" pitchFamily="2" charset="0"/>
                            </a:rPr>
                            <a:t>Absorción</a:t>
                          </a:r>
                        </a:p>
                      </a:txBody>
                      <a:tcPr/>
                    </a:tc>
                    <a:tc gridSpan="2">
                      <a:txBody>
                        <a:bodyPr/>
                        <a:lstStyle/>
                        <a:p>
                          <a:endParaRPr lang="es-CO"/>
                        </a:p>
                      </a:txBody>
                      <a:tcPr>
                        <a:blipFill>
                          <a:blip r:embed="rId3"/>
                          <a:stretch>
                            <a:fillRect l="-65546" t="-932308" r="-97479" b="-127692"/>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tc>
                      <a:txBody>
                        <a:bodyPr/>
                        <a:lstStyle/>
                        <a:p>
                          <a:endParaRPr lang="es-CO"/>
                        </a:p>
                      </a:txBody>
                      <a:tcPr>
                        <a:blipFill>
                          <a:blip r:embed="rId3"/>
                          <a:stretch>
                            <a:fillRect l="-170415" t="-932308" r="-346" b="-127692"/>
                          </a:stretch>
                        </a:blipFill>
                      </a:tcPr>
                    </a:tc>
                    <a:extLst>
                      <a:ext uri="{0D108BD9-81ED-4DB2-BD59-A6C34878D82A}">
                        <a16:rowId xmlns:a16="http://schemas.microsoft.com/office/drawing/2014/main" val="3483938044"/>
                      </a:ext>
                    </a:extLst>
                  </a:tr>
                  <a:tr h="396240">
                    <a:tc>
                      <a:txBody>
                        <a:bodyPr/>
                        <a:lstStyle/>
                        <a:p>
                          <a:r>
                            <a:rPr lang="es-CO" sz="2000" b="1" dirty="0">
                              <a:latin typeface="+mn-lt"/>
                              <a:ea typeface="Roboto" panose="02000000000000000000" pitchFamily="2" charset="0"/>
                            </a:rPr>
                            <a:t>De Morgan</a:t>
                          </a:r>
                        </a:p>
                      </a:txBody>
                      <a:tcPr/>
                    </a:tc>
                    <a:tc gridSpan="2">
                      <a:txBody>
                        <a:bodyPr/>
                        <a:lstStyle/>
                        <a:p>
                          <a:endParaRPr lang="es-CO"/>
                        </a:p>
                      </a:txBody>
                      <a:tcPr>
                        <a:blipFill>
                          <a:blip r:embed="rId3"/>
                          <a:stretch>
                            <a:fillRect l="-65546" t="-1032308" r="-97479" b="-27692"/>
                          </a:stretch>
                        </a:blipFill>
                      </a:tcPr>
                    </a:tc>
                    <a:tc hMerge="1">
                      <a:txBody>
                        <a:bodyPr/>
                        <a:lstStyle/>
                        <a:p>
                          <a:endParaRPr lang="es-CO"/>
                        </a:p>
                      </a:txBody>
                      <a:tcPr/>
                    </a:tc>
                    <a:tc>
                      <a:txBody>
                        <a:bodyPr/>
                        <a:lstStyle/>
                        <a:p>
                          <a:endParaRPr lang="es-CO"/>
                        </a:p>
                      </a:txBody>
                      <a:tcPr>
                        <a:blipFill>
                          <a:blip r:embed="rId3"/>
                          <a:stretch>
                            <a:fillRect l="-170415" t="-1032308" r="-346" b="-27692"/>
                          </a:stretch>
                        </a:blipFill>
                      </a:tcPr>
                    </a:tc>
                    <a:extLst>
                      <a:ext uri="{0D108BD9-81ED-4DB2-BD59-A6C34878D82A}">
                        <a16:rowId xmlns:a16="http://schemas.microsoft.com/office/drawing/2014/main" val="493544081"/>
                      </a:ext>
                    </a:extLst>
                  </a:tr>
                </a:tbl>
              </a:graphicData>
            </a:graphic>
          </p:graphicFrame>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B743B82E-1FC0-4F65-9DA7-D1F092B16939}"/>
                  </a:ext>
                </a:extLst>
              </p:cNvPr>
              <p:cNvSpPr txBox="1">
                <a:spLocks/>
              </p:cNvSpPr>
              <p:nvPr/>
            </p:nvSpPr>
            <p:spPr>
              <a:xfrm>
                <a:off x="137652" y="5437202"/>
                <a:ext cx="11592232" cy="13336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Observación importante</a:t>
                </a:r>
                <a:r>
                  <a:rPr lang="es-MX" sz="2000" dirty="0">
                    <a:latin typeface="+mn-lt"/>
                    <a:ea typeface="Roboto" panose="02000000000000000000" pitchFamily="2" charset="0"/>
                  </a:rPr>
                  <a:t>: </a:t>
                </a:r>
              </a:p>
              <a:p>
                <a:r>
                  <a:rPr lang="es-MX" sz="2000" dirty="0">
                    <a:latin typeface="+mn-lt"/>
                    <a:ea typeface="Roboto" panose="02000000000000000000" pitchFamily="2" charset="0"/>
                  </a:rPr>
                  <a:t>La unión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se representa por el operador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y la intersección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por el operador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endParaRPr lang="es-MX" sz="2000" dirty="0">
                  <a:latin typeface="+mn-lt"/>
                  <a:ea typeface="Roboto" panose="02000000000000000000" pitchFamily="2" charset="0"/>
                </a:endParaRPr>
              </a:p>
              <a:p>
                <a:r>
                  <a:rPr lang="es-MX" sz="2000" dirty="0">
                    <a:latin typeface="+mn-lt"/>
                    <a:ea typeface="Roboto" panose="02000000000000000000" pitchFamily="2" charset="0"/>
                  </a:rPr>
                  <a:t>El conjunto universal (</a:t>
                </a:r>
                <a14:m>
                  <m:oMath xmlns:m="http://schemas.openxmlformats.org/officeDocument/2006/math">
                    <m:r>
                      <a:rPr lang="es-MX" sz="2000" i="1" smtClean="0">
                        <a:latin typeface="Cambria Math" panose="02040503050406030204" pitchFamily="18" charset="0"/>
                        <a:ea typeface="Cambria Math" panose="02040503050406030204" pitchFamily="18" charset="0"/>
                      </a:rPr>
                      <m:t>𝕌</m:t>
                    </m:r>
                  </m:oMath>
                </a14:m>
                <a:r>
                  <a:rPr lang="es-MX" sz="2000" dirty="0">
                    <a:latin typeface="+mn-lt"/>
                    <a:ea typeface="Roboto" panose="02000000000000000000" pitchFamily="2" charset="0"/>
                  </a:rPr>
                  <a:t>) es representado por </a:t>
                </a:r>
                <a14:m>
                  <m:oMath xmlns:m="http://schemas.openxmlformats.org/officeDocument/2006/math">
                    <m:r>
                      <a:rPr lang="es-MX" sz="2000" b="1" i="1">
                        <a:latin typeface="Cambria Math" panose="02040503050406030204" pitchFamily="18" charset="0"/>
                        <a:ea typeface="Cambria Math" panose="02040503050406030204" pitchFamily="18" charset="0"/>
                      </a:rPr>
                      <m:t>𝟏</m:t>
                    </m:r>
                  </m:oMath>
                </a14:m>
                <a:r>
                  <a:rPr lang="es-MX" sz="2000" dirty="0">
                    <a:latin typeface="+mn-lt"/>
                    <a:ea typeface="Roboto" panose="02000000000000000000" pitchFamily="2" charset="0"/>
                  </a:rPr>
                  <a:t> y el conjunto vacío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es representado por </a:t>
                </a:r>
                <a14:m>
                  <m:oMath xmlns:m="http://schemas.openxmlformats.org/officeDocument/2006/math">
                    <m:r>
                      <a:rPr lang="es-MX" sz="2000" b="1" i="1">
                        <a:latin typeface="Cambria Math" panose="02040503050406030204" pitchFamily="18" charset="0"/>
                        <a:ea typeface="Cambria Math" panose="02040503050406030204" pitchFamily="18" charset="0"/>
                      </a:rPr>
                      <m:t>𝟎</m:t>
                    </m:r>
                  </m:oMath>
                </a14:m>
                <a:r>
                  <a:rPr lang="es-MX" sz="2000" dirty="0">
                    <a:latin typeface="+mn-lt"/>
                    <a:ea typeface="Roboto" panose="02000000000000000000" pitchFamily="2" charset="0"/>
                  </a:rPr>
                  <a:t>. </a:t>
                </a:r>
              </a:p>
              <a:p>
                <a:endParaRPr lang="es-MX" sz="20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B743B82E-1FC0-4F65-9DA7-D1F092B16939}"/>
                  </a:ext>
                </a:extLst>
              </p:cNvPr>
              <p:cNvSpPr txBox="1">
                <a:spLocks noRot="1" noChangeAspect="1" noMove="1" noResize="1" noEditPoints="1" noAdjustHandles="1" noChangeArrowheads="1" noChangeShapeType="1" noTextEdit="1"/>
              </p:cNvSpPr>
              <p:nvPr/>
            </p:nvSpPr>
            <p:spPr>
              <a:xfrm>
                <a:off x="137652" y="5437202"/>
                <a:ext cx="11592232" cy="1333619"/>
              </a:xfrm>
              <a:prstGeom prst="rect">
                <a:avLst/>
              </a:prstGeom>
              <a:blipFill>
                <a:blip r:embed="rId4"/>
                <a:stretch>
                  <a:fillRect b="-5479"/>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240126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58881" y="307928"/>
            <a:ext cx="1104429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 básicas para conjuntos</a:t>
            </a:r>
            <a:endParaRPr dirty="0"/>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358881" y="1231746"/>
                <a:ext cx="11044291" cy="14453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Aplicando las leyes fundamentales para el álgebra de conjuntos, demuestre que: </a:t>
                </a:r>
                <a:endParaRPr lang="es-MX" sz="2200" i="1" dirty="0">
                  <a:latin typeface="+mn-lt"/>
                  <a:ea typeface="Roboto" panose="02000000000000000000" pitchFamily="2" charset="0"/>
                </a:endParaRPr>
              </a:p>
              <a:p>
                <a:pPr marL="127000" indent="0">
                  <a:buNone/>
                </a:pPr>
                <a:endParaRPr lang="es-MX" sz="220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ctrlPr>
                            <a:rPr lang="es-MX" sz="2200" b="0" i="1" smtClean="0">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𝐶</m:t>
                              </m:r>
                            </m:e>
                          </m:d>
                        </m:e>
                      </m:d>
                      <m:r>
                        <a:rPr lang="es-MX" sz="2200" b="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Roboto" panose="02000000000000000000" pitchFamily="2" charset="0"/>
                            </a:rPr>
                            <m:t>𝐶</m:t>
                          </m:r>
                          <m:r>
                            <a:rPr lang="es-MX" sz="2200" b="0" i="1" smtClean="0">
                              <a:latin typeface="Cambria Math" panose="02040503050406030204" pitchFamily="18" charset="0"/>
                              <a:ea typeface="Roboto" panose="02000000000000000000" pitchFamily="2" charset="0"/>
                            </a:rPr>
                            <m:t>′+</m:t>
                          </m:r>
                          <m:r>
                            <a:rPr lang="es-MX" sz="2200" i="1">
                              <a:latin typeface="Cambria Math" panose="02040503050406030204" pitchFamily="18" charset="0"/>
                              <a:ea typeface="Cambria Math" panose="02040503050406030204" pitchFamily="18" charset="0"/>
                            </a:rPr>
                            <m:t>𝐵</m:t>
                          </m:r>
                          <m:r>
                            <a:rPr lang="es-MX" sz="2200" b="0" i="1" smtClean="0">
                              <a:latin typeface="Cambria Math" panose="02040503050406030204" pitchFamily="18" charset="0"/>
                              <a:ea typeface="Cambria Math" panose="02040503050406030204" pitchFamily="18" charset="0"/>
                            </a:rPr>
                            <m:t>′</m:t>
                          </m:r>
                        </m:e>
                      </m:d>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oMath>
                  </m:oMathPara>
                </a14:m>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358881" y="1231746"/>
                <a:ext cx="11044291" cy="1445302"/>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2483475561"/>
                  </p:ext>
                </p:extLst>
              </p:nvPr>
            </p:nvGraphicFramePr>
            <p:xfrm>
              <a:off x="3026881" y="2944014"/>
              <a:ext cx="6138237" cy="2260346"/>
            </p:xfrm>
            <a:graphic>
              <a:graphicData uri="http://schemas.openxmlformats.org/drawingml/2006/table">
                <a:tbl>
                  <a:tblPr firstRow="1" bandRow="1">
                    <a:tableStyleId>{AD6A3598-7CB8-4345-8D95-17CE05F158A0}</a:tableStyleId>
                  </a:tblPr>
                  <a:tblGrid>
                    <a:gridCol w="518837">
                      <a:extLst>
                        <a:ext uri="{9D8B030D-6E8A-4147-A177-3AD203B41FA5}">
                          <a16:colId xmlns:a16="http://schemas.microsoft.com/office/drawing/2014/main" val="1610952478"/>
                        </a:ext>
                      </a:extLst>
                    </a:gridCol>
                    <a:gridCol w="2561941">
                      <a:extLst>
                        <a:ext uri="{9D8B030D-6E8A-4147-A177-3AD203B41FA5}">
                          <a16:colId xmlns:a16="http://schemas.microsoft.com/office/drawing/2014/main" val="2942974496"/>
                        </a:ext>
                      </a:extLst>
                    </a:gridCol>
                    <a:gridCol w="3057459">
                      <a:extLst>
                        <a:ext uri="{9D8B030D-6E8A-4147-A177-3AD203B41FA5}">
                          <a16:colId xmlns:a16="http://schemas.microsoft.com/office/drawing/2014/main" val="4281859008"/>
                        </a:ext>
                      </a:extLst>
                    </a:gridCol>
                  </a:tblGrid>
                  <a:tr h="18869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274213">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1</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𝐵</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𝐶</m:t>
                                        </m:r>
                                      </m:e>
                                    </m:d>
                                  </m:e>
                                </m:d>
                                <m:r>
                                  <a:rPr lang="es-MX" sz="1800" b="0" i="1" smtClean="0">
                                    <a:latin typeface="Cambria Math" panose="02040503050406030204" pitchFamily="18" charset="0"/>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Lado izquierdo de la expresión</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28303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2</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Cambria Math" panose="02040503050406030204" pitchFamily="18" charset="0"/>
                                  </a:rPr>
                                  <m:t>⋅</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𝐵</m:t>
                                    </m:r>
                                    <m:r>
                                      <a:rPr lang="es-MX" sz="180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𝐶</m:t>
                                    </m:r>
                                  </m:e>
                                </m:d>
                                <m:r>
                                  <a:rPr lang="es-MX" sz="1800" b="0" i="1" smtClean="0">
                                    <a:latin typeface="Cambria Math" panose="02040503050406030204" pitchFamily="18" charset="0"/>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de Morgan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3</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Cambria Math" panose="02040503050406030204" pitchFamily="18" charset="0"/>
                                  </a:rPr>
                                  <m:t>⋅</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𝐶</m:t>
                                    </m:r>
                                    <m:r>
                                      <a:rPr lang="es-MX" sz="1800" b="0" i="1" smtClean="0">
                                        <a:latin typeface="Cambria Math" panose="02040503050406030204" pitchFamily="18" charset="0"/>
                                        <a:ea typeface="Cambria Math" panose="02040503050406030204" pitchFamily="18" charset="0"/>
                                      </a:rPr>
                                      <m:t>′</m:t>
                                    </m:r>
                                  </m:e>
                                </m:d>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de Morgan en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4</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𝐶</m:t>
                                    </m:r>
                                    <m:r>
                                      <a:rPr lang="es-MX" sz="1800" b="0" i="1" smtClean="0">
                                        <a:latin typeface="Cambria Math" panose="02040503050406030204" pitchFamily="18" charset="0"/>
                                        <a:ea typeface="Cambria Math" panose="02040503050406030204" pitchFamily="18" charset="0"/>
                                      </a:rPr>
                                      <m:t>′</m:t>
                                    </m:r>
                                  </m:e>
                                </m:d>
                                <m:r>
                                  <a:rPr lang="es-MX" sz="180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Ley conmutativa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5</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i="1" smtClean="0">
                                        <a:latin typeface="Cambria Math" panose="02040503050406030204" pitchFamily="18" charset="0"/>
                                        <a:ea typeface="Cambria Math" panose="02040503050406030204" pitchFamily="18" charset="0"/>
                                      </a:rPr>
                                    </m:ctrlPr>
                                  </m:dPr>
                                  <m:e>
                                    <m:sSup>
                                      <m:sSupPr>
                                        <m:ctrlPr>
                                          <a:rPr lang="es-MX" sz="1800" b="0" i="1" smtClean="0">
                                            <a:latin typeface="Cambria Math" panose="02040503050406030204" pitchFamily="18" charset="0"/>
                                            <a:ea typeface="Cambria Math" panose="02040503050406030204" pitchFamily="18" charset="0"/>
                                          </a:rPr>
                                        </m:ctrlPr>
                                      </m:sSupPr>
                                      <m:e>
                                        <m:r>
                                          <a:rPr lang="es-MX" sz="1800" i="1" smtClean="0">
                                            <a:latin typeface="Cambria Math" panose="02040503050406030204" pitchFamily="18" charset="0"/>
                                            <a:ea typeface="Cambria Math" panose="02040503050406030204" pitchFamily="18" charset="0"/>
                                          </a:rPr>
                                          <m:t>𝐶</m:t>
                                        </m:r>
                                      </m:e>
                                      <m:sup>
                                        <m:r>
                                          <a:rPr lang="es-MX" sz="1800" b="0" i="1" smtClean="0">
                                            <a:latin typeface="Cambria Math" panose="02040503050406030204" pitchFamily="18" charset="0"/>
                                            <a:ea typeface="Cambria Math" panose="02040503050406030204" pitchFamily="18" charset="0"/>
                                          </a:rPr>
                                          <m:t>′</m:t>
                                        </m:r>
                                      </m:sup>
                                    </m:sSup>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𝐵</m:t>
                                    </m:r>
                                    <m:r>
                                      <a:rPr lang="es-MX" sz="1800" b="0" i="1" smtClean="0">
                                        <a:latin typeface="Cambria Math" panose="02040503050406030204" pitchFamily="18" charset="0"/>
                                        <a:ea typeface="Cambria Math" panose="02040503050406030204" pitchFamily="18" charset="0"/>
                                      </a:rPr>
                                      <m:t>′</m:t>
                                    </m:r>
                                  </m:e>
                                </m:d>
                                <m:r>
                                  <a:rPr lang="es-MX" sz="180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Cambria Math" panose="02040503050406030204" pitchFamily="18"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Ley conmutativa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bl>
              </a:graphicData>
            </a:graphic>
          </p:graphicFrame>
        </mc:Choice>
        <mc:Fallback xmlns="">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2483475561"/>
                  </p:ext>
                </p:extLst>
              </p:nvPr>
            </p:nvGraphicFramePr>
            <p:xfrm>
              <a:off x="3026881" y="2944014"/>
              <a:ext cx="6138237" cy="2260346"/>
            </p:xfrm>
            <a:graphic>
              <a:graphicData uri="http://schemas.openxmlformats.org/drawingml/2006/table">
                <a:tbl>
                  <a:tblPr firstRow="1" bandRow="1">
                    <a:tableStyleId>{AD6A3598-7CB8-4345-8D95-17CE05F158A0}</a:tableStyleId>
                  </a:tblPr>
                  <a:tblGrid>
                    <a:gridCol w="518837">
                      <a:extLst>
                        <a:ext uri="{9D8B030D-6E8A-4147-A177-3AD203B41FA5}">
                          <a16:colId xmlns:a16="http://schemas.microsoft.com/office/drawing/2014/main" val="1610952478"/>
                        </a:ext>
                      </a:extLst>
                    </a:gridCol>
                    <a:gridCol w="2561941">
                      <a:extLst>
                        <a:ext uri="{9D8B030D-6E8A-4147-A177-3AD203B41FA5}">
                          <a16:colId xmlns:a16="http://schemas.microsoft.com/office/drawing/2014/main" val="2942974496"/>
                        </a:ext>
                      </a:extLst>
                    </a:gridCol>
                    <a:gridCol w="3057459">
                      <a:extLst>
                        <a:ext uri="{9D8B030D-6E8A-4147-A177-3AD203B41FA5}">
                          <a16:colId xmlns:a16="http://schemas.microsoft.com/office/drawing/2014/main" val="4281859008"/>
                        </a:ext>
                      </a:extLst>
                    </a:gridCol>
                  </a:tblGrid>
                  <a:tr h="3962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401066">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6061" r="-1087059" b="-38939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106061" r="-119477" b="-389394"/>
                          </a:stretch>
                        </a:blipFill>
                      </a:tcPr>
                    </a:tc>
                    <a:tc>
                      <a:txBody>
                        <a:bodyPr/>
                        <a:lstStyle/>
                        <a:p>
                          <a:r>
                            <a:rPr lang="es-CO" sz="1800" dirty="0">
                              <a:latin typeface="+mn-lt"/>
                              <a:ea typeface="Roboto" panose="02000000000000000000" pitchFamily="2" charset="0"/>
                            </a:rPr>
                            <a:t>Lado izquierdo de la expresión</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26667" r="-1087059" b="-328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226667" r="-119477" b="-328333"/>
                          </a:stretch>
                        </a:blipFill>
                      </a:tcPr>
                    </a:tc>
                    <a:tc>
                      <a:txBody>
                        <a:bodyPr/>
                        <a:lstStyle/>
                        <a:p>
                          <a:r>
                            <a:rPr lang="es-CO" sz="1800" b="0" dirty="0">
                              <a:latin typeface="+mn-lt"/>
                              <a:ea typeface="Roboto" panose="02000000000000000000" pitchFamily="2" charset="0"/>
                            </a:rPr>
                            <a:t>Ley de Morgan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21311" r="-1087059" b="-222951"/>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321311" r="-119477" b="-222951"/>
                          </a:stretch>
                        </a:blipFill>
                      </a:tcPr>
                    </a:tc>
                    <a:tc>
                      <a:txBody>
                        <a:bodyPr/>
                        <a:lstStyle/>
                        <a:p>
                          <a:r>
                            <a:rPr lang="es-CO" sz="1800" b="0" dirty="0">
                              <a:latin typeface="+mn-lt"/>
                              <a:ea typeface="Roboto" panose="02000000000000000000" pitchFamily="2" charset="0"/>
                            </a:rPr>
                            <a:t>Ley de Morgan en (2)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28333" r="-1087059" b="-1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428333" r="-119477" b="-126667"/>
                          </a:stretch>
                        </a:blipFill>
                      </a:tcPr>
                    </a:tc>
                    <a:tc>
                      <a:txBody>
                        <a:bodyPr/>
                        <a:lstStyle/>
                        <a:p>
                          <a:r>
                            <a:rPr lang="es-CO" sz="1800" dirty="0">
                              <a:latin typeface="+mn-lt"/>
                              <a:ea typeface="Roboto" panose="02000000000000000000" pitchFamily="2" charset="0"/>
                            </a:rPr>
                            <a:t>Ley conmutativa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528333" r="-1087059" b="-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90" t="-528333" r="-119477" b="-26667"/>
                          </a:stretch>
                        </a:blipFill>
                      </a:tcPr>
                    </a:tc>
                    <a:tc>
                      <a:txBody>
                        <a:bodyPr/>
                        <a:lstStyle/>
                        <a:p>
                          <a:r>
                            <a:rPr lang="es-CO" sz="1800" b="0" dirty="0">
                              <a:latin typeface="+mn-lt"/>
                              <a:ea typeface="Roboto" panose="02000000000000000000" pitchFamily="2" charset="0"/>
                            </a:rPr>
                            <a:t>Ley conmutativa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bl>
              </a:graphicData>
            </a:graphic>
          </p:graphicFrame>
        </mc:Fallback>
      </mc:AlternateContent>
    </p:spTree>
    <p:extLst>
      <p:ext uri="{BB962C8B-B14F-4D97-AF65-F5344CB8AC3E}">
        <p14:creationId xmlns:p14="http://schemas.microsoft.com/office/powerpoint/2010/main" val="2465937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560439" y="96038"/>
            <a:ext cx="86602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 básicas para conjuntos</a:t>
            </a:r>
            <a:endParaRPr dirty="0"/>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BBD38E2F-FE36-42C0-B6C0-29D97760C3BC}"/>
                  </a:ext>
                </a:extLst>
              </p:cNvPr>
              <p:cNvSpPr txBox="1">
                <a:spLocks/>
              </p:cNvSpPr>
              <p:nvPr/>
            </p:nvSpPr>
            <p:spPr>
              <a:xfrm>
                <a:off x="257886" y="903467"/>
                <a:ext cx="11044291" cy="14453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Aplicando las leyes fundamentales para el álgebra de conjuntos, simplifique: </a:t>
                </a:r>
                <a:endParaRPr lang="es-MX" sz="2200" i="1" dirty="0">
                  <a:latin typeface="+mn-lt"/>
                  <a:ea typeface="Roboto" panose="02000000000000000000" pitchFamily="2" charset="0"/>
                </a:endParaRPr>
              </a:p>
              <a:p>
                <a:pPr marL="127000" indent="0">
                  <a:buNone/>
                </a:pPr>
                <a:endParaRPr lang="es-MX" sz="220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ea typeface="Roboto" panose="02000000000000000000" pitchFamily="2" charset="0"/>
                        </a:rPr>
                        <m:t>𝐴𝐵𝐶</m:t>
                      </m:r>
                      <m:r>
                        <a:rPr lang="es-MX" sz="2200" i="1">
                          <a:latin typeface="Cambria Math" panose="02040503050406030204" pitchFamily="18" charset="0"/>
                          <a:ea typeface="Roboto" panose="02000000000000000000" pitchFamily="2" charset="0"/>
                        </a:rPr>
                        <m:t> + </m:t>
                      </m:r>
                      <m:r>
                        <a:rPr lang="es-MX" sz="2200" i="1">
                          <a:latin typeface="Cambria Math" panose="02040503050406030204" pitchFamily="18" charset="0"/>
                          <a:ea typeface="Roboto" panose="02000000000000000000" pitchFamily="2" charset="0"/>
                        </a:rPr>
                        <m:t>𝐴𝐵𝐶</m:t>
                      </m:r>
                      <m:r>
                        <a:rPr lang="es-MX" sz="2200" b="0" i="1" smtClean="0">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 + </m:t>
                      </m:r>
                      <m:r>
                        <a:rPr lang="es-MX" sz="2200" i="1">
                          <a:latin typeface="Cambria Math" panose="02040503050406030204" pitchFamily="18" charset="0"/>
                          <a:ea typeface="Roboto" panose="02000000000000000000" pitchFamily="2" charset="0"/>
                        </a:rPr>
                        <m:t>𝐴𝐵</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 + </m:t>
                      </m:r>
                      <m:r>
                        <a:rPr lang="es-MX" sz="2200" i="1">
                          <a:latin typeface="Cambria Math" panose="02040503050406030204" pitchFamily="18" charset="0"/>
                          <a:ea typeface="Roboto" panose="02000000000000000000" pitchFamily="2" charset="0"/>
                        </a:rPr>
                        <m:t>𝐴𝐵</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 </m:t>
                      </m:r>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𝐵𝐶</m:t>
                      </m:r>
                      <m:r>
                        <a:rPr lang="es-MX" sz="2200" i="1">
                          <a:latin typeface="Cambria Math" panose="02040503050406030204" pitchFamily="18" charset="0"/>
                          <a:ea typeface="Roboto" panose="02000000000000000000" pitchFamily="2" charset="0"/>
                        </a:rPr>
                        <m:t> + </m:t>
                      </m:r>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𝐵𝐶</m:t>
                      </m:r>
                      <m:r>
                        <a:rPr lang="es-MX" sz="2200" i="1">
                          <a:latin typeface="Cambria Math" panose="02040503050406030204" pitchFamily="18" charset="0"/>
                          <a:ea typeface="Roboto" panose="02000000000000000000" pitchFamily="2" charset="0"/>
                        </a:rPr>
                        <m:t>′+ </m:t>
                      </m:r>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 + </m:t>
                      </m:r>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m:t>
                      </m:r>
                    </m:oMath>
                  </m:oMathPara>
                </a14:m>
                <a:endParaRPr lang="es-MX" sz="2200" b="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BBD38E2F-FE36-42C0-B6C0-29D97760C3BC}"/>
                  </a:ext>
                </a:extLst>
              </p:cNvPr>
              <p:cNvSpPr txBox="1">
                <a:spLocks noRot="1" noChangeAspect="1" noMove="1" noResize="1" noEditPoints="1" noAdjustHandles="1" noChangeArrowheads="1" noChangeShapeType="1" noTextEdit="1"/>
              </p:cNvSpPr>
              <p:nvPr/>
            </p:nvSpPr>
            <p:spPr>
              <a:xfrm>
                <a:off x="257886" y="903467"/>
                <a:ext cx="11044291" cy="1445302"/>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1510401431"/>
                  </p:ext>
                </p:extLst>
              </p:nvPr>
            </p:nvGraphicFramePr>
            <p:xfrm>
              <a:off x="560439" y="2497552"/>
              <a:ext cx="10756587" cy="4053840"/>
            </p:xfrm>
            <a:graphic>
              <a:graphicData uri="http://schemas.openxmlformats.org/drawingml/2006/table">
                <a:tbl>
                  <a:tblPr firstRow="1" bandRow="1">
                    <a:tableStyleId>{AD6A3598-7CB8-4345-8D95-17CE05F158A0}</a:tableStyleId>
                  </a:tblPr>
                  <a:tblGrid>
                    <a:gridCol w="797590">
                      <a:extLst>
                        <a:ext uri="{9D8B030D-6E8A-4147-A177-3AD203B41FA5}">
                          <a16:colId xmlns:a16="http://schemas.microsoft.com/office/drawing/2014/main" val="1610952478"/>
                        </a:ext>
                      </a:extLst>
                    </a:gridCol>
                    <a:gridCol w="7761796">
                      <a:extLst>
                        <a:ext uri="{9D8B030D-6E8A-4147-A177-3AD203B41FA5}">
                          <a16:colId xmlns:a16="http://schemas.microsoft.com/office/drawing/2014/main" val="2942974496"/>
                        </a:ext>
                      </a:extLst>
                    </a:gridCol>
                    <a:gridCol w="2197201">
                      <a:extLst>
                        <a:ext uri="{9D8B030D-6E8A-4147-A177-3AD203B41FA5}">
                          <a16:colId xmlns:a16="http://schemas.microsoft.com/office/drawing/2014/main" val="4281859008"/>
                        </a:ext>
                      </a:extLst>
                    </a:gridCol>
                  </a:tblGrid>
                  <a:tr h="18869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274213">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1</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𝐴𝐵𝐶</m:t>
                                </m:r>
                                <m:r>
                                  <a:rPr lang="es-MX" sz="1800" i="1" smtClean="0">
                                    <a:latin typeface="Cambria Math" panose="02040503050406030204" pitchFamily="18" charset="0"/>
                                    <a:ea typeface="Roboto" panose="02000000000000000000" pitchFamily="2" charset="0"/>
                                  </a:rPr>
                                  <m:t> + </m:t>
                                </m:r>
                                <m:r>
                                  <a:rPr lang="es-MX" sz="1800" i="1" smtClean="0">
                                    <a:latin typeface="Cambria Math" panose="02040503050406030204" pitchFamily="18" charset="0"/>
                                    <a:ea typeface="Roboto" panose="02000000000000000000" pitchFamily="2" charset="0"/>
                                  </a:rPr>
                                  <m:t>𝐴𝐵𝐶</m:t>
                                </m:r>
                                <m:r>
                                  <a:rPr lang="es-MX" sz="1800" b="0" i="1" smtClean="0">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 + </m:t>
                                </m:r>
                                <m:r>
                                  <a:rPr lang="es-MX" sz="1800" i="1">
                                    <a:latin typeface="Cambria Math" panose="02040503050406030204" pitchFamily="18" charset="0"/>
                                    <a:ea typeface="Roboto" panose="02000000000000000000" pitchFamily="2" charset="0"/>
                                  </a:rPr>
                                  <m:t>𝐴𝐵</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r>
                                  <a:rPr lang="es-MX" sz="1800" i="1">
                                    <a:latin typeface="Cambria Math" panose="02040503050406030204" pitchFamily="18" charset="0"/>
                                    <a:ea typeface="Roboto" panose="02000000000000000000" pitchFamily="2" charset="0"/>
                                  </a:rPr>
                                  <m:t>𝐴𝐵</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m:t>
                                </m:r>
                                <m:r>
                                  <a:rPr lang="es-MX" sz="1800" i="1">
                                    <a:latin typeface="Cambria Math" panose="02040503050406030204" pitchFamily="18" charset="0"/>
                                    <a:ea typeface="Roboto" panose="02000000000000000000" pitchFamily="2" charset="0"/>
                                  </a:rPr>
                                  <m:t>𝐴</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𝐵𝐶</m:t>
                                </m:r>
                                <m:r>
                                  <a:rPr lang="es-MX" sz="1800" i="1">
                                    <a:latin typeface="Cambria Math" panose="02040503050406030204" pitchFamily="18" charset="0"/>
                                    <a:ea typeface="Roboto" panose="02000000000000000000" pitchFamily="2" charset="0"/>
                                  </a:rPr>
                                  <m:t> + </m:t>
                                </m:r>
                                <m:r>
                                  <a:rPr lang="es-MX" sz="1800" i="1">
                                    <a:latin typeface="Cambria Math" panose="02040503050406030204" pitchFamily="18" charset="0"/>
                                    <a:ea typeface="Roboto" panose="02000000000000000000" pitchFamily="2" charset="0"/>
                                  </a:rPr>
                                  <m:t>𝐴</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𝐵𝐶</m:t>
                                </m:r>
                                <m:r>
                                  <a:rPr lang="es-MX" sz="1800" i="1">
                                    <a:latin typeface="Cambria Math" panose="02040503050406030204" pitchFamily="18" charset="0"/>
                                    <a:ea typeface="Roboto" panose="02000000000000000000" pitchFamily="2" charset="0"/>
                                  </a:rPr>
                                  <m:t>′+ </m:t>
                                </m:r>
                                <m:r>
                                  <a:rPr lang="es-MX" sz="1800" i="1">
                                    <a:latin typeface="Cambria Math" panose="02040503050406030204" pitchFamily="18" charset="0"/>
                                    <a:ea typeface="Roboto" panose="02000000000000000000" pitchFamily="2" charset="0"/>
                                  </a:rPr>
                                  <m:t>𝐴</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r>
                                  <a:rPr lang="es-MX" sz="1800" i="1">
                                    <a:latin typeface="Cambria Math" panose="02040503050406030204" pitchFamily="18" charset="0"/>
                                    <a:ea typeface="Roboto" panose="02000000000000000000" pitchFamily="2" charset="0"/>
                                  </a:rPr>
                                  <m:t>𝐴</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m:t>
                                </m:r>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Lado </a:t>
                          </a:r>
                          <a:r>
                            <a:rPr lang="es-CO" sz="1800" dirty="0" err="1">
                              <a:latin typeface="+mn-lt"/>
                              <a:ea typeface="Roboto" panose="02000000000000000000" pitchFamily="2" charset="0"/>
                            </a:rPr>
                            <a:t>izquiedo</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28303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2</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b="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𝐴𝐵𝐶</m:t>
                                    </m:r>
                                    <m:r>
                                      <a:rPr lang="es-MX" sz="1800" i="1" smtClean="0">
                                        <a:latin typeface="Cambria Math" panose="02040503050406030204" pitchFamily="18" charset="0"/>
                                        <a:ea typeface="Roboto" panose="02000000000000000000" pitchFamily="2" charset="0"/>
                                      </a:rPr>
                                      <m:t> + </m:t>
                                    </m:r>
                                    <m:r>
                                      <a:rPr lang="es-MX" sz="1800" i="1" smtClean="0">
                                        <a:latin typeface="Cambria Math" panose="02040503050406030204" pitchFamily="18" charset="0"/>
                                        <a:ea typeface="Roboto" panose="02000000000000000000" pitchFamily="2" charset="0"/>
                                      </a:rPr>
                                      <m:t>𝐴𝐵</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𝐶</m:t>
                                        </m:r>
                                      </m:e>
                                      <m:sup>
                                        <m:r>
                                          <a:rPr lang="es-MX" sz="1800" b="0" i="1" smtClean="0">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 +</m:t>
                                </m:r>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𝐴</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𝐵</m:t>
                                        </m:r>
                                      </m:e>
                                      <m:sup>
                                        <m:r>
                                          <a:rPr lang="es-MX" sz="1800" i="1">
                                            <a:latin typeface="Cambria Math" panose="02040503050406030204" pitchFamily="18" charset="0"/>
                                            <a:ea typeface="Roboto" panose="02000000000000000000" pitchFamily="2" charset="0"/>
                                          </a:rPr>
                                          <m:t>′</m:t>
                                        </m:r>
                                      </m:sup>
                                    </m:sSup>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r>
                                      <a:rPr lang="es-MX" sz="1800" i="1">
                                        <a:latin typeface="Cambria Math" panose="02040503050406030204" pitchFamily="18" charset="0"/>
                                        <a:ea typeface="Roboto" panose="02000000000000000000" pitchFamily="2" charset="0"/>
                                      </a:rPr>
                                      <m:t>𝐴</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𝐵</m:t>
                                        </m:r>
                                      </m:e>
                                      <m:sup>
                                        <m:r>
                                          <a:rPr lang="es-MX" sz="1800" i="1">
                                            <a:latin typeface="Cambria Math" panose="02040503050406030204" pitchFamily="18" charset="0"/>
                                            <a:ea typeface="Roboto" panose="02000000000000000000" pitchFamily="2" charset="0"/>
                                          </a:rPr>
                                          <m:t>′</m:t>
                                        </m:r>
                                      </m:sup>
                                    </m:sSup>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d>
                                  <m:dPr>
                                    <m:ctrlPr>
                                      <a:rPr lang="es-MX" sz="1800" b="0" i="1" smtClean="0">
                                        <a:latin typeface="Cambria Math" panose="02040503050406030204" pitchFamily="18" charset="0"/>
                                        <a:ea typeface="Roboto" panose="02000000000000000000" pitchFamily="2" charset="0"/>
                                      </a:rPr>
                                    </m:ctrlPr>
                                  </m:dPr>
                                  <m:e>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𝐴</m:t>
                                        </m:r>
                                      </m:e>
                                      <m:sup>
                                        <m:r>
                                          <a:rPr lang="es-MX" sz="1800" i="1">
                                            <a:latin typeface="Cambria Math" panose="02040503050406030204" pitchFamily="18" charset="0"/>
                                            <a:ea typeface="Roboto" panose="02000000000000000000" pitchFamily="2" charset="0"/>
                                          </a:rPr>
                                          <m:t>′</m:t>
                                        </m:r>
                                      </m:sup>
                                    </m:sSup>
                                    <m:r>
                                      <a:rPr lang="es-MX" sz="1800" i="1">
                                        <a:latin typeface="Cambria Math" panose="02040503050406030204" pitchFamily="18" charset="0"/>
                                        <a:ea typeface="Roboto" panose="02000000000000000000" pitchFamily="2" charset="0"/>
                                      </a:rPr>
                                      <m:t>𝐵𝐶</m:t>
                                    </m:r>
                                    <m:r>
                                      <a:rPr lang="es-MX" sz="1800" i="1">
                                        <a:latin typeface="Cambria Math" panose="02040503050406030204" pitchFamily="18" charset="0"/>
                                        <a:ea typeface="Roboto" panose="02000000000000000000" pitchFamily="2" charset="0"/>
                                      </a:rPr>
                                      <m:t> + </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𝐴</m:t>
                                        </m:r>
                                      </m:e>
                                      <m:sup>
                                        <m:r>
                                          <a:rPr lang="es-MX" sz="1800" i="1">
                                            <a:latin typeface="Cambria Math" panose="02040503050406030204" pitchFamily="18" charset="0"/>
                                            <a:ea typeface="Roboto" panose="02000000000000000000" pitchFamily="2" charset="0"/>
                                          </a:rPr>
                                          <m:t>′</m:t>
                                        </m:r>
                                      </m:sup>
                                    </m:sSup>
                                    <m:r>
                                      <a:rPr lang="es-MX" sz="1800" i="1">
                                        <a:latin typeface="Cambria Math" panose="02040503050406030204" pitchFamily="18" charset="0"/>
                                        <a:ea typeface="Roboto" panose="02000000000000000000" pitchFamily="2" charset="0"/>
                                      </a:rPr>
                                      <m:t>𝐵</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d>
                                  <m:dPr>
                                    <m:ctrlPr>
                                      <a:rPr lang="es-MX" sz="1800" b="0" i="1" smtClean="0">
                                        <a:latin typeface="Cambria Math" panose="02040503050406030204" pitchFamily="18" charset="0"/>
                                        <a:ea typeface="Roboto" panose="02000000000000000000" pitchFamily="2" charset="0"/>
                                      </a:rPr>
                                    </m:ctrlPr>
                                  </m:dPr>
                                  <m:e>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𝐴</m:t>
                                        </m:r>
                                      </m:e>
                                      <m:sup>
                                        <m:r>
                                          <a:rPr lang="es-MX" sz="1800" i="1">
                                            <a:latin typeface="Cambria Math" panose="02040503050406030204" pitchFamily="18" charset="0"/>
                                            <a:ea typeface="Roboto" panose="02000000000000000000" pitchFamily="2" charset="0"/>
                                          </a:rPr>
                                          <m:t>′</m:t>
                                        </m:r>
                                      </m:sup>
                                    </m:sSup>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𝐵</m:t>
                                        </m:r>
                                      </m:e>
                                      <m:sup>
                                        <m:r>
                                          <a:rPr lang="es-MX" sz="1800" i="1">
                                            <a:latin typeface="Cambria Math" panose="02040503050406030204" pitchFamily="18" charset="0"/>
                                            <a:ea typeface="Roboto" panose="02000000000000000000" pitchFamily="2" charset="0"/>
                                          </a:rPr>
                                          <m:t>′</m:t>
                                        </m:r>
                                      </m:sup>
                                    </m:sSup>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𝐴</m:t>
                                        </m:r>
                                      </m:e>
                                      <m:sup>
                                        <m:r>
                                          <a:rPr lang="es-MX" sz="1800" i="1">
                                            <a:latin typeface="Cambria Math" panose="02040503050406030204" pitchFamily="18" charset="0"/>
                                            <a:ea typeface="Roboto" panose="02000000000000000000" pitchFamily="2" charset="0"/>
                                          </a:rPr>
                                          <m:t>′</m:t>
                                        </m:r>
                                      </m:sup>
                                    </m:sSup>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𝐵</m:t>
                                        </m:r>
                                      </m:e>
                                      <m:sup>
                                        <m:r>
                                          <a:rPr lang="es-MX" sz="1800" i="1">
                                            <a:latin typeface="Cambria Math" panose="02040503050406030204" pitchFamily="18" charset="0"/>
                                            <a:ea typeface="Roboto" panose="02000000000000000000" pitchFamily="2" charset="0"/>
                                          </a:rPr>
                                          <m:t>′</m:t>
                                        </m:r>
                                      </m:sup>
                                    </m:sSup>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oMath>
                            </m:oMathPara>
                          </a14:m>
                          <a:endParaRPr lang="es-MX" sz="18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Asociatividad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3</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𝐴𝐵</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𝐶</m:t>
                                    </m:r>
                                    <m:r>
                                      <a:rPr lang="es-MX" sz="1800" i="1" smtClean="0">
                                        <a:latin typeface="Cambria Math" panose="02040503050406030204" pitchFamily="18" charset="0"/>
                                        <a:ea typeface="Roboto" panose="02000000000000000000" pitchFamily="2" charset="0"/>
                                      </a:rPr>
                                      <m:t> + </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𝐶</m:t>
                                        </m:r>
                                      </m:e>
                                      <m:sup>
                                        <m:r>
                                          <a:rPr lang="es-MX" sz="1800" b="0" i="1" smtClean="0">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 +</m:t>
                                </m:r>
                                <m:r>
                                  <a:rPr lang="es-MX" sz="1800" i="1" smtClean="0">
                                    <a:latin typeface="Cambria Math" panose="02040503050406030204" pitchFamily="18" charset="0"/>
                                    <a:ea typeface="Roboto" panose="02000000000000000000" pitchFamily="2" charset="0"/>
                                  </a:rPr>
                                  <m:t>𝐴𝐵</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𝐶</m:t>
                                    </m:r>
                                    <m:r>
                                      <a:rPr lang="es-MX" sz="1800" i="1">
                                        <a:latin typeface="Cambria Math" panose="02040503050406030204" pitchFamily="18" charset="0"/>
                                        <a:ea typeface="Roboto" panose="02000000000000000000" pitchFamily="2" charset="0"/>
                                      </a:rPr>
                                      <m:t> + </m:t>
                                    </m:r>
                                    <m:sSup>
                                      <m:sSupPr>
                                        <m:ctrlPr>
                                          <a:rPr lang="es-MX" sz="1800" i="1">
                                            <a:latin typeface="Cambria Math" panose="02040503050406030204" pitchFamily="18" charset="0"/>
                                            <a:ea typeface="Roboto" panose="02000000000000000000" pitchFamily="2" charset="0"/>
                                          </a:rPr>
                                        </m:ctrlPr>
                                      </m:sSupPr>
                                      <m:e>
                                        <m:r>
                                          <a:rPr lang="es-MX" sz="1800" i="1">
                                            <a:latin typeface="Cambria Math" panose="02040503050406030204" pitchFamily="18" charset="0"/>
                                            <a:ea typeface="Roboto" panose="02000000000000000000" pitchFamily="2" charset="0"/>
                                          </a:rPr>
                                          <m:t>𝐶</m:t>
                                        </m:r>
                                      </m:e>
                                      <m:sup>
                                        <m:r>
                                          <a:rPr lang="es-MX" sz="1800" i="1">
                                            <a:latin typeface="Cambria Math" panose="02040503050406030204" pitchFamily="18" charset="0"/>
                                            <a:ea typeface="Roboto" panose="02000000000000000000" pitchFamily="2" charset="0"/>
                                          </a:rPr>
                                          <m:t>′</m:t>
                                        </m:r>
                                      </m:sup>
                                    </m:sSup>
                                  </m:e>
                                </m:d>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Distributividad en (2)</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4</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𝐴𝐵</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r>
                                  <a:rPr lang="es-MX" sz="1800" i="1">
                                    <a:latin typeface="Cambria Math" panose="02040503050406030204" pitchFamily="18" charset="0"/>
                                    <a:ea typeface="Roboto" panose="02000000000000000000" pitchFamily="2" charset="0"/>
                                  </a:rPr>
                                  <m:t> +</m:t>
                                </m:r>
                                <m:r>
                                  <a:rPr lang="es-MX" sz="1800" i="1" smtClean="0">
                                    <a:latin typeface="Cambria Math" panose="02040503050406030204" pitchFamily="18" charset="0"/>
                                    <a:ea typeface="Roboto" panose="02000000000000000000" pitchFamily="2" charset="0"/>
                                  </a:rPr>
                                  <m:t>𝐴𝐵</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Complemento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184406">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5</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𝐴𝐵</m:t>
                                </m:r>
                                <m:r>
                                  <a:rPr lang="es-MX" sz="1800" i="1">
                                    <a:latin typeface="Cambria Math" panose="02040503050406030204" pitchFamily="18" charset="0"/>
                                    <a:ea typeface="Roboto" panose="02000000000000000000" pitchFamily="2" charset="0"/>
                                  </a:rPr>
                                  <m:t> +</m:t>
                                </m:r>
                                <m:r>
                                  <a:rPr lang="es-MX" sz="1800" i="1" smtClean="0">
                                    <a:latin typeface="Cambria Math" panose="02040503050406030204" pitchFamily="18" charset="0"/>
                                    <a:ea typeface="Roboto" panose="02000000000000000000" pitchFamily="2" charset="0"/>
                                  </a:rPr>
                                  <m:t>𝐴𝐵</m:t>
                                </m:r>
                                <m:r>
                                  <a:rPr lang="es-MX" sz="1800" b="0" i="1" smtClean="0">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𝐵</m:t>
                                </m:r>
                                <m:r>
                                  <a:rPr lang="es-MX" sz="1800" b="0" i="1" smtClean="0">
                                    <a:latin typeface="Cambria Math" panose="02040503050406030204" pitchFamily="18" charset="0"/>
                                    <a:ea typeface="Roboto" panose="02000000000000000000" pitchFamily="2" charset="0"/>
                                  </a:rPr>
                                  <m:t>′</m:t>
                                </m:r>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Identidad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6</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1800" b="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𝐴𝐵</m:t>
                                    </m:r>
                                    <m:r>
                                      <a:rPr lang="es-MX" sz="1800" i="1">
                                        <a:latin typeface="Cambria Math" panose="02040503050406030204" pitchFamily="18" charset="0"/>
                                        <a:ea typeface="Roboto" panose="02000000000000000000" pitchFamily="2" charset="0"/>
                                      </a:rPr>
                                      <m:t> +</m:t>
                                    </m:r>
                                    <m:r>
                                      <a:rPr lang="es-MX" sz="1800" i="1" smtClean="0">
                                        <a:latin typeface="Cambria Math" panose="02040503050406030204" pitchFamily="18" charset="0"/>
                                        <a:ea typeface="Roboto" panose="02000000000000000000" pitchFamily="2" charset="0"/>
                                      </a:rPr>
                                      <m:t>𝐴</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𝐵</m:t>
                                        </m:r>
                                      </m:e>
                                      <m:sup>
                                        <m:r>
                                          <a:rPr lang="es-MX" sz="1800" b="0" i="1" smtClean="0">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d>
                                  <m:dPr>
                                    <m:ctrlPr>
                                      <a:rPr lang="es-MX" sz="1800" b="0" i="1" smtClean="0">
                                        <a:latin typeface="Cambria Math" panose="02040503050406030204" pitchFamily="18" charset="0"/>
                                        <a:ea typeface="Roboto" panose="02000000000000000000" pitchFamily="2" charset="0"/>
                                      </a:rPr>
                                    </m:ctrlPr>
                                  </m:dPr>
                                  <m:e>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𝐴</m:t>
                                        </m:r>
                                      </m:e>
                                      <m:sup>
                                        <m:r>
                                          <a:rPr lang="es-MX" sz="1800" b="0" i="1" smtClean="0">
                                            <a:latin typeface="Cambria Math" panose="02040503050406030204" pitchFamily="18" charset="0"/>
                                            <a:ea typeface="Roboto" panose="02000000000000000000" pitchFamily="2" charset="0"/>
                                          </a:rPr>
                                          <m:t>′</m:t>
                                        </m:r>
                                      </m:sup>
                                    </m:sSup>
                                    <m:r>
                                      <a:rPr lang="es-MX" sz="1800" i="1" smtClean="0">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𝐴</m:t>
                                        </m:r>
                                      </m:e>
                                      <m:sup>
                                        <m:r>
                                          <a:rPr lang="es-MX" sz="1800" b="0" i="1" smtClean="0">
                                            <a:latin typeface="Cambria Math" panose="02040503050406030204" pitchFamily="18" charset="0"/>
                                            <a:ea typeface="Roboto" panose="02000000000000000000" pitchFamily="2" charset="0"/>
                                          </a:rPr>
                                          <m:t>′</m:t>
                                        </m:r>
                                      </m:sup>
                                    </m:sSup>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𝐵</m:t>
                                        </m:r>
                                      </m:e>
                                      <m:sup>
                                        <m:r>
                                          <a:rPr lang="es-MX" sz="1800" b="0" i="1" smtClean="0">
                                            <a:latin typeface="Cambria Math" panose="02040503050406030204" pitchFamily="18" charset="0"/>
                                            <a:ea typeface="Roboto" panose="02000000000000000000" pitchFamily="2" charset="0"/>
                                          </a:rPr>
                                          <m:t>′</m:t>
                                        </m:r>
                                      </m:sup>
                                    </m:sSup>
                                  </m:e>
                                </m:d>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Asociatividad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7</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 +</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𝐵</m:t>
                                        </m:r>
                                      </m:e>
                                      <m:sup>
                                        <m:r>
                                          <a:rPr lang="es-MX" sz="1800" b="0" i="1" smtClean="0">
                                            <a:latin typeface="Cambria Math" panose="02040503050406030204" pitchFamily="18" charset="0"/>
                                            <a:ea typeface="Roboto" panose="02000000000000000000" pitchFamily="2" charset="0"/>
                                          </a:rPr>
                                          <m:t>′</m:t>
                                        </m:r>
                                      </m:sup>
                                    </m:sSup>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i="1" smtClean="0">
                                        <a:latin typeface="Cambria Math" panose="02040503050406030204" pitchFamily="18" charset="0"/>
                                        <a:ea typeface="Roboto" panose="02000000000000000000" pitchFamily="2" charset="0"/>
                                      </a:rPr>
                                      <m:t>𝐵</m:t>
                                    </m:r>
                                    <m:r>
                                      <a:rPr lang="es-MX" sz="1800" i="1">
                                        <a:latin typeface="Cambria Math" panose="02040503050406030204" pitchFamily="18" charset="0"/>
                                        <a:ea typeface="Roboto" panose="02000000000000000000" pitchFamily="2" charset="0"/>
                                      </a:rPr>
                                      <m:t>+</m:t>
                                    </m:r>
                                    <m:sSup>
                                      <m:sSupPr>
                                        <m:ctrlPr>
                                          <a:rPr lang="es-MX" sz="1800" b="0" i="1" smtClean="0">
                                            <a:latin typeface="Cambria Math" panose="02040503050406030204" pitchFamily="18" charset="0"/>
                                            <a:ea typeface="Roboto" panose="02000000000000000000" pitchFamily="2" charset="0"/>
                                          </a:rPr>
                                        </m:ctrlPr>
                                      </m:sSupPr>
                                      <m:e>
                                        <m:r>
                                          <a:rPr lang="es-MX" sz="1800" i="1" smtClean="0">
                                            <a:latin typeface="Cambria Math" panose="02040503050406030204" pitchFamily="18" charset="0"/>
                                            <a:ea typeface="Roboto" panose="02000000000000000000" pitchFamily="2" charset="0"/>
                                          </a:rPr>
                                          <m:t>𝐵</m:t>
                                        </m:r>
                                      </m:e>
                                      <m:sup>
                                        <m:r>
                                          <a:rPr lang="es-MX" sz="1800" b="0" i="1" smtClean="0">
                                            <a:latin typeface="Cambria Math" panose="02040503050406030204" pitchFamily="18" charset="0"/>
                                            <a:ea typeface="Roboto" panose="02000000000000000000" pitchFamily="2" charset="0"/>
                                          </a:rPr>
                                          <m:t>′</m:t>
                                        </m:r>
                                      </m:sup>
                                    </m:sSup>
                                  </m:e>
                                </m:d>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Distributividad en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479867"/>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8</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Cambria Math" panose="02040503050406030204" pitchFamily="18" charset="0"/>
                                  </a:rPr>
                                  <m:t>⋅</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e>
                                </m:d>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Complemento en (7)</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8523908"/>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rPr>
                                  <m:t>9</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Roboto" panose="02000000000000000000" pitchFamily="2" charset="0"/>
                                  </a:rPr>
                                  <m:t>𝐴</m:t>
                                </m:r>
                                <m:r>
                                  <a:rPr lang="es-MX" sz="1800" i="1">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𝐴</m:t>
                                </m:r>
                                <m:r>
                                  <a:rPr lang="es-MX" sz="1800" b="0" i="1" smtClean="0">
                                    <a:latin typeface="Cambria Math" panose="02040503050406030204" pitchFamily="18" charset="0"/>
                                    <a:ea typeface="Roboto" panose="02000000000000000000" pitchFamily="2" charset="0"/>
                                  </a:rPr>
                                  <m:t>′</m:t>
                                </m:r>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Identidad en (8)</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9463925"/>
                      </a:ext>
                    </a:extLst>
                  </a:tr>
                  <a:tr h="16982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rPr>
                                  <m:t>10</m:t>
                                </m:r>
                              </m:oMath>
                            </m:oMathPara>
                          </a14:m>
                          <a:endParaRPr lang="es-CO" sz="18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Roboto" panose="02000000000000000000" pitchFamily="2" charset="0"/>
                                  </a:rPr>
                                  <m:t>1</m:t>
                                </m:r>
                              </m:oMath>
                            </m:oMathPara>
                          </a14:m>
                          <a:endParaRPr lang="es-CO" sz="18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Complemento en (9)</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4210305"/>
                      </a:ext>
                    </a:extLst>
                  </a:tr>
                </a:tbl>
              </a:graphicData>
            </a:graphic>
          </p:graphicFrame>
        </mc:Choice>
        <mc:Fallback xmlns="">
          <p:graphicFrame>
            <p:nvGraphicFramePr>
              <p:cNvPr id="7" name="Tabla 2">
                <a:extLst>
                  <a:ext uri="{FF2B5EF4-FFF2-40B4-BE49-F238E27FC236}">
                    <a16:creationId xmlns:a16="http://schemas.microsoft.com/office/drawing/2014/main" id="{3A1905AC-BF90-4405-B354-9E9CCD510688}"/>
                  </a:ext>
                </a:extLst>
              </p:cNvPr>
              <p:cNvGraphicFramePr>
                <a:graphicFrameLocks noGrp="1"/>
              </p:cNvGraphicFramePr>
              <p:nvPr>
                <p:extLst>
                  <p:ext uri="{D42A27DB-BD31-4B8C-83A1-F6EECF244321}">
                    <p14:modId xmlns:p14="http://schemas.microsoft.com/office/powerpoint/2010/main" val="1510401431"/>
                  </p:ext>
                </p:extLst>
              </p:nvPr>
            </p:nvGraphicFramePr>
            <p:xfrm>
              <a:off x="560439" y="2497552"/>
              <a:ext cx="10756587" cy="4053840"/>
            </p:xfrm>
            <a:graphic>
              <a:graphicData uri="http://schemas.openxmlformats.org/drawingml/2006/table">
                <a:tbl>
                  <a:tblPr firstRow="1" bandRow="1">
                    <a:tableStyleId>{AD6A3598-7CB8-4345-8D95-17CE05F158A0}</a:tableStyleId>
                  </a:tblPr>
                  <a:tblGrid>
                    <a:gridCol w="797590">
                      <a:extLst>
                        <a:ext uri="{9D8B030D-6E8A-4147-A177-3AD203B41FA5}">
                          <a16:colId xmlns:a16="http://schemas.microsoft.com/office/drawing/2014/main" val="1610952478"/>
                        </a:ext>
                      </a:extLst>
                    </a:gridCol>
                    <a:gridCol w="7761796">
                      <a:extLst>
                        <a:ext uri="{9D8B030D-6E8A-4147-A177-3AD203B41FA5}">
                          <a16:colId xmlns:a16="http://schemas.microsoft.com/office/drawing/2014/main" val="2942974496"/>
                        </a:ext>
                      </a:extLst>
                    </a:gridCol>
                    <a:gridCol w="2197201">
                      <a:extLst>
                        <a:ext uri="{9D8B030D-6E8A-4147-A177-3AD203B41FA5}">
                          <a16:colId xmlns:a16="http://schemas.microsoft.com/office/drawing/2014/main" val="4281859008"/>
                        </a:ext>
                      </a:extLst>
                    </a:gridCol>
                  </a:tblGrid>
                  <a:tr h="3962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6667" r="-1248855" b="-928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116667" r="-28414" b="-928333"/>
                          </a:stretch>
                        </a:blipFill>
                      </a:tcPr>
                    </a:tc>
                    <a:tc>
                      <a:txBody>
                        <a:bodyPr/>
                        <a:lstStyle/>
                        <a:p>
                          <a:r>
                            <a:rPr lang="es-CO" sz="1800" dirty="0">
                              <a:latin typeface="+mn-lt"/>
                              <a:ea typeface="Roboto" panose="02000000000000000000" pitchFamily="2" charset="0"/>
                            </a:rPr>
                            <a:t>Lado </a:t>
                          </a:r>
                          <a:r>
                            <a:rPr lang="es-CO" sz="1800" dirty="0" err="1">
                              <a:latin typeface="+mn-lt"/>
                              <a:ea typeface="Roboto" panose="02000000000000000000" pitchFamily="2" charset="0"/>
                            </a:rPr>
                            <a:t>izquiedo</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16667" r="-1248855" b="-828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216667" r="-28414" b="-828333"/>
                          </a:stretch>
                        </a:blipFill>
                      </a:tcPr>
                    </a:tc>
                    <a:tc>
                      <a:txBody>
                        <a:bodyPr/>
                        <a:lstStyle/>
                        <a:p>
                          <a:r>
                            <a:rPr lang="es-CO" sz="1800" b="0" dirty="0">
                              <a:latin typeface="+mn-lt"/>
                              <a:ea typeface="Roboto" panose="02000000000000000000" pitchFamily="2" charset="0"/>
                            </a:rPr>
                            <a:t>Asociatividad en (1)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16667" r="-1248855" b="-728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316667" r="-28414" b="-728333"/>
                          </a:stretch>
                        </a:blipFill>
                      </a:tcPr>
                    </a:tc>
                    <a:tc>
                      <a:txBody>
                        <a:bodyPr/>
                        <a:lstStyle/>
                        <a:p>
                          <a:r>
                            <a:rPr lang="es-CO" sz="1800" dirty="0">
                              <a:latin typeface="+mn-lt"/>
                              <a:ea typeface="Roboto" panose="02000000000000000000" pitchFamily="2" charset="0"/>
                            </a:rPr>
                            <a:t>Distributividad en (2)</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16667" r="-1248855" b="-6283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416667" r="-28414" b="-628333"/>
                          </a:stretch>
                        </a:blipFill>
                      </a:tcPr>
                    </a:tc>
                    <a:tc>
                      <a:txBody>
                        <a:bodyPr/>
                        <a:lstStyle/>
                        <a:p>
                          <a:r>
                            <a:rPr lang="es-CO" sz="1800" dirty="0">
                              <a:latin typeface="+mn-lt"/>
                              <a:ea typeface="Roboto" panose="02000000000000000000" pitchFamily="2" charset="0"/>
                            </a:rPr>
                            <a:t>Complemento en (3)</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508197" r="-1248855" b="-51803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508197" r="-28414" b="-518033"/>
                          </a:stretch>
                        </a:blipFill>
                      </a:tcPr>
                    </a:tc>
                    <a:tc>
                      <a:txBody>
                        <a:bodyPr/>
                        <a:lstStyle/>
                        <a:p>
                          <a:r>
                            <a:rPr lang="es-CO" sz="1800" b="0" dirty="0">
                              <a:latin typeface="+mn-lt"/>
                              <a:ea typeface="Roboto" panose="02000000000000000000" pitchFamily="2" charset="0"/>
                            </a:rPr>
                            <a:t>Identidad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18333" r="-1248855" b="-4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618333" r="-28414" b="-426667"/>
                          </a:stretch>
                        </a:blipFill>
                      </a:tcPr>
                    </a:tc>
                    <a:tc>
                      <a:txBody>
                        <a:bodyPr/>
                        <a:lstStyle/>
                        <a:p>
                          <a:r>
                            <a:rPr lang="es-CO" sz="1800" b="0" dirty="0">
                              <a:latin typeface="+mn-lt"/>
                              <a:ea typeface="Roboto" panose="02000000000000000000" pitchFamily="2" charset="0"/>
                            </a:rPr>
                            <a:t>Asociatividad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18333" r="-1248855" b="-3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718333" r="-28414" b="-326667"/>
                          </a:stretch>
                        </a:blipFill>
                      </a:tcPr>
                    </a:tc>
                    <a:tc>
                      <a:txBody>
                        <a:bodyPr/>
                        <a:lstStyle/>
                        <a:p>
                          <a:r>
                            <a:rPr lang="es-CO" sz="1800" b="0" dirty="0">
                              <a:latin typeface="+mn-lt"/>
                              <a:ea typeface="Roboto" panose="02000000000000000000" pitchFamily="2" charset="0"/>
                            </a:rPr>
                            <a:t>Distributividad en (6)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479867"/>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18333" r="-1248855" b="-2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818333" r="-28414" b="-22666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Complemento en (7)</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8523908"/>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18333" r="-1248855" b="-1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918333" r="-28414" b="-12666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Identidad en (8)</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9463925"/>
                      </a:ext>
                    </a:extLst>
                  </a:tr>
                  <a:tr h="36576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18333" r="-1248855" b="-26667"/>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283" t="-1018333" r="-28414" b="-2666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dirty="0">
                              <a:latin typeface="+mn-lt"/>
                              <a:ea typeface="Roboto" panose="02000000000000000000" pitchFamily="2" charset="0"/>
                            </a:rPr>
                            <a:t>Complemento en (9)</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4210305"/>
                      </a:ext>
                    </a:extLst>
                  </a:tr>
                </a:tbl>
              </a:graphicData>
            </a:graphic>
          </p:graphicFrame>
        </mc:Fallback>
      </mc:AlternateContent>
    </p:spTree>
    <p:extLst>
      <p:ext uri="{BB962C8B-B14F-4D97-AF65-F5344CB8AC3E}">
        <p14:creationId xmlns:p14="http://schemas.microsoft.com/office/powerpoint/2010/main" val="308430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09716" y="96038"/>
            <a:ext cx="1114978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Identidades básicas de cardinalidad</a:t>
            </a:r>
            <a:endParaRPr dirty="0"/>
          </a:p>
        </p:txBody>
      </p:sp>
      <mc:AlternateContent xmlns:mc="http://schemas.openxmlformats.org/markup-compatibility/2006" xmlns:a14="http://schemas.microsoft.com/office/drawing/2010/main">
        <mc:Choice Requires="a14">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938061380"/>
                  </p:ext>
                </p:extLst>
              </p:nvPr>
            </p:nvGraphicFramePr>
            <p:xfrm>
              <a:off x="2322154" y="1045538"/>
              <a:ext cx="7872156" cy="4358640"/>
            </p:xfrm>
            <a:graphic>
              <a:graphicData uri="http://schemas.openxmlformats.org/drawingml/2006/table">
                <a:tbl>
                  <a:tblPr firstRow="1" bandRow="1">
                    <a:tableStyleId>{AD6A3598-7CB8-4345-8D95-17CE05F158A0}</a:tableStyleId>
                  </a:tblPr>
                  <a:tblGrid>
                    <a:gridCol w="1594361">
                      <a:extLst>
                        <a:ext uri="{9D8B030D-6E8A-4147-A177-3AD203B41FA5}">
                          <a16:colId xmlns:a16="http://schemas.microsoft.com/office/drawing/2014/main" val="2419793140"/>
                        </a:ext>
                      </a:extLst>
                    </a:gridCol>
                    <a:gridCol w="6277795">
                      <a:extLst>
                        <a:ext uri="{9D8B030D-6E8A-4147-A177-3AD203B41FA5}">
                          <a16:colId xmlns:a16="http://schemas.microsoft.com/office/drawing/2014/main" val="2761119023"/>
                        </a:ext>
                      </a:extLst>
                    </a:gridCol>
                  </a:tblGrid>
                  <a:tr h="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2000" b="1" dirty="0">
                              <a:latin typeface="+mn-lt"/>
                              <a:ea typeface="Roboto" panose="02000000000000000000" pitchFamily="2" charset="0"/>
                            </a:rPr>
                            <a:t>Equivalencia</a:t>
                          </a:r>
                        </a:p>
                      </a:txBody>
                      <a:tcPr>
                        <a:solidFill>
                          <a:schemeClr val="bg1">
                            <a:lumMod val="95000"/>
                          </a:schemeClr>
                        </a:solidFill>
                      </a:tcPr>
                    </a:tc>
                    <a:extLst>
                      <a:ext uri="{0D108BD9-81ED-4DB2-BD59-A6C34878D82A}">
                        <a16:rowId xmlns:a16="http://schemas.microsoft.com/office/drawing/2014/main" val="1624526593"/>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1</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Cambria Math" panose="02040503050406030204" pitchFamily="18" charset="0"/>
                                  </a:rPr>
                                  <m:t>=0</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3154515760"/>
                      </a:ext>
                    </a:extLst>
                  </a:tr>
                  <a:tr h="213585">
                    <a:tc>
                      <a:txBody>
                        <a:bodyPr/>
                        <a:lstStyle/>
                        <a:p>
                          <a:r>
                            <a:rPr lang="es-CO" sz="2000" b="1" dirty="0">
                              <a:latin typeface="+mn-lt"/>
                              <a:ea typeface="Roboto" panose="02000000000000000000" pitchFamily="2" charset="0"/>
                            </a:rPr>
                            <a:t>2</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1913743916"/>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3</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1512456821"/>
                      </a:ext>
                    </a:extLst>
                  </a:tr>
                  <a:tr h="213585">
                    <a:tc>
                      <a:txBody>
                        <a:bodyPr/>
                        <a:lstStyle/>
                        <a:p>
                          <a:r>
                            <a:rPr lang="es-CO" sz="2000" b="1" dirty="0">
                              <a:latin typeface="+mn-lt"/>
                              <a:ea typeface="Roboto" panose="02000000000000000000" pitchFamily="2" charset="0"/>
                            </a:rPr>
                            <a:t>4</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717401643"/>
                      </a:ext>
                    </a:extLst>
                  </a:tr>
                  <a:tr h="213585">
                    <a:tc>
                      <a:txBody>
                        <a:bodyPr/>
                        <a:lstStyle/>
                        <a:p>
                          <a:r>
                            <a:rPr lang="es-CO" sz="2000" b="1" dirty="0">
                              <a:latin typeface="+mn-lt"/>
                              <a:ea typeface="Roboto" panose="02000000000000000000" pitchFamily="2" charset="0"/>
                            </a:rPr>
                            <a:t>5</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2246818852"/>
                      </a:ext>
                    </a:extLst>
                  </a:tr>
                  <a:tr h="213585">
                    <a:tc>
                      <a:txBody>
                        <a:bodyPr/>
                        <a:lstStyle/>
                        <a:p>
                          <a:r>
                            <a:rPr lang="es-CO" sz="2000" b="1" dirty="0">
                              <a:latin typeface="+mn-lt"/>
                              <a:ea typeface="Roboto" panose="02000000000000000000" pitchFamily="2" charset="0"/>
                            </a:rPr>
                            <a:t>6</a:t>
                          </a:r>
                        </a:p>
                      </a:txBody>
                      <a:tcPr/>
                    </a:tc>
                    <a:tc>
                      <a:txBody>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1992230363"/>
                      </a:ext>
                    </a:extLst>
                  </a:tr>
                  <a:tr h="213585">
                    <a:tc>
                      <a:txBody>
                        <a:bodyPr/>
                        <a:lstStyle/>
                        <a:p>
                          <a:r>
                            <a:rPr lang="es-CO" sz="2000" b="1" dirty="0">
                              <a:latin typeface="+mn-lt"/>
                              <a:ea typeface="Roboto" panose="02000000000000000000" pitchFamily="2" charset="0"/>
                            </a:rPr>
                            <a:t>7</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𝑈</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2113060234"/>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8</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𝑎</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𝑏</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𝑈</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𝑏</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𝐴</m:t>
                                        </m:r>
                                      </m:e>
                                      <m:sup>
                                        <m:r>
                                          <a:rPr lang="es-MX" sz="2000" b="0" i="1" smtClean="0">
                                            <a:latin typeface="Cambria Math" panose="02040503050406030204" pitchFamily="18" charset="0"/>
                                            <a:ea typeface="Cambria Math" panose="02040503050406030204" pitchFamily="18" charset="0"/>
                                          </a:rPr>
                                          <m:t>′</m:t>
                                        </m:r>
                                      </m:sup>
                                    </m:sSup>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𝑈</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𝑎</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1232652958"/>
                      </a:ext>
                    </a:extLst>
                  </a:tr>
                  <a:tr h="21358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9</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𝑀𝑎𝑥</m:t>
                                </m:r>
                                <m:d>
                                  <m:dPr>
                                    <m:ctrlPr>
                                      <a:rPr lang="es-MX" sz="2000" b="0" i="1" smtClean="0">
                                        <a:latin typeface="Cambria Math" panose="02040503050406030204" pitchFamily="18" charset="0"/>
                                        <a:ea typeface="Cambria Math" panose="02040503050406030204" pitchFamily="18" charset="0"/>
                                      </a:rPr>
                                    </m:ctrlPr>
                                  </m:dPr>
                                  <m:e>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𝑀𝑖𝑛</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𝑈</m:t>
                                    </m:r>
                                  </m:e>
                                </m:d>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3483938044"/>
                      </a:ext>
                    </a:extLst>
                  </a:tr>
                  <a:tr h="213585">
                    <a:tc>
                      <a:txBody>
                        <a:bodyPr/>
                        <a:lstStyle/>
                        <a:p>
                          <a:r>
                            <a:rPr lang="es-CO" sz="2000" b="1" dirty="0">
                              <a:latin typeface="+mn-lt"/>
                              <a:ea typeface="Roboto" panose="02000000000000000000" pitchFamily="2" charset="0"/>
                            </a:rPr>
                            <a:t>10</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𝑀𝑎𝑥</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0,</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𝑈</m:t>
                                        </m:r>
                                      </m:e>
                                    </m:d>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𝑀𝑖𝑛</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mn-lt"/>
                            <a:ea typeface="Roboto" panose="02000000000000000000" pitchFamily="2" charset="0"/>
                          </a:endParaRPr>
                        </a:p>
                      </a:txBody>
                      <a:tcPr/>
                    </a:tc>
                    <a:extLst>
                      <a:ext uri="{0D108BD9-81ED-4DB2-BD59-A6C34878D82A}">
                        <a16:rowId xmlns:a16="http://schemas.microsoft.com/office/drawing/2014/main" val="493544081"/>
                      </a:ext>
                    </a:extLst>
                  </a:tr>
                </a:tbl>
              </a:graphicData>
            </a:graphic>
          </p:graphicFrame>
        </mc:Choice>
        <mc:Fallback xmlns="">
          <p:graphicFrame>
            <p:nvGraphicFramePr>
              <p:cNvPr id="18" name="Tabla 3">
                <a:extLst>
                  <a:ext uri="{FF2B5EF4-FFF2-40B4-BE49-F238E27FC236}">
                    <a16:creationId xmlns:a16="http://schemas.microsoft.com/office/drawing/2014/main" id="{FBC9B938-0923-4F00-B891-E858560C2D84}"/>
                  </a:ext>
                </a:extLst>
              </p:cNvPr>
              <p:cNvGraphicFramePr>
                <a:graphicFrameLocks noGrp="1"/>
              </p:cNvGraphicFramePr>
              <p:nvPr>
                <p:extLst>
                  <p:ext uri="{D42A27DB-BD31-4B8C-83A1-F6EECF244321}">
                    <p14:modId xmlns:p14="http://schemas.microsoft.com/office/powerpoint/2010/main" val="938061380"/>
                  </p:ext>
                </p:extLst>
              </p:nvPr>
            </p:nvGraphicFramePr>
            <p:xfrm>
              <a:off x="2322154" y="1045538"/>
              <a:ext cx="7872156" cy="4358640"/>
            </p:xfrm>
            <a:graphic>
              <a:graphicData uri="http://schemas.openxmlformats.org/drawingml/2006/table">
                <a:tbl>
                  <a:tblPr firstRow="1" bandRow="1">
                    <a:tableStyleId>{AD6A3598-7CB8-4345-8D95-17CE05F158A0}</a:tableStyleId>
                  </a:tblPr>
                  <a:tblGrid>
                    <a:gridCol w="1594361">
                      <a:extLst>
                        <a:ext uri="{9D8B030D-6E8A-4147-A177-3AD203B41FA5}">
                          <a16:colId xmlns:a16="http://schemas.microsoft.com/office/drawing/2014/main" val="2419793140"/>
                        </a:ext>
                      </a:extLst>
                    </a:gridCol>
                    <a:gridCol w="6277795">
                      <a:extLst>
                        <a:ext uri="{9D8B030D-6E8A-4147-A177-3AD203B41FA5}">
                          <a16:colId xmlns:a16="http://schemas.microsoft.com/office/drawing/2014/main" val="2761119023"/>
                        </a:ext>
                      </a:extLst>
                    </a:gridCol>
                  </a:tblGrid>
                  <a:tr h="39624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2000" b="1" dirty="0">
                              <a:latin typeface="+mn-lt"/>
                              <a:ea typeface="Roboto" panose="02000000000000000000" pitchFamily="2" charset="0"/>
                            </a:rPr>
                            <a:t>Equivalencia</a:t>
                          </a:r>
                        </a:p>
                      </a:txBody>
                      <a:tcPr>
                        <a:solidFill>
                          <a:schemeClr val="bg1">
                            <a:lumMod val="95000"/>
                          </a:schemeClr>
                        </a:solidFill>
                      </a:tcPr>
                    </a:tc>
                    <a:extLst>
                      <a:ext uri="{0D108BD9-81ED-4DB2-BD59-A6C34878D82A}">
                        <a16:rowId xmlns:a16="http://schemas.microsoft.com/office/drawing/2014/main" val="1624526593"/>
                      </a:ext>
                    </a:extLst>
                  </a:tr>
                  <a:tr h="3962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1</a:t>
                          </a:r>
                        </a:p>
                      </a:txBody>
                      <a:tcPr/>
                    </a:tc>
                    <a:tc>
                      <a:txBody>
                        <a:bodyPr/>
                        <a:lstStyle/>
                        <a:p>
                          <a:endParaRPr lang="es-CO"/>
                        </a:p>
                      </a:txBody>
                      <a:tcPr>
                        <a:blipFill>
                          <a:blip r:embed="rId3"/>
                          <a:stretch>
                            <a:fillRect l="-25412" t="-107692" r="-97" b="-929231"/>
                          </a:stretch>
                        </a:blipFill>
                      </a:tcPr>
                    </a:tc>
                    <a:extLst>
                      <a:ext uri="{0D108BD9-81ED-4DB2-BD59-A6C34878D82A}">
                        <a16:rowId xmlns:a16="http://schemas.microsoft.com/office/drawing/2014/main" val="3154515760"/>
                      </a:ext>
                    </a:extLst>
                  </a:tr>
                  <a:tr h="396240">
                    <a:tc>
                      <a:txBody>
                        <a:bodyPr/>
                        <a:lstStyle/>
                        <a:p>
                          <a:r>
                            <a:rPr lang="es-CO" sz="2000" b="1" dirty="0">
                              <a:latin typeface="+mn-lt"/>
                              <a:ea typeface="Roboto" panose="02000000000000000000" pitchFamily="2" charset="0"/>
                            </a:rPr>
                            <a:t>2</a:t>
                          </a:r>
                        </a:p>
                      </a:txBody>
                      <a:tcPr/>
                    </a:tc>
                    <a:tc>
                      <a:txBody>
                        <a:bodyPr/>
                        <a:lstStyle/>
                        <a:p>
                          <a:endParaRPr lang="es-CO"/>
                        </a:p>
                      </a:txBody>
                      <a:tcPr>
                        <a:blipFill>
                          <a:blip r:embed="rId3"/>
                          <a:stretch>
                            <a:fillRect l="-25412" t="-207692" r="-97" b="-829231"/>
                          </a:stretch>
                        </a:blipFill>
                      </a:tcPr>
                    </a:tc>
                    <a:extLst>
                      <a:ext uri="{0D108BD9-81ED-4DB2-BD59-A6C34878D82A}">
                        <a16:rowId xmlns:a16="http://schemas.microsoft.com/office/drawing/2014/main" val="1913743916"/>
                      </a:ext>
                    </a:extLst>
                  </a:tr>
                  <a:tr h="3962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3</a:t>
                          </a:r>
                        </a:p>
                      </a:txBody>
                      <a:tcPr/>
                    </a:tc>
                    <a:tc>
                      <a:txBody>
                        <a:bodyPr/>
                        <a:lstStyle/>
                        <a:p>
                          <a:endParaRPr lang="es-CO"/>
                        </a:p>
                      </a:txBody>
                      <a:tcPr>
                        <a:blipFill>
                          <a:blip r:embed="rId3"/>
                          <a:stretch>
                            <a:fillRect l="-25412" t="-307692" r="-97" b="-729231"/>
                          </a:stretch>
                        </a:blipFill>
                      </a:tcPr>
                    </a:tc>
                    <a:extLst>
                      <a:ext uri="{0D108BD9-81ED-4DB2-BD59-A6C34878D82A}">
                        <a16:rowId xmlns:a16="http://schemas.microsoft.com/office/drawing/2014/main" val="1512456821"/>
                      </a:ext>
                    </a:extLst>
                  </a:tr>
                  <a:tr h="396240">
                    <a:tc>
                      <a:txBody>
                        <a:bodyPr/>
                        <a:lstStyle/>
                        <a:p>
                          <a:r>
                            <a:rPr lang="es-CO" sz="2000" b="1" dirty="0">
                              <a:latin typeface="+mn-lt"/>
                              <a:ea typeface="Roboto" panose="02000000000000000000" pitchFamily="2" charset="0"/>
                            </a:rPr>
                            <a:t>4</a:t>
                          </a:r>
                        </a:p>
                      </a:txBody>
                      <a:tcPr/>
                    </a:tc>
                    <a:tc>
                      <a:txBody>
                        <a:bodyPr/>
                        <a:lstStyle/>
                        <a:p>
                          <a:endParaRPr lang="es-CO"/>
                        </a:p>
                      </a:txBody>
                      <a:tcPr>
                        <a:blipFill>
                          <a:blip r:embed="rId3"/>
                          <a:stretch>
                            <a:fillRect l="-25412" t="-407692" r="-97" b="-629231"/>
                          </a:stretch>
                        </a:blipFill>
                      </a:tcPr>
                    </a:tc>
                    <a:extLst>
                      <a:ext uri="{0D108BD9-81ED-4DB2-BD59-A6C34878D82A}">
                        <a16:rowId xmlns:a16="http://schemas.microsoft.com/office/drawing/2014/main" val="717401643"/>
                      </a:ext>
                    </a:extLst>
                  </a:tr>
                  <a:tr h="396240">
                    <a:tc>
                      <a:txBody>
                        <a:bodyPr/>
                        <a:lstStyle/>
                        <a:p>
                          <a:r>
                            <a:rPr lang="es-CO" sz="2000" b="1" dirty="0">
                              <a:latin typeface="+mn-lt"/>
                              <a:ea typeface="Roboto" panose="02000000000000000000" pitchFamily="2" charset="0"/>
                            </a:rPr>
                            <a:t>5</a:t>
                          </a:r>
                        </a:p>
                      </a:txBody>
                      <a:tcPr/>
                    </a:tc>
                    <a:tc>
                      <a:txBody>
                        <a:bodyPr/>
                        <a:lstStyle/>
                        <a:p>
                          <a:endParaRPr lang="es-CO"/>
                        </a:p>
                      </a:txBody>
                      <a:tcPr>
                        <a:blipFill>
                          <a:blip r:embed="rId3"/>
                          <a:stretch>
                            <a:fillRect l="-25412" t="-500000" r="-97" b="-519697"/>
                          </a:stretch>
                        </a:blipFill>
                      </a:tcPr>
                    </a:tc>
                    <a:extLst>
                      <a:ext uri="{0D108BD9-81ED-4DB2-BD59-A6C34878D82A}">
                        <a16:rowId xmlns:a16="http://schemas.microsoft.com/office/drawing/2014/main" val="2246818852"/>
                      </a:ext>
                    </a:extLst>
                  </a:tr>
                  <a:tr h="396240">
                    <a:tc>
                      <a:txBody>
                        <a:bodyPr/>
                        <a:lstStyle/>
                        <a:p>
                          <a:r>
                            <a:rPr lang="es-CO" sz="2000" b="1" dirty="0">
                              <a:latin typeface="+mn-lt"/>
                              <a:ea typeface="Roboto" panose="02000000000000000000" pitchFamily="2" charset="0"/>
                            </a:rPr>
                            <a:t>6</a:t>
                          </a:r>
                        </a:p>
                      </a:txBody>
                      <a:tcPr/>
                    </a:tc>
                    <a:tc>
                      <a:txBody>
                        <a:bodyPr/>
                        <a:lstStyle/>
                        <a:p>
                          <a:endParaRPr lang="es-CO"/>
                        </a:p>
                      </a:txBody>
                      <a:tcPr>
                        <a:blipFill>
                          <a:blip r:embed="rId3"/>
                          <a:stretch>
                            <a:fillRect l="-25412" t="-609231" r="-97" b="-427692"/>
                          </a:stretch>
                        </a:blipFill>
                      </a:tcPr>
                    </a:tc>
                    <a:extLst>
                      <a:ext uri="{0D108BD9-81ED-4DB2-BD59-A6C34878D82A}">
                        <a16:rowId xmlns:a16="http://schemas.microsoft.com/office/drawing/2014/main" val="1992230363"/>
                      </a:ext>
                    </a:extLst>
                  </a:tr>
                  <a:tr h="396240">
                    <a:tc>
                      <a:txBody>
                        <a:bodyPr/>
                        <a:lstStyle/>
                        <a:p>
                          <a:r>
                            <a:rPr lang="es-CO" sz="2000" b="1" dirty="0">
                              <a:latin typeface="+mn-lt"/>
                              <a:ea typeface="Roboto" panose="02000000000000000000" pitchFamily="2" charset="0"/>
                            </a:rPr>
                            <a:t>7</a:t>
                          </a:r>
                        </a:p>
                      </a:txBody>
                      <a:tcPr/>
                    </a:tc>
                    <a:tc>
                      <a:txBody>
                        <a:bodyPr/>
                        <a:lstStyle/>
                        <a:p>
                          <a:endParaRPr lang="es-CO"/>
                        </a:p>
                      </a:txBody>
                      <a:tcPr>
                        <a:blipFill>
                          <a:blip r:embed="rId3"/>
                          <a:stretch>
                            <a:fillRect l="-25412" t="-709231" r="-97" b="-327692"/>
                          </a:stretch>
                        </a:blipFill>
                      </a:tcPr>
                    </a:tc>
                    <a:extLst>
                      <a:ext uri="{0D108BD9-81ED-4DB2-BD59-A6C34878D82A}">
                        <a16:rowId xmlns:a16="http://schemas.microsoft.com/office/drawing/2014/main" val="2113060234"/>
                      </a:ext>
                    </a:extLst>
                  </a:tr>
                  <a:tr h="3962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8</a:t>
                          </a:r>
                        </a:p>
                      </a:txBody>
                      <a:tcPr/>
                    </a:tc>
                    <a:tc>
                      <a:txBody>
                        <a:bodyPr/>
                        <a:lstStyle/>
                        <a:p>
                          <a:endParaRPr lang="es-CO"/>
                        </a:p>
                      </a:txBody>
                      <a:tcPr>
                        <a:blipFill>
                          <a:blip r:embed="rId3"/>
                          <a:stretch>
                            <a:fillRect l="-25412" t="-809231" r="-97" b="-227692"/>
                          </a:stretch>
                        </a:blipFill>
                      </a:tcPr>
                    </a:tc>
                    <a:extLst>
                      <a:ext uri="{0D108BD9-81ED-4DB2-BD59-A6C34878D82A}">
                        <a16:rowId xmlns:a16="http://schemas.microsoft.com/office/drawing/2014/main" val="1232652958"/>
                      </a:ext>
                    </a:extLst>
                  </a:tr>
                  <a:tr h="3962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9</a:t>
                          </a:r>
                        </a:p>
                      </a:txBody>
                      <a:tcPr/>
                    </a:tc>
                    <a:tc>
                      <a:txBody>
                        <a:bodyPr/>
                        <a:lstStyle/>
                        <a:p>
                          <a:endParaRPr lang="es-CO"/>
                        </a:p>
                      </a:txBody>
                      <a:tcPr>
                        <a:blipFill>
                          <a:blip r:embed="rId3"/>
                          <a:stretch>
                            <a:fillRect l="-25412" t="-909231" r="-97" b="-127692"/>
                          </a:stretch>
                        </a:blipFill>
                      </a:tcPr>
                    </a:tc>
                    <a:extLst>
                      <a:ext uri="{0D108BD9-81ED-4DB2-BD59-A6C34878D82A}">
                        <a16:rowId xmlns:a16="http://schemas.microsoft.com/office/drawing/2014/main" val="3483938044"/>
                      </a:ext>
                    </a:extLst>
                  </a:tr>
                  <a:tr h="396240">
                    <a:tc>
                      <a:txBody>
                        <a:bodyPr/>
                        <a:lstStyle/>
                        <a:p>
                          <a:r>
                            <a:rPr lang="es-CO" sz="2000" b="1" dirty="0">
                              <a:latin typeface="+mn-lt"/>
                              <a:ea typeface="Roboto" panose="02000000000000000000" pitchFamily="2" charset="0"/>
                            </a:rPr>
                            <a:t>10</a:t>
                          </a:r>
                        </a:p>
                      </a:txBody>
                      <a:tcPr/>
                    </a:tc>
                    <a:tc>
                      <a:txBody>
                        <a:bodyPr/>
                        <a:lstStyle/>
                        <a:p>
                          <a:endParaRPr lang="es-CO"/>
                        </a:p>
                      </a:txBody>
                      <a:tcPr>
                        <a:blipFill>
                          <a:blip r:embed="rId3"/>
                          <a:stretch>
                            <a:fillRect l="-25412" t="-1009231" r="-97" b="-27692"/>
                          </a:stretch>
                        </a:blipFill>
                      </a:tcPr>
                    </a:tc>
                    <a:extLst>
                      <a:ext uri="{0D108BD9-81ED-4DB2-BD59-A6C34878D82A}">
                        <a16:rowId xmlns:a16="http://schemas.microsoft.com/office/drawing/2014/main" val="493544081"/>
                      </a:ext>
                    </a:extLst>
                  </a:tr>
                </a:tbl>
              </a:graphicData>
            </a:graphic>
          </p:graphicFrame>
        </mc:Fallback>
      </mc:AlternateContent>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41E18A0C-7713-4CBA-AA3E-DDA34B5B68DB}"/>
                  </a:ext>
                </a:extLst>
              </p:cNvPr>
              <p:cNvSpPr txBox="1">
                <a:spLocks/>
              </p:cNvSpPr>
              <p:nvPr/>
            </p:nvSpPr>
            <p:spPr>
              <a:xfrm>
                <a:off x="324464" y="5652081"/>
                <a:ext cx="11195769" cy="10951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Recordemos que la cardinalidad es la cantidad de elementos que un conjunto tiene.</a:t>
                </a:r>
              </a:p>
              <a:p>
                <a:pPr marL="127000" indent="0" algn="ctr">
                  <a:buNone/>
                </a:pPr>
                <a:endParaRPr lang="es-MX" sz="2000" b="0" i="1" dirty="0">
                  <a:latin typeface="Cambria Math" panose="02040503050406030204" pitchFamily="18" charset="0"/>
                  <a:ea typeface="Roboto" panose="02000000000000000000" pitchFamily="2" charset="0"/>
                </a:endParaRPr>
              </a:p>
              <a:p>
                <a:pPr marL="127000" indent="0" algn="ctr">
                  <a:buNone/>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𝑐𝑎𝑟𝑑</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𝑛</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41E18A0C-7713-4CBA-AA3E-DDA34B5B68DB}"/>
                  </a:ext>
                </a:extLst>
              </p:cNvPr>
              <p:cNvSpPr txBox="1">
                <a:spLocks noRot="1" noChangeAspect="1" noMove="1" noResize="1" noEditPoints="1" noAdjustHandles="1" noChangeArrowheads="1" noChangeShapeType="1" noTextEdit="1"/>
              </p:cNvSpPr>
              <p:nvPr/>
            </p:nvSpPr>
            <p:spPr>
              <a:xfrm>
                <a:off x="324464" y="5652081"/>
                <a:ext cx="11195769" cy="1095133"/>
              </a:xfrm>
              <a:prstGeom prst="rect">
                <a:avLst/>
              </a:prstGeom>
              <a:blipFill>
                <a:blip r:embed="rId4"/>
                <a:stretch>
                  <a:fillRect b="-5000"/>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227420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5205"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15205" y="1045538"/>
                <a:ext cx="11361590" cy="54509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a:pPr>
                <a:r>
                  <a:rPr lang="es-MX" sz="2200" dirty="0">
                    <a:latin typeface="+mn-lt"/>
                    <a:ea typeface="Roboto" panose="02000000000000000000" pitchFamily="2" charset="0"/>
                  </a:rPr>
                  <a:t>Represente cada uno de los siguientes conjuntos por el método que usted elija.</a:t>
                </a:r>
              </a:p>
              <a:p>
                <a:pPr lvl="1"/>
                <a:r>
                  <a:rPr lang="es-MX" dirty="0">
                    <a:latin typeface="+mn-lt"/>
                    <a:ea typeface="Roboto" panose="02000000000000000000" pitchFamily="2" charset="0"/>
                  </a:rPr>
                  <a:t>Conjunto de todos los cuadrados que también son círculos.</a:t>
                </a:r>
              </a:p>
              <a:p>
                <a:pPr lvl="1"/>
                <a:r>
                  <a:rPr lang="es-MX" dirty="0">
                    <a:latin typeface="+mn-lt"/>
                    <a:ea typeface="Roboto" panose="02000000000000000000" pitchFamily="2" charset="0"/>
                  </a:rPr>
                  <a:t>Conjunto de todos los equipos de futbol de la liga profesional colombiana.</a:t>
                </a:r>
              </a:p>
              <a:p>
                <a:pPr marL="584200" indent="-457200">
                  <a:buFont typeface="+mj-lt"/>
                  <a:buAutoNum type="arabicPeriod"/>
                </a:pPr>
                <a:r>
                  <a:rPr lang="es-MX" sz="2200" dirty="0">
                    <a:latin typeface="+mn-lt"/>
                    <a:ea typeface="Roboto" panose="02000000000000000000" pitchFamily="2" charset="0"/>
                  </a:rPr>
                  <a:t>Dados los siguientes conjuntos, determine la cardinalidad</a:t>
                </a:r>
              </a:p>
              <a:p>
                <a:pPr lvl="1"/>
                <a14:m>
                  <m:oMath xmlns:m="http://schemas.openxmlformats.org/officeDocument/2006/math">
                    <m:r>
                      <a:rPr lang="es-MX" i="1">
                        <a:latin typeface="Cambria Math" panose="02040503050406030204" pitchFamily="18" charset="0"/>
                        <a:ea typeface="Roboto" panose="02000000000000000000" pitchFamily="2" charset="0"/>
                      </a:rPr>
                      <m:t>𝑃</m:t>
                    </m:r>
                    <m:r>
                      <a:rPr lang="es-MX" i="1">
                        <a:latin typeface="Cambria Math" panose="02040503050406030204" pitchFamily="18" charset="0"/>
                        <a:ea typeface="Roboto" panose="02000000000000000000" pitchFamily="2" charset="0"/>
                      </a:rPr>
                      <m:t>=</m:t>
                    </m:r>
                    <m:d>
                      <m:dPr>
                        <m:begChr m:val="{"/>
                        <m:endChr m:val="}"/>
                        <m:ctrlPr>
                          <a:rPr lang="es-MX" i="1">
                            <a:latin typeface="Cambria Math" panose="02040503050406030204" pitchFamily="18" charset="0"/>
                            <a:ea typeface="Roboto" panose="02000000000000000000" pitchFamily="2" charset="0"/>
                          </a:rPr>
                        </m:ctrlPr>
                      </m:dPr>
                      <m:e>
                        <m:r>
                          <m:rPr>
                            <m:sty m:val="p"/>
                          </m:rPr>
                          <a:rPr lang="es-MX" i="0">
                            <a:latin typeface="Cambria Math" panose="02040503050406030204" pitchFamily="18" charset="0"/>
                            <a:ea typeface="Roboto" panose="02000000000000000000" pitchFamily="2" charset="0"/>
                          </a:rPr>
                          <m:t>Snuzzle</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Butterscotch</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Blue</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Belle</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Minty</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Blossom</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Cotton</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Candy</m:t>
                        </m:r>
                      </m:e>
                    </m:d>
                  </m:oMath>
                </a14:m>
                <a:endParaRPr lang="es-MX" dirty="0">
                  <a:latin typeface="+mn-lt"/>
                  <a:ea typeface="Roboto" panose="02000000000000000000" pitchFamily="2" charset="0"/>
                </a:endParaRPr>
              </a:p>
              <a:p>
                <a:pPr lvl="1"/>
                <a14:m>
                  <m:oMath xmlns:m="http://schemas.openxmlformats.org/officeDocument/2006/math">
                    <m:r>
                      <a:rPr lang="es-MX" i="1">
                        <a:latin typeface="Cambria Math" panose="02040503050406030204" pitchFamily="18" charset="0"/>
                        <a:ea typeface="Roboto" panose="02000000000000000000" pitchFamily="2" charset="0"/>
                      </a:rPr>
                      <m:t>𝐹</m:t>
                    </m:r>
                    <m:r>
                      <a:rPr lang="es-MX" i="1">
                        <a:latin typeface="Cambria Math" panose="02040503050406030204" pitchFamily="18" charset="0"/>
                        <a:ea typeface="Roboto" panose="02000000000000000000" pitchFamily="2" charset="0"/>
                      </a:rPr>
                      <m:t>=</m:t>
                    </m:r>
                    <m:d>
                      <m:dPr>
                        <m:begChr m:val="{"/>
                        <m:endChr m:val="}"/>
                        <m:ctrlPr>
                          <a:rPr lang="es-MX" b="0" i="1" smtClean="0">
                            <a:latin typeface="Cambria Math" panose="02040503050406030204" pitchFamily="18" charset="0"/>
                            <a:ea typeface="Roboto" panose="02000000000000000000" pitchFamily="2" charset="0"/>
                          </a:rPr>
                        </m:ctrlPr>
                      </m:dPr>
                      <m:e>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1</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2</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3</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4</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5</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6</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7</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8</m:t>
                            </m:r>
                          </m:num>
                          <m:den>
                            <m:r>
                              <a:rPr lang="es-MX" i="1">
                                <a:latin typeface="Cambria Math" panose="02040503050406030204" pitchFamily="18" charset="0"/>
                                <a:ea typeface="Roboto" panose="02000000000000000000" pitchFamily="2" charset="0"/>
                              </a:rPr>
                              <m:t>9</m:t>
                            </m:r>
                          </m:den>
                        </m:f>
                        <m:r>
                          <a:rPr lang="es-MX" i="1">
                            <a:latin typeface="Cambria Math" panose="02040503050406030204" pitchFamily="18" charset="0"/>
                            <a:ea typeface="Roboto" panose="02000000000000000000" pitchFamily="2" charset="0"/>
                          </a:rPr>
                          <m:t>,</m:t>
                        </m:r>
                        <m:f>
                          <m:fPr>
                            <m:ctrlPr>
                              <a:rPr lang="es-MX" b="0" i="1" smtClean="0">
                                <a:latin typeface="Cambria Math" panose="02040503050406030204" pitchFamily="18" charset="0"/>
                                <a:ea typeface="Roboto" panose="02000000000000000000" pitchFamily="2" charset="0"/>
                              </a:rPr>
                            </m:ctrlPr>
                          </m:fPr>
                          <m:num>
                            <m:r>
                              <a:rPr lang="es-MX" i="1">
                                <a:latin typeface="Cambria Math" panose="02040503050406030204" pitchFamily="18" charset="0"/>
                                <a:ea typeface="Roboto" panose="02000000000000000000" pitchFamily="2" charset="0"/>
                              </a:rPr>
                              <m:t>9</m:t>
                            </m:r>
                          </m:num>
                          <m:den>
                            <m:r>
                              <a:rPr lang="es-MX" i="1">
                                <a:latin typeface="Cambria Math" panose="02040503050406030204" pitchFamily="18" charset="0"/>
                                <a:ea typeface="Roboto" panose="02000000000000000000" pitchFamily="2" charset="0"/>
                              </a:rPr>
                              <m:t>9</m:t>
                            </m:r>
                          </m:den>
                        </m:f>
                      </m:e>
                    </m:d>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𝐶</m:t>
                    </m:r>
                    <m:r>
                      <a:rPr lang="es-MX" b="0" i="1" smtClean="0">
                        <a:latin typeface="Cambria Math" panose="02040503050406030204" pitchFamily="18" charset="0"/>
                        <a:ea typeface="Roboto" panose="02000000000000000000" pitchFamily="2" charset="0"/>
                      </a:rPr>
                      <m:t>=</m:t>
                    </m:r>
                    <m:d>
                      <m:dPr>
                        <m:begChr m:val="{"/>
                        <m:endChr m:val="}"/>
                        <m:ctrlPr>
                          <a:rPr lang="es-MX" b="0" i="1" smtClean="0">
                            <a:latin typeface="Cambria Math" panose="02040503050406030204" pitchFamily="18" charset="0"/>
                            <a:ea typeface="Roboto" panose="02000000000000000000" pitchFamily="2" charset="0"/>
                          </a:rPr>
                        </m:ctrlPr>
                      </m:dPr>
                      <m:e>
                        <m:sSup>
                          <m:sSupPr>
                            <m:ctrlPr>
                              <a:rPr lang="es-MX" b="0" i="1" smtClean="0">
                                <a:latin typeface="Cambria Math" panose="02040503050406030204" pitchFamily="18" charset="0"/>
                                <a:ea typeface="Roboto" panose="02000000000000000000" pitchFamily="2" charset="0"/>
                              </a:rPr>
                            </m:ctrlPr>
                          </m:sSupPr>
                          <m:e>
                            <m:r>
                              <a:rPr lang="es-MX" b="0" i="1" smtClean="0">
                                <a:latin typeface="Cambria Math" panose="02040503050406030204" pitchFamily="18" charset="0"/>
                                <a:ea typeface="Roboto" panose="02000000000000000000" pitchFamily="2" charset="0"/>
                              </a:rPr>
                              <m:t>𝑛</m:t>
                            </m:r>
                          </m:e>
                          <m:sup>
                            <m:r>
                              <a:rPr lang="es-MX" b="0" i="1" smtClean="0">
                                <a:latin typeface="Cambria Math" panose="02040503050406030204" pitchFamily="18" charset="0"/>
                                <a:ea typeface="Roboto" panose="02000000000000000000" pitchFamily="2" charset="0"/>
                              </a:rPr>
                              <m:t>3</m:t>
                            </m:r>
                          </m:sup>
                        </m:sSup>
                      </m:e>
                      <m:e>
                        <m:r>
                          <a:rPr lang="es-MX" b="0" i="1" smtClean="0">
                            <a:latin typeface="Cambria Math" panose="02040503050406030204" pitchFamily="18" charset="0"/>
                            <a:ea typeface="Roboto" panose="02000000000000000000" pitchFamily="2" charset="0"/>
                          </a:rPr>
                          <m:t>𝑛</m:t>
                        </m:r>
                        <m:r>
                          <a:rPr lang="es-MX" b="0" i="1" smtClean="0">
                            <a:latin typeface="Cambria Math" panose="02040503050406030204" pitchFamily="18" charset="0"/>
                            <a:ea typeface="Roboto" panose="02000000000000000000" pitchFamily="2" charset="0"/>
                          </a:rPr>
                          <m:t> </m:t>
                        </m:r>
                        <m:r>
                          <m:rPr>
                            <m:sty m:val="p"/>
                          </m:rPr>
                          <a:rPr lang="es-MX" b="0" i="0" smtClean="0">
                            <a:latin typeface="Cambria Math" panose="02040503050406030204" pitchFamily="18" charset="0"/>
                            <a:ea typeface="Roboto" panose="02000000000000000000" pitchFamily="2" charset="0"/>
                          </a:rPr>
                          <m:t>es</m:t>
                        </m:r>
                        <m:r>
                          <a:rPr lang="es-MX" b="0" i="0" smtClean="0">
                            <a:latin typeface="Cambria Math" panose="02040503050406030204" pitchFamily="18" charset="0"/>
                            <a:ea typeface="Roboto" panose="02000000000000000000" pitchFamily="2" charset="0"/>
                          </a:rPr>
                          <m:t> </m:t>
                        </m:r>
                        <m:r>
                          <m:rPr>
                            <m:sty m:val="p"/>
                          </m:rPr>
                          <a:rPr lang="es-MX" b="0" i="0" smtClean="0">
                            <a:latin typeface="Cambria Math" panose="02040503050406030204" pitchFamily="18" charset="0"/>
                            <a:ea typeface="Roboto" panose="02000000000000000000" pitchFamily="2" charset="0"/>
                          </a:rPr>
                          <m:t>un</m:t>
                        </m:r>
                        <m:r>
                          <a:rPr lang="es-MX" b="0" i="0" smtClean="0">
                            <a:latin typeface="Cambria Math" panose="02040503050406030204" pitchFamily="18" charset="0"/>
                            <a:ea typeface="Roboto" panose="02000000000000000000" pitchFamily="2" charset="0"/>
                          </a:rPr>
                          <m:t> </m:t>
                        </m:r>
                        <m:r>
                          <m:rPr>
                            <m:sty m:val="p"/>
                          </m:rPr>
                          <a:rPr lang="es-MX" b="0" i="0" smtClean="0">
                            <a:latin typeface="Cambria Math" panose="02040503050406030204" pitchFamily="18" charset="0"/>
                            <a:ea typeface="Roboto" panose="02000000000000000000" pitchFamily="2" charset="0"/>
                          </a:rPr>
                          <m:t>miemtro</m:t>
                        </m:r>
                        <m:r>
                          <a:rPr lang="es-MX" b="0" i="0" smtClean="0">
                            <a:latin typeface="Cambria Math" panose="02040503050406030204" pitchFamily="18" charset="0"/>
                            <a:ea typeface="Roboto" panose="02000000000000000000" pitchFamily="2" charset="0"/>
                          </a:rPr>
                          <m:t> </m:t>
                        </m:r>
                        <m:r>
                          <m:rPr>
                            <m:sty m:val="p"/>
                          </m:rPr>
                          <a:rPr lang="es-MX" b="0" i="0" smtClean="0">
                            <a:latin typeface="Cambria Math" panose="02040503050406030204" pitchFamily="18" charset="0"/>
                            <a:ea typeface="Roboto" panose="02000000000000000000" pitchFamily="2" charset="0"/>
                          </a:rPr>
                          <m:t>de</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Cambria Math" panose="02040503050406030204" pitchFamily="18" charset="0"/>
                          </a:rPr>
                          <m:t>ℕ</m:t>
                        </m:r>
                      </m:e>
                    </m:d>
                  </m:oMath>
                </a14:m>
                <a:endParaRPr lang="es-MX" dirty="0">
                  <a:latin typeface="+mn-lt"/>
                  <a:ea typeface="Roboto" panose="02000000000000000000" pitchFamily="2" charset="0"/>
                </a:endParaRPr>
              </a:p>
              <a:p>
                <a:pPr marL="584200" indent="-457200">
                  <a:buFont typeface="+mj-lt"/>
                  <a:buAutoNum type="arabicPeriod"/>
                </a:pPr>
                <a:r>
                  <a:rPr lang="es-MX" sz="2200" dirty="0">
                    <a:latin typeface="+mn-lt"/>
                    <a:ea typeface="Roboto" panose="02000000000000000000" pitchFamily="2" charset="0"/>
                  </a:rPr>
                  <a:t>Para los siguientes conjuntos, obtenga le numero total de subconjuntos que se puede formar:</a:t>
                </a:r>
              </a:p>
              <a:p>
                <a:pPr lvl="1"/>
                <a14:m>
                  <m:oMath xmlns:m="http://schemas.openxmlformats.org/officeDocument/2006/math">
                    <m:r>
                      <a:rPr lang="es-MX" i="1">
                        <a:latin typeface="Cambria Math" panose="02040503050406030204" pitchFamily="18" charset="0"/>
                        <a:ea typeface="Roboto" panose="02000000000000000000" pitchFamily="2" charset="0"/>
                      </a:rPr>
                      <m:t>𝐶</m:t>
                    </m:r>
                    <m:r>
                      <a:rPr lang="es-MX" i="1">
                        <a:latin typeface="Cambria Math" panose="02040503050406030204" pitchFamily="18" charset="0"/>
                        <a:ea typeface="Roboto" panose="02000000000000000000" pitchFamily="2" charset="0"/>
                      </a:rPr>
                      <m:t>=</m:t>
                    </m:r>
                    <m:d>
                      <m:dPr>
                        <m:begChr m:val="{"/>
                        <m:endChr m:val="}"/>
                        <m:ctrlPr>
                          <a:rPr lang="es-MX" i="1">
                            <a:latin typeface="Cambria Math" panose="02040503050406030204" pitchFamily="18" charset="0"/>
                            <a:ea typeface="Roboto" panose="02000000000000000000" pitchFamily="2" charset="0"/>
                          </a:rPr>
                        </m:ctrlPr>
                      </m:dPr>
                      <m:e>
                        <m:r>
                          <m:rPr>
                            <m:sty m:val="p"/>
                          </m:rPr>
                          <a:rPr lang="es-MX" i="0">
                            <a:latin typeface="Cambria Math" panose="02040503050406030204" pitchFamily="18" charset="0"/>
                            <a:ea typeface="Roboto" panose="02000000000000000000" pitchFamily="2" charset="0"/>
                          </a:rPr>
                          <m:t>Adele</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Beyonce</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Cher</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Madonna</m:t>
                        </m:r>
                        <m:r>
                          <a:rPr lang="es-MX" i="0">
                            <a:latin typeface="Cambria Math" panose="02040503050406030204" pitchFamily="18" charset="0"/>
                            <a:ea typeface="Roboto" panose="02000000000000000000" pitchFamily="2" charset="0"/>
                          </a:rPr>
                          <m:t>, </m:t>
                        </m:r>
                        <m:r>
                          <m:rPr>
                            <m:sty m:val="p"/>
                          </m:rPr>
                          <a:rPr lang="es-MX" i="0">
                            <a:latin typeface="Cambria Math" panose="02040503050406030204" pitchFamily="18" charset="0"/>
                            <a:ea typeface="Roboto" panose="02000000000000000000" pitchFamily="2" charset="0"/>
                          </a:rPr>
                          <m:t>Shakira</m:t>
                        </m:r>
                      </m:e>
                    </m:d>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i="1" smtClean="0">
                        <a:latin typeface="Cambria Math" panose="02040503050406030204" pitchFamily="18" charset="0"/>
                        <a:ea typeface="Roboto" panose="02000000000000000000" pitchFamily="2" charset="0"/>
                      </a:rPr>
                      <m:t>=</m:t>
                    </m:r>
                    <m:d>
                      <m:dPr>
                        <m:begChr m:val="{"/>
                        <m:endChr m:val="}"/>
                        <m:ctrlPr>
                          <a:rPr lang="es-MX" i="1">
                            <a:latin typeface="Cambria Math" panose="02040503050406030204" pitchFamily="18" charset="0"/>
                            <a:ea typeface="Roboto" panose="02000000000000000000" pitchFamily="2" charset="0"/>
                          </a:rPr>
                        </m:ctrlPr>
                      </m:dPr>
                      <m:e>
                        <m:r>
                          <a:rPr lang="es-MX" b="0" i="0" smtClean="0">
                            <a:latin typeface="Cambria Math" panose="02040503050406030204" pitchFamily="18" charset="0"/>
                            <a:ea typeface="Roboto" panose="02000000000000000000" pitchFamily="2" charset="0"/>
                          </a:rPr>
                          <m:t>3</m:t>
                        </m:r>
                      </m:e>
                    </m:d>
                  </m:oMath>
                </a14:m>
                <a:endParaRPr lang="es-MX" dirty="0">
                  <a:latin typeface="+mn-lt"/>
                  <a:ea typeface="Roboto" panose="02000000000000000000" pitchFamily="2" charset="0"/>
                </a:endParaRPr>
              </a:p>
              <a:p>
                <a:pPr marL="641350" indent="-514350">
                  <a:buFont typeface="+mj-lt"/>
                  <a:buAutoNum type="arabicPeriod"/>
                </a:pPr>
                <a:r>
                  <a:rPr lang="es-MX" sz="2200" dirty="0">
                    <a:latin typeface="+mn-lt"/>
                    <a:ea typeface="Roboto" panose="02000000000000000000" pitchFamily="2" charset="0"/>
                  </a:rPr>
                  <a:t>Dibuje un diagrama de Venn que represente las siguientes relaciones:</a:t>
                </a:r>
              </a:p>
              <a:p>
                <a:pPr lvl="1"/>
                <a:r>
                  <a:rPr lang="es-MX" dirty="0">
                    <a:latin typeface="+mn-lt"/>
                    <a:ea typeface="Roboto" panose="02000000000000000000" pitchFamily="2" charset="0"/>
                  </a:rPr>
                  <a:t>Todas las bicicletas y todos los carros tienen ruedas, pero ninguna bicicleta es un carro.</a:t>
                </a:r>
              </a:p>
              <a:p>
                <a:pPr lvl="1"/>
                <a:r>
                  <a:rPr lang="es-MX" dirty="0">
                    <a:latin typeface="+mn-lt"/>
                    <a:ea typeface="Roboto" panose="02000000000000000000" pitchFamily="2" charset="0"/>
                  </a:rPr>
                  <a:t>Todas las mujeres son personas</a:t>
                </a: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15205" y="1045538"/>
                <a:ext cx="11361590" cy="5450954"/>
              </a:xfrm>
              <a:prstGeom prst="rect">
                <a:avLst/>
              </a:prstGeom>
              <a:blipFill>
                <a:blip r:embed="rId3"/>
                <a:stretch>
                  <a:fillRect r="-483"/>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943017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71948" y="96038"/>
            <a:ext cx="874870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64095" y="1045537"/>
                <a:ext cx="11000047" cy="47669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5"/>
                </a:pPr>
                <a:r>
                  <a:rPr lang="es-MX" sz="2200" dirty="0">
                    <a:latin typeface="+mn-lt"/>
                    <a:ea typeface="Roboto" panose="02000000000000000000" pitchFamily="2" charset="0"/>
                  </a:rPr>
                  <a:t>Dibuje el diagrama de Venn donde se muestre claramente la relación entre los siguientes conjuntos.</a:t>
                </a:r>
              </a:p>
              <a:p>
                <a:pPr lvl="1"/>
                <a14:m>
                  <m:oMath xmlns:m="http://schemas.openxmlformats.org/officeDocument/2006/math">
                    <m:r>
                      <a:rPr lang="es-MX" b="0" i="1" smtClean="0">
                        <a:latin typeface="Cambria Math" panose="02040503050406030204" pitchFamily="18" charset="0"/>
                        <a:ea typeface="Roboto" panose="02000000000000000000" pitchFamily="2" charset="0"/>
                      </a:rPr>
                      <m:t>𝑈</m:t>
                    </m:r>
                    <m:r>
                      <a:rPr lang="es-MX" i="1" smtClean="0">
                        <a:latin typeface="Cambria Math" panose="02040503050406030204" pitchFamily="18" charset="0"/>
                        <a:ea typeface="Roboto" panose="02000000000000000000" pitchFamily="2" charset="0"/>
                      </a:rPr>
                      <m:t>=</m:t>
                    </m:r>
                    <m:d>
                      <m:dPr>
                        <m:begChr m:val="{"/>
                        <m:endChr m:val="}"/>
                        <m:ctrlPr>
                          <a:rPr lang="es-MX" b="0" i="1" smtClean="0">
                            <a:latin typeface="Cambria Math" panose="02040503050406030204" pitchFamily="18" charset="0"/>
                            <a:ea typeface="Roboto" panose="02000000000000000000" pitchFamily="2" charset="0"/>
                          </a:rPr>
                        </m:ctrlPr>
                      </m:dPr>
                      <m:e>
                        <m:r>
                          <a:rPr lang="es-MX" i="1">
                            <a:latin typeface="Cambria Math" panose="02040503050406030204" pitchFamily="18" charset="0"/>
                            <a:ea typeface="Roboto" panose="02000000000000000000" pitchFamily="2" charset="0"/>
                          </a:rPr>
                          <m:t>0,1,2,3,4,5,6,7,8,9</m:t>
                        </m:r>
                      </m:e>
                    </m:d>
                  </m:oMath>
                </a14:m>
                <a:endParaRPr lang="es-MX" i="1"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i="1">
                        <a:latin typeface="Cambria Math" panose="02040503050406030204" pitchFamily="18" charset="0"/>
                        <a:ea typeface="Roboto" panose="02000000000000000000" pitchFamily="2" charset="0"/>
                      </a:rPr>
                      <m:t>=</m:t>
                    </m:r>
                    <m:d>
                      <m:dPr>
                        <m:begChr m:val="{"/>
                        <m:endChr m:val="}"/>
                        <m:ctrlPr>
                          <a:rPr lang="es-MX" i="1">
                            <a:latin typeface="Cambria Math" panose="02040503050406030204" pitchFamily="18" charset="0"/>
                            <a:ea typeface="Roboto" panose="02000000000000000000" pitchFamily="2" charset="0"/>
                          </a:rPr>
                        </m:ctrlPr>
                      </m:dPr>
                      <m:e>
                        <m:r>
                          <a:rPr lang="es-MX" i="1">
                            <a:latin typeface="Cambria Math" panose="02040503050406030204" pitchFamily="18" charset="0"/>
                            <a:ea typeface="Roboto" panose="02000000000000000000" pitchFamily="2" charset="0"/>
                          </a:rPr>
                          <m:t>2,3,5,7</m:t>
                        </m:r>
                      </m:e>
                    </m:d>
                    <m:r>
                      <a:rPr lang="es-MX" i="1">
                        <a:latin typeface="Cambria Math" panose="02040503050406030204" pitchFamily="18" charset="0"/>
                        <a:ea typeface="Roboto" panose="02000000000000000000" pitchFamily="2" charset="0"/>
                      </a:rPr>
                      <m:t> </m:t>
                    </m:r>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Roboto" panose="02000000000000000000" pitchFamily="2" charset="0"/>
                      </a:rPr>
                      <m:t>′=</m:t>
                    </m:r>
                    <m:d>
                      <m:dPr>
                        <m:begChr m:val="{"/>
                        <m:endChr m:val="}"/>
                        <m:ctrlPr>
                          <a:rPr lang="es-MX" i="1">
                            <a:latin typeface="Cambria Math" panose="02040503050406030204" pitchFamily="18" charset="0"/>
                            <a:ea typeface="Roboto" panose="02000000000000000000" pitchFamily="2" charset="0"/>
                          </a:rPr>
                        </m:ctrlPr>
                      </m:dPr>
                      <m:e>
                        <m:r>
                          <a:rPr lang="es-MX" i="1">
                            <a:latin typeface="Cambria Math" panose="02040503050406030204" pitchFamily="18" charset="0"/>
                            <a:ea typeface="Roboto" panose="02000000000000000000" pitchFamily="2" charset="0"/>
                          </a:rPr>
                          <m:t>0,1,4,6,8,9</m:t>
                        </m:r>
                      </m:e>
                    </m:d>
                    <m:r>
                      <a:rPr lang="es-MX" i="1">
                        <a:latin typeface="Cambria Math" panose="02040503050406030204" pitchFamily="18" charset="0"/>
                        <a:ea typeface="Roboto" panose="02000000000000000000" pitchFamily="2" charset="0"/>
                      </a:rPr>
                      <m:t> </m:t>
                    </m:r>
                  </m:oMath>
                </a14:m>
                <a:endParaRPr lang="es-MX" dirty="0">
                  <a:latin typeface="+mn-lt"/>
                  <a:ea typeface="Roboto" panose="02000000000000000000" pitchFamily="2" charset="0"/>
                </a:endParaRPr>
              </a:p>
              <a:p>
                <a:pPr marL="584200" indent="-457200">
                  <a:buFont typeface="+mj-lt"/>
                  <a:buAutoNum type="arabicPeriod" startAt="6"/>
                </a:pPr>
                <a:r>
                  <a:rPr lang="es-MX" sz="2200" dirty="0">
                    <a:latin typeface="+mn-lt"/>
                    <a:ea typeface="Roboto" panose="02000000000000000000" pitchFamily="2" charset="0"/>
                  </a:rPr>
                  <a:t>Para los siguientes ejercicios, use el diagrama de Venn para determinar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𝑈</m:t>
                    </m:r>
                  </m:oMath>
                </a14:m>
                <a:endParaRPr lang="es-MX" sz="2200" dirty="0">
                  <a:latin typeface="+mn-lt"/>
                  <a:ea typeface="Roboto" panose="02000000000000000000" pitchFamily="2" charset="0"/>
                </a:endParaRPr>
              </a:p>
              <a:p>
                <a:pPr marL="584200" indent="-457200">
                  <a:buFont typeface="+mj-lt"/>
                  <a:buAutoNum type="arabicPeriod" startAt="6"/>
                </a:pPr>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64095" y="1045537"/>
                <a:ext cx="11000047" cy="4766925"/>
              </a:xfrm>
              <a:prstGeom prst="rect">
                <a:avLst/>
              </a:prstGeom>
              <a:blipFill>
                <a:blip r:embed="rId3"/>
                <a:stretch>
                  <a:fillRect/>
                </a:stretch>
              </a:blipFill>
              <a:ln>
                <a:noFill/>
              </a:ln>
            </p:spPr>
            <p:txBody>
              <a:bodyPr/>
              <a:lstStyle/>
              <a:p>
                <a:r>
                  <a:rPr lang="es-CO">
                    <a:noFill/>
                  </a:rPr>
                  <a:t> </a:t>
                </a:r>
              </a:p>
            </p:txBody>
          </p:sp>
        </mc:Fallback>
      </mc:AlternateContent>
      <p:pic>
        <p:nvPicPr>
          <p:cNvPr id="1026" name="Picture 2" descr="A single-set Venn diagram is labeled 'A equals (2, 3, 4, 9).' Outside the Venn diagram, the union of the Venn diagram is marked 'U equals (0, 1, 2, 3, 4, 5, 6, 7, 8, 9).'">
            <a:extLst>
              <a:ext uri="{FF2B5EF4-FFF2-40B4-BE49-F238E27FC236}">
                <a16:creationId xmlns:a16="http://schemas.microsoft.com/office/drawing/2014/main" id="{AE5B8368-9425-4477-B41B-F2E118A10B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6853" y="3827206"/>
            <a:ext cx="3997265" cy="26321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ingle-set Venn diagram is labeled A equals (n, e, t). Outside the Venn diagram, the union of the Venn diagram is marked 'U equals (l, i, s, t, e, n).'">
            <a:extLst>
              <a:ext uri="{FF2B5EF4-FFF2-40B4-BE49-F238E27FC236}">
                <a16:creationId xmlns:a16="http://schemas.microsoft.com/office/drawing/2014/main" id="{362A0ED1-56F1-493F-8E23-A722B66F33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7655" y="3816397"/>
            <a:ext cx="3997265" cy="264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30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65471" y="96038"/>
            <a:ext cx="895517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105488" y="1045538"/>
                <a:ext cx="11000047" cy="51782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7"/>
                </a:pPr>
                <a:r>
                  <a:rPr lang="es-MX" sz="2200" dirty="0">
                    <a:latin typeface="+mn-lt"/>
                    <a:ea typeface="Roboto" panose="02000000000000000000" pitchFamily="2" charset="0"/>
                  </a:rPr>
                  <a:t>Teniendo en cuenta el siguiente diagrama de Venn encuentre:</a:t>
                </a: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oMath>
                </a14:m>
                <a:endParaRPr lang="es-MX" b="0" dirty="0">
                  <a:latin typeface="+mn-lt"/>
                  <a:ea typeface="Cambria Math" panose="02040503050406030204" pitchFamily="18" charset="0"/>
                </a:endParaRP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oMath>
                </a14:m>
                <a:endParaRPr lang="es-MX" b="0" dirty="0">
                  <a:latin typeface="+mn-lt"/>
                  <a:ea typeface="Cambria Math" panose="02040503050406030204" pitchFamily="18" charset="0"/>
                </a:endParaRP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r>
                      <a:rPr lang="es-MX" b="0" i="1" dirty="0" smtClean="0">
                        <a:latin typeface="Cambria Math" panose="02040503050406030204" pitchFamily="18" charset="0"/>
                        <a:ea typeface="Cambria Math" panose="02040503050406030204" pitchFamily="18" charset="0"/>
                      </a:rPr>
                      <m:t>′</m:t>
                    </m:r>
                  </m:oMath>
                </a14:m>
                <a:endParaRPr lang="es-MX" b="0" dirty="0">
                  <a:latin typeface="+mn-lt"/>
                  <a:ea typeface="Cambria Math" panose="02040503050406030204" pitchFamily="18" charset="0"/>
                </a:endParaRP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𝑛</m:t>
                    </m:r>
                    <m:d>
                      <m:dPr>
                        <m:ctrlPr>
                          <a:rPr lang="es-MX" b="0" i="1" dirty="0" smtClean="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sSup>
                          <m:sSupPr>
                            <m:ctrlPr>
                              <a:rPr lang="es-MX" b="0" i="1" dirty="0" smtClean="0">
                                <a:latin typeface="Cambria Math" panose="02040503050406030204" pitchFamily="18" charset="0"/>
                                <a:ea typeface="Cambria Math" panose="02040503050406030204" pitchFamily="18" charset="0"/>
                              </a:rPr>
                            </m:ctrlPr>
                          </m:sSupPr>
                          <m:e>
                            <m:r>
                              <a:rPr lang="es-MX" b="0" i="1" dirty="0" smtClean="0">
                                <a:latin typeface="Cambria Math" panose="02040503050406030204" pitchFamily="18" charset="0"/>
                                <a:ea typeface="Cambria Math" panose="02040503050406030204" pitchFamily="18" charset="0"/>
                              </a:rPr>
                              <m:t>𝐵</m:t>
                            </m:r>
                          </m:e>
                          <m:sup>
                            <m:r>
                              <a:rPr lang="es-MX" b="0" i="1" dirty="0" smtClean="0">
                                <a:latin typeface="Cambria Math" panose="02040503050406030204" pitchFamily="18" charset="0"/>
                                <a:ea typeface="Cambria Math" panose="02040503050406030204" pitchFamily="18" charset="0"/>
                              </a:rPr>
                              <m:t>′</m:t>
                            </m:r>
                          </m:sup>
                        </m:sSup>
                      </m:e>
                    </m:d>
                  </m:oMath>
                </a14:m>
                <a:endParaRPr lang="es-MX" b="0" dirty="0">
                  <a:latin typeface="+mn-lt"/>
                  <a:ea typeface="Cambria Math" panose="02040503050406030204" pitchFamily="18" charset="0"/>
                </a:endParaRP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m:t>
                    </m:r>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r>
                      <a:rPr lang="es-MX" b="0" i="1" dirty="0" smtClean="0">
                        <a:latin typeface="Cambria Math" panose="02040503050406030204" pitchFamily="18" charset="0"/>
                        <a:ea typeface="Cambria Math" panose="02040503050406030204" pitchFamily="18" charset="0"/>
                      </a:rPr>
                      <m:t>)′</m:t>
                    </m:r>
                  </m:oMath>
                </a14:m>
                <a:endParaRPr lang="es-MX" b="0" dirty="0">
                  <a:latin typeface="+mn-lt"/>
                  <a:ea typeface="Cambria Math" panose="02040503050406030204" pitchFamily="18" charset="0"/>
                </a:endParaRPr>
              </a:p>
              <a:p>
                <a:pPr lvl="1"/>
                <a14:m>
                  <m:oMath xmlns:m="http://schemas.openxmlformats.org/officeDocument/2006/math">
                    <m:r>
                      <a:rPr lang="es-MX" b="0" i="1" dirty="0" smtClean="0">
                        <a:latin typeface="Cambria Math" panose="02040503050406030204" pitchFamily="18" charset="0"/>
                        <a:ea typeface="Roboto" panose="02000000000000000000" pitchFamily="2" charset="0"/>
                      </a:rPr>
                      <m:t>(</m:t>
                    </m:r>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r>
                      <a:rPr lang="es-MX" b="0" i="1" dirty="0" smtClean="0">
                        <a:latin typeface="Cambria Math" panose="02040503050406030204" pitchFamily="18" charset="0"/>
                        <a:ea typeface="Cambria Math" panose="02040503050406030204" pitchFamily="18" charset="0"/>
                      </a:rPr>
                      <m:t>)′</m:t>
                    </m:r>
                  </m:oMath>
                </a14:m>
                <a:endParaRPr lang="es-MX" b="0" dirty="0">
                  <a:latin typeface="+mn-lt"/>
                  <a:ea typeface="Cambria Math" panose="02040503050406030204" pitchFamily="18" charset="0"/>
                </a:endParaRPr>
              </a:p>
              <a:p>
                <a:pPr lvl="1"/>
                <a14:m>
                  <m:oMath xmlns:m="http://schemas.openxmlformats.org/officeDocument/2006/math">
                    <m:d>
                      <m:dPr>
                        <m:begChr m:val="|"/>
                        <m:endChr m:val="|"/>
                        <m:ctrlPr>
                          <a:rPr lang="es-MX" b="0" i="1" dirty="0" smtClean="0">
                            <a:latin typeface="Cambria Math" panose="02040503050406030204" pitchFamily="18" charset="0"/>
                            <a:ea typeface="Roboto" panose="02000000000000000000" pitchFamily="2" charset="0"/>
                          </a:rPr>
                        </m:ctrlPr>
                      </m:dPr>
                      <m:e>
                        <m:r>
                          <a:rPr lang="es-MX" i="1" dirty="0">
                            <a:latin typeface="Cambria Math" panose="02040503050406030204" pitchFamily="18" charset="0"/>
                            <a:ea typeface="Roboto" panose="02000000000000000000" pitchFamily="2" charset="0"/>
                          </a:rPr>
                          <m:t>(</m:t>
                        </m:r>
                        <m:r>
                          <a:rPr lang="es-MX" i="1" dirty="0">
                            <a:latin typeface="Cambria Math" panose="02040503050406030204" pitchFamily="18" charset="0"/>
                            <a:ea typeface="Roboto" panose="02000000000000000000" pitchFamily="2" charset="0"/>
                          </a:rPr>
                          <m:t>𝐴</m:t>
                        </m:r>
                        <m:r>
                          <a:rPr lang="es-MX" i="1" dirty="0">
                            <a:latin typeface="Cambria Math" panose="02040503050406030204" pitchFamily="18" charset="0"/>
                            <a:ea typeface="Cambria Math" panose="02040503050406030204" pitchFamily="18" charset="0"/>
                          </a:rPr>
                          <m:t>′∩</m:t>
                        </m:r>
                        <m:r>
                          <a:rPr lang="es-MX" i="1" dirty="0">
                            <a:latin typeface="Cambria Math" panose="02040503050406030204" pitchFamily="18" charset="0"/>
                            <a:ea typeface="Cambria Math" panose="02040503050406030204" pitchFamily="18" charset="0"/>
                          </a:rPr>
                          <m:t>𝐵</m:t>
                        </m:r>
                        <m:r>
                          <a:rPr lang="es-MX" i="1" dirty="0">
                            <a:latin typeface="Cambria Math" panose="02040503050406030204" pitchFamily="18" charset="0"/>
                            <a:ea typeface="Cambria Math" panose="02040503050406030204" pitchFamily="18" charset="0"/>
                          </a:rPr>
                          <m:t>)′</m:t>
                        </m:r>
                        <m:r>
                          <m:rPr>
                            <m:nor/>
                          </m:rPr>
                          <a:rPr lang="es-MX" dirty="0">
                            <a:latin typeface="+mn-lt"/>
                            <a:ea typeface="Cambria Math" panose="02040503050406030204" pitchFamily="18" charset="0"/>
                          </a:rPr>
                          <m:t> </m:t>
                        </m:r>
                      </m:e>
                    </m:d>
                  </m:oMath>
                </a14:m>
                <a:endParaRPr lang="es-MX" b="0" i="1" dirty="0">
                  <a:latin typeface="+mn-lt"/>
                  <a:ea typeface="Roboto" panose="02000000000000000000" pitchFamily="2" charset="0"/>
                </a:endParaRPr>
              </a:p>
              <a:p>
                <a:pPr lvl="1"/>
                <a14:m>
                  <m:oMath xmlns:m="http://schemas.openxmlformats.org/officeDocument/2006/math">
                    <m:r>
                      <a:rPr lang="es-MX" i="1" dirty="0" smtClean="0">
                        <a:latin typeface="Cambria Math" panose="02040503050406030204" pitchFamily="18" charset="0"/>
                        <a:ea typeface="Roboto" panose="02000000000000000000" pitchFamily="2" charset="0"/>
                      </a:rPr>
                      <m:t>(</m:t>
                    </m:r>
                    <m:r>
                      <a:rPr lang="es-MX" i="1" dirty="0" smtClean="0">
                        <a:latin typeface="Cambria Math" panose="02040503050406030204" pitchFamily="18" charset="0"/>
                        <a:ea typeface="Roboto" panose="02000000000000000000" pitchFamily="2" charset="0"/>
                      </a:rPr>
                      <m:t>𝐴</m:t>
                    </m:r>
                    <m:r>
                      <a:rPr lang="es-MX" i="1" dirty="0">
                        <a:latin typeface="Cambria Math" panose="02040503050406030204" pitchFamily="18" charset="0"/>
                        <a:ea typeface="Cambria Math" panose="02040503050406030204" pitchFamily="18" charset="0"/>
                      </a:rPr>
                      <m:t>′∪</m:t>
                    </m:r>
                    <m:r>
                      <a:rPr lang="es-MX" b="0" i="1" dirty="0" smtClean="0">
                        <a:latin typeface="Cambria Math" panose="02040503050406030204" pitchFamily="18" charset="0"/>
                        <a:ea typeface="Cambria Math" panose="02040503050406030204" pitchFamily="18" charset="0"/>
                      </a:rPr>
                      <m:t>𝐵</m:t>
                    </m:r>
                    <m:r>
                      <a:rPr lang="es-MX" b="0" i="1" dirty="0" smtClean="0">
                        <a:latin typeface="Cambria Math" panose="02040503050406030204" pitchFamily="18" charset="0"/>
                        <a:ea typeface="Cambria Math" panose="02040503050406030204" pitchFamily="18" charset="0"/>
                      </a:rPr>
                      <m:t>′)′</m:t>
                    </m:r>
                  </m:oMath>
                </a14:m>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105488" y="1045538"/>
                <a:ext cx="11000047" cy="5178282"/>
              </a:xfrm>
              <a:prstGeom prst="rect">
                <a:avLst/>
              </a:prstGeom>
              <a:blipFill>
                <a:blip r:embed="rId3"/>
                <a:stretch>
                  <a:fillRect/>
                </a:stretch>
              </a:blipFill>
              <a:ln>
                <a:noFill/>
              </a:ln>
            </p:spPr>
            <p:txBody>
              <a:bodyPr/>
              <a:lstStyle/>
              <a:p>
                <a:r>
                  <a:rPr lang="es-CO">
                    <a:noFill/>
                  </a:rPr>
                  <a:t> </a:t>
                </a:r>
              </a:p>
            </p:txBody>
          </p:sp>
        </mc:Fallback>
      </mc:AlternateContent>
      <p:pic>
        <p:nvPicPr>
          <p:cNvPr id="2052" name="Picture 4" descr="A two-set Venn diagram intersecting one another is given. The first set is labeled A while the second set is labeled B. Set A shows 1, 9. Set B shows 2. The intersection of the sets shows 3, 5, 7. Outside the sets, 0, 4, 6 are given. Outside the Venn diagram, it is marked 'U equals (0, 1, 2, 3, 4, 5, 6, 7, 8, 9).'">
            <a:extLst>
              <a:ext uri="{FF2B5EF4-FFF2-40B4-BE49-F238E27FC236}">
                <a16:creationId xmlns:a16="http://schemas.microsoft.com/office/drawing/2014/main" id="{3C66A236-0A76-4BDE-8AAC-2E0AADF0D6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781" y="2348999"/>
            <a:ext cx="4657725"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970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8710" y="96038"/>
            <a:ext cx="885194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46137" y="899651"/>
                <a:ext cx="11000047" cy="51782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8"/>
                </a:pPr>
                <a:r>
                  <a:rPr lang="es-MX" sz="2200" dirty="0">
                    <a:latin typeface="+mn-lt"/>
                    <a:ea typeface="Roboto" panose="02000000000000000000" pitchFamily="2" charset="0"/>
                  </a:rPr>
                  <a:t>El siguiente diagrama de Venn esta dibujado de acuerdo a la cardinalidad de cada uno de los conjuntos. Teniendo en cuenta esta información, y sustentando mediante la aplicación de las identidades básicas de cardinalidad determine a partir de este:</a:t>
                </a:r>
              </a:p>
              <a:p>
                <a:pPr lvl="1"/>
                <a14:m>
                  <m:oMath xmlns:m="http://schemas.openxmlformats.org/officeDocument/2006/math">
                    <m:d>
                      <m:dPr>
                        <m:begChr m:val="|"/>
                        <m:endChr m:val="|"/>
                        <m:ctrlPr>
                          <a:rPr lang="es-MX" b="0" i="1" dirty="0" smtClean="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𝐴</m:t>
                        </m:r>
                      </m:e>
                    </m:d>
                  </m:oMath>
                </a14:m>
                <a:endParaRPr lang="es-MX" b="0" dirty="0">
                  <a:latin typeface="+mn-lt"/>
                  <a:ea typeface="Cambria Math" panose="02040503050406030204" pitchFamily="18" charset="0"/>
                </a:endParaRPr>
              </a:p>
              <a:p>
                <a:pPr lvl="1"/>
                <a14:m>
                  <m:oMath xmlns:m="http://schemas.openxmlformats.org/officeDocument/2006/math">
                    <m:d>
                      <m:dPr>
                        <m:begChr m:val="|"/>
                        <m:endChr m:val="|"/>
                        <m:ctrlPr>
                          <a:rPr lang="es-MX" b="0" i="1" dirty="0" smtClean="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𝐵</m:t>
                        </m:r>
                      </m:e>
                    </m:d>
                  </m:oMath>
                </a14:m>
                <a:endParaRPr lang="es-MX" b="0" i="1" dirty="0">
                  <a:latin typeface="+mn-lt"/>
                  <a:ea typeface="Roboto" panose="02000000000000000000" pitchFamily="2" charset="0"/>
                </a:endParaRPr>
              </a:p>
              <a:p>
                <a:pPr lvl="1"/>
                <a14:m>
                  <m:oMath xmlns:m="http://schemas.openxmlformats.org/officeDocument/2006/math">
                    <m:d>
                      <m:dPr>
                        <m:begChr m:val="|"/>
                        <m:endChr m:val="|"/>
                        <m:ctrlPr>
                          <a:rPr lang="es-MX" i="1" dirty="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i="1" dirty="0">
                            <a:latin typeface="Cambria Math" panose="02040503050406030204" pitchFamily="18" charset="0"/>
                            <a:ea typeface="Roboto" panose="02000000000000000000" pitchFamily="2" charset="0"/>
                          </a:rPr>
                          <m:t>𝐵</m:t>
                        </m:r>
                      </m:e>
                    </m:d>
                  </m:oMath>
                </a14:m>
                <a:endParaRPr lang="es-MX" i="1" dirty="0">
                  <a:latin typeface="+mn-lt"/>
                  <a:ea typeface="Roboto" panose="02000000000000000000" pitchFamily="2" charset="0"/>
                </a:endParaRPr>
              </a:p>
              <a:p>
                <a:pPr lvl="1"/>
                <a14:m>
                  <m:oMath xmlns:m="http://schemas.openxmlformats.org/officeDocument/2006/math">
                    <m:d>
                      <m:dPr>
                        <m:begChr m:val="|"/>
                        <m:endChr m:val="|"/>
                        <m:ctrlPr>
                          <a:rPr lang="es-MX" i="1" dirty="0">
                            <a:latin typeface="Cambria Math" panose="02040503050406030204" pitchFamily="18" charset="0"/>
                            <a:ea typeface="Roboto" panose="02000000000000000000" pitchFamily="2" charset="0"/>
                          </a:rPr>
                        </m:ctrlPr>
                      </m:dPr>
                      <m:e>
                        <m:r>
                          <a:rPr lang="es-MX" i="1" dirty="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Cambria Math" panose="02040503050406030204" pitchFamily="18" charset="0"/>
                          </a:rPr>
                          <m:t>+</m:t>
                        </m:r>
                        <m:r>
                          <a:rPr lang="es-MX" i="1" dirty="0">
                            <a:latin typeface="Cambria Math" panose="02040503050406030204" pitchFamily="18" charset="0"/>
                            <a:ea typeface="Roboto" panose="02000000000000000000" pitchFamily="2" charset="0"/>
                          </a:rPr>
                          <m:t>𝐵</m:t>
                        </m:r>
                      </m:e>
                    </m:d>
                  </m:oMath>
                </a14:m>
                <a:endParaRPr lang="es-MX" i="1" dirty="0">
                  <a:latin typeface="+mn-lt"/>
                  <a:ea typeface="Roboto" panose="02000000000000000000" pitchFamily="2" charset="0"/>
                </a:endParaRPr>
              </a:p>
              <a:p>
                <a:pPr lvl="1"/>
                <a14:m>
                  <m:oMath xmlns:m="http://schemas.openxmlformats.org/officeDocument/2006/math">
                    <m:d>
                      <m:dPr>
                        <m:begChr m:val="|"/>
                        <m:endChr m:val="|"/>
                        <m:ctrlPr>
                          <a:rPr lang="es-MX" i="1" dirty="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𝑈</m:t>
                        </m:r>
                      </m:e>
                    </m:d>
                  </m:oMath>
                </a14:m>
                <a:endParaRPr lang="es-MX" i="1" dirty="0">
                  <a:latin typeface="+mn-lt"/>
                  <a:ea typeface="Roboto" panose="02000000000000000000" pitchFamily="2" charset="0"/>
                </a:endParaRPr>
              </a:p>
              <a:p>
                <a:pPr lvl="1"/>
                <a14:m>
                  <m:oMath xmlns:m="http://schemas.openxmlformats.org/officeDocument/2006/math">
                    <m:d>
                      <m:dPr>
                        <m:begChr m:val="|"/>
                        <m:endChr m:val="|"/>
                        <m:ctrlPr>
                          <a:rPr lang="es-MX" i="1" dirty="0">
                            <a:latin typeface="Cambria Math" panose="02040503050406030204" pitchFamily="18" charset="0"/>
                            <a:ea typeface="Roboto" panose="02000000000000000000" pitchFamily="2" charset="0"/>
                          </a:rPr>
                        </m:ctrlPr>
                      </m:dPr>
                      <m:e>
                        <m:d>
                          <m:dPr>
                            <m:ctrlPr>
                              <a:rPr lang="es-MX" b="0" i="1" dirty="0" smtClean="0">
                                <a:latin typeface="Cambria Math" panose="02040503050406030204" pitchFamily="18" charset="0"/>
                                <a:ea typeface="Roboto" panose="02000000000000000000" pitchFamily="2" charset="0"/>
                              </a:rPr>
                            </m:ctrlPr>
                          </m:dPr>
                          <m:e>
                            <m:r>
                              <a:rPr lang="es-MX" b="0" i="1" dirty="0" smtClean="0">
                                <a:latin typeface="Cambria Math" panose="02040503050406030204" pitchFamily="18" charset="0"/>
                                <a:ea typeface="Roboto" panose="02000000000000000000" pitchFamily="2" charset="0"/>
                              </a:rPr>
                              <m:t>𝐴</m:t>
                            </m:r>
                            <m:r>
                              <a:rPr lang="es-MX" b="0" i="1" dirty="0" smtClean="0">
                                <a:latin typeface="Cambria Math" panose="02040503050406030204" pitchFamily="18" charset="0"/>
                                <a:ea typeface="Roboto" panose="02000000000000000000" pitchFamily="2" charset="0"/>
                              </a:rPr>
                              <m:t>+</m:t>
                            </m:r>
                            <m:r>
                              <a:rPr lang="es-MX" b="0" i="1" dirty="0" smtClean="0">
                                <a:latin typeface="Cambria Math" panose="02040503050406030204" pitchFamily="18" charset="0"/>
                                <a:ea typeface="Roboto" panose="02000000000000000000" pitchFamily="2" charset="0"/>
                              </a:rPr>
                              <m:t>𝐵</m:t>
                            </m:r>
                          </m:e>
                        </m:d>
                        <m:r>
                          <a:rPr lang="es-MX" b="0" i="1" dirty="0" smtClean="0">
                            <a:latin typeface="Cambria Math" panose="02040503050406030204" pitchFamily="18" charset="0"/>
                            <a:ea typeface="Roboto" panose="02000000000000000000" pitchFamily="2" charset="0"/>
                          </a:rPr>
                          <m:t>′</m:t>
                        </m:r>
                      </m:e>
                    </m:d>
                  </m:oMath>
                </a14:m>
                <a:endParaRPr lang="es-MX" i="1" dirty="0">
                  <a:latin typeface="+mn-lt"/>
                  <a:ea typeface="Roboto" panose="02000000000000000000" pitchFamily="2" charset="0"/>
                </a:endParaRPr>
              </a:p>
              <a:p>
                <a:pPr lvl="1"/>
                <a14:m>
                  <m:oMath xmlns:m="http://schemas.openxmlformats.org/officeDocument/2006/math">
                    <m:d>
                      <m:dPr>
                        <m:begChr m:val="|"/>
                        <m:endChr m:val="|"/>
                        <m:ctrlPr>
                          <a:rPr lang="es-MX" b="0" i="1" dirty="0" smtClean="0">
                            <a:latin typeface="Cambria Math" panose="02040503050406030204" pitchFamily="18" charset="0"/>
                            <a:ea typeface="Roboto" panose="02000000000000000000" pitchFamily="2" charset="0"/>
                          </a:rPr>
                        </m:ctrlPr>
                      </m:dPr>
                      <m:e>
                        <m:r>
                          <a:rPr lang="es-MX" i="1" dirty="0">
                            <a:latin typeface="Cambria Math" panose="02040503050406030204" pitchFamily="18" charset="0"/>
                            <a:ea typeface="Roboto" panose="02000000000000000000" pitchFamily="2" charset="0"/>
                          </a:rPr>
                          <m:t>𝐴</m:t>
                        </m:r>
                        <m:r>
                          <a:rPr lang="es-MX" i="1" dirty="0">
                            <a:latin typeface="Cambria Math" panose="02040503050406030204" pitchFamily="18" charset="0"/>
                            <a:ea typeface="Cambria Math" panose="02040503050406030204" pitchFamily="18" charset="0"/>
                          </a:rPr>
                          <m:t>′</m:t>
                        </m:r>
                        <m:r>
                          <m:rPr>
                            <m:nor/>
                          </m:rPr>
                          <a:rPr lang="es-MX" dirty="0">
                            <a:latin typeface="+mn-lt"/>
                            <a:ea typeface="Cambria Math" panose="02040503050406030204" pitchFamily="18" charset="0"/>
                          </a:rPr>
                          <m:t> </m:t>
                        </m:r>
                      </m:e>
                    </m:d>
                  </m:oMath>
                </a14:m>
                <a:endParaRPr lang="es-MX" b="0" i="1" dirty="0">
                  <a:latin typeface="+mn-lt"/>
                  <a:ea typeface="Roboto" panose="02000000000000000000" pitchFamily="2" charset="0"/>
                </a:endParaRPr>
              </a:p>
              <a:p>
                <a:pPr lvl="1"/>
                <a14:m>
                  <m:oMath xmlns:m="http://schemas.openxmlformats.org/officeDocument/2006/math">
                    <m:d>
                      <m:dPr>
                        <m:begChr m:val="|"/>
                        <m:endChr m:val="|"/>
                        <m:ctrlPr>
                          <a:rPr lang="es-MX" i="1" dirty="0">
                            <a:latin typeface="Cambria Math" panose="02040503050406030204" pitchFamily="18" charset="0"/>
                            <a:ea typeface="Roboto" panose="02000000000000000000" pitchFamily="2" charset="0"/>
                          </a:rPr>
                        </m:ctrlPr>
                      </m:dPr>
                      <m:e>
                        <m:r>
                          <a:rPr lang="es-MX" i="1" dirty="0">
                            <a:latin typeface="Cambria Math" panose="02040503050406030204" pitchFamily="18" charset="0"/>
                            <a:ea typeface="Roboto" panose="02000000000000000000" pitchFamily="2" charset="0"/>
                          </a:rPr>
                          <m:t>𝐴</m:t>
                        </m:r>
                        <m:r>
                          <a:rPr lang="es-MX" i="1" dirty="0">
                            <a:latin typeface="Cambria Math" panose="02040503050406030204" pitchFamily="18" charset="0"/>
                            <a:ea typeface="Cambria Math" panose="02040503050406030204" pitchFamily="18" charset="0"/>
                          </a:rPr>
                          <m:t>⋅′</m:t>
                        </m:r>
                        <m:r>
                          <m:rPr>
                            <m:nor/>
                          </m:rPr>
                          <a:rPr lang="es-MX" dirty="0">
                            <a:latin typeface="+mn-lt"/>
                            <a:ea typeface="Cambria Math" panose="02040503050406030204" pitchFamily="18" charset="0"/>
                          </a:rPr>
                          <m:t> </m:t>
                        </m:r>
                      </m:e>
                    </m:d>
                  </m:oMath>
                </a14:m>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46137" y="899651"/>
                <a:ext cx="11000047" cy="5178282"/>
              </a:xfrm>
              <a:prstGeom prst="rect">
                <a:avLst/>
              </a:prstGeom>
              <a:blipFill>
                <a:blip r:embed="rId3"/>
                <a:stretch>
                  <a:fillRect r="-443"/>
                </a:stretch>
              </a:blipFill>
              <a:ln>
                <a:noFill/>
              </a:ln>
            </p:spPr>
            <p:txBody>
              <a:bodyPr/>
              <a:lstStyle/>
              <a:p>
                <a:r>
                  <a:rPr lang="es-CO">
                    <a:noFill/>
                  </a:rPr>
                  <a:t> </a:t>
                </a:r>
              </a:p>
            </p:txBody>
          </p:sp>
        </mc:Fallback>
      </mc:AlternateContent>
      <p:pic>
        <p:nvPicPr>
          <p:cNvPr id="3074" name="Picture 2" descr="A two-set Venn diagram intersecting one another is given. The first set is labeled A while the second set is labeled B.  Set A shows 7. Set B shows 5. The intersection of the sets shows 5. Outside the Venn diagram, it is marked U. ">
            <a:extLst>
              <a:ext uri="{FF2B5EF4-FFF2-40B4-BE49-F238E27FC236}">
                <a16:creationId xmlns:a16="http://schemas.microsoft.com/office/drawing/2014/main" id="{991DE23E-FB5E-4C04-B3BE-AD4F5D59F7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8731" y="2891299"/>
            <a:ext cx="404812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27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24465" y="96038"/>
            <a:ext cx="889618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24465" y="927550"/>
            <a:ext cx="6282812"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9"/>
            </a:pPr>
            <a:r>
              <a:rPr lang="es-MX" sz="2200" dirty="0">
                <a:latin typeface="+mn-lt"/>
                <a:ea typeface="Roboto" panose="02000000000000000000" pitchFamily="2" charset="0"/>
              </a:rPr>
              <a:t>Utilice el diagrama de Venn a continuación, que muestra los tipos de sangre de 100 personas que donaron sangre en una clínica local, para responder las siguientes preguntas:</a:t>
            </a:r>
          </a:p>
          <a:p>
            <a:pPr lvl="1"/>
            <a:r>
              <a:rPr lang="es-MX" b="0" dirty="0">
                <a:latin typeface="+mn-lt"/>
                <a:ea typeface="Cambria Math" panose="02040503050406030204" pitchFamily="18" charset="0"/>
              </a:rPr>
              <a:t>¿Cuántas personas con factor sanguíneo A donaron sangre?</a:t>
            </a:r>
          </a:p>
          <a:p>
            <a:pPr lvl="1"/>
            <a:r>
              <a:rPr lang="es-MX" b="0" dirty="0">
                <a:latin typeface="+mn-lt"/>
                <a:ea typeface="Cambria Math" panose="02040503050406030204" pitchFamily="18" charset="0"/>
              </a:rPr>
              <a:t>Julio tiene el tipo sanguíneo B+. Si necesita una cirugía que requiera una transfusión de sangre, puede aceptar sangre de cualquier persona que no tenga el factor sanguíneo A. ¿Cuántas personas donaron sangre que Julio puede aceptar?</a:t>
            </a:r>
          </a:p>
          <a:p>
            <a:pPr lvl="1"/>
            <a:r>
              <a:rPr lang="es-MX" b="0" dirty="0">
                <a:latin typeface="+mn-lt"/>
                <a:ea typeface="Cambria Math" panose="02040503050406030204" pitchFamily="18" charset="0"/>
              </a:rPr>
              <a:t>¿Cuántas personas que donaron sangre no tienen el factor sanguíneo Rh+?</a:t>
            </a:r>
          </a:p>
          <a:p>
            <a:pPr lvl="1"/>
            <a:r>
              <a:rPr lang="es-MX" b="0" dirty="0">
                <a:latin typeface="+mn-lt"/>
                <a:ea typeface="Cambria Math" panose="02040503050406030204" pitchFamily="18" charset="0"/>
              </a:rPr>
              <a:t>¿Cuántas personas tenían sangre tipo A y tipo B?</a:t>
            </a:r>
            <a:endParaRPr lang="es-MX" dirty="0">
              <a:latin typeface="+mn-lt"/>
              <a:ea typeface="Roboto" panose="02000000000000000000" pitchFamily="2" charset="0"/>
            </a:endParaRPr>
          </a:p>
        </p:txBody>
      </p:sp>
      <p:pic>
        <p:nvPicPr>
          <p:cNvPr id="409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1B1904D6-CD0E-4766-A451-65FA312EA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1062" y="1009874"/>
            <a:ext cx="4796473" cy="5178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307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09716" y="96038"/>
            <a:ext cx="891093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09716" y="1045538"/>
                <a:ext cx="10896808" cy="50455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10"/>
                </a:pPr>
                <a:r>
                  <a:rPr lang="es-MX" sz="2200" dirty="0">
                    <a:latin typeface="+mn-lt"/>
                    <a:ea typeface="Roboto" panose="02000000000000000000" pitchFamily="2" charset="0"/>
                  </a:rPr>
                  <a:t>Dados los siguientes conjuntos:</a:t>
                </a:r>
              </a:p>
              <a:p>
                <a:pPr lvl="1"/>
                <a14:m>
                  <m:oMath xmlns:m="http://schemas.openxmlformats.org/officeDocument/2006/math">
                    <m:r>
                      <a:rPr lang="es-MX" b="0" i="1" smtClean="0">
                        <a:latin typeface="Cambria Math" panose="02040503050406030204" pitchFamily="18" charset="0"/>
                        <a:ea typeface="Roboto" panose="02000000000000000000" pitchFamily="2" charset="0"/>
                      </a:rPr>
                      <m:t>𝑈</m:t>
                    </m:r>
                    <m:r>
                      <a:rPr lang="es-MX" b="0" i="1" smtClean="0">
                        <a:latin typeface="Cambria Math" panose="02040503050406030204" pitchFamily="18" charset="0"/>
                        <a:ea typeface="Roboto" panose="02000000000000000000" pitchFamily="2" charset="0"/>
                      </a:rPr>
                      <m:t>=</m:t>
                    </m:r>
                    <m:d>
                      <m:dPr>
                        <m:begChr m:val="{"/>
                        <m:endChr m:val="}"/>
                        <m:ctrlPr>
                          <a:rPr lang="en-US" i="1">
                            <a:latin typeface="Cambria Math" panose="02040503050406030204" pitchFamily="18" charset="0"/>
                            <a:ea typeface="Roboto" panose="02000000000000000000" pitchFamily="2" charset="0"/>
                          </a:rPr>
                        </m:ctrlPr>
                      </m:dPr>
                      <m:e>
                        <m:r>
                          <m:rPr>
                            <m:sty m:val="p"/>
                          </m:rPr>
                          <a:rPr lang="en-US" i="0">
                            <a:latin typeface="Cambria Math" panose="02040503050406030204" pitchFamily="18" charset="0"/>
                            <a:ea typeface="Roboto" panose="02000000000000000000" pitchFamily="2" charset="0"/>
                          </a:rPr>
                          <m:t>red</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orange</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yellow</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green</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blue</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indigo</m:t>
                        </m:r>
                        <m:r>
                          <a:rPr lang="en-US" i="0">
                            <a:latin typeface="Cambria Math" panose="02040503050406030204" pitchFamily="18" charset="0"/>
                            <a:ea typeface="Roboto" panose="02000000000000000000" pitchFamily="2" charset="0"/>
                          </a:rPr>
                          <m:t>,</m:t>
                        </m:r>
                        <m:r>
                          <m:rPr>
                            <m:sty m:val="p"/>
                          </m:rPr>
                          <a:rPr lang="en-US" i="0">
                            <a:latin typeface="Cambria Math" panose="02040503050406030204" pitchFamily="18" charset="0"/>
                            <a:ea typeface="Roboto" panose="02000000000000000000" pitchFamily="2" charset="0"/>
                          </a:rPr>
                          <m:t>violet</m:t>
                        </m:r>
                      </m:e>
                    </m:d>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Roboto" panose="02000000000000000000" pitchFamily="2" charset="0"/>
                      </a:rPr>
                      <m:t>=</m:t>
                    </m:r>
                    <m:d>
                      <m:dPr>
                        <m:begChr m:val="{"/>
                        <m:endChr m:val="}"/>
                        <m:ctrlPr>
                          <a:rPr lang="en-US" i="1">
                            <a:latin typeface="Cambria Math" panose="02040503050406030204" pitchFamily="18" charset="0"/>
                            <a:ea typeface="Roboto" panose="02000000000000000000" pitchFamily="2" charset="0"/>
                          </a:rPr>
                        </m:ctrlPr>
                      </m:dPr>
                      <m:e>
                        <m:r>
                          <m:rPr>
                            <m:sty m:val="p"/>
                          </m:rPr>
                          <a:rPr lang="en-US">
                            <a:latin typeface="Cambria Math" panose="02040503050406030204" pitchFamily="18" charset="0"/>
                            <a:ea typeface="Roboto" panose="02000000000000000000" pitchFamily="2" charset="0"/>
                          </a:rPr>
                          <m:t>red</m:t>
                        </m:r>
                        <m:r>
                          <a:rPr lang="en-US">
                            <a:latin typeface="Cambria Math" panose="02040503050406030204" pitchFamily="18" charset="0"/>
                            <a:ea typeface="Roboto" panose="02000000000000000000" pitchFamily="2" charset="0"/>
                          </a:rPr>
                          <m:t>,</m:t>
                        </m:r>
                        <m:r>
                          <m:rPr>
                            <m:sty m:val="p"/>
                          </m:rPr>
                          <a:rPr lang="en-US">
                            <a:latin typeface="Cambria Math" panose="02040503050406030204" pitchFamily="18" charset="0"/>
                            <a:ea typeface="Roboto" panose="02000000000000000000" pitchFamily="2" charset="0"/>
                          </a:rPr>
                          <m:t>yellow</m:t>
                        </m:r>
                        <m:r>
                          <a:rPr lang="en-US">
                            <a:latin typeface="Cambria Math" panose="02040503050406030204" pitchFamily="18" charset="0"/>
                            <a:ea typeface="Roboto" panose="02000000000000000000" pitchFamily="2" charset="0"/>
                          </a:rPr>
                          <m:t>,</m:t>
                        </m:r>
                        <m:r>
                          <m:rPr>
                            <m:sty m:val="p"/>
                          </m:rPr>
                          <a:rPr lang="en-US">
                            <a:latin typeface="Cambria Math" panose="02040503050406030204" pitchFamily="18" charset="0"/>
                            <a:ea typeface="Roboto" panose="02000000000000000000" pitchFamily="2" charset="0"/>
                          </a:rPr>
                          <m:t>blue</m:t>
                        </m:r>
                      </m:e>
                    </m:d>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𝐵</m:t>
                    </m:r>
                    <m:r>
                      <a:rPr lang="es-MX" b="0" i="1" smtClean="0">
                        <a:latin typeface="Cambria Math" panose="02040503050406030204" pitchFamily="18" charset="0"/>
                        <a:ea typeface="Roboto" panose="02000000000000000000" pitchFamily="2" charset="0"/>
                      </a:rPr>
                      <m:t>=</m:t>
                    </m:r>
                    <m:d>
                      <m:dPr>
                        <m:begChr m:val="{"/>
                        <m:endChr m:val="}"/>
                        <m:ctrlPr>
                          <a:rPr lang="en-US" i="1">
                            <a:latin typeface="Cambria Math" panose="02040503050406030204" pitchFamily="18" charset="0"/>
                            <a:ea typeface="Roboto" panose="02000000000000000000" pitchFamily="2" charset="0"/>
                          </a:rPr>
                        </m:ctrlPr>
                      </m:dPr>
                      <m:e>
                        <m:r>
                          <m:rPr>
                            <m:sty m:val="p"/>
                          </m:rPr>
                          <a:rPr lang="en-US">
                            <a:latin typeface="Cambria Math" panose="02040503050406030204" pitchFamily="18" charset="0"/>
                            <a:ea typeface="Roboto" panose="02000000000000000000" pitchFamily="2" charset="0"/>
                          </a:rPr>
                          <m:t>orange</m:t>
                        </m:r>
                        <m:r>
                          <a:rPr lang="en-US">
                            <a:latin typeface="Cambria Math" panose="02040503050406030204" pitchFamily="18" charset="0"/>
                            <a:ea typeface="Roboto" panose="02000000000000000000" pitchFamily="2" charset="0"/>
                          </a:rPr>
                          <m:t>,</m:t>
                        </m:r>
                        <m:r>
                          <m:rPr>
                            <m:sty m:val="p"/>
                          </m:rPr>
                          <a:rPr lang="en-US">
                            <a:latin typeface="Cambria Math" panose="02040503050406030204" pitchFamily="18" charset="0"/>
                            <a:ea typeface="Roboto" panose="02000000000000000000" pitchFamily="2" charset="0"/>
                          </a:rPr>
                          <m:t>green</m:t>
                        </m:r>
                        <m:r>
                          <a:rPr lang="en-US">
                            <a:latin typeface="Cambria Math" panose="02040503050406030204" pitchFamily="18" charset="0"/>
                            <a:ea typeface="Roboto" panose="02000000000000000000" pitchFamily="2" charset="0"/>
                          </a:rPr>
                          <m:t>,</m:t>
                        </m:r>
                        <m:r>
                          <m:rPr>
                            <m:sty m:val="p"/>
                          </m:rPr>
                          <a:rPr lang="en-US">
                            <a:latin typeface="Cambria Math" panose="02040503050406030204" pitchFamily="18" charset="0"/>
                            <a:ea typeface="Roboto" panose="02000000000000000000" pitchFamily="2" charset="0"/>
                          </a:rPr>
                          <m:t>violet</m:t>
                        </m:r>
                      </m:e>
                    </m:d>
                  </m:oMath>
                </a14:m>
                <a:endParaRPr lang="es-MX"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𝐶</m:t>
                    </m:r>
                    <m:r>
                      <a:rPr lang="es-MX" b="0" i="1" smtClean="0">
                        <a:latin typeface="Cambria Math" panose="02040503050406030204" pitchFamily="18" charset="0"/>
                        <a:ea typeface="Roboto" panose="02000000000000000000" pitchFamily="2" charset="0"/>
                      </a:rPr>
                      <m:t>=</m:t>
                    </m:r>
                    <m:d>
                      <m:dPr>
                        <m:begChr m:val="{"/>
                        <m:endChr m:val="}"/>
                        <m:ctrlPr>
                          <a:rPr lang="en-US" i="1">
                            <a:latin typeface="Cambria Math" panose="02040503050406030204" pitchFamily="18" charset="0"/>
                            <a:ea typeface="Roboto" panose="02000000000000000000" pitchFamily="2" charset="0"/>
                          </a:rPr>
                        </m:ctrlPr>
                      </m:dPr>
                      <m:e>
                        <m:r>
                          <m:rPr>
                            <m:sty m:val="p"/>
                          </m:rPr>
                          <a:rPr lang="en-US">
                            <a:latin typeface="Cambria Math" panose="02040503050406030204" pitchFamily="18" charset="0"/>
                            <a:ea typeface="Roboto" panose="02000000000000000000" pitchFamily="2" charset="0"/>
                          </a:rPr>
                          <m:t>red</m:t>
                        </m:r>
                        <m:r>
                          <a:rPr lang="en-US">
                            <a:latin typeface="Cambria Math" panose="02040503050406030204" pitchFamily="18" charset="0"/>
                            <a:ea typeface="Roboto" panose="02000000000000000000" pitchFamily="2" charset="0"/>
                          </a:rPr>
                          <m:t>, </m:t>
                        </m:r>
                        <m:r>
                          <m:rPr>
                            <m:sty m:val="p"/>
                          </m:rPr>
                          <a:rPr lang="en-US">
                            <a:latin typeface="Cambria Math" panose="02040503050406030204" pitchFamily="18" charset="0"/>
                            <a:ea typeface="Roboto" panose="02000000000000000000" pitchFamily="2" charset="0"/>
                          </a:rPr>
                          <m:t>green</m:t>
                        </m:r>
                        <m:r>
                          <a:rPr lang="en-US">
                            <a:latin typeface="Cambria Math" panose="02040503050406030204" pitchFamily="18" charset="0"/>
                            <a:ea typeface="Roboto" panose="02000000000000000000" pitchFamily="2" charset="0"/>
                          </a:rPr>
                          <m:t>, </m:t>
                        </m:r>
                        <m:r>
                          <m:rPr>
                            <m:sty m:val="p"/>
                          </m:rPr>
                          <a:rPr lang="en-US">
                            <a:latin typeface="Cambria Math" panose="02040503050406030204" pitchFamily="18" charset="0"/>
                            <a:ea typeface="Roboto" panose="02000000000000000000" pitchFamily="2" charset="0"/>
                          </a:rPr>
                          <m:t>indigo</m:t>
                        </m:r>
                      </m:e>
                    </m:d>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marL="584200" lvl="1" indent="0">
                  <a:buNone/>
                </a:pPr>
                <a:r>
                  <a:rPr lang="es-MX" dirty="0">
                    <a:latin typeface="+mn-lt"/>
                    <a:ea typeface="Roboto" panose="02000000000000000000" pitchFamily="2" charset="0"/>
                  </a:rPr>
                  <a:t>Realice las operaciones con conjuntos indicadas a continuación:</a:t>
                </a: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𝐵</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𝐶</m:t>
                    </m:r>
                  </m:oMath>
                </a14:m>
                <a:endParaRPr lang="es-MX" b="0" dirty="0">
                  <a:latin typeface="+mn-lt"/>
                  <a:ea typeface="Roboto" panose="02000000000000000000" pitchFamily="2" charset="0"/>
                </a:endParaRPr>
              </a:p>
              <a:p>
                <a:pPr lvl="1"/>
                <a14:m>
                  <m:oMath xmlns:m="http://schemas.openxmlformats.org/officeDocument/2006/math">
                    <m:r>
                      <a:rPr lang="es-MX" i="1">
                        <a:latin typeface="Cambria Math" panose="02040503050406030204" pitchFamily="18" charset="0"/>
                        <a:ea typeface="Roboto" panose="02000000000000000000" pitchFamily="2" charset="0"/>
                      </a:rPr>
                      <m:t>𝐴𝐶</m:t>
                    </m:r>
                    <m:r>
                      <a:rPr lang="es-MX" i="1">
                        <a:latin typeface="Cambria Math" panose="02040503050406030204" pitchFamily="18" charset="0"/>
                        <a:ea typeface="Roboto" panose="02000000000000000000" pitchFamily="2" charset="0"/>
                      </a:rPr>
                      <m:t>+</m:t>
                    </m:r>
                    <m:r>
                      <a:rPr lang="es-MX" i="1">
                        <a:latin typeface="Cambria Math" panose="02040503050406030204" pitchFamily="18" charset="0"/>
                        <a:ea typeface="Roboto" panose="02000000000000000000" pitchFamily="2" charset="0"/>
                      </a:rPr>
                      <m:t>𝐵</m:t>
                    </m:r>
                  </m:oMath>
                </a14:m>
                <a:endParaRPr lang="es-MX" b="0"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𝑈</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𝐵</m:t>
                    </m:r>
                    <m:r>
                      <a:rPr lang="es-MX"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𝐶</m:t>
                    </m:r>
                    <m:r>
                      <a:rPr lang="es-MX" b="0" i="1" smtClean="0">
                        <a:latin typeface="Cambria Math" panose="02040503050406030204" pitchFamily="18" charset="0"/>
                        <a:ea typeface="Roboto" panose="02000000000000000000" pitchFamily="2" charset="0"/>
                      </a:rPr>
                      <m:t>)</m:t>
                    </m:r>
                  </m:oMath>
                </a14:m>
                <a:endParaRPr lang="es-MX" b="0" dirty="0">
                  <a:latin typeface="+mn-lt"/>
                  <a:ea typeface="Roboto" panose="02000000000000000000" pitchFamily="2" charset="0"/>
                </a:endParaRPr>
              </a:p>
              <a:p>
                <a:pPr lvl="1"/>
                <a14:m>
                  <m:oMath xmlns:m="http://schemas.openxmlformats.org/officeDocument/2006/math">
                    <m:r>
                      <a:rPr lang="es-MX" i="1" smtClean="0">
                        <a:latin typeface="Cambria Math" panose="02040503050406030204" pitchFamily="18" charset="0"/>
                        <a:ea typeface="Roboto" panose="02000000000000000000" pitchFamily="2" charset="0"/>
                      </a:rPr>
                      <m:t>𝐵</m:t>
                    </m:r>
                    <m:r>
                      <a:rPr lang="es-MX" b="0" i="1" smtClean="0">
                        <a:latin typeface="Cambria Math" panose="02040503050406030204" pitchFamily="18" charset="0"/>
                        <a:ea typeface="Roboto" panose="02000000000000000000" pitchFamily="2" charset="0"/>
                      </a:rPr>
                      <m:t>𝐴𝑈</m:t>
                    </m:r>
                  </m:oMath>
                </a14:m>
                <a:endParaRPr lang="es-MX" b="0"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sSup>
                      <m:sSupPr>
                        <m:ctrlPr>
                          <a:rPr lang="es-MX" b="0" i="1" smtClean="0">
                            <a:latin typeface="Cambria Math" panose="02040503050406030204" pitchFamily="18" charset="0"/>
                            <a:ea typeface="Roboto" panose="02000000000000000000" pitchFamily="2" charset="0"/>
                          </a:rPr>
                        </m:ctrlPr>
                      </m:sSupPr>
                      <m:e>
                        <m:d>
                          <m:dPr>
                            <m:ctrlPr>
                              <a:rPr lang="es-MX" b="0" i="1" smtClean="0">
                                <a:latin typeface="Cambria Math" panose="02040503050406030204" pitchFamily="18" charset="0"/>
                                <a:ea typeface="Roboto" panose="02000000000000000000" pitchFamily="2" charset="0"/>
                              </a:rPr>
                            </m:ctrlPr>
                          </m:dPr>
                          <m:e>
                            <m:r>
                              <a:rPr lang="es-MX" b="0" i="1" smtClean="0">
                                <a:latin typeface="Cambria Math" panose="02040503050406030204" pitchFamily="18" charset="0"/>
                                <a:ea typeface="Roboto" panose="02000000000000000000" pitchFamily="2" charset="0"/>
                              </a:rPr>
                              <m:t>𝐵𝐶</m:t>
                            </m:r>
                          </m:e>
                        </m:d>
                      </m:e>
                      <m:sup>
                        <m:r>
                          <a:rPr lang="es-MX" b="0" i="1" smtClean="0">
                            <a:latin typeface="Cambria Math" panose="02040503050406030204" pitchFamily="18" charset="0"/>
                            <a:ea typeface="Roboto" panose="02000000000000000000" pitchFamily="2" charset="0"/>
                          </a:rPr>
                          <m:t>′</m:t>
                        </m:r>
                      </m:sup>
                    </m:sSup>
                  </m:oMath>
                </a14:m>
                <a:endParaRPr lang="es-MX" b="0" dirty="0">
                  <a:latin typeface="+mn-lt"/>
                  <a:ea typeface="Roboto" panose="02000000000000000000" pitchFamily="2" charset="0"/>
                </a:endParaRPr>
              </a:p>
              <a:p>
                <a:pPr lvl="1"/>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Roboto" panose="02000000000000000000" pitchFamily="2" charset="0"/>
                      </a:rPr>
                      <m:t>′</m:t>
                    </m:r>
                    <m:d>
                      <m:dPr>
                        <m:ctrlPr>
                          <a:rPr lang="es-MX" b="0" i="1" smtClean="0">
                            <a:latin typeface="Cambria Math" panose="02040503050406030204" pitchFamily="18" charset="0"/>
                            <a:ea typeface="Roboto" panose="02000000000000000000" pitchFamily="2" charset="0"/>
                          </a:rPr>
                        </m:ctrlPr>
                      </m:dPr>
                      <m:e>
                        <m:r>
                          <a:rPr lang="es-MX" b="0" i="1" smtClean="0">
                            <a:latin typeface="Cambria Math" panose="02040503050406030204" pitchFamily="18" charset="0"/>
                            <a:ea typeface="Roboto" panose="02000000000000000000" pitchFamily="2" charset="0"/>
                          </a:rPr>
                          <m:t>𝐵</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𝐶</m:t>
                        </m:r>
                      </m:e>
                    </m:d>
                  </m:oMath>
                </a14:m>
                <a:endParaRPr lang="es-MX" b="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09716" y="1045538"/>
                <a:ext cx="10896808" cy="5045546"/>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011858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87634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57200" y="1045538"/>
            <a:ext cx="10896808" cy="11372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11"/>
            </a:pPr>
            <a:r>
              <a:rPr lang="es-MX" sz="2200" dirty="0">
                <a:latin typeface="+mn-lt"/>
                <a:ea typeface="Roboto" panose="02000000000000000000" pitchFamily="2" charset="0"/>
              </a:rPr>
              <a:t>Al menos el 45% de los estudiantes NO aprueban matemáticas Discretas y el 15% de los estudiantes NO aprueban lógica 1. ¿Cuál es el porcentaje máximo de estudiantes que aprueban ambas asignaturas?</a:t>
            </a:r>
            <a:endParaRPr lang="es-MX" sz="2200" b="0" dirty="0">
              <a:latin typeface="+mn-lt"/>
              <a:ea typeface="Roboto" panose="02000000000000000000" pitchFamily="2" charset="0"/>
            </a:endParaRPr>
          </a:p>
        </p:txBody>
      </p:sp>
    </p:spTree>
    <p:extLst>
      <p:ext uri="{BB962C8B-B14F-4D97-AF65-F5344CB8AC3E}">
        <p14:creationId xmlns:p14="http://schemas.microsoft.com/office/powerpoint/2010/main" val="3178535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01445" y="96038"/>
            <a:ext cx="110000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1</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501444" y="942298"/>
            <a:ext cx="11000047" cy="517828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Represente cada uno de los siguientes conjuntos por el método que usted elija.</a:t>
            </a:r>
          </a:p>
          <a:p>
            <a:r>
              <a:rPr lang="es-MX" sz="2200" dirty="0">
                <a:latin typeface="+mn-lt"/>
                <a:ea typeface="Roboto" panose="02000000000000000000" pitchFamily="2" charset="0"/>
              </a:rPr>
              <a:t>Conjunto de todos los cuadrados que también son círculos.</a:t>
            </a: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r>
              <a:rPr lang="es-MX" sz="2200" dirty="0">
                <a:latin typeface="+mn-lt"/>
                <a:ea typeface="Roboto" panose="02000000000000000000" pitchFamily="2" charset="0"/>
              </a:rPr>
              <a:t>Conjunto de todos los equipos de futbol de la liga profesional colombiana.</a:t>
            </a: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328758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39213" y="96038"/>
            <a:ext cx="1126776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2</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39213" y="853809"/>
                <a:ext cx="11000047" cy="19336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Dados los siguientes conjuntos, determine la cardinalidad</a:t>
                </a:r>
              </a:p>
              <a:p>
                <a14:m>
                  <m:oMath xmlns:m="http://schemas.openxmlformats.org/officeDocument/2006/math">
                    <m:r>
                      <a:rPr lang="es-MX" sz="2200" i="1">
                        <a:latin typeface="Cambria Math" panose="02040503050406030204" pitchFamily="18" charset="0"/>
                        <a:ea typeface="Roboto" panose="02000000000000000000" pitchFamily="2" charset="0"/>
                      </a:rPr>
                      <m:t>𝑃</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m:rPr>
                            <m:sty m:val="p"/>
                          </m:rPr>
                          <a:rPr lang="es-MX" sz="2200" i="0">
                            <a:latin typeface="Cambria Math" panose="02040503050406030204" pitchFamily="18" charset="0"/>
                            <a:ea typeface="Roboto" panose="02000000000000000000" pitchFamily="2" charset="0"/>
                          </a:rPr>
                          <m:t>Snuzzle</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Butterscotch</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Blue</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Belle</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Minty</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Blossom</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Cotton</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Candy</m:t>
                        </m:r>
                      </m:e>
                    </m:d>
                  </m:oMath>
                </a14:m>
                <a:endParaRPr lang="es-MX" sz="2200" b="0" i="1" dirty="0">
                  <a:latin typeface="+mn-lt"/>
                  <a:ea typeface="Roboto" panose="02000000000000000000" pitchFamily="2" charset="0"/>
                </a:endParaRPr>
              </a:p>
              <a:p>
                <a:endParaRPr lang="es-MX" sz="2200" i="1" dirty="0">
                  <a:latin typeface="+mn-lt"/>
                  <a:ea typeface="Roboto" panose="02000000000000000000" pitchFamily="2" charset="0"/>
                </a:endParaRPr>
              </a:p>
              <a:p>
                <a:endParaRPr lang="es-MX" sz="2200" b="0" i="1" dirty="0">
                  <a:latin typeface="+mn-lt"/>
                  <a:ea typeface="Roboto" panose="02000000000000000000" pitchFamily="2" charset="0"/>
                </a:endParaRPr>
              </a:p>
              <a:p>
                <a:endParaRPr lang="es-MX" sz="2200" b="0" i="1" dirty="0">
                  <a:latin typeface="+mn-lt"/>
                  <a:ea typeface="Roboto" panose="02000000000000000000" pitchFamily="2" charset="0"/>
                </a:endParaRPr>
              </a:p>
              <a:p>
                <a14:m>
                  <m:oMath xmlns:m="http://schemas.openxmlformats.org/officeDocument/2006/math">
                    <m:r>
                      <a:rPr lang="es-MX" sz="2200" i="1">
                        <a:latin typeface="Cambria Math" panose="02040503050406030204" pitchFamily="18" charset="0"/>
                        <a:ea typeface="Roboto" panose="02000000000000000000" pitchFamily="2" charset="0"/>
                      </a:rPr>
                      <m:t>𝐹</m:t>
                    </m:r>
                    <m:r>
                      <a:rPr lang="es-MX" sz="2200" i="1">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1</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2</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3</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4</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5</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6</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7</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8</m:t>
                            </m:r>
                          </m:num>
                          <m:den>
                            <m:r>
                              <a:rPr lang="es-MX" sz="2200" i="1">
                                <a:latin typeface="Cambria Math" panose="02040503050406030204" pitchFamily="18" charset="0"/>
                                <a:ea typeface="Roboto" panose="02000000000000000000" pitchFamily="2" charset="0"/>
                              </a:rPr>
                              <m:t>9</m:t>
                            </m:r>
                          </m:den>
                        </m:f>
                        <m:r>
                          <a:rPr lang="es-MX" sz="2200" i="1">
                            <a:latin typeface="Cambria Math" panose="02040503050406030204" pitchFamily="18" charset="0"/>
                            <a:ea typeface="Roboto" panose="02000000000000000000" pitchFamily="2" charset="0"/>
                          </a:rPr>
                          <m:t>,</m:t>
                        </m:r>
                        <m:f>
                          <m:fPr>
                            <m:ctrlPr>
                              <a:rPr lang="es-MX" sz="2200" b="0" i="1" smtClean="0">
                                <a:latin typeface="Cambria Math" panose="02040503050406030204" pitchFamily="18" charset="0"/>
                                <a:ea typeface="Roboto" panose="02000000000000000000" pitchFamily="2" charset="0"/>
                              </a:rPr>
                            </m:ctrlPr>
                          </m:fPr>
                          <m:num>
                            <m:r>
                              <a:rPr lang="es-MX" sz="2200" i="1">
                                <a:latin typeface="Cambria Math" panose="02040503050406030204" pitchFamily="18" charset="0"/>
                                <a:ea typeface="Roboto" panose="02000000000000000000" pitchFamily="2" charset="0"/>
                              </a:rPr>
                              <m:t>9</m:t>
                            </m:r>
                          </m:num>
                          <m:den>
                            <m:r>
                              <a:rPr lang="es-MX" sz="2200" i="1">
                                <a:latin typeface="Cambria Math" panose="02040503050406030204" pitchFamily="18" charset="0"/>
                                <a:ea typeface="Roboto" panose="02000000000000000000" pitchFamily="2" charset="0"/>
                              </a:rPr>
                              <m:t>9</m:t>
                            </m:r>
                          </m:den>
                        </m:f>
                      </m:e>
                    </m:d>
                  </m:oMath>
                </a14:m>
                <a:endParaRPr lang="es-MX" sz="2200" i="1" dirty="0">
                  <a:latin typeface="+mn-lt"/>
                  <a:ea typeface="Roboto" panose="02000000000000000000" pitchFamily="2" charset="0"/>
                </a:endParaRPr>
              </a:p>
              <a:p>
                <a:endParaRPr lang="es-MX" sz="2200" i="1" dirty="0">
                  <a:latin typeface="+mn-lt"/>
                  <a:ea typeface="Roboto" panose="02000000000000000000" pitchFamily="2" charset="0"/>
                </a:endParaRPr>
              </a:p>
              <a:p>
                <a:endParaRPr lang="es-MX" sz="2200" i="1" dirty="0">
                  <a:latin typeface="+mn-lt"/>
                  <a:ea typeface="Roboto" panose="02000000000000000000" pitchFamily="2" charset="0"/>
                </a:endParaRPr>
              </a:p>
              <a:p>
                <a:endParaRPr lang="es-MX" sz="2200" i="1"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𝐶</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𝑛</m:t>
                            </m:r>
                          </m:e>
                          <m:sup>
                            <m:r>
                              <a:rPr lang="es-MX" sz="2200" b="0" i="1" smtClean="0">
                                <a:latin typeface="Cambria Math" panose="02040503050406030204" pitchFamily="18" charset="0"/>
                                <a:ea typeface="Roboto" panose="02000000000000000000" pitchFamily="2" charset="0"/>
                              </a:rPr>
                              <m:t>3</m:t>
                            </m:r>
                          </m:sup>
                        </m:sSup>
                      </m:e>
                      <m:e>
                        <m:r>
                          <a:rPr lang="es-MX" sz="2200" b="0" i="1" smtClean="0">
                            <a:latin typeface="Cambria Math" panose="02040503050406030204" pitchFamily="18" charset="0"/>
                            <a:ea typeface="Roboto" panose="02000000000000000000" pitchFamily="2" charset="0"/>
                          </a:rPr>
                          <m:t>𝑛</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miemtro</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de</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Cambria Math" panose="02040503050406030204" pitchFamily="18" charset="0"/>
                          </a:rPr>
                          <m:t>ℕ</m:t>
                        </m:r>
                      </m:e>
                    </m:d>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0</m:t>
                            </m:r>
                          </m:e>
                          <m:sup>
                            <m:r>
                              <a:rPr lang="es-MX" sz="2200" b="0" i="1" smtClean="0">
                                <a:latin typeface="Cambria Math" panose="02040503050406030204" pitchFamily="18" charset="0"/>
                                <a:ea typeface="Roboto" panose="02000000000000000000" pitchFamily="2" charset="0"/>
                              </a:rPr>
                              <m:t>3</m:t>
                            </m:r>
                          </m:sup>
                        </m:sSup>
                        <m:r>
                          <a:rPr lang="es-MX" sz="2200" b="0" i="1" smtClean="0">
                            <a:latin typeface="Cambria Math" panose="02040503050406030204" pitchFamily="18" charset="0"/>
                            <a:ea typeface="Roboto" panose="02000000000000000000" pitchFamily="2" charset="0"/>
                          </a:rPr>
                          <m:t>,</m:t>
                        </m:r>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1</m:t>
                            </m:r>
                          </m:e>
                          <m:sup>
                            <m:r>
                              <a:rPr lang="es-MX" sz="2200" b="0" i="1" smtClean="0">
                                <a:latin typeface="Cambria Math" panose="02040503050406030204" pitchFamily="18" charset="0"/>
                                <a:ea typeface="Roboto" panose="02000000000000000000" pitchFamily="2" charset="0"/>
                              </a:rPr>
                              <m:t>3</m:t>
                            </m:r>
                          </m:sup>
                        </m:sSup>
                        <m:r>
                          <a:rPr lang="es-MX" sz="2200" b="0" i="1" smtClean="0">
                            <a:latin typeface="Cambria Math" panose="02040503050406030204" pitchFamily="18" charset="0"/>
                            <a:ea typeface="Roboto" panose="02000000000000000000" pitchFamily="2" charset="0"/>
                          </a:rPr>
                          <m:t>,</m:t>
                        </m:r>
                        <m:sSup>
                          <m:sSupPr>
                            <m:ctrlPr>
                              <a:rPr lang="es-MX" sz="2200" i="1">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2</m:t>
                            </m:r>
                          </m:e>
                          <m:sup>
                            <m:r>
                              <a:rPr lang="es-MX" sz="2200" i="1">
                                <a:latin typeface="Cambria Math" panose="02040503050406030204" pitchFamily="18" charset="0"/>
                                <a:ea typeface="Roboto" panose="02000000000000000000" pitchFamily="2" charset="0"/>
                              </a:rPr>
                              <m:t>3</m:t>
                            </m:r>
                          </m:sup>
                        </m:sSup>
                        <m:r>
                          <a:rPr lang="es-MX" sz="2200" b="0" i="1" smtClean="0">
                            <a:latin typeface="Cambria Math" panose="02040503050406030204" pitchFamily="18" charset="0"/>
                            <a:ea typeface="Roboto" panose="02000000000000000000" pitchFamily="2" charset="0"/>
                          </a:rPr>
                          <m:t>,</m:t>
                        </m:r>
                        <m:sSup>
                          <m:sSupPr>
                            <m:ctrlPr>
                              <a:rPr lang="es-MX" sz="2200" i="1">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3</m:t>
                            </m:r>
                          </m:e>
                          <m:sup>
                            <m:r>
                              <a:rPr lang="es-MX" sz="2200" i="1">
                                <a:latin typeface="Cambria Math" panose="02040503050406030204" pitchFamily="18" charset="0"/>
                                <a:ea typeface="Roboto" panose="02000000000000000000" pitchFamily="2" charset="0"/>
                              </a:rPr>
                              <m:t>3</m:t>
                            </m:r>
                          </m:sup>
                        </m:sSup>
                        <m:r>
                          <a:rPr lang="es-MX" sz="2200" b="0" i="1" smtClean="0">
                            <a:latin typeface="Cambria Math" panose="02040503050406030204" pitchFamily="18" charset="0"/>
                            <a:ea typeface="Roboto" panose="02000000000000000000" pitchFamily="2" charset="0"/>
                          </a:rPr>
                          <m:t>,</m:t>
                        </m:r>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4</m:t>
                            </m:r>
                          </m:e>
                          <m:sup>
                            <m:r>
                              <a:rPr lang="es-MX" sz="2200" b="0" i="1" smtClean="0">
                                <a:latin typeface="Cambria Math" panose="02040503050406030204" pitchFamily="18" charset="0"/>
                                <a:ea typeface="Roboto" panose="02000000000000000000" pitchFamily="2" charset="0"/>
                              </a:rPr>
                              <m:t>3</m:t>
                            </m:r>
                          </m:sup>
                        </m:sSup>
                        <m:r>
                          <a:rPr lang="es-MX" sz="2200" b="0" i="1" smtClean="0">
                            <a:latin typeface="Cambria Math" panose="02040503050406030204" pitchFamily="18" charset="0"/>
                            <a:ea typeface="Roboto" panose="02000000000000000000" pitchFamily="2" charset="0"/>
                          </a:rPr>
                          <m:t>,…</m:t>
                        </m:r>
                      </m:e>
                    </m:d>
                    <m:r>
                      <a:rPr lang="es-MX" sz="2200" b="0" i="1" smtClean="0">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0</m:t>
                        </m:r>
                        <m:r>
                          <a:rPr lang="es-MX" sz="2200" i="1">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1</m:t>
                        </m:r>
                        <m:r>
                          <a:rPr lang="es-MX" sz="2200" i="1">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8</m:t>
                        </m:r>
                        <m:r>
                          <a:rPr lang="es-MX" sz="2200" i="1">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27</m:t>
                        </m:r>
                        <m:r>
                          <a:rPr lang="es-MX" sz="2200" i="1">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256,</m:t>
                        </m:r>
                        <m:r>
                          <a:rPr lang="es-MX" sz="2200" i="1">
                            <a:latin typeface="Cambria Math" panose="02040503050406030204" pitchFamily="18" charset="0"/>
                            <a:ea typeface="Roboto" panose="02000000000000000000" pitchFamily="2" charset="0"/>
                          </a:rPr>
                          <m:t>…</m:t>
                        </m:r>
                      </m:e>
                    </m:d>
                  </m:oMath>
                </a14:m>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39213" y="853809"/>
                <a:ext cx="11000047" cy="1933636"/>
              </a:xfrm>
              <a:prstGeom prst="rect">
                <a:avLst/>
              </a:prstGeom>
              <a:blipFill>
                <a:blip r:embed="rId3"/>
                <a:stretch>
                  <a:fillRect b="-136278"/>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331331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01445" y="96038"/>
            <a:ext cx="87192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3</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85708" y="927549"/>
                <a:ext cx="11000047" cy="52372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Para los siguientes conjuntos, obtenga le numero total de subconjuntos que se puede formar:</a:t>
                </a:r>
              </a:p>
              <a:p>
                <a14:m>
                  <m:oMath xmlns:m="http://schemas.openxmlformats.org/officeDocument/2006/math">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m:rPr>
                            <m:sty m:val="p"/>
                          </m:rPr>
                          <a:rPr lang="es-MX" sz="2200" i="0">
                            <a:latin typeface="Cambria Math" panose="02040503050406030204" pitchFamily="18" charset="0"/>
                            <a:ea typeface="Roboto" panose="02000000000000000000" pitchFamily="2" charset="0"/>
                          </a:rPr>
                          <m:t>Adele</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Beyonce</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Cher</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Madonna</m:t>
                        </m:r>
                        <m:r>
                          <a:rPr lang="es-MX" sz="2200" i="0">
                            <a:latin typeface="Cambria Math" panose="02040503050406030204" pitchFamily="18" charset="0"/>
                            <a:ea typeface="Roboto" panose="02000000000000000000" pitchFamily="2" charset="0"/>
                          </a:rPr>
                          <m:t>, </m:t>
                        </m:r>
                        <m:r>
                          <m:rPr>
                            <m:sty m:val="p"/>
                          </m:rPr>
                          <a:rPr lang="es-MX" sz="2200" i="0">
                            <a:latin typeface="Cambria Math" panose="02040503050406030204" pitchFamily="18" charset="0"/>
                            <a:ea typeface="Roboto" panose="02000000000000000000" pitchFamily="2" charset="0"/>
                          </a:rPr>
                          <m:t>Shakira</m:t>
                        </m:r>
                      </m:e>
                    </m:d>
                  </m:oMath>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i="1" smtClean="0">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b="0" i="0" smtClean="0">
                            <a:latin typeface="Cambria Math" panose="02040503050406030204" pitchFamily="18" charset="0"/>
                            <a:ea typeface="Roboto" panose="02000000000000000000" pitchFamily="2" charset="0"/>
                          </a:rPr>
                          <m:t>3</m:t>
                        </m:r>
                      </m:e>
                    </m:d>
                  </m:oMath>
                </a14:m>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85708" y="927549"/>
                <a:ext cx="11000047" cy="5237277"/>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764616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7703" y="96038"/>
            <a:ext cx="87929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4</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10758" y="1045538"/>
            <a:ext cx="11000047" cy="48243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Dibuje un diagrama de Venn que represente las siguientes relaciones:</a:t>
            </a:r>
          </a:p>
          <a:p>
            <a:r>
              <a:rPr lang="es-MX" sz="2200" dirty="0">
                <a:latin typeface="+mn-lt"/>
                <a:ea typeface="Roboto" panose="02000000000000000000" pitchFamily="2" charset="0"/>
              </a:rPr>
              <a:t>Todas las bicicletas y todos los carros tienen ruedas, pero ninguna bicicleta es un carro.</a:t>
            </a: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r>
              <a:rPr lang="es-MX" sz="2200" dirty="0">
                <a:latin typeface="+mn-lt"/>
                <a:ea typeface="Roboto" panose="02000000000000000000" pitchFamily="2" charset="0"/>
              </a:rPr>
              <a:t>Todas las mujeres son personas</a:t>
            </a: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3966904543"/>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01445" y="96038"/>
            <a:ext cx="110000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5</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501445" y="927551"/>
                <a:ext cx="11000047" cy="224335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Dibuje el diagrama de Venn donde se muestre claramente la relación entre los siguientes conjuntos.</a:t>
                </a:r>
              </a:p>
              <a:p>
                <a14:m>
                  <m:oMath xmlns:m="http://schemas.openxmlformats.org/officeDocument/2006/math">
                    <m:r>
                      <a:rPr lang="es-MX" sz="2200" b="0" i="1" smtClean="0">
                        <a:latin typeface="Cambria Math" panose="02040503050406030204" pitchFamily="18" charset="0"/>
                        <a:ea typeface="Roboto" panose="02000000000000000000" pitchFamily="2" charset="0"/>
                      </a:rPr>
                      <m:t>𝑈</m:t>
                    </m:r>
                    <m:r>
                      <a:rPr lang="es-MX" sz="220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0,1,2,3,4,5,6,7,8,9</m:t>
                        </m:r>
                      </m:e>
                    </m:d>
                  </m:oMath>
                </a14:m>
                <a:endParaRPr lang="es-MX" sz="2200" i="1"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2,3,5,7</m:t>
                        </m:r>
                      </m:e>
                    </m:d>
                    <m:r>
                      <a:rPr lang="es-MX" sz="2200" i="1">
                        <a:latin typeface="Cambria Math" panose="02040503050406030204" pitchFamily="18" charset="0"/>
                        <a:ea typeface="Roboto" panose="02000000000000000000" pitchFamily="2" charset="0"/>
                      </a:rPr>
                      <m:t> </m:t>
                    </m:r>
                  </m:oMath>
                </a14:m>
                <a:endParaRPr lang="es-MX" sz="220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0,1,4,6,8,9</m:t>
                        </m:r>
                      </m:e>
                    </m:d>
                    <m:r>
                      <a:rPr lang="es-MX" sz="2200" i="1">
                        <a:latin typeface="Cambria Math" panose="02040503050406030204" pitchFamily="18" charset="0"/>
                        <a:ea typeface="Roboto" panose="02000000000000000000" pitchFamily="2" charset="0"/>
                      </a:rPr>
                      <m:t> </m:t>
                    </m:r>
                  </m:oMath>
                </a14:m>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p:txBody>
          </p:sp>
        </mc:Choice>
        <mc:Fallback xmlns="">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501445" y="927551"/>
                <a:ext cx="11000047" cy="2243352"/>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32152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87634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6</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167610" y="1045538"/>
                <a:ext cx="11000047"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Para los siguientes ejercicios, use el diagrama de Venn para determinar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oMath>
                </a14:m>
                <a:r>
                  <a:rPr lang="es-MX" sz="2200" dirty="0">
                    <a:latin typeface="+mn-lt"/>
                    <a:ea typeface="Roboto" panose="02000000000000000000" pitchFamily="2" charset="0"/>
                  </a:rPr>
                  <a:t> y </a:t>
                </a:r>
                <a14:m>
                  <m:oMath xmlns:m="http://schemas.openxmlformats.org/officeDocument/2006/math">
                    <m:r>
                      <a:rPr lang="es-MX" sz="2200" i="1">
                        <a:latin typeface="Cambria Math" panose="02040503050406030204" pitchFamily="18" charset="0"/>
                        <a:ea typeface="Roboto" panose="02000000000000000000" pitchFamily="2" charset="0"/>
                      </a:rPr>
                      <m:t>𝑈</m:t>
                    </m:r>
                  </m:oMath>
                </a14:m>
                <a:endParaRPr lang="es-MX" sz="2200" dirty="0">
                  <a:latin typeface="+mn-lt"/>
                  <a:ea typeface="Roboto" panose="02000000000000000000" pitchFamily="2" charset="0"/>
                </a:endParaRPr>
              </a:p>
              <a:p>
                <a:pPr marL="584200" indent="-457200">
                  <a:buFont typeface="+mj-lt"/>
                  <a:buAutoNum type="arabicPeriod" startAt="6"/>
                </a:pPr>
                <a:endParaRPr lang="es-MX" sz="2200" dirty="0">
                  <a:latin typeface="+mn-lt"/>
                  <a:ea typeface="Roboto" panose="02000000000000000000" pitchFamily="2" charset="0"/>
                </a:endParaRPr>
              </a:p>
            </p:txBody>
          </p:sp>
        </mc:Choice>
        <mc:Fallback xmlns="">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167610" y="1045538"/>
                <a:ext cx="11000047" cy="530942"/>
              </a:xfrm>
              <a:prstGeom prst="rect">
                <a:avLst/>
              </a:prstGeom>
              <a:blipFill>
                <a:blip r:embed="rId3"/>
                <a:stretch>
                  <a:fillRect b="-20690"/>
                </a:stretch>
              </a:blipFill>
              <a:ln>
                <a:noFill/>
              </a:ln>
            </p:spPr>
            <p:txBody>
              <a:bodyPr/>
              <a:lstStyle/>
              <a:p>
                <a:r>
                  <a:rPr lang="es-CO">
                    <a:noFill/>
                  </a:rPr>
                  <a:t> </a:t>
                </a:r>
              </a:p>
            </p:txBody>
          </p:sp>
        </mc:Fallback>
      </mc:AlternateContent>
      <p:pic>
        <p:nvPicPr>
          <p:cNvPr id="6" name="Picture 2" descr="A single-set Venn diagram is labeled 'A equals (2, 3, 4, 9).' Outside the Venn diagram, the union of the Venn diagram is marked 'U equals (0, 1, 2, 3, 4, 5, 6, 7, 8, 9).'">
            <a:extLst>
              <a:ext uri="{FF2B5EF4-FFF2-40B4-BE49-F238E27FC236}">
                <a16:creationId xmlns:a16="http://schemas.microsoft.com/office/drawing/2014/main" id="{149A7B2D-6CA8-4B1A-8F31-9FFA34C21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820" y="1945419"/>
            <a:ext cx="3997265" cy="26321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A single-set Venn diagram is labeled A equals (n, e, t). Outside the Venn diagram, the union of the Venn diagram is marked 'U equals (l, i, s, t, e, n).'">
            <a:extLst>
              <a:ext uri="{FF2B5EF4-FFF2-40B4-BE49-F238E27FC236}">
                <a16:creationId xmlns:a16="http://schemas.microsoft.com/office/drawing/2014/main" id="{137C05BE-A80D-4ACB-A35C-CF2FE429BD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9056" y="1940014"/>
            <a:ext cx="3997265" cy="264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100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98206" y="96038"/>
            <a:ext cx="882244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7</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9" name="Google Shape;310;p34">
                <a:extLst>
                  <a:ext uri="{FF2B5EF4-FFF2-40B4-BE49-F238E27FC236}">
                    <a16:creationId xmlns:a16="http://schemas.microsoft.com/office/drawing/2014/main" id="{1762F361-F5C1-4979-8094-9A384235D077}"/>
                  </a:ext>
                </a:extLst>
              </p:cNvPr>
              <p:cNvSpPr txBox="1">
                <a:spLocks/>
              </p:cNvSpPr>
              <p:nvPr/>
            </p:nvSpPr>
            <p:spPr>
              <a:xfrm>
                <a:off x="398206" y="1048962"/>
                <a:ext cx="11000047" cy="54255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Teniendo en cuenta el siguiente diagrama de Venn encuentre:</a:t>
                </a:r>
              </a:p>
              <a:p>
                <a14:m>
                  <m:oMath xmlns:m="http://schemas.openxmlformats.org/officeDocument/2006/math">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oMath>
                </a14:m>
                <a:endParaRPr lang="es-MX" sz="2200" dirty="0">
                  <a:latin typeface="+mn-lt"/>
                  <a:ea typeface="Cambria Math" panose="02040503050406030204" pitchFamily="18"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oMath>
                </a14:m>
                <a:endParaRPr lang="es-MX" sz="2200" dirty="0">
                  <a:latin typeface="+mn-lt"/>
                  <a:ea typeface="Cambria Math" panose="02040503050406030204" pitchFamily="18"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oMath>
                </a14:m>
                <a:endParaRPr lang="es-MX" sz="2200" dirty="0">
                  <a:latin typeface="+mn-lt"/>
                  <a:ea typeface="Cambria Math" panose="02040503050406030204" pitchFamily="18"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𝑛</m:t>
                    </m:r>
                    <m:d>
                      <m:dPr>
                        <m:ctrlPr>
                          <a:rPr lang="es-MX" sz="2200" i="1" dirty="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sSup>
                          <m:sSupPr>
                            <m:ctrlPr>
                              <a:rPr lang="es-MX" sz="2200" i="1" dirty="0">
                                <a:latin typeface="Cambria Math" panose="02040503050406030204" pitchFamily="18" charset="0"/>
                                <a:ea typeface="Cambria Math" panose="02040503050406030204" pitchFamily="18" charset="0"/>
                              </a:rPr>
                            </m:ctrlPr>
                          </m:sSupPr>
                          <m:e>
                            <m:r>
                              <a:rPr lang="es-MX" sz="2200" i="1" dirty="0">
                                <a:latin typeface="Cambria Math" panose="02040503050406030204" pitchFamily="18" charset="0"/>
                                <a:ea typeface="Cambria Math" panose="02040503050406030204" pitchFamily="18" charset="0"/>
                              </a:rPr>
                              <m:t>𝐵</m:t>
                            </m:r>
                          </m:e>
                          <m:sup>
                            <m:r>
                              <a:rPr lang="es-MX" sz="2200" i="1" dirty="0">
                                <a:latin typeface="Cambria Math" panose="02040503050406030204" pitchFamily="18" charset="0"/>
                                <a:ea typeface="Cambria Math" panose="02040503050406030204" pitchFamily="18" charset="0"/>
                              </a:rPr>
                              <m:t>′</m:t>
                            </m:r>
                          </m:sup>
                        </m:sSup>
                      </m:e>
                    </m:d>
                  </m:oMath>
                </a14:m>
                <a:endParaRPr lang="es-MX" sz="2200" dirty="0">
                  <a:latin typeface="+mn-lt"/>
                  <a:ea typeface="Cambria Math" panose="02040503050406030204" pitchFamily="18"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m:t>
                    </m:r>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oMath>
                </a14:m>
                <a:endParaRPr lang="es-MX" sz="2200" dirty="0">
                  <a:latin typeface="+mn-lt"/>
                  <a:ea typeface="Cambria Math" panose="02040503050406030204" pitchFamily="18"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m:t>
                    </m:r>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oMath>
                </a14:m>
                <a:endParaRPr lang="es-MX" sz="2200" dirty="0">
                  <a:latin typeface="+mn-lt"/>
                  <a:ea typeface="Cambria Math" panose="02040503050406030204" pitchFamily="18"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m:t>
                        </m:r>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r>
                          <m:rPr>
                            <m:nor/>
                          </m:rPr>
                          <a:rPr lang="es-MX" sz="2200" dirty="0">
                            <a:latin typeface="+mn-lt"/>
                            <a:ea typeface="Cambria Math" panose="02040503050406030204" pitchFamily="18" charset="0"/>
                          </a:rPr>
                          <m:t> </m:t>
                        </m:r>
                      </m:e>
                    </m:d>
                  </m:oMath>
                </a14:m>
                <a:endParaRPr lang="es-MX" sz="2200" i="1" dirty="0">
                  <a:latin typeface="+mn-lt"/>
                  <a:ea typeface="Roboto" panose="02000000000000000000" pitchFamily="2" charset="0"/>
                </a:endParaRPr>
              </a:p>
              <a:p>
                <a14:m>
                  <m:oMath xmlns:m="http://schemas.openxmlformats.org/officeDocument/2006/math">
                    <m:r>
                      <a:rPr lang="es-MX" sz="2200" i="1" dirty="0">
                        <a:latin typeface="Cambria Math" panose="02040503050406030204" pitchFamily="18" charset="0"/>
                        <a:ea typeface="Roboto" panose="02000000000000000000" pitchFamily="2" charset="0"/>
                      </a:rPr>
                      <m:t>(</m:t>
                    </m:r>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oMath>
                </a14:m>
                <a:endParaRPr lang="es-MX" sz="2200" dirty="0">
                  <a:latin typeface="+mn-lt"/>
                  <a:ea typeface="Cambria Math" panose="02040503050406030204" pitchFamily="18" charset="0"/>
                </a:endParaRPr>
              </a:p>
              <a:p>
                <a:pPr marL="584200" indent="-457200">
                  <a:buFont typeface="+mj-lt"/>
                  <a:buAutoNum type="arabicPeriod" startAt="6"/>
                </a:pPr>
                <a:endParaRPr lang="es-MX" sz="2200" dirty="0">
                  <a:latin typeface="+mn-lt"/>
                  <a:ea typeface="Roboto" panose="02000000000000000000" pitchFamily="2" charset="0"/>
                </a:endParaRPr>
              </a:p>
            </p:txBody>
          </p:sp>
        </mc:Choice>
        <mc:Fallback xmlns="">
          <p:sp>
            <p:nvSpPr>
              <p:cNvPr id="9" name="Google Shape;310;p34">
                <a:extLst>
                  <a:ext uri="{FF2B5EF4-FFF2-40B4-BE49-F238E27FC236}">
                    <a16:creationId xmlns:a16="http://schemas.microsoft.com/office/drawing/2014/main" id="{1762F361-F5C1-4979-8094-9A384235D077}"/>
                  </a:ext>
                </a:extLst>
              </p:cNvPr>
              <p:cNvSpPr txBox="1">
                <a:spLocks noRot="1" noChangeAspect="1" noMove="1" noResize="1" noEditPoints="1" noAdjustHandles="1" noChangeArrowheads="1" noChangeShapeType="1" noTextEdit="1"/>
              </p:cNvSpPr>
              <p:nvPr/>
            </p:nvSpPr>
            <p:spPr>
              <a:xfrm>
                <a:off x="398206" y="1048962"/>
                <a:ext cx="11000047" cy="5425580"/>
              </a:xfrm>
              <a:prstGeom prst="rect">
                <a:avLst/>
              </a:prstGeom>
              <a:blipFill>
                <a:blip r:embed="rId3"/>
                <a:stretch>
                  <a:fillRect/>
                </a:stretch>
              </a:blipFill>
              <a:ln>
                <a:noFill/>
              </a:ln>
            </p:spPr>
            <p:txBody>
              <a:bodyPr/>
              <a:lstStyle/>
              <a:p>
                <a:r>
                  <a:rPr lang="es-CO">
                    <a:noFill/>
                  </a:rPr>
                  <a:t> </a:t>
                </a:r>
              </a:p>
            </p:txBody>
          </p:sp>
        </mc:Fallback>
      </mc:AlternateContent>
      <p:pic>
        <p:nvPicPr>
          <p:cNvPr id="11" name="Picture 4" descr="A two-set Venn diagram intersecting one another is given. The first set is labeled A while the second set is labeled B. Set A shows 1, 9. Set B shows 2. The intersection of the sets shows 3, 5, 7. Outside the sets, 0, 4, 6 are given. Outside the Venn diagram, it is marked 'U equals (0, 1, 2, 3, 4, 5, 6, 7, 8, 9).'">
            <a:extLst>
              <a:ext uri="{FF2B5EF4-FFF2-40B4-BE49-F238E27FC236}">
                <a16:creationId xmlns:a16="http://schemas.microsoft.com/office/drawing/2014/main" id="{CEEC68BC-3CCF-469C-8DC4-DC90FDDF85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6069" y="2209177"/>
            <a:ext cx="4657725"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375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87634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8</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6" name="Google Shape;310;p34">
                <a:extLst>
                  <a:ext uri="{FF2B5EF4-FFF2-40B4-BE49-F238E27FC236}">
                    <a16:creationId xmlns:a16="http://schemas.microsoft.com/office/drawing/2014/main" id="{288A6B7E-28E5-4804-B868-74927C5F271A}"/>
                  </a:ext>
                </a:extLst>
              </p:cNvPr>
              <p:cNvSpPr txBox="1">
                <a:spLocks/>
              </p:cNvSpPr>
              <p:nvPr/>
            </p:nvSpPr>
            <p:spPr>
              <a:xfrm>
                <a:off x="322930" y="999695"/>
                <a:ext cx="10625775" cy="45951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siguiente diagrama de Venn esta dibujado de acuerdo a la cardinalidad de cada uno de los conjuntos. Teniendo en cuenta esta información, y sustentando mediante la aplicación de las identidades básicas de cardinalidad determine a partir de este:</a:t>
                </a:r>
              </a:p>
              <a:p>
                <a14:m>
                  <m:oMath xmlns:m="http://schemas.openxmlformats.org/officeDocument/2006/math">
                    <m:d>
                      <m:dPr>
                        <m:begChr m:val="|"/>
                        <m:endChr m:val="|"/>
                        <m:ctrlPr>
                          <a:rPr lang="es-MX" sz="2200" b="0" i="1" dirty="0" smtClean="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𝐴</m:t>
                        </m:r>
                      </m:e>
                    </m:d>
                    <m:r>
                      <a:rPr lang="es-MX" sz="2200" b="0" i="1" dirty="0" smtClean="0">
                        <a:latin typeface="Cambria Math" panose="02040503050406030204" pitchFamily="18" charset="0"/>
                        <a:ea typeface="Roboto" panose="02000000000000000000" pitchFamily="2" charset="0"/>
                      </a:rPr>
                      <m:t>=</m:t>
                    </m:r>
                    <m:r>
                      <a:rPr lang="es-MX" sz="2200" b="0" i="1" dirty="0" smtClean="0">
                        <a:latin typeface="Cambria Math" panose="02040503050406030204" pitchFamily="18" charset="0"/>
                        <a:ea typeface="Roboto" panose="02000000000000000000" pitchFamily="2" charset="0"/>
                      </a:rPr>
                      <m:t>𝑛</m:t>
                    </m:r>
                    <m:d>
                      <m:dPr>
                        <m:ctrlPr>
                          <a:rPr lang="es-MX" sz="2200" b="0" i="1" dirty="0" smtClean="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𝐴</m:t>
                        </m:r>
                      </m:e>
                    </m:d>
                    <m:r>
                      <a:rPr lang="es-MX" sz="2200" b="0" i="1" dirty="0" smtClean="0">
                        <a:latin typeface="Cambria Math" panose="02040503050406030204" pitchFamily="18" charset="0"/>
                        <a:ea typeface="Roboto" panose="02000000000000000000" pitchFamily="2" charset="0"/>
                      </a:rPr>
                      <m:t>=</m:t>
                    </m:r>
                  </m:oMath>
                </a14:m>
                <a:endParaRPr lang="es-MX" sz="2200" b="0" dirty="0">
                  <a:latin typeface="+mn-lt"/>
                  <a:ea typeface="Cambria Math" panose="02040503050406030204" pitchFamily="18" charset="0"/>
                </a:endParaRPr>
              </a:p>
              <a:p>
                <a14:m>
                  <m:oMath xmlns:m="http://schemas.openxmlformats.org/officeDocument/2006/math">
                    <m:d>
                      <m:dPr>
                        <m:begChr m:val="|"/>
                        <m:endChr m:val="|"/>
                        <m:ctrlPr>
                          <a:rPr lang="es-MX" sz="2200" b="0" i="1" dirty="0" smtClean="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𝐵</m:t>
                        </m:r>
                      </m:e>
                    </m:d>
                    <m:r>
                      <a:rPr lang="es-MX" sz="2200" i="1" dirty="0">
                        <a:latin typeface="Cambria Math" panose="02040503050406030204" pitchFamily="18" charset="0"/>
                        <a:ea typeface="Roboto" panose="02000000000000000000" pitchFamily="2" charset="0"/>
                      </a:rPr>
                      <m:t>=</m:t>
                    </m:r>
                    <m:r>
                      <a:rPr lang="es-MX" sz="2200" i="1" dirty="0">
                        <a:latin typeface="Cambria Math" panose="02040503050406030204" pitchFamily="18" charset="0"/>
                        <a:ea typeface="Roboto" panose="02000000000000000000" pitchFamily="2" charset="0"/>
                      </a:rPr>
                      <m:t>𝑛</m:t>
                    </m:r>
                    <m:d>
                      <m:dPr>
                        <m:ctrlPr>
                          <a:rPr lang="es-MX" sz="2200" i="1" dirty="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𝐵</m:t>
                        </m:r>
                      </m:e>
                    </m:d>
                    <m:r>
                      <a:rPr lang="es-MX" sz="2200" i="1" dirty="0">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𝐴</m:t>
                        </m:r>
                        <m:r>
                          <a:rPr lang="es-MX" sz="2200" b="0" i="1" dirty="0" smtClean="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Roboto" panose="02000000000000000000" pitchFamily="2" charset="0"/>
                          </a:rPr>
                          <m:t>𝐵</m:t>
                        </m:r>
                      </m:e>
                    </m:d>
                    <m:r>
                      <a:rPr lang="es-MX" sz="2200" b="0" i="1" dirty="0" smtClean="0">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𝐴</m:t>
                        </m:r>
                        <m:r>
                          <a:rPr lang="es-MX" sz="2200" b="0" i="1" dirty="0" smtClean="0">
                            <a:latin typeface="Cambria Math" panose="02040503050406030204" pitchFamily="18" charset="0"/>
                            <a:ea typeface="Cambria Math" panose="02040503050406030204" pitchFamily="18" charset="0"/>
                          </a:rPr>
                          <m:t>+</m:t>
                        </m:r>
                        <m:r>
                          <a:rPr lang="es-MX" sz="2200" i="1" dirty="0">
                            <a:latin typeface="Cambria Math" panose="02040503050406030204" pitchFamily="18" charset="0"/>
                            <a:ea typeface="Roboto" panose="02000000000000000000" pitchFamily="2" charset="0"/>
                          </a:rPr>
                          <m:t>𝐵</m:t>
                        </m:r>
                      </m:e>
                    </m:d>
                    <m:r>
                      <a:rPr lang="es-MX" sz="2200" b="0" i="1" dirty="0" smtClean="0">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𝑈</m:t>
                        </m:r>
                      </m:e>
                    </m:d>
                    <m:r>
                      <a:rPr lang="es-MX" sz="2200" b="0" i="1" dirty="0" smtClean="0">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d>
                          <m:dPr>
                            <m:ctrlPr>
                              <a:rPr lang="es-MX" sz="2200" b="0" i="1" dirty="0" smtClean="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𝐴</m:t>
                            </m:r>
                            <m:r>
                              <a:rPr lang="es-MX" sz="2200" b="0" i="1" dirty="0" smtClean="0">
                                <a:latin typeface="Cambria Math" panose="02040503050406030204" pitchFamily="18" charset="0"/>
                                <a:ea typeface="Roboto" panose="02000000000000000000" pitchFamily="2" charset="0"/>
                              </a:rPr>
                              <m:t>+</m:t>
                            </m:r>
                            <m:r>
                              <a:rPr lang="es-MX" sz="2200" b="0" i="1" dirty="0" smtClean="0">
                                <a:latin typeface="Cambria Math" panose="02040503050406030204" pitchFamily="18" charset="0"/>
                                <a:ea typeface="Roboto" panose="02000000000000000000" pitchFamily="2" charset="0"/>
                              </a:rPr>
                              <m:t>𝐵</m:t>
                            </m:r>
                          </m:e>
                        </m:d>
                        <m:r>
                          <a:rPr lang="es-MX" sz="2200" b="0" i="1" dirty="0" smtClean="0">
                            <a:latin typeface="Cambria Math" panose="02040503050406030204" pitchFamily="18" charset="0"/>
                            <a:ea typeface="Roboto" panose="02000000000000000000" pitchFamily="2" charset="0"/>
                          </a:rPr>
                          <m:t>′</m:t>
                        </m:r>
                      </m:e>
                    </m:d>
                    <m:r>
                      <a:rPr lang="es-MX" sz="2200" b="0" i="1" dirty="0" smtClean="0">
                        <a:latin typeface="Cambria Math" panose="02040503050406030204" pitchFamily="18" charset="0"/>
                        <a:ea typeface="Roboto" panose="02000000000000000000" pitchFamily="2" charset="0"/>
                      </a:rPr>
                      <m:t>=</m:t>
                    </m:r>
                  </m:oMath>
                </a14:m>
                <a:endParaRPr lang="es-MX" sz="2200" b="0" i="1" dirty="0">
                  <a:latin typeface="+mn-lt"/>
                  <a:ea typeface="Roboto" panose="02000000000000000000" pitchFamily="2" charset="0"/>
                </a:endParaRPr>
              </a:p>
              <a:p>
                <a14:m>
                  <m:oMath xmlns:m="http://schemas.openxmlformats.org/officeDocument/2006/math">
                    <m:d>
                      <m:dPr>
                        <m:begChr m:val="|"/>
                        <m:endChr m:val="|"/>
                        <m:ctrlPr>
                          <a:rPr lang="es-MX" sz="2200" b="0" i="1" dirty="0" smtClean="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m:rPr>
                            <m:nor/>
                          </m:rPr>
                          <a:rPr lang="es-MX" sz="2200" dirty="0">
                            <a:latin typeface="+mn-lt"/>
                            <a:ea typeface="Cambria Math" panose="02040503050406030204" pitchFamily="18" charset="0"/>
                          </a:rPr>
                          <m:t> </m:t>
                        </m:r>
                      </m:e>
                    </m:d>
                    <m:r>
                      <a:rPr lang="es-MX" sz="2200" b="0" i="1" dirty="0" smtClean="0">
                        <a:latin typeface="Cambria Math" panose="02040503050406030204" pitchFamily="18" charset="0"/>
                        <a:ea typeface="Roboto" panose="02000000000000000000" pitchFamily="2" charset="0"/>
                      </a:rPr>
                      <m:t>=</m:t>
                    </m:r>
                    <m:d>
                      <m:dPr>
                        <m:begChr m:val="|"/>
                        <m:endChr m:val="|"/>
                        <m:ctrlPr>
                          <a:rPr lang="es-MX" sz="2200" i="1" dirty="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𝑈</m:t>
                        </m:r>
                      </m:e>
                    </m:d>
                    <m:r>
                      <a:rPr lang="es-MX" sz="2200" i="1" dirty="0">
                        <a:latin typeface="Cambria Math" panose="02040503050406030204" pitchFamily="18" charset="0"/>
                        <a:ea typeface="Roboto" panose="02000000000000000000" pitchFamily="2" charset="0"/>
                      </a:rPr>
                      <m:t>−</m:t>
                    </m:r>
                    <m:d>
                      <m:dPr>
                        <m:begChr m:val="|"/>
                        <m:endChr m:val="|"/>
                        <m:ctrlPr>
                          <a:rPr lang="es-MX" sz="2200" b="0" i="1" dirty="0" smtClean="0">
                            <a:latin typeface="Cambria Math" panose="02040503050406030204" pitchFamily="18" charset="0"/>
                            <a:ea typeface="Roboto" panose="02000000000000000000" pitchFamily="2" charset="0"/>
                          </a:rPr>
                        </m:ctrlPr>
                      </m:dPr>
                      <m:e>
                        <m:r>
                          <a:rPr lang="es-MX" sz="2200" b="0" i="1" dirty="0" smtClean="0">
                            <a:latin typeface="Cambria Math" panose="02040503050406030204" pitchFamily="18" charset="0"/>
                            <a:ea typeface="Roboto" panose="02000000000000000000" pitchFamily="2" charset="0"/>
                          </a:rPr>
                          <m:t>𝐴</m:t>
                        </m:r>
                      </m:e>
                    </m:d>
                    <m:r>
                      <a:rPr lang="es-MX" sz="2200" b="0" i="1" dirty="0" smtClean="0">
                        <a:latin typeface="Cambria Math" panose="02040503050406030204" pitchFamily="18" charset="0"/>
                        <a:ea typeface="Roboto" panose="02000000000000000000" pitchFamily="2" charset="0"/>
                      </a:rPr>
                      <m:t>=</m:t>
                    </m:r>
                  </m:oMath>
                </a14:m>
                <a:endParaRPr lang="es-MX" sz="2200" b="0" i="1" dirty="0">
                  <a:latin typeface="+mn-lt"/>
                  <a:ea typeface="Roboto" panose="02000000000000000000" pitchFamily="2" charset="0"/>
                </a:endParaRPr>
              </a:p>
              <a:p>
                <a14:m>
                  <m:oMath xmlns:m="http://schemas.openxmlformats.org/officeDocument/2006/math">
                    <m:d>
                      <m:dPr>
                        <m:begChr m:val="|"/>
                        <m:endChr m:val="|"/>
                        <m:ctrlPr>
                          <a:rPr lang="es-MX" sz="2200" i="1" dirty="0">
                            <a:latin typeface="Cambria Math" panose="02040503050406030204" pitchFamily="18" charset="0"/>
                            <a:ea typeface="Roboto" panose="02000000000000000000" pitchFamily="2" charset="0"/>
                          </a:rPr>
                        </m:ctrlPr>
                      </m:dPr>
                      <m:e>
                        <m:r>
                          <a:rPr lang="es-MX" sz="2200" i="1" dirty="0">
                            <a:latin typeface="Cambria Math" panose="02040503050406030204" pitchFamily="18" charset="0"/>
                            <a:ea typeface="Roboto" panose="02000000000000000000" pitchFamily="2" charset="0"/>
                          </a:rPr>
                          <m:t>𝐴</m:t>
                        </m:r>
                        <m:r>
                          <a:rPr lang="es-MX" sz="2200" i="1" dirty="0">
                            <a:latin typeface="Cambria Math" panose="02040503050406030204" pitchFamily="18" charset="0"/>
                            <a:ea typeface="Cambria Math" panose="02040503050406030204" pitchFamily="18" charset="0"/>
                          </a:rPr>
                          <m:t>⋅</m:t>
                        </m:r>
                        <m:r>
                          <a:rPr lang="es-MX" sz="2200" b="0" i="1" dirty="0" smtClean="0">
                            <a:latin typeface="Cambria Math" panose="02040503050406030204" pitchFamily="18" charset="0"/>
                            <a:ea typeface="Cambria Math" panose="02040503050406030204" pitchFamily="18" charset="0"/>
                          </a:rPr>
                          <m:t>𝐵</m:t>
                        </m:r>
                        <m:r>
                          <a:rPr lang="es-MX" sz="2200" i="1" dirty="0">
                            <a:latin typeface="Cambria Math" panose="02040503050406030204" pitchFamily="18" charset="0"/>
                            <a:ea typeface="Cambria Math" panose="02040503050406030204" pitchFamily="18" charset="0"/>
                          </a:rPr>
                          <m:t>′</m:t>
                        </m:r>
                        <m:r>
                          <m:rPr>
                            <m:nor/>
                          </m:rPr>
                          <a:rPr lang="es-MX" sz="2200" dirty="0">
                            <a:latin typeface="+mn-lt"/>
                            <a:ea typeface="Cambria Math" panose="02040503050406030204" pitchFamily="18" charset="0"/>
                          </a:rPr>
                          <m:t> </m:t>
                        </m:r>
                      </m:e>
                    </m:d>
                    <m:r>
                      <a:rPr lang="es-MX" sz="2200" b="0" i="1" dirty="0" smtClean="0">
                        <a:latin typeface="Cambria Math" panose="02040503050406030204" pitchFamily="18" charset="0"/>
                        <a:ea typeface="Cambria Math" panose="02040503050406030204" pitchFamily="18" charset="0"/>
                      </a:rPr>
                      <m:t>=</m:t>
                    </m:r>
                  </m:oMath>
                </a14:m>
                <a:endParaRPr lang="es-MX" sz="2200"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b="0" dirty="0">
                  <a:latin typeface="+mn-lt"/>
                  <a:ea typeface="Cambria Math" panose="02040503050406030204" pitchFamily="18"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p:txBody>
          </p:sp>
        </mc:Choice>
        <mc:Fallback xmlns="">
          <p:sp>
            <p:nvSpPr>
              <p:cNvPr id="6" name="Google Shape;310;p34">
                <a:extLst>
                  <a:ext uri="{FF2B5EF4-FFF2-40B4-BE49-F238E27FC236}">
                    <a16:creationId xmlns:a16="http://schemas.microsoft.com/office/drawing/2014/main" id="{288A6B7E-28E5-4804-B868-74927C5F271A}"/>
                  </a:ext>
                </a:extLst>
              </p:cNvPr>
              <p:cNvSpPr txBox="1">
                <a:spLocks noRot="1" noChangeAspect="1" noMove="1" noResize="1" noEditPoints="1" noAdjustHandles="1" noChangeArrowheads="1" noChangeShapeType="1" noTextEdit="1"/>
              </p:cNvSpPr>
              <p:nvPr/>
            </p:nvSpPr>
            <p:spPr>
              <a:xfrm>
                <a:off x="322930" y="999695"/>
                <a:ext cx="10625775" cy="4595117"/>
              </a:xfrm>
              <a:prstGeom prst="rect">
                <a:avLst/>
              </a:prstGeom>
              <a:blipFill>
                <a:blip r:embed="rId3"/>
                <a:stretch>
                  <a:fillRect/>
                </a:stretch>
              </a:blipFill>
              <a:ln>
                <a:noFill/>
              </a:ln>
            </p:spPr>
            <p:txBody>
              <a:bodyPr/>
              <a:lstStyle/>
              <a:p>
                <a:r>
                  <a:rPr lang="es-CO">
                    <a:noFill/>
                  </a:rPr>
                  <a:t> </a:t>
                </a:r>
              </a:p>
            </p:txBody>
          </p:sp>
        </mc:Fallback>
      </mc:AlternateContent>
      <p:pic>
        <p:nvPicPr>
          <p:cNvPr id="7" name="Picture 2" descr="A two-set Venn diagram intersecting one another is given. The first set is labeled A while the second set is labeled B.  Set A shows 7. Set B shows 5. The intersection of the sets shows 5. Outside the Venn diagram, it is marked U. ">
            <a:extLst>
              <a:ext uri="{FF2B5EF4-FFF2-40B4-BE49-F238E27FC236}">
                <a16:creationId xmlns:a16="http://schemas.microsoft.com/office/drawing/2014/main" id="{C0EF612F-22E3-465B-8A22-21FC283F44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0888" y="2739946"/>
            <a:ext cx="3508182" cy="265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50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60439" y="96038"/>
            <a:ext cx="86602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solidFill>
                <a:schemeClr val="tx1"/>
              </a:solidFill>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37" y="1393332"/>
            <a:ext cx="4796473" cy="5178282"/>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310;p34">
            <a:extLst>
              <a:ext uri="{FF2B5EF4-FFF2-40B4-BE49-F238E27FC236}">
                <a16:creationId xmlns:a16="http://schemas.microsoft.com/office/drawing/2014/main" id="{02CFD9C0-C463-4594-B444-A5C36A62C397}"/>
              </a:ext>
            </a:extLst>
          </p:cNvPr>
          <p:cNvSpPr txBox="1">
            <a:spLocks/>
          </p:cNvSpPr>
          <p:nvPr/>
        </p:nvSpPr>
        <p:spPr>
          <a:xfrm>
            <a:off x="560439" y="104553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Utilice el diagrama de Venn a continuación, que muestra los tipos de sangre de 100 personas que donaron sangre en una clínica local, para responder las siguientes preguntas:</a:t>
            </a:r>
          </a:p>
          <a:p>
            <a:r>
              <a:rPr lang="es-MX" sz="2200" b="0" dirty="0">
                <a:latin typeface="+mn-lt"/>
                <a:ea typeface="Cambria Math" panose="02040503050406030204" pitchFamily="18" charset="0"/>
              </a:rPr>
              <a:t>¿Cuántas personas con factor sanguíneo A donaron sangre?</a:t>
            </a:r>
          </a:p>
          <a:p>
            <a:r>
              <a:rPr lang="es-MX" sz="2200" b="0" dirty="0">
                <a:latin typeface="+mn-lt"/>
                <a:ea typeface="Cambria Math" panose="02040503050406030204" pitchFamily="18" charset="0"/>
              </a:rPr>
              <a:t>Julio tiene el tipo sanguíneo B+. Si necesita una cirugía que requiera una transfusión de sangre, puede aceptar sangre de cualquier persona que no tenga el factor sanguíneo A. ¿Cuántas personas donaron sangre que Julio puede aceptar?</a:t>
            </a:r>
          </a:p>
          <a:p>
            <a:r>
              <a:rPr lang="es-MX" sz="2200" b="0" dirty="0">
                <a:latin typeface="+mn-lt"/>
                <a:ea typeface="Cambria Math" panose="02040503050406030204" pitchFamily="18" charset="0"/>
              </a:rPr>
              <a:t>¿Cuántas personas que donaron sangre no tienen el factor sanguíneo Rh+?</a:t>
            </a:r>
          </a:p>
          <a:p>
            <a:r>
              <a:rPr lang="es-MX" sz="2200" b="0" dirty="0">
                <a:latin typeface="+mn-lt"/>
                <a:ea typeface="Cambria Math" panose="02040503050406030204" pitchFamily="18" charset="0"/>
              </a:rPr>
              <a:t>¿Cuántas personas tenían sangre tipo A y tipo B?</a:t>
            </a:r>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1757005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86697" y="96038"/>
            <a:ext cx="873395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024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87634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310;p34">
            <a:extLst>
              <a:ext uri="{FF2B5EF4-FFF2-40B4-BE49-F238E27FC236}">
                <a16:creationId xmlns:a16="http://schemas.microsoft.com/office/drawing/2014/main" id="{46F155B9-EB68-4E19-810A-C2A01044B67E}"/>
              </a:ext>
            </a:extLst>
          </p:cNvPr>
          <p:cNvSpPr txBox="1">
            <a:spLocks/>
          </p:cNvSpPr>
          <p:nvPr/>
        </p:nvSpPr>
        <p:spPr>
          <a:xfrm>
            <a:off x="560439" y="104553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0" dirty="0">
                <a:latin typeface="+mn-lt"/>
                <a:ea typeface="Cambria Math" panose="02040503050406030204" pitchFamily="18" charset="0"/>
              </a:rPr>
              <a:t>¿Cuántas personas con factor sanguíneo A donaron sangre?</a:t>
            </a:r>
          </a:p>
        </p:txBody>
      </p:sp>
    </p:spTree>
    <p:extLst>
      <p:ext uri="{BB962C8B-B14F-4D97-AF65-F5344CB8AC3E}">
        <p14:creationId xmlns:p14="http://schemas.microsoft.com/office/powerpoint/2010/main" val="2498569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604684" y="96038"/>
            <a:ext cx="861596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310;p34">
            <a:extLst>
              <a:ext uri="{FF2B5EF4-FFF2-40B4-BE49-F238E27FC236}">
                <a16:creationId xmlns:a16="http://schemas.microsoft.com/office/drawing/2014/main" id="{ABFF16C4-C8E9-4F7A-9637-3CE491DC60D5}"/>
              </a:ext>
            </a:extLst>
          </p:cNvPr>
          <p:cNvSpPr txBox="1">
            <a:spLocks/>
          </p:cNvSpPr>
          <p:nvPr/>
        </p:nvSpPr>
        <p:spPr>
          <a:xfrm>
            <a:off x="560439" y="104553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0" dirty="0">
                <a:latin typeface="+mn-lt"/>
                <a:ea typeface="Cambria Math" panose="02040503050406030204" pitchFamily="18" charset="0"/>
              </a:rPr>
              <a:t>Julio tiene el tipo sanguíneo B+. Si necesita una cirugía que requiera una transfusión de sangre, puede aceptar sangre de cualquier persona que no tenga el factor sanguíneo A. ¿Cuántas personas donaron sangre que Julio puede aceptar?</a:t>
            </a:r>
          </a:p>
        </p:txBody>
      </p:sp>
    </p:spTree>
    <p:extLst>
      <p:ext uri="{BB962C8B-B14F-4D97-AF65-F5344CB8AC3E}">
        <p14:creationId xmlns:p14="http://schemas.microsoft.com/office/powerpoint/2010/main" val="1120506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89935" y="96038"/>
            <a:ext cx="863071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4786" y="1729567"/>
            <a:ext cx="3971953" cy="4288129"/>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310;p34">
            <a:extLst>
              <a:ext uri="{FF2B5EF4-FFF2-40B4-BE49-F238E27FC236}">
                <a16:creationId xmlns:a16="http://schemas.microsoft.com/office/drawing/2014/main" id="{205108A9-E753-445E-AB32-0286F2D75976}"/>
              </a:ext>
            </a:extLst>
          </p:cNvPr>
          <p:cNvSpPr txBox="1">
            <a:spLocks/>
          </p:cNvSpPr>
          <p:nvPr/>
        </p:nvSpPr>
        <p:spPr>
          <a:xfrm>
            <a:off x="560439" y="104553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0" dirty="0">
                <a:latin typeface="+mn-lt"/>
                <a:ea typeface="Cambria Math" panose="02040503050406030204" pitchFamily="18" charset="0"/>
              </a:rPr>
              <a:t>¿Cuántas personas que donaron sangre no tienen el factor sanguíneo Rh+?</a:t>
            </a:r>
          </a:p>
        </p:txBody>
      </p:sp>
    </p:spTree>
    <p:extLst>
      <p:ext uri="{BB962C8B-B14F-4D97-AF65-F5344CB8AC3E}">
        <p14:creationId xmlns:p14="http://schemas.microsoft.com/office/powerpoint/2010/main" val="1848457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42452" y="96038"/>
            <a:ext cx="87781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9</a:t>
            </a:r>
            <a:endParaRPr dirty="0">
              <a:latin typeface="+mj-lt"/>
            </a:endParaRPr>
          </a:p>
        </p:txBody>
      </p:sp>
      <p:pic>
        <p:nvPicPr>
          <p:cNvPr id="8" name="Picture 2" descr="A three-set Venn diagram A, B, and Rh plus overlapping one another is given. Set A shows A dash equals 6. Set B shows B dash equals 2. Set Rh plus shows O plus dash equals 37. The intersection of sets A and B shows AB dash equals 1. The intersection of sets B and Rh plus shows B plus equals 8. The intersection of sets A and Rh plus shows A plus equals 36. The intersection of all three sets shows AB plus equals 3. Outside the set, 'O dash equals 7' is given. Outside the Venn diagram, it is marked 'U equals Blood types of 100 people.' ">
            <a:extLst>
              <a:ext uri="{FF2B5EF4-FFF2-40B4-BE49-F238E27FC236}">
                <a16:creationId xmlns:a16="http://schemas.microsoft.com/office/drawing/2014/main" id="{6EB04CAB-F302-46E9-85EE-D32628079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747" y="1789804"/>
            <a:ext cx="3971953" cy="4288129"/>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310;p34">
            <a:extLst>
              <a:ext uri="{FF2B5EF4-FFF2-40B4-BE49-F238E27FC236}">
                <a16:creationId xmlns:a16="http://schemas.microsoft.com/office/drawing/2014/main" id="{35AF10C7-4B83-4A0C-90EC-EDBD146EAA2F}"/>
              </a:ext>
            </a:extLst>
          </p:cNvPr>
          <p:cNvSpPr txBox="1">
            <a:spLocks/>
          </p:cNvSpPr>
          <p:nvPr/>
        </p:nvSpPr>
        <p:spPr>
          <a:xfrm>
            <a:off x="560439" y="1045538"/>
            <a:ext cx="5941350" cy="5342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0" dirty="0">
                <a:latin typeface="+mn-lt"/>
                <a:ea typeface="Cambria Math" panose="02040503050406030204" pitchFamily="18" charset="0"/>
              </a:rPr>
              <a:t>¿Cuántas personas tenían sangre tipo A y tipo B?</a:t>
            </a:r>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36591118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42452" y="96038"/>
            <a:ext cx="87781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Ejemplos – Solución ejemplo 10</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C243C83E-2A21-48C1-8AC8-760A3F3A196F}"/>
                  </a:ext>
                </a:extLst>
              </p:cNvPr>
              <p:cNvSpPr txBox="1">
                <a:spLocks/>
              </p:cNvSpPr>
              <p:nvPr/>
            </p:nvSpPr>
            <p:spPr>
              <a:xfrm>
                <a:off x="311966" y="1045538"/>
                <a:ext cx="10896808" cy="53034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Dados los siguientes conjuntos:</a:t>
                </a:r>
              </a:p>
              <a:p>
                <a14:m>
                  <m:oMath xmlns:m="http://schemas.openxmlformats.org/officeDocument/2006/math">
                    <m:r>
                      <a:rPr lang="es-MX" sz="2200" b="0" i="1" smtClean="0">
                        <a:latin typeface="Cambria Math" panose="02040503050406030204" pitchFamily="18" charset="0"/>
                        <a:ea typeface="Roboto" panose="02000000000000000000" pitchFamily="2" charset="0"/>
                      </a:rPr>
                      <m:t>𝑈</m:t>
                    </m:r>
                    <m:r>
                      <a:rPr lang="es-MX" sz="2200" b="0" i="1" smtClean="0">
                        <a:latin typeface="Cambria Math" panose="02040503050406030204" pitchFamily="18" charset="0"/>
                        <a:ea typeface="Roboto" panose="02000000000000000000" pitchFamily="2" charset="0"/>
                      </a:rPr>
                      <m:t>=</m:t>
                    </m:r>
                    <m:d>
                      <m:dPr>
                        <m:begChr m:val="{"/>
                        <m:endChr m:val="}"/>
                        <m:ctrlPr>
                          <a:rPr lang="en-US" sz="2200" i="1">
                            <a:latin typeface="Cambria Math" panose="02040503050406030204" pitchFamily="18" charset="0"/>
                            <a:ea typeface="Roboto" panose="02000000000000000000" pitchFamily="2" charset="0"/>
                          </a:rPr>
                        </m:ctrlPr>
                      </m:dPr>
                      <m:e>
                        <m:r>
                          <m:rPr>
                            <m:sty m:val="p"/>
                          </m:rPr>
                          <a:rPr lang="en-US" sz="2200" i="0">
                            <a:latin typeface="Cambria Math" panose="02040503050406030204" pitchFamily="18" charset="0"/>
                            <a:ea typeface="Roboto" panose="02000000000000000000" pitchFamily="2" charset="0"/>
                          </a:rPr>
                          <m:t>red</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orange</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yellow</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green</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blue</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indigo</m:t>
                        </m:r>
                        <m:r>
                          <a:rPr lang="en-US" sz="2200" i="0">
                            <a:latin typeface="Cambria Math" panose="02040503050406030204" pitchFamily="18" charset="0"/>
                            <a:ea typeface="Roboto" panose="02000000000000000000" pitchFamily="2" charset="0"/>
                          </a:rPr>
                          <m:t>,</m:t>
                        </m:r>
                        <m:r>
                          <m:rPr>
                            <m:sty m:val="p"/>
                          </m:rPr>
                          <a:rPr lang="en-US" sz="2200" i="0">
                            <a:latin typeface="Cambria Math" panose="02040503050406030204" pitchFamily="18" charset="0"/>
                            <a:ea typeface="Roboto" panose="02000000000000000000" pitchFamily="2" charset="0"/>
                          </a:rPr>
                          <m:t>violet</m:t>
                        </m:r>
                      </m:e>
                    </m:d>
                  </m:oMath>
                </a14:m>
                <a:endParaRPr lang="es-MX" sz="220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n-US" sz="2200" i="1">
                            <a:latin typeface="Cambria Math" panose="02040503050406030204" pitchFamily="18" charset="0"/>
                            <a:ea typeface="Roboto" panose="02000000000000000000" pitchFamily="2" charset="0"/>
                          </a:rPr>
                        </m:ctrlPr>
                      </m:dPr>
                      <m:e>
                        <m:r>
                          <m:rPr>
                            <m:sty m:val="p"/>
                          </m:rPr>
                          <a:rPr lang="en-US" sz="2200">
                            <a:latin typeface="Cambria Math" panose="02040503050406030204" pitchFamily="18" charset="0"/>
                            <a:ea typeface="Roboto" panose="02000000000000000000" pitchFamily="2" charset="0"/>
                          </a:rPr>
                          <m:t>red</m:t>
                        </m:r>
                        <m:r>
                          <a:rPr lang="en-US" sz="2200">
                            <a:latin typeface="Cambria Math" panose="02040503050406030204" pitchFamily="18" charset="0"/>
                            <a:ea typeface="Roboto" panose="02000000000000000000" pitchFamily="2" charset="0"/>
                          </a:rPr>
                          <m:t>,</m:t>
                        </m:r>
                        <m:r>
                          <m:rPr>
                            <m:sty m:val="p"/>
                          </m:rPr>
                          <a:rPr lang="en-US" sz="2200">
                            <a:latin typeface="Cambria Math" panose="02040503050406030204" pitchFamily="18" charset="0"/>
                            <a:ea typeface="Roboto" panose="02000000000000000000" pitchFamily="2" charset="0"/>
                          </a:rPr>
                          <m:t>yellow</m:t>
                        </m:r>
                        <m:r>
                          <a:rPr lang="en-US" sz="2200">
                            <a:latin typeface="Cambria Math" panose="02040503050406030204" pitchFamily="18" charset="0"/>
                            <a:ea typeface="Roboto" panose="02000000000000000000" pitchFamily="2" charset="0"/>
                          </a:rPr>
                          <m:t>,</m:t>
                        </m:r>
                        <m:r>
                          <m:rPr>
                            <m:sty m:val="p"/>
                          </m:rPr>
                          <a:rPr lang="en-US" sz="2200">
                            <a:latin typeface="Cambria Math" panose="02040503050406030204" pitchFamily="18" charset="0"/>
                            <a:ea typeface="Roboto" panose="02000000000000000000" pitchFamily="2" charset="0"/>
                          </a:rPr>
                          <m:t>blue</m:t>
                        </m:r>
                      </m:e>
                    </m:d>
                  </m:oMath>
                </a14:m>
                <a:endParaRPr lang="es-MX" sz="220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𝐵</m:t>
                    </m:r>
                    <m:r>
                      <a:rPr lang="es-MX" sz="2200" b="0" i="1" smtClean="0">
                        <a:latin typeface="Cambria Math" panose="02040503050406030204" pitchFamily="18" charset="0"/>
                        <a:ea typeface="Roboto" panose="02000000000000000000" pitchFamily="2" charset="0"/>
                      </a:rPr>
                      <m:t>=</m:t>
                    </m:r>
                    <m:d>
                      <m:dPr>
                        <m:begChr m:val="{"/>
                        <m:endChr m:val="}"/>
                        <m:ctrlPr>
                          <a:rPr lang="en-US" sz="2200" i="1">
                            <a:latin typeface="Cambria Math" panose="02040503050406030204" pitchFamily="18" charset="0"/>
                            <a:ea typeface="Roboto" panose="02000000000000000000" pitchFamily="2" charset="0"/>
                          </a:rPr>
                        </m:ctrlPr>
                      </m:dPr>
                      <m:e>
                        <m:r>
                          <m:rPr>
                            <m:sty m:val="p"/>
                          </m:rPr>
                          <a:rPr lang="en-US" sz="2200">
                            <a:latin typeface="Cambria Math" panose="02040503050406030204" pitchFamily="18" charset="0"/>
                            <a:ea typeface="Roboto" panose="02000000000000000000" pitchFamily="2" charset="0"/>
                          </a:rPr>
                          <m:t>orange</m:t>
                        </m:r>
                        <m:r>
                          <a:rPr lang="en-US" sz="2200">
                            <a:latin typeface="Cambria Math" panose="02040503050406030204" pitchFamily="18" charset="0"/>
                            <a:ea typeface="Roboto" panose="02000000000000000000" pitchFamily="2" charset="0"/>
                          </a:rPr>
                          <m:t>,</m:t>
                        </m:r>
                        <m:r>
                          <m:rPr>
                            <m:sty m:val="p"/>
                          </m:rPr>
                          <a:rPr lang="en-US" sz="2200">
                            <a:latin typeface="Cambria Math" panose="02040503050406030204" pitchFamily="18" charset="0"/>
                            <a:ea typeface="Roboto" panose="02000000000000000000" pitchFamily="2" charset="0"/>
                          </a:rPr>
                          <m:t>green</m:t>
                        </m:r>
                        <m:r>
                          <a:rPr lang="en-US" sz="2200">
                            <a:latin typeface="Cambria Math" panose="02040503050406030204" pitchFamily="18" charset="0"/>
                            <a:ea typeface="Roboto" panose="02000000000000000000" pitchFamily="2" charset="0"/>
                          </a:rPr>
                          <m:t>,</m:t>
                        </m:r>
                        <m:r>
                          <m:rPr>
                            <m:sty m:val="p"/>
                          </m:rPr>
                          <a:rPr lang="en-US" sz="2200">
                            <a:latin typeface="Cambria Math" panose="02040503050406030204" pitchFamily="18" charset="0"/>
                            <a:ea typeface="Roboto" panose="02000000000000000000" pitchFamily="2" charset="0"/>
                          </a:rPr>
                          <m:t>violet</m:t>
                        </m:r>
                      </m:e>
                    </m:d>
                  </m:oMath>
                </a14:m>
                <a:endParaRPr lang="es-MX" sz="220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𝐶</m:t>
                    </m:r>
                    <m:r>
                      <a:rPr lang="es-MX" sz="2200" b="0" i="1" smtClean="0">
                        <a:latin typeface="Cambria Math" panose="02040503050406030204" pitchFamily="18" charset="0"/>
                        <a:ea typeface="Roboto" panose="02000000000000000000" pitchFamily="2" charset="0"/>
                      </a:rPr>
                      <m:t>=</m:t>
                    </m:r>
                    <m:d>
                      <m:dPr>
                        <m:begChr m:val="{"/>
                        <m:endChr m:val="}"/>
                        <m:ctrlPr>
                          <a:rPr lang="en-US" sz="2200" i="1">
                            <a:latin typeface="Cambria Math" panose="02040503050406030204" pitchFamily="18" charset="0"/>
                            <a:ea typeface="Roboto" panose="02000000000000000000" pitchFamily="2" charset="0"/>
                          </a:rPr>
                        </m:ctrlPr>
                      </m:dPr>
                      <m:e>
                        <m:r>
                          <m:rPr>
                            <m:sty m:val="p"/>
                          </m:rPr>
                          <a:rPr lang="en-US" sz="2200">
                            <a:latin typeface="Cambria Math" panose="02040503050406030204" pitchFamily="18" charset="0"/>
                            <a:ea typeface="Roboto" panose="02000000000000000000" pitchFamily="2" charset="0"/>
                          </a:rPr>
                          <m:t>red</m:t>
                        </m:r>
                        <m:r>
                          <a:rPr lang="en-US" sz="2200">
                            <a:latin typeface="Cambria Math" panose="02040503050406030204" pitchFamily="18" charset="0"/>
                            <a:ea typeface="Roboto" panose="02000000000000000000" pitchFamily="2" charset="0"/>
                          </a:rPr>
                          <m:t>, </m:t>
                        </m:r>
                        <m:r>
                          <m:rPr>
                            <m:sty m:val="p"/>
                          </m:rPr>
                          <a:rPr lang="en-US" sz="2200">
                            <a:latin typeface="Cambria Math" panose="02040503050406030204" pitchFamily="18" charset="0"/>
                            <a:ea typeface="Roboto" panose="02000000000000000000" pitchFamily="2" charset="0"/>
                          </a:rPr>
                          <m:t>green</m:t>
                        </m:r>
                        <m:r>
                          <a:rPr lang="en-US" sz="2200">
                            <a:latin typeface="Cambria Math" panose="02040503050406030204" pitchFamily="18" charset="0"/>
                            <a:ea typeface="Roboto" panose="02000000000000000000" pitchFamily="2" charset="0"/>
                          </a:rPr>
                          <m:t>, </m:t>
                        </m:r>
                        <m:r>
                          <m:rPr>
                            <m:sty m:val="p"/>
                          </m:rPr>
                          <a:rPr lang="en-US" sz="2200">
                            <a:latin typeface="Cambria Math" panose="02040503050406030204" pitchFamily="18" charset="0"/>
                            <a:ea typeface="Roboto" panose="02000000000000000000" pitchFamily="2" charset="0"/>
                          </a:rPr>
                          <m:t>indigo</m:t>
                        </m:r>
                      </m:e>
                    </m:d>
                  </m:oMath>
                </a14:m>
                <a:endParaRPr lang="es-MX" sz="2200" dirty="0">
                  <a:latin typeface="+mn-lt"/>
                  <a:ea typeface="Roboto" panose="02000000000000000000" pitchFamily="2" charset="0"/>
                </a:endParaRPr>
              </a:p>
              <a:p>
                <a:pPr marL="127000" indent="0">
                  <a:buNone/>
                </a:pPr>
                <a:r>
                  <a:rPr lang="es-MX" sz="2200" dirty="0">
                    <a:latin typeface="+mn-lt"/>
                    <a:ea typeface="Roboto" panose="02000000000000000000" pitchFamily="2" charset="0"/>
                  </a:rPr>
                  <a:t>Realice las operaciones con conjuntos indicadas a continuación:</a:t>
                </a: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𝐵</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𝐶</m:t>
                    </m:r>
                    <m:r>
                      <a:rPr lang="es-MX" sz="2200" b="0" i="1" smtClean="0">
                        <a:latin typeface="Cambria Math" panose="02040503050406030204" pitchFamily="18" charset="0"/>
                        <a:ea typeface="Roboto" panose="02000000000000000000" pitchFamily="2" charset="0"/>
                      </a:rPr>
                      <m:t>=</m:t>
                    </m:r>
                  </m:oMath>
                </a14:m>
                <a:endParaRPr lang="es-MX" sz="2200" b="0" i="1" dirty="0">
                  <a:latin typeface="+mn-lt"/>
                  <a:ea typeface="Roboto" panose="02000000000000000000" pitchFamily="2" charset="0"/>
                </a:endParaRPr>
              </a:p>
              <a:p>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𝐵</m:t>
                    </m:r>
                    <m:r>
                      <a:rPr lang="es-MX" sz="2200" b="0" i="1" smtClean="0">
                        <a:latin typeface="Cambria Math" panose="02040503050406030204" pitchFamily="18" charset="0"/>
                        <a:ea typeface="Roboto" panose="02000000000000000000" pitchFamily="2" charset="0"/>
                      </a:rPr>
                      <m:t>=</m:t>
                    </m:r>
                  </m:oMath>
                </a14:m>
                <a:endParaRPr lang="es-MX" sz="2200" b="0" i="1"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𝑈</m:t>
                    </m:r>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𝐵</m:t>
                        </m:r>
                        <m:r>
                          <a:rPr lang="es-MX" sz="220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𝐶</m:t>
                        </m:r>
                      </m:e>
                    </m:d>
                    <m:r>
                      <a:rPr lang="es-MX" sz="2200" i="1">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a:p>
                <a14:m>
                  <m:oMath xmlns:m="http://schemas.openxmlformats.org/officeDocument/2006/math">
                    <m:r>
                      <a:rPr lang="es-MX" sz="2200" i="1" smtClean="0">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Roboto" panose="02000000000000000000" pitchFamily="2" charset="0"/>
                      </a:rPr>
                      <m:t>𝑈</m:t>
                    </m:r>
                    <m:r>
                      <a:rPr lang="es-MX" sz="2200" b="0" i="1" smtClean="0">
                        <a:latin typeface="Cambria Math" panose="02040503050406030204" pitchFamily="18" charset="0"/>
                        <a:ea typeface="Roboto" panose="02000000000000000000" pitchFamily="2" charset="0"/>
                      </a:rPr>
                      <m:t>=</m:t>
                    </m:r>
                  </m:oMath>
                </a14:m>
                <a:endParaRPr lang="es-MX" sz="2200" b="0" dirty="0">
                  <a:latin typeface="+mn-lt"/>
                  <a:ea typeface="Roboto" panose="02000000000000000000" pitchFamily="2" charset="0"/>
                </a:endParaRPr>
              </a:p>
              <a:p>
                <a14:m>
                  <m:oMath xmlns:m="http://schemas.openxmlformats.org/officeDocument/2006/math">
                    <m:r>
                      <a:rPr lang="es-MX" sz="2200" b="0" i="1" smtClean="0">
                        <a:latin typeface="Cambria Math" panose="02040503050406030204" pitchFamily="18" charset="0"/>
                        <a:ea typeface="Roboto" panose="02000000000000000000" pitchFamily="2" charset="0"/>
                      </a:rPr>
                      <m:t>𝐴</m:t>
                    </m:r>
                    <m:sSup>
                      <m:sSupPr>
                        <m:ctrlPr>
                          <a:rPr lang="es-MX" sz="2200" b="0" i="1" smtClean="0">
                            <a:latin typeface="Cambria Math" panose="02040503050406030204" pitchFamily="18" charset="0"/>
                            <a:ea typeface="Roboto" panose="02000000000000000000" pitchFamily="2" charset="0"/>
                          </a:rPr>
                        </m:ctrlPr>
                      </m:sSupPr>
                      <m:e>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Roboto" panose="02000000000000000000" pitchFamily="2" charset="0"/>
                              </a:rPr>
                              <m:t>𝐶</m:t>
                            </m:r>
                          </m:e>
                        </m:d>
                      </m:e>
                      <m:sup>
                        <m:r>
                          <a:rPr lang="es-MX" sz="2200" b="0" i="1" smtClean="0">
                            <a:latin typeface="Cambria Math" panose="02040503050406030204" pitchFamily="18" charset="0"/>
                            <a:ea typeface="Roboto" panose="02000000000000000000" pitchFamily="2" charset="0"/>
                          </a:rPr>
                          <m:t>′</m:t>
                        </m:r>
                      </m:sup>
                    </m:sSup>
                    <m:r>
                      <a:rPr lang="es-MX" sz="2200" b="0" i="1" smtClean="0">
                        <a:latin typeface="Cambria Math" panose="02040503050406030204" pitchFamily="18" charset="0"/>
                        <a:ea typeface="Roboto" panose="02000000000000000000" pitchFamily="2" charset="0"/>
                      </a:rPr>
                      <m:t>=</m:t>
                    </m:r>
                  </m:oMath>
                </a14:m>
                <a:endParaRPr lang="es-MX" sz="2200" b="0" dirty="0">
                  <a:latin typeface="+mn-lt"/>
                  <a:ea typeface="Roboto" panose="02000000000000000000" pitchFamily="2" charset="0"/>
                </a:endParaRPr>
              </a:p>
              <a:p>
                <a14:m>
                  <m:oMath xmlns:m="http://schemas.openxmlformats.org/officeDocument/2006/math">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𝐴</m:t>
                        </m:r>
                      </m:e>
                      <m:sup>
                        <m:r>
                          <a:rPr lang="es-MX" sz="2200" b="0" i="1" smtClean="0">
                            <a:latin typeface="Cambria Math" panose="02040503050406030204" pitchFamily="18" charset="0"/>
                            <a:ea typeface="Roboto" panose="02000000000000000000" pitchFamily="2" charset="0"/>
                          </a:rPr>
                          <m:t>′</m:t>
                        </m:r>
                      </m:sup>
                    </m:sSup>
                    <m:d>
                      <m:dPr>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𝐶</m:t>
                        </m:r>
                      </m:e>
                    </m:d>
                    <m:r>
                      <a:rPr lang="es-MX" sz="2200" b="0" i="1" smtClean="0">
                        <a:latin typeface="Cambria Math" panose="02040503050406030204" pitchFamily="18" charset="0"/>
                        <a:ea typeface="Roboto" panose="02000000000000000000" pitchFamily="2" charset="0"/>
                      </a:rPr>
                      <m:t>=</m:t>
                    </m:r>
                  </m:oMath>
                </a14:m>
                <a:endParaRPr lang="es-MX" sz="2200" i="1" dirty="0">
                  <a:latin typeface="+mn-lt"/>
                  <a:ea typeface="Roboto" panose="02000000000000000000" pitchFamily="2" charset="0"/>
                </a:endParaRPr>
              </a:p>
            </p:txBody>
          </p:sp>
        </mc:Choice>
        <mc:Fallback xmlns="">
          <p:sp>
            <p:nvSpPr>
              <p:cNvPr id="8" name="Google Shape;310;p34">
                <a:extLst>
                  <a:ext uri="{FF2B5EF4-FFF2-40B4-BE49-F238E27FC236}">
                    <a16:creationId xmlns:a16="http://schemas.microsoft.com/office/drawing/2014/main" id="{C243C83E-2A21-48C1-8AC8-760A3F3A196F}"/>
                  </a:ext>
                </a:extLst>
              </p:cNvPr>
              <p:cNvSpPr txBox="1">
                <a:spLocks noRot="1" noChangeAspect="1" noMove="1" noResize="1" noEditPoints="1" noAdjustHandles="1" noChangeArrowheads="1" noChangeShapeType="1" noTextEdit="1"/>
              </p:cNvSpPr>
              <p:nvPr/>
            </p:nvSpPr>
            <p:spPr>
              <a:xfrm>
                <a:off x="311966" y="1045538"/>
                <a:ext cx="10896808" cy="5303471"/>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4925765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27957</TotalTime>
  <Words>2679</Words>
  <Application>Microsoft Office PowerPoint</Application>
  <PresentationFormat>Panorámica</PresentationFormat>
  <Paragraphs>507</Paragraphs>
  <Slides>40</Slides>
  <Notes>40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40</vt:i4>
      </vt:variant>
    </vt:vector>
  </HeadingPairs>
  <TitlesOfParts>
    <vt:vector size="47" baseType="lpstr">
      <vt:lpstr>Roboto</vt:lpstr>
      <vt:lpstr>Roboto Slab</vt:lpstr>
      <vt:lpstr>Arial</vt:lpstr>
      <vt:lpstr>Calibri</vt:lpstr>
      <vt:lpstr>Calibri Light</vt:lpstr>
      <vt:lpstr>Cambria Math</vt:lpstr>
      <vt:lpstr>Tema de Office</vt:lpstr>
      <vt:lpstr> Matemáticas Discretas I</vt:lpstr>
      <vt:lpstr>Operaciones entre conjuntos</vt:lpstr>
      <vt:lpstr>Operaciones entre conjuntos - Ejemplo</vt:lpstr>
      <vt:lpstr>Operaciones entre conjuntos - Ejemplo</vt:lpstr>
      <vt:lpstr>Operaciones entre conjuntos</vt:lpstr>
      <vt:lpstr>Operaciones entre conjuntos</vt:lpstr>
      <vt:lpstr>Operaciones entre conjuntos - Ejemplo</vt:lpstr>
      <vt:lpstr>Operaciones entre conjuntos</vt:lpstr>
      <vt:lpstr>Operaciones entre conjuntos - Ejemplo</vt:lpstr>
      <vt:lpstr>Operaciones entre conjuntos</vt:lpstr>
      <vt:lpstr>Operaciones entre conjuntos - Ejemplo</vt:lpstr>
      <vt:lpstr>Operaciones entre conjuntos</vt:lpstr>
      <vt:lpstr>Operaciones entre conjuntos - Ejemplo</vt:lpstr>
      <vt:lpstr>Operaciones entre conjuntos - Resumen</vt:lpstr>
      <vt:lpstr>Identidades básicas para conjuntos</vt:lpstr>
      <vt:lpstr>Identidades básicas para conjuntos</vt:lpstr>
      <vt:lpstr>Identidades básicas para conjuntos</vt:lpstr>
      <vt:lpstr>Identidades básicas de cardinalidad</vt:lpstr>
      <vt:lpstr>Ejemplos</vt:lpstr>
      <vt:lpstr>Ejemplos</vt:lpstr>
      <vt:lpstr>Ejemplos</vt:lpstr>
      <vt:lpstr>Ejemplos</vt:lpstr>
      <vt:lpstr>Ejemplos</vt:lpstr>
      <vt:lpstr>Ejemplos</vt:lpstr>
      <vt:lpstr>Ejemplos</vt:lpstr>
      <vt:lpstr>Ejemplos – Solución ejemplo 1</vt:lpstr>
      <vt:lpstr>Ejemplos – Solución ejemplo 2</vt:lpstr>
      <vt:lpstr>Ejemplos – Solución ejemplo 3</vt:lpstr>
      <vt:lpstr>Ejemplos – Solución ejemplo 4</vt:lpstr>
      <vt:lpstr>Ejemplos – Solución ejemplo 5</vt:lpstr>
      <vt:lpstr>Ejemplos – Solución ejemplo 6</vt:lpstr>
      <vt:lpstr>Ejemplos – Solución ejemplo 7</vt:lpstr>
      <vt:lpstr>Ejemplos – Solución ejemplo 8</vt:lpstr>
      <vt:lpstr>Ejemplos – Solución ejemplo 9</vt:lpstr>
      <vt:lpstr>Ejemplos – Solución ejemplo 9</vt:lpstr>
      <vt:lpstr>Ejemplos – Solución ejemplo 9</vt:lpstr>
      <vt:lpstr>Ejemplos – Solución ejemplo 9</vt:lpstr>
      <vt:lpstr>Ejemplos – Solución ejemplo 9</vt:lpstr>
      <vt:lpstr>Ejemplos – Solución ejemplo 9</vt:lpstr>
      <vt:lpstr>Ejemplos – Solución ejemplo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351</cp:revision>
  <dcterms:modified xsi:type="dcterms:W3CDTF">2026-10-21T23:49:12Z</dcterms:modified>
</cp:coreProperties>
</file>