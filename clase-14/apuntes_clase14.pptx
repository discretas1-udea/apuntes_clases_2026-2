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5" r:id="rId1"/>
    <p:sldMasterId id="2147483710" r:id="rId2"/>
  </p:sldMasterIdLst>
  <p:notesMasterIdLst>
    <p:notesMasterId r:id="rId48"/>
  </p:notesMasterIdLst>
  <p:sldIdLst>
    <p:sldId id="256" r:id="rId3"/>
    <p:sldId id="491" r:id="rId4"/>
    <p:sldId id="622" r:id="rId5"/>
    <p:sldId id="614" r:id="rId6"/>
    <p:sldId id="616" r:id="rId7"/>
    <p:sldId id="618" r:id="rId8"/>
    <p:sldId id="617" r:id="rId9"/>
    <p:sldId id="619" r:id="rId10"/>
    <p:sldId id="620" r:id="rId11"/>
    <p:sldId id="615" r:id="rId12"/>
    <p:sldId id="582" r:id="rId13"/>
    <p:sldId id="583" r:id="rId14"/>
    <p:sldId id="584" r:id="rId15"/>
    <p:sldId id="585" r:id="rId16"/>
    <p:sldId id="623" r:id="rId17"/>
    <p:sldId id="587" r:id="rId18"/>
    <p:sldId id="586" r:id="rId19"/>
    <p:sldId id="588" r:id="rId20"/>
    <p:sldId id="589" r:id="rId21"/>
    <p:sldId id="590" r:id="rId22"/>
    <p:sldId id="443" r:id="rId23"/>
    <p:sldId id="592" r:id="rId24"/>
    <p:sldId id="624" r:id="rId25"/>
    <p:sldId id="593" r:id="rId26"/>
    <p:sldId id="594" r:id="rId27"/>
    <p:sldId id="502" r:id="rId28"/>
    <p:sldId id="595" r:id="rId29"/>
    <p:sldId id="596" r:id="rId30"/>
    <p:sldId id="625" r:id="rId31"/>
    <p:sldId id="508" r:id="rId32"/>
    <p:sldId id="509" r:id="rId33"/>
    <p:sldId id="599" r:id="rId34"/>
    <p:sldId id="598" r:id="rId35"/>
    <p:sldId id="601" r:id="rId36"/>
    <p:sldId id="603" r:id="rId37"/>
    <p:sldId id="605" r:id="rId38"/>
    <p:sldId id="606" r:id="rId39"/>
    <p:sldId id="604" r:id="rId40"/>
    <p:sldId id="513" r:id="rId41"/>
    <p:sldId id="607" r:id="rId42"/>
    <p:sldId id="608" r:id="rId43"/>
    <p:sldId id="609" r:id="rId44"/>
    <p:sldId id="610" r:id="rId45"/>
    <p:sldId id="611" r:id="rId46"/>
    <p:sldId id="612" r:id="rId47"/>
  </p:sldIdLst>
  <p:sldSz cx="12192000" cy="6858000"/>
  <p:notesSz cx="6858000" cy="9144000"/>
  <p:embeddedFontLs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Calibri Light" panose="020F0302020204030204" pitchFamily="34" charset="0"/>
      <p:regular r:id="rId53"/>
      <p:italic r:id="rId54"/>
    </p:embeddedFont>
    <p:embeddedFont>
      <p:font typeface="Cambria Math" panose="02040503050406030204" pitchFamily="18" charset="0"/>
      <p:regular r:id="rId55"/>
    </p:embeddedFont>
    <p:embeddedFont>
      <p:font typeface="Consolas" panose="020B0609020204030204" pitchFamily="49" charset="0"/>
      <p:regular r:id="rId56"/>
      <p:bold r:id="rId57"/>
      <p:italic r:id="rId58"/>
      <p:boldItalic r:id="rId59"/>
    </p:embeddedFont>
    <p:embeddedFont>
      <p:font typeface="Roboto" panose="02000000000000000000" pitchFamily="2" charset="0"/>
      <p:regular r:id="rId60"/>
      <p:bold r:id="rId61"/>
      <p:italic r:id="rId62"/>
      <p:boldItalic r:id="rId63"/>
    </p:embeddedFont>
    <p:embeddedFont>
      <p:font typeface="Roboto Slab" panose="020B0604020202020204" charset="0"/>
      <p:regular r:id="rId64"/>
      <p:bold r:id="rId65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6A3598-7CB8-4345-8D95-17CE05F158A0}">
  <a:tblStyle styleId="{AD6A3598-7CB8-4345-8D95-17CE05F158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56" autoAdjust="0"/>
    <p:restoredTop sz="93370" autoAdjust="0"/>
  </p:normalViewPr>
  <p:slideViewPr>
    <p:cSldViewPr snapToGrid="0">
      <p:cViewPr varScale="1">
        <p:scale>
          <a:sx n="64" d="100"/>
          <a:sy n="64" d="100"/>
        </p:scale>
        <p:origin x="9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5.fntdata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font" Target="fonts/font13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font" Target="fonts/font3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1.fntdata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font" Target="fonts/font2.fntdata"/><Relationship Id="rId55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46160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214340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697014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599909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045101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5344759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80626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977507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27502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634937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212819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5848200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2746271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243992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769094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9273516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0228817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5601990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6380065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479632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</a:t>
            </a:r>
            <a:r>
              <a:rPr lang="es-ES" sz="24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pthreads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 dirty="0" err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TBB, ...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9467168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</a:t>
            </a:r>
            <a:r>
              <a:rPr lang="es-ES" sz="24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pthreads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 dirty="0" err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TBB, ...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7571840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258363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483140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</a:t>
            </a:r>
            <a:r>
              <a:rPr lang="es-ES" sz="24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pthreads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 dirty="0" err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TBB, ...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8017083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872889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pthreads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Cilk, TBB, ...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8367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8358aba08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78358aba08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Librería </a:t>
            </a:r>
            <a:r>
              <a:rPr lang="es-ES" sz="24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pthreads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A02B"/>
              </a:buClr>
              <a:buSzPts val="2400"/>
              <a:buFont typeface="Roboto"/>
              <a:buChar char="●"/>
            </a:pPr>
            <a:r>
              <a:rPr lang="es-ES" sz="2400" b="1" dirty="0" err="1">
                <a:solidFill>
                  <a:srgbClr val="F8A02B"/>
                </a:solidFill>
                <a:latin typeface="Roboto"/>
                <a:ea typeface="Roboto"/>
                <a:cs typeface="Roboto"/>
                <a:sym typeface="Roboto"/>
              </a:rPr>
              <a:t>OpenMP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Cilk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TBB, ...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149500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97931-88D2-48EC-BDFD-C8C3C5166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679D90-F057-4BD5-83C0-DDC6EE211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C13BD3-4696-4B09-8A88-F3994E7C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285628-4B07-48C3-A0F4-63457190B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DA6BEC-6DF4-4166-BD89-B2E0A39B7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6564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74B2C-17C9-4AA4-9668-F80AC962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58D9D8-9866-4269-8D7D-807856891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009FBE-E524-4470-9FCD-AEB4BE306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4FB710-71F8-4468-A8D3-4E66EDFF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AD742D-28B3-4CCB-96B9-49F1E4510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80487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4E514-96C5-4BA6-8853-8FD23DBA4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B46064-8B93-4EDC-9C8C-E62E5E204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64F67B-C4F9-4EEE-B654-135E4059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42D2EB-0949-472E-B96E-7077F243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8BF961-D28F-480C-A33B-2D90830F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560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49851-BE79-4814-B324-7A715144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8196A1-DDE1-4352-9C3D-A0CD29769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0082F4-C4BC-4497-8E38-2AAC216C9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CBF39F-7AC4-42AD-8BED-FB1348027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CD1E40-2EDD-42B2-8717-B610AA70C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650591-7D21-4F93-B6A8-04637AA52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879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A18ABB-EB85-46DB-94FC-5071555A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0E644E-2C94-4905-A3B3-39494B91F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1FDA4E-3792-47ED-A324-BE4AB193A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BAA52EB-49DC-417B-A1D3-7E5D77F55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6D28227-5811-416F-8EB6-975798573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3328A4A-DB4B-4AF3-A5E0-7FDD49D01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760E545-7BCF-40CB-8EA9-E2B464925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89E4DE-3B1B-4798-B272-2678EA5F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3544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7F13F-4B41-424E-B1EA-AD2F1961B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0B4F20C-7C18-429B-BBC6-F1E192325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3DD1AD9-50A0-4CE3-8023-232BC37E1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0C54793-A555-45AF-9D0F-A5E36048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9583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0C75C98-5CC7-41D3-8B42-1FBCC7B8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F9A19D-8546-4DB7-943E-A6C40975F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834467-C085-4B5F-A2D6-1D111E7B6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9740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15EE5-EEA6-4207-BAC5-8F00A7018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EC8231-695B-4518-9BF7-E97F51238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354B8A-1CBC-41E0-A9E8-5FB2EDDB2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F94055-E401-4C0E-938D-614524727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E66432-8574-4009-93CD-B90204AD6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F7A7D2-9509-468B-B64D-B399F9DB3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9093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419B6-6D50-4A22-8E95-82EE8602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EF31C67-83EC-4E09-A025-68611B0A31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D1882C-D761-4343-B07D-229B12E86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EC2773-E284-4FB7-96DB-FA2355335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179AA4-7DC2-4E0C-97DC-8A68C1379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07F01C-D4A8-4D86-8512-8420DA1E1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013850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C9AA4-F3E2-4CC2-A284-905F19EC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CBEBAE-E35C-4899-864F-A5E0E8FF5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92D712-9AB0-4144-8F48-C505B625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14778D-63AC-4546-B99B-D4A982BA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497614-F0BD-4E0B-BF9D-789914892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5041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CF5863-9BB8-4C9A-9E37-8A7D97BE2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6A67F6-87AB-4DD7-B3BC-A39896F4C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C8C0A3-B3A6-4C11-B5E9-3F6DDA91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C6C295-0416-473F-848C-AC3B030A9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718280-2589-4855-81D4-C63D086C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5146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0950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7107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14DCA6-CC4B-458B-92EF-6B6F6A59C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9F1F9C-ECB3-4184-A92E-527F181EC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805FA2-A849-42DD-AEE3-0EB46ACA4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DDC514-120F-46C2-AA01-AE9D7B5F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C773CC-BFF0-4D9A-9564-77D4DF009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4716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8EED6-92DF-4EF3-A235-AC446F54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77E192-1707-4B80-AA21-5F7F5C716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0C83C-2DF0-4B07-B07C-F0BF5DFB8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CE8AD0-AF7C-4585-8FB5-177FF99E4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7873DA-81C9-4C27-9249-7C71F0EC9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47885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0E9EA-3D75-4B58-8576-798855EC1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FF90EB-2FCA-46AF-8F33-FA28AF835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18BAAB-74F9-4BDD-A9EB-B8B9D8519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48E247-9F3C-4325-A486-92C85180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278D3B-58AE-46F1-A838-39281A8B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70824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80380-33A4-42E4-B7D8-E8237651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75404B-E82A-46B0-8BF7-99F9E0453E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1DC993-A276-4983-B05E-9E0C9F2AC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FEB47-2069-44C3-B711-343F4338D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E1BB22-2C7F-433A-9F79-1816AC0D3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CB3CAE-524A-46FB-8C09-8EAE7772B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19347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5C4A04-F0B8-458B-BDC4-5D1FEECA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D0F1E4-DD08-4B8C-8EEF-08FE58C08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F7EE6F-ED0C-4F6C-BFF9-FF7C895DB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6D8258-3218-442F-8972-2D68D27492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EE58C8-B3C0-47E1-968F-EB4B71C027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4013A7-697C-42ED-B9CF-F0F68935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C7FE1AE-4EEF-446B-A555-D3A931725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A6A3B5-2FB5-405E-AE68-EE49E001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28898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0690B-9F59-4306-A5FE-347C5C26D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B596EC-005E-4F45-85B1-D659114E8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44817D-CD13-42CA-92DE-4E4CC0B9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B3ED50A-1428-451D-8B59-1082288F6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01605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95F19F7-004C-4040-B564-07AEAB7C7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7AA2ABC-12FE-486B-9791-BC354E2F7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96F501-D711-48BD-865C-572AF9771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00391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5B7CD-BD36-4B59-887B-A1458041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B890A-6542-4143-9DAF-CF70A8584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33F7D2-E79C-4CC8-919A-514728F95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E538F5-73F4-4698-A235-C200D0F4F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1B86FC-DD48-4996-BA80-5A543ED34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AC3FAC-9D57-4A0B-8505-13CF7AE8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696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04306-38B6-4749-98B7-81F398B88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4741C0D-4182-4FA5-BD35-5A3078ACC9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B236C4-6D3A-48A2-BB31-62A41979C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5C38C7-2409-4730-9DD8-9CE82BE3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317C5B-3B96-4EB2-A1A2-2AA4DDF6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80E967-DDD3-41A1-B01E-BCEDAA3C4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1228400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6A209-0E0C-4CA5-99B7-A3F73DD27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42B3B7F-864A-4E40-957C-75AC23B65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786C66-6C26-47AD-A4CA-BDD29157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EEE8D8-DAE6-4D2A-90E5-ED1ABDD2D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FA6030-01D3-4183-AF8E-F2C8C82A6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84558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B5C46A-E017-4FE1-A5BC-0EBFC7ADB5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1A2B07-8E4A-48C4-A24F-B2348F5BA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0C1E50-3300-4571-BD13-6F55331C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7B3A9E-F742-4E7E-8107-0D18259BA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13A7CB-00EC-4A0C-9C66-0AC2C8BD6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3093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252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E7B29E-FD20-45CE-B6B9-11DBA95B4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6E3B48-B3F4-480E-AA13-7F98C293F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5C6A56-744E-406A-A3F4-EB0DB79BFC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FCF1F0-6C88-47BC-ABAB-E51E40656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7FB6FA-3336-4974-922C-505465D63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9279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9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D3102A-76D1-4935-B622-A88A7F7C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5BF570-EC6D-4A97-A278-4FF30D587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F94408-A368-4B26-B236-D2FD9ECA12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25792-CF10-400E-A65B-A298D1AD7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F52EB9-6667-4609-9B1F-EDE2B3927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5721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josephcclin.github.io/courses/machine_learning_math.htm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condor.depaul.edu/se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ml-book.github.io/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playground.tensorflow.org/" TargetMode="External"/><Relationship Id="rId3" Type="http://schemas.openxmlformats.org/officeDocument/2006/relationships/image" Target="../media/image12.png"/><Relationship Id="rId7" Type="http://schemas.openxmlformats.org/officeDocument/2006/relationships/hyperlink" Target="https://github.com/balkarjun/digit-recognition/tree/master/mode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lkarjun.github.io/digit-recognition/" TargetMode="External"/><Relationship Id="rId5" Type="http://schemas.openxmlformats.org/officeDocument/2006/relationships/hyperlink" Target="https://mml-book.github.io/" TargetMode="External"/><Relationship Id="rId10" Type="http://schemas.openxmlformats.org/officeDocument/2006/relationships/image" Target="../media/image15.jpeg"/><Relationship Id="rId4" Type="http://schemas.openxmlformats.org/officeDocument/2006/relationships/image" Target="../media/image14.png"/><Relationship Id="rId9" Type="http://schemas.openxmlformats.org/officeDocument/2006/relationships/hyperlink" Target="https://tensorspace.org/index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hyperlink" Target="http://www.cdme.im-uff.mat.br/matrix/matrix-html/matrix_boolean/matrix_boolean_en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gif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colors/colors_picker.asp" TargetMode="External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hyperlink" Target="https://en.wikipedia.org/wiki/Lenna" TargetMode="External"/><Relationship Id="rId4" Type="http://schemas.openxmlformats.org/officeDocument/2006/relationships/image" Target="../media/image22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7" Type="http://schemas.openxmlformats.org/officeDocument/2006/relationships/hyperlink" Target="https://en.wikipedia.org/wiki/Portable_Game_Notatio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hyperlink" Target="https://en.wikipedia.org/wiki/Scholar%27s_mate" TargetMode="External"/><Relationship Id="rId4" Type="http://schemas.openxmlformats.org/officeDocument/2006/relationships/hyperlink" Target="https://en.wikipedia.org/wiki/Ches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hyperlink" Target="https://pythontutor.com/render.html#code=from%20itertools%20import%20product%0A%0AA%20%3D%20%7B'rosquilla',%20'arepa','pan'%7D%0AB%20%3D%20%7B'cafe',%20'jugo'%7D%0A%0A%23%20Producto%20cartesiano%20A%20%C3%97%20B%0AC%20%3D%20list%28product%28A,%20B%29%29%0A%0Afor%20c%20in%20C%3A%0A%20%20%20%20print%28f%22-%3E%20%7Bc%7D%22%29&amp;cumulative=false&amp;curInstr=0&amp;heapPrimitives=nevernest&amp;mode=display&amp;origin=opt-frontend.js&amp;py=311&amp;rawInputLstJSON=%5B%5D&amp;textReferences=false" TargetMode="External"/><Relationship Id="rId7" Type="http://schemas.openxmlformats.org/officeDocument/2006/relationships/image" Target="../media/image35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45.png"/><Relationship Id="rId5" Type="http://schemas.openxmlformats.org/officeDocument/2006/relationships/image" Target="../media/image33.jpeg"/><Relationship Id="rId10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hyperlink" Target="https://pythontutor.com/render.html#code=from%20itertools%20import%20product%0A%0AA%20%3D%20%7B1,%202%7D%0AB%20%3D%20%7B'a',%20'b','c'%7D%0A%0A%23%20Producto%20cartesiano%20C%20%3D%20A%20%C3%97%20B%0AC%20%3D%20list%28product%28A,%20B%29%29%0A%0A%23%20Producto%20cartesiano%20C%3D%20B%20%C3%97%20A%0AD%20%3D%20list%28product%28B,%20A%29%29%0A%0Aprint%28f%22AxB%20%3D%20%7BC%7D%22%29%0Aprint%28f%22BxA%20%3D%20%7BD%7D%22%29&amp;cumulative=false&amp;curInstr=7&amp;heapPrimitives=nevernest&amp;mode=display&amp;origin=opt-frontend.js&amp;py=311&amp;rawInputLstJSON=%5B%5D&amp;textReferences=false" TargetMode="External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59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hyperlink" Target="https://pythontutor.com/render.html#code=from%20itertools%20import%20product%0A%0AA%20%3D%20%7B0,%201%7D%0AB%20%3D%20%7B1,%202%7D%0AC%20%3D%20%7B0,%201,%202%7D%0A%0A%23%20Producto%20cartesiano%20D%20%3D%20A%20%C3%97%20B%20%C3%97%20C%0AD%20%3D%20list%28product%28A,%20B,%20C%29%29%0A%0Aprint%28%22AxBxC%20%3D%20%7B%22%29%0Afor%20d%20in%20D%3A%0A%20%20%20%20print%28%22%20%20%20%20%20%20%20%20%20%20%22,d%29%0Aprint%28%22%20%20%20%20%20%20%20%20%7D%22%29&amp;cumulative=false&amp;curInstr=0&amp;heapPrimitives=nevernest&amp;mode=display&amp;origin=opt-frontend.js&amp;py=311&amp;rawInputLstJSON=%5B%5D&amp;textReferences=false" TargetMode="External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hyperlink" Target="https://es.wikipedia.org/wiki/Peter_Gustav_Lejeune_Dirichlet" TargetMode="External"/><Relationship Id="rId4" Type="http://schemas.openxmlformats.org/officeDocument/2006/relationships/image" Target="../media/image4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9.png"/><Relationship Id="rId5" Type="http://schemas.openxmlformats.org/officeDocument/2006/relationships/image" Target="../media/image63.png"/><Relationship Id="rId4" Type="http://schemas.openxmlformats.org/officeDocument/2006/relationships/image" Target="../media/image44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52.png"/><Relationship Id="rId18" Type="http://schemas.openxmlformats.org/officeDocument/2006/relationships/image" Target="../media/image94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51.png"/><Relationship Id="rId17" Type="http://schemas.openxmlformats.org/officeDocument/2006/relationships/image" Target="../media/image93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1.png"/><Relationship Id="rId10" Type="http://schemas.openxmlformats.org/officeDocument/2006/relationships/image" Target="../media/image89.png"/><Relationship Id="rId19" Type="http://schemas.openxmlformats.org/officeDocument/2006/relationships/image" Target="../media/image95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hyperlink" Target="https://pythontutor.com/render.html#code=def%20obtener_calificacion%28estudiante%29%3A%0A%20%20%22%22%22Devuelve%20la%20calificaci%C3%B3n%20para%20un%20estudiante%20espec%C3%ADfico.%22%22%22%0A%20%20if%20estudiante%20%3D%3D%20%22Adams%22%3A%0A%20%20%20%20return%20%22A%22%0A%20%20elif%20estudiante%20%3D%3D%20%22Chou%22%3A%0A%20%20%20%20return%20%22C%22%0A%20%20elif%20estudiante%20%3D%3D%20%22Goodfriend%22%3A%0A%20%20%20%20return%20%22B%22%0A%20%20elif%20estudiante%20%3D%3D%20%22Rodr%C3%ADguez%22%3A%0A%20%20%20%20return%20%22A%22%0A%20%20elif%20estudiante%20%3D%3D%20%22Stevens%22%3A%0A%20%20%20%20return%20%22F%22%0A%20%20else%3A%0A%20%20%20%20return%20%22Estudiante%20no%20encontrado%22%0A%0A%23%20---%20Uso%20---%0Anota_rodriguez%20%3D%20obtener_calificacion%28%22Rodr%C3%ADguez%22%29%0Aprint%28f%22La%20nota%20de%20Rodr%C3%ADguez%20es%3A%20%7Bnota_rodriguez%7D%22%29%20%0A%0Anota_inexistente%20%3D%20obtener_calificacion%28%22Garc%C3%ADa%22%29%0Aprint%28f%22La%20nota%20de%20Garc%C3%ADa%20es%3A%20%7Bnota_inexistente%7D%22%29&amp;cumulative=false&amp;curInstr=0&amp;heapPrimitives=nevernest&amp;mode=display&amp;origin=opt-frontend.js&amp;py=311&amp;rawInputLstJSON=%5B%5D&amp;textReferences=false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pythontutor.com/render.html#code=%23%20Lista%20de%20claves%0Aestudiantes%20%3D%20%5B%22Adams%22,%20%22Chou%22,%20%22Goodfriend%22,%20%22Rodr%C3%ADguez%22,%20%22Stevens%22%5D%0A%0A%23%20Lista%20de%20valores%0Anotas%20%3D%20%5B%22A%22,%20%22C%22,%20%22B%22,%20%22A%22,%20%22F%22%5D%0A%0A%23%20Lista%20de%20calificaciones%0Acalificaciones_zip%20%3D%20zip%28estudiantes,%20notas%29%20%0A%0A%23%20Diccionario%20de%20calificiones%0Acalificaciones%20%3D%20dict%28calificaciones_zip%29%0A%0Aprint%28calificaciones%29%0A%0A%0A%23%20---%20Uso%20---%0Anota_rodriguez%20%3D%20calificaciones.get%28'Rodr%C3%ADguez',%20'Estudiante%20no%20encontrado'%29%0Aprint%28f%22La%20nota%20de%20Rodr%C3%ADguez%20es%3A%20%7Bnota_rodriguez%7D%22%29%20%0A%0Aprint%28f%22La%20nota%20de%20Garc%C3%ADa%20es%3A%20%7Bcalificaciones.get%28'Garc%C3%ADa',%20'Estudiante%20no%20encontrado'%29%7D%22%29&amp;cumulative=false&amp;curInstr=0&amp;heapPrimitives=nevernest&amp;mode=display&amp;origin=opt-frontend.js&amp;py=311&amp;rawInputLstJSON=%5B%5D&amp;textReferences=false" TargetMode="External"/><Relationship Id="rId5" Type="http://schemas.openxmlformats.org/officeDocument/2006/relationships/image" Target="../media/image99.png"/><Relationship Id="rId4" Type="http://schemas.openxmlformats.org/officeDocument/2006/relationships/image" Target="../media/image9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0.png"/><Relationship Id="rId13" Type="http://schemas.openxmlformats.org/officeDocument/2006/relationships/image" Target="../media/image101.png"/><Relationship Id="rId18" Type="http://schemas.openxmlformats.org/officeDocument/2006/relationships/image" Target="../media/image106.png"/><Relationship Id="rId26" Type="http://schemas.openxmlformats.org/officeDocument/2006/relationships/image" Target="../media/image1130.png"/><Relationship Id="rId3" Type="http://schemas.openxmlformats.org/officeDocument/2006/relationships/hyperlink" Target="https://pythontutor.com/render.html#code=%0A%0A%23%20Funcion%0Adef%20cuadrado%28x%29%3A%0A%20%20%20%20return%20x**2%0A%0A%23%20Inicializacion%20de%20variables%0Ax%20%3D%20%5B%5D%0Ay%20%3D%20%5B%5D%0Astep%20%3D%201%0Ax_ini%20%3D%20-3%0Ax_fin%20%3D%203%0A%0A%23%20Generacion%20de%20elementos%20del%20dominio%20y%20rango%0Ax_i%20%3D%20x_ini%0Awhile%20x_i%20%3C%3D%20x_fin%3A%20%20%20%20%0A%20%20%20%20y_i%20%3D%20cuadrado%28x_i%29%0A%20%20%20%20x.append%28x_i%29%0A%20%20%20%20y.append%28y_i%29%0A%20%20%20%20x_i%20%2B%3D%20step%0A%0A%23%20Despligue%20de%20valores%0Aprint%28f%22x%3A%20%7Bx%7D%22%29%0Aprint%28f%22y%3A%20%7By%7D%22%29&amp;cumulative=false&amp;curInstr=0&amp;heapPrimitives=nevernest&amp;mode=display&amp;origin=opt-frontend.js&amp;py=311&amp;rawInputLstJSON=%5B%5D&amp;textReferences=false" TargetMode="External"/><Relationship Id="rId21" Type="http://schemas.openxmlformats.org/officeDocument/2006/relationships/image" Target="../media/image109.png"/><Relationship Id="rId7" Type="http://schemas.openxmlformats.org/officeDocument/2006/relationships/image" Target="../media/image950.png"/><Relationship Id="rId12" Type="http://schemas.openxmlformats.org/officeDocument/2006/relationships/image" Target="../media/image1000.png"/><Relationship Id="rId17" Type="http://schemas.openxmlformats.org/officeDocument/2006/relationships/image" Target="../media/image105.png"/><Relationship Id="rId25" Type="http://schemas.openxmlformats.org/officeDocument/2006/relationships/image" Target="../media/image100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04.png"/><Relationship Id="rId20" Type="http://schemas.openxmlformats.org/officeDocument/2006/relationships/image" Target="../media/image10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40.png"/><Relationship Id="rId11" Type="http://schemas.openxmlformats.org/officeDocument/2006/relationships/image" Target="../media/image990.png"/><Relationship Id="rId24" Type="http://schemas.openxmlformats.org/officeDocument/2006/relationships/image" Target="../media/image112.png"/><Relationship Id="rId5" Type="http://schemas.openxmlformats.org/officeDocument/2006/relationships/image" Target="../media/image930.png"/><Relationship Id="rId15" Type="http://schemas.openxmlformats.org/officeDocument/2006/relationships/image" Target="../media/image103.png"/><Relationship Id="rId23" Type="http://schemas.openxmlformats.org/officeDocument/2006/relationships/image" Target="../media/image111.png"/><Relationship Id="rId10" Type="http://schemas.openxmlformats.org/officeDocument/2006/relationships/image" Target="../media/image980.png"/><Relationship Id="rId19" Type="http://schemas.openxmlformats.org/officeDocument/2006/relationships/image" Target="../media/image107.png"/><Relationship Id="rId4" Type="http://schemas.openxmlformats.org/officeDocument/2006/relationships/image" Target="../media/image98.png"/><Relationship Id="rId9" Type="http://schemas.openxmlformats.org/officeDocument/2006/relationships/image" Target="../media/image970.png"/><Relationship Id="rId14" Type="http://schemas.openxmlformats.org/officeDocument/2006/relationships/image" Target="../media/image102.png"/><Relationship Id="rId22" Type="http://schemas.openxmlformats.org/officeDocument/2006/relationships/image" Target="../media/image11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3" Type="http://schemas.openxmlformats.org/officeDocument/2006/relationships/hyperlink" Target="https://pythontutor.com/render.html#code=%0A%23%20Funcion%0Adef%20fibonacci%28n%29%3A%0A%20%20%20%20if%20n%20%3D%3D%200%3A%0A%20%20%20%20%20%20%20%20return%200%0A%20%20%20%20elif%20n%20%3D%3D%201%3A%0A%20%20%20%20%20%20%20%20return%201%0A%20%20%20%20else%3A%0A%20%20%20%20%20%20%20%20return%20fibonacci%28n-1%29%20%2B%20fibonacci%28n-2%29%0A%0A%23%20Inicializacion%20de%20variables%0An%20%3D%20%5B%5D%0Ay%20%3D%20%5B%5D%0A%0A%23%20Generacion%20de%20elementos%20del%20dominio%20y%20rango%0An_end%20%3D%207%0Afor%20i%20in%20range%28n_end%2B1%29%3A%0A%20%20%20%20f_i%20%3D%20fibonacci%28i%29%0A%20%20%20%20n.append%28i%29%0A%20%20%20%20y.append%28f_i%29%0A%0A%23%20Despligue%20de%20valores%0Aprint%28f%22n%3A%20%7Bn%7D%22%29%0Aprint%28f%22f%5Bn%5D%3A%20%7By%7D%22%29&amp;cumulative=false&amp;curInstr=0&amp;heapPrimitives=nevernest&amp;mode=display&amp;origin=opt-frontend.js&amp;py=311&amp;rawInputLstJSON=%5B%5D&amp;textReferences=false" TargetMode="External"/><Relationship Id="rId21" Type="http://schemas.openxmlformats.org/officeDocument/2006/relationships/image" Target="../media/image132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27.png"/><Relationship Id="rId20" Type="http://schemas.openxmlformats.org/officeDocument/2006/relationships/image" Target="../media/image1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24" Type="http://schemas.openxmlformats.org/officeDocument/2006/relationships/image" Target="../media/image133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23" Type="http://schemas.openxmlformats.org/officeDocument/2006/relationships/image" Target="../media/image113.png"/><Relationship Id="rId10" Type="http://schemas.openxmlformats.org/officeDocument/2006/relationships/image" Target="../media/image121.png"/><Relationship Id="rId19" Type="http://schemas.openxmlformats.org/officeDocument/2006/relationships/image" Target="../media/image130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Relationship Id="rId22" Type="http://schemas.openxmlformats.org/officeDocument/2006/relationships/image" Target="../media/image11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4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5" Type="http://schemas.openxmlformats.org/officeDocument/2006/relationships/image" Target="../media/image147.png"/><Relationship Id="rId10" Type="http://schemas.openxmlformats.org/officeDocument/2006/relationships/image" Target="../media/image142.png"/><Relationship Id="rId4" Type="http://schemas.openxmlformats.org/officeDocument/2006/relationships/image" Target="../media/image134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5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0.png"/><Relationship Id="rId2" Type="http://schemas.openxmlformats.org/officeDocument/2006/relationships/image" Target="../media/image1440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53.png"/><Relationship Id="rId5" Type="http://schemas.openxmlformats.org/officeDocument/2006/relationships/image" Target="../media/image1470.png"/><Relationship Id="rId4" Type="http://schemas.openxmlformats.org/officeDocument/2006/relationships/image" Target="../media/image146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oeis.org/" TargetMode="External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0.png"/><Relationship Id="rId7" Type="http://schemas.openxmlformats.org/officeDocument/2006/relationships/image" Target="../media/image1550.png"/><Relationship Id="rId2" Type="http://schemas.openxmlformats.org/officeDocument/2006/relationships/image" Target="../media/image1500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56.png"/><Relationship Id="rId5" Type="http://schemas.openxmlformats.org/officeDocument/2006/relationships/image" Target="../media/image1530.png"/><Relationship Id="rId4" Type="http://schemas.openxmlformats.org/officeDocument/2006/relationships/image" Target="../media/image15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0.png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160.png"/><Relationship Id="rId7" Type="http://schemas.openxmlformats.org/officeDocument/2006/relationships/image" Target="../media/image163.png"/><Relationship Id="rId12" Type="http://schemas.openxmlformats.org/officeDocument/2006/relationships/image" Target="../media/image168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62.png"/><Relationship Id="rId11" Type="http://schemas.openxmlformats.org/officeDocument/2006/relationships/image" Target="../media/image167.png"/><Relationship Id="rId5" Type="http://schemas.openxmlformats.org/officeDocument/2006/relationships/image" Target="../media/image161.png"/><Relationship Id="rId10" Type="http://schemas.openxmlformats.org/officeDocument/2006/relationships/image" Target="../media/image166.png"/><Relationship Id="rId4" Type="http://schemas.openxmlformats.org/officeDocument/2006/relationships/image" Target="../media/image1600.png"/><Relationship Id="rId9" Type="http://schemas.openxmlformats.org/officeDocument/2006/relationships/image" Target="../media/image16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7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hyperlink" Target="https://es.wikipedia.org/wiki/Richard_Hamming" TargetMode="External"/><Relationship Id="rId1" Type="http://schemas.openxmlformats.org/officeDocument/2006/relationships/slideLayout" Target="../slideLayouts/slideLayout25.xml"/><Relationship Id="rId5" Type="http://schemas.openxmlformats.org/officeDocument/2006/relationships/hyperlink" Target="https://www.datacamp.com/tutorial/hamming-distance" TargetMode="External"/><Relationship Id="rId4" Type="http://schemas.openxmlformats.org/officeDocument/2006/relationships/hyperlink" Target="https://www.compscilib.com/calculate/hamming-distance?view=tool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021275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Matemáticas Discretas I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8256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600" b="1" dirty="0"/>
              <a:t>Clase 14 – Producto cartesiano 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O" sz="2800" dirty="0"/>
              <a:t>Universidad de Antioquia</a:t>
            </a:r>
          </a:p>
          <a:p>
            <a:r>
              <a:rPr lang="es-CO" sz="2800" dirty="0"/>
              <a:t>Facultad de Ingeniería</a:t>
            </a:r>
          </a:p>
          <a:p>
            <a:r>
              <a:rPr lang="es-CO" sz="2800" dirty="0"/>
              <a:t>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469799" y="96038"/>
            <a:ext cx="875085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320288" y="977224"/>
            <a:ext cx="110339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N-tupla ordenada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F6716F76-3AFE-471D-B156-0250FFA69F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288" y="1412270"/>
                <a:ext cx="11551423" cy="49373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Una n-tupla,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es una secuencia ordenada y finita de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𝑛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elementos donde:</a:t>
                </a:r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El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orden importa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A diferencia de los conjuntos, la posición de cada elemento es fundamental. </a:t>
                </a:r>
              </a:p>
              <a:p>
                <a:endParaRPr lang="es-MX" sz="2000" b="1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b="1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Se permiten repeticiones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Un mismo elemento puede aparecer varias veces en una tupla. Por ejemplo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1,2,3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es una 3-tupla valida</a:t>
                </a:r>
              </a:p>
              <a:p>
                <a:endParaRPr lang="es-MX" sz="2000" b="1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b="1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Igualdad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Para garantizar la igualdad entre dos n-tuplas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sub>
                        </m:sSub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además del mismo tamaño, los elementos deben ser iguales y estar en el mismo orden:</a:t>
                </a:r>
              </a:p>
              <a:p>
                <a:pPr marL="127000" indent="0">
                  <a:buNone/>
                </a:pPr>
                <a:endParaRPr lang="es-MX" sz="2000" b="0" i="1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s-MX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</m:e>
                        <m:sub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𝑏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2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𝑏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2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𝑏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MX" sz="2000" b="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F6716F76-3AFE-471D-B156-0250FFA69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88" y="1412270"/>
                <a:ext cx="11551423" cy="49373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400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469799" y="96038"/>
            <a:ext cx="875085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320288" y="977224"/>
            <a:ext cx="110339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N-tupla ordenada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F6716F76-3AFE-471D-B156-0250FFA69F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288" y="1412270"/>
                <a:ext cx="11551423" cy="49373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Una n-tupla,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sub>
                        </m:s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es una secuencia ordenada y finita de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𝑛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elementos donde:</a:t>
                </a: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Cada elemento puede provenir de un conjunto diferente (o del mismo conjunto).</a:t>
                </a: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El termino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n-tupla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nos permite hablar de estas secuencias sin importar su longitud especifica. </a:t>
                </a:r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F6716F76-3AFE-471D-B156-0250FFA69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88" y="1412270"/>
                <a:ext cx="11551423" cy="49373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0653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442452" y="96038"/>
            <a:ext cx="877819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442452" y="901814"/>
            <a:ext cx="110612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N-tupla ordenada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280639" y="1311823"/>
            <a:ext cx="7432871" cy="51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Ejemplos de n-tuplas</a:t>
            </a:r>
            <a:r>
              <a:rPr lang="es-MX" sz="22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 Matemáticas – Algebra lineal</a:t>
            </a:r>
          </a:p>
          <a:p>
            <a:pPr marL="127000" indent="0">
              <a:buNone/>
            </a:pPr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marL="584200" lvl="1" indent="0">
              <a:buNone/>
            </a:pPr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6BC94B-D5FF-4797-BED9-18DB8EF21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19" y="2882502"/>
            <a:ext cx="2636019" cy="21439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492858B-51B4-4350-B677-0BC5B0CE8825}"/>
                  </a:ext>
                </a:extLst>
              </p:cNvPr>
              <p:cNvSpPr txBox="1"/>
              <p:nvPr/>
            </p:nvSpPr>
            <p:spPr>
              <a:xfrm>
                <a:off x="1713997" y="5457908"/>
                <a:ext cx="2787097" cy="12225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000" b="1" dirty="0">
                    <a:ea typeface="Roboto" panose="02000000000000000000" pitchFamily="2" charset="0"/>
                  </a:rPr>
                  <a:t>Par ordenado</a:t>
                </a:r>
                <a:r>
                  <a:rPr lang="es-CO" sz="2000" dirty="0">
                    <a:ea typeface="Roboto" panose="02000000000000000000" pitchFamily="2" charset="0"/>
                  </a:rPr>
                  <a:t>: </a:t>
                </a:r>
                <a:endParaRPr lang="es-MX" sz="2000" b="0" i="1" dirty="0">
                  <a:ea typeface="Roboto" panose="02000000000000000000" pitchFamily="2" charset="0"/>
                </a:endParaRPr>
              </a:p>
              <a:p>
                <a:endParaRPr lang="es-MX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2000" b="1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8492858B-51B4-4350-B677-0BC5B0CE8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997" y="5457908"/>
                <a:ext cx="2787097" cy="1222579"/>
              </a:xfrm>
              <a:prstGeom prst="rect">
                <a:avLst/>
              </a:prstGeom>
              <a:blipFill>
                <a:blip r:embed="rId4"/>
                <a:stretch>
                  <a:fillRect l="-2188" t="-248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6EFB355D-80B3-440F-8EB5-05C7AD8CC597}"/>
                  </a:ext>
                </a:extLst>
              </p:cNvPr>
              <p:cNvSpPr txBox="1"/>
              <p:nvPr/>
            </p:nvSpPr>
            <p:spPr>
              <a:xfrm>
                <a:off x="2126576" y="2094509"/>
                <a:ext cx="2787097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2000" b="1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Vectores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s-MX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s-CO" sz="2000" b="1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6EFB355D-80B3-440F-8EB5-05C7AD8CC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576" y="2094509"/>
                <a:ext cx="2787097" cy="407099"/>
              </a:xfrm>
              <a:prstGeom prst="rect">
                <a:avLst/>
              </a:prstGeom>
              <a:blipFill>
                <a:blip r:embed="rId5"/>
                <a:stretch>
                  <a:fillRect t="-6061" b="-2878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n 17">
            <a:extLst>
              <a:ext uri="{FF2B5EF4-FFF2-40B4-BE49-F238E27FC236}">
                <a16:creationId xmlns:a16="http://schemas.microsoft.com/office/drawing/2014/main" id="{96442AFE-E473-4EFC-9D3A-538A9BFC85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125" y="2784960"/>
            <a:ext cx="2395704" cy="240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71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442452" y="96038"/>
            <a:ext cx="877819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442452" y="901814"/>
            <a:ext cx="110612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N-tupla ordenada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257791" y="1334913"/>
            <a:ext cx="7432871" cy="51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Ejemplos de n-tuplas</a:t>
            </a:r>
            <a:r>
              <a:rPr lang="es-MX" sz="22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 Matemáticas – Algebra lineal</a:t>
            </a:r>
          </a:p>
          <a:p>
            <a:pPr marL="127000" indent="0">
              <a:buNone/>
            </a:pPr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marL="584200" lvl="1" indent="0">
              <a:buNone/>
            </a:pPr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961C739-C0E2-4816-A920-BB86E319D3D7}"/>
                  </a:ext>
                </a:extLst>
              </p:cNvPr>
              <p:cNvSpPr txBox="1"/>
              <p:nvPr/>
            </p:nvSpPr>
            <p:spPr>
              <a:xfrm>
                <a:off x="2443350" y="2061454"/>
                <a:ext cx="1789401" cy="407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2000" b="1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Vectores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s-MX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s-CO" sz="2000" b="1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6961C739-C0E2-4816-A920-BB86E319D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350" y="2061454"/>
                <a:ext cx="1789401" cy="407099"/>
              </a:xfrm>
              <a:prstGeom prst="rect">
                <a:avLst/>
              </a:prstGeom>
              <a:blipFill>
                <a:blip r:embed="rId3"/>
                <a:stretch>
                  <a:fillRect l="-3754" t="-4478" b="-2686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5BBAE23C-1800-4749-A3E5-B6EAA2830BD6}"/>
                  </a:ext>
                </a:extLst>
              </p:cNvPr>
              <p:cNvSpPr txBox="1"/>
              <p:nvPr/>
            </p:nvSpPr>
            <p:spPr>
              <a:xfrm>
                <a:off x="1999190" y="5065194"/>
                <a:ext cx="3324978" cy="1468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000" b="1" dirty="0">
                    <a:ea typeface="Roboto" panose="02000000000000000000" pitchFamily="2" charset="0"/>
                  </a:rPr>
                  <a:t>Terna ordenada</a:t>
                </a:r>
                <a:r>
                  <a:rPr lang="es-CO" sz="2000" dirty="0">
                    <a:ea typeface="Roboto" panose="02000000000000000000" pitchFamily="2" charset="0"/>
                  </a:rPr>
                  <a:t>: </a:t>
                </a:r>
                <a:endParaRPr lang="es-MX" sz="2000" b="0" i="1" dirty="0">
                  <a:ea typeface="Roboto" panose="02000000000000000000" pitchFamily="2" charset="0"/>
                </a:endParaRPr>
              </a:p>
              <a:p>
                <a:endParaRPr lang="es-MX" sz="20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2000" b="1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5BBAE23C-1800-4749-A3E5-B6EAA2830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190" y="5065194"/>
                <a:ext cx="3324978" cy="1468607"/>
              </a:xfrm>
              <a:prstGeom prst="rect">
                <a:avLst/>
              </a:prstGeom>
              <a:blipFill>
                <a:blip r:embed="rId4"/>
                <a:stretch>
                  <a:fillRect l="-2018" t="-249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51D91462-2CD2-4A48-AFAA-EE1B4CA38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04" y="2910028"/>
            <a:ext cx="5642495" cy="167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197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442452" y="96038"/>
            <a:ext cx="877819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442452" y="829555"/>
            <a:ext cx="110612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N-tupla ordenada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255450" y="1332200"/>
            <a:ext cx="7432871" cy="51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Ejemplos de n-tuplas</a:t>
            </a:r>
            <a:r>
              <a:rPr lang="es-MX" sz="22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 Matemáticas – Algebra lineal</a:t>
            </a:r>
          </a:p>
          <a:p>
            <a:pPr marL="127000" indent="0">
              <a:buNone/>
            </a:pPr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marL="584200" lvl="1" indent="0">
              <a:buNone/>
            </a:pPr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77A7FA7-4975-468B-B418-FFC6440C0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54" y="3143215"/>
            <a:ext cx="3255730" cy="2723543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7E640617-CF5E-493E-814D-33E21C4C7957}"/>
              </a:ext>
            </a:extLst>
          </p:cNvPr>
          <p:cNvSpPr txBox="1"/>
          <p:nvPr/>
        </p:nvSpPr>
        <p:spPr>
          <a:xfrm>
            <a:off x="2477130" y="1949039"/>
            <a:ext cx="2069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ea typeface="Roboto" panose="02000000000000000000" pitchFamily="2" charset="0"/>
              </a:rPr>
              <a:t>Transformaciones</a:t>
            </a:r>
            <a:endParaRPr lang="es-CO" sz="2000" b="1" dirty="0">
              <a:ea typeface="Roboto" panose="02000000000000000000" pitchFamily="2" charset="0"/>
            </a:endParaRPr>
          </a:p>
        </p:txBody>
      </p:sp>
      <p:pic>
        <p:nvPicPr>
          <p:cNvPr id="17" name="Picture 4" descr="Packt+ | Advance your knowledge in tech">
            <a:extLst>
              <a:ext uri="{FF2B5EF4-FFF2-40B4-BE49-F238E27FC236}">
                <a16:creationId xmlns:a16="http://schemas.microsoft.com/office/drawing/2014/main" id="{9FC84FA3-1340-4349-B2E2-585C56C8E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234" y="1119548"/>
            <a:ext cx="3850832" cy="187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C0EA56F-8491-4648-86EB-DB86165BCE4C}"/>
                  </a:ext>
                </a:extLst>
              </p:cNvPr>
              <p:cNvSpPr txBox="1"/>
              <p:nvPr/>
            </p:nvSpPr>
            <p:spPr>
              <a:xfrm>
                <a:off x="2770246" y="2642667"/>
                <a:ext cx="14827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s-CO" sz="2000" b="1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EC0EA56F-8491-4648-86EB-DB86165BC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246" y="2642667"/>
                <a:ext cx="1482796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uadroTexto 10">
            <a:extLst>
              <a:ext uri="{FF2B5EF4-FFF2-40B4-BE49-F238E27FC236}">
                <a16:creationId xmlns:a16="http://schemas.microsoft.com/office/drawing/2014/main" id="{D80D8543-8AD2-47FF-B721-327A2AF5EFBC}"/>
              </a:ext>
            </a:extLst>
          </p:cNvPr>
          <p:cNvSpPr txBox="1"/>
          <p:nvPr/>
        </p:nvSpPr>
        <p:spPr>
          <a:xfrm>
            <a:off x="62319" y="5987625"/>
            <a:ext cx="48296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b="1" dirty="0">
                <a:ea typeface="Roboto" panose="02000000000000000000" pitchFamily="2" charset="0"/>
              </a:rPr>
              <a:t>Para profundizar</a:t>
            </a:r>
            <a:r>
              <a:rPr lang="es-CO" sz="1200" dirty="0">
                <a:ea typeface="Roboto" panose="02000000000000000000" pitchFamily="2" charset="0"/>
              </a:rPr>
              <a:t>:</a:t>
            </a:r>
            <a:endParaRPr lang="es-CO" sz="1200" dirty="0">
              <a:hlinkClick r:id="rId6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 dirty="0">
                <a:hlinkClick r:id="rId7"/>
              </a:rPr>
              <a:t>https://condor.depaul.edu/sepp/</a:t>
            </a:r>
            <a:r>
              <a:rPr lang="es-CO" sz="1200" dirty="0"/>
              <a:t> </a:t>
            </a:r>
            <a:endParaRPr lang="es-CO" sz="1200" dirty="0">
              <a:hlinkClick r:id="rId6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 dirty="0">
                <a:hlinkClick r:id="rId6"/>
              </a:rPr>
              <a:t>https://mml-book.github.io/</a:t>
            </a:r>
            <a:r>
              <a:rPr lang="es-CO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200" dirty="0">
                <a:hlinkClick r:id="rId8"/>
              </a:rPr>
              <a:t>https://josephcclin.github.io/courses/machine_learning_math.htm</a:t>
            </a:r>
            <a:r>
              <a:rPr lang="es-CO" sz="12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06357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442452" y="96038"/>
            <a:ext cx="877819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442452" y="813689"/>
            <a:ext cx="110612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N-tupla ordenada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294804" y="1114669"/>
            <a:ext cx="7432871" cy="51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Ejemplos de n-tuplas</a:t>
            </a:r>
            <a:r>
              <a:rPr lang="es-MX" sz="22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 Matemáticas – Algebra lineal</a:t>
            </a:r>
          </a:p>
          <a:p>
            <a:pPr marL="127000" indent="0">
              <a:buNone/>
            </a:pPr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marL="584200" lvl="1" indent="0">
              <a:buNone/>
            </a:pPr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B12A094-D262-4B53-8D5E-5B2782CFB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284" y="2412959"/>
            <a:ext cx="5504909" cy="3206988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7E640617-CF5E-493E-814D-33E21C4C7957}"/>
              </a:ext>
            </a:extLst>
          </p:cNvPr>
          <p:cNvSpPr txBox="1"/>
          <p:nvPr/>
        </p:nvSpPr>
        <p:spPr>
          <a:xfrm>
            <a:off x="2619518" y="1912913"/>
            <a:ext cx="18325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Roboto" panose="02000000000000000000" pitchFamily="2" charset="0"/>
                <a:ea typeface="Roboto" panose="02000000000000000000" pitchFamily="2" charset="0"/>
              </a:rPr>
              <a:t>Sistemas OCR</a:t>
            </a:r>
            <a:endParaRPr lang="es-CO" sz="2000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7EF49DA-4F89-4F59-B12E-2487D8AC0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346" y="4252918"/>
            <a:ext cx="2512976" cy="179139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7003555A-B35C-4975-AF3F-C0B0EA0C2109}"/>
              </a:ext>
            </a:extLst>
          </p:cNvPr>
          <p:cNvSpPr txBox="1"/>
          <p:nvPr/>
        </p:nvSpPr>
        <p:spPr>
          <a:xfrm>
            <a:off x="167132" y="5870208"/>
            <a:ext cx="533425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00" b="1" dirty="0">
                <a:ea typeface="Roboto" panose="02000000000000000000" pitchFamily="2" charset="0"/>
              </a:rPr>
              <a:t>Para profundizar</a:t>
            </a:r>
            <a:r>
              <a:rPr lang="es-CO" sz="1000" dirty="0">
                <a:ea typeface="Roboto" panose="02000000000000000000" pitchFamily="2" charset="0"/>
              </a:rPr>
              <a:t>:</a:t>
            </a:r>
            <a:endParaRPr lang="es-CO" sz="1000" dirty="0">
              <a:hlinkClick r:id="rId5"/>
            </a:endParaRPr>
          </a:p>
          <a:p>
            <a:r>
              <a:rPr lang="es-CO" sz="1000" dirty="0">
                <a:hlinkClick r:id="rId6"/>
              </a:rPr>
              <a:t>https://balkarjun.github.io/digit-recognition/</a:t>
            </a:r>
            <a:endParaRPr lang="es-CO" sz="1000" dirty="0"/>
          </a:p>
          <a:p>
            <a:r>
              <a:rPr lang="es-CO" sz="1000" dirty="0">
                <a:hlinkClick r:id="rId7"/>
              </a:rPr>
              <a:t>https://github.com/balkarjun/digit-recognition/tree/master/model</a:t>
            </a:r>
            <a:r>
              <a:rPr lang="es-CO" sz="1000" dirty="0"/>
              <a:t> </a:t>
            </a:r>
          </a:p>
          <a:p>
            <a:r>
              <a:rPr lang="es-CO" sz="1000" dirty="0">
                <a:hlinkClick r:id="rId8"/>
              </a:rPr>
              <a:t>https://playground.tensorflow.org/</a:t>
            </a:r>
            <a:r>
              <a:rPr lang="es-CO" sz="1000" dirty="0"/>
              <a:t> </a:t>
            </a:r>
          </a:p>
          <a:p>
            <a:r>
              <a:rPr lang="es-CO" sz="1000" dirty="0">
                <a:hlinkClick r:id="rId9"/>
              </a:rPr>
              <a:t>https://tensorspace.org/index.html</a:t>
            </a:r>
            <a:r>
              <a:rPr lang="es-CO" sz="1000" dirty="0"/>
              <a:t>  </a:t>
            </a:r>
          </a:p>
        </p:txBody>
      </p:sp>
      <p:pic>
        <p:nvPicPr>
          <p:cNvPr id="3074" name="Picture 2" descr="Three-layer fully connected network structure for MNIST ...">
            <a:extLst>
              <a:ext uri="{FF2B5EF4-FFF2-40B4-BE49-F238E27FC236}">
                <a16:creationId xmlns:a16="http://schemas.microsoft.com/office/drawing/2014/main" id="{1997630F-EED7-47BB-80DA-7F619FA42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392" y="1708841"/>
            <a:ext cx="4961921" cy="1876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7911879-A690-4000-AA1E-31FB29ED33CB}"/>
              </a:ext>
            </a:extLst>
          </p:cNvPr>
          <p:cNvSpPr txBox="1"/>
          <p:nvPr/>
        </p:nvSpPr>
        <p:spPr>
          <a:xfrm>
            <a:off x="7806729" y="6075097"/>
            <a:ext cx="34549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ea typeface="Roboto" panose="02000000000000000000" pitchFamily="2" charset="0"/>
              </a:rPr>
              <a:t>Reconocimiento de dígitos </a:t>
            </a:r>
            <a:r>
              <a:rPr lang="es-CO" sz="1600" dirty="0">
                <a:ea typeface="Roboto" panose="02000000000000000000" pitchFamily="2" charset="0"/>
              </a:rPr>
              <a:t>(</a:t>
            </a:r>
            <a:r>
              <a:rPr lang="es-CO" sz="1600" dirty="0">
                <a:ea typeface="Roboto" panose="02000000000000000000" pitchFamily="2" charset="0"/>
                <a:hlinkClick r:id="rId6"/>
              </a:rPr>
              <a:t>link</a:t>
            </a:r>
            <a:r>
              <a:rPr lang="es-CO" sz="1600" dirty="0">
                <a:ea typeface="Roboto" panose="02000000000000000000" pitchFamily="2" charset="0"/>
              </a:rPr>
              <a:t>)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2442124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494675" y="96038"/>
            <a:ext cx="872597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359764" y="907719"/>
            <a:ext cx="105870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N-tupla ordenada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254834" y="1292250"/>
            <a:ext cx="6430368" cy="51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Ejemplos de n-tuplas</a:t>
            </a:r>
            <a:r>
              <a:rPr lang="es-MX" sz="22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: </a:t>
            </a: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Matemáticas – Imágenes</a:t>
            </a:r>
          </a:p>
          <a:p>
            <a:pPr marL="127000" indent="0">
              <a:buNone/>
            </a:pPr>
            <a:r>
              <a:rPr lang="es-MX" sz="22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 </a:t>
            </a:r>
            <a:endParaRPr lang="es-MX" sz="2200" b="1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marL="127000" indent="0">
              <a:buNone/>
            </a:pPr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marL="584200" lvl="1" indent="0">
              <a:buNone/>
            </a:pPr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</p:txBody>
      </p:sp>
      <p:pic>
        <p:nvPicPr>
          <p:cNvPr id="19" name="Picture 2" descr="Coordinate System and Units | Adafruit GFX Graphics Library | Adafruit  Learning System">
            <a:extLst>
              <a:ext uri="{FF2B5EF4-FFF2-40B4-BE49-F238E27FC236}">
                <a16:creationId xmlns:a16="http://schemas.microsoft.com/office/drawing/2014/main" id="{2283B25C-B9FF-43C4-99BB-7B4992CB6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589" y="2315293"/>
            <a:ext cx="5290864" cy="3527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0CF3E6E-AF11-472B-BB6B-2CEB672778E3}"/>
                  </a:ext>
                </a:extLst>
              </p:cNvPr>
              <p:cNvSpPr txBox="1"/>
              <p:nvPr/>
            </p:nvSpPr>
            <p:spPr>
              <a:xfrm>
                <a:off x="1642478" y="5652062"/>
                <a:ext cx="445352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000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Par ordenado</a:t>
                </a:r>
                <a:r>
                  <a:rPr lang="es-CO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: </a:t>
                </a:r>
                <a:r>
                  <a:rPr lang="es-MX" sz="2000" dirty="0">
                    <a:latin typeface="Roboto" panose="02000000000000000000" pitchFamily="2" charset="0"/>
                    <a:ea typeface="Roboto" panose="02000000000000000000" pitchFamily="2" charset="0"/>
                  </a:rPr>
                  <a:t>Coordenadas del pixel</a:t>
                </a:r>
                <a:endParaRPr lang="es-MX" sz="2000" b="0" i="1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endParaRPr lang="es-MX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s-CO" sz="2000" b="1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A0CF3E6E-AF11-472B-BB6B-2CEB67277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478" y="5652062"/>
                <a:ext cx="4453522" cy="1015663"/>
              </a:xfrm>
              <a:prstGeom prst="rect">
                <a:avLst/>
              </a:prstGeom>
              <a:blipFill>
                <a:blip r:embed="rId4"/>
                <a:stretch>
                  <a:fillRect l="-1368" t="-2395" b="-479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Imagen 22">
            <a:extLst>
              <a:ext uri="{FF2B5EF4-FFF2-40B4-BE49-F238E27FC236}">
                <a16:creationId xmlns:a16="http://schemas.microsoft.com/office/drawing/2014/main" id="{538C26DC-3B1D-46DA-82B0-BD0F46422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874" y="3910895"/>
            <a:ext cx="3883940" cy="2724555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4315ED9B-3341-4A8D-8EAA-1699AC7C7D62}"/>
              </a:ext>
            </a:extLst>
          </p:cNvPr>
          <p:cNvSpPr txBox="1"/>
          <p:nvPr/>
        </p:nvSpPr>
        <p:spPr>
          <a:xfrm>
            <a:off x="1038589" y="1893861"/>
            <a:ext cx="2287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Posición de un pixel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5CBEA7F-FAEB-4DFF-9B9F-D83A05222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92516"/>
            <a:ext cx="5736236" cy="2472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BB830B4-337E-456F-802A-0D4A9A80DD78}"/>
              </a:ext>
            </a:extLst>
          </p:cNvPr>
          <p:cNvSpPr txBox="1"/>
          <p:nvPr/>
        </p:nvSpPr>
        <p:spPr>
          <a:xfrm>
            <a:off x="7627372" y="3452929"/>
            <a:ext cx="2906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/>
              <a:t>Imagen binaria</a:t>
            </a:r>
            <a:r>
              <a:rPr lang="es-CO" dirty="0"/>
              <a:t> (</a:t>
            </a:r>
            <a:r>
              <a:rPr lang="es-CO" dirty="0">
                <a:hlinkClick r:id="rId7"/>
              </a:rPr>
              <a:t>link</a:t>
            </a:r>
            <a:r>
              <a:rPr lang="es-C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1412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535389" y="96038"/>
            <a:ext cx="868526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295548" y="910533"/>
            <a:ext cx="109683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N-tupla ordenada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168291" y="1357633"/>
            <a:ext cx="6695198" cy="51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Ejemplos de n-tuplas</a:t>
            </a:r>
            <a:r>
              <a:rPr lang="es-MX" sz="22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: </a:t>
            </a: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Matemáticas – Imágenes</a:t>
            </a:r>
          </a:p>
          <a:p>
            <a:pPr marL="127000" indent="0">
              <a:buNone/>
            </a:pPr>
            <a:r>
              <a:rPr lang="es-MX" sz="22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 </a:t>
            </a:r>
            <a:endParaRPr lang="es-MX" sz="2200" b="1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marL="127000" indent="0">
              <a:buNone/>
            </a:pPr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marL="584200" lvl="1" indent="0">
              <a:buNone/>
            </a:pPr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</p:txBody>
      </p:sp>
      <p:pic>
        <p:nvPicPr>
          <p:cNvPr id="2055" name="Picture 7">
            <a:extLst>
              <a:ext uri="{FF2B5EF4-FFF2-40B4-BE49-F238E27FC236}">
                <a16:creationId xmlns:a16="http://schemas.microsoft.com/office/drawing/2014/main" id="{974A24D5-423E-49BB-8B10-75F3791C0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933" y="1616142"/>
            <a:ext cx="3362191" cy="448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5A90E413-E7F5-41E3-B7B6-9C446DD4C5D5}"/>
                  </a:ext>
                </a:extLst>
              </p:cNvPr>
              <p:cNvSpPr txBox="1"/>
              <p:nvPr/>
            </p:nvSpPr>
            <p:spPr>
              <a:xfrm>
                <a:off x="1209484" y="5221891"/>
                <a:ext cx="275673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000" b="1" dirty="0">
                    <a:ea typeface="Roboto" panose="02000000000000000000" pitchFamily="2" charset="0"/>
                  </a:rPr>
                  <a:t>1-tupla</a:t>
                </a:r>
                <a:r>
                  <a:rPr lang="es-CO" sz="2000" dirty="0">
                    <a:ea typeface="Roboto" panose="02000000000000000000" pitchFamily="2" charset="0"/>
                  </a:rPr>
                  <a:t>: E</a:t>
                </a:r>
                <a:r>
                  <a:rPr lang="es-MX" sz="2000" dirty="0">
                    <a:ea typeface="Roboto" panose="02000000000000000000" pitchFamily="2" charset="0"/>
                  </a:rPr>
                  <a:t>scala de gris</a:t>
                </a:r>
                <a:endParaRPr lang="es-MX" sz="2000" b="0" i="1" dirty="0">
                  <a:ea typeface="Roboto" panose="02000000000000000000" pitchFamily="2" charset="0"/>
                </a:endParaRPr>
              </a:p>
              <a:p>
                <a:endParaRPr lang="es-MX" sz="20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</m:oMath>
                  </m:oMathPara>
                </a14:m>
                <a:endParaRPr lang="es-CO" sz="2000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5A90E413-E7F5-41E3-B7B6-9C446DD4C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484" y="5221891"/>
                <a:ext cx="2756731" cy="1015663"/>
              </a:xfrm>
              <a:prstGeom prst="rect">
                <a:avLst/>
              </a:prstGeom>
              <a:blipFill>
                <a:blip r:embed="rId4"/>
                <a:stretch>
                  <a:fillRect l="-2208" t="-361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4" name="Picture 6" descr="How many bits in an image? | Crafting ...">
            <a:extLst>
              <a:ext uri="{FF2B5EF4-FFF2-40B4-BE49-F238E27FC236}">
                <a16:creationId xmlns:a16="http://schemas.microsoft.com/office/drawing/2014/main" id="{7845A714-2261-49DE-BF34-A7B06ABE0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48" y="2621402"/>
            <a:ext cx="4279665" cy="2396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E9C73C4F-8716-4255-A804-4D5FBBC68F42}"/>
              </a:ext>
            </a:extLst>
          </p:cNvPr>
          <p:cNvSpPr txBox="1"/>
          <p:nvPr/>
        </p:nvSpPr>
        <p:spPr>
          <a:xfrm>
            <a:off x="295548" y="2017416"/>
            <a:ext cx="1827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Escala de grises</a:t>
            </a:r>
          </a:p>
        </p:txBody>
      </p:sp>
    </p:spTree>
    <p:extLst>
      <p:ext uri="{BB962C8B-B14F-4D97-AF65-F5344CB8AC3E}">
        <p14:creationId xmlns:p14="http://schemas.microsoft.com/office/powerpoint/2010/main" val="470063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374755" y="96038"/>
            <a:ext cx="884589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453830" y="945781"/>
            <a:ext cx="1100906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N-tupla ordenada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263265" y="1396119"/>
            <a:ext cx="6735912" cy="51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Ejemplos de n-tuplas</a:t>
            </a:r>
            <a:r>
              <a:rPr lang="es-MX" sz="22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: </a:t>
            </a: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Matemáticas – Imágenes</a:t>
            </a:r>
          </a:p>
          <a:p>
            <a:pPr marL="127000" indent="0">
              <a:buNone/>
            </a:pPr>
            <a:r>
              <a:rPr lang="es-MX" sz="22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 </a:t>
            </a:r>
            <a:endParaRPr lang="es-MX" sz="2200" b="1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marL="127000" indent="0">
              <a:buNone/>
            </a:pPr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marL="584200" lvl="1" indent="0">
              <a:buNone/>
            </a:pPr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F7E0573C-A8D9-4BCA-AA16-EDB568DD127C}"/>
              </a:ext>
            </a:extLst>
          </p:cNvPr>
          <p:cNvGrpSpPr/>
          <p:nvPr/>
        </p:nvGrpSpPr>
        <p:grpSpPr>
          <a:xfrm>
            <a:off x="5831174" y="2592101"/>
            <a:ext cx="5972374" cy="2764478"/>
            <a:chOff x="1276414" y="2087309"/>
            <a:chExt cx="5250116" cy="2386968"/>
          </a:xfrm>
        </p:grpSpPr>
        <p:pic>
          <p:nvPicPr>
            <p:cNvPr id="2050" name="Picture 2" descr="Tutorial 1: Image Filtering">
              <a:extLst>
                <a:ext uri="{FF2B5EF4-FFF2-40B4-BE49-F238E27FC236}">
                  <a16:creationId xmlns:a16="http://schemas.microsoft.com/office/drawing/2014/main" id="{D0960D41-FD86-4143-99AC-8E6A5A35DB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6990" y="2394298"/>
              <a:ext cx="2669540" cy="1519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4262988-2434-4CF0-B16D-9F7A2A98C837}"/>
                </a:ext>
              </a:extLst>
            </p:cNvPr>
            <p:cNvGrpSpPr/>
            <p:nvPr/>
          </p:nvGrpSpPr>
          <p:grpSpPr>
            <a:xfrm>
              <a:off x="1276414" y="2087309"/>
              <a:ext cx="2133600" cy="2386968"/>
              <a:chOff x="1276414" y="2087309"/>
              <a:chExt cx="2133600" cy="2386968"/>
            </a:xfrm>
          </p:grpSpPr>
          <p:pic>
            <p:nvPicPr>
              <p:cNvPr id="1028" name="Picture 4">
                <a:extLst>
                  <a:ext uri="{FF2B5EF4-FFF2-40B4-BE49-F238E27FC236}">
                    <a16:creationId xmlns:a16="http://schemas.microsoft.com/office/drawing/2014/main" id="{CBF31C36-E1DF-4B8A-875B-E4AA7036DC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76414" y="2087309"/>
                <a:ext cx="2133600" cy="2133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7E40381E-7937-4504-8F1F-A86B7C6C3889}"/>
                  </a:ext>
                </a:extLst>
              </p:cNvPr>
              <p:cNvSpPr txBox="1"/>
              <p:nvPr/>
            </p:nvSpPr>
            <p:spPr>
              <a:xfrm>
                <a:off x="1799772" y="4235104"/>
                <a:ext cx="1117600" cy="2391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CO" sz="1200" b="1" dirty="0"/>
                  <a:t>Lenna</a:t>
                </a:r>
                <a:r>
                  <a:rPr lang="es-CO" sz="1200" dirty="0"/>
                  <a:t> (</a:t>
                </a:r>
                <a:r>
                  <a:rPr lang="es-CO" sz="1200" dirty="0">
                    <a:hlinkClick r:id="rId5"/>
                  </a:rPr>
                  <a:t>link</a:t>
                </a:r>
                <a:r>
                  <a:rPr lang="es-CO" sz="1200" dirty="0"/>
                  <a:t>)</a:t>
                </a:r>
              </a:p>
            </p:txBody>
          </p:sp>
        </p:grpSp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B68240C6-5B2D-4F5B-9007-04016E9DBB28}"/>
                </a:ext>
              </a:extLst>
            </p:cNvPr>
            <p:cNvSpPr/>
            <p:nvPr/>
          </p:nvSpPr>
          <p:spPr>
            <a:xfrm>
              <a:off x="2235200" y="3041650"/>
              <a:ext cx="412750" cy="420688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4" name="Conector recto de flecha 3">
              <a:extLst>
                <a:ext uri="{FF2B5EF4-FFF2-40B4-BE49-F238E27FC236}">
                  <a16:creationId xmlns:a16="http://schemas.microsoft.com/office/drawing/2014/main" id="{D28D3E26-54D8-480B-AE61-499981B99C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7950" y="2582542"/>
              <a:ext cx="1885950" cy="459108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61E9A348-9464-4B86-9116-3C8822073B32}"/>
                </a:ext>
              </a:extLst>
            </p:cNvPr>
            <p:cNvCxnSpPr>
              <a:cxnSpLocks/>
            </p:cNvCxnSpPr>
            <p:nvPr/>
          </p:nvCxnSpPr>
          <p:spPr>
            <a:xfrm>
              <a:off x="2647950" y="3462338"/>
              <a:ext cx="1892300" cy="411162"/>
            </a:xfrm>
            <a:prstGeom prst="straightConnector1">
              <a:avLst/>
            </a:prstGeom>
            <a:ln w="3175">
              <a:solidFill>
                <a:schemeClr val="tx1"/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BEB2688B-8CE1-437C-BE88-D9A32222D9DC}"/>
                  </a:ext>
                </a:extLst>
              </p:cNvPr>
              <p:cNvSpPr txBox="1"/>
              <p:nvPr/>
            </p:nvSpPr>
            <p:spPr>
              <a:xfrm>
                <a:off x="914132" y="4263378"/>
                <a:ext cx="388357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000" b="1" dirty="0">
                    <a:ea typeface="Roboto" panose="02000000000000000000" pitchFamily="2" charset="0"/>
                  </a:rPr>
                  <a:t>Terna ordenada</a:t>
                </a:r>
                <a:r>
                  <a:rPr lang="es-CO" sz="2000" dirty="0">
                    <a:ea typeface="Roboto" panose="02000000000000000000" pitchFamily="2" charset="0"/>
                  </a:rPr>
                  <a:t>: Color del pixel</a:t>
                </a:r>
                <a:endParaRPr lang="es-MX" sz="2000" b="0" i="1" dirty="0">
                  <a:ea typeface="Roboto" panose="02000000000000000000" pitchFamily="2" charset="0"/>
                </a:endParaRPr>
              </a:p>
              <a:p>
                <a:endParaRPr lang="es-MX" sz="2000" b="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s-CO" sz="2000" b="1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BEB2688B-8CE1-437C-BE88-D9A32222D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32" y="4263378"/>
                <a:ext cx="3883571" cy="1015663"/>
              </a:xfrm>
              <a:prstGeom prst="rect">
                <a:avLst/>
              </a:prstGeom>
              <a:blipFill>
                <a:blip r:embed="rId6"/>
                <a:stretch>
                  <a:fillRect l="-1727" t="-299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>
            <a:extLst>
              <a:ext uri="{FF2B5EF4-FFF2-40B4-BE49-F238E27FC236}">
                <a16:creationId xmlns:a16="http://schemas.microsoft.com/office/drawing/2014/main" id="{42457717-A4C2-41DF-8889-1139D5054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22" y="2856727"/>
            <a:ext cx="3883572" cy="970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60649FE8-2364-454F-ACD0-208DF06162CD}"/>
              </a:ext>
            </a:extLst>
          </p:cNvPr>
          <p:cNvSpPr txBox="1"/>
          <p:nvPr/>
        </p:nvSpPr>
        <p:spPr>
          <a:xfrm>
            <a:off x="2070311" y="2220693"/>
            <a:ext cx="1258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Color RGB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3B44C3A-D996-4402-8811-AD01C9D240CB}"/>
              </a:ext>
            </a:extLst>
          </p:cNvPr>
          <p:cNvSpPr txBox="1"/>
          <p:nvPr/>
        </p:nvSpPr>
        <p:spPr>
          <a:xfrm>
            <a:off x="160128" y="6392630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RGB selector</a:t>
            </a:r>
            <a:r>
              <a:rPr lang="es-CO" dirty="0"/>
              <a:t> (</a:t>
            </a:r>
            <a:r>
              <a:rPr lang="es-CO" dirty="0">
                <a:hlinkClick r:id="rId8"/>
              </a:rPr>
              <a:t>link</a:t>
            </a:r>
            <a:r>
              <a:rPr lang="es-C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2073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518351" y="950721"/>
            <a:ext cx="105870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N-tupla ordenada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354885" y="1456411"/>
            <a:ext cx="11033946" cy="51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Ejemplos de n-tuplas</a:t>
            </a:r>
            <a:r>
              <a:rPr lang="es-MX" sz="22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: </a:t>
            </a: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Matemáticas – Rotulación</a:t>
            </a:r>
            <a:r>
              <a:rPr lang="es-MX" sz="22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 </a:t>
            </a:r>
            <a:endParaRPr lang="es-MX" sz="2200" b="1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marL="127000" indent="0">
              <a:buNone/>
            </a:pPr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marL="584200" lvl="1" indent="0">
              <a:buNone/>
            </a:pPr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6ADE271-0FA8-41DE-8352-F0A2DD0A22B2}"/>
              </a:ext>
            </a:extLst>
          </p:cNvPr>
          <p:cNvSpPr txBox="1"/>
          <p:nvPr/>
        </p:nvSpPr>
        <p:spPr>
          <a:xfrm>
            <a:off x="2214611" y="2138699"/>
            <a:ext cx="30021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Datos estructurados - POO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9BCA53-AE51-439C-921D-F1C249D93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701" y="2850619"/>
            <a:ext cx="2523820" cy="3470252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BC4500CF-7E50-47F7-8057-3A3D7DD3D287}"/>
              </a:ext>
            </a:extLst>
          </p:cNvPr>
          <p:cNvSpPr txBox="1"/>
          <p:nvPr/>
        </p:nvSpPr>
        <p:spPr>
          <a:xfrm>
            <a:off x="4720253" y="2743539"/>
            <a:ext cx="696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Hora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53CAC3A7-7776-41F0-A8F9-AC3665F233AC}"/>
                  </a:ext>
                </a:extLst>
              </p:cNvPr>
              <p:cNvSpPr txBox="1"/>
              <p:nvPr/>
            </p:nvSpPr>
            <p:spPr>
              <a:xfrm>
                <a:off x="3954870" y="3332328"/>
                <a:ext cx="252382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000" b="1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Terna ordenada</a:t>
                </a:r>
                <a:r>
                  <a:rPr lang="es-CO" sz="20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: </a:t>
                </a:r>
                <a:endParaRPr lang="es-MX" sz="2000" b="0" i="1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endParaRPr lang="es-MX" sz="2000" b="0" i="1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𝐻𝐻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𝑀𝑀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e>
                      </m:d>
                    </m:oMath>
                  </m:oMathPara>
                </a14:m>
                <a:endParaRPr lang="es-CO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53CAC3A7-7776-41F0-A8F9-AC3665F23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870" y="3332328"/>
                <a:ext cx="2523820" cy="1015663"/>
              </a:xfrm>
              <a:prstGeom prst="rect">
                <a:avLst/>
              </a:prstGeom>
              <a:blipFill>
                <a:blip r:embed="rId4"/>
                <a:stretch>
                  <a:fillRect l="-2657" t="-361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CuadroTexto 20">
            <a:extLst>
              <a:ext uri="{FF2B5EF4-FFF2-40B4-BE49-F238E27FC236}">
                <a16:creationId xmlns:a16="http://schemas.microsoft.com/office/drawing/2014/main" id="{118AD865-5694-429C-A0BA-2C86CD3C8E1A}"/>
              </a:ext>
            </a:extLst>
          </p:cNvPr>
          <p:cNvSpPr txBox="1"/>
          <p:nvPr/>
        </p:nvSpPr>
        <p:spPr>
          <a:xfrm>
            <a:off x="4668829" y="4741400"/>
            <a:ext cx="799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Fecha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84822812-0553-4214-9947-3BDE5D0F597B}"/>
                  </a:ext>
                </a:extLst>
              </p:cNvPr>
              <p:cNvSpPr txBox="1"/>
              <p:nvPr/>
            </p:nvSpPr>
            <p:spPr>
              <a:xfrm>
                <a:off x="3954870" y="5199058"/>
                <a:ext cx="252382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000" b="1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Terna ordenada</a:t>
                </a:r>
                <a:r>
                  <a:rPr lang="es-CO" sz="20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: </a:t>
                </a:r>
                <a:endParaRPr lang="es-MX" sz="2000" b="0" i="1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endParaRPr lang="es-MX" sz="2000" b="0" i="1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𝐷𝐷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𝑀𝑀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𝑌𝑌𝑌𝑌</m:t>
                          </m:r>
                        </m:e>
                      </m:d>
                    </m:oMath>
                  </m:oMathPara>
                </a14:m>
                <a:endParaRPr lang="es-CO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84822812-0553-4214-9947-3BDE5D0F5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870" y="5199058"/>
                <a:ext cx="2523820" cy="1015663"/>
              </a:xfrm>
              <a:prstGeom prst="rect">
                <a:avLst/>
              </a:prstGeom>
              <a:blipFill>
                <a:blip r:embed="rId5"/>
                <a:stretch>
                  <a:fillRect l="-2657" t="-361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2392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466945" y="801714"/>
            <a:ext cx="105870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N-tupla ordenada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280211" y="1216741"/>
            <a:ext cx="5651695" cy="51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Ejemplos de n-tuplas</a:t>
            </a:r>
            <a:r>
              <a:rPr lang="es-MX" sz="20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: </a:t>
            </a:r>
            <a:r>
              <a:rPr lang="es-MX" sz="20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Matemáticas – Juegos</a:t>
            </a:r>
          </a:p>
          <a:p>
            <a:pPr marL="127000" indent="0">
              <a:buNone/>
            </a:pPr>
            <a:endParaRPr lang="es-MX" sz="20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marL="584200" lvl="1" indent="0">
              <a:buNone/>
            </a:pPr>
            <a:endParaRPr lang="es-MX" sz="16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sz="16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sz="16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sz="16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0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0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0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6566673-5F29-4DDA-B06E-C227D107F6C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800" y="1711570"/>
            <a:ext cx="2378085" cy="241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722FF4E-990A-44E0-BAD6-5F70B258CB8A}"/>
              </a:ext>
            </a:extLst>
          </p:cNvPr>
          <p:cNvSpPr txBox="1"/>
          <p:nvPr/>
        </p:nvSpPr>
        <p:spPr>
          <a:xfrm>
            <a:off x="1056829" y="4198859"/>
            <a:ext cx="24800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1" dirty="0">
                <a:latin typeface="Roboto" panose="02000000000000000000" pitchFamily="2" charset="0"/>
                <a:ea typeface="Roboto" panose="02000000000000000000" pitchFamily="2" charset="0"/>
              </a:rPr>
              <a:t>Ajedrez</a:t>
            </a:r>
            <a:r>
              <a:rPr lang="es-MX" sz="1100" dirty="0"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s-MX" sz="1100" dirty="0">
                <a:latin typeface="Roboto" panose="02000000000000000000" pitchFamily="2" charset="0"/>
                <a:ea typeface="Roboto" panose="02000000000000000000" pitchFamily="2" charset="0"/>
                <a:hlinkClick r:id="rId4"/>
              </a:rPr>
              <a:t>link</a:t>
            </a:r>
            <a:r>
              <a:rPr lang="es-MX" sz="1100" dirty="0">
                <a:latin typeface="Roboto" panose="02000000000000000000" pitchFamily="2" charset="0"/>
                <a:ea typeface="Roboto" panose="02000000000000000000" pitchFamily="2" charset="0"/>
              </a:rPr>
              <a:t>) – </a:t>
            </a:r>
            <a:r>
              <a:rPr lang="es-MX" sz="1100" b="1" dirty="0">
                <a:latin typeface="Roboto" panose="02000000000000000000" pitchFamily="2" charset="0"/>
                <a:ea typeface="Roboto" panose="02000000000000000000" pitchFamily="2" charset="0"/>
              </a:rPr>
              <a:t>Mate Pastor</a:t>
            </a:r>
            <a:r>
              <a:rPr lang="es-MX" sz="1100" dirty="0"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s-MX" sz="1100" dirty="0">
                <a:latin typeface="Roboto" panose="02000000000000000000" pitchFamily="2" charset="0"/>
                <a:ea typeface="Roboto" panose="02000000000000000000" pitchFamily="2" charset="0"/>
                <a:hlinkClick r:id="rId5"/>
              </a:rPr>
              <a:t>link</a:t>
            </a:r>
            <a:r>
              <a:rPr lang="es-MX" sz="1100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es-CO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77CC06CB-B522-4882-83ED-BBD4D3869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106" y="1649332"/>
            <a:ext cx="2479308" cy="247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FAD2844C-C9A5-4D39-A82D-CBC1EF413941}"/>
              </a:ext>
            </a:extLst>
          </p:cNvPr>
          <p:cNvSpPr txBox="1"/>
          <p:nvPr/>
        </p:nvSpPr>
        <p:spPr>
          <a:xfrm>
            <a:off x="3536854" y="4190921"/>
            <a:ext cx="28208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1" dirty="0">
                <a:latin typeface="Roboto" panose="02000000000000000000" pitchFamily="2" charset="0"/>
                <a:ea typeface="Roboto" panose="02000000000000000000" pitchFamily="2" charset="0"/>
              </a:rPr>
              <a:t>Notación portátil de Partida</a:t>
            </a:r>
            <a:r>
              <a:rPr lang="es-MX" sz="1100" dirty="0"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s-MX" sz="1100" dirty="0">
                <a:latin typeface="Roboto" panose="02000000000000000000" pitchFamily="2" charset="0"/>
                <a:ea typeface="Roboto" panose="02000000000000000000" pitchFamily="2" charset="0"/>
                <a:hlinkClick r:id="rId7"/>
              </a:rPr>
              <a:t>link</a:t>
            </a:r>
            <a:r>
              <a:rPr lang="es-MX" sz="1100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es-CO" sz="11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B12C5E1D-8B46-4D72-B13C-78AACF38E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253972"/>
              </p:ext>
            </p:extLst>
          </p:nvPr>
        </p:nvGraphicFramePr>
        <p:xfrm>
          <a:off x="116115" y="4485846"/>
          <a:ext cx="11959770" cy="2299585"/>
        </p:xfrm>
        <a:graphic>
          <a:graphicData uri="http://schemas.openxmlformats.org/drawingml/2006/table">
            <a:tbl>
              <a:tblPr firstRow="1" bandRow="1">
                <a:tableStyleId>{AD6A3598-7CB8-4345-8D95-17CE05F158A0}</a:tableStyleId>
              </a:tblPr>
              <a:tblGrid>
                <a:gridCol w="1785257">
                  <a:extLst>
                    <a:ext uri="{9D8B030D-6E8A-4147-A177-3AD203B41FA5}">
                      <a16:colId xmlns:a16="http://schemas.microsoft.com/office/drawing/2014/main" val="515959359"/>
                    </a:ext>
                  </a:extLst>
                </a:gridCol>
                <a:gridCol w="1465943">
                  <a:extLst>
                    <a:ext uri="{9D8B030D-6E8A-4147-A177-3AD203B41FA5}">
                      <a16:colId xmlns:a16="http://schemas.microsoft.com/office/drawing/2014/main" val="305917357"/>
                    </a:ext>
                  </a:extLst>
                </a:gridCol>
                <a:gridCol w="5573486">
                  <a:extLst>
                    <a:ext uri="{9D8B030D-6E8A-4147-A177-3AD203B41FA5}">
                      <a16:colId xmlns:a16="http://schemas.microsoft.com/office/drawing/2014/main" val="702045427"/>
                    </a:ext>
                  </a:extLst>
                </a:gridCol>
                <a:gridCol w="3135084">
                  <a:extLst>
                    <a:ext uri="{9D8B030D-6E8A-4147-A177-3AD203B41FA5}">
                      <a16:colId xmlns:a16="http://schemas.microsoft.com/office/drawing/2014/main" val="4026939919"/>
                    </a:ext>
                  </a:extLst>
                </a:gridCol>
              </a:tblGrid>
              <a:tr h="3679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O" b="1" dirty="0">
                          <a:latin typeface="+mn-lt"/>
                          <a:ea typeface="Roboto" panose="02000000000000000000" pitchFamily="2" charset="0"/>
                        </a:rPr>
                        <a:t>Elemento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+mn-lt"/>
                          <a:ea typeface="Roboto" panose="02000000000000000000" pitchFamily="2" charset="0"/>
                        </a:rPr>
                        <a:t>Tipo de tupla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+mn-lt"/>
                          <a:ea typeface="Roboto" panose="02000000000000000000" pitchFamily="2" charset="0"/>
                        </a:rPr>
                        <a:t>Representación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>
                          <a:latin typeface="+mn-lt"/>
                          <a:ea typeface="Roboto" panose="02000000000000000000" pitchFamily="2" charset="0"/>
                        </a:rPr>
                        <a:t>Descripción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714781"/>
                  </a:ext>
                </a:extLst>
              </a:tr>
              <a:tr h="643884">
                <a:tc>
                  <a:txBody>
                    <a:bodyPr/>
                    <a:lstStyle/>
                    <a:p>
                      <a:r>
                        <a:rPr lang="es-CO" dirty="0">
                          <a:latin typeface="+mn-lt"/>
                          <a:ea typeface="Roboto" panose="02000000000000000000" pitchFamily="2" charset="0"/>
                        </a:rPr>
                        <a:t>Metadatos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+mn-lt"/>
                          <a:ea typeface="Roboto" panose="02000000000000000000" pitchFamily="2" charset="0"/>
                        </a:rPr>
                        <a:t>7-tupla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500" dirty="0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("Scholars' Mate", "?", "?", "?", "?", "?", "1-0")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+mn-lt"/>
                          <a:ea typeface="Roboto" panose="02000000000000000000" pitchFamily="2" charset="0"/>
                        </a:rPr>
                        <a:t>(Evento, sitio, fecha, ronda, blancas, negras, resultado)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76419"/>
                  </a:ext>
                </a:extLst>
              </a:tr>
              <a:tr h="643884">
                <a:tc>
                  <a:txBody>
                    <a:bodyPr/>
                    <a:lstStyle/>
                    <a:p>
                      <a:r>
                        <a:rPr lang="es-CO" dirty="0">
                          <a:latin typeface="+mn-lt"/>
                          <a:ea typeface="Roboto" panose="02000000000000000000" pitchFamily="2" charset="0"/>
                        </a:rPr>
                        <a:t>Turno (Par de jugadas)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+mn-lt"/>
                          <a:ea typeface="Roboto" panose="02000000000000000000" pitchFamily="2" charset="0"/>
                        </a:rPr>
                        <a:t>2-tupla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500" dirty="0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("e4", "e5")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+mn-lt"/>
                          <a:ea typeface="Roboto" panose="02000000000000000000" pitchFamily="2" charset="0"/>
                        </a:rPr>
                        <a:t>Blancas: peón a e4, Negras: peón a e5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846245"/>
                  </a:ext>
                </a:extLst>
              </a:tr>
              <a:tr h="643884">
                <a:tc>
                  <a:txBody>
                    <a:bodyPr/>
                    <a:lstStyle/>
                    <a:p>
                      <a:r>
                        <a:rPr lang="es-CO" dirty="0">
                          <a:latin typeface="+mn-lt"/>
                          <a:ea typeface="Roboto" panose="02000000000000000000" pitchFamily="2" charset="0"/>
                        </a:rPr>
                        <a:t>Jugada individual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latin typeface="+mn-lt"/>
                          <a:ea typeface="Roboto" panose="02000000000000000000" pitchFamily="2" charset="0"/>
                        </a:rPr>
                        <a:t>5-tupla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500" dirty="0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(“Q", "x", "f7", "#", </a:t>
                      </a:r>
                      <a:r>
                        <a:rPr lang="es-CO" sz="1500" dirty="0" err="1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null</a:t>
                      </a:r>
                      <a:r>
                        <a:rPr lang="es-CO" sz="1500" dirty="0">
                          <a:latin typeface="Consolas" panose="020B0609020204030204" pitchFamily="49" charset="0"/>
                          <a:ea typeface="Roboto" panose="02000000000000000000" pitchFamily="2" charset="0"/>
                        </a:rPr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latin typeface="+mn-lt"/>
                          <a:ea typeface="Roboto" panose="02000000000000000000" pitchFamily="2" charset="0"/>
                        </a:rPr>
                        <a:t>(Pieza, Captura, CasillaDestino, Jaque/JaqueMate, Promoción)</a:t>
                      </a:r>
                      <a:endParaRPr lang="es-CO" dirty="0">
                        <a:latin typeface="+mn-lt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39838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0312C1CD-53C3-4401-A237-81CB1913C287}"/>
              </a:ext>
            </a:extLst>
          </p:cNvPr>
          <p:cNvGrpSpPr/>
          <p:nvPr/>
        </p:nvGrpSpPr>
        <p:grpSpPr>
          <a:xfrm>
            <a:off x="6885498" y="1085429"/>
            <a:ext cx="3847816" cy="3058006"/>
            <a:chOff x="6522641" y="1432269"/>
            <a:chExt cx="3847816" cy="3058006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854D571E-1B42-4896-8635-58527953259A}"/>
                </a:ext>
              </a:extLst>
            </p:cNvPr>
            <p:cNvSpPr txBox="1"/>
            <p:nvPr/>
          </p:nvSpPr>
          <p:spPr>
            <a:xfrm>
              <a:off x="6522641" y="2551283"/>
              <a:ext cx="3753473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2000" dirty="0">
                  <a:latin typeface="Consolas" panose="020B0609020204030204" pitchFamily="49" charset="0"/>
                  <a:ea typeface="Roboto" panose="02000000000000000000" pitchFamily="2" charset="0"/>
                </a:rPr>
                <a:t>MP = ( </a:t>
              </a:r>
            </a:p>
            <a:p>
              <a:r>
                <a:rPr lang="it-IT" sz="2000" dirty="0">
                  <a:latin typeface="Consolas" panose="020B0609020204030204" pitchFamily="49" charset="0"/>
                  <a:ea typeface="Roboto" panose="02000000000000000000" pitchFamily="2" charset="0"/>
                </a:rPr>
                <a:t>        ("e4", "e5"), </a:t>
              </a:r>
            </a:p>
            <a:p>
              <a:r>
                <a:rPr lang="it-IT" sz="2000" dirty="0">
                  <a:latin typeface="Consolas" panose="020B0609020204030204" pitchFamily="49" charset="0"/>
                  <a:ea typeface="Roboto" panose="02000000000000000000" pitchFamily="2" charset="0"/>
                </a:rPr>
                <a:t>        ("Qh5", "Nc6"), </a:t>
              </a:r>
            </a:p>
            <a:p>
              <a:r>
                <a:rPr lang="it-IT" sz="2000" dirty="0">
                  <a:latin typeface="Consolas" panose="020B0609020204030204" pitchFamily="49" charset="0"/>
                  <a:ea typeface="Roboto" panose="02000000000000000000" pitchFamily="2" charset="0"/>
                </a:rPr>
                <a:t>        ("Bc4", "Nf6"), </a:t>
              </a:r>
            </a:p>
            <a:p>
              <a:r>
                <a:rPr lang="it-IT" sz="2000" dirty="0">
                  <a:latin typeface="Consolas" panose="020B0609020204030204" pitchFamily="49" charset="0"/>
                  <a:ea typeface="Roboto" panose="02000000000000000000" pitchFamily="2" charset="0"/>
                </a:rPr>
                <a:t>        ("Qxf7#", null) </a:t>
              </a:r>
            </a:p>
            <a:p>
              <a:r>
                <a:rPr lang="it-IT" sz="2000" dirty="0">
                  <a:latin typeface="Consolas" panose="020B0609020204030204" pitchFamily="49" charset="0"/>
                  <a:ea typeface="Roboto" panose="02000000000000000000" pitchFamily="2" charset="0"/>
                </a:rPr>
                <a:t>     )</a:t>
              </a:r>
              <a:endParaRPr lang="es-CO" sz="2000" dirty="0">
                <a:latin typeface="Consolas" panose="020B0609020204030204" pitchFamily="49" charset="0"/>
                <a:ea typeface="Roboto" panose="02000000000000000000" pitchFamily="2" charset="0"/>
              </a:endParaRPr>
            </a:p>
          </p:txBody>
        </p:sp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3F38558E-D618-43B4-9619-ECAA5CE046F9}"/>
                </a:ext>
              </a:extLst>
            </p:cNvPr>
            <p:cNvSpPr/>
            <p:nvPr/>
          </p:nvSpPr>
          <p:spPr>
            <a:xfrm>
              <a:off x="7720297" y="2881916"/>
              <a:ext cx="1684960" cy="33382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26615B29-A42D-44F3-9E7B-2E14D75157A0}"/>
                </a:ext>
              </a:extLst>
            </p:cNvPr>
            <p:cNvSpPr/>
            <p:nvPr/>
          </p:nvSpPr>
          <p:spPr>
            <a:xfrm>
              <a:off x="7257144" y="2594170"/>
              <a:ext cx="2685142" cy="1889760"/>
            </a:xfrm>
            <a:prstGeom prst="roundRect">
              <a:avLst>
                <a:gd name="adj" fmla="val 3383"/>
              </a:avLst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9" name="Conector: angular 8">
              <a:extLst>
                <a:ext uri="{FF2B5EF4-FFF2-40B4-BE49-F238E27FC236}">
                  <a16:creationId xmlns:a16="http://schemas.microsoft.com/office/drawing/2014/main" id="{4523EB43-84E2-45C5-90EB-E51F6FDA68AB}"/>
                </a:ext>
              </a:extLst>
            </p:cNvPr>
            <p:cNvCxnSpPr>
              <a:stCxn id="4" idx="0"/>
            </p:cNvCxnSpPr>
            <p:nvPr/>
          </p:nvCxnSpPr>
          <p:spPr>
            <a:xfrm rot="5400000" flipH="1" flipV="1">
              <a:off x="8627183" y="2029820"/>
              <a:ext cx="787690" cy="91650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: angular 20">
              <a:extLst>
                <a:ext uri="{FF2B5EF4-FFF2-40B4-BE49-F238E27FC236}">
                  <a16:creationId xmlns:a16="http://schemas.microsoft.com/office/drawing/2014/main" id="{9412E696-8E83-43BA-9A25-4793790689A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050563" y="1634147"/>
              <a:ext cx="1019675" cy="921260"/>
            </a:xfrm>
            <a:prstGeom prst="bentConnector3">
              <a:avLst>
                <a:gd name="adj1" fmla="val 100069"/>
              </a:avLst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899CA910-BA56-4247-A010-2F0E914FF20C}"/>
                </a:ext>
              </a:extLst>
            </p:cNvPr>
            <p:cNvSpPr txBox="1"/>
            <p:nvPr/>
          </p:nvSpPr>
          <p:spPr>
            <a:xfrm>
              <a:off x="9514114" y="1947698"/>
              <a:ext cx="85634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 b="1" dirty="0">
                  <a:latin typeface="Roboto" panose="02000000000000000000" pitchFamily="2" charset="0"/>
                  <a:ea typeface="Roboto" panose="02000000000000000000" pitchFamily="2" charset="0"/>
                </a:rPr>
                <a:t>2-tupla</a:t>
              </a:r>
              <a:endParaRPr lang="es-CO" b="1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51DD958B-F704-4FDD-A380-A7FC65069649}"/>
                </a:ext>
              </a:extLst>
            </p:cNvPr>
            <p:cNvSpPr txBox="1"/>
            <p:nvPr/>
          </p:nvSpPr>
          <p:spPr>
            <a:xfrm>
              <a:off x="9085942" y="1432269"/>
              <a:ext cx="85634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 b="1" dirty="0">
                  <a:solidFill>
                    <a:srgbClr val="00206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4-tupla</a:t>
              </a:r>
              <a:endParaRPr lang="es-CO" b="1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7346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442235" y="929283"/>
            <a:ext cx="110339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N-tupla ordenada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333829" y="1470968"/>
            <a:ext cx="11459434" cy="51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Ejemplos de n-tuplas</a:t>
            </a:r>
            <a:r>
              <a:rPr lang="es-MX" sz="22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: </a:t>
            </a:r>
            <a:r>
              <a:rPr lang="es-MX" sz="22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Matemáticas – Tablas</a:t>
            </a:r>
          </a:p>
          <a:p>
            <a:pPr marL="127000" indent="0">
              <a:buNone/>
            </a:pPr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marL="584200" lvl="1" indent="0">
              <a:buNone/>
            </a:pPr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pPr lvl="1"/>
            <a:endParaRPr lang="es-MX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  <a:p>
            <a:endParaRPr lang="es-MX" sz="2200" dirty="0">
              <a:solidFill>
                <a:schemeClr val="tx1"/>
              </a:solidFill>
              <a:latin typeface="+mn-lt"/>
              <a:ea typeface="Roboto" panose="02000000000000000000" pitchFamily="2" charset="0"/>
            </a:endParaRP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CC347384-4D0F-4658-98D9-10A9A60D2933}"/>
              </a:ext>
            </a:extLst>
          </p:cNvPr>
          <p:cNvGrpSpPr/>
          <p:nvPr/>
        </p:nvGrpSpPr>
        <p:grpSpPr>
          <a:xfrm>
            <a:off x="1169513" y="2874831"/>
            <a:ext cx="10288379" cy="3184471"/>
            <a:chOff x="1047279" y="2048268"/>
            <a:chExt cx="10288379" cy="3184471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EC5AC899-35D3-4AF5-8321-B083DF1AF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7279" y="2048268"/>
              <a:ext cx="2032651" cy="476117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7A2700CB-66E1-4716-810E-F770E4747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38163" y="2914053"/>
              <a:ext cx="4575540" cy="2318686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DED8799B-9E41-469D-BB14-1DE9CD811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74121" y="2733556"/>
              <a:ext cx="4142958" cy="454715"/>
            </a:xfrm>
            <a:prstGeom prst="rect">
              <a:avLst/>
            </a:prstGeom>
          </p:spPr>
        </p:pic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75B1B30B-91F4-48B0-BBE1-E462ECA081B3}"/>
                </a:ext>
              </a:extLst>
            </p:cNvPr>
            <p:cNvCxnSpPr>
              <a:cxnSpLocks/>
            </p:cNvCxnSpPr>
            <p:nvPr/>
          </p:nvCxnSpPr>
          <p:spPr>
            <a:xfrm>
              <a:off x="1109663" y="2428875"/>
              <a:ext cx="676275" cy="7429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FCA6D885-B37D-4106-9FC3-7DBD82736FF6}"/>
                </a:ext>
              </a:extLst>
            </p:cNvPr>
            <p:cNvCxnSpPr>
              <a:cxnSpLocks/>
            </p:cNvCxnSpPr>
            <p:nvPr/>
          </p:nvCxnSpPr>
          <p:spPr>
            <a:xfrm>
              <a:off x="2905125" y="2111375"/>
              <a:ext cx="3187700" cy="857250"/>
            </a:xfrm>
            <a:prstGeom prst="line">
              <a:avLst/>
            </a:prstGeom>
            <a:ln w="31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4B8CC2FE-B7F4-4957-A220-2750DF9B5C5F}"/>
                </a:ext>
              </a:extLst>
            </p:cNvPr>
            <p:cNvSpPr/>
            <p:nvPr/>
          </p:nvSpPr>
          <p:spPr>
            <a:xfrm>
              <a:off x="1871039" y="3599542"/>
              <a:ext cx="4283017" cy="391887"/>
            </a:xfrm>
            <a:prstGeom prst="roundRect">
              <a:avLst/>
            </a:prstGeom>
            <a:noFill/>
            <a:ln w="19050">
              <a:solidFill>
                <a:srgbClr val="00206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00B050"/>
                </a:solidFill>
              </a:endParaRPr>
            </a:p>
          </p:txBody>
        </p:sp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AF9088EE-7CC3-4D58-B2A1-CA48CF34691E}"/>
                </a:ext>
              </a:extLst>
            </p:cNvPr>
            <p:cNvSpPr/>
            <p:nvPr/>
          </p:nvSpPr>
          <p:spPr>
            <a:xfrm>
              <a:off x="7174122" y="2764969"/>
              <a:ext cx="4161536" cy="428174"/>
            </a:xfrm>
            <a:prstGeom prst="round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00B050"/>
                </a:solidFill>
              </a:endParaRPr>
            </a:p>
          </p:txBody>
        </p:sp>
        <p:cxnSp>
          <p:nvCxnSpPr>
            <p:cNvPr id="18" name="Conector: angular 17">
              <a:extLst>
                <a:ext uri="{FF2B5EF4-FFF2-40B4-BE49-F238E27FC236}">
                  <a16:creationId xmlns:a16="http://schemas.microsoft.com/office/drawing/2014/main" id="{E1C9F887-351B-4ADA-8C48-25A53D75E094}"/>
                </a:ext>
              </a:extLst>
            </p:cNvPr>
            <p:cNvCxnSpPr>
              <a:stCxn id="19" idx="3"/>
              <a:endCxn id="21" idx="1"/>
            </p:cNvCxnSpPr>
            <p:nvPr/>
          </p:nvCxnSpPr>
          <p:spPr>
            <a:xfrm flipV="1">
              <a:off x="6154056" y="2979056"/>
              <a:ext cx="1020066" cy="816430"/>
            </a:xfrm>
            <a:prstGeom prst="bentConnector3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C48C1FE-964A-41AF-942C-D6173F40671F}"/>
              </a:ext>
            </a:extLst>
          </p:cNvPr>
          <p:cNvSpPr txBox="1"/>
          <p:nvPr/>
        </p:nvSpPr>
        <p:spPr>
          <a:xfrm>
            <a:off x="8282112" y="3070772"/>
            <a:ext cx="21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800" b="1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Registro de la tabla</a:t>
            </a:r>
            <a:endParaRPr lang="es-CO" sz="1800" b="1" dirty="0">
              <a:solidFill>
                <a:srgbClr val="00206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02CF722-8603-478D-A1A1-3EC81F230E73}"/>
              </a:ext>
            </a:extLst>
          </p:cNvPr>
          <p:cNvSpPr txBox="1"/>
          <p:nvPr/>
        </p:nvSpPr>
        <p:spPr>
          <a:xfrm>
            <a:off x="7489371" y="4273573"/>
            <a:ext cx="441156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4 tupla</a:t>
            </a:r>
            <a:r>
              <a:rPr lang="es-CO" sz="2000" dirty="0">
                <a:ea typeface="Roboto" panose="02000000000000000000" pitchFamily="2" charset="0"/>
              </a:rPr>
              <a:t>: </a:t>
            </a:r>
            <a:endParaRPr lang="es-MX" sz="2000" b="0" i="1" dirty="0">
              <a:ea typeface="Roboto" panose="02000000000000000000" pitchFamily="2" charset="0"/>
            </a:endParaRPr>
          </a:p>
          <a:p>
            <a:endParaRPr lang="es-CO" dirty="0">
              <a:latin typeface="Consolas" panose="020B0609020204030204" pitchFamily="49" charset="0"/>
              <a:ea typeface="Roboto" panose="02000000000000000000" pitchFamily="2" charset="0"/>
            </a:endParaRPr>
          </a:p>
          <a:p>
            <a:r>
              <a:rPr lang="es-CO" dirty="0">
                <a:latin typeface="Consolas" panose="020B0609020204030204" pitchFamily="49" charset="0"/>
                <a:ea typeface="Roboto" panose="02000000000000000000" pitchFamily="2" charset="0"/>
              </a:rPr>
              <a:t>(ID, Nombre, Apellido, Semestre)</a:t>
            </a:r>
          </a:p>
          <a:p>
            <a:endParaRPr lang="es-MX" b="0" i="1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21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429953" y="96038"/>
            <a:ext cx="879069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429953" y="922118"/>
            <a:ext cx="105870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Producto cartesiano: Fabrica para crear tuplas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F6716F76-3AFE-471D-B156-0250FFA69F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6524" y="1385158"/>
                <a:ext cx="11666161" cy="53728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El producto cartesiano de dos conjuntos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se denota como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se como el conjunto de todas las posibles parejas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donde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𝑎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𝑏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lo cual se denota formalmente (de diferentes maneras como) como: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𝐴</m:t>
                      </m:r>
                      <m:r>
                        <a:rPr lang="es-MX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𝐵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𝑎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𝑏</m:t>
                              </m:r>
                            </m:e>
                          </m:d>
                        </m:e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𝑏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𝑏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∈</m:t>
                      </m:r>
                      <m:r>
                        <a:rPr lang="es-MX" sz="200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𝐴</m:t>
                      </m:r>
                      <m:r>
                        <a:rPr lang="es-MX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𝐵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𝑎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∈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𝐴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𝑏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∈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𝐵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𝑏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∉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𝐴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𝐵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𝑎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∉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𝐴</m:t>
                      </m:r>
                      <m:r>
                        <a:rPr lang="es-MX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𝑏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∉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𝐵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F6716F76-3AFE-471D-B156-0250FFA69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24" y="1385158"/>
                <a:ext cx="11666161" cy="53728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56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429953" y="96038"/>
            <a:ext cx="879069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429953" y="922118"/>
            <a:ext cx="105870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Producto cartesiano: Fabrica para crear tuplas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F6716F76-3AFE-471D-B156-0250FFA69F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6525" y="1385158"/>
                <a:ext cx="11872403" cy="53728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El producto cartesiano se puede generalizar para mas de dos conjuntos lo cual permite la generación de n-tuplas. En otras palabras, el producto cartesiano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𝑛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conjuntos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consiste en el conjunto de n-tuplas ordenadas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1</m:t>
                            </m:r>
                          </m:sub>
                        </m:sSub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sub>
                        </m:sSub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bPr>
                          <m:e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MX" sz="20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s-MX" sz="2000" b="0" i="1" dirty="0">
                    <a:latin typeface="+mn-lt"/>
                    <a:ea typeface="Roboto" panose="02000000000000000000" pitchFamily="2" charset="0"/>
                  </a:rPr>
                  <a:t>, 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𝑖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∈</m:t>
                    </m:r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MX" sz="2000" b="0" dirty="0">
                    <a:latin typeface="+mn-lt"/>
                    <a:ea typeface="Roboto" panose="02000000000000000000" pitchFamily="2" charset="0"/>
                  </a:rPr>
                  <a:t> para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𝑖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=1,2,…,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𝑛</m:t>
                    </m:r>
                  </m:oMath>
                </a14:m>
                <a:r>
                  <a:rPr lang="es-MX" sz="2000" b="0" dirty="0">
                    <a:latin typeface="+mn-lt"/>
                    <a:ea typeface="Roboto" panose="02000000000000000000" pitchFamily="2" charset="0"/>
                  </a:rPr>
                  <a:t> cual formalmente se expresa como:</a:t>
                </a:r>
              </a:p>
              <a:p>
                <a:pPr marL="127000" indent="0">
                  <a:buNone/>
                </a:pPr>
                <a:endParaRPr lang="es-MX" sz="2000" b="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2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e>
                          <m:sSub>
                            <m:sSub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para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 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𝑖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=1,2,…,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F6716F76-3AFE-471D-B156-0250FFA69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25" y="1385158"/>
                <a:ext cx="11872403" cy="53728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03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250638" y="956816"/>
            <a:ext cx="105870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Producto cartesiano: Fabrica para crear tuplas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250638" y="1410953"/>
            <a:ext cx="11253105" cy="1037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Ejemplo 1</a:t>
            </a:r>
            <a:r>
              <a:rPr lang="es-MX" sz="20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: Suponga que usted no desayuno en la casa hoy va a un restaurante donde permiten armar un combo desayuno a partir de la combinación de una comida (rosquilla, arepa, pan) con una bebida (café, jugo). De acuerdo a la información anterior ¿Cuántos combos posibles se pueden armar?</a:t>
            </a:r>
            <a:endParaRPr lang="es-MX" sz="2000" dirty="0">
              <a:latin typeface="+mn-lt"/>
              <a:ea typeface="Roboto" panose="02000000000000000000" pitchFamily="2" charset="0"/>
            </a:endParaRPr>
          </a:p>
          <a:p>
            <a:pPr marL="584200" lvl="1" indent="0">
              <a:buNone/>
            </a:pPr>
            <a:endParaRPr lang="es-MX" sz="1600" dirty="0">
              <a:latin typeface="+mn-lt"/>
              <a:ea typeface="Roboto" panose="02000000000000000000" pitchFamily="2" charset="0"/>
            </a:endParaRPr>
          </a:p>
          <a:p>
            <a:pPr lvl="1"/>
            <a:endParaRPr lang="es-MX" sz="1600" dirty="0">
              <a:latin typeface="+mn-lt"/>
              <a:ea typeface="Roboto" panose="02000000000000000000" pitchFamily="2" charset="0"/>
            </a:endParaRPr>
          </a:p>
          <a:p>
            <a:pPr lvl="1"/>
            <a:endParaRPr lang="es-MX" sz="1600" dirty="0">
              <a:latin typeface="+mn-lt"/>
              <a:ea typeface="Roboto" panose="02000000000000000000" pitchFamily="2" charset="0"/>
            </a:endParaRPr>
          </a:p>
          <a:p>
            <a:pPr lvl="1"/>
            <a:endParaRPr lang="es-MX" sz="1600" dirty="0">
              <a:latin typeface="+mn-lt"/>
              <a:ea typeface="Roboto" panose="02000000000000000000" pitchFamily="2" charset="0"/>
            </a:endParaRPr>
          </a:p>
          <a:p>
            <a:endParaRPr lang="es-MX" sz="2000" dirty="0">
              <a:latin typeface="+mn-lt"/>
              <a:ea typeface="Roboto" panose="02000000000000000000" pitchFamily="2" charset="0"/>
            </a:endParaRPr>
          </a:p>
          <a:p>
            <a:endParaRPr lang="es-MX" sz="2000" dirty="0">
              <a:latin typeface="+mn-lt"/>
              <a:ea typeface="Roboto" panose="02000000000000000000" pitchFamily="2" charset="0"/>
            </a:endParaRPr>
          </a:p>
          <a:p>
            <a:endParaRPr lang="es-MX" sz="2000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7CBE3720-BD0C-4088-B8CD-9D88461F5D94}"/>
                  </a:ext>
                </a:extLst>
              </p:cNvPr>
              <p:cNvSpPr txBox="1"/>
              <p:nvPr/>
            </p:nvSpPr>
            <p:spPr>
              <a:xfrm>
                <a:off x="4951798" y="2632050"/>
                <a:ext cx="6800491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b="1" dirty="0">
                    <a:ea typeface="Roboto" panose="02000000000000000000" pitchFamily="2" charset="0"/>
                  </a:rPr>
                  <a:t>Solución</a:t>
                </a:r>
                <a:r>
                  <a:rPr lang="es-MX" dirty="0">
                    <a:ea typeface="Roboto" panose="02000000000000000000" pitchFamily="2" charset="0"/>
                  </a:rPr>
                  <a:t>:</a:t>
                </a:r>
                <a:r>
                  <a:rPr lang="es-MX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 </a:t>
                </a:r>
                <a:r>
                  <a:rPr lang="es-MX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(</a:t>
                </a:r>
                <a:r>
                  <a:rPr lang="es-MX" dirty="0">
                    <a:solidFill>
                      <a:schemeClr val="tx1"/>
                    </a:solidFill>
                    <a:ea typeface="Roboto" panose="02000000000000000000" pitchFamily="2" charset="0"/>
                    <a:hlinkClick r:id="rId3"/>
                  </a:rPr>
                  <a:t>código</a:t>
                </a:r>
                <a:r>
                  <a:rPr lang="es-MX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)</a:t>
                </a:r>
                <a:r>
                  <a:rPr lang="es-MX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 </a:t>
                </a:r>
                <a:r>
                  <a:rPr lang="es-MX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Sean los conjuntos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CO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 </a:t>
                </a:r>
                <a:r>
                  <a:rPr lang="es-CO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y</a:t>
                </a:r>
                <a:r>
                  <a:rPr lang="es-CO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CO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 </a:t>
                </a:r>
                <a:r>
                  <a:rPr lang="es-CO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los conjuntos asociados a las comidas y bebidas, y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𝐶</m:t>
                    </m:r>
                  </m:oMath>
                </a14:m>
                <a:r>
                  <a:rPr lang="es-CO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 el conjunto asociado a los combos tenemos: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𝑟𝑜𝑠𝑞𝑢𝑖𝑙𝑙𝑎</m:t>
                        </m:r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 </m:t>
                        </m:r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𝑎𝑟𝑒𝑝𝑎</m:t>
                        </m:r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𝑝𝑎𝑛</m:t>
                        </m:r>
                      </m:e>
                    </m:d>
                  </m:oMath>
                </a14:m>
                <a:endParaRPr lang="es-CO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𝑐𝑎𝑓𝑒</m:t>
                        </m:r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 </m:t>
                        </m:r>
                        <m:r>
                          <a:rPr lang="es-MX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𝑗𝑢𝑔𝑜</m:t>
                        </m:r>
                      </m:e>
                    </m:d>
                  </m:oMath>
                </a14:m>
                <a:endParaRPr lang="es-MX" b="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endParaRPr lang="es-MX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r>
                  <a:rPr lang="es-MX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Los combos corresponden al conjunto cartesiano formado por los elementos de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:</a:t>
                </a:r>
              </a:p>
              <a:p>
                <a:endParaRPr lang="es-MX" b="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𝐶</m:t>
                      </m:r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𝐴</m:t>
                      </m:r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×</m:t>
                      </m:r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𝐵</m:t>
                      </m:r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𝑎</m:t>
                              </m:r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,</m:t>
                              </m:r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𝑏</m:t>
                              </m:r>
                            </m:e>
                          </m:d>
                        </m:e>
                        <m:e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 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 ∧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𝑏</m:t>
                          </m:r>
                          <m:r>
                            <a:rPr lang="es-MX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s-CO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CO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7CBE3720-BD0C-4088-B8CD-9D88461F5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798" y="2632050"/>
                <a:ext cx="6800491" cy="2862322"/>
              </a:xfrm>
              <a:prstGeom prst="rect">
                <a:avLst/>
              </a:prstGeom>
              <a:blipFill>
                <a:blip r:embed="rId4"/>
                <a:stretch>
                  <a:fillRect l="-717" t="-1279" r="-26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upo 51">
            <a:extLst>
              <a:ext uri="{FF2B5EF4-FFF2-40B4-BE49-F238E27FC236}">
                <a16:creationId xmlns:a16="http://schemas.microsoft.com/office/drawing/2014/main" id="{65C9D0D2-7C40-4DB0-A0A2-EB568C92CFDD}"/>
              </a:ext>
            </a:extLst>
          </p:cNvPr>
          <p:cNvGrpSpPr/>
          <p:nvPr/>
        </p:nvGrpSpPr>
        <p:grpSpPr>
          <a:xfrm>
            <a:off x="1316112" y="2850031"/>
            <a:ext cx="3189118" cy="3064329"/>
            <a:chOff x="1331102" y="2353545"/>
            <a:chExt cx="3189118" cy="3064329"/>
          </a:xfrm>
        </p:grpSpPr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FBD8100A-1852-4C53-90C2-421322891852}"/>
                </a:ext>
              </a:extLst>
            </p:cNvPr>
            <p:cNvCxnSpPr/>
            <p:nvPr/>
          </p:nvCxnSpPr>
          <p:spPr>
            <a:xfrm>
              <a:off x="2282170" y="3005856"/>
              <a:ext cx="1351616" cy="330869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01014B45-1A4A-464D-89B7-B41DB9491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3150" y="3464457"/>
              <a:ext cx="1290636" cy="126468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4FB6F799-A275-46B4-A9EA-367EEC9B64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4575" y="3594227"/>
              <a:ext cx="1319211" cy="653923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0F3C938E-8950-40AA-A4DC-9AB1A114945C}"/>
                </a:ext>
              </a:extLst>
            </p:cNvPr>
            <p:cNvCxnSpPr>
              <a:cxnSpLocks/>
            </p:cNvCxnSpPr>
            <p:nvPr/>
          </p:nvCxnSpPr>
          <p:spPr>
            <a:xfrm>
              <a:off x="2296727" y="3092188"/>
              <a:ext cx="1337059" cy="896848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05CC43DA-E006-4566-9625-5CCCED2BE0CB}"/>
                </a:ext>
              </a:extLst>
            </p:cNvPr>
            <p:cNvCxnSpPr>
              <a:cxnSpLocks/>
            </p:cNvCxnSpPr>
            <p:nvPr/>
          </p:nvCxnSpPr>
          <p:spPr>
            <a:xfrm>
              <a:off x="2343150" y="3705225"/>
              <a:ext cx="1285875" cy="428625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988FD16B-490A-4B2F-BCEC-6CDB89D193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5050" y="4271962"/>
              <a:ext cx="1323975" cy="109538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377D5CD6-C9FB-4AF6-A233-D0346E4332CD}"/>
                </a:ext>
              </a:extLst>
            </p:cNvPr>
            <p:cNvGrpSpPr/>
            <p:nvPr/>
          </p:nvGrpSpPr>
          <p:grpSpPr>
            <a:xfrm>
              <a:off x="1331102" y="2353545"/>
              <a:ext cx="1228725" cy="3064329"/>
              <a:chOff x="1331102" y="2353545"/>
              <a:chExt cx="1228725" cy="3064329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9CBE9DD7-749A-4BE9-9B3D-A536A0893585}"/>
                  </a:ext>
                </a:extLst>
              </p:cNvPr>
              <p:cNvGrpSpPr/>
              <p:nvPr/>
            </p:nvGrpSpPr>
            <p:grpSpPr>
              <a:xfrm>
                <a:off x="1331102" y="2353545"/>
                <a:ext cx="1228725" cy="2584788"/>
                <a:chOff x="1447800" y="3009901"/>
                <a:chExt cx="1228725" cy="2584788"/>
              </a:xfrm>
            </p:grpSpPr>
            <p:grpSp>
              <p:nvGrpSpPr>
                <p:cNvPr id="13" name="Grupo 12">
                  <a:extLst>
                    <a:ext uri="{FF2B5EF4-FFF2-40B4-BE49-F238E27FC236}">
                      <a16:creationId xmlns:a16="http://schemas.microsoft.com/office/drawing/2014/main" id="{3BAF78F9-CF14-4CBF-A75F-89D4E9ABAC04}"/>
                    </a:ext>
                  </a:extLst>
                </p:cNvPr>
                <p:cNvGrpSpPr/>
                <p:nvPr/>
              </p:nvGrpSpPr>
              <p:grpSpPr>
                <a:xfrm>
                  <a:off x="1755983" y="3463248"/>
                  <a:ext cx="642885" cy="1802164"/>
                  <a:chOff x="1755983" y="3463248"/>
                  <a:chExt cx="642885" cy="1802164"/>
                </a:xfrm>
              </p:grpSpPr>
              <p:pic>
                <p:nvPicPr>
                  <p:cNvPr id="5124" name="Picture 4" descr="Arepa Vector Art, Icons, and Graphics for Free Download">
                    <a:extLst>
                      <a:ext uri="{FF2B5EF4-FFF2-40B4-BE49-F238E27FC236}">
                        <a16:creationId xmlns:a16="http://schemas.microsoft.com/office/drawing/2014/main" id="{D77FE91E-3308-4408-9DC3-AB0B0441942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755983" y="3993081"/>
                    <a:ext cx="642885" cy="6428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126" name="Picture 6" descr="Bread Icons in SVG, PNG, AI to Download">
                    <a:extLst>
                      <a:ext uri="{FF2B5EF4-FFF2-40B4-BE49-F238E27FC236}">
                        <a16:creationId xmlns:a16="http://schemas.microsoft.com/office/drawing/2014/main" id="{02363990-6089-445A-8078-E98C0C048BE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04108" y="4718775"/>
                    <a:ext cx="546637" cy="54663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" name="Imagen 9">
                    <a:extLst>
                      <a:ext uri="{FF2B5EF4-FFF2-40B4-BE49-F238E27FC236}">
                        <a16:creationId xmlns:a16="http://schemas.microsoft.com/office/drawing/2014/main" id="{108D4D1F-B480-4877-890E-1F99358498C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792525" y="3463248"/>
                    <a:ext cx="569804" cy="397929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" name="Elipse 10">
                  <a:extLst>
                    <a:ext uri="{FF2B5EF4-FFF2-40B4-BE49-F238E27FC236}">
                      <a16:creationId xmlns:a16="http://schemas.microsoft.com/office/drawing/2014/main" id="{2B2A2017-B74D-4919-B153-18FD6F042627}"/>
                    </a:ext>
                  </a:extLst>
                </p:cNvPr>
                <p:cNvSpPr/>
                <p:nvPr/>
              </p:nvSpPr>
              <p:spPr>
                <a:xfrm>
                  <a:off x="1447800" y="3009901"/>
                  <a:ext cx="1228725" cy="2584788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CuadroTexto 54">
                    <a:extLst>
                      <a:ext uri="{FF2B5EF4-FFF2-40B4-BE49-F238E27FC236}">
                        <a16:creationId xmlns:a16="http://schemas.microsoft.com/office/drawing/2014/main" id="{A41DFD7B-4638-430C-98E0-7C802A90DBEC}"/>
                      </a:ext>
                    </a:extLst>
                  </p:cNvPr>
                  <p:cNvSpPr txBox="1"/>
                  <p:nvPr/>
                </p:nvSpPr>
                <p:spPr>
                  <a:xfrm>
                    <a:off x="1639285" y="5017764"/>
                    <a:ext cx="70386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oMath>
                      </m:oMathPara>
                    </a14:m>
                    <a:endParaRPr lang="es-CO" sz="1600" b="1" dirty="0"/>
                  </a:p>
                </p:txBody>
              </p:sp>
            </mc:Choice>
            <mc:Fallback xmlns="">
              <p:sp>
                <p:nvSpPr>
                  <p:cNvPr id="55" name="CuadroTexto 54">
                    <a:extLst>
                      <a:ext uri="{FF2B5EF4-FFF2-40B4-BE49-F238E27FC236}">
                        <a16:creationId xmlns:a16="http://schemas.microsoft.com/office/drawing/2014/main" id="{A41DFD7B-4638-430C-98E0-7C802A90DBE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9285" y="5017764"/>
                    <a:ext cx="703865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549BD443-23C3-4E47-8E5C-806332BDD7D4}"/>
                </a:ext>
              </a:extLst>
            </p:cNvPr>
            <p:cNvGrpSpPr/>
            <p:nvPr/>
          </p:nvGrpSpPr>
          <p:grpSpPr>
            <a:xfrm>
              <a:off x="3291495" y="2365773"/>
              <a:ext cx="1228725" cy="3035649"/>
              <a:chOff x="3291495" y="2365773"/>
              <a:chExt cx="1228725" cy="3035649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88E73DBB-372B-4FA8-BBFA-F8D71B2CCB93}"/>
                  </a:ext>
                </a:extLst>
              </p:cNvPr>
              <p:cNvGrpSpPr/>
              <p:nvPr/>
            </p:nvGrpSpPr>
            <p:grpSpPr>
              <a:xfrm>
                <a:off x="3291495" y="2365773"/>
                <a:ext cx="1228725" cy="2584788"/>
                <a:chOff x="3178854" y="2365773"/>
                <a:chExt cx="1228725" cy="2584788"/>
              </a:xfrm>
            </p:grpSpPr>
            <p:pic>
              <p:nvPicPr>
                <p:cNvPr id="6" name="Imagen 5">
                  <a:extLst>
                    <a:ext uri="{FF2B5EF4-FFF2-40B4-BE49-F238E27FC236}">
                      <a16:creationId xmlns:a16="http://schemas.microsoft.com/office/drawing/2014/main" id="{0E239C48-55B5-484B-A200-7051F63EE3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83825" y="3842007"/>
                  <a:ext cx="489406" cy="517555"/>
                </a:xfrm>
                <a:prstGeom prst="rect">
                  <a:avLst/>
                </a:prstGeom>
              </p:spPr>
            </p:pic>
            <p:sp>
              <p:nvSpPr>
                <p:cNvPr id="28" name="Elipse 27">
                  <a:extLst>
                    <a:ext uri="{FF2B5EF4-FFF2-40B4-BE49-F238E27FC236}">
                      <a16:creationId xmlns:a16="http://schemas.microsoft.com/office/drawing/2014/main" id="{F70F5967-D27D-4A67-8556-11DE1E553D35}"/>
                    </a:ext>
                  </a:extLst>
                </p:cNvPr>
                <p:cNvSpPr/>
                <p:nvPr/>
              </p:nvSpPr>
              <p:spPr>
                <a:xfrm>
                  <a:off x="3178854" y="2365773"/>
                  <a:ext cx="1228725" cy="2584788"/>
                </a:xfrm>
                <a:prstGeom prst="ellipse">
                  <a:avLst/>
                </a:prstGeom>
                <a:noFill/>
                <a:ln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pic>
              <p:nvPicPr>
                <p:cNvPr id="29" name="Imagen 28">
                  <a:extLst>
                    <a:ext uri="{FF2B5EF4-FFF2-40B4-BE49-F238E27FC236}">
                      <a16:creationId xmlns:a16="http://schemas.microsoft.com/office/drawing/2014/main" id="{27C2922D-40BA-4D9A-96E6-8E197F8BA2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21145" y="2910815"/>
                  <a:ext cx="614766" cy="680386"/>
                </a:xfrm>
                <a:prstGeom prst="rect">
                  <a:avLst/>
                </a:prstGeom>
              </p:spPr>
            </p:pic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CuadroTexto 55">
                    <a:extLst>
                      <a:ext uri="{FF2B5EF4-FFF2-40B4-BE49-F238E27FC236}">
                        <a16:creationId xmlns:a16="http://schemas.microsoft.com/office/drawing/2014/main" id="{D92165BE-D2B9-4429-9AA8-D15D6BD6359B}"/>
                      </a:ext>
                    </a:extLst>
                  </p:cNvPr>
                  <p:cNvSpPr txBox="1"/>
                  <p:nvPr/>
                </p:nvSpPr>
                <p:spPr>
                  <a:xfrm>
                    <a:off x="3553924" y="5001312"/>
                    <a:ext cx="70386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6" name="CuadroTexto 55">
                    <a:extLst>
                      <a:ext uri="{FF2B5EF4-FFF2-40B4-BE49-F238E27FC236}">
                        <a16:creationId xmlns:a16="http://schemas.microsoft.com/office/drawing/2014/main" id="{D92165BE-D2B9-4429-9AA8-D15D6BD635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53924" y="5001312"/>
                    <a:ext cx="703865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6B924C3B-D14A-457E-9505-A5654EC40407}"/>
                  </a:ext>
                </a:extLst>
              </p:cNvPr>
              <p:cNvSpPr txBox="1"/>
              <p:nvPr/>
            </p:nvSpPr>
            <p:spPr>
              <a:xfrm>
                <a:off x="509637" y="6210167"/>
                <a:ext cx="11630107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𝐴</m:t>
                      </m:r>
                      <m:r>
                        <a:rPr lang="es-MX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×</m:t>
                      </m:r>
                      <m:r>
                        <a:rPr lang="es-MX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𝐵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𝑟𝑜𝑠𝑞𝑢𝑖𝑙𝑙𝑎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𝑐𝑎𝑓𝑒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𝑟𝑜𝑠𝑞𝑢𝑖𝑙𝑙𝑎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𝑗𝑢𝑔𝑜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𝑎𝑟𝑒𝑝𝑎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𝑐𝑎𝑓𝑒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𝑎𝑟𝑒𝑝𝑎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𝑗𝑢𝑔𝑜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𝑝𝑎𝑛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𝑐𝑎𝑓𝑒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𝑝𝑎𝑛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𝑗𝑢𝑔𝑜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6B924C3B-D14A-457E-9505-A5654EC40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37" y="6210167"/>
                <a:ext cx="11630107" cy="307777"/>
              </a:xfrm>
              <a:prstGeom prst="rect">
                <a:avLst/>
              </a:prstGeom>
              <a:blipFill>
                <a:blip r:embed="rId12"/>
                <a:stretch>
                  <a:fillRect l="-52" b="-34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483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457445" y="975697"/>
            <a:ext cx="105870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Producto cartesiano: Fabrica para crear tuplas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F6716F76-3AFE-471D-B156-0250FFA69F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5133" y="1589142"/>
                <a:ext cx="10911715" cy="672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</a:rPr>
                  <a:t>Ejemplo 2</a:t>
                </a:r>
                <a:r>
                  <a:rPr lang="es-MX" sz="2000" dirty="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</a:rPr>
                  <a:t>: (</a:t>
                </a:r>
                <a:r>
                  <a:rPr lang="es-MX" sz="2000" dirty="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  <a:hlinkClick r:id="rId3"/>
                  </a:rPr>
                  <a:t>código</a:t>
                </a:r>
                <a:r>
                  <a:rPr lang="es-MX" sz="2000" dirty="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</a:rPr>
                  <a:t>) Dados los conjuntos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={1,2}</m:t>
                    </m:r>
                  </m:oMath>
                </a14:m>
                <a:r>
                  <a:rPr lang="es-MX" sz="2000" dirty="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={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𝑎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𝑏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𝑐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}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obtenga</a:t>
                </a:r>
                <a:r>
                  <a:rPr lang="es-MX" sz="2000" dirty="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F6716F76-3AFE-471D-B156-0250FFA69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33" y="1589142"/>
                <a:ext cx="10911715" cy="6721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6B924C3B-D14A-457E-9505-A5654EC40407}"/>
                  </a:ext>
                </a:extLst>
              </p:cNvPr>
              <p:cNvSpPr txBox="1"/>
              <p:nvPr/>
            </p:nvSpPr>
            <p:spPr>
              <a:xfrm>
                <a:off x="586014" y="5624990"/>
                <a:ext cx="525156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6B924C3B-D14A-457E-9505-A5654EC40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14" y="5624990"/>
                <a:ext cx="5251566" cy="307777"/>
              </a:xfrm>
              <a:prstGeom prst="rect">
                <a:avLst/>
              </a:prstGeom>
              <a:blipFill>
                <a:blip r:embed="rId5"/>
                <a:stretch>
                  <a:fillRect l="-580" b="-8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Grupo 61">
            <a:extLst>
              <a:ext uri="{FF2B5EF4-FFF2-40B4-BE49-F238E27FC236}">
                <a16:creationId xmlns:a16="http://schemas.microsoft.com/office/drawing/2014/main" id="{65165CC8-F1BD-4729-A31B-068C87E10A43}"/>
              </a:ext>
            </a:extLst>
          </p:cNvPr>
          <p:cNvGrpSpPr/>
          <p:nvPr/>
        </p:nvGrpSpPr>
        <p:grpSpPr>
          <a:xfrm>
            <a:off x="7960082" y="2401101"/>
            <a:ext cx="2697348" cy="3008727"/>
            <a:chOff x="1624295" y="2177031"/>
            <a:chExt cx="2697348" cy="3008727"/>
          </a:xfrm>
        </p:grpSpPr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FBD8100A-1852-4C53-90C2-421322891852}"/>
                </a:ext>
              </a:extLst>
            </p:cNvPr>
            <p:cNvCxnSpPr/>
            <p:nvPr/>
          </p:nvCxnSpPr>
          <p:spPr>
            <a:xfrm>
              <a:off x="2282171" y="2829342"/>
              <a:ext cx="1351616" cy="330869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>
              <a:extLst>
                <a:ext uri="{FF2B5EF4-FFF2-40B4-BE49-F238E27FC236}">
                  <a16:creationId xmlns:a16="http://schemas.microsoft.com/office/drawing/2014/main" id="{01014B45-1A4A-464D-89B7-B41DB9491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3151" y="3287943"/>
              <a:ext cx="1290636" cy="126468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4FB6F799-A275-46B4-A9EA-367EEC9B64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4576" y="3417713"/>
              <a:ext cx="1319211" cy="653923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0F3C938E-8950-40AA-A4DC-9AB1A114945C}"/>
                </a:ext>
              </a:extLst>
            </p:cNvPr>
            <p:cNvCxnSpPr>
              <a:cxnSpLocks/>
            </p:cNvCxnSpPr>
            <p:nvPr/>
          </p:nvCxnSpPr>
          <p:spPr>
            <a:xfrm>
              <a:off x="2296728" y="2915674"/>
              <a:ext cx="1337059" cy="896848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05CC43DA-E006-4566-9625-5CCCED2BE0CB}"/>
                </a:ext>
              </a:extLst>
            </p:cNvPr>
            <p:cNvCxnSpPr>
              <a:cxnSpLocks/>
            </p:cNvCxnSpPr>
            <p:nvPr/>
          </p:nvCxnSpPr>
          <p:spPr>
            <a:xfrm>
              <a:off x="2343151" y="3528711"/>
              <a:ext cx="1285875" cy="428625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988FD16B-490A-4B2F-BCEC-6CDB89D193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5051" y="4095448"/>
              <a:ext cx="1323975" cy="109538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2B2A2017-B74D-4919-B153-18FD6F042627}"/>
                </a:ext>
              </a:extLst>
            </p:cNvPr>
            <p:cNvSpPr/>
            <p:nvPr/>
          </p:nvSpPr>
          <p:spPr>
            <a:xfrm>
              <a:off x="1624295" y="2177031"/>
              <a:ext cx="935533" cy="25847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A41DFD7B-4638-430C-98E0-7C802A90DBEC}"/>
                    </a:ext>
                  </a:extLst>
                </p:cNvPr>
                <p:cNvSpPr txBox="1"/>
                <p:nvPr/>
              </p:nvSpPr>
              <p:spPr>
                <a:xfrm>
                  <a:off x="3469626" y="4785648"/>
                  <a:ext cx="70386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A41DFD7B-4638-430C-98E0-7C802A90DB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9626" y="4785648"/>
                  <a:ext cx="703865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F70F5967-D27D-4A67-8556-11DE1E553D35}"/>
                </a:ext>
              </a:extLst>
            </p:cNvPr>
            <p:cNvSpPr/>
            <p:nvPr/>
          </p:nvSpPr>
          <p:spPr>
            <a:xfrm>
              <a:off x="3321476" y="2189259"/>
              <a:ext cx="1000167" cy="25847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CuadroTexto 55">
                  <a:extLst>
                    <a:ext uri="{FF2B5EF4-FFF2-40B4-BE49-F238E27FC236}">
                      <a16:creationId xmlns:a16="http://schemas.microsoft.com/office/drawing/2014/main" id="{D92165BE-D2B9-4429-9AA8-D15D6BD6359B}"/>
                    </a:ext>
                  </a:extLst>
                </p:cNvPr>
                <p:cNvSpPr txBox="1"/>
                <p:nvPr/>
              </p:nvSpPr>
              <p:spPr>
                <a:xfrm>
                  <a:off x="1740128" y="4785648"/>
                  <a:ext cx="70386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CuadroTexto 55">
                  <a:extLst>
                    <a:ext uri="{FF2B5EF4-FFF2-40B4-BE49-F238E27FC236}">
                      <a16:creationId xmlns:a16="http://schemas.microsoft.com/office/drawing/2014/main" id="{D92165BE-D2B9-4429-9AA8-D15D6BD63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0128" y="4785648"/>
                  <a:ext cx="703865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E0601B12-9D82-4830-BDE1-4A8E6E231A8A}"/>
                    </a:ext>
                  </a:extLst>
                </p:cNvPr>
                <p:cNvSpPr txBox="1"/>
                <p:nvPr/>
              </p:nvSpPr>
              <p:spPr>
                <a:xfrm>
                  <a:off x="1850594" y="2624161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E0601B12-9D82-4830-BDE1-4A8E6E231A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0594" y="2624161"/>
                  <a:ext cx="403774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BCA2FF78-B865-4A6F-8460-D7228FBEA679}"/>
                    </a:ext>
                  </a:extLst>
                </p:cNvPr>
                <p:cNvSpPr txBox="1"/>
                <p:nvPr/>
              </p:nvSpPr>
              <p:spPr>
                <a:xfrm>
                  <a:off x="1850594" y="3248155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BCA2FF78-B865-4A6F-8460-D7228FBEA6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0594" y="3248155"/>
                  <a:ext cx="403774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93FA031E-7E34-46EF-B066-6FBBE58D6C80}"/>
                    </a:ext>
                  </a:extLst>
                </p:cNvPr>
                <p:cNvSpPr txBox="1"/>
                <p:nvPr/>
              </p:nvSpPr>
              <p:spPr>
                <a:xfrm>
                  <a:off x="1850594" y="3910161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93FA031E-7E34-46EF-B066-6FBBE58D6C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0594" y="3910161"/>
                  <a:ext cx="403774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452E9536-B458-49AF-873A-8D632B5FC7FC}"/>
                    </a:ext>
                  </a:extLst>
                </p:cNvPr>
                <p:cNvSpPr txBox="1"/>
                <p:nvPr/>
              </p:nvSpPr>
              <p:spPr>
                <a:xfrm>
                  <a:off x="3652552" y="3070440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452E9536-B458-49AF-873A-8D632B5FC7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2552" y="3070440"/>
                  <a:ext cx="403774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7B444648-F399-422A-8F93-90AE995D5970}"/>
                    </a:ext>
                  </a:extLst>
                </p:cNvPr>
                <p:cNvSpPr txBox="1"/>
                <p:nvPr/>
              </p:nvSpPr>
              <p:spPr>
                <a:xfrm>
                  <a:off x="3661590" y="3750107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7B444648-F399-422A-8F93-90AE995D59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1590" y="3750107"/>
                  <a:ext cx="403774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0AD6F027-8D08-4AF1-B207-7D366251B001}"/>
              </a:ext>
            </a:extLst>
          </p:cNvPr>
          <p:cNvGrpSpPr/>
          <p:nvPr/>
        </p:nvGrpSpPr>
        <p:grpSpPr>
          <a:xfrm>
            <a:off x="1883077" y="2352918"/>
            <a:ext cx="2552949" cy="2977295"/>
            <a:chOff x="5098354" y="2781159"/>
            <a:chExt cx="2552949" cy="2977295"/>
          </a:xfrm>
        </p:grpSpPr>
        <p:cxnSp>
          <p:nvCxnSpPr>
            <p:cNvPr id="74" name="Conector recto de flecha 73">
              <a:extLst>
                <a:ext uri="{FF2B5EF4-FFF2-40B4-BE49-F238E27FC236}">
                  <a16:creationId xmlns:a16="http://schemas.microsoft.com/office/drawing/2014/main" id="{D91A817B-4DEF-455B-87ED-80E1EC35A0F5}"/>
                </a:ext>
              </a:extLst>
            </p:cNvPr>
            <p:cNvCxnSpPr>
              <a:cxnSpLocks/>
              <a:endCxn id="84" idx="1"/>
            </p:cNvCxnSpPr>
            <p:nvPr/>
          </p:nvCxnSpPr>
          <p:spPr>
            <a:xfrm flipV="1">
              <a:off x="5842242" y="3490462"/>
              <a:ext cx="1185515" cy="249672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de flecha 74">
              <a:extLst>
                <a:ext uri="{FF2B5EF4-FFF2-40B4-BE49-F238E27FC236}">
                  <a16:creationId xmlns:a16="http://schemas.microsoft.com/office/drawing/2014/main" id="{8E33EA69-7C1E-4FF1-89E4-7FFD52864FCE}"/>
                </a:ext>
              </a:extLst>
            </p:cNvPr>
            <p:cNvCxnSpPr>
              <a:cxnSpLocks/>
              <a:stCxn id="87" idx="3"/>
            </p:cNvCxnSpPr>
            <p:nvPr/>
          </p:nvCxnSpPr>
          <p:spPr>
            <a:xfrm>
              <a:off x="5833204" y="3862395"/>
              <a:ext cx="1108865" cy="139635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de flecha 75">
              <a:extLst>
                <a:ext uri="{FF2B5EF4-FFF2-40B4-BE49-F238E27FC236}">
                  <a16:creationId xmlns:a16="http://schemas.microsoft.com/office/drawing/2014/main" id="{DEBFA702-B539-4E45-9A3C-86D3CB24C6FC}"/>
                </a:ext>
              </a:extLst>
            </p:cNvPr>
            <p:cNvCxnSpPr>
              <a:cxnSpLocks/>
            </p:cNvCxnSpPr>
            <p:nvPr/>
          </p:nvCxnSpPr>
          <p:spPr>
            <a:xfrm>
              <a:off x="5842242" y="3977680"/>
              <a:ext cx="1099578" cy="69338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de flecha 76">
              <a:extLst>
                <a:ext uri="{FF2B5EF4-FFF2-40B4-BE49-F238E27FC236}">
                  <a16:creationId xmlns:a16="http://schemas.microsoft.com/office/drawing/2014/main" id="{F230F6E3-745D-4C9A-8E48-E00B360CC485}"/>
                </a:ext>
              </a:extLst>
            </p:cNvPr>
            <p:cNvCxnSpPr>
              <a:cxnSpLocks/>
              <a:stCxn id="88" idx="3"/>
            </p:cNvCxnSpPr>
            <p:nvPr/>
          </p:nvCxnSpPr>
          <p:spPr>
            <a:xfrm flipV="1">
              <a:off x="5842242" y="4137660"/>
              <a:ext cx="1107198" cy="404402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de flecha 77">
              <a:extLst>
                <a:ext uri="{FF2B5EF4-FFF2-40B4-BE49-F238E27FC236}">
                  <a16:creationId xmlns:a16="http://schemas.microsoft.com/office/drawing/2014/main" id="{6B5D079C-506C-44AD-8073-B7518B7D5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0764" y="3600499"/>
              <a:ext cx="1192620" cy="817704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de flecha 78">
              <a:extLst>
                <a:ext uri="{FF2B5EF4-FFF2-40B4-BE49-F238E27FC236}">
                  <a16:creationId xmlns:a16="http://schemas.microsoft.com/office/drawing/2014/main" id="{29728CF0-EA76-4DD1-A3D9-F1448F003ACD}"/>
                </a:ext>
              </a:extLst>
            </p:cNvPr>
            <p:cNvCxnSpPr>
              <a:cxnSpLocks/>
            </p:cNvCxnSpPr>
            <p:nvPr/>
          </p:nvCxnSpPr>
          <p:spPr>
            <a:xfrm>
              <a:off x="5844540" y="4632960"/>
              <a:ext cx="1097280" cy="175260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4F59A37A-0ECC-4410-B50C-C0DD52722CC9}"/>
                </a:ext>
              </a:extLst>
            </p:cNvPr>
            <p:cNvSpPr/>
            <p:nvPr/>
          </p:nvSpPr>
          <p:spPr>
            <a:xfrm>
              <a:off x="6715770" y="2829342"/>
              <a:ext cx="935533" cy="25847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CuadroTexto 80">
                  <a:extLst>
                    <a:ext uri="{FF2B5EF4-FFF2-40B4-BE49-F238E27FC236}">
                      <a16:creationId xmlns:a16="http://schemas.microsoft.com/office/drawing/2014/main" id="{C7352E57-101A-433B-8369-EC96CBAFB858}"/>
                    </a:ext>
                  </a:extLst>
                </p:cNvPr>
                <p:cNvSpPr txBox="1"/>
                <p:nvPr/>
              </p:nvSpPr>
              <p:spPr>
                <a:xfrm>
                  <a:off x="5246504" y="5339393"/>
                  <a:ext cx="70386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CuadroTexto 80">
                  <a:extLst>
                    <a:ext uri="{FF2B5EF4-FFF2-40B4-BE49-F238E27FC236}">
                      <a16:creationId xmlns:a16="http://schemas.microsoft.com/office/drawing/2014/main" id="{C7352E57-101A-433B-8369-EC96CBAFB8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6504" y="5339393"/>
                  <a:ext cx="703865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Elipse 81">
              <a:extLst>
                <a:ext uri="{FF2B5EF4-FFF2-40B4-BE49-F238E27FC236}">
                  <a16:creationId xmlns:a16="http://schemas.microsoft.com/office/drawing/2014/main" id="{CAE2CFA7-B83B-47C3-B702-F87027136EC3}"/>
                </a:ext>
              </a:extLst>
            </p:cNvPr>
            <p:cNvSpPr/>
            <p:nvPr/>
          </p:nvSpPr>
          <p:spPr>
            <a:xfrm>
              <a:off x="5098354" y="2781159"/>
              <a:ext cx="1000167" cy="25847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652B236D-304C-4F0A-B994-81BAD5756EFE}"/>
                    </a:ext>
                  </a:extLst>
                </p:cNvPr>
                <p:cNvSpPr txBox="1"/>
                <p:nvPr/>
              </p:nvSpPr>
              <p:spPr>
                <a:xfrm>
                  <a:off x="6831603" y="5358344"/>
                  <a:ext cx="70386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652B236D-304C-4F0A-B994-81BAD5756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1603" y="5358344"/>
                  <a:ext cx="703865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59BA34CA-D8FD-4D0F-A57D-D1F87E8DDFC0}"/>
                    </a:ext>
                  </a:extLst>
                </p:cNvPr>
                <p:cNvSpPr txBox="1"/>
                <p:nvPr/>
              </p:nvSpPr>
              <p:spPr>
                <a:xfrm>
                  <a:off x="7027757" y="3290407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59BA34CA-D8FD-4D0F-A57D-D1F87E8DDF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7757" y="3290407"/>
                  <a:ext cx="403774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51193151-09E4-4A37-AD39-D6D7C642540B}"/>
                    </a:ext>
                  </a:extLst>
                </p:cNvPr>
                <p:cNvSpPr txBox="1"/>
                <p:nvPr/>
              </p:nvSpPr>
              <p:spPr>
                <a:xfrm>
                  <a:off x="6942069" y="3900466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51193151-09E4-4A37-AD39-D6D7C64254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069" y="3900466"/>
                  <a:ext cx="403774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CuadroTexto 85">
                  <a:extLst>
                    <a:ext uri="{FF2B5EF4-FFF2-40B4-BE49-F238E27FC236}">
                      <a16:creationId xmlns:a16="http://schemas.microsoft.com/office/drawing/2014/main" id="{A33BE3FE-5785-4FE6-B351-1C4C1345B3F5}"/>
                    </a:ext>
                  </a:extLst>
                </p:cNvPr>
                <p:cNvSpPr txBox="1"/>
                <p:nvPr/>
              </p:nvSpPr>
              <p:spPr>
                <a:xfrm>
                  <a:off x="6942069" y="4562472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CuadroTexto 85">
                  <a:extLst>
                    <a:ext uri="{FF2B5EF4-FFF2-40B4-BE49-F238E27FC236}">
                      <a16:creationId xmlns:a16="http://schemas.microsoft.com/office/drawing/2014/main" id="{A33BE3FE-5785-4FE6-B351-1C4C1345B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069" y="4562472"/>
                  <a:ext cx="403774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CuadroTexto 86">
                  <a:extLst>
                    <a:ext uri="{FF2B5EF4-FFF2-40B4-BE49-F238E27FC236}">
                      <a16:creationId xmlns:a16="http://schemas.microsoft.com/office/drawing/2014/main" id="{9C4865B0-FD20-448C-BF3C-DD20DDCD0C92}"/>
                    </a:ext>
                  </a:extLst>
                </p:cNvPr>
                <p:cNvSpPr txBox="1"/>
                <p:nvPr/>
              </p:nvSpPr>
              <p:spPr>
                <a:xfrm>
                  <a:off x="5429430" y="3662340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CuadroTexto 86">
                  <a:extLst>
                    <a:ext uri="{FF2B5EF4-FFF2-40B4-BE49-F238E27FC236}">
                      <a16:creationId xmlns:a16="http://schemas.microsoft.com/office/drawing/2014/main" id="{9C4865B0-FD20-448C-BF3C-DD20DDCD0C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9430" y="3662340"/>
                  <a:ext cx="403774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57B2554B-7DA2-4E86-A285-D20A2390E03F}"/>
                    </a:ext>
                  </a:extLst>
                </p:cNvPr>
                <p:cNvSpPr txBox="1"/>
                <p:nvPr/>
              </p:nvSpPr>
              <p:spPr>
                <a:xfrm>
                  <a:off x="5438468" y="4342007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57B2554B-7DA2-4E86-A285-D20A2390E0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8468" y="4342007"/>
                  <a:ext cx="403774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CuadroTexto 123">
                <a:extLst>
                  <a:ext uri="{FF2B5EF4-FFF2-40B4-BE49-F238E27FC236}">
                    <a16:creationId xmlns:a16="http://schemas.microsoft.com/office/drawing/2014/main" id="{60A30B71-03D9-465F-BEA1-8F7A3FAE8DBA}"/>
                  </a:ext>
                </a:extLst>
              </p:cNvPr>
              <p:cNvSpPr txBox="1"/>
              <p:nvPr/>
            </p:nvSpPr>
            <p:spPr>
              <a:xfrm>
                <a:off x="6682973" y="5651753"/>
                <a:ext cx="525156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124" name="CuadroTexto 123">
                <a:extLst>
                  <a:ext uri="{FF2B5EF4-FFF2-40B4-BE49-F238E27FC236}">
                    <a16:creationId xmlns:a16="http://schemas.microsoft.com/office/drawing/2014/main" id="{60A30B71-03D9-465F-BEA1-8F7A3FAE8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973" y="5651753"/>
                <a:ext cx="5251566" cy="307777"/>
              </a:xfrm>
              <a:prstGeom prst="rect">
                <a:avLst/>
              </a:prstGeom>
              <a:blipFill>
                <a:blip r:embed="rId20"/>
                <a:stretch>
                  <a:fillRect l="-580" b="-588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8721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87044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516194" y="798698"/>
            <a:ext cx="109875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Producto cartesiano: Fabrica para crear tuplas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F6716F76-3AFE-471D-B156-0250FFA69F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0120" y="1263311"/>
                <a:ext cx="11432332" cy="5465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</a:rPr>
                  <a:t>Ejemplo 3</a:t>
                </a:r>
                <a:r>
                  <a:rPr lang="es-MX" sz="2000" dirty="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</a:rPr>
                  <a:t>: Cual es el producto cartesiano </a:t>
                </a:r>
                <a14:m>
                  <m:oMath xmlns:m="http://schemas.openxmlformats.org/officeDocument/2006/math"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×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×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𝐶</m:t>
                    </m:r>
                  </m:oMath>
                </a14:m>
                <a:r>
                  <a:rPr lang="es-MX" sz="2000" dirty="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</a:rPr>
                  <a:t>, donde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={0,1}</m:t>
                    </m:r>
                  </m:oMath>
                </a14:m>
                <a:r>
                  <a:rPr lang="es-MX" sz="2000" dirty="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={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1,2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}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𝐶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={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0,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1,2}</m:t>
                    </m:r>
                  </m:oMath>
                </a14:m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F6716F76-3AFE-471D-B156-0250FFA69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20" y="1263311"/>
                <a:ext cx="11432332" cy="546571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6B924C3B-D14A-457E-9505-A5654EC40407}"/>
                  </a:ext>
                </a:extLst>
              </p:cNvPr>
              <p:cNvSpPr txBox="1"/>
              <p:nvPr/>
            </p:nvSpPr>
            <p:spPr>
              <a:xfrm>
                <a:off x="306126" y="5406777"/>
                <a:ext cx="1170031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0,1,0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0,1,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0,1,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,1,0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,1,1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,1,2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6B924C3B-D14A-457E-9505-A5654EC40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26" y="5406777"/>
                <a:ext cx="11700319" cy="307777"/>
              </a:xfrm>
              <a:prstGeom prst="rect">
                <a:avLst/>
              </a:prstGeom>
              <a:blipFill>
                <a:blip r:embed="rId4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upo 15">
            <a:extLst>
              <a:ext uri="{FF2B5EF4-FFF2-40B4-BE49-F238E27FC236}">
                <a16:creationId xmlns:a16="http://schemas.microsoft.com/office/drawing/2014/main" id="{3100FC4E-1831-4421-87C2-4F9281F6B497}"/>
              </a:ext>
            </a:extLst>
          </p:cNvPr>
          <p:cNvGrpSpPr/>
          <p:nvPr/>
        </p:nvGrpSpPr>
        <p:grpSpPr>
          <a:xfrm>
            <a:off x="858339" y="2188210"/>
            <a:ext cx="3556570" cy="2998407"/>
            <a:chOff x="1019630" y="2161688"/>
            <a:chExt cx="3556570" cy="2998407"/>
          </a:xfrm>
        </p:grpSpPr>
        <p:cxnSp>
          <p:nvCxnSpPr>
            <p:cNvPr id="74" name="Conector recto de flecha 73">
              <a:extLst>
                <a:ext uri="{FF2B5EF4-FFF2-40B4-BE49-F238E27FC236}">
                  <a16:creationId xmlns:a16="http://schemas.microsoft.com/office/drawing/2014/main" id="{D91A817B-4DEF-455B-87ED-80E1EC35A0F5}"/>
                </a:ext>
              </a:extLst>
            </p:cNvPr>
            <p:cNvCxnSpPr>
              <a:cxnSpLocks/>
              <a:endCxn id="84" idx="1"/>
            </p:cNvCxnSpPr>
            <p:nvPr/>
          </p:nvCxnSpPr>
          <p:spPr>
            <a:xfrm flipV="1">
              <a:off x="2867025" y="2851383"/>
              <a:ext cx="1144315" cy="225192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de flecha 74">
              <a:extLst>
                <a:ext uri="{FF2B5EF4-FFF2-40B4-BE49-F238E27FC236}">
                  <a16:creationId xmlns:a16="http://schemas.microsoft.com/office/drawing/2014/main" id="{8E33EA69-7C1E-4FF1-89E4-7FFD52864FCE}"/>
                </a:ext>
              </a:extLst>
            </p:cNvPr>
            <p:cNvCxnSpPr>
              <a:cxnSpLocks/>
              <a:stCxn id="87" idx="3"/>
            </p:cNvCxnSpPr>
            <p:nvPr/>
          </p:nvCxnSpPr>
          <p:spPr>
            <a:xfrm>
              <a:off x="2873937" y="3194741"/>
              <a:ext cx="1108865" cy="139635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de flecha 75">
              <a:extLst>
                <a:ext uri="{FF2B5EF4-FFF2-40B4-BE49-F238E27FC236}">
                  <a16:creationId xmlns:a16="http://schemas.microsoft.com/office/drawing/2014/main" id="{DEBFA702-B539-4E45-9A3C-86D3CB24C6FC}"/>
                </a:ext>
              </a:extLst>
            </p:cNvPr>
            <p:cNvCxnSpPr>
              <a:cxnSpLocks/>
            </p:cNvCxnSpPr>
            <p:nvPr/>
          </p:nvCxnSpPr>
          <p:spPr>
            <a:xfrm>
              <a:off x="2882975" y="3310026"/>
              <a:ext cx="1099578" cy="69338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de flecha 76">
              <a:extLst>
                <a:ext uri="{FF2B5EF4-FFF2-40B4-BE49-F238E27FC236}">
                  <a16:creationId xmlns:a16="http://schemas.microsoft.com/office/drawing/2014/main" id="{F230F6E3-745D-4C9A-8E48-E00B360CC485}"/>
                </a:ext>
              </a:extLst>
            </p:cNvPr>
            <p:cNvCxnSpPr>
              <a:cxnSpLocks/>
              <a:stCxn id="88" idx="3"/>
            </p:cNvCxnSpPr>
            <p:nvPr/>
          </p:nvCxnSpPr>
          <p:spPr>
            <a:xfrm flipV="1">
              <a:off x="2882975" y="3470006"/>
              <a:ext cx="1107198" cy="404402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de flecha 77">
              <a:extLst>
                <a:ext uri="{FF2B5EF4-FFF2-40B4-BE49-F238E27FC236}">
                  <a16:creationId xmlns:a16="http://schemas.microsoft.com/office/drawing/2014/main" id="{6B5D079C-506C-44AD-8073-B7518B7D5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1497" y="2932845"/>
              <a:ext cx="1192620" cy="817704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de flecha 78">
              <a:extLst>
                <a:ext uri="{FF2B5EF4-FFF2-40B4-BE49-F238E27FC236}">
                  <a16:creationId xmlns:a16="http://schemas.microsoft.com/office/drawing/2014/main" id="{29728CF0-EA76-4DD1-A3D9-F1448F003ACD}"/>
                </a:ext>
              </a:extLst>
            </p:cNvPr>
            <p:cNvCxnSpPr>
              <a:cxnSpLocks/>
            </p:cNvCxnSpPr>
            <p:nvPr/>
          </p:nvCxnSpPr>
          <p:spPr>
            <a:xfrm>
              <a:off x="2885273" y="3965306"/>
              <a:ext cx="1097280" cy="175260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id="{4F59A37A-0ECC-4410-B50C-C0DD52722CC9}"/>
                </a:ext>
              </a:extLst>
            </p:cNvPr>
            <p:cNvSpPr/>
            <p:nvPr/>
          </p:nvSpPr>
          <p:spPr>
            <a:xfrm>
              <a:off x="3756503" y="2161688"/>
              <a:ext cx="819697" cy="2584788"/>
            </a:xfrm>
            <a:prstGeom prst="ellips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CuadroTexto 80">
                  <a:extLst>
                    <a:ext uri="{FF2B5EF4-FFF2-40B4-BE49-F238E27FC236}">
                      <a16:creationId xmlns:a16="http://schemas.microsoft.com/office/drawing/2014/main" id="{C7352E57-101A-433B-8369-EC96CBAFB858}"/>
                    </a:ext>
                  </a:extLst>
                </p:cNvPr>
                <p:cNvSpPr txBox="1"/>
                <p:nvPr/>
              </p:nvSpPr>
              <p:spPr>
                <a:xfrm>
                  <a:off x="1019630" y="4324166"/>
                  <a:ext cx="70386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CuadroTexto 80">
                  <a:extLst>
                    <a:ext uri="{FF2B5EF4-FFF2-40B4-BE49-F238E27FC236}">
                      <a16:creationId xmlns:a16="http://schemas.microsoft.com/office/drawing/2014/main" id="{C7352E57-101A-433B-8369-EC96CBAFB8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630" y="4324166"/>
                  <a:ext cx="70386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Elipse 81">
              <a:extLst>
                <a:ext uri="{FF2B5EF4-FFF2-40B4-BE49-F238E27FC236}">
                  <a16:creationId xmlns:a16="http://schemas.microsoft.com/office/drawing/2014/main" id="{CAE2CFA7-B83B-47C3-B702-F87027136EC3}"/>
                </a:ext>
              </a:extLst>
            </p:cNvPr>
            <p:cNvSpPr/>
            <p:nvPr/>
          </p:nvSpPr>
          <p:spPr>
            <a:xfrm>
              <a:off x="2332792" y="2770566"/>
              <a:ext cx="768362" cy="1524362"/>
            </a:xfrm>
            <a:prstGeom prst="ellips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652B236D-304C-4F0A-B994-81BAD5756EFE}"/>
                    </a:ext>
                  </a:extLst>
                </p:cNvPr>
                <p:cNvSpPr txBox="1"/>
                <p:nvPr/>
              </p:nvSpPr>
              <p:spPr>
                <a:xfrm>
                  <a:off x="3814418" y="4759985"/>
                  <a:ext cx="70386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652B236D-304C-4F0A-B994-81BAD5756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4418" y="4759985"/>
                  <a:ext cx="703865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59BA34CA-D8FD-4D0F-A57D-D1F87E8DDFC0}"/>
                    </a:ext>
                  </a:extLst>
                </p:cNvPr>
                <p:cNvSpPr txBox="1"/>
                <p:nvPr/>
              </p:nvSpPr>
              <p:spPr>
                <a:xfrm>
                  <a:off x="4011340" y="2651328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59BA34CA-D8FD-4D0F-A57D-D1F87E8DDF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1340" y="2651328"/>
                  <a:ext cx="403774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51193151-09E4-4A37-AD39-D6D7C642540B}"/>
                    </a:ext>
                  </a:extLst>
                </p:cNvPr>
                <p:cNvSpPr txBox="1"/>
                <p:nvPr/>
              </p:nvSpPr>
              <p:spPr>
                <a:xfrm>
                  <a:off x="3997792" y="3232812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51193151-09E4-4A37-AD39-D6D7C64254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7792" y="3232812"/>
                  <a:ext cx="403774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CuadroTexto 85">
                  <a:extLst>
                    <a:ext uri="{FF2B5EF4-FFF2-40B4-BE49-F238E27FC236}">
                      <a16:creationId xmlns:a16="http://schemas.microsoft.com/office/drawing/2014/main" id="{A33BE3FE-5785-4FE6-B351-1C4C1345B3F5}"/>
                    </a:ext>
                  </a:extLst>
                </p:cNvPr>
                <p:cNvSpPr txBox="1"/>
                <p:nvPr/>
              </p:nvSpPr>
              <p:spPr>
                <a:xfrm>
                  <a:off x="3982802" y="3894818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CuadroTexto 85">
                  <a:extLst>
                    <a:ext uri="{FF2B5EF4-FFF2-40B4-BE49-F238E27FC236}">
                      <a16:creationId xmlns:a16="http://schemas.microsoft.com/office/drawing/2014/main" id="{A33BE3FE-5785-4FE6-B351-1C4C1345B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2802" y="3894818"/>
                  <a:ext cx="403774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CuadroTexto 86">
                  <a:extLst>
                    <a:ext uri="{FF2B5EF4-FFF2-40B4-BE49-F238E27FC236}">
                      <a16:creationId xmlns:a16="http://schemas.microsoft.com/office/drawing/2014/main" id="{9C4865B0-FD20-448C-BF3C-DD20DDCD0C92}"/>
                    </a:ext>
                  </a:extLst>
                </p:cNvPr>
                <p:cNvSpPr txBox="1"/>
                <p:nvPr/>
              </p:nvSpPr>
              <p:spPr>
                <a:xfrm>
                  <a:off x="2470163" y="2994686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CuadroTexto 86">
                  <a:extLst>
                    <a:ext uri="{FF2B5EF4-FFF2-40B4-BE49-F238E27FC236}">
                      <a16:creationId xmlns:a16="http://schemas.microsoft.com/office/drawing/2014/main" id="{9C4865B0-FD20-448C-BF3C-DD20DDCD0C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0163" y="2994686"/>
                  <a:ext cx="403774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57B2554B-7DA2-4E86-A285-D20A2390E03F}"/>
                    </a:ext>
                  </a:extLst>
                </p:cNvPr>
                <p:cNvSpPr txBox="1"/>
                <p:nvPr/>
              </p:nvSpPr>
              <p:spPr>
                <a:xfrm>
                  <a:off x="2479201" y="3674353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57B2554B-7DA2-4E86-A285-D20A2390E0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201" y="3674353"/>
                  <a:ext cx="403774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8AF79FAC-61D1-4F39-9BBA-0B96F787446B}"/>
                </a:ext>
              </a:extLst>
            </p:cNvPr>
            <p:cNvSpPr/>
            <p:nvPr/>
          </p:nvSpPr>
          <p:spPr>
            <a:xfrm>
              <a:off x="1019630" y="2770566"/>
              <a:ext cx="768362" cy="1524362"/>
            </a:xfrm>
            <a:prstGeom prst="ellipse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822E4AAB-1861-45DF-9B5B-A56FDA91DC5B}"/>
                    </a:ext>
                  </a:extLst>
                </p:cNvPr>
                <p:cNvSpPr txBox="1"/>
                <p:nvPr/>
              </p:nvSpPr>
              <p:spPr>
                <a:xfrm>
                  <a:off x="1157001" y="2994686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822E4AAB-1861-45DF-9B5B-A56FDA91DC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7001" y="2994686"/>
                  <a:ext cx="403774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60F72D2F-BAAC-4F8E-8440-4C02B96BF0FE}"/>
                    </a:ext>
                  </a:extLst>
                </p:cNvPr>
                <p:cNvSpPr txBox="1"/>
                <p:nvPr/>
              </p:nvSpPr>
              <p:spPr>
                <a:xfrm>
                  <a:off x="1166039" y="3674353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60F72D2F-BAAC-4F8E-8440-4C02B96BF0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6039" y="3674353"/>
                  <a:ext cx="403774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BDAFF250-5709-4AF7-837E-ACA217BBA230}"/>
                    </a:ext>
                  </a:extLst>
                </p:cNvPr>
                <p:cNvSpPr txBox="1"/>
                <p:nvPr/>
              </p:nvSpPr>
              <p:spPr>
                <a:xfrm>
                  <a:off x="2357452" y="4296009"/>
                  <a:ext cx="70386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BDAFF250-5709-4AF7-837E-ACA217BBA2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7452" y="4296009"/>
                  <a:ext cx="703865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Conector recto de flecha 46">
              <a:extLst>
                <a:ext uri="{FF2B5EF4-FFF2-40B4-BE49-F238E27FC236}">
                  <a16:creationId xmlns:a16="http://schemas.microsoft.com/office/drawing/2014/main" id="{2519B3E8-A890-4F8C-BA48-FB09CB0ED957}"/>
                </a:ext>
              </a:extLst>
            </p:cNvPr>
            <p:cNvCxnSpPr>
              <a:cxnSpLocks/>
            </p:cNvCxnSpPr>
            <p:nvPr/>
          </p:nvCxnSpPr>
          <p:spPr>
            <a:xfrm>
              <a:off x="1552575" y="3162300"/>
              <a:ext cx="1066800" cy="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de flecha 49">
              <a:extLst>
                <a:ext uri="{FF2B5EF4-FFF2-40B4-BE49-F238E27FC236}">
                  <a16:creationId xmlns:a16="http://schemas.microsoft.com/office/drawing/2014/main" id="{61F10D07-EAB1-41AD-8681-F01BAA14F761}"/>
                </a:ext>
              </a:extLst>
            </p:cNvPr>
            <p:cNvCxnSpPr>
              <a:cxnSpLocks/>
            </p:cNvCxnSpPr>
            <p:nvPr/>
          </p:nvCxnSpPr>
          <p:spPr>
            <a:xfrm>
              <a:off x="1552575" y="3276600"/>
              <a:ext cx="1047750" cy="561975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de flecha 52">
              <a:extLst>
                <a:ext uri="{FF2B5EF4-FFF2-40B4-BE49-F238E27FC236}">
                  <a16:creationId xmlns:a16="http://schemas.microsoft.com/office/drawing/2014/main" id="{430609AC-E8D3-46E5-963E-201C65F290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2100" y="3276600"/>
              <a:ext cx="1028700" cy="552450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142E7575-BF8A-4DCF-8BBC-97D692F28B7E}"/>
                </a:ext>
              </a:extLst>
            </p:cNvPr>
            <p:cNvCxnSpPr>
              <a:cxnSpLocks/>
            </p:cNvCxnSpPr>
            <p:nvPr/>
          </p:nvCxnSpPr>
          <p:spPr>
            <a:xfrm>
              <a:off x="1552575" y="3924300"/>
              <a:ext cx="1047750" cy="0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5F01A3FE-F1E3-487C-B90D-90D2450C2971}"/>
                  </a:ext>
                </a:extLst>
              </p:cNvPr>
              <p:cNvSpPr txBox="1"/>
              <p:nvPr/>
            </p:nvSpPr>
            <p:spPr>
              <a:xfrm>
                <a:off x="4834930" y="2065367"/>
                <a:ext cx="655194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800" b="1" dirty="0">
                    <a:ea typeface="Roboto" panose="02000000000000000000" pitchFamily="2" charset="0"/>
                  </a:rPr>
                  <a:t>Solución</a:t>
                </a:r>
                <a:r>
                  <a:rPr lang="es-MX" sz="1800" dirty="0">
                    <a:ea typeface="Roboto" panose="02000000000000000000" pitchFamily="2" charset="0"/>
                  </a:rPr>
                  <a:t>: </a:t>
                </a:r>
                <a:r>
                  <a:rPr lang="es-MX" sz="18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(</a:t>
                </a:r>
                <a:r>
                  <a:rPr lang="es-MX" sz="1800" dirty="0">
                    <a:solidFill>
                      <a:schemeClr val="tx1"/>
                    </a:solidFill>
                    <a:ea typeface="Roboto" panose="02000000000000000000" pitchFamily="2" charset="0"/>
                    <a:hlinkClick r:id="rId15"/>
                  </a:rPr>
                  <a:t>código</a:t>
                </a:r>
                <a:r>
                  <a:rPr lang="es-MX" sz="18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)</a:t>
                </a:r>
                <a:r>
                  <a:rPr lang="es-MX" sz="1800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 </a:t>
                </a:r>
                <a:r>
                  <a:rPr lang="es-MX" sz="18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Sean los conjuntos </a:t>
                </a: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CO" sz="18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,</a:t>
                </a:r>
                <a:r>
                  <a:rPr lang="es-CO" sz="1800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CO" sz="1800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 </a:t>
                </a:r>
                <a:r>
                  <a:rPr lang="es-CO" sz="18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𝐶</m:t>
                    </m:r>
                  </m:oMath>
                </a14:m>
                <a:r>
                  <a:rPr lang="es-CO" sz="18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 el conjunto asociado a los combos tenemos: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0,1</m:t>
                        </m:r>
                      </m:e>
                    </m:d>
                  </m:oMath>
                </a14:m>
                <a:endParaRPr lang="es-CO" sz="18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  <m:r>
                      <a:rPr lang="es-MX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,2</m:t>
                        </m:r>
                      </m:e>
                    </m:d>
                  </m:oMath>
                </a14:m>
                <a:endParaRPr lang="es-CO" sz="18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𝐶</m:t>
                    </m:r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0,1,2</m:t>
                        </m:r>
                      </m:e>
                    </m:d>
                  </m:oMath>
                </a14:m>
                <a:endParaRPr lang="es-MX" sz="1800" b="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endParaRPr lang="es-MX" sz="18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r>
                  <a:rPr lang="es-MX" sz="18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El producto cartesiano de </a:t>
                </a: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18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18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:</a:t>
                </a:r>
              </a:p>
              <a:p>
                <a:endParaRPr lang="es-MX" sz="1800" b="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𝐴</m:t>
                      </m:r>
                      <m:r>
                        <a:rPr lang="es-MX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×</m:t>
                      </m:r>
                      <m:r>
                        <a:rPr lang="es-MX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𝐵</m:t>
                      </m:r>
                      <m:r>
                        <a:rPr lang="es-MX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×</m:t>
                      </m:r>
                      <m:r>
                        <a:rPr lang="es-MX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𝐶</m:t>
                      </m:r>
                      <m:r>
                        <a:rPr lang="es-MX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𝑎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,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𝑏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,</m:t>
                              </m:r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𝑐</m:t>
                              </m:r>
                            </m:e>
                          </m:d>
                        </m:e>
                        <m:e>
                          <m: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  <m: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 </m:t>
                          </m:r>
                          <m: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</m:t>
                          </m:r>
                          <m: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 ∧</m:t>
                          </m:r>
                          <m: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𝑏</m:t>
                          </m:r>
                          <m:r>
                            <a:rPr lang="es-MX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</m:t>
                          </m:r>
                          <m: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𝐵</m:t>
                          </m:r>
                          <m:r>
                            <a:rPr lang="es-MX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𝑐</m:t>
                          </m:r>
                          <m:r>
                            <a:rPr lang="es-MX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</m:t>
                          </m:r>
                          <m: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s-CO" sz="18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CO" sz="18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5F01A3FE-F1E3-487C-B90D-90D2450C2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4930" y="2065367"/>
                <a:ext cx="6551945" cy="2862322"/>
              </a:xfrm>
              <a:prstGeom prst="rect">
                <a:avLst/>
              </a:prstGeom>
              <a:blipFill>
                <a:blip r:embed="rId16"/>
                <a:stretch>
                  <a:fillRect l="-744" t="-127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7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355600" y="96038"/>
            <a:ext cx="8865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236290" y="927741"/>
            <a:ext cx="105870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Producto cartesiano: Fabrica para crear tuplas</a:t>
            </a:r>
          </a:p>
        </p:txBody>
      </p:sp>
      <p:sp>
        <p:nvSpPr>
          <p:cNvPr id="8" name="Google Shape;310;p34">
            <a:extLst>
              <a:ext uri="{FF2B5EF4-FFF2-40B4-BE49-F238E27FC236}">
                <a16:creationId xmlns:a16="http://schemas.microsoft.com/office/drawing/2014/main" id="{F6716F76-3AFE-471D-B156-0250FFA69F6E}"/>
              </a:ext>
            </a:extLst>
          </p:cNvPr>
          <p:cNvSpPr txBox="1">
            <a:spLocks/>
          </p:cNvSpPr>
          <p:nvPr/>
        </p:nvSpPr>
        <p:spPr>
          <a:xfrm>
            <a:off x="143806" y="1420184"/>
            <a:ext cx="11638703" cy="109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Ejemplo 4</a:t>
            </a:r>
            <a:r>
              <a:rPr lang="es-MX" sz="2000" dirty="0">
                <a:solidFill>
                  <a:schemeClr val="tx1"/>
                </a:solidFill>
                <a:latin typeface="+mn-lt"/>
                <a:ea typeface="Roboto" panose="02000000000000000000" pitchFamily="2" charset="0"/>
              </a:rPr>
              <a:t>: Un tablero de ajedrez es una cuadrícula de 8 por 8. Los jugadores de ajedrez utilizan la llamada “notación algebraica” para referirse a las columnas (files) usando las letras de la 'a' a la 'h', y se refieren a las filas (ranks) usando los números del 1 al 8. </a:t>
            </a:r>
            <a:endParaRPr lang="es-MX" sz="1600" dirty="0">
              <a:latin typeface="+mn-lt"/>
              <a:ea typeface="Roboto" panose="02000000000000000000" pitchFamily="2" charset="0"/>
            </a:endParaRPr>
          </a:p>
          <a:p>
            <a:pPr lvl="1"/>
            <a:endParaRPr lang="es-MX" sz="1600" dirty="0">
              <a:latin typeface="+mn-lt"/>
              <a:ea typeface="Roboto" panose="02000000000000000000" pitchFamily="2" charset="0"/>
            </a:endParaRPr>
          </a:p>
          <a:p>
            <a:pPr lvl="1"/>
            <a:endParaRPr lang="es-MX" sz="1600" dirty="0">
              <a:latin typeface="+mn-lt"/>
              <a:ea typeface="Roboto" panose="02000000000000000000" pitchFamily="2" charset="0"/>
            </a:endParaRPr>
          </a:p>
          <a:p>
            <a:pPr lvl="1"/>
            <a:endParaRPr lang="es-MX" sz="1600" dirty="0">
              <a:latin typeface="+mn-lt"/>
              <a:ea typeface="Roboto" panose="02000000000000000000" pitchFamily="2" charset="0"/>
            </a:endParaRPr>
          </a:p>
          <a:p>
            <a:endParaRPr lang="es-MX" sz="2000" dirty="0">
              <a:latin typeface="+mn-lt"/>
              <a:ea typeface="Roboto" panose="02000000000000000000" pitchFamily="2" charset="0"/>
            </a:endParaRPr>
          </a:p>
          <a:p>
            <a:endParaRPr lang="es-MX" sz="2000" dirty="0">
              <a:latin typeface="+mn-lt"/>
              <a:ea typeface="Roboto" panose="02000000000000000000" pitchFamily="2" charset="0"/>
            </a:endParaRPr>
          </a:p>
          <a:p>
            <a:endParaRPr lang="es-MX" sz="2000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5F01A3FE-F1E3-487C-B90D-90D2450C2971}"/>
                  </a:ext>
                </a:extLst>
              </p:cNvPr>
              <p:cNvSpPr txBox="1"/>
              <p:nvPr/>
            </p:nvSpPr>
            <p:spPr>
              <a:xfrm>
                <a:off x="4317408" y="2713756"/>
                <a:ext cx="7465101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sz="1800" b="1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Solución</a:t>
                </a:r>
                <a:r>
                  <a:rPr lang="es-MX" sz="1800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: </a:t>
                </a:r>
                <a:r>
                  <a:rPr lang="es-MX" sz="18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A continuación se muestran diferentes maneras de describir el tablero de ajedrez y alguna información de sus piezas usando productos cartesianos. Para ello inicialmente vamos a definir los siguiente conjuntos</a:t>
                </a:r>
                <a:r>
                  <a:rPr lang="es-CO" sz="18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  <m:e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es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una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columna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del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tablero</m:t>
                        </m:r>
                      </m:e>
                    </m:d>
                  </m:oMath>
                </a14:m>
                <a:endParaRPr lang="es-CO" sz="18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  <m:r>
                      <a:rPr lang="es-MX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  <m:e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es</m:t>
                        </m:r>
                        <m:r>
                          <a:rPr lang="es-MX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una</m:t>
                        </m:r>
                        <m:r>
                          <a:rPr lang="es-MX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fila</m:t>
                        </m:r>
                        <m:r>
                          <a:rPr lang="es-MX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del</m:t>
                        </m:r>
                        <m:r>
                          <a:rPr lang="es-MX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tablero</m:t>
                        </m:r>
                      </m:e>
                    </m:d>
                  </m:oMath>
                </a14:m>
                <a:endParaRPr lang="es-CO" sz="18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𝐶</m:t>
                    </m:r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  <m:e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es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una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posici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ó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n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cualquiera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del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tablero</m:t>
                        </m:r>
                      </m:e>
                    </m:d>
                  </m:oMath>
                </a14:m>
                <a:endParaRPr lang="es-MX" sz="18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𝐷</m:t>
                    </m:r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  <m:e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es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la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posici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ó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n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inicial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de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los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caballos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al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ini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𝑐𝑖𝑎𝑟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la</m:t>
                        </m:r>
                        <m: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MX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partida</m:t>
                        </m:r>
                      </m:e>
                    </m:d>
                  </m:oMath>
                </a14:m>
                <a:endParaRPr lang="es-MX" sz="18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s-MX" sz="1800" b="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r>
                  <a:rPr lang="es-MX" sz="1800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Teniendo en cuenta lo anterior tenemos: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𝑏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𝑐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𝑑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𝑒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𝑓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𝑔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h</m:t>
                        </m:r>
                      </m:e>
                    </m:d>
                  </m:oMath>
                </a14:m>
                <a:endParaRPr lang="es-CO" sz="18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  <m:r>
                      <a:rPr lang="es-MX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1,2,3,4,5,6,7,8</m:t>
                        </m:r>
                      </m:e>
                    </m:d>
                  </m:oMath>
                </a14:m>
                <a:endParaRPr lang="es-CO" sz="18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𝐶</m:t>
                    </m:r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×</m:t>
                    </m:r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𝑏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𝑐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𝑑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𝑒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𝑓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𝑔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h</m:t>
                        </m:r>
                      </m:e>
                    </m:d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×</m:t>
                    </m:r>
                    <m:d>
                      <m:dPr>
                        <m:begChr m:val="{"/>
                        <m:endChr m:val="}"/>
                        <m:ctrlP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1,2,3,4,5,6,7,8</m:t>
                        </m:r>
                      </m:e>
                    </m:d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𝑎</m:t>
                            </m:r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,1</m:t>
                            </m:r>
                          </m:e>
                        </m:d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,…,</m:t>
                        </m:r>
                        <m:d>
                          <m:dPr>
                            <m:ctrlP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h</m:t>
                            </m:r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,8</m:t>
                            </m:r>
                          </m:e>
                        </m:d>
                      </m:e>
                    </m:d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</m:oMath>
                </a14:m>
                <a:endParaRPr lang="es-MX" sz="1800" b="0" i="1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𝐷</m:t>
                    </m:r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𝑏</m:t>
                            </m:r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,1</m:t>
                            </m:r>
                          </m:e>
                        </m:d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d>
                          <m:dPr>
                            <m:ctrlP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𝑔</m:t>
                            </m:r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,1</m:t>
                            </m:r>
                          </m:e>
                        </m:d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d>
                          <m:dPr>
                            <m:ctrlP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𝑏</m:t>
                            </m:r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,8</m:t>
                            </m:r>
                          </m:e>
                        </m:d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d>
                          <m:dPr>
                            <m:ctrlP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𝑔</m:t>
                            </m:r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,8</m:t>
                            </m:r>
                          </m:e>
                        </m:d>
                      </m:e>
                    </m:d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𝑏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𝑔</m:t>
                        </m:r>
                      </m:e>
                    </m:d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×</m:t>
                    </m:r>
                    <m:d>
                      <m:dPr>
                        <m:begChr m:val="{"/>
                        <m:endChr m:val="}"/>
                        <m:ctrlP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1,8</m:t>
                        </m:r>
                      </m:e>
                    </m:d>
                    <m:r>
                      <a:rPr lang="es-MX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</m:oMath>
                </a14:m>
                <a:endParaRPr lang="es-CO" sz="1800" dirty="0">
                  <a:solidFill>
                    <a:schemeClr val="tx1"/>
                  </a:solidFill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5F01A3FE-F1E3-487C-B90D-90D2450C2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408" y="2713756"/>
                <a:ext cx="7465101" cy="3693319"/>
              </a:xfrm>
              <a:prstGeom prst="rect">
                <a:avLst/>
              </a:prstGeom>
              <a:blipFill>
                <a:blip r:embed="rId3"/>
                <a:stretch>
                  <a:fillRect l="-653" t="-825" b="-99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n 2">
            <a:extLst>
              <a:ext uri="{FF2B5EF4-FFF2-40B4-BE49-F238E27FC236}">
                <a16:creationId xmlns:a16="http://schemas.microsoft.com/office/drawing/2014/main" id="{30C67CB7-3813-4D90-8B4F-E24817C08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73" y="2713756"/>
            <a:ext cx="3280596" cy="352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086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355600" y="96038"/>
            <a:ext cx="8865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Conceptos preliminares</a:t>
            </a:r>
            <a:endParaRPr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981F08-C206-4A60-8BF8-5D902A118C7A}"/>
              </a:ext>
            </a:extLst>
          </p:cNvPr>
          <p:cNvSpPr txBox="1"/>
          <p:nvPr/>
        </p:nvSpPr>
        <p:spPr>
          <a:xfrm>
            <a:off x="355600" y="939066"/>
            <a:ext cx="1114814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Cardinalidad del conjunto producto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F6716F76-3AFE-471D-B156-0250FFA69F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3200" y="1431508"/>
                <a:ext cx="11742993" cy="53304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La cardinalidad del producto cartesiano es el producto de las cardinalidades de los conjuntos individuales. Para el caso mas sencillo (dos conjuntos), la cardinalidad del producto cruz esta dada por: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</m:t>
                          </m:r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B</m:t>
                          </m:r>
                        </m:e>
                      </m:d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</m:t>
                          </m:r>
                        </m:e>
                      </m:d>
                      <m:r>
                        <a:rPr lang="es-MX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|"/>
                          <m:ctrlP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s-MX" sz="1800" b="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Si se extiende el concepto a mas conjuntos tenemos que: </a:t>
                </a:r>
              </a:p>
              <a:p>
                <a:pPr marL="127000" indent="0">
                  <a:buNone/>
                </a:pPr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×</m:t>
                          </m:r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…</m:t>
                          </m:r>
                          <m: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MX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|"/>
                          <m:ctrlP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|"/>
                          <m:ctrlP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s-MX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⋅⋅⋅⋅⋅</m:t>
                      </m:r>
                      <m:d>
                        <m:dPr>
                          <m:begChr m:val="|"/>
                          <m:endChr m:val="|"/>
                          <m:ctrlP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𝑖</m:t>
                          </m:r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=1</m:t>
                          </m:r>
                        </m:sub>
                        <m:sup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sz="1800" i="1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800" i="1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b="1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Casos particulares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</a:t>
                </a:r>
              </a:p>
              <a:p>
                <a:pPr rtl="0">
                  <a:buFont typeface="Arial" panose="020B0604020202020204" pitchFamily="34" charset="0"/>
                  <a:buChar char="•"/>
                </a:pPr>
                <a:r>
                  <a:rPr lang="es-MX" sz="2000" b="1" dirty="0">
                    <a:latin typeface="+mn-lt"/>
                  </a:rPr>
                  <a:t>Potencia cartesiana:</a:t>
                </a:r>
                <a:r>
                  <a:rPr lang="es-MX" sz="20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s-MX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 × ⋯ ×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2000" dirty="0">
                    <a:latin typeface="+mn-lt"/>
                  </a:rPr>
                  <a:t>(</a:t>
                </a:r>
                <a:r>
                  <a:rPr lang="es-MX" sz="2000" i="1" dirty="0">
                    <a:latin typeface="+mn-lt"/>
                  </a:rPr>
                  <a:t>n</a:t>
                </a:r>
                <a:r>
                  <a:rPr lang="es-MX" sz="2000" dirty="0">
                    <a:latin typeface="+mn-lt"/>
                  </a:rPr>
                  <a:t> veces), con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s-MX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s-MX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| = </m:t>
                    </m:r>
                    <m:sSup>
                      <m:sSupPr>
                        <m:ctrlPr>
                          <a:rPr lang="es-MX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MX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s-MX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MX" sz="2000" dirty="0">
                    <a:latin typeface="+mn-lt"/>
                  </a:rPr>
                  <a:t>. Ejemplos: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i="1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MX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i="1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MX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MX" sz="20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MX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2000" i="1" dirty="0" smtClean="0">
                                <a:latin typeface="Cambria Math" panose="02040503050406030204" pitchFamily="18" charset="0"/>
                              </a:rPr>
                              <m:t>0, 1</m:t>
                            </m:r>
                          </m:e>
                        </m:d>
                      </m:e>
                      <m:sup>
                        <m:r>
                          <a:rPr lang="es-MX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MX" sz="2000" dirty="0">
                    <a:latin typeface="+mn-lt"/>
                  </a:rPr>
                  <a:t>.</a:t>
                </a:r>
              </a:p>
              <a:p>
                <a:pPr rtl="0">
                  <a:buFont typeface="Arial" panose="020B0604020202020204" pitchFamily="34" charset="0"/>
                  <a:buChar char="•"/>
                </a:pPr>
                <a:r>
                  <a:rPr lang="es-MX" sz="2000" b="1" dirty="0">
                    <a:latin typeface="+mn-lt"/>
                  </a:rPr>
                  <a:t>Conjunto vacío:</a:t>
                </a:r>
                <a:r>
                  <a:rPr lang="es-MX" sz="2000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 × ∅ = ∅ ×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 = ∅</m:t>
                    </m:r>
                  </m:oMath>
                </a14:m>
                <a:r>
                  <a:rPr lang="es-MX" sz="2000" dirty="0">
                    <a:latin typeface="+mn-lt"/>
                  </a:rPr>
                  <a:t>, coherente con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</a:rPr>
                      <m:t>| · 0 = 0</m:t>
                    </m:r>
                  </m:oMath>
                </a14:m>
                <a:r>
                  <a:rPr lang="es-MX" sz="2000" dirty="0">
                    <a:latin typeface="+mn-lt"/>
                  </a:rPr>
                  <a:t>.</a:t>
                </a:r>
              </a:p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Nota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No confundir con el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producto cruz 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de vectores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000" i="1" dirty="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MX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que es otra operación.</a:t>
                </a:r>
              </a:p>
            </p:txBody>
          </p:sp>
        </mc:Choice>
        <mc:Fallback xmlns="">
          <p:sp>
            <p:nvSpPr>
              <p:cNvPr id="8" name="Google Shape;310;p34">
                <a:extLst>
                  <a:ext uri="{FF2B5EF4-FFF2-40B4-BE49-F238E27FC236}">
                    <a16:creationId xmlns:a16="http://schemas.microsoft.com/office/drawing/2014/main" id="{F6716F76-3AFE-471D-B156-0250FFA69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" y="1431508"/>
                <a:ext cx="11742993" cy="5330453"/>
              </a:xfrm>
              <a:prstGeom prst="rect">
                <a:avLst/>
              </a:prstGeom>
              <a:blipFill>
                <a:blip r:embed="rId3"/>
                <a:stretch>
                  <a:fillRect r="-727" b="-57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288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17666" y="96038"/>
            <a:ext cx="890298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Funciones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317666" y="943079"/>
            <a:ext cx="9501968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tx1"/>
                </a:solidFill>
                <a:latin typeface="+mn-lt"/>
              </a:rPr>
              <a:t>Definición</a:t>
            </a:r>
            <a:endParaRPr lang="es-MX" dirty="0">
              <a:solidFill>
                <a:schemeClr val="tx1"/>
              </a:solidFill>
              <a:latin typeface="+mn-lt"/>
            </a:endParaRPr>
          </a:p>
          <a:p>
            <a:pPr marL="0" indent="0">
              <a:buFont typeface="Roboto"/>
              <a:buNone/>
            </a:pPr>
            <a:endParaRPr lang="es-MX" sz="2400" dirty="0">
              <a:solidFill>
                <a:schemeClr val="tx1"/>
              </a:solidFill>
              <a:latin typeface="+mn-lt"/>
            </a:endParaRPr>
          </a:p>
          <a:p>
            <a:pPr indent="0">
              <a:buFont typeface="Roboto"/>
              <a:buNone/>
            </a:pPr>
            <a:endParaRPr lang="es-MX" sz="2400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1050" y="1502422"/>
                <a:ext cx="8850730" cy="47669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Sean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conjuntos no vacíos. Una función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</a:t>
                </a:r>
                <a:r>
                  <a:rPr lang="es-MX" sz="2000" dirty="0">
                    <a:latin typeface="+mn-lt"/>
                  </a:rPr>
                  <a:t>es una </a:t>
                </a:r>
                <a:r>
                  <a:rPr lang="es-MX" sz="2000" b="1" dirty="0">
                    <a:latin typeface="+mn-lt"/>
                  </a:rPr>
                  <a:t>regla</a:t>
                </a:r>
                <a:r>
                  <a:rPr lang="es-MX" sz="2000" dirty="0">
                    <a:latin typeface="+mn-lt"/>
                  </a:rPr>
                  <a:t> que asigna a </a:t>
                </a:r>
                <a:r>
                  <a:rPr lang="es-MX" sz="2000" b="1" dirty="0">
                    <a:latin typeface="+mn-lt"/>
                  </a:rPr>
                  <a:t>cada</a:t>
                </a:r>
                <a:r>
                  <a:rPr lang="es-MX" sz="2000" dirty="0">
                    <a:latin typeface="+mn-lt"/>
                  </a:rPr>
                  <a:t> elemento de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exactamente un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elemento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Esto se escribe como:</a:t>
                </a: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𝑓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: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𝐴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→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𝐵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Una función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: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→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también puede definirse como un subconjunto de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×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(una relación). Este subconjunto está restringido a una relación donde ningún par de elementos de la relación tiene el mismo primer elemento.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𝑓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𝑎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×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𝐵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a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cada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 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le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corresponde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un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unico</m:t>
                          </m:r>
                          <m: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 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𝑏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Esto se denota comúnmente como: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𝑏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Resaltando que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𝑏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el único elemento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asignado por la función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al elemento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𝑎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50" y="1502422"/>
                <a:ext cx="8850730" cy="4766924"/>
              </a:xfrm>
              <a:prstGeom prst="rect">
                <a:avLst/>
              </a:prstGeom>
              <a:blipFill>
                <a:blip r:embed="rId3"/>
                <a:stretch>
                  <a:fillRect r="-758" b="-34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o 2">
            <a:extLst>
              <a:ext uri="{FF2B5EF4-FFF2-40B4-BE49-F238E27FC236}">
                <a16:creationId xmlns:a16="http://schemas.microsoft.com/office/drawing/2014/main" id="{63D9FC56-464E-4E9A-BF9F-920C5731CCC9}"/>
              </a:ext>
            </a:extLst>
          </p:cNvPr>
          <p:cNvGrpSpPr/>
          <p:nvPr/>
        </p:nvGrpSpPr>
        <p:grpSpPr>
          <a:xfrm>
            <a:off x="9494799" y="1474021"/>
            <a:ext cx="1967540" cy="2411863"/>
            <a:chOff x="916650" y="1583336"/>
            <a:chExt cx="1671797" cy="2153150"/>
          </a:xfrm>
        </p:grpSpPr>
        <p:pic>
          <p:nvPicPr>
            <p:cNvPr id="7170" name="Picture 2">
              <a:extLst>
                <a:ext uri="{FF2B5EF4-FFF2-40B4-BE49-F238E27FC236}">
                  <a16:creationId xmlns:a16="http://schemas.microsoft.com/office/drawing/2014/main" id="{568F383B-7F26-4CFC-A353-2CE9A37A00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650" y="1583336"/>
              <a:ext cx="1671797" cy="18456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86C242D-53F7-4042-94A8-AA3B392329FD}"/>
                </a:ext>
              </a:extLst>
            </p:cNvPr>
            <p:cNvSpPr txBox="1"/>
            <p:nvPr/>
          </p:nvSpPr>
          <p:spPr>
            <a:xfrm>
              <a:off x="1089733" y="3461723"/>
              <a:ext cx="1325630" cy="2747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b="1" dirty="0">
                  <a:latin typeface="Roboto" panose="02000000000000000000" pitchFamily="2" charset="0"/>
                  <a:ea typeface="Roboto" panose="02000000000000000000" pitchFamily="2" charset="0"/>
                </a:rPr>
                <a:t>Dirichlet</a:t>
              </a:r>
              <a:r>
                <a:rPr lang="es-CO" dirty="0">
                  <a:latin typeface="Roboto" panose="02000000000000000000" pitchFamily="2" charset="0"/>
                  <a:ea typeface="Roboto" panose="02000000000000000000" pitchFamily="2" charset="0"/>
                </a:rPr>
                <a:t> (</a:t>
              </a:r>
              <a:r>
                <a:rPr lang="es-CO" dirty="0">
                  <a:latin typeface="Roboto" panose="02000000000000000000" pitchFamily="2" charset="0"/>
                  <a:ea typeface="Roboto" panose="02000000000000000000" pitchFamily="2" charset="0"/>
                  <a:hlinkClick r:id="rId5"/>
                </a:rPr>
                <a:t>link</a:t>
              </a:r>
              <a:r>
                <a:rPr lang="es-CO" dirty="0">
                  <a:latin typeface="Roboto" panose="02000000000000000000" pitchFamily="2" charset="0"/>
                  <a:ea typeface="Roboto" panose="02000000000000000000" pitchFamily="2" charset="0"/>
                </a:rPr>
                <a:t>)</a:t>
              </a: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E08D3904-366C-4961-AF05-244F05F2BA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650" y="4867766"/>
            <a:ext cx="2515838" cy="140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09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442452" y="96038"/>
            <a:ext cx="877819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Funciones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442452" y="738819"/>
            <a:ext cx="9501968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tx1"/>
                </a:solidFill>
                <a:latin typeface="+mn-lt"/>
              </a:rPr>
              <a:t>Dominio, codominio y rango</a:t>
            </a:r>
            <a:endParaRPr lang="es-MX" dirty="0">
              <a:solidFill>
                <a:schemeClr val="tx1"/>
              </a:solidFill>
              <a:latin typeface="+mn-lt"/>
            </a:endParaRPr>
          </a:p>
          <a:p>
            <a:pPr marL="0" indent="0">
              <a:buFont typeface="Roboto"/>
              <a:buNone/>
            </a:pPr>
            <a:endParaRPr lang="es-MX" sz="2400" dirty="0">
              <a:solidFill>
                <a:schemeClr val="tx1"/>
              </a:solidFill>
              <a:latin typeface="+mn-lt"/>
            </a:endParaRPr>
          </a:p>
          <a:p>
            <a:pPr indent="0">
              <a:buFont typeface="Roboto"/>
              <a:buNone/>
            </a:pPr>
            <a:endParaRPr lang="es-MX" sz="2400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4466" y="1176098"/>
                <a:ext cx="11532754" cy="787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: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→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decimos que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mapea (asigna)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Para la expresión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: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→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tenemos:</a:t>
                </a: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66" y="1176098"/>
                <a:ext cx="11532754" cy="7876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5" descr="0213.jpg">
            <a:extLst>
              <a:ext uri="{FF2B5EF4-FFF2-40B4-BE49-F238E27FC236}">
                <a16:creationId xmlns:a16="http://schemas.microsoft.com/office/drawing/2014/main" id="{BB4E90AF-5C45-48BA-9C0A-FEF82A024BD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36481" y="4752201"/>
            <a:ext cx="4651614" cy="16420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436574A8-9184-45AB-A860-BF60343824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23826"/>
                  </p:ext>
                </p:extLst>
              </p:nvPr>
            </p:nvGraphicFramePr>
            <p:xfrm>
              <a:off x="442452" y="1730821"/>
              <a:ext cx="11534689" cy="2560320"/>
            </p:xfrm>
            <a:graphic>
              <a:graphicData uri="http://schemas.openxmlformats.org/drawingml/2006/table">
                <a:tbl>
                  <a:tblPr/>
                  <a:tblGrid>
                    <a:gridCol w="2098222">
                      <a:extLst>
                        <a:ext uri="{9D8B030D-6E8A-4147-A177-3AD203B41FA5}">
                          <a16:colId xmlns:a16="http://schemas.microsoft.com/office/drawing/2014/main" val="3712319939"/>
                        </a:ext>
                      </a:extLst>
                    </a:gridCol>
                    <a:gridCol w="5139231">
                      <a:extLst>
                        <a:ext uri="{9D8B030D-6E8A-4147-A177-3AD203B41FA5}">
                          <a16:colId xmlns:a16="http://schemas.microsoft.com/office/drawing/2014/main" val="3833679935"/>
                        </a:ext>
                      </a:extLst>
                    </a:gridCol>
                    <a:gridCol w="4297236">
                      <a:extLst>
                        <a:ext uri="{9D8B030D-6E8A-4147-A177-3AD203B41FA5}">
                          <a16:colId xmlns:a16="http://schemas.microsoft.com/office/drawing/2014/main" val="1647361907"/>
                        </a:ext>
                      </a:extLst>
                    </a:gridCol>
                  </a:tblGrid>
                  <a:tr h="234274"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Concepto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Definición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Notación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3887961"/>
                      </a:ext>
                    </a:extLst>
                  </a:tr>
                  <a:tr h="412115"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Dominio</a:t>
                          </a:r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Conjunto de todos los elementos de entrada de la función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) = 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51295844"/>
                      </a:ext>
                    </a:extLst>
                  </a:tr>
                  <a:tr h="409980"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Codominio</a:t>
                          </a:r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Conjunto de llegada en el que deben encontrarse los valores asignados por la función.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s-MX" b="0" i="0" dirty="0" smtClean="0">
                                    <a:latin typeface="Cambria Math" panose="02040503050406030204" pitchFamily="18" charset="0"/>
                                  </a:rPr>
                                  <m:t>Cod</m:t>
                                </m:r>
                                <m:d>
                                  <m:dPr>
                                    <m:ctrlPr>
                                      <a:rPr lang="es-MX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  <m:r>
                                  <a:rPr lang="es-MX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O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6071433"/>
                      </a:ext>
                    </a:extLst>
                  </a:tr>
                  <a:tr h="585686"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Rango</a:t>
                          </a:r>
                          <a:r>
                            <a:rPr lang="es-CO"/>
                            <a:t> (o </a:t>
                          </a:r>
                          <a:r>
                            <a:rPr lang="es-CO" b="1"/>
                            <a:t>imagen</a:t>
                          </a:r>
                          <a:r>
                            <a:rPr lang="es-CO"/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Conjunto formado por todos los valores que </a:t>
                          </a:r>
                          <a:r>
                            <a:rPr lang="es-MX" b="1" dirty="0"/>
                            <a:t>efectivamente</a:t>
                          </a:r>
                          <a:r>
                            <a:rPr lang="es-MX" dirty="0"/>
                            <a:t> toma la función al evaluar los elementos de su dominio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d>
                                  <m:dPr>
                                    <m:ctrlPr>
                                      <a:rPr lang="pt-B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s-MX" b="0" i="0" dirty="0" smtClean="0">
                                    <a:latin typeface="Cambria Math" panose="02040503050406030204" pitchFamily="18" charset="0"/>
                                  </a:rPr>
                                  <m:t>Im</m:t>
                                </m:r>
                                <m:r>
                                  <a:rPr lang="es-MX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b="0" i="1" dirty="0" smtClean="0">
                                    <a:latin typeface="Cambria Math" panose="02040503050406030204" pitchFamily="18" charset="0"/>
                                  </a:rPr>
                                  <m:t>)= {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) |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 ∈ 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pt-BR" i="1" dirty="0" smtClean="0">
                                    <a:latin typeface="Cambria Math" panose="02040503050406030204" pitchFamily="18" charset="0"/>
                                  </a:rPr>
                                  <m:t>}⊆</m:t>
                                </m:r>
                                <m:r>
                                  <a:rPr lang="es-MX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097144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436574A8-9184-45AB-A860-BF60343824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23826"/>
                  </p:ext>
                </p:extLst>
              </p:nvPr>
            </p:nvGraphicFramePr>
            <p:xfrm>
              <a:off x="442452" y="1730821"/>
              <a:ext cx="11534689" cy="2560320"/>
            </p:xfrm>
            <a:graphic>
              <a:graphicData uri="http://schemas.openxmlformats.org/drawingml/2006/table">
                <a:tbl>
                  <a:tblPr/>
                  <a:tblGrid>
                    <a:gridCol w="2098222">
                      <a:extLst>
                        <a:ext uri="{9D8B030D-6E8A-4147-A177-3AD203B41FA5}">
                          <a16:colId xmlns:a16="http://schemas.microsoft.com/office/drawing/2014/main" val="3712319939"/>
                        </a:ext>
                      </a:extLst>
                    </a:gridCol>
                    <a:gridCol w="5139231">
                      <a:extLst>
                        <a:ext uri="{9D8B030D-6E8A-4147-A177-3AD203B41FA5}">
                          <a16:colId xmlns:a16="http://schemas.microsoft.com/office/drawing/2014/main" val="3833679935"/>
                        </a:ext>
                      </a:extLst>
                    </a:gridCol>
                    <a:gridCol w="4297236">
                      <a:extLst>
                        <a:ext uri="{9D8B030D-6E8A-4147-A177-3AD203B41FA5}">
                          <a16:colId xmlns:a16="http://schemas.microsoft.com/office/drawing/2014/main" val="164736190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Concepto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Definición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b="1" dirty="0"/>
                            <a:t>Notación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388796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Dominio</a:t>
                          </a:r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Conjunto de todos los elementos de entrada de la función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8652" t="-61905" r="-284" b="-25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129584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Codominio</a:t>
                          </a:r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Conjunto de llegada en el que deben encontrarse los valores asignados por la función.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8652" t="-160377" r="-284" b="-1566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07143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s-CO" b="1"/>
                            <a:t>Rango</a:t>
                          </a:r>
                          <a:r>
                            <a:rPr lang="es-CO"/>
                            <a:t> (o </a:t>
                          </a:r>
                          <a:r>
                            <a:rPr lang="es-CO" b="1"/>
                            <a:t>imagen</a:t>
                          </a:r>
                          <a:r>
                            <a:rPr lang="es-CO"/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Conjunto formado por todos los valores que </a:t>
                          </a:r>
                          <a:r>
                            <a:rPr lang="es-MX" b="1" dirty="0"/>
                            <a:t>efectivamente</a:t>
                          </a:r>
                          <a:r>
                            <a:rPr lang="es-MX" dirty="0"/>
                            <a:t> toma la función al evaluar los elementos de su dominio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8652" t="-184000" r="-284" b="-1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97144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3E60BEC-90EB-4A5B-AAFF-4187DCE5D7E9}"/>
                  </a:ext>
                </a:extLst>
              </p:cNvPr>
              <p:cNvSpPr txBox="1"/>
              <p:nvPr/>
            </p:nvSpPr>
            <p:spPr>
              <a:xfrm>
                <a:off x="5408016" y="4427450"/>
                <a:ext cx="6569125" cy="23391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s-MX" sz="2000" b="1" dirty="0"/>
                  <a:t>Condición fundamental de una función</a:t>
                </a:r>
              </a:p>
              <a:p>
                <a:endParaRPr lang="es-MX" b="1" dirty="0"/>
              </a:p>
              <a:p>
                <a:r>
                  <a:rPr lang="es-MX" dirty="0"/>
                  <a:t>Para que </a:t>
                </a:r>
                <a14:m>
                  <m:oMath xmlns:m="http://schemas.openxmlformats.org/officeDocument/2006/math">
                    <m:r>
                      <a:rPr lang="es-MX" sz="180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  <m:r>
                      <a:rPr lang="es-MX" sz="180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:</m:t>
                    </m:r>
                    <m:r>
                      <a:rPr lang="es-MX" sz="180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180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→</m:t>
                    </m:r>
                    <m:r>
                      <a:rPr lang="es-MX" sz="180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1800" dirty="0">
                    <a:latin typeface="+mn-lt"/>
                    <a:ea typeface="Roboto" panose="02000000000000000000" pitchFamily="2" charset="0"/>
                  </a:rPr>
                  <a:t> </a:t>
                </a:r>
                <a:r>
                  <a:rPr lang="es-MX" dirty="0"/>
                  <a:t>sea una función, debe cumplirse:</a:t>
                </a:r>
              </a:p>
              <a:p>
                <a:endParaRPr lang="es-MX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∀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𝑎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∈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𝐴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,∃!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𝑏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∈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𝐵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: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𝑓</m:t>
                      </m:r>
                      <m:d>
                        <m:dPr>
                          <m:ctrlP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</m:e>
                      </m:d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𝑏</m:t>
                      </m:r>
                    </m:oMath>
                  </m:oMathPara>
                </a14:m>
                <a:endParaRPr lang="es-MX" dirty="0"/>
              </a:p>
              <a:p>
                <a:endParaRPr lang="es-MX" dirty="0"/>
              </a:p>
              <a:p>
                <a:r>
                  <a:rPr lang="es-MX" b="1" dirty="0"/>
                  <a:t>Interpretación</a:t>
                </a:r>
                <a:r>
                  <a:rPr lang="es-MX" dirty="0"/>
                  <a:t>: cada elemento de </a:t>
                </a:r>
                <a14:m>
                  <m:oMath xmlns:m="http://schemas.openxmlformats.org/officeDocument/2006/math">
                    <m:r>
                      <a:rPr lang="es-MX" sz="180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dirty="0"/>
                  <a:t> tiene exactamente una imagen en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dirty="0"/>
                  <a:t>.</a:t>
                </a:r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3E60BEC-90EB-4A5B-AAFF-4187DCE5D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8016" y="4427450"/>
                <a:ext cx="6569125" cy="2339102"/>
              </a:xfrm>
              <a:prstGeom prst="rect">
                <a:avLst/>
              </a:prstGeom>
              <a:blipFill>
                <a:blip r:embed="rId6"/>
                <a:stretch>
                  <a:fillRect l="-928" t="-1302" b="-312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9702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30601" y="96038"/>
            <a:ext cx="899004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Funciones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230601" y="780067"/>
            <a:ext cx="9501968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tx1"/>
                </a:solidFill>
                <a:latin typeface="+mn-lt"/>
              </a:rPr>
              <a:t>Dominio, codominio y rango</a:t>
            </a:r>
            <a:endParaRPr lang="es-MX" dirty="0">
              <a:solidFill>
                <a:schemeClr val="tx1"/>
              </a:solidFill>
              <a:latin typeface="+mn-lt"/>
            </a:endParaRPr>
          </a:p>
          <a:p>
            <a:pPr marL="0" indent="0">
              <a:buFont typeface="Roboto"/>
              <a:buNone/>
            </a:pPr>
            <a:endParaRPr lang="es-MX" sz="2400" dirty="0">
              <a:solidFill>
                <a:schemeClr val="tx1"/>
              </a:solidFill>
              <a:latin typeface="+mn-lt"/>
            </a:endParaRPr>
          </a:p>
          <a:p>
            <a:pPr indent="0">
              <a:buFont typeface="Roboto"/>
              <a:buNone/>
            </a:pPr>
            <a:endParaRPr lang="es-MX" sz="2400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964" y="1217172"/>
                <a:ext cx="12067082" cy="787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</a:t>
                </a:r>
                <a:r>
                  <a:rPr lang="es-MX" sz="2000" dirty="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</a:rPr>
                  <a:t>Dados los conjuntos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={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𝑎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𝑏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𝑐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}</m:t>
                    </m:r>
                  </m:oMath>
                </a14:m>
                <a:r>
                  <a:rPr lang="es-MX" sz="2000" dirty="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={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2, 3, 4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}</m:t>
                    </m:r>
                  </m:oMath>
                </a14:m>
                <a:r>
                  <a:rPr lang="es-MX" sz="2000" dirty="0">
                    <a:solidFill>
                      <a:schemeClr val="tx1"/>
                    </a:solidFill>
                    <a:latin typeface="+mn-lt"/>
                    <a:ea typeface="Roboto" panose="02000000000000000000" pitchFamily="2" charset="0"/>
                  </a:rPr>
                  <a:t> y la función 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: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→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definida por: </a:t>
                </a: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64" y="1217172"/>
                <a:ext cx="12067082" cy="7876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E8EFB828-0D35-44D9-B01C-AED9A85978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68489" y="3904168"/>
                <a:ext cx="4793311" cy="14045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Dominio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𝐷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𝑓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={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𝑎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𝑏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𝑐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}</m:t>
                    </m:r>
                  </m:oMath>
                </a14:m>
                <a:endParaRPr lang="es-MX" sz="2000" b="1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Codominio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Cod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𝑓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={1, 2, 3, 4}</m:t>
                    </m:r>
                  </m:oMath>
                </a14:m>
                <a:endParaRPr lang="es-CO" sz="2000" dirty="0"/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Rango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𝑅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𝑓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Im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(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)={2, 4}⊆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E8EFB828-0D35-44D9-B01C-AED9A8597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489" y="3904168"/>
                <a:ext cx="4793311" cy="14045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5104914-11C1-4B11-81F1-171D412E9154}"/>
                  </a:ext>
                </a:extLst>
              </p:cNvPr>
              <p:cNvSpPr txBox="1"/>
              <p:nvPr/>
            </p:nvSpPr>
            <p:spPr>
              <a:xfrm>
                <a:off x="2572873" y="1921231"/>
                <a:ext cx="160879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=2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5104914-11C1-4B11-81F1-171D412E9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2873" y="1921231"/>
                <a:ext cx="1608798" cy="307777"/>
              </a:xfrm>
              <a:prstGeom prst="rect">
                <a:avLst/>
              </a:prstGeom>
              <a:blipFill>
                <a:blip r:embed="rId5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E4FDFD1-DC5A-4C58-808D-8D3B24262DCE}"/>
                  </a:ext>
                </a:extLst>
              </p:cNvPr>
              <p:cNvSpPr txBox="1"/>
              <p:nvPr/>
            </p:nvSpPr>
            <p:spPr>
              <a:xfrm>
                <a:off x="230601" y="6071855"/>
                <a:ext cx="319856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𝑓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={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,2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,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𝑏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,4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,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𝑐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,2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}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E4FDFD1-DC5A-4C58-808D-8D3B24262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01" y="6071855"/>
                <a:ext cx="3198568" cy="307777"/>
              </a:xfrm>
              <a:prstGeom prst="rect">
                <a:avLst/>
              </a:prstGeom>
              <a:blipFill>
                <a:blip r:embed="rId6"/>
                <a:stretch>
                  <a:fillRect t="-1961" b="-3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A1FF6FD-7774-4DAE-83B2-68421AA3405E}"/>
                  </a:ext>
                </a:extLst>
              </p:cNvPr>
              <p:cNvSpPr txBox="1"/>
              <p:nvPr/>
            </p:nvSpPr>
            <p:spPr>
              <a:xfrm>
                <a:off x="4981585" y="1921231"/>
                <a:ext cx="160879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𝑏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=4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FA1FF6FD-7774-4DAE-83B2-68421AA34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585" y="1921231"/>
                <a:ext cx="1608798" cy="307777"/>
              </a:xfrm>
              <a:prstGeom prst="rect">
                <a:avLst/>
              </a:prstGeom>
              <a:blipFill>
                <a:blip r:embed="rId7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7876D483-B1B2-4EFF-AFAB-C7C0073A7812}"/>
                  </a:ext>
                </a:extLst>
              </p:cNvPr>
              <p:cNvSpPr txBox="1"/>
              <p:nvPr/>
            </p:nvSpPr>
            <p:spPr>
              <a:xfrm>
                <a:off x="7412490" y="1868642"/>
                <a:ext cx="160879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𝑓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𝑐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=2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7876D483-B1B2-4EFF-AFAB-C7C0073A7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490" y="1868642"/>
                <a:ext cx="1608798" cy="307777"/>
              </a:xfrm>
              <a:prstGeom prst="rect">
                <a:avLst/>
              </a:prstGeom>
              <a:blipFill>
                <a:blip r:embed="rId8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7A45DDC1-5DFD-4E7D-B25A-9786502591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6997070"/>
                  </p:ext>
                </p:extLst>
              </p:nvPr>
            </p:nvGraphicFramePr>
            <p:xfrm>
              <a:off x="982313" y="3302298"/>
              <a:ext cx="1792592" cy="14833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514556">
                      <a:extLst>
                        <a:ext uri="{9D8B030D-6E8A-4147-A177-3AD203B41FA5}">
                          <a16:colId xmlns:a16="http://schemas.microsoft.com/office/drawing/2014/main" val="748177845"/>
                        </a:ext>
                      </a:extLst>
                    </a:gridCol>
                    <a:gridCol w="1278036">
                      <a:extLst>
                        <a:ext uri="{9D8B030D-6E8A-4147-A177-3AD203B41FA5}">
                          <a16:colId xmlns:a16="http://schemas.microsoft.com/office/drawing/2014/main" val="5162891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574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20396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17211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74866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7A45DDC1-5DFD-4E7D-B25A-9786502591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6997070"/>
                  </p:ext>
                </p:extLst>
              </p:nvPr>
            </p:nvGraphicFramePr>
            <p:xfrm>
              <a:off x="982313" y="3302298"/>
              <a:ext cx="1792592" cy="14833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514556">
                      <a:extLst>
                        <a:ext uri="{9D8B030D-6E8A-4147-A177-3AD203B41FA5}">
                          <a16:colId xmlns:a16="http://schemas.microsoft.com/office/drawing/2014/main" val="748177845"/>
                        </a:ext>
                      </a:extLst>
                    </a:gridCol>
                    <a:gridCol w="1278036">
                      <a:extLst>
                        <a:ext uri="{9D8B030D-6E8A-4147-A177-3AD203B41FA5}">
                          <a16:colId xmlns:a16="http://schemas.microsoft.com/office/drawing/2014/main" val="5162891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9"/>
                          <a:stretch>
                            <a:fillRect l="-1176" t="-1639" r="-248235" b="-3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9"/>
                          <a:stretch>
                            <a:fillRect l="-40952" t="-1639" r="-476" b="-3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574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9"/>
                          <a:stretch>
                            <a:fillRect l="-1176" t="-100000" r="-248235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9"/>
                          <a:stretch>
                            <a:fillRect l="-40952" t="-100000" r="-476" b="-2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0396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9"/>
                          <a:stretch>
                            <a:fillRect l="-1176" t="-203279" r="-248235" b="-1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9"/>
                          <a:stretch>
                            <a:fillRect l="-40952" t="-203279" r="-476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17211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9"/>
                          <a:stretch>
                            <a:fillRect l="-1176" t="-303279" r="-248235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9"/>
                          <a:stretch>
                            <a:fillRect l="-40952" t="-303279" r="-476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748661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8" name="Grupo 47">
            <a:extLst>
              <a:ext uri="{FF2B5EF4-FFF2-40B4-BE49-F238E27FC236}">
                <a16:creationId xmlns:a16="http://schemas.microsoft.com/office/drawing/2014/main" id="{41D478BE-F012-4C51-9855-450449238137}"/>
              </a:ext>
            </a:extLst>
          </p:cNvPr>
          <p:cNvGrpSpPr/>
          <p:nvPr/>
        </p:nvGrpSpPr>
        <p:grpSpPr>
          <a:xfrm>
            <a:off x="3542942" y="3335269"/>
            <a:ext cx="2744973" cy="3008727"/>
            <a:chOff x="7035221" y="2645997"/>
            <a:chExt cx="2744973" cy="3008727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A2917255-3C8E-4677-8FA8-EE161043199F}"/>
                </a:ext>
              </a:extLst>
            </p:cNvPr>
            <p:cNvGrpSpPr/>
            <p:nvPr/>
          </p:nvGrpSpPr>
          <p:grpSpPr>
            <a:xfrm>
              <a:off x="7035221" y="2645997"/>
              <a:ext cx="2744973" cy="3008727"/>
              <a:chOff x="1624295" y="2177031"/>
              <a:chExt cx="2744973" cy="3008727"/>
            </a:xfrm>
          </p:grpSpPr>
          <p:cxnSp>
            <p:nvCxnSpPr>
              <p:cNvPr id="20" name="Conector recto de flecha 19">
                <a:extLst>
                  <a:ext uri="{FF2B5EF4-FFF2-40B4-BE49-F238E27FC236}">
                    <a16:creationId xmlns:a16="http://schemas.microsoft.com/office/drawing/2014/main" id="{D7489398-AB75-4052-9692-1E4817ABAD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24314" y="2853354"/>
                <a:ext cx="1493520" cy="259080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 recto de flecha 20">
                <a:extLst>
                  <a:ext uri="{FF2B5EF4-FFF2-40B4-BE49-F238E27FC236}">
                    <a16:creationId xmlns:a16="http://schemas.microsoft.com/office/drawing/2014/main" id="{A700CE99-E588-4C66-AFE8-BE34F614160B}"/>
                  </a:ext>
                </a:extLst>
              </p:cNvPr>
              <p:cNvCxnSpPr>
                <a:cxnSpLocks/>
                <a:endCxn id="36" idx="1"/>
              </p:cNvCxnSpPr>
              <p:nvPr/>
            </p:nvCxnSpPr>
            <p:spPr>
              <a:xfrm>
                <a:off x="2216694" y="3440094"/>
                <a:ext cx="1496756" cy="780179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de flecha 21">
                <a:extLst>
                  <a:ext uri="{FF2B5EF4-FFF2-40B4-BE49-F238E27FC236}">
                    <a16:creationId xmlns:a16="http://schemas.microsoft.com/office/drawing/2014/main" id="{667D564E-3AD5-4431-9BA0-7508DBD346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39554" y="3219114"/>
                <a:ext cx="1470660" cy="906780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9DBC6521-FB90-4A20-A321-486B5DED57A4}"/>
                  </a:ext>
                </a:extLst>
              </p:cNvPr>
              <p:cNvSpPr/>
              <p:nvPr/>
            </p:nvSpPr>
            <p:spPr>
              <a:xfrm>
                <a:off x="1624295" y="2177031"/>
                <a:ext cx="935533" cy="258478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rgbClr val="00206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C7483F14-0646-42FB-818E-6F61EF2640CA}"/>
                      </a:ext>
                    </a:extLst>
                  </p:cNvPr>
                  <p:cNvSpPr txBox="1"/>
                  <p:nvPr/>
                </p:nvSpPr>
                <p:spPr>
                  <a:xfrm>
                    <a:off x="3517251" y="4785648"/>
                    <a:ext cx="70386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C7483F14-0646-42FB-818E-6F61EF264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7251" y="4785648"/>
                    <a:ext cx="703865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Elipse 27">
                <a:extLst>
                  <a:ext uri="{FF2B5EF4-FFF2-40B4-BE49-F238E27FC236}">
                    <a16:creationId xmlns:a16="http://schemas.microsoft.com/office/drawing/2014/main" id="{DF32ACE7-2AF9-497D-873E-660647A5D79B}"/>
                  </a:ext>
                </a:extLst>
              </p:cNvPr>
              <p:cNvSpPr/>
              <p:nvPr/>
            </p:nvSpPr>
            <p:spPr>
              <a:xfrm>
                <a:off x="3369101" y="2189259"/>
                <a:ext cx="1000167" cy="258478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rgbClr val="00206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CuadroTexto 28">
                    <a:extLst>
                      <a:ext uri="{FF2B5EF4-FFF2-40B4-BE49-F238E27FC236}">
                        <a16:creationId xmlns:a16="http://schemas.microsoft.com/office/drawing/2014/main" id="{3FCDEF0C-7FA3-4C25-9E72-5B422529600C}"/>
                      </a:ext>
                    </a:extLst>
                  </p:cNvPr>
                  <p:cNvSpPr txBox="1"/>
                  <p:nvPr/>
                </p:nvSpPr>
                <p:spPr>
                  <a:xfrm>
                    <a:off x="1740128" y="4785648"/>
                    <a:ext cx="70386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CuadroTexto 28">
                    <a:extLst>
                      <a:ext uri="{FF2B5EF4-FFF2-40B4-BE49-F238E27FC236}">
                        <a16:creationId xmlns:a16="http://schemas.microsoft.com/office/drawing/2014/main" id="{3FCDEF0C-7FA3-4C25-9E72-5B42252960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40128" y="4785648"/>
                    <a:ext cx="703865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4C6A3007-BCE7-4EE9-B7BE-2DC66D0F892B}"/>
                      </a:ext>
                    </a:extLst>
                  </p:cNvPr>
                  <p:cNvSpPr txBox="1"/>
                  <p:nvPr/>
                </p:nvSpPr>
                <p:spPr>
                  <a:xfrm>
                    <a:off x="1850594" y="2624161"/>
                    <a:ext cx="40377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CuadroTexto 66">
                    <a:extLst>
                      <a:ext uri="{FF2B5EF4-FFF2-40B4-BE49-F238E27FC236}">
                        <a16:creationId xmlns:a16="http://schemas.microsoft.com/office/drawing/2014/main" id="{E0601B12-9D82-4830-BDE1-4A8E6E231A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0594" y="2624161"/>
                    <a:ext cx="403774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CuadroTexto 30">
                    <a:extLst>
                      <a:ext uri="{FF2B5EF4-FFF2-40B4-BE49-F238E27FC236}">
                        <a16:creationId xmlns:a16="http://schemas.microsoft.com/office/drawing/2014/main" id="{5FA3C8C0-2669-43C2-9B90-31D791E120F4}"/>
                      </a:ext>
                    </a:extLst>
                  </p:cNvPr>
                  <p:cNvSpPr txBox="1"/>
                  <p:nvPr/>
                </p:nvSpPr>
                <p:spPr>
                  <a:xfrm>
                    <a:off x="1850594" y="3248155"/>
                    <a:ext cx="40377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CuadroTexto 67">
                    <a:extLst>
                      <a:ext uri="{FF2B5EF4-FFF2-40B4-BE49-F238E27FC236}">
                        <a16:creationId xmlns:a16="http://schemas.microsoft.com/office/drawing/2014/main" id="{BCA2FF78-B865-4A6F-8460-D7228FBEA6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0594" y="3248155"/>
                    <a:ext cx="403774" cy="40011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1DD1A9E5-063B-43E6-BA8C-649618D7B9C8}"/>
                      </a:ext>
                    </a:extLst>
                  </p:cNvPr>
                  <p:cNvSpPr txBox="1"/>
                  <p:nvPr/>
                </p:nvSpPr>
                <p:spPr>
                  <a:xfrm>
                    <a:off x="1850594" y="3910161"/>
                    <a:ext cx="40377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CuadroTexto 68">
                    <a:extLst>
                      <a:ext uri="{FF2B5EF4-FFF2-40B4-BE49-F238E27FC236}">
                        <a16:creationId xmlns:a16="http://schemas.microsoft.com/office/drawing/2014/main" id="{93FA031E-7E34-46EF-B066-6FBBE58D6C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0594" y="3910161"/>
                    <a:ext cx="403774" cy="40011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CuadroTexto 32">
                    <a:extLst>
                      <a:ext uri="{FF2B5EF4-FFF2-40B4-BE49-F238E27FC236}">
                        <a16:creationId xmlns:a16="http://schemas.microsoft.com/office/drawing/2014/main" id="{702427B6-074B-4AFE-B852-5E459562B741}"/>
                      </a:ext>
                    </a:extLst>
                  </p:cNvPr>
                  <p:cNvSpPr txBox="1"/>
                  <p:nvPr/>
                </p:nvSpPr>
                <p:spPr>
                  <a:xfrm>
                    <a:off x="3676147" y="2402891"/>
                    <a:ext cx="40377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CuadroTexto 32">
                    <a:extLst>
                      <a:ext uri="{FF2B5EF4-FFF2-40B4-BE49-F238E27FC236}">
                        <a16:creationId xmlns:a16="http://schemas.microsoft.com/office/drawing/2014/main" id="{702427B6-074B-4AFE-B852-5E459562B7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76147" y="2402891"/>
                    <a:ext cx="403774" cy="4001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A2904751-4C21-4F1F-AFBD-5311ED0ECEFA}"/>
                      </a:ext>
                    </a:extLst>
                  </p:cNvPr>
                  <p:cNvSpPr txBox="1"/>
                  <p:nvPr/>
                </p:nvSpPr>
                <p:spPr>
                  <a:xfrm>
                    <a:off x="3693995" y="3496463"/>
                    <a:ext cx="40377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A2904751-4C21-4F1F-AFBD-5311ED0ECE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93995" y="3496463"/>
                    <a:ext cx="403774" cy="40011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89433B7D-9084-4B59-A524-DDF05EAB5600}"/>
                    </a:ext>
                  </a:extLst>
                </p:cNvPr>
                <p:cNvSpPr txBox="1"/>
                <p:nvPr/>
              </p:nvSpPr>
              <p:spPr>
                <a:xfrm>
                  <a:off x="9096017" y="3447611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89433B7D-9084-4B59-A524-DDF05EAB56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6017" y="3447611"/>
                  <a:ext cx="403774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A5A9CCF9-77D7-4BC9-A7A2-EB2B9D5E493C}"/>
                    </a:ext>
                  </a:extLst>
                </p:cNvPr>
                <p:cNvSpPr txBox="1"/>
                <p:nvPr/>
              </p:nvSpPr>
              <p:spPr>
                <a:xfrm>
                  <a:off x="9124376" y="4489184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A5A9CCF9-77D7-4BC9-A7A2-EB2B9D5E49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4376" y="4489184"/>
                  <a:ext cx="403774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63669B76-2825-495E-B18A-4AD5983384CD}"/>
              </a:ext>
            </a:extLst>
          </p:cNvPr>
          <p:cNvSpPr txBox="1"/>
          <p:nvPr/>
        </p:nvSpPr>
        <p:spPr>
          <a:xfrm>
            <a:off x="3252797" y="2638350"/>
            <a:ext cx="3457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latin typeface="+mn-lt"/>
                <a:ea typeface="Roboto" panose="02000000000000000000" pitchFamily="2" charset="0"/>
              </a:rPr>
              <a:t>Diagrama de flechas </a:t>
            </a:r>
            <a:endParaRPr lang="es-CO" sz="20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A7FAA17-2F8B-4CC4-8216-71C6C014A546}"/>
              </a:ext>
            </a:extLst>
          </p:cNvPr>
          <p:cNvSpPr txBox="1"/>
          <p:nvPr/>
        </p:nvSpPr>
        <p:spPr>
          <a:xfrm>
            <a:off x="592475" y="2615007"/>
            <a:ext cx="2572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latin typeface="+mn-lt"/>
                <a:ea typeface="Roboto" panose="02000000000000000000" pitchFamily="2" charset="0"/>
              </a:rPr>
              <a:t>Diagrama de flechas </a:t>
            </a:r>
            <a:endParaRPr lang="es-CO" sz="20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CFE15303-3699-44F1-A2A2-E40EECD2B2E6}"/>
              </a:ext>
            </a:extLst>
          </p:cNvPr>
          <p:cNvSpPr txBox="1"/>
          <p:nvPr/>
        </p:nvSpPr>
        <p:spPr>
          <a:xfrm>
            <a:off x="592475" y="5417507"/>
            <a:ext cx="2572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latin typeface="+mn-lt"/>
                <a:ea typeface="Roboto" panose="02000000000000000000" pitchFamily="2" charset="0"/>
              </a:rPr>
              <a:t>Pares ordenados</a:t>
            </a:r>
            <a:endParaRPr lang="es-CO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18512A5A-1A25-4012-A63D-765B1CCBDF5C}"/>
                  </a:ext>
                </a:extLst>
              </p:cNvPr>
              <p:cNvSpPr txBox="1"/>
              <p:nvPr/>
            </p:nvSpPr>
            <p:spPr>
              <a:xfrm>
                <a:off x="4536832" y="5738031"/>
                <a:ext cx="7509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es-CO" sz="16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18512A5A-1A25-4012-A63D-765B1CCBD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832" y="5738031"/>
                <a:ext cx="750916" cy="400110"/>
              </a:xfrm>
              <a:prstGeom prst="rect">
                <a:avLst/>
              </a:prstGeom>
              <a:blipFill>
                <a:blip r:embed="rId19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16B94FBE-5833-400A-9A62-3DD0EFFA74CF}"/>
              </a:ext>
            </a:extLst>
          </p:cNvPr>
          <p:cNvCxnSpPr>
            <a:cxnSpLocks/>
            <a:stCxn id="29" idx="3"/>
            <a:endCxn id="27" idx="1"/>
          </p:cNvCxnSpPr>
          <p:nvPr/>
        </p:nvCxnSpPr>
        <p:spPr>
          <a:xfrm>
            <a:off x="4362640" y="6143941"/>
            <a:ext cx="1073258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972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17666" y="167049"/>
            <a:ext cx="871920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Funciones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317666" y="1045538"/>
            <a:ext cx="9501968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tx1"/>
                </a:solidFill>
                <a:latin typeface="+mn-lt"/>
              </a:rPr>
              <a:t>Representación de funciones</a:t>
            </a:r>
            <a:endParaRPr lang="es-MX" dirty="0">
              <a:solidFill>
                <a:schemeClr val="tx1"/>
              </a:solidFill>
              <a:latin typeface="+mn-lt"/>
            </a:endParaRPr>
          </a:p>
          <a:p>
            <a:pPr marL="0" indent="0">
              <a:buFont typeface="Roboto"/>
              <a:buNone/>
            </a:pPr>
            <a:endParaRPr lang="es-MX" sz="2400" dirty="0">
              <a:solidFill>
                <a:schemeClr val="tx1"/>
              </a:solidFill>
              <a:latin typeface="+mn-lt"/>
            </a:endParaRPr>
          </a:p>
          <a:p>
            <a:pPr indent="0">
              <a:buFont typeface="Roboto"/>
              <a:buNone/>
            </a:pPr>
            <a:endParaRPr lang="es-MX" sz="2400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0221" y="1606117"/>
                <a:ext cx="11355774" cy="51497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Las funciones pueden ser representadas de diferentes maneras:</a:t>
                </a: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Descripción Verbal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Una declaración explícita de la tarea.</a:t>
                </a: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Tabla de valores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Se crea una tabla con dos columnas. Una columna para los valores de entrada (dominio) y otra para los correspondientes valores de salida (rango).</a:t>
                </a: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Representación Algebraica (Formula)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Usa una ecuación algebraica para definir la relación precisa entre la entrada (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 y la salida (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(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o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).</a:t>
                </a: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Diagrama de flechas (mapeo)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Se dibujan dos conjuntos (generalmente óvalos), uno para el dominio y otro para el rango, y se usan flechas para conectar cada entrada con su única salida.</a:t>
                </a: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Plano cartesiano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Se representan los pares ordenados (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 como puntos en un plano con un eje horizontal (eje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 para el dominio y un eje vertical (eje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 para el rango.</a:t>
                </a: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Conjunto de Pares Ordenados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Es una lista explícita de los valores de entrada y su correspondiente salida</a:t>
                </a: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Programa de computador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Se define una subrutina que toma unas entradas, aplica un procedimiento y devuelve una salida como resultado de dicho procedimiento.</a:t>
                </a: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C1EB8144-8BAC-4290-B469-B1AFD5BDF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21" y="1606117"/>
                <a:ext cx="11355774" cy="5149752"/>
              </a:xfrm>
              <a:prstGeom prst="rect">
                <a:avLst/>
              </a:prstGeom>
              <a:blipFill>
                <a:blip r:embed="rId3"/>
                <a:stretch>
                  <a:fillRect r="-3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600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380476" y="96038"/>
            <a:ext cx="884017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Funciones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380476" y="780067"/>
            <a:ext cx="9501968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tx1"/>
                </a:solidFill>
                <a:latin typeface="+mn-lt"/>
              </a:rPr>
              <a:t>Ejemplos</a:t>
            </a:r>
            <a:endParaRPr lang="es-MX" dirty="0">
              <a:solidFill>
                <a:schemeClr val="tx1"/>
              </a:solidFill>
              <a:latin typeface="+mn-lt"/>
            </a:endParaRPr>
          </a:p>
          <a:p>
            <a:pPr indent="0">
              <a:buFont typeface="Roboto"/>
              <a:buNone/>
            </a:pPr>
            <a:endParaRPr lang="es-MX" sz="2400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Google Shape;310;p34">
                <a:extLst>
                  <a:ext uri="{FF2B5EF4-FFF2-40B4-BE49-F238E27FC236}">
                    <a16:creationId xmlns:a16="http://schemas.microsoft.com/office/drawing/2014/main" id="{4CC3BD47-C7C5-43C0-8EA5-7652782E79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0723" y="1187314"/>
                <a:ext cx="11560801" cy="26651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 1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Suponga que un curso de matemáticas discretas emplea la calificación por letras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{A, B, C, D, F}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para medir el desempeño de sus estudiantes. Si las calificaciones para sus estudiantes fueron: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A para Adams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C para Chou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B para Goodfriend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A para Rodríguez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F para Stevens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Como puede representar esta información como una función.</a:t>
                </a:r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 2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Suponga que se tiene la función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𝑦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sSup>
                      <m:sSup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p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realizar la representación de la función en diferentes formas.</a:t>
                </a:r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 3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La serie de Fibonacci es una secuencia de números enteros en la que cada número es la suma de los dos anteriores. Se define comúnmente comenzando con 0 y 1.</a:t>
                </a:r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 4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Sean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= {1, 2, 3, 4}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= {0, 1, 2, 3}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Se define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: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→ </m:t>
                    </m:r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por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  <m:r>
                      <a:rPr lang="es-MX" sz="2000" i="1" dirty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(</m:t>
                    </m:r>
                    <m:r>
                      <a:rPr lang="es-MX" sz="2000" i="1" dirty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 dirty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 = </m:t>
                    </m:r>
                    <m:r>
                      <a:rPr lang="es-MX" sz="2000" i="1" dirty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  <m:r>
                      <a:rPr lang="es-MX" sz="2000" i="1" dirty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</m:t>
                    </m:r>
                    <m:r>
                      <a:rPr lang="es-MX" sz="2000" i="1" dirty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𝑚𝑜𝑑</m:t>
                    </m:r>
                    <m:r>
                      <a:rPr lang="es-MX" sz="2000" i="1" dirty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 3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(residuo de dividir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entre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3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):</a:t>
                </a:r>
              </a:p>
              <a:p>
                <a:pPr lvl="1">
                  <a:buFont typeface="+mj-lt"/>
                  <a:buAutoNum type="alphaLcPeriod"/>
                </a:pPr>
                <a:r>
                  <a:rPr lang="es-MX" sz="1800" dirty="0">
                    <a:latin typeface="+mn-lt"/>
                    <a:ea typeface="Roboto" panose="02000000000000000000" pitchFamily="2" charset="0"/>
                  </a:rPr>
                  <a:t>Represente </a:t>
                </a:r>
                <a14:m>
                  <m:oMath xmlns:m="http://schemas.openxmlformats.org/officeDocument/2006/math"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</m:oMath>
                </a14:m>
                <a:r>
                  <a:rPr lang="es-MX" sz="1800" dirty="0">
                    <a:latin typeface="+mn-lt"/>
                    <a:ea typeface="Roboto" panose="02000000000000000000" pitchFamily="2" charset="0"/>
                  </a:rPr>
                  <a:t> como un conjunto de pares ordenados.</a:t>
                </a:r>
              </a:p>
              <a:p>
                <a:pPr lvl="1">
                  <a:buFont typeface="+mj-lt"/>
                  <a:buAutoNum type="alphaLcPeriod"/>
                </a:pPr>
                <a:r>
                  <a:rPr lang="es-MX" sz="1800" dirty="0">
                    <a:latin typeface="+mn-lt"/>
                    <a:ea typeface="Roboto" panose="02000000000000000000" pitchFamily="2" charset="0"/>
                  </a:rPr>
                  <a:t>Determine el dominio, el codominio y rango de </a:t>
                </a:r>
                <a14:m>
                  <m:oMath xmlns:m="http://schemas.openxmlformats.org/officeDocument/2006/math"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</m:oMath>
                </a14:m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20" name="Google Shape;310;p34">
                <a:extLst>
                  <a:ext uri="{FF2B5EF4-FFF2-40B4-BE49-F238E27FC236}">
                    <a16:creationId xmlns:a16="http://schemas.microsoft.com/office/drawing/2014/main" id="{4CC3BD47-C7C5-43C0-8EA5-7652782E7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23" y="1187314"/>
                <a:ext cx="11560801" cy="2665158"/>
              </a:xfrm>
              <a:prstGeom prst="rect">
                <a:avLst/>
              </a:prstGeom>
              <a:blipFill>
                <a:blip r:embed="rId3"/>
                <a:stretch>
                  <a:fillRect b="-524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3975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96393" y="45767"/>
            <a:ext cx="851272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Funciones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393700" y="822489"/>
            <a:ext cx="10024917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tx1"/>
                </a:solidFill>
                <a:latin typeface="+mn-lt"/>
              </a:rPr>
              <a:t>Ejemplo 1 - Solución</a:t>
            </a:r>
            <a:endParaRPr lang="es-MX" dirty="0">
              <a:solidFill>
                <a:schemeClr val="tx1"/>
              </a:solidFill>
              <a:latin typeface="+mn-lt"/>
            </a:endParaRPr>
          </a:p>
          <a:p>
            <a:pPr indent="0">
              <a:buFont typeface="Roboto"/>
              <a:buNone/>
            </a:pPr>
            <a:endParaRPr lang="es-MX" sz="24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6E217B-A7CA-4423-960B-5448F4503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99" y="3082098"/>
            <a:ext cx="2888681" cy="305614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2B891C8-5ABC-444D-8C08-3FFE7ED35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317" y="1940249"/>
            <a:ext cx="3343309" cy="196163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5AF4F2C-B911-4FFE-893F-5B07C64193B0}"/>
              </a:ext>
            </a:extLst>
          </p:cNvPr>
          <p:cNvSpPr txBox="1"/>
          <p:nvPr/>
        </p:nvSpPr>
        <p:spPr>
          <a:xfrm>
            <a:off x="440745" y="1512438"/>
            <a:ext cx="35597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Descripción verbal</a:t>
            </a:r>
            <a:r>
              <a:rPr lang="es-CO" sz="2000" dirty="0">
                <a:ea typeface="Roboto" panose="02000000000000000000" pitchFamily="2" charset="0"/>
              </a:rPr>
              <a:t>: </a:t>
            </a:r>
          </a:p>
          <a:p>
            <a:r>
              <a:rPr lang="es-MX" dirty="0">
                <a:ea typeface="Roboto" panose="02000000000000000000" pitchFamily="2" charset="0"/>
              </a:rPr>
              <a:t>Estudiantes y notas del curso de Matemáticas Discretas.</a:t>
            </a:r>
            <a:endParaRPr lang="es-CO" dirty="0">
              <a:ea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1FD24C6-A586-4CCE-83AA-ED6F5C9A3252}"/>
              </a:ext>
            </a:extLst>
          </p:cNvPr>
          <p:cNvSpPr txBox="1"/>
          <p:nvPr/>
        </p:nvSpPr>
        <p:spPr>
          <a:xfrm>
            <a:off x="473486" y="2611450"/>
            <a:ext cx="3343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Tabla de valores</a:t>
            </a:r>
            <a:r>
              <a:rPr lang="es-CO" sz="2000" dirty="0">
                <a:ea typeface="Roboto" panose="02000000000000000000" pitchFamily="2" charset="0"/>
              </a:rPr>
              <a:t>: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56B190D-932C-4331-81E9-442753794017}"/>
              </a:ext>
            </a:extLst>
          </p:cNvPr>
          <p:cNvSpPr txBox="1"/>
          <p:nvPr/>
        </p:nvSpPr>
        <p:spPr>
          <a:xfrm>
            <a:off x="4152900" y="1486780"/>
            <a:ext cx="4080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Diagrama de flechas (mapeo)</a:t>
            </a:r>
            <a:r>
              <a:rPr lang="es-CO" sz="2000" dirty="0">
                <a:ea typeface="Roboto" panose="02000000000000000000" pitchFamily="2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4250BBD-F973-4F6C-9165-C39DC2D80B5B}"/>
                  </a:ext>
                </a:extLst>
              </p:cNvPr>
              <p:cNvSpPr txBox="1"/>
              <p:nvPr/>
            </p:nvSpPr>
            <p:spPr>
              <a:xfrm>
                <a:off x="4000501" y="4245232"/>
                <a:ext cx="7931670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000" b="1" dirty="0">
                    <a:ea typeface="Roboto" panose="02000000000000000000" pitchFamily="2" charset="0"/>
                  </a:rPr>
                  <a:t>Conjunto de pares ordenados</a:t>
                </a:r>
                <a:r>
                  <a:rPr lang="es-CO" sz="2000" dirty="0">
                    <a:ea typeface="Roboto" panose="02000000000000000000" pitchFamily="2" charset="0"/>
                  </a:rPr>
                  <a:t>:</a:t>
                </a:r>
                <a:r>
                  <a:rPr lang="es-CO" sz="2000" dirty="0">
                    <a:solidFill>
                      <a:srgbClr val="C00000"/>
                    </a:solidFill>
                    <a:ea typeface="Roboto" panose="02000000000000000000" pitchFamily="2" charset="0"/>
                  </a:rPr>
                  <a:t> </a:t>
                </a:r>
              </a:p>
              <a:p>
                <a:r>
                  <a:rPr lang="es-CO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Sean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CO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</m:oMath>
                </a14:m>
                <a:r>
                  <a:rPr lang="es-CO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𝐺</m:t>
                    </m:r>
                  </m:oMath>
                </a14:m>
                <a:r>
                  <a:rPr lang="es-CO" dirty="0">
                    <a:solidFill>
                      <a:schemeClr val="tx1"/>
                    </a:solidFill>
                    <a:ea typeface="Roboto" panose="02000000000000000000" pitchFamily="2" charset="0"/>
                  </a:rPr>
                  <a:t> las nombres, las calificaciones y la función que asigna las calificación a cada estudiante respectivamente tenemos: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𝐴𝑑𝑎𝑚𝑠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𝐶h𝑜𝑢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𝐺𝑜𝑜𝑑𝑓𝑟𝑖𝑒𝑑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𝑅𝑜𝑑𝑟𝑖𝑔𝑢𝑒𝑧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𝑆𝑡𝑒𝑣𝑒𝑛𝑠</m:t>
                        </m:r>
                      </m:e>
                    </m:d>
                  </m:oMath>
                </a14:m>
                <a:endParaRPr lang="es-MX" b="0" dirty="0"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𝐵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𝐶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𝐷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𝐹</m:t>
                        </m:r>
                      </m:e>
                    </m:d>
                  </m:oMath>
                </a14:m>
                <a:endParaRPr lang="es-MX" b="0" dirty="0">
                  <a:ea typeface="Roboto" panose="020000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𝐺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𝐴𝑑𝑎𝑚𝑠</m:t>
                            </m:r>
                            <m:r>
                              <a:rPr lang="es-MX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,</m:t>
                            </m:r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𝐴</m:t>
                            </m:r>
                          </m:e>
                        </m:d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𝐶h𝑜𝑢</m:t>
                            </m:r>
                            <m:r>
                              <a:rPr lang="es-MX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,</m:t>
                            </m:r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𝐶</m:t>
                            </m:r>
                          </m:e>
                        </m:d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𝐺𝑜𝑜𝑑𝑓𝑟𝑖𝑒𝑑</m:t>
                            </m:r>
                            <m:r>
                              <a:rPr lang="es-MX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,</m:t>
                            </m:r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𝐵</m:t>
                            </m:r>
                          </m:e>
                        </m:d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𝑅𝑜𝑑𝑟𝑖𝑔𝑢𝑒𝑧</m:t>
                            </m:r>
                            <m:r>
                              <a:rPr lang="es-MX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,</m:t>
                            </m:r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𝐴</m:t>
                            </m:r>
                          </m:e>
                        </m:d>
                        <m:r>
                          <a:rPr lang="es-MX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d>
                          <m:dPr>
                            <m:ctrlPr>
                              <a:rPr lang="es-MX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𝑆𝑡𝑒𝑣𝑒𝑛𝑠</m:t>
                            </m:r>
                            <m:r>
                              <a:rPr lang="es-MX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,</m:t>
                            </m:r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𝐹</m:t>
                            </m:r>
                          </m:e>
                        </m:d>
                      </m:e>
                    </m:d>
                  </m:oMath>
                </a14:m>
                <a:endParaRPr lang="es-CO" dirty="0"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C4250BBD-F973-4F6C-9165-C39DC2D80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1" y="4245232"/>
                <a:ext cx="7931670" cy="1785104"/>
              </a:xfrm>
              <a:prstGeom prst="rect">
                <a:avLst/>
              </a:prstGeom>
              <a:blipFill>
                <a:blip r:embed="rId5"/>
                <a:stretch>
                  <a:fillRect l="-769" t="-1706" r="-154" b="-307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>
            <a:extLst>
              <a:ext uri="{FF2B5EF4-FFF2-40B4-BE49-F238E27FC236}">
                <a16:creationId xmlns:a16="http://schemas.microsoft.com/office/drawing/2014/main" id="{F7D81C83-A866-49C4-B07C-AD49695356C0}"/>
              </a:ext>
            </a:extLst>
          </p:cNvPr>
          <p:cNvSpPr txBox="1"/>
          <p:nvPr/>
        </p:nvSpPr>
        <p:spPr>
          <a:xfrm>
            <a:off x="8342464" y="1512438"/>
            <a:ext cx="340879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Programa en computador</a:t>
            </a:r>
            <a:r>
              <a:rPr lang="es-CO" sz="2000" dirty="0">
                <a:ea typeface="Roboto" panose="02000000000000000000" pitchFamily="2" charset="0"/>
              </a:rPr>
              <a:t>: 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>
                <a:solidFill>
                  <a:schemeClr val="tx1"/>
                </a:solidFill>
                <a:ea typeface="Roboto" panose="02000000000000000000" pitchFamily="2" charset="0"/>
              </a:rPr>
              <a:t>Uso de diccionarios o Hash Maps (</a:t>
            </a:r>
            <a:r>
              <a:rPr lang="es-CO" dirty="0">
                <a:solidFill>
                  <a:schemeClr val="tx1"/>
                </a:solidFill>
                <a:ea typeface="Roboto" panose="02000000000000000000" pitchFamily="2" charset="0"/>
                <a:hlinkClick r:id="rId6"/>
              </a:rPr>
              <a:t>link</a:t>
            </a:r>
            <a:r>
              <a:rPr lang="es-CO" dirty="0">
                <a:solidFill>
                  <a:schemeClr val="tx1"/>
                </a:solidFill>
                <a:ea typeface="Roboto" panose="02000000000000000000" pitchFamily="2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>
                <a:solidFill>
                  <a:schemeClr val="tx1"/>
                </a:solidFill>
                <a:ea typeface="Roboto" panose="02000000000000000000" pitchFamily="2" charset="0"/>
              </a:rPr>
              <a:t>Una función que use estructuras condicionales (poco practico para este caso) (</a:t>
            </a:r>
            <a:r>
              <a:rPr lang="es-CO" dirty="0">
                <a:solidFill>
                  <a:schemeClr val="tx1"/>
                </a:solidFill>
                <a:ea typeface="Roboto" panose="02000000000000000000" pitchFamily="2" charset="0"/>
                <a:hlinkClick r:id="rId7"/>
              </a:rPr>
              <a:t>link</a:t>
            </a:r>
            <a:r>
              <a:rPr lang="es-CO" dirty="0">
                <a:solidFill>
                  <a:schemeClr val="tx1"/>
                </a:solidFill>
                <a:ea typeface="Roboto" panose="0200000000000000000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56294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66701" y="96038"/>
            <a:ext cx="89539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Funciones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381000" y="912593"/>
            <a:ext cx="10037618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tx1"/>
                </a:solidFill>
              </a:rPr>
              <a:t>Ejemplo 2 - Solución</a:t>
            </a:r>
            <a:endParaRPr lang="es-MX" dirty="0">
              <a:solidFill>
                <a:schemeClr val="tx1"/>
              </a:solidFill>
            </a:endParaRPr>
          </a:p>
          <a:p>
            <a:pPr indent="0">
              <a:buFont typeface="Roboto"/>
              <a:buNone/>
            </a:pPr>
            <a:endParaRPr lang="es-MX" sz="2400" dirty="0">
              <a:solidFill>
                <a:schemeClr val="tx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1FD24C6-A586-4CCE-83AA-ED6F5C9A3252}"/>
              </a:ext>
            </a:extLst>
          </p:cNvPr>
          <p:cNvSpPr txBox="1"/>
          <p:nvPr/>
        </p:nvSpPr>
        <p:spPr>
          <a:xfrm>
            <a:off x="487289" y="1760995"/>
            <a:ext cx="2292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Función</a:t>
            </a:r>
            <a:r>
              <a:rPr lang="es-CO" sz="2000" dirty="0">
                <a:ea typeface="Roboto" panose="02000000000000000000" pitchFamily="2" charset="0"/>
              </a:rPr>
              <a:t>: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56B190D-932C-4331-81E9-442753794017}"/>
              </a:ext>
            </a:extLst>
          </p:cNvPr>
          <p:cNvSpPr txBox="1"/>
          <p:nvPr/>
        </p:nvSpPr>
        <p:spPr>
          <a:xfrm>
            <a:off x="4022399" y="1749589"/>
            <a:ext cx="3544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Diagrama de flechas (mapeo)</a:t>
            </a:r>
            <a:r>
              <a:rPr lang="es-CO" sz="2000" dirty="0">
                <a:ea typeface="Roboto" panose="02000000000000000000" pitchFamily="2" charset="0"/>
              </a:rPr>
              <a:t>: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7D81C83-A866-49C4-B07C-AD49695356C0}"/>
              </a:ext>
            </a:extLst>
          </p:cNvPr>
          <p:cNvSpPr txBox="1"/>
          <p:nvPr/>
        </p:nvSpPr>
        <p:spPr>
          <a:xfrm>
            <a:off x="7968431" y="5971384"/>
            <a:ext cx="340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ea typeface="Roboto" panose="02000000000000000000" pitchFamily="2" charset="0"/>
              </a:rPr>
              <a:t>Programa en computador</a:t>
            </a:r>
            <a:r>
              <a:rPr lang="es-CO" dirty="0">
                <a:solidFill>
                  <a:srgbClr val="C00000"/>
                </a:solidFill>
                <a:ea typeface="Roboto" panose="02000000000000000000" pitchFamily="2" charset="0"/>
              </a:rPr>
              <a:t> </a:t>
            </a:r>
            <a:r>
              <a:rPr lang="es-CO" dirty="0">
                <a:solidFill>
                  <a:schemeClr val="tx1"/>
                </a:solidFill>
                <a:ea typeface="Roboto" panose="02000000000000000000" pitchFamily="2" charset="0"/>
              </a:rPr>
              <a:t>(</a:t>
            </a:r>
            <a:r>
              <a:rPr lang="es-CO" dirty="0">
                <a:solidFill>
                  <a:schemeClr val="tx1"/>
                </a:solidFill>
                <a:ea typeface="Roboto" panose="02000000000000000000" pitchFamily="2" charset="0"/>
                <a:hlinkClick r:id="rId3"/>
              </a:rPr>
              <a:t>link</a:t>
            </a:r>
            <a:r>
              <a:rPr lang="es-CO" dirty="0">
                <a:solidFill>
                  <a:schemeClr val="tx1"/>
                </a:solidFill>
                <a:ea typeface="Roboto" panose="02000000000000000000" pitchFamily="2" charset="0"/>
              </a:rPr>
              <a:t>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2767BC-4DE4-484A-BE5B-807C35DC3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77" y="3024931"/>
            <a:ext cx="2763428" cy="3097125"/>
          </a:xfrm>
          <a:prstGeom prst="rect">
            <a:avLst/>
          </a:prstGeom>
        </p:spPr>
      </p:pic>
      <p:grpSp>
        <p:nvGrpSpPr>
          <p:cNvPr id="56" name="Grupo 55">
            <a:extLst>
              <a:ext uri="{FF2B5EF4-FFF2-40B4-BE49-F238E27FC236}">
                <a16:creationId xmlns:a16="http://schemas.microsoft.com/office/drawing/2014/main" id="{105E278F-F6A1-40C5-B9A5-7FA97CD1520C}"/>
              </a:ext>
            </a:extLst>
          </p:cNvPr>
          <p:cNvGrpSpPr/>
          <p:nvPr/>
        </p:nvGrpSpPr>
        <p:grpSpPr>
          <a:xfrm>
            <a:off x="4159182" y="2550021"/>
            <a:ext cx="3043752" cy="3790695"/>
            <a:chOff x="4535049" y="2365253"/>
            <a:chExt cx="3043752" cy="3790695"/>
          </a:xfrm>
        </p:grpSpPr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0C646354-0FF4-471E-AA67-8AA4B555EA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1664" y="2967038"/>
              <a:ext cx="1416799" cy="5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C18C2D89-636F-4254-B556-0E26A7A735DD}"/>
                </a:ext>
              </a:extLst>
            </p:cNvPr>
            <p:cNvGrpSpPr/>
            <p:nvPr/>
          </p:nvGrpSpPr>
          <p:grpSpPr>
            <a:xfrm>
              <a:off x="4535049" y="2387601"/>
              <a:ext cx="1408287" cy="3768347"/>
              <a:chOff x="4535049" y="2387601"/>
              <a:chExt cx="1408287" cy="37683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1D873A68-A362-4A74-9518-4780CD4A0047}"/>
                      </a:ext>
                    </a:extLst>
                  </p:cNvPr>
                  <p:cNvSpPr txBox="1"/>
                  <p:nvPr/>
                </p:nvSpPr>
                <p:spPr>
                  <a:xfrm>
                    <a:off x="4535049" y="5786616"/>
                    <a:ext cx="140828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s-MX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d>
                            <m:dPr>
                              <m:ctrlPr>
                                <a:rPr lang="es-MX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oMath>
                      </m:oMathPara>
                    </a14:m>
                    <a:endParaRPr lang="es-CO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1D873A68-A362-4A74-9518-4780CD4A00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35049" y="5786616"/>
                    <a:ext cx="140828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5000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3B3B1EDE-1F69-40DE-BE99-4D158FF989EA}"/>
                  </a:ext>
                </a:extLst>
              </p:cNvPr>
              <p:cNvGrpSpPr/>
              <p:nvPr/>
            </p:nvGrpSpPr>
            <p:grpSpPr>
              <a:xfrm>
                <a:off x="4718477" y="2387601"/>
                <a:ext cx="914760" cy="3303149"/>
                <a:chOff x="4718477" y="2387601"/>
                <a:chExt cx="914760" cy="3303149"/>
              </a:xfrm>
            </p:grpSpPr>
            <p:sp>
              <p:nvSpPr>
                <p:cNvPr id="26" name="Elipse 25">
                  <a:extLst>
                    <a:ext uri="{FF2B5EF4-FFF2-40B4-BE49-F238E27FC236}">
                      <a16:creationId xmlns:a16="http://schemas.microsoft.com/office/drawing/2014/main" id="{D3A119E8-F06C-4823-9242-CA3396D555EF}"/>
                    </a:ext>
                  </a:extLst>
                </p:cNvPr>
                <p:cNvSpPr/>
                <p:nvPr/>
              </p:nvSpPr>
              <p:spPr>
                <a:xfrm>
                  <a:off x="4718477" y="2387601"/>
                  <a:ext cx="914760" cy="330314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CuadroTexto 29">
                      <a:extLst>
                        <a:ext uri="{FF2B5EF4-FFF2-40B4-BE49-F238E27FC236}">
                          <a16:creationId xmlns:a16="http://schemas.microsoft.com/office/drawing/2014/main" id="{4274521E-673E-4F09-A6DD-8B7DB97F20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88311" y="2790082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CuadroTexto 29">
                      <a:extLst>
                        <a:ext uri="{FF2B5EF4-FFF2-40B4-BE49-F238E27FC236}">
                          <a16:creationId xmlns:a16="http://schemas.microsoft.com/office/drawing/2014/main" id="{4274521E-673E-4F09-A6DD-8B7DB97F208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88311" y="2790082"/>
                      <a:ext cx="403774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1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CuadroTexto 35">
                      <a:extLst>
                        <a:ext uri="{FF2B5EF4-FFF2-40B4-BE49-F238E27FC236}">
                          <a16:creationId xmlns:a16="http://schemas.microsoft.com/office/drawing/2014/main" id="{EE1A3821-D209-4A01-BAA1-9656B901A6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66763" y="3189490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6" name="CuadroTexto 35">
                      <a:extLst>
                        <a:ext uri="{FF2B5EF4-FFF2-40B4-BE49-F238E27FC236}">
                          <a16:creationId xmlns:a16="http://schemas.microsoft.com/office/drawing/2014/main" id="{EE1A3821-D209-4A01-BAA1-9656B901A62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66763" y="3189490"/>
                      <a:ext cx="403774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r="-1641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CuadroTexto 36">
                      <a:extLst>
                        <a:ext uri="{FF2B5EF4-FFF2-40B4-BE49-F238E27FC236}">
                          <a16:creationId xmlns:a16="http://schemas.microsoft.com/office/drawing/2014/main" id="{EA12C215-2CAD-4BEF-8CBD-E95D54363B9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79990" y="3522922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7" name="CuadroTexto 36">
                      <a:extLst>
                        <a:ext uri="{FF2B5EF4-FFF2-40B4-BE49-F238E27FC236}">
                          <a16:creationId xmlns:a16="http://schemas.microsoft.com/office/drawing/2014/main" id="{EA12C215-2CAD-4BEF-8CBD-E95D54363B9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79990" y="3522922"/>
                      <a:ext cx="403774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r="-1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CuadroTexto 37">
                      <a:extLst>
                        <a:ext uri="{FF2B5EF4-FFF2-40B4-BE49-F238E27FC236}">
                          <a16:creationId xmlns:a16="http://schemas.microsoft.com/office/drawing/2014/main" id="{4354609E-6CC9-4726-A747-5542467DF77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57902" y="3865182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CuadroTexto 37">
                      <a:extLst>
                        <a:ext uri="{FF2B5EF4-FFF2-40B4-BE49-F238E27FC236}">
                          <a16:creationId xmlns:a16="http://schemas.microsoft.com/office/drawing/2014/main" id="{4354609E-6CC9-4726-A747-5542467DF77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57902" y="3865182"/>
                      <a:ext cx="403774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CuadroTexto 38">
                      <a:extLst>
                        <a:ext uri="{FF2B5EF4-FFF2-40B4-BE49-F238E27FC236}">
                          <a16:creationId xmlns:a16="http://schemas.microsoft.com/office/drawing/2014/main" id="{9123340A-EDF0-4E8D-8609-BA277B98B0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53211" y="4209823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CuadroTexto 38">
                      <a:extLst>
                        <a:ext uri="{FF2B5EF4-FFF2-40B4-BE49-F238E27FC236}">
                          <a16:creationId xmlns:a16="http://schemas.microsoft.com/office/drawing/2014/main" id="{9123340A-EDF0-4E8D-8609-BA277B98B00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53211" y="4209823"/>
                      <a:ext cx="40377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CuadroTexto 39">
                      <a:extLst>
                        <a:ext uri="{FF2B5EF4-FFF2-40B4-BE49-F238E27FC236}">
                          <a16:creationId xmlns:a16="http://schemas.microsoft.com/office/drawing/2014/main" id="{2876C44D-0FE6-4001-BFD3-7E714EE4C6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53211" y="4556172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0" name="CuadroTexto 39">
                      <a:extLst>
                        <a:ext uri="{FF2B5EF4-FFF2-40B4-BE49-F238E27FC236}">
                          <a16:creationId xmlns:a16="http://schemas.microsoft.com/office/drawing/2014/main" id="{2876C44D-0FE6-4001-BFD3-7E714EE4C6D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53211" y="4556172"/>
                      <a:ext cx="403774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CuadroTexto 40">
                      <a:extLst>
                        <a:ext uri="{FF2B5EF4-FFF2-40B4-BE49-F238E27FC236}">
                          <a16:creationId xmlns:a16="http://schemas.microsoft.com/office/drawing/2014/main" id="{1AB99D05-7265-4649-BA93-977C2EA302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48519" y="4863062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1" name="CuadroTexto 40">
                      <a:extLst>
                        <a:ext uri="{FF2B5EF4-FFF2-40B4-BE49-F238E27FC236}">
                          <a16:creationId xmlns:a16="http://schemas.microsoft.com/office/drawing/2014/main" id="{1AB99D05-7265-4649-BA93-977C2EA3027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48519" y="4863062"/>
                      <a:ext cx="403774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CuadroTexto 50">
                      <a:extLst>
                        <a:ext uri="{FF2B5EF4-FFF2-40B4-BE49-F238E27FC236}">
                          <a16:creationId xmlns:a16="http://schemas.microsoft.com/office/drawing/2014/main" id="{C26ECB3C-9B21-43CE-A03F-3A11405288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27890" y="2448447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1" name="CuadroTexto 50">
                      <a:extLst>
                        <a:ext uri="{FF2B5EF4-FFF2-40B4-BE49-F238E27FC236}">
                          <a16:creationId xmlns:a16="http://schemas.microsoft.com/office/drawing/2014/main" id="{C26ECB3C-9B21-43CE-A03F-3A114052880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27890" y="2448447"/>
                      <a:ext cx="403774" cy="3693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CuadroTexto 51">
                      <a:extLst>
                        <a:ext uri="{FF2B5EF4-FFF2-40B4-BE49-F238E27FC236}">
                          <a16:creationId xmlns:a16="http://schemas.microsoft.com/office/drawing/2014/main" id="{A47C6023-4351-4717-9F3B-767FD79E6B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27890" y="5132386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2" name="CuadroTexto 51">
                      <a:extLst>
                        <a:ext uri="{FF2B5EF4-FFF2-40B4-BE49-F238E27FC236}">
                          <a16:creationId xmlns:a16="http://schemas.microsoft.com/office/drawing/2014/main" id="{A47C6023-4351-4717-9F3B-767FD79E6B5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27890" y="5132386"/>
                      <a:ext cx="403774" cy="369332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AA3E28D2-36BB-44F0-A12D-0DAAE985E352}"/>
                </a:ext>
              </a:extLst>
            </p:cNvPr>
            <p:cNvGrpSpPr/>
            <p:nvPr/>
          </p:nvGrpSpPr>
          <p:grpSpPr>
            <a:xfrm>
              <a:off x="6170514" y="2365253"/>
              <a:ext cx="1408287" cy="3790695"/>
              <a:chOff x="6170514" y="2365253"/>
              <a:chExt cx="1408287" cy="3790695"/>
            </a:xfrm>
          </p:grpSpPr>
          <p:grpSp>
            <p:nvGrpSpPr>
              <p:cNvPr id="7" name="Grupo 6">
                <a:extLst>
                  <a:ext uri="{FF2B5EF4-FFF2-40B4-BE49-F238E27FC236}">
                    <a16:creationId xmlns:a16="http://schemas.microsoft.com/office/drawing/2014/main" id="{151A0933-529F-494C-A479-551D284C356B}"/>
                  </a:ext>
                </a:extLst>
              </p:cNvPr>
              <p:cNvGrpSpPr/>
              <p:nvPr/>
            </p:nvGrpSpPr>
            <p:grpSpPr>
              <a:xfrm>
                <a:off x="6414037" y="2365253"/>
                <a:ext cx="914760" cy="3325497"/>
                <a:chOff x="6269460" y="2365253"/>
                <a:chExt cx="914760" cy="3325497"/>
              </a:xfrm>
            </p:grpSpPr>
            <p:sp>
              <p:nvSpPr>
                <p:cNvPr id="43" name="Elipse 42">
                  <a:extLst>
                    <a:ext uri="{FF2B5EF4-FFF2-40B4-BE49-F238E27FC236}">
                      <a16:creationId xmlns:a16="http://schemas.microsoft.com/office/drawing/2014/main" id="{6E2CA1B9-FF6B-4E88-A2A3-41994F12FB5E}"/>
                    </a:ext>
                  </a:extLst>
                </p:cNvPr>
                <p:cNvSpPr/>
                <p:nvPr/>
              </p:nvSpPr>
              <p:spPr>
                <a:xfrm>
                  <a:off x="6269460" y="2365253"/>
                  <a:ext cx="914760" cy="332549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CuadroTexto 43">
                      <a:extLst>
                        <a:ext uri="{FF2B5EF4-FFF2-40B4-BE49-F238E27FC236}">
                          <a16:creationId xmlns:a16="http://schemas.microsoft.com/office/drawing/2014/main" id="{DA80FE94-9A83-4D02-8B6C-6772CD4AEA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8194" y="2789044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4" name="CuadroTexto 43">
                      <a:extLst>
                        <a:ext uri="{FF2B5EF4-FFF2-40B4-BE49-F238E27FC236}">
                          <a16:creationId xmlns:a16="http://schemas.microsoft.com/office/drawing/2014/main" id="{DA80FE94-9A83-4D02-8B6C-6772CD4AEAF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8194" y="2789044"/>
                      <a:ext cx="403774" cy="369332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CuadroTexto 44">
                      <a:extLst>
                        <a:ext uri="{FF2B5EF4-FFF2-40B4-BE49-F238E27FC236}">
                          <a16:creationId xmlns:a16="http://schemas.microsoft.com/office/drawing/2014/main" id="{39367F1D-F9D3-4D3B-8887-BBFB20BEB89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19346" y="3188452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5" name="CuadroTexto 44">
                      <a:extLst>
                        <a:ext uri="{FF2B5EF4-FFF2-40B4-BE49-F238E27FC236}">
                          <a16:creationId xmlns:a16="http://schemas.microsoft.com/office/drawing/2014/main" id="{39367F1D-F9D3-4D3B-8887-BBFB20BEB89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19346" y="3188452"/>
                      <a:ext cx="403774" cy="36933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CuadroTexto 45">
                      <a:extLst>
                        <a:ext uri="{FF2B5EF4-FFF2-40B4-BE49-F238E27FC236}">
                          <a16:creationId xmlns:a16="http://schemas.microsoft.com/office/drawing/2014/main" id="{E364EAB6-52B8-4690-83CD-B29A190B573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7173" y="3521884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6" name="CuadroTexto 45">
                      <a:extLst>
                        <a:ext uri="{FF2B5EF4-FFF2-40B4-BE49-F238E27FC236}">
                          <a16:creationId xmlns:a16="http://schemas.microsoft.com/office/drawing/2014/main" id="{E364EAB6-52B8-4690-83CD-B29A190B57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7173" y="3521884"/>
                      <a:ext cx="403774" cy="369332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CuadroTexto 46">
                      <a:extLst>
                        <a:ext uri="{FF2B5EF4-FFF2-40B4-BE49-F238E27FC236}">
                          <a16:creationId xmlns:a16="http://schemas.microsoft.com/office/drawing/2014/main" id="{C39827E2-DDAF-4356-A481-77E0AB72700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8885" y="3864144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CuadroTexto 46">
                      <a:extLst>
                        <a:ext uri="{FF2B5EF4-FFF2-40B4-BE49-F238E27FC236}">
                          <a16:creationId xmlns:a16="http://schemas.microsoft.com/office/drawing/2014/main" id="{C39827E2-DDAF-4356-A481-77E0AB72700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8885" y="3864144"/>
                      <a:ext cx="403774" cy="369332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CuadroTexto 47">
                      <a:extLst>
                        <a:ext uri="{FF2B5EF4-FFF2-40B4-BE49-F238E27FC236}">
                          <a16:creationId xmlns:a16="http://schemas.microsoft.com/office/drawing/2014/main" id="{93DC2905-5525-4AFD-857F-F117FB7E77A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4194" y="4208785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8" name="CuadroTexto 47">
                      <a:extLst>
                        <a:ext uri="{FF2B5EF4-FFF2-40B4-BE49-F238E27FC236}">
                          <a16:creationId xmlns:a16="http://schemas.microsoft.com/office/drawing/2014/main" id="{93DC2905-5525-4AFD-857F-F117FB7E77A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4194" y="4208785"/>
                      <a:ext cx="403774" cy="369332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CuadroTexto 48">
                      <a:extLst>
                        <a:ext uri="{FF2B5EF4-FFF2-40B4-BE49-F238E27FC236}">
                          <a16:creationId xmlns:a16="http://schemas.microsoft.com/office/drawing/2014/main" id="{33847D33-3941-494F-8393-50A9375FF5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4194" y="4555134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9" name="CuadroTexto 48">
                      <a:extLst>
                        <a:ext uri="{FF2B5EF4-FFF2-40B4-BE49-F238E27FC236}">
                          <a16:creationId xmlns:a16="http://schemas.microsoft.com/office/drawing/2014/main" id="{33847D33-3941-494F-8393-50A9375FF5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4194" y="4555134"/>
                      <a:ext cx="403774" cy="369332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CuadroTexto 49">
                      <a:extLst>
                        <a:ext uri="{FF2B5EF4-FFF2-40B4-BE49-F238E27FC236}">
                          <a16:creationId xmlns:a16="http://schemas.microsoft.com/office/drawing/2014/main" id="{EE6A5D37-7665-4489-B135-3DE670FE29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99502" y="4862024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CuadroTexto 49">
                      <a:extLst>
                        <a:ext uri="{FF2B5EF4-FFF2-40B4-BE49-F238E27FC236}">
                          <a16:creationId xmlns:a16="http://schemas.microsoft.com/office/drawing/2014/main" id="{EE6A5D37-7665-4489-B135-3DE670FE297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99502" y="4862024"/>
                      <a:ext cx="403774" cy="369332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3" name="CuadroTexto 52">
                      <a:extLst>
                        <a:ext uri="{FF2B5EF4-FFF2-40B4-BE49-F238E27FC236}">
                          <a16:creationId xmlns:a16="http://schemas.microsoft.com/office/drawing/2014/main" id="{D98BF1C0-F438-4BAA-A8FA-0E1281B04E1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1778" y="5090285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3" name="CuadroTexto 52">
                      <a:extLst>
                        <a:ext uri="{FF2B5EF4-FFF2-40B4-BE49-F238E27FC236}">
                          <a16:creationId xmlns:a16="http://schemas.microsoft.com/office/drawing/2014/main" id="{D98BF1C0-F438-4BAA-A8FA-0E1281B04E1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1778" y="5090285"/>
                      <a:ext cx="403774" cy="369332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CuadroTexto 53">
                      <a:extLst>
                        <a:ext uri="{FF2B5EF4-FFF2-40B4-BE49-F238E27FC236}">
                          <a16:creationId xmlns:a16="http://schemas.microsoft.com/office/drawing/2014/main" id="{92694F0B-B9EB-488E-8D37-9A3E7156AE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8194" y="2410593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4" name="CuadroTexto 53">
                      <a:extLst>
                        <a:ext uri="{FF2B5EF4-FFF2-40B4-BE49-F238E27FC236}">
                          <a16:creationId xmlns:a16="http://schemas.microsoft.com/office/drawing/2014/main" id="{92694F0B-B9EB-488E-8D37-9A3E7156AED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8194" y="2410593"/>
                      <a:ext cx="403774" cy="369332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CuadroTexto 54">
                    <a:extLst>
                      <a:ext uri="{FF2B5EF4-FFF2-40B4-BE49-F238E27FC236}">
                        <a16:creationId xmlns:a16="http://schemas.microsoft.com/office/drawing/2014/main" id="{2D33F0A0-AFF7-4336-AF97-B84F3CBDE314}"/>
                      </a:ext>
                    </a:extLst>
                  </p:cNvPr>
                  <p:cNvSpPr txBox="1"/>
                  <p:nvPr/>
                </p:nvSpPr>
                <p:spPr>
                  <a:xfrm>
                    <a:off x="6170514" y="5786616"/>
                    <a:ext cx="140828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s-MX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s-MX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oMath>
                      </m:oMathPara>
                    </a14:m>
                    <a:endParaRPr lang="es-CO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" name="CuadroTexto 54">
                    <a:extLst>
                      <a:ext uri="{FF2B5EF4-FFF2-40B4-BE49-F238E27FC236}">
                        <a16:creationId xmlns:a16="http://schemas.microsoft.com/office/drawing/2014/main" id="{2D33F0A0-AFF7-4336-AF97-B84F3CBDE3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0514" y="5786616"/>
                    <a:ext cx="1408287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b="-15000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A6DEE55B-8A9D-4CF2-BE4F-B529A377AD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1663" y="3380361"/>
              <a:ext cx="1416799" cy="5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de flecha 57">
              <a:extLst>
                <a:ext uri="{FF2B5EF4-FFF2-40B4-BE49-F238E27FC236}">
                  <a16:creationId xmlns:a16="http://schemas.microsoft.com/office/drawing/2014/main" id="{A957B518-6220-465E-9A21-662B9273FF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6426" y="3708973"/>
              <a:ext cx="1416799" cy="5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de flecha 58">
              <a:extLst>
                <a:ext uri="{FF2B5EF4-FFF2-40B4-BE49-F238E27FC236}">
                  <a16:creationId xmlns:a16="http://schemas.microsoft.com/office/drawing/2014/main" id="{A0275133-D0F7-44C1-8091-818ECDA54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6901" y="4051873"/>
              <a:ext cx="1416799" cy="5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de flecha 59">
              <a:extLst>
                <a:ext uri="{FF2B5EF4-FFF2-40B4-BE49-F238E27FC236}">
                  <a16:creationId xmlns:a16="http://schemas.microsoft.com/office/drawing/2014/main" id="{E5992FFF-F8AB-4652-A15D-9F4AB65049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2614" y="4399535"/>
              <a:ext cx="1416799" cy="5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de flecha 60">
              <a:extLst>
                <a:ext uri="{FF2B5EF4-FFF2-40B4-BE49-F238E27FC236}">
                  <a16:creationId xmlns:a16="http://schemas.microsoft.com/office/drawing/2014/main" id="{900F6A10-2C30-494A-91DB-646EDC1A2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2614" y="4742435"/>
              <a:ext cx="1416799" cy="5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de flecha 61">
              <a:extLst>
                <a:ext uri="{FF2B5EF4-FFF2-40B4-BE49-F238E27FC236}">
                  <a16:creationId xmlns:a16="http://schemas.microsoft.com/office/drawing/2014/main" id="{717D6E68-A634-4C60-BBED-129CA1A233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6901" y="5037725"/>
              <a:ext cx="1416799" cy="5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7" name="Imagen 256">
            <a:extLst>
              <a:ext uri="{FF2B5EF4-FFF2-40B4-BE49-F238E27FC236}">
                <a16:creationId xmlns:a16="http://schemas.microsoft.com/office/drawing/2014/main" id="{DCF3D868-E778-4883-B150-403ED84B5A4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17711" y="2475613"/>
            <a:ext cx="3823900" cy="2867925"/>
          </a:xfrm>
          <a:prstGeom prst="rect">
            <a:avLst/>
          </a:prstGeom>
        </p:spPr>
      </p:pic>
      <p:sp>
        <p:nvSpPr>
          <p:cNvPr id="67" name="CuadroTexto 66">
            <a:extLst>
              <a:ext uri="{FF2B5EF4-FFF2-40B4-BE49-F238E27FC236}">
                <a16:creationId xmlns:a16="http://schemas.microsoft.com/office/drawing/2014/main" id="{250193E9-D221-4E73-B4EE-2D382EF30361}"/>
              </a:ext>
            </a:extLst>
          </p:cNvPr>
          <p:cNvSpPr txBox="1"/>
          <p:nvPr/>
        </p:nvSpPr>
        <p:spPr>
          <a:xfrm>
            <a:off x="7913204" y="1774908"/>
            <a:ext cx="35284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Grafica en el plano cartesiano</a:t>
            </a:r>
            <a:r>
              <a:rPr lang="es-CO" sz="2000" dirty="0">
                <a:ea typeface="Roboto" panose="02000000000000000000" pitchFamily="2" charset="0"/>
              </a:rPr>
              <a:t>: 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1052BFDE-4794-4A1F-85C4-6C3882FE4775}"/>
              </a:ext>
            </a:extLst>
          </p:cNvPr>
          <p:cNvSpPr txBox="1"/>
          <p:nvPr/>
        </p:nvSpPr>
        <p:spPr>
          <a:xfrm>
            <a:off x="455840" y="2622738"/>
            <a:ext cx="3343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Tabla de valores</a:t>
            </a:r>
            <a:r>
              <a:rPr lang="es-CO" sz="2000" dirty="0">
                <a:ea typeface="Roboto" panose="02000000000000000000" pitchFamily="2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CuadroTexto 257">
                <a:extLst>
                  <a:ext uri="{FF2B5EF4-FFF2-40B4-BE49-F238E27FC236}">
                    <a16:creationId xmlns:a16="http://schemas.microsoft.com/office/drawing/2014/main" id="{5DFA581B-7E7E-4A00-AC6D-8EE0ED3481AF}"/>
                  </a:ext>
                </a:extLst>
              </p:cNvPr>
              <p:cNvSpPr txBox="1"/>
              <p:nvPr/>
            </p:nvSpPr>
            <p:spPr>
              <a:xfrm>
                <a:off x="1658413" y="2181444"/>
                <a:ext cx="726674" cy="283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258" name="CuadroTexto 257">
                <a:extLst>
                  <a:ext uri="{FF2B5EF4-FFF2-40B4-BE49-F238E27FC236}">
                    <a16:creationId xmlns:a16="http://schemas.microsoft.com/office/drawing/2014/main" id="{5DFA581B-7E7E-4A00-AC6D-8EE0ED348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413" y="2181444"/>
                <a:ext cx="726674" cy="283219"/>
              </a:xfrm>
              <a:prstGeom prst="rect">
                <a:avLst/>
              </a:prstGeom>
              <a:blipFill>
                <a:blip r:embed="rId26"/>
                <a:stretch>
                  <a:fillRect l="-8403" t="-4348" r="-3361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4626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406400" y="96038"/>
            <a:ext cx="88142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Funciones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508000" y="780067"/>
            <a:ext cx="9910618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tx1"/>
                </a:solidFill>
                <a:latin typeface="+mn-lt"/>
              </a:rPr>
              <a:t>Ejemplo 3 - Solución</a:t>
            </a:r>
            <a:endParaRPr lang="es-MX" dirty="0">
              <a:solidFill>
                <a:schemeClr val="tx1"/>
              </a:solidFill>
              <a:latin typeface="+mn-lt"/>
            </a:endParaRPr>
          </a:p>
          <a:p>
            <a:pPr indent="0">
              <a:buFont typeface="Roboto"/>
              <a:buNone/>
            </a:pPr>
            <a:endParaRPr lang="es-MX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1FD24C6-A586-4CCE-83AA-ED6F5C9A3252}"/>
              </a:ext>
            </a:extLst>
          </p:cNvPr>
          <p:cNvSpPr txBox="1"/>
          <p:nvPr/>
        </p:nvSpPr>
        <p:spPr>
          <a:xfrm>
            <a:off x="663316" y="1464946"/>
            <a:ext cx="3343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Función</a:t>
            </a:r>
            <a:r>
              <a:rPr lang="es-CO" sz="2000" dirty="0">
                <a:ea typeface="Roboto" panose="02000000000000000000" pitchFamily="2" charset="0"/>
              </a:rPr>
              <a:t>: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56B190D-932C-4331-81E9-442753794017}"/>
              </a:ext>
            </a:extLst>
          </p:cNvPr>
          <p:cNvSpPr txBox="1"/>
          <p:nvPr/>
        </p:nvSpPr>
        <p:spPr>
          <a:xfrm>
            <a:off x="4131547" y="1545412"/>
            <a:ext cx="3343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Diagrama de flechas (mapeo)</a:t>
            </a:r>
            <a:r>
              <a:rPr lang="es-CO" sz="2000" dirty="0">
                <a:ea typeface="Roboto" panose="02000000000000000000" pitchFamily="2" charset="0"/>
              </a:rPr>
              <a:t>: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7D81C83-A866-49C4-B07C-AD49695356C0}"/>
              </a:ext>
            </a:extLst>
          </p:cNvPr>
          <p:cNvSpPr txBox="1"/>
          <p:nvPr/>
        </p:nvSpPr>
        <p:spPr>
          <a:xfrm>
            <a:off x="7971536" y="4471473"/>
            <a:ext cx="3816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Programa en computador</a:t>
            </a:r>
            <a:r>
              <a:rPr lang="es-CO" sz="2000" dirty="0">
                <a:ea typeface="Roboto" panose="02000000000000000000" pitchFamily="2" charset="0"/>
              </a:rPr>
              <a:t> </a:t>
            </a:r>
            <a:r>
              <a:rPr lang="es-CO" sz="2000" dirty="0">
                <a:solidFill>
                  <a:schemeClr val="tx1"/>
                </a:solidFill>
                <a:ea typeface="Roboto" panose="02000000000000000000" pitchFamily="2" charset="0"/>
              </a:rPr>
              <a:t>(</a:t>
            </a:r>
            <a:r>
              <a:rPr lang="es-CO" sz="2000" dirty="0">
                <a:solidFill>
                  <a:schemeClr val="tx1"/>
                </a:solidFill>
                <a:ea typeface="Roboto" panose="02000000000000000000" pitchFamily="2" charset="0"/>
                <a:hlinkClick r:id="rId3"/>
              </a:rPr>
              <a:t>link</a:t>
            </a:r>
            <a:r>
              <a:rPr lang="es-CO" sz="2000" dirty="0">
                <a:solidFill>
                  <a:schemeClr val="tx1"/>
                </a:solidFill>
                <a:ea typeface="Roboto" panose="02000000000000000000" pitchFamily="2" charset="0"/>
              </a:rPr>
              <a:t>)</a:t>
            </a: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105E278F-F6A1-40C5-B9A5-7FA97CD1520C}"/>
              </a:ext>
            </a:extLst>
          </p:cNvPr>
          <p:cNvGrpSpPr/>
          <p:nvPr/>
        </p:nvGrpSpPr>
        <p:grpSpPr>
          <a:xfrm>
            <a:off x="4167638" y="2116913"/>
            <a:ext cx="3043752" cy="3790695"/>
            <a:chOff x="4535049" y="2365253"/>
            <a:chExt cx="3043752" cy="3790695"/>
          </a:xfrm>
        </p:grpSpPr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0C646354-0FF4-471E-AA67-8AA4B555EA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1664" y="2967038"/>
              <a:ext cx="1416799" cy="5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C18C2D89-636F-4254-B556-0E26A7A735DD}"/>
                </a:ext>
              </a:extLst>
            </p:cNvPr>
            <p:cNvGrpSpPr/>
            <p:nvPr/>
          </p:nvGrpSpPr>
          <p:grpSpPr>
            <a:xfrm>
              <a:off x="4535049" y="2387601"/>
              <a:ext cx="1408287" cy="3768347"/>
              <a:chOff x="4535049" y="2387601"/>
              <a:chExt cx="1408287" cy="376834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1D873A68-A362-4A74-9518-4780CD4A0047}"/>
                      </a:ext>
                    </a:extLst>
                  </p:cNvPr>
                  <p:cNvSpPr txBox="1"/>
                  <p:nvPr/>
                </p:nvSpPr>
                <p:spPr>
                  <a:xfrm>
                    <a:off x="4535049" y="5786616"/>
                    <a:ext cx="140828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s-MX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d>
                            <m:dPr>
                              <m:ctrlPr>
                                <a:rPr lang="es-MX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oMath>
                      </m:oMathPara>
                    </a14:m>
                    <a:endParaRPr lang="es-CO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1D873A68-A362-4A74-9518-4780CD4A00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35049" y="5786616"/>
                    <a:ext cx="140828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3B3B1EDE-1F69-40DE-BE99-4D158FF989EA}"/>
                  </a:ext>
                </a:extLst>
              </p:cNvPr>
              <p:cNvGrpSpPr/>
              <p:nvPr/>
            </p:nvGrpSpPr>
            <p:grpSpPr>
              <a:xfrm>
                <a:off x="4718477" y="2387601"/>
                <a:ext cx="914760" cy="3303149"/>
                <a:chOff x="4718477" y="2387601"/>
                <a:chExt cx="914760" cy="3303149"/>
              </a:xfrm>
            </p:grpSpPr>
            <p:sp>
              <p:nvSpPr>
                <p:cNvPr id="26" name="Elipse 25">
                  <a:extLst>
                    <a:ext uri="{FF2B5EF4-FFF2-40B4-BE49-F238E27FC236}">
                      <a16:creationId xmlns:a16="http://schemas.microsoft.com/office/drawing/2014/main" id="{D3A119E8-F06C-4823-9242-CA3396D555EF}"/>
                    </a:ext>
                  </a:extLst>
                </p:cNvPr>
                <p:cNvSpPr/>
                <p:nvPr/>
              </p:nvSpPr>
              <p:spPr>
                <a:xfrm>
                  <a:off x="4718477" y="2387601"/>
                  <a:ext cx="914760" cy="330314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CuadroTexto 29">
                      <a:extLst>
                        <a:ext uri="{FF2B5EF4-FFF2-40B4-BE49-F238E27FC236}">
                          <a16:creationId xmlns:a16="http://schemas.microsoft.com/office/drawing/2014/main" id="{4274521E-673E-4F09-A6DD-8B7DB97F20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61789" y="2775568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CuadroTexto 29">
                      <a:extLst>
                        <a:ext uri="{FF2B5EF4-FFF2-40B4-BE49-F238E27FC236}">
                          <a16:creationId xmlns:a16="http://schemas.microsoft.com/office/drawing/2014/main" id="{4274521E-673E-4F09-A6DD-8B7DB97F208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61789" y="2775568"/>
                      <a:ext cx="403774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CuadroTexto 35">
                      <a:extLst>
                        <a:ext uri="{FF2B5EF4-FFF2-40B4-BE49-F238E27FC236}">
                          <a16:creationId xmlns:a16="http://schemas.microsoft.com/office/drawing/2014/main" id="{EE1A3821-D209-4A01-BAA1-9656B901A6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68363" y="3189490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6" name="CuadroTexto 35">
                      <a:extLst>
                        <a:ext uri="{FF2B5EF4-FFF2-40B4-BE49-F238E27FC236}">
                          <a16:creationId xmlns:a16="http://schemas.microsoft.com/office/drawing/2014/main" id="{EE1A3821-D209-4A01-BAA1-9656B901A62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68363" y="3189490"/>
                      <a:ext cx="403774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CuadroTexto 36">
                      <a:extLst>
                        <a:ext uri="{FF2B5EF4-FFF2-40B4-BE49-F238E27FC236}">
                          <a16:creationId xmlns:a16="http://schemas.microsoft.com/office/drawing/2014/main" id="{EA12C215-2CAD-4BEF-8CBD-E95D54363B9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68890" y="3522922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7" name="CuadroTexto 36">
                      <a:extLst>
                        <a:ext uri="{FF2B5EF4-FFF2-40B4-BE49-F238E27FC236}">
                          <a16:creationId xmlns:a16="http://schemas.microsoft.com/office/drawing/2014/main" id="{EA12C215-2CAD-4BEF-8CBD-E95D54363B9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68890" y="3522922"/>
                      <a:ext cx="403774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CuadroTexto 37">
                      <a:extLst>
                        <a:ext uri="{FF2B5EF4-FFF2-40B4-BE49-F238E27FC236}">
                          <a16:creationId xmlns:a16="http://schemas.microsoft.com/office/drawing/2014/main" id="{4354609E-6CC9-4726-A747-5542467DF77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57902" y="3865182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CuadroTexto 37">
                      <a:extLst>
                        <a:ext uri="{FF2B5EF4-FFF2-40B4-BE49-F238E27FC236}">
                          <a16:creationId xmlns:a16="http://schemas.microsoft.com/office/drawing/2014/main" id="{4354609E-6CC9-4726-A747-5542467DF77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57902" y="3865182"/>
                      <a:ext cx="403774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CuadroTexto 38">
                      <a:extLst>
                        <a:ext uri="{FF2B5EF4-FFF2-40B4-BE49-F238E27FC236}">
                          <a16:creationId xmlns:a16="http://schemas.microsoft.com/office/drawing/2014/main" id="{9123340A-EDF0-4E8D-8609-BA277B98B0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53211" y="4209823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CuadroTexto 38">
                      <a:extLst>
                        <a:ext uri="{FF2B5EF4-FFF2-40B4-BE49-F238E27FC236}">
                          <a16:creationId xmlns:a16="http://schemas.microsoft.com/office/drawing/2014/main" id="{9123340A-EDF0-4E8D-8609-BA277B98B00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53211" y="4209823"/>
                      <a:ext cx="403774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CuadroTexto 39">
                      <a:extLst>
                        <a:ext uri="{FF2B5EF4-FFF2-40B4-BE49-F238E27FC236}">
                          <a16:creationId xmlns:a16="http://schemas.microsoft.com/office/drawing/2014/main" id="{2876C44D-0FE6-4001-BFD3-7E714EE4C6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53211" y="4556172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0" name="CuadroTexto 39">
                      <a:extLst>
                        <a:ext uri="{FF2B5EF4-FFF2-40B4-BE49-F238E27FC236}">
                          <a16:creationId xmlns:a16="http://schemas.microsoft.com/office/drawing/2014/main" id="{2876C44D-0FE6-4001-BFD3-7E714EE4C6D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53211" y="4556172"/>
                      <a:ext cx="403774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CuadroTexto 40">
                      <a:extLst>
                        <a:ext uri="{FF2B5EF4-FFF2-40B4-BE49-F238E27FC236}">
                          <a16:creationId xmlns:a16="http://schemas.microsoft.com/office/drawing/2014/main" id="{1AB99D05-7265-4649-BA93-977C2EA302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48519" y="4863062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1" name="CuadroTexto 40">
                      <a:extLst>
                        <a:ext uri="{FF2B5EF4-FFF2-40B4-BE49-F238E27FC236}">
                          <a16:creationId xmlns:a16="http://schemas.microsoft.com/office/drawing/2014/main" id="{1AB99D05-7265-4649-BA93-977C2EA3027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48519" y="4863062"/>
                      <a:ext cx="403774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CuadroTexto 51">
                      <a:extLst>
                        <a:ext uri="{FF2B5EF4-FFF2-40B4-BE49-F238E27FC236}">
                          <a16:creationId xmlns:a16="http://schemas.microsoft.com/office/drawing/2014/main" id="{A47C6023-4351-4717-9F3B-767FD79E6B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927890" y="5132386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2" name="CuadroTexto 51">
                      <a:extLst>
                        <a:ext uri="{FF2B5EF4-FFF2-40B4-BE49-F238E27FC236}">
                          <a16:creationId xmlns:a16="http://schemas.microsoft.com/office/drawing/2014/main" id="{A47C6023-4351-4717-9F3B-767FD79E6B5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927890" y="5132386"/>
                      <a:ext cx="403774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AA3E28D2-36BB-44F0-A12D-0DAAE985E352}"/>
                </a:ext>
              </a:extLst>
            </p:cNvPr>
            <p:cNvGrpSpPr/>
            <p:nvPr/>
          </p:nvGrpSpPr>
          <p:grpSpPr>
            <a:xfrm>
              <a:off x="6170514" y="2365253"/>
              <a:ext cx="1408287" cy="3790695"/>
              <a:chOff x="6170514" y="2365253"/>
              <a:chExt cx="1408287" cy="3790695"/>
            </a:xfrm>
          </p:grpSpPr>
          <p:grpSp>
            <p:nvGrpSpPr>
              <p:cNvPr id="7" name="Grupo 6">
                <a:extLst>
                  <a:ext uri="{FF2B5EF4-FFF2-40B4-BE49-F238E27FC236}">
                    <a16:creationId xmlns:a16="http://schemas.microsoft.com/office/drawing/2014/main" id="{151A0933-529F-494C-A479-551D284C356B}"/>
                  </a:ext>
                </a:extLst>
              </p:cNvPr>
              <p:cNvGrpSpPr/>
              <p:nvPr/>
            </p:nvGrpSpPr>
            <p:grpSpPr>
              <a:xfrm>
                <a:off x="6414037" y="2365253"/>
                <a:ext cx="914760" cy="3325497"/>
                <a:chOff x="6269460" y="2365253"/>
                <a:chExt cx="914760" cy="3325497"/>
              </a:xfrm>
            </p:grpSpPr>
            <p:sp>
              <p:nvSpPr>
                <p:cNvPr id="43" name="Elipse 42">
                  <a:extLst>
                    <a:ext uri="{FF2B5EF4-FFF2-40B4-BE49-F238E27FC236}">
                      <a16:creationId xmlns:a16="http://schemas.microsoft.com/office/drawing/2014/main" id="{6E2CA1B9-FF6B-4E88-A2A3-41994F12FB5E}"/>
                    </a:ext>
                  </a:extLst>
                </p:cNvPr>
                <p:cNvSpPr/>
                <p:nvPr/>
              </p:nvSpPr>
              <p:spPr>
                <a:xfrm>
                  <a:off x="6269460" y="2365253"/>
                  <a:ext cx="914760" cy="332549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CuadroTexto 43">
                      <a:extLst>
                        <a:ext uri="{FF2B5EF4-FFF2-40B4-BE49-F238E27FC236}">
                          <a16:creationId xmlns:a16="http://schemas.microsoft.com/office/drawing/2014/main" id="{DA80FE94-9A83-4D02-8B6C-6772CD4AEA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8194" y="2789044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4" name="CuadroTexto 43">
                      <a:extLst>
                        <a:ext uri="{FF2B5EF4-FFF2-40B4-BE49-F238E27FC236}">
                          <a16:creationId xmlns:a16="http://schemas.microsoft.com/office/drawing/2014/main" id="{DA80FE94-9A83-4D02-8B6C-6772CD4AEAF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8194" y="2789044"/>
                      <a:ext cx="403774" cy="3693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CuadroTexto 44">
                      <a:extLst>
                        <a:ext uri="{FF2B5EF4-FFF2-40B4-BE49-F238E27FC236}">
                          <a16:creationId xmlns:a16="http://schemas.microsoft.com/office/drawing/2014/main" id="{39367F1D-F9D3-4D3B-8887-BBFB20BEB89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19346" y="3188452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5" name="CuadroTexto 44">
                      <a:extLst>
                        <a:ext uri="{FF2B5EF4-FFF2-40B4-BE49-F238E27FC236}">
                          <a16:creationId xmlns:a16="http://schemas.microsoft.com/office/drawing/2014/main" id="{39367F1D-F9D3-4D3B-8887-BBFB20BEB89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19346" y="3188452"/>
                      <a:ext cx="403774" cy="369332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CuadroTexto 45">
                      <a:extLst>
                        <a:ext uri="{FF2B5EF4-FFF2-40B4-BE49-F238E27FC236}">
                          <a16:creationId xmlns:a16="http://schemas.microsoft.com/office/drawing/2014/main" id="{E364EAB6-52B8-4690-83CD-B29A190B573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7173" y="3521884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6" name="CuadroTexto 45">
                      <a:extLst>
                        <a:ext uri="{FF2B5EF4-FFF2-40B4-BE49-F238E27FC236}">
                          <a16:creationId xmlns:a16="http://schemas.microsoft.com/office/drawing/2014/main" id="{E364EAB6-52B8-4690-83CD-B29A190B573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7173" y="3521884"/>
                      <a:ext cx="403774" cy="369332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CuadroTexto 46">
                      <a:extLst>
                        <a:ext uri="{FF2B5EF4-FFF2-40B4-BE49-F238E27FC236}">
                          <a16:creationId xmlns:a16="http://schemas.microsoft.com/office/drawing/2014/main" id="{C39827E2-DDAF-4356-A481-77E0AB72700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8885" y="3864144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CuadroTexto 46">
                      <a:extLst>
                        <a:ext uri="{FF2B5EF4-FFF2-40B4-BE49-F238E27FC236}">
                          <a16:creationId xmlns:a16="http://schemas.microsoft.com/office/drawing/2014/main" id="{C39827E2-DDAF-4356-A481-77E0AB72700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8885" y="3864144"/>
                      <a:ext cx="403774" cy="36933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CuadroTexto 47">
                      <a:extLst>
                        <a:ext uri="{FF2B5EF4-FFF2-40B4-BE49-F238E27FC236}">
                          <a16:creationId xmlns:a16="http://schemas.microsoft.com/office/drawing/2014/main" id="{93DC2905-5525-4AFD-857F-F117FB7E77A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4194" y="4208785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8" name="CuadroTexto 47">
                      <a:extLst>
                        <a:ext uri="{FF2B5EF4-FFF2-40B4-BE49-F238E27FC236}">
                          <a16:creationId xmlns:a16="http://schemas.microsoft.com/office/drawing/2014/main" id="{93DC2905-5525-4AFD-857F-F117FB7E77A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4194" y="4208785"/>
                      <a:ext cx="403774" cy="369332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CuadroTexto 48">
                      <a:extLst>
                        <a:ext uri="{FF2B5EF4-FFF2-40B4-BE49-F238E27FC236}">
                          <a16:creationId xmlns:a16="http://schemas.microsoft.com/office/drawing/2014/main" id="{33847D33-3941-494F-8393-50A9375FF5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4194" y="4555134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9" name="CuadroTexto 48">
                      <a:extLst>
                        <a:ext uri="{FF2B5EF4-FFF2-40B4-BE49-F238E27FC236}">
                          <a16:creationId xmlns:a16="http://schemas.microsoft.com/office/drawing/2014/main" id="{33847D33-3941-494F-8393-50A9375FF5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4194" y="4555134"/>
                      <a:ext cx="403774" cy="369332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CuadroTexto 49">
                      <a:extLst>
                        <a:ext uri="{FF2B5EF4-FFF2-40B4-BE49-F238E27FC236}">
                          <a16:creationId xmlns:a16="http://schemas.microsoft.com/office/drawing/2014/main" id="{EE6A5D37-7665-4489-B135-3DE670FE297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99502" y="4862024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CuadroTexto 49">
                      <a:extLst>
                        <a:ext uri="{FF2B5EF4-FFF2-40B4-BE49-F238E27FC236}">
                          <a16:creationId xmlns:a16="http://schemas.microsoft.com/office/drawing/2014/main" id="{EE6A5D37-7665-4489-B135-3DE670FE297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99502" y="4862024"/>
                      <a:ext cx="403774" cy="369332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3" name="CuadroTexto 52">
                      <a:extLst>
                        <a:ext uri="{FF2B5EF4-FFF2-40B4-BE49-F238E27FC236}">
                          <a16:creationId xmlns:a16="http://schemas.microsoft.com/office/drawing/2014/main" id="{D98BF1C0-F438-4BAA-A8FA-0E1281B04E1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1778" y="5090285"/>
                      <a:ext cx="4037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right"/>
                          </m:oMathParaPr>
                          <m:oMath xmlns:m="http://schemas.openxmlformats.org/officeDocument/2006/math"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oMath>
                        </m:oMathPara>
                      </a14:m>
                      <a:endParaRPr lang="es-CO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3" name="CuadroTexto 52">
                      <a:extLst>
                        <a:ext uri="{FF2B5EF4-FFF2-40B4-BE49-F238E27FC236}">
                          <a16:creationId xmlns:a16="http://schemas.microsoft.com/office/drawing/2014/main" id="{D98BF1C0-F438-4BAA-A8FA-0E1281B04E1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1778" y="5090285"/>
                      <a:ext cx="403774" cy="369332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s-C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CuadroTexto 54">
                    <a:extLst>
                      <a:ext uri="{FF2B5EF4-FFF2-40B4-BE49-F238E27FC236}">
                        <a16:creationId xmlns:a16="http://schemas.microsoft.com/office/drawing/2014/main" id="{2D33F0A0-AFF7-4336-AF97-B84F3CBDE314}"/>
                      </a:ext>
                    </a:extLst>
                  </p:cNvPr>
                  <p:cNvSpPr txBox="1"/>
                  <p:nvPr/>
                </p:nvSpPr>
                <p:spPr>
                  <a:xfrm>
                    <a:off x="6170514" y="5786616"/>
                    <a:ext cx="140828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es-MX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d>
                            <m:dPr>
                              <m:ctrlPr>
                                <a:rPr lang="es-MX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oMath>
                      </m:oMathPara>
                    </a14:m>
                    <a:endParaRPr lang="es-CO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" name="CuadroTexto 54">
                    <a:extLst>
                      <a:ext uri="{FF2B5EF4-FFF2-40B4-BE49-F238E27FC236}">
                        <a16:creationId xmlns:a16="http://schemas.microsoft.com/office/drawing/2014/main" id="{2D33F0A0-AFF7-4336-AF97-B84F3CBDE31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70514" y="5786616"/>
                    <a:ext cx="1408287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A6DEE55B-8A9D-4CF2-BE4F-B529A377AD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1663" y="3380361"/>
              <a:ext cx="1416799" cy="5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de flecha 57">
              <a:extLst>
                <a:ext uri="{FF2B5EF4-FFF2-40B4-BE49-F238E27FC236}">
                  <a16:creationId xmlns:a16="http://schemas.microsoft.com/office/drawing/2014/main" id="{A957B518-6220-465E-9A21-662B9273FF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6426" y="3708973"/>
              <a:ext cx="1416799" cy="5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de flecha 58">
              <a:extLst>
                <a:ext uri="{FF2B5EF4-FFF2-40B4-BE49-F238E27FC236}">
                  <a16:creationId xmlns:a16="http://schemas.microsoft.com/office/drawing/2014/main" id="{A0275133-D0F7-44C1-8091-818ECDA54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6901" y="4051873"/>
              <a:ext cx="1416799" cy="5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de flecha 59">
              <a:extLst>
                <a:ext uri="{FF2B5EF4-FFF2-40B4-BE49-F238E27FC236}">
                  <a16:creationId xmlns:a16="http://schemas.microsoft.com/office/drawing/2014/main" id="{E5992FFF-F8AB-4652-A15D-9F4AB65049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2614" y="4399535"/>
              <a:ext cx="1416799" cy="5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cto de flecha 60">
              <a:extLst>
                <a:ext uri="{FF2B5EF4-FFF2-40B4-BE49-F238E27FC236}">
                  <a16:creationId xmlns:a16="http://schemas.microsoft.com/office/drawing/2014/main" id="{900F6A10-2C30-494A-91DB-646EDC1A2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2614" y="4742435"/>
              <a:ext cx="1416799" cy="5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de flecha 61">
              <a:extLst>
                <a:ext uri="{FF2B5EF4-FFF2-40B4-BE49-F238E27FC236}">
                  <a16:creationId xmlns:a16="http://schemas.microsoft.com/office/drawing/2014/main" id="{717D6E68-A634-4C60-BBED-129CA1A233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6901" y="5037725"/>
              <a:ext cx="1416799" cy="58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CuadroTexto 66">
            <a:extLst>
              <a:ext uri="{FF2B5EF4-FFF2-40B4-BE49-F238E27FC236}">
                <a16:creationId xmlns:a16="http://schemas.microsoft.com/office/drawing/2014/main" id="{250193E9-D221-4E73-B4EE-2D382EF30361}"/>
              </a:ext>
            </a:extLst>
          </p:cNvPr>
          <p:cNvSpPr txBox="1"/>
          <p:nvPr/>
        </p:nvSpPr>
        <p:spPr>
          <a:xfrm>
            <a:off x="7971536" y="1573226"/>
            <a:ext cx="3928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Grafica en el plano cartesiano</a:t>
            </a:r>
            <a:r>
              <a:rPr lang="es-CO" sz="2000" dirty="0">
                <a:ea typeface="Roboto" panose="02000000000000000000" pitchFamily="2" charset="0"/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7C6F488B-7992-48C4-A403-C3D0431E7E52}"/>
                  </a:ext>
                </a:extLst>
              </p:cNvPr>
              <p:cNvSpPr txBox="1"/>
              <p:nvPr/>
            </p:nvSpPr>
            <p:spPr>
              <a:xfrm>
                <a:off x="828676" y="1850919"/>
                <a:ext cx="2974789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≥2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7C6F488B-7992-48C4-A403-C3D0431E7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76" y="1850919"/>
                <a:ext cx="2974789" cy="88428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FCD09FD0-2CFA-4EAA-B3FE-0B4ABF5194B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4035" y="3348857"/>
            <a:ext cx="3019112" cy="2397530"/>
          </a:xfrm>
          <a:prstGeom prst="rect">
            <a:avLst/>
          </a:prstGeom>
        </p:spPr>
      </p:pic>
      <p:sp>
        <p:nvSpPr>
          <p:cNvPr id="63" name="CuadroTexto 62">
            <a:extLst>
              <a:ext uri="{FF2B5EF4-FFF2-40B4-BE49-F238E27FC236}">
                <a16:creationId xmlns:a16="http://schemas.microsoft.com/office/drawing/2014/main" id="{4DDA2479-6819-4D75-B9EE-4B40293F638D}"/>
              </a:ext>
            </a:extLst>
          </p:cNvPr>
          <p:cNvSpPr txBox="1"/>
          <p:nvPr/>
        </p:nvSpPr>
        <p:spPr>
          <a:xfrm>
            <a:off x="644415" y="2978599"/>
            <a:ext cx="3343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Tabla de valores</a:t>
            </a:r>
            <a:r>
              <a:rPr lang="es-CO" sz="2000" dirty="0">
                <a:ea typeface="Roboto" panose="02000000000000000000" pitchFamily="2" charset="0"/>
              </a:rPr>
              <a:t>: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D090193-97B3-4D7D-9EC7-FE63795760B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83729" y="1973325"/>
            <a:ext cx="3816214" cy="222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15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4"/>
          <p:cNvSpPr txBox="1">
            <a:spLocks noGrp="1"/>
          </p:cNvSpPr>
          <p:nvPr>
            <p:ph type="title"/>
          </p:nvPr>
        </p:nvSpPr>
        <p:spPr>
          <a:xfrm>
            <a:off x="230601" y="96038"/>
            <a:ext cx="899004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Funciones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Google Shape;310;p34">
            <a:extLst>
              <a:ext uri="{FF2B5EF4-FFF2-40B4-BE49-F238E27FC236}">
                <a16:creationId xmlns:a16="http://schemas.microsoft.com/office/drawing/2014/main" id="{BE15A36C-9BD2-469A-9CCF-F214389CB345}"/>
              </a:ext>
            </a:extLst>
          </p:cNvPr>
          <p:cNvSpPr txBox="1">
            <a:spLocks/>
          </p:cNvSpPr>
          <p:nvPr/>
        </p:nvSpPr>
        <p:spPr>
          <a:xfrm>
            <a:off x="230601" y="780067"/>
            <a:ext cx="9501968" cy="5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Roboto"/>
              <a:buNone/>
            </a:pPr>
            <a:r>
              <a:rPr lang="es-MX" b="1" dirty="0">
                <a:solidFill>
                  <a:schemeClr val="tx1"/>
                </a:solidFill>
                <a:latin typeface="+mn-lt"/>
              </a:rPr>
              <a:t>Ejemplo 4 – Solución </a:t>
            </a:r>
            <a:endParaRPr lang="es-MX" sz="3600" dirty="0">
              <a:solidFill>
                <a:schemeClr val="tx1"/>
              </a:solidFill>
              <a:latin typeface="+mn-lt"/>
            </a:endParaRPr>
          </a:p>
          <a:p>
            <a:pPr marL="0" indent="0">
              <a:buFont typeface="Roboto"/>
              <a:buNone/>
            </a:pPr>
            <a:endParaRPr lang="es-MX" sz="2400" dirty="0">
              <a:solidFill>
                <a:schemeClr val="tx1"/>
              </a:solidFill>
              <a:latin typeface="+mn-lt"/>
            </a:endParaRPr>
          </a:p>
          <a:p>
            <a:pPr indent="0">
              <a:buFont typeface="Roboto"/>
              <a:buNone/>
            </a:pPr>
            <a:endParaRPr lang="es-MX" sz="2400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E8EFB828-0D35-44D9-B01C-AED9A85978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68489" y="3904168"/>
                <a:ext cx="4793311" cy="14045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Dominio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𝐷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𝑓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={1,2,3,4}</m:t>
                    </m:r>
                  </m:oMath>
                </a14:m>
                <a:endParaRPr lang="es-MX" sz="2000" b="1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Codominio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Cod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𝑓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𝐵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={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0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 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1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 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 </m:t>
                    </m:r>
                    <m:r>
                      <a:rPr lang="es-MX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3</m:t>
                    </m:r>
                    <m:r>
                      <a:rPr lang="es-MX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}</m:t>
                    </m:r>
                  </m:oMath>
                </a14:m>
                <a:endParaRPr lang="es-CO" sz="2000" dirty="0"/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Rango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𝑅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𝑓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m:rPr>
                        <m:sty m:val="p"/>
                      </m:rP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Im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(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𝑓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)={0, 1, 2}⊆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E8EFB828-0D35-44D9-B01C-AED9A8597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489" y="3904168"/>
                <a:ext cx="4793311" cy="1404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E4FDFD1-DC5A-4C58-808D-8D3B24262DCE}"/>
                  </a:ext>
                </a:extLst>
              </p:cNvPr>
              <p:cNvSpPr txBox="1"/>
              <p:nvPr/>
            </p:nvSpPr>
            <p:spPr>
              <a:xfrm>
                <a:off x="404124" y="6112537"/>
                <a:ext cx="319856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𝑓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={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1,1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,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2,2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,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3,0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,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4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}</m:t>
                      </m:r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E4FDFD1-DC5A-4C58-808D-8D3B24262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24" y="6112537"/>
                <a:ext cx="3198568" cy="307777"/>
              </a:xfrm>
              <a:prstGeom prst="rect">
                <a:avLst/>
              </a:prstGeom>
              <a:blipFill>
                <a:blip r:embed="rId4"/>
                <a:stretch>
                  <a:fillRect l="-2857" t="-4000" r="-2857" b="-36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7A45DDC1-5DFD-4E7D-B25A-9786502591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9842226"/>
                  </p:ext>
                </p:extLst>
              </p:nvPr>
            </p:nvGraphicFramePr>
            <p:xfrm>
              <a:off x="875424" y="2524355"/>
              <a:ext cx="2296499" cy="1854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539641">
                      <a:extLst>
                        <a:ext uri="{9D8B030D-6E8A-4147-A177-3AD203B41FA5}">
                          <a16:colId xmlns:a16="http://schemas.microsoft.com/office/drawing/2014/main" val="748177845"/>
                        </a:ext>
                      </a:extLst>
                    </a:gridCol>
                    <a:gridCol w="1756858">
                      <a:extLst>
                        <a:ext uri="{9D8B030D-6E8A-4147-A177-3AD203B41FA5}">
                          <a16:colId xmlns:a16="http://schemas.microsoft.com/office/drawing/2014/main" val="5162891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b="0" i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s-MX" b="0" i="0" smtClean="0"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574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1 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b="0" i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s-MX" b="0" i="0" smtClean="0">
                                    <a:latin typeface="Cambria Math" panose="02040503050406030204" pitchFamily="18" charset="0"/>
                                  </a:rPr>
                                  <m:t> 3=1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20396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2 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b="0" i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s-MX" b="0" i="0" smtClean="0">
                                    <a:latin typeface="Cambria Math" panose="02040503050406030204" pitchFamily="18" charset="0"/>
                                  </a:rPr>
                                  <m:t> 3=2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17211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3 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b="0" i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s-MX" b="0" i="0" smtClean="0">
                                    <a:latin typeface="Cambria Math" panose="02040503050406030204" pitchFamily="18" charset="0"/>
                                  </a:rPr>
                                  <m:t> 3=0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74866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b="0" i="1" smtClean="0">
                                    <a:latin typeface="Cambria Math" panose="02040503050406030204" pitchFamily="18" charset="0"/>
                                  </a:rPr>
                                  <m:t>4 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b="0" i="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s-MX" b="0" i="0" smtClean="0">
                                    <a:latin typeface="Cambria Math" panose="02040503050406030204" pitchFamily="18" charset="0"/>
                                  </a:rPr>
                                  <m:t> 3=1</m:t>
                                </m:r>
                              </m:oMath>
                            </m:oMathPara>
                          </a14:m>
                          <a:endParaRPr lang="es-CO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25579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7A45DDC1-5DFD-4E7D-B25A-9786502591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9842226"/>
                  </p:ext>
                </p:extLst>
              </p:nvPr>
            </p:nvGraphicFramePr>
            <p:xfrm>
              <a:off x="875424" y="2524355"/>
              <a:ext cx="2296499" cy="185420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539641">
                      <a:extLst>
                        <a:ext uri="{9D8B030D-6E8A-4147-A177-3AD203B41FA5}">
                          <a16:colId xmlns:a16="http://schemas.microsoft.com/office/drawing/2014/main" val="748177845"/>
                        </a:ext>
                      </a:extLst>
                    </a:gridCol>
                    <a:gridCol w="1756858">
                      <a:extLst>
                        <a:ext uri="{9D8B030D-6E8A-4147-A177-3AD203B41FA5}">
                          <a16:colId xmlns:a16="http://schemas.microsoft.com/office/drawing/2014/main" val="5162891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124" t="-1639" r="-325843" b="-4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1142" t="-1639" r="-346" b="-4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574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124" t="-101639" r="-325843" b="-3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1142" t="-101639" r="-346" b="-3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20396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124" t="-201639" r="-325843" b="-2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1142" t="-201639" r="-346" b="-2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17211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124" t="-301639" r="-325843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1142" t="-301639" r="-346" b="-10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74866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1124" t="-401639" r="-325843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blipFill>
                          <a:blip r:embed="rId5"/>
                          <a:stretch>
                            <a:fillRect l="-31142" t="-401639" r="-346" b="-1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25579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1" name="CuadroTexto 50">
            <a:extLst>
              <a:ext uri="{FF2B5EF4-FFF2-40B4-BE49-F238E27FC236}">
                <a16:creationId xmlns:a16="http://schemas.microsoft.com/office/drawing/2014/main" id="{63669B76-2825-495E-B18A-4AD5983384CD}"/>
              </a:ext>
            </a:extLst>
          </p:cNvPr>
          <p:cNvSpPr txBox="1"/>
          <p:nvPr/>
        </p:nvSpPr>
        <p:spPr>
          <a:xfrm>
            <a:off x="4104323" y="2843913"/>
            <a:ext cx="23853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latin typeface="+mn-lt"/>
                <a:ea typeface="Roboto" panose="02000000000000000000" pitchFamily="2" charset="0"/>
              </a:rPr>
              <a:t>Diagrama de flechas </a:t>
            </a:r>
            <a:endParaRPr lang="es-CO" sz="20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A7FAA17-2F8B-4CC4-8216-71C6C014A546}"/>
              </a:ext>
            </a:extLst>
          </p:cNvPr>
          <p:cNvSpPr txBox="1"/>
          <p:nvPr/>
        </p:nvSpPr>
        <p:spPr>
          <a:xfrm>
            <a:off x="717274" y="1995038"/>
            <a:ext cx="2572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ea typeface="Roboto" panose="02000000000000000000" pitchFamily="2" charset="0"/>
              </a:rPr>
              <a:t>Tabla de valores</a:t>
            </a:r>
            <a:endParaRPr lang="es-CO" sz="2000" dirty="0">
              <a:ea typeface="Roboto" panose="02000000000000000000" pitchFamily="2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CFE15303-3699-44F1-A2A2-E40EECD2B2E6}"/>
              </a:ext>
            </a:extLst>
          </p:cNvPr>
          <p:cNvSpPr txBox="1"/>
          <p:nvPr/>
        </p:nvSpPr>
        <p:spPr>
          <a:xfrm>
            <a:off x="720196" y="5486073"/>
            <a:ext cx="2572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latin typeface="+mn-lt"/>
                <a:ea typeface="Roboto" panose="02000000000000000000" pitchFamily="2" charset="0"/>
              </a:rPr>
              <a:t>Pares ordenados</a:t>
            </a:r>
            <a:endParaRPr lang="es-CO" sz="2000" dirty="0"/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1FF65FF5-FF15-42C6-90EE-82E50D192BE9}"/>
              </a:ext>
            </a:extLst>
          </p:cNvPr>
          <p:cNvGrpSpPr/>
          <p:nvPr/>
        </p:nvGrpSpPr>
        <p:grpSpPr>
          <a:xfrm>
            <a:off x="3892837" y="3359985"/>
            <a:ext cx="2744973" cy="3008727"/>
            <a:chOff x="3892837" y="3359985"/>
            <a:chExt cx="2744973" cy="3008727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A2917255-3C8E-4677-8FA8-EE161043199F}"/>
                </a:ext>
              </a:extLst>
            </p:cNvPr>
            <p:cNvGrpSpPr/>
            <p:nvPr/>
          </p:nvGrpSpPr>
          <p:grpSpPr>
            <a:xfrm>
              <a:off x="3892837" y="3359985"/>
              <a:ext cx="2744973" cy="3008727"/>
              <a:chOff x="1624295" y="2177031"/>
              <a:chExt cx="2744973" cy="3008727"/>
            </a:xfrm>
          </p:grpSpPr>
          <p:cxnSp>
            <p:nvCxnSpPr>
              <p:cNvPr id="20" name="Conector recto de flecha 19">
                <a:extLst>
                  <a:ext uri="{FF2B5EF4-FFF2-40B4-BE49-F238E27FC236}">
                    <a16:creationId xmlns:a16="http://schemas.microsoft.com/office/drawing/2014/main" id="{D7489398-AB75-4052-9692-1E4817ABAD19}"/>
                  </a:ext>
                </a:extLst>
              </p:cNvPr>
              <p:cNvCxnSpPr>
                <a:cxnSpLocks/>
                <a:stCxn id="30" idx="3"/>
                <a:endCxn id="35" idx="1"/>
              </p:cNvCxnSpPr>
              <p:nvPr/>
            </p:nvCxnSpPr>
            <p:spPr>
              <a:xfrm>
                <a:off x="2239554" y="2652296"/>
                <a:ext cx="1445537" cy="526404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 recto de flecha 20">
                <a:extLst>
                  <a:ext uri="{FF2B5EF4-FFF2-40B4-BE49-F238E27FC236}">
                    <a16:creationId xmlns:a16="http://schemas.microsoft.com/office/drawing/2014/main" id="{A700CE99-E588-4C66-AFE8-BE34F614160B}"/>
                  </a:ext>
                </a:extLst>
              </p:cNvPr>
              <p:cNvCxnSpPr>
                <a:cxnSpLocks/>
                <a:stCxn id="31" idx="3"/>
                <a:endCxn id="34" idx="1"/>
              </p:cNvCxnSpPr>
              <p:nvPr/>
            </p:nvCxnSpPr>
            <p:spPr>
              <a:xfrm>
                <a:off x="2228124" y="3181201"/>
                <a:ext cx="1465871" cy="515317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de flecha 21">
                <a:extLst>
                  <a:ext uri="{FF2B5EF4-FFF2-40B4-BE49-F238E27FC236}">
                    <a16:creationId xmlns:a16="http://schemas.microsoft.com/office/drawing/2014/main" id="{667D564E-3AD5-4431-9BA0-7508DBD346F5}"/>
                  </a:ext>
                </a:extLst>
              </p:cNvPr>
              <p:cNvCxnSpPr>
                <a:cxnSpLocks/>
                <a:stCxn id="32" idx="3"/>
                <a:endCxn id="33" idx="1"/>
              </p:cNvCxnSpPr>
              <p:nvPr/>
            </p:nvCxnSpPr>
            <p:spPr>
              <a:xfrm flipV="1">
                <a:off x="2205153" y="2653745"/>
                <a:ext cx="1470994" cy="1062867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9DBC6521-FB90-4A20-A321-486B5DED57A4}"/>
                  </a:ext>
                </a:extLst>
              </p:cNvPr>
              <p:cNvSpPr/>
              <p:nvPr/>
            </p:nvSpPr>
            <p:spPr>
              <a:xfrm>
                <a:off x="1624295" y="2177031"/>
                <a:ext cx="935533" cy="258478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rgbClr val="00206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C7483F14-0646-42FB-818E-6F61EF2640CA}"/>
                      </a:ext>
                    </a:extLst>
                  </p:cNvPr>
                  <p:cNvSpPr txBox="1"/>
                  <p:nvPr/>
                </p:nvSpPr>
                <p:spPr>
                  <a:xfrm>
                    <a:off x="3517251" y="4785648"/>
                    <a:ext cx="70386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CuadroTexto 26">
                    <a:extLst>
                      <a:ext uri="{FF2B5EF4-FFF2-40B4-BE49-F238E27FC236}">
                        <a16:creationId xmlns:a16="http://schemas.microsoft.com/office/drawing/2014/main" id="{C7483F14-0646-42FB-818E-6F61EF264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7251" y="4785648"/>
                    <a:ext cx="703865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Elipse 27">
                <a:extLst>
                  <a:ext uri="{FF2B5EF4-FFF2-40B4-BE49-F238E27FC236}">
                    <a16:creationId xmlns:a16="http://schemas.microsoft.com/office/drawing/2014/main" id="{DF32ACE7-2AF9-497D-873E-660647A5D79B}"/>
                  </a:ext>
                </a:extLst>
              </p:cNvPr>
              <p:cNvSpPr/>
              <p:nvPr/>
            </p:nvSpPr>
            <p:spPr>
              <a:xfrm>
                <a:off x="3369101" y="2189259"/>
                <a:ext cx="1000167" cy="258478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rgbClr val="00206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CuadroTexto 28">
                    <a:extLst>
                      <a:ext uri="{FF2B5EF4-FFF2-40B4-BE49-F238E27FC236}">
                        <a16:creationId xmlns:a16="http://schemas.microsoft.com/office/drawing/2014/main" id="{3FCDEF0C-7FA3-4C25-9E72-5B422529600C}"/>
                      </a:ext>
                    </a:extLst>
                  </p:cNvPr>
                  <p:cNvSpPr txBox="1"/>
                  <p:nvPr/>
                </p:nvSpPr>
                <p:spPr>
                  <a:xfrm>
                    <a:off x="1740128" y="4785648"/>
                    <a:ext cx="703865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CuadroTexto 28">
                    <a:extLst>
                      <a:ext uri="{FF2B5EF4-FFF2-40B4-BE49-F238E27FC236}">
                        <a16:creationId xmlns:a16="http://schemas.microsoft.com/office/drawing/2014/main" id="{3FCDEF0C-7FA3-4C25-9E72-5B422529600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40128" y="4785648"/>
                    <a:ext cx="703865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4C6A3007-BCE7-4EE9-B7BE-2DC66D0F892B}"/>
                      </a:ext>
                    </a:extLst>
                  </p:cNvPr>
                  <p:cNvSpPr txBox="1"/>
                  <p:nvPr/>
                </p:nvSpPr>
                <p:spPr>
                  <a:xfrm>
                    <a:off x="1835780" y="2452241"/>
                    <a:ext cx="40377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CuadroTexto 29">
                    <a:extLst>
                      <a:ext uri="{FF2B5EF4-FFF2-40B4-BE49-F238E27FC236}">
                        <a16:creationId xmlns:a16="http://schemas.microsoft.com/office/drawing/2014/main" id="{4C6A3007-BCE7-4EE9-B7BE-2DC66D0F89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5780" y="2452241"/>
                    <a:ext cx="403774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CuadroTexto 30">
                    <a:extLst>
                      <a:ext uri="{FF2B5EF4-FFF2-40B4-BE49-F238E27FC236}">
                        <a16:creationId xmlns:a16="http://schemas.microsoft.com/office/drawing/2014/main" id="{5FA3C8C0-2669-43C2-9B90-31D791E120F4}"/>
                      </a:ext>
                    </a:extLst>
                  </p:cNvPr>
                  <p:cNvSpPr txBox="1"/>
                  <p:nvPr/>
                </p:nvSpPr>
                <p:spPr>
                  <a:xfrm>
                    <a:off x="1824350" y="2981146"/>
                    <a:ext cx="40377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CuadroTexto 30">
                    <a:extLst>
                      <a:ext uri="{FF2B5EF4-FFF2-40B4-BE49-F238E27FC236}">
                        <a16:creationId xmlns:a16="http://schemas.microsoft.com/office/drawing/2014/main" id="{5FA3C8C0-2669-43C2-9B90-31D791E120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4350" y="2981146"/>
                    <a:ext cx="403774" cy="40011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1DD1A9E5-063B-43E6-BA8C-649618D7B9C8}"/>
                      </a:ext>
                    </a:extLst>
                  </p:cNvPr>
                  <p:cNvSpPr txBox="1"/>
                  <p:nvPr/>
                </p:nvSpPr>
                <p:spPr>
                  <a:xfrm>
                    <a:off x="1801379" y="3516557"/>
                    <a:ext cx="40377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1DD1A9E5-063B-43E6-BA8C-649618D7B9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1379" y="3516557"/>
                    <a:ext cx="403774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CuadroTexto 32">
                    <a:extLst>
                      <a:ext uri="{FF2B5EF4-FFF2-40B4-BE49-F238E27FC236}">
                        <a16:creationId xmlns:a16="http://schemas.microsoft.com/office/drawing/2014/main" id="{702427B6-074B-4AFE-B852-5E459562B741}"/>
                      </a:ext>
                    </a:extLst>
                  </p:cNvPr>
                  <p:cNvSpPr txBox="1"/>
                  <p:nvPr/>
                </p:nvSpPr>
                <p:spPr>
                  <a:xfrm>
                    <a:off x="3676147" y="2453690"/>
                    <a:ext cx="23919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CuadroTexto 32">
                    <a:extLst>
                      <a:ext uri="{FF2B5EF4-FFF2-40B4-BE49-F238E27FC236}">
                        <a16:creationId xmlns:a16="http://schemas.microsoft.com/office/drawing/2014/main" id="{702427B6-074B-4AFE-B852-5E459562B7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76147" y="2453690"/>
                    <a:ext cx="239190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41026"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A2904751-4C21-4F1F-AFBD-5311ED0ECEFA}"/>
                      </a:ext>
                    </a:extLst>
                  </p:cNvPr>
                  <p:cNvSpPr txBox="1"/>
                  <p:nvPr/>
                </p:nvSpPr>
                <p:spPr>
                  <a:xfrm>
                    <a:off x="3693995" y="3496463"/>
                    <a:ext cx="40377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s-MX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es-CO" sz="1600" b="1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A2904751-4C21-4F1F-AFBD-5311ED0ECE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93995" y="3496463"/>
                    <a:ext cx="403774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89433B7D-9084-4B59-A524-DDF05EAB5600}"/>
                    </a:ext>
                  </a:extLst>
                </p:cNvPr>
                <p:cNvSpPr txBox="1"/>
                <p:nvPr/>
              </p:nvSpPr>
              <p:spPr>
                <a:xfrm>
                  <a:off x="5953633" y="4161599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89433B7D-9084-4B59-A524-DDF05EAB56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3633" y="4161599"/>
                  <a:ext cx="403774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A5A9CCF9-77D7-4BC9-A7A2-EB2B9D5E493C}"/>
                    </a:ext>
                  </a:extLst>
                </p:cNvPr>
                <p:cNvSpPr txBox="1"/>
                <p:nvPr/>
              </p:nvSpPr>
              <p:spPr>
                <a:xfrm>
                  <a:off x="5981992" y="5203172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A5A9CCF9-77D7-4BC9-A7A2-EB2B9D5E49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1992" y="5203172"/>
                  <a:ext cx="403774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885466C7-7B33-41D0-AE79-2DC599B5718A}"/>
                    </a:ext>
                  </a:extLst>
                </p:cNvPr>
                <p:cNvSpPr txBox="1"/>
                <p:nvPr/>
              </p:nvSpPr>
              <p:spPr>
                <a:xfrm>
                  <a:off x="4092892" y="5203172"/>
                  <a:ext cx="40377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s-MX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oMath>
                    </m:oMathPara>
                  </a14:m>
                  <a:endParaRPr lang="es-CO" sz="1600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885466C7-7B33-41D0-AE79-2DC599B571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2892" y="5203172"/>
                  <a:ext cx="403774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Conector recto de flecha 39">
              <a:extLst>
                <a:ext uri="{FF2B5EF4-FFF2-40B4-BE49-F238E27FC236}">
                  <a16:creationId xmlns:a16="http://schemas.microsoft.com/office/drawing/2014/main" id="{02382D64-FBF7-43F7-ACA2-971E997F7D55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 flipV="1">
              <a:off x="4496666" y="4413836"/>
              <a:ext cx="1461549" cy="989391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944DC371-9FA8-4E9B-A54A-563F61BBF7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0250" y="6172200"/>
              <a:ext cx="1447800" cy="2"/>
            </a:xfrm>
            <a:prstGeom prst="straightConnector1">
              <a:avLst/>
            </a:prstGeom>
            <a:ln w="28575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B60190CB-59DA-487F-AA11-4ED7A02A225E}"/>
                    </a:ext>
                  </a:extLst>
                </p:cNvPr>
                <p:cNvSpPr txBox="1"/>
                <p:nvPr/>
              </p:nvSpPr>
              <p:spPr>
                <a:xfrm>
                  <a:off x="4569005" y="5858049"/>
                  <a:ext cx="139353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r>
                          <a:rPr lang="es-MX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MX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1600" b="1" i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𝐦𝐨𝐝</m:t>
                        </m:r>
                        <m:r>
                          <a:rPr lang="es-MX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MX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es-CO" sz="1200" b="1" dirty="0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B60190CB-59DA-487F-AA11-4ED7A02A22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9005" y="5858049"/>
                  <a:ext cx="1393532" cy="338554"/>
                </a:xfrm>
                <a:prstGeom prst="rect">
                  <a:avLst/>
                </a:prstGeom>
                <a:blipFill>
                  <a:blip r:embed="rId16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529696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6038"/>
            <a:ext cx="8763450" cy="9495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457200" y="987168"/>
            <a:ext cx="62925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Clasificación</a:t>
            </a:r>
          </a:p>
        </p:txBody>
      </p:sp>
      <p:sp>
        <p:nvSpPr>
          <p:cNvPr id="7" name="Google Shape;310;p34">
            <a:extLst>
              <a:ext uri="{FF2B5EF4-FFF2-40B4-BE49-F238E27FC236}">
                <a16:creationId xmlns:a16="http://schemas.microsoft.com/office/drawing/2014/main" id="{6F7568D7-A06A-4828-B1CE-C8CEB5838F7C}"/>
              </a:ext>
            </a:extLst>
          </p:cNvPr>
          <p:cNvSpPr txBox="1">
            <a:spLocks/>
          </p:cNvSpPr>
          <p:nvPr/>
        </p:nvSpPr>
        <p:spPr>
          <a:xfrm>
            <a:off x="457200" y="1421241"/>
            <a:ext cx="11223523" cy="444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Los siguientes ejemplos ilustran algo de la amplia variedad de diferentes tipos de funciones.</a:t>
            </a:r>
          </a:p>
          <a:p>
            <a:r>
              <a:rPr lang="es-MX" sz="2000" dirty="0">
                <a:latin typeface="+mn-lt"/>
                <a:ea typeface="Roboto" panose="02000000000000000000" pitchFamily="2" charset="0"/>
              </a:rPr>
              <a:t>Función floor y ceiling.</a:t>
            </a:r>
          </a:p>
          <a:p>
            <a:r>
              <a:rPr lang="es-MX" sz="2000" dirty="0">
                <a:latin typeface="+mn-lt"/>
                <a:ea typeface="Roboto" panose="02000000000000000000" pitchFamily="2" charset="0"/>
              </a:rPr>
              <a:t>Función factorial</a:t>
            </a:r>
          </a:p>
          <a:p>
            <a:r>
              <a:rPr lang="es-MX" sz="2000" dirty="0">
                <a:latin typeface="+mn-lt"/>
                <a:ea typeface="Roboto" panose="02000000000000000000" pitchFamily="2" charset="0"/>
              </a:rPr>
              <a:t>Función identidad sobre un conjunto</a:t>
            </a:r>
          </a:p>
          <a:p>
            <a:r>
              <a:rPr lang="es-MX" sz="2000" dirty="0">
                <a:latin typeface="+mn-lt"/>
                <a:ea typeface="Roboto" panose="02000000000000000000" pitchFamily="2" charset="0"/>
              </a:rPr>
              <a:t>Sucesiones.</a:t>
            </a:r>
          </a:p>
          <a:p>
            <a:r>
              <a:rPr lang="es-MX" sz="2000" dirty="0">
                <a:latin typeface="+mn-lt"/>
                <a:ea typeface="Roboto" panose="02000000000000000000" pitchFamily="2" charset="0"/>
              </a:rPr>
              <a:t>Una función definida sobre un conjunto potencia.</a:t>
            </a:r>
          </a:p>
          <a:p>
            <a:r>
              <a:rPr lang="es-MX" sz="2000" dirty="0">
                <a:latin typeface="+mn-lt"/>
                <a:ea typeface="Roboto" panose="02000000000000000000" pitchFamily="2" charset="0"/>
              </a:rPr>
              <a:t>Funciones definidas sobre un producto cartesiano</a:t>
            </a:r>
          </a:p>
          <a:p>
            <a:r>
              <a:rPr lang="es-MX" sz="2000" dirty="0">
                <a:latin typeface="+mn-lt"/>
                <a:ea typeface="Roboto" panose="02000000000000000000" pitchFamily="2" charset="0"/>
              </a:rPr>
              <a:t>Funciones de codificación y decodificación.</a:t>
            </a:r>
          </a:p>
          <a:p>
            <a:r>
              <a:rPr lang="es-MX" sz="2000" dirty="0">
                <a:latin typeface="+mn-lt"/>
                <a:ea typeface="Roboto" panose="02000000000000000000" pitchFamily="2" charset="0"/>
              </a:rPr>
              <a:t>La función de distancia de Hamming.</a:t>
            </a:r>
          </a:p>
          <a:p>
            <a:r>
              <a:rPr lang="es-MX" sz="2000" dirty="0">
                <a:latin typeface="+mn-lt"/>
                <a:ea typeface="Roboto" panose="02000000000000000000" pitchFamily="2" charset="0"/>
              </a:rPr>
              <a:t>Funciones booleanas.</a:t>
            </a:r>
          </a:p>
        </p:txBody>
      </p:sp>
    </p:spTree>
    <p:extLst>
      <p:ext uri="{BB962C8B-B14F-4D97-AF65-F5344CB8AC3E}">
        <p14:creationId xmlns:p14="http://schemas.microsoft.com/office/powerpoint/2010/main" val="943889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96038"/>
            <a:ext cx="8814250" cy="9495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461354" y="864923"/>
            <a:ext cx="67478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Función piso (Floor)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7500" y="1357366"/>
                <a:ext cx="11413147" cy="18466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La función piso de un número real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denotada como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s-MX" sz="200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(o también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floor(x)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), devuelve el mayor entero que es menor o igual a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En otras palabras, "redondea"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hacia abajo al entero más cercano. Formalmente esto es: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el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mayo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𝑟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entero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𝑛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tal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que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𝑛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≤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</m:oMath>
                  </m:oMathPara>
                </a14:m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800" b="1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00" y="1357366"/>
                <a:ext cx="11413147" cy="1846616"/>
              </a:xfrm>
              <a:prstGeom prst="rect">
                <a:avLst/>
              </a:prstGeom>
              <a:blipFill>
                <a:blip r:embed="rId2"/>
                <a:stretch>
                  <a:fillRect r="-4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310;p34">
            <a:extLst>
              <a:ext uri="{FF2B5EF4-FFF2-40B4-BE49-F238E27FC236}">
                <a16:creationId xmlns:a16="http://schemas.microsoft.com/office/drawing/2014/main" id="{77A8FAEE-3DFA-47AC-A4DF-E1FB4BE85A4E}"/>
              </a:ext>
            </a:extLst>
          </p:cNvPr>
          <p:cNvSpPr txBox="1">
            <a:spLocks/>
          </p:cNvSpPr>
          <p:nvPr/>
        </p:nvSpPr>
        <p:spPr>
          <a:xfrm>
            <a:off x="558800" y="3179763"/>
            <a:ext cx="11043587" cy="78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Ejemplos: 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A continuación la grafica de la función piso así como la evaluación de esta para algunos valores.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6">
                <a:extLst>
                  <a:ext uri="{FF2B5EF4-FFF2-40B4-BE49-F238E27FC236}">
                    <a16:creationId xmlns:a16="http://schemas.microsoft.com/office/drawing/2014/main" id="{9C7B7786-735D-43E8-9FFB-BA03058DD2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0939637"/>
                  </p:ext>
                </p:extLst>
              </p:nvPr>
            </p:nvGraphicFramePr>
            <p:xfrm>
              <a:off x="1906346" y="4182719"/>
              <a:ext cx="2884773" cy="2224786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824739">
                      <a:extLst>
                        <a:ext uri="{9D8B030D-6E8A-4147-A177-3AD203B41FA5}">
                          <a16:colId xmlns:a16="http://schemas.microsoft.com/office/drawing/2014/main" val="3936031044"/>
                        </a:ext>
                      </a:extLst>
                    </a:gridCol>
                    <a:gridCol w="2060034">
                      <a:extLst>
                        <a:ext uri="{9D8B030D-6E8A-4147-A177-3AD203B41FA5}">
                          <a16:colId xmlns:a16="http://schemas.microsoft.com/office/drawing/2014/main" val="1578871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s-CO" sz="16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1" i="1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𝒙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98954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es-MX" sz="160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</m:t>
                                </m:r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es-MX" sz="160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−0.5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=−1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79754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−0.1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es-MX" sz="160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−0.1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=−1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65314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es-MX" sz="160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</m:t>
                                </m:r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es-MX" sz="160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0.5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24574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2.1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es-MX" sz="160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2.1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486658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6">
                <a:extLst>
                  <a:ext uri="{FF2B5EF4-FFF2-40B4-BE49-F238E27FC236}">
                    <a16:creationId xmlns:a16="http://schemas.microsoft.com/office/drawing/2014/main" id="{9C7B7786-735D-43E8-9FFB-BA03058DD2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0939637"/>
                  </p:ext>
                </p:extLst>
              </p:nvPr>
            </p:nvGraphicFramePr>
            <p:xfrm>
              <a:off x="1906346" y="4182719"/>
              <a:ext cx="2884773" cy="2224786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824739">
                      <a:extLst>
                        <a:ext uri="{9D8B030D-6E8A-4147-A177-3AD203B41FA5}">
                          <a16:colId xmlns:a16="http://schemas.microsoft.com/office/drawing/2014/main" val="3936031044"/>
                        </a:ext>
                      </a:extLst>
                    </a:gridCol>
                    <a:gridCol w="2060034">
                      <a:extLst>
                        <a:ext uri="{9D8B030D-6E8A-4147-A177-3AD203B41FA5}">
                          <a16:colId xmlns:a16="http://schemas.microsoft.com/office/drawing/2014/main" val="1578871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5" t="-1639" r="-250735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533" t="-1639" r="-888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9895427"/>
                      </a:ext>
                    </a:extLst>
                  </a:tr>
                  <a:tr h="556133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5" t="-68132" r="-250735" b="-2373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533" t="-68132" r="-888" b="-2373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79754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5" t="-246774" r="-250735" b="-2483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533" t="-246774" r="-888" b="-2483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6531474"/>
                      </a:ext>
                    </a:extLst>
                  </a:tr>
                  <a:tr h="556133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5" t="-236264" r="-250735" b="-6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533" t="-236264" r="-888" b="-6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4574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5" t="-501639" r="-250735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533" t="-501639" r="-888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866581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A0B1FA43-48F0-4CA1-A5F6-F27934EBB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510" y="3828262"/>
            <a:ext cx="275272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0087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288909" y="841783"/>
            <a:ext cx="62925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Función techo (ceil)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400" y="1242617"/>
                <a:ext cx="10957157" cy="18466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La función techo de un número real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denotada como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s-MX" sz="200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(o también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ceil(x)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), devuelve el entero que es mayor o igual a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En otras palabras, "redondea"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𝑥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hacia arriba al entero más cercano. Formalmente esto es: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el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mayo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𝑟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entero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𝑛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tal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que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𝑛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func>
                        <m:func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MX" sz="2000" b="0" i="0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min</m:t>
                          </m:r>
                        </m:fName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{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|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≥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800" b="1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242617"/>
                <a:ext cx="10957157" cy="1846616"/>
              </a:xfrm>
              <a:prstGeom prst="rect">
                <a:avLst/>
              </a:prstGeom>
              <a:blipFill>
                <a:blip r:embed="rId2"/>
                <a:stretch>
                  <a:fillRect r="-5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310;p34">
            <a:extLst>
              <a:ext uri="{FF2B5EF4-FFF2-40B4-BE49-F238E27FC236}">
                <a16:creationId xmlns:a16="http://schemas.microsoft.com/office/drawing/2014/main" id="{77A8FAEE-3DFA-47AC-A4DF-E1FB4BE85A4E}"/>
              </a:ext>
            </a:extLst>
          </p:cNvPr>
          <p:cNvSpPr txBox="1">
            <a:spLocks/>
          </p:cNvSpPr>
          <p:nvPr/>
        </p:nvSpPr>
        <p:spPr>
          <a:xfrm>
            <a:off x="152400" y="3089234"/>
            <a:ext cx="10822245" cy="78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Ejemplos: 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A continuación la grafica de la función techo así como la evaluación de esta para algunos valores.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a 6">
                <a:extLst>
                  <a:ext uri="{FF2B5EF4-FFF2-40B4-BE49-F238E27FC236}">
                    <a16:creationId xmlns:a16="http://schemas.microsoft.com/office/drawing/2014/main" id="{9C7B7786-735D-43E8-9FFB-BA03058DD2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9101943"/>
                  </p:ext>
                </p:extLst>
              </p:nvPr>
            </p:nvGraphicFramePr>
            <p:xfrm>
              <a:off x="2747004" y="4182719"/>
              <a:ext cx="2884773" cy="2224786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824739">
                      <a:extLst>
                        <a:ext uri="{9D8B030D-6E8A-4147-A177-3AD203B41FA5}">
                          <a16:colId xmlns:a16="http://schemas.microsoft.com/office/drawing/2014/main" val="3936031044"/>
                        </a:ext>
                      </a:extLst>
                    </a:gridCol>
                    <a:gridCol w="2060034">
                      <a:extLst>
                        <a:ext uri="{9D8B030D-6E8A-4147-A177-3AD203B41FA5}">
                          <a16:colId xmlns:a16="http://schemas.microsoft.com/office/drawing/2014/main" val="1578871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1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s-CO" sz="16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⌈"/>
                                    <m:endChr m:val="⌉"/>
                                    <m:ctrlPr>
                                      <a:rPr lang="es-MX" sz="1600" b="1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1" i="1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𝒙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98954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⌈"/>
                                    <m:endChr m:val="⌉"/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</m:t>
                                </m:r>
                                <m:d>
                                  <m:dPr>
                                    <m:begChr m:val="⌈"/>
                                    <m:endChr m:val="⌉"/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−0.5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79754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−0.1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⌈"/>
                                    <m:endChr m:val="⌉"/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−0.1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65314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⌈"/>
                                    <m:endChr m:val="⌉"/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</m:t>
                                </m:r>
                                <m:d>
                                  <m:dPr>
                                    <m:begChr m:val="⌈"/>
                                    <m:endChr m:val="⌉"/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0.5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24574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2.1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⌈"/>
                                    <m:endChr m:val="⌉"/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2.1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s-CO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486658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a 6">
                <a:extLst>
                  <a:ext uri="{FF2B5EF4-FFF2-40B4-BE49-F238E27FC236}">
                    <a16:creationId xmlns:a16="http://schemas.microsoft.com/office/drawing/2014/main" id="{9C7B7786-735D-43E8-9FFB-BA03058DD29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9101943"/>
                  </p:ext>
                </p:extLst>
              </p:nvPr>
            </p:nvGraphicFramePr>
            <p:xfrm>
              <a:off x="2747004" y="4182719"/>
              <a:ext cx="2884773" cy="2224786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824739">
                      <a:extLst>
                        <a:ext uri="{9D8B030D-6E8A-4147-A177-3AD203B41FA5}">
                          <a16:colId xmlns:a16="http://schemas.microsoft.com/office/drawing/2014/main" val="3936031044"/>
                        </a:ext>
                      </a:extLst>
                    </a:gridCol>
                    <a:gridCol w="2060034">
                      <a:extLst>
                        <a:ext uri="{9D8B030D-6E8A-4147-A177-3AD203B41FA5}">
                          <a16:colId xmlns:a16="http://schemas.microsoft.com/office/drawing/2014/main" val="15788713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5" t="-1639" r="-250000" b="-5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533" t="-1639" r="-592" b="-5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9895427"/>
                      </a:ext>
                    </a:extLst>
                  </a:tr>
                  <a:tr h="556133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5" t="-68132" r="-250000" b="-2373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533" t="-68132" r="-592" b="-2373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79754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5" t="-246774" r="-250000" b="-2483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533" t="-246774" r="-592" b="-2483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6531474"/>
                      </a:ext>
                    </a:extLst>
                  </a:tr>
                  <a:tr h="556133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5" t="-236264" r="-250000" b="-6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533" t="-236264" r="-592" b="-6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45747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5" t="-501639" r="-25000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533" t="-501639" r="-592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866581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Imagen 8">
            <a:extLst>
              <a:ext uri="{FF2B5EF4-FFF2-40B4-BE49-F238E27FC236}">
                <a16:creationId xmlns:a16="http://schemas.microsoft.com/office/drawing/2014/main" id="{F25BF576-9B17-4EA5-9FE5-852607F7B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499" y="3768766"/>
            <a:ext cx="272415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78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388508" y="903319"/>
            <a:ext cx="63675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Sucesiones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1270855"/>
                <a:ext cx="11320595" cy="4528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Una sucesión es una lista ordenada de elementos (o términos). A diferencia de los conjuntos, donde el orden no importa y los elementos no se repiten, en una secuencia el orden es crucial y los elementos pueden repetirse.</a:t>
                </a:r>
              </a:p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Notación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Existen de representar sucesiones, algunas son:</a:t>
                </a:r>
              </a:p>
              <a:p>
                <a:pPr marL="584200" indent="-457200">
                  <a:buFont typeface="+mj-lt"/>
                  <a:buAutoNum type="arabicPeriod"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Listado de términos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Empleado para secuencias finitas o para mostrar los primeros términos de una secuencia infinita:</a:t>
                </a:r>
              </a:p>
              <a:p>
                <a:pPr marL="584200" indent="-457200">
                  <a:buFont typeface="+mj-lt"/>
                  <a:buAutoNum type="arabicPeriod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 startAt="2"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Fórmula explícita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Se usa fórmula que define el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𝑛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−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𝑒𝑠𝑖𝑚𝑜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termino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​ en función de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𝑛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esto es: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s-MX" sz="200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</m:ctrlPr>
                              </m:sSubPr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𝑛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=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𝑘</m:t>
                        </m:r>
                      </m:sub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MX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 startAt="2"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indent="-457200">
                  <a:buFont typeface="+mj-lt"/>
                  <a:buAutoNum type="arabicPeriod" startAt="2"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Relación de recurrencia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Una fórmula que define un término de la secuencia en función de uno o más términos anteriores. Necesita uno o más condiciones iniciales (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casos base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).</a:t>
                </a:r>
              </a:p>
              <a:p>
                <a:pPr lvl="1"/>
                <a:endParaRPr lang="es-MX" sz="1800" b="1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270855"/>
                <a:ext cx="11320595" cy="4528163"/>
              </a:xfrm>
              <a:prstGeom prst="rect">
                <a:avLst/>
              </a:prstGeom>
              <a:blipFill>
                <a:blip r:embed="rId2"/>
                <a:stretch>
                  <a:fillRect r="-4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3EE4401-7B0F-4DBF-8342-715070137258}"/>
                  </a:ext>
                </a:extLst>
              </p:cNvPr>
              <p:cNvSpPr txBox="1"/>
              <p:nvPr/>
            </p:nvSpPr>
            <p:spPr>
              <a:xfrm>
                <a:off x="4990113" y="3423236"/>
                <a:ext cx="12509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3EE4401-7B0F-4DBF-8342-715070137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0113" y="3423236"/>
                <a:ext cx="1250919" cy="276999"/>
              </a:xfrm>
              <a:prstGeom prst="rect">
                <a:avLst/>
              </a:prstGeom>
              <a:blipFill>
                <a:blip r:embed="rId3"/>
                <a:stretch>
                  <a:fillRect l="-1463" b="-177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F72D046-631B-4C42-AC60-8510DC4B6E82}"/>
                  </a:ext>
                </a:extLst>
              </p:cNvPr>
              <p:cNvSpPr txBox="1"/>
              <p:nvPr/>
            </p:nvSpPr>
            <p:spPr>
              <a:xfrm>
                <a:off x="4447782" y="4253586"/>
                <a:ext cx="75219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F72D046-631B-4C42-AC60-8510DC4B6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782" y="4253586"/>
                <a:ext cx="752193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C0695F5-D9A7-48BE-AD94-9BD20E82AB2E}"/>
                  </a:ext>
                </a:extLst>
              </p:cNvPr>
              <p:cNvSpPr txBox="1"/>
              <p:nvPr/>
            </p:nvSpPr>
            <p:spPr>
              <a:xfrm>
                <a:off x="5801763" y="4375285"/>
                <a:ext cx="214693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}={</m:t>
                      </m:r>
                      <m:sSub>
                        <m:sSub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,…}</m:t>
                      </m:r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C0695F5-D9A7-48BE-AD94-9BD20E82A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1763" y="4375285"/>
                <a:ext cx="2146933" cy="276999"/>
              </a:xfrm>
              <a:prstGeom prst="rect">
                <a:avLst/>
              </a:prstGeom>
              <a:blipFill>
                <a:blip r:embed="rId5"/>
                <a:stretch>
                  <a:fillRect l="-2841" t="-4444" r="-2841" b="-377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48B99665-36C9-4019-B370-F7897519D838}"/>
                  </a:ext>
                </a:extLst>
              </p:cNvPr>
              <p:cNvSpPr txBox="1"/>
              <p:nvPr/>
            </p:nvSpPr>
            <p:spPr>
              <a:xfrm>
                <a:off x="4288125" y="5769466"/>
                <a:ext cx="2654894" cy="7861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MX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s-CO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CO" sz="1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CO" sz="16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CO" sz="16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                    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a:rPr lang="es-CO" sz="16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≥2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CO" sz="1600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48B99665-36C9-4019-B370-F7897519D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125" y="5769466"/>
                <a:ext cx="2654894" cy="7861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724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29231"/>
            <a:ext cx="8509450" cy="692001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508000" y="748436"/>
            <a:ext cx="67012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Sucesión</a:t>
            </a:r>
          </a:p>
        </p:txBody>
      </p:sp>
      <p:sp>
        <p:nvSpPr>
          <p:cNvPr id="5" name="Google Shape;310;p34">
            <a:extLst>
              <a:ext uri="{FF2B5EF4-FFF2-40B4-BE49-F238E27FC236}">
                <a16:creationId xmlns:a16="http://schemas.microsoft.com/office/drawing/2014/main" id="{F102D340-F804-4113-9FEB-9A4128546791}"/>
              </a:ext>
            </a:extLst>
          </p:cNvPr>
          <p:cNvSpPr txBox="1">
            <a:spLocks/>
          </p:cNvSpPr>
          <p:nvPr/>
        </p:nvSpPr>
        <p:spPr>
          <a:xfrm>
            <a:off x="334782" y="1056815"/>
            <a:ext cx="11597388" cy="69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Ejemplos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 La siguiente tabla muestra algunos ejemplos de sucesiones:</a:t>
            </a:r>
          </a:p>
          <a:p>
            <a:pPr lvl="1"/>
            <a:endParaRPr lang="es-MX" sz="1800" b="1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a 9">
                <a:extLst>
                  <a:ext uri="{FF2B5EF4-FFF2-40B4-BE49-F238E27FC236}">
                    <a16:creationId xmlns:a16="http://schemas.microsoft.com/office/drawing/2014/main" id="{7E63930B-C1DE-494E-8450-B35498C90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9255561"/>
                  </p:ext>
                </p:extLst>
              </p:nvPr>
            </p:nvGraphicFramePr>
            <p:xfrm>
              <a:off x="1050515" y="1613906"/>
              <a:ext cx="10806704" cy="475488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533249">
                      <a:extLst>
                        <a:ext uri="{9D8B030D-6E8A-4147-A177-3AD203B41FA5}">
                          <a16:colId xmlns:a16="http://schemas.microsoft.com/office/drawing/2014/main" val="253011443"/>
                        </a:ext>
                      </a:extLst>
                    </a:gridCol>
                    <a:gridCol w="3122509">
                      <a:extLst>
                        <a:ext uri="{9D8B030D-6E8A-4147-A177-3AD203B41FA5}">
                          <a16:colId xmlns:a16="http://schemas.microsoft.com/office/drawing/2014/main" val="4027583409"/>
                        </a:ext>
                      </a:extLst>
                    </a:gridCol>
                    <a:gridCol w="2194634">
                      <a:extLst>
                        <a:ext uri="{9D8B030D-6E8A-4147-A177-3AD203B41FA5}">
                          <a16:colId xmlns:a16="http://schemas.microsoft.com/office/drawing/2014/main" val="2055231731"/>
                        </a:ext>
                      </a:extLst>
                    </a:gridCol>
                    <a:gridCol w="3956312">
                      <a:extLst>
                        <a:ext uri="{9D8B030D-6E8A-4147-A177-3AD203B41FA5}">
                          <a16:colId xmlns:a16="http://schemas.microsoft.com/office/drawing/2014/main" val="222229997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Formula general 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1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{</m:t>
                              </m:r>
                              <m:sSub>
                                <m:sSubPr>
                                  <m:ctrlPr>
                                    <a:rPr lang="es-MX" sz="1600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s-MX" sz="1600" b="1" i="1" smtClean="0">
                                      <a:latin typeface="Cambria Math" panose="02040503050406030204" pitchFamily="18" charset="0"/>
                                      <a:ea typeface="Roboto" panose="02000000000000000000" pitchFamily="2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s-MX" sz="1600" b="1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}</m:t>
                              </m:r>
                            </m:oMath>
                          </a14:m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Primeros términos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Observaciones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99830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Constante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3, 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3,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3,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3,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3,… 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La constante 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oMath>
                          </a14:m>
                          <a:endParaRPr lang="es-MX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6636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Aritmética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+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𝑛𝑑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2, 5, 8, 11, 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14,… 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El termino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y la constante  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𝑑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102503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Geométrica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sSup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1, 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2,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4,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8,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16,… 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El termino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MX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 y la razón  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𝑟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6053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Cuadrática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0, 1, 4, 9, 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16,… 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Los términos son cuadrados perfectos</a:t>
                          </a:r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0105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Cúbica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0, 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8,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27,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64,… 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Los términos son cubos perfectos</a:t>
                          </a:r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1565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Pares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=2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0, 2, 4, 6, 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8,… 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Los términos son números pares</a:t>
                          </a:r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736151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Impares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=2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𝑛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1, 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3,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5,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7,… 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Los términos son números impares</a:t>
                          </a:r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13692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Fibonacci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=0, </m:t>
                                </m:r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 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=1, </m:t>
                                </m:r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−2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0, 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2,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3,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5,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8,… 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Cada termino es la suma de los dos anteriores</a:t>
                          </a:r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0860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Factorial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𝑛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!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1, 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2,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6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24,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120,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720,… 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MX" sz="1600" dirty="0"/>
                            <a:t>Cada termino es el producto de todos los enteros positivos con </a:t>
                          </a:r>
                          <a14:m>
                            <m:oMath xmlns:m="http://schemas.openxmlformats.org/officeDocument/2006/math">
                              <m:r>
                                <a:rPr lang="es-MX" sz="1600" b="0" i="0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s-MX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476131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Alternante signo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+1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1,−</m:t>
                                </m:r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,−</m:t>
                                </m:r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,… 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Cada termino alterna el signo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38547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Binaria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𝑛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s-MX" sz="1600" b="0" i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mod</m:t>
                                </m:r>
                                <m:r>
                                  <a:rPr lang="es-MX" sz="1600" b="0" i="0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</m:t>
                                </m:r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0,1,0,1,0,… </m:t>
                                </m:r>
                              </m:oMath>
                            </m:oMathPara>
                          </a14:m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Cada termino es 0 y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18412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a 9">
                <a:extLst>
                  <a:ext uri="{FF2B5EF4-FFF2-40B4-BE49-F238E27FC236}">
                    <a16:creationId xmlns:a16="http://schemas.microsoft.com/office/drawing/2014/main" id="{7E63930B-C1DE-494E-8450-B35498C90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9255561"/>
                  </p:ext>
                </p:extLst>
              </p:nvPr>
            </p:nvGraphicFramePr>
            <p:xfrm>
              <a:off x="1050515" y="1613906"/>
              <a:ext cx="10806704" cy="475488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533249">
                      <a:extLst>
                        <a:ext uri="{9D8B030D-6E8A-4147-A177-3AD203B41FA5}">
                          <a16:colId xmlns:a16="http://schemas.microsoft.com/office/drawing/2014/main" val="253011443"/>
                        </a:ext>
                      </a:extLst>
                    </a:gridCol>
                    <a:gridCol w="3122509">
                      <a:extLst>
                        <a:ext uri="{9D8B030D-6E8A-4147-A177-3AD203B41FA5}">
                          <a16:colId xmlns:a16="http://schemas.microsoft.com/office/drawing/2014/main" val="4027583409"/>
                        </a:ext>
                      </a:extLst>
                    </a:gridCol>
                    <a:gridCol w="2194634">
                      <a:extLst>
                        <a:ext uri="{9D8B030D-6E8A-4147-A177-3AD203B41FA5}">
                          <a16:colId xmlns:a16="http://schemas.microsoft.com/office/drawing/2014/main" val="2055231731"/>
                        </a:ext>
                      </a:extLst>
                    </a:gridCol>
                    <a:gridCol w="3956312">
                      <a:extLst>
                        <a:ext uri="{9D8B030D-6E8A-4147-A177-3AD203B41FA5}">
                          <a16:colId xmlns:a16="http://schemas.microsoft.com/office/drawing/2014/main" val="2222299979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Nombre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414" t="-3636" r="-197656" b="-134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Primeros términos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Observaciones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998307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Constante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414" t="-103636" r="-197656" b="-124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1911" t="-103636" r="-180332" b="-124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3498" t="-103636" r="-308" b="-124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66367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Aritmética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414" t="-203636" r="-197656" b="-114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1911" t="-203636" r="-180332" b="-114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3498" t="-203636" r="-308" b="-114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102503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Geométrica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414" t="-303636" r="-197656" b="-104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1911" t="-303636" r="-180332" b="-104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3498" t="-303636" r="-308" b="-104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60538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Cuadrática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414" t="-403636" r="-197656" b="-94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1911" t="-403636" r="-180332" b="-94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Los términos son cuadrados perfectos</a:t>
                          </a:r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010589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Cúbica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414" t="-503636" r="-197656" b="-84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1911" t="-503636" r="-180332" b="-84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Los términos son cubos perfectos</a:t>
                          </a:r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15654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Pares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414" t="-603636" r="-197656" b="-74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1911" t="-603636" r="-180332" b="-74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Los términos son números pares</a:t>
                          </a:r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736151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Impares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414" t="-691071" r="-197656" b="-630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1911" t="-691071" r="-180332" b="-6303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Los términos son números impares</a:t>
                          </a:r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136922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Fibonacci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414" t="-466316" r="-197656" b="-27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1911" t="-466316" r="-180332" b="-27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s-MX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Cada termino es la suma de los dos anteriores</a:t>
                          </a:r>
                          <a:endParaRPr lang="es-CO" sz="160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086016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Factorial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414" t="-566316" r="-197656" b="-17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1911" t="-566316" r="-180332" b="-17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3498" t="-566316" r="-308" b="-171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4761318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Alternante signo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414" t="-666316" r="-197656" b="-7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1911" t="-666316" r="-180332" b="-71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Cada termino alterna el signo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838547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r>
                            <a:rPr lang="es-CO" sz="1600" b="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Binaria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414" t="-1323636" r="-197656" b="-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1911" t="-1323636" r="-180332" b="-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Cada termino es 0 y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18412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310;p34">
            <a:extLst>
              <a:ext uri="{FF2B5EF4-FFF2-40B4-BE49-F238E27FC236}">
                <a16:creationId xmlns:a16="http://schemas.microsoft.com/office/drawing/2014/main" id="{111B8E68-38A7-496A-9A7A-770DAE0AC069}"/>
              </a:ext>
            </a:extLst>
          </p:cNvPr>
          <p:cNvSpPr txBox="1">
            <a:spLocks/>
          </p:cNvSpPr>
          <p:nvPr/>
        </p:nvSpPr>
        <p:spPr>
          <a:xfrm>
            <a:off x="811718" y="6368786"/>
            <a:ext cx="11120451" cy="342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1200" dirty="0">
                <a:latin typeface="+mn-lt"/>
                <a:ea typeface="Roboto" panose="02000000000000000000" pitchFamily="2" charset="0"/>
              </a:rPr>
              <a:t>Para profundizar mas ver: </a:t>
            </a:r>
            <a:r>
              <a:rPr lang="en-US" sz="1200" b="1" dirty="0">
                <a:latin typeface="+mn-lt"/>
                <a:ea typeface="Roboto" panose="02000000000000000000" pitchFamily="2" charset="0"/>
              </a:rPr>
              <a:t>The On-Line Encyclopedia of Integer Sequences (OEIS)</a:t>
            </a:r>
            <a:r>
              <a:rPr lang="en-US" sz="1200" dirty="0">
                <a:latin typeface="+mn-lt"/>
                <a:ea typeface="Roboto" panose="02000000000000000000" pitchFamily="2" charset="0"/>
              </a:rPr>
              <a:t> (</a:t>
            </a:r>
            <a:r>
              <a:rPr lang="en-US" sz="1200" dirty="0">
                <a:latin typeface="+mn-lt"/>
                <a:ea typeface="Roboto" panose="02000000000000000000" pitchFamily="2" charset="0"/>
                <a:hlinkClick r:id="rId3"/>
              </a:rPr>
              <a:t>link</a:t>
            </a:r>
            <a:r>
              <a:rPr lang="en-US" sz="1200" dirty="0">
                <a:latin typeface="+mn-lt"/>
                <a:ea typeface="Roboto" panose="02000000000000000000" pitchFamily="2" charset="0"/>
              </a:rPr>
              <a:t>)</a:t>
            </a:r>
            <a:endParaRPr lang="es-MX" sz="1200" dirty="0">
              <a:latin typeface="+mn-lt"/>
              <a:ea typeface="Roboto" panose="02000000000000000000" pitchFamily="2" charset="0"/>
            </a:endParaRPr>
          </a:p>
          <a:p>
            <a:pPr lvl="1"/>
            <a:endParaRPr lang="es-MX" sz="1800" b="1" dirty="0">
              <a:latin typeface="+mn-lt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4894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56" y="96038"/>
            <a:ext cx="11093044" cy="9495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400456" y="1009119"/>
            <a:ext cx="62925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Sumatoria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0219" y="1392949"/>
                <a:ext cx="11681931" cy="4528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Una sumatoria representa la suma de los términos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𝑚</m:t>
                        </m:r>
                      </m:sub>
                    </m:sSub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 </m:t>
                    </m:r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𝑚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+1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,…,</m:t>
                    </m:r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MX" sz="2000" b="0" dirty="0">
                    <a:latin typeface="+mn-lt"/>
                    <a:ea typeface="Roboto" panose="02000000000000000000" pitchFamily="2" charset="0"/>
                  </a:rPr>
                  <a:t> de una secuencia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{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𝑛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}</m:t>
                    </m:r>
                  </m:oMath>
                </a14:m>
                <a:r>
                  <a:rPr lang="es-MX" sz="2000" b="0" dirty="0">
                    <a:latin typeface="+mn-lt"/>
                    <a:ea typeface="Roboto" panose="02000000000000000000" pitchFamily="2" charset="0"/>
                  </a:rPr>
                  <a:t> </a:t>
                </a:r>
              </a:p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Notación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</a:t>
                </a: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La notación para una sumatoria se muestra a continuación: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𝑗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=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𝑚</m:t>
                          </m:r>
                        </m:sub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Una representación mas generalizada para un conjunto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𝑆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esta dada por:</a:t>
                </a: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s-MX" sz="200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𝑗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19" y="1392949"/>
                <a:ext cx="11681931" cy="4528163"/>
              </a:xfrm>
              <a:prstGeom prst="rect">
                <a:avLst/>
              </a:prstGeom>
              <a:blipFill>
                <a:blip r:embed="rId2"/>
                <a:stretch>
                  <a:fillRect b="-264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56335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56" y="96038"/>
            <a:ext cx="8820194" cy="9495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400456" y="932051"/>
            <a:ext cx="62925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Sumatoria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5524" y="1373614"/>
                <a:ext cx="11120451" cy="6920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 1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Cual es el valor de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MX" sz="200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𝑘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=4</m:t>
                        </m:r>
                      </m:sub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8</m:t>
                        </m:r>
                      </m:sup>
                      <m:e>
                        <m:sSup>
                          <m:sSupPr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</m:ctrlPr>
                              </m:dPr>
                              <m:e>
                                <m:r>
                                  <a:rPr lang="es-MX" sz="20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800" b="1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24" y="1373614"/>
                <a:ext cx="11120451" cy="692001"/>
              </a:xfrm>
              <a:prstGeom prst="rect">
                <a:avLst/>
              </a:prstGeom>
              <a:blipFill>
                <a:blip r:embed="rId2"/>
                <a:stretch>
                  <a:fillRect t="-53509" b="-807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E97D0CE8-1D4A-4019-A5B3-4DEFD316B4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5521" y="3096347"/>
                <a:ext cx="11120451" cy="6920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 2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Cual es el valor de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MX" sz="200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𝑖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=1</m:t>
                        </m:r>
                      </m:sub>
                      <m:sup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4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s-MX" sz="200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𝑗</m:t>
                            </m:r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3</m:t>
                            </m:r>
                          </m:sup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𝑖𝑗</m:t>
                            </m:r>
                          </m:e>
                        </m:nary>
                      </m:e>
                    </m:nary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lvl="1"/>
                <a:endParaRPr lang="es-MX" sz="1800" b="1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7" name="Google Shape;310;p34">
                <a:extLst>
                  <a:ext uri="{FF2B5EF4-FFF2-40B4-BE49-F238E27FC236}">
                    <a16:creationId xmlns:a16="http://schemas.microsoft.com/office/drawing/2014/main" id="{E97D0CE8-1D4A-4019-A5B3-4DEFD316B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21" y="3096347"/>
                <a:ext cx="11120451" cy="692001"/>
              </a:xfrm>
              <a:prstGeom prst="rect">
                <a:avLst/>
              </a:prstGeom>
              <a:blipFill>
                <a:blip r:embed="rId3"/>
                <a:stretch>
                  <a:fillRect t="-53097" b="-831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310;p34">
                <a:extLst>
                  <a:ext uri="{FF2B5EF4-FFF2-40B4-BE49-F238E27FC236}">
                    <a16:creationId xmlns:a16="http://schemas.microsoft.com/office/drawing/2014/main" id="{BAF0B6E1-4D9B-422C-85F0-803597D05E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5522" y="4841445"/>
                <a:ext cx="11120451" cy="6920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 3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Cual es el valor de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s-MX" sz="200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𝑠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20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0,2,4</m:t>
                            </m:r>
                          </m:e>
                        </m:d>
                      </m:sub>
                      <m:sup/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𝑠</m:t>
                        </m:r>
                      </m:e>
                    </m:nary>
                  </m:oMath>
                </a14:m>
                <a:endParaRPr lang="es-MX" sz="1800" b="1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9" name="Google Shape;310;p34">
                <a:extLst>
                  <a:ext uri="{FF2B5EF4-FFF2-40B4-BE49-F238E27FC236}">
                    <a16:creationId xmlns:a16="http://schemas.microsoft.com/office/drawing/2014/main" id="{BAF0B6E1-4D9B-422C-85F0-803597D05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22" y="4841445"/>
                <a:ext cx="11120451" cy="692001"/>
              </a:xfrm>
              <a:prstGeom prst="rect">
                <a:avLst/>
              </a:prstGeom>
              <a:blipFill>
                <a:blip r:embed="rId4"/>
                <a:stretch>
                  <a:fillRect t="-49123" b="-850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35E3187-7F5C-496B-9FC8-DFB27A1B20B9}"/>
                  </a:ext>
                </a:extLst>
              </p:cNvPr>
              <p:cNvSpPr txBox="1"/>
              <p:nvPr/>
            </p:nvSpPr>
            <p:spPr>
              <a:xfrm>
                <a:off x="1273691" y="2048671"/>
                <a:ext cx="8612229" cy="778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CO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  <m:sup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  <m:e>
                          <m:sSup>
                            <m:sSupPr>
                              <m:ctrlP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1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MX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MX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s-MX" sz="1800" b="0" i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MX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MX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MX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=1+</m:t>
                      </m:r>
                      <m:d>
                        <m:d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+1+</m:t>
                      </m:r>
                      <m:d>
                        <m:dPr>
                          <m:ctrlPr>
                            <a:rPr lang="es-MX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+1=1</m:t>
                      </m:r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35E3187-7F5C-496B-9FC8-DFB27A1B2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691" y="2048671"/>
                <a:ext cx="8612229" cy="778739"/>
              </a:xfrm>
              <a:prstGeom prst="rect">
                <a:avLst/>
              </a:prstGeom>
              <a:blipFill>
                <a:blip r:embed="rId5"/>
                <a:stretch>
                  <a:fillRect b="-7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AFEF42A-5FF2-4DE7-8507-2FCEBF175A93}"/>
                  </a:ext>
                </a:extLst>
              </p:cNvPr>
              <p:cNvSpPr txBox="1"/>
              <p:nvPr/>
            </p:nvSpPr>
            <p:spPr>
              <a:xfrm>
                <a:off x="1214333" y="3880738"/>
                <a:ext cx="9112815" cy="8210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MX" sz="180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𝑖</m:t>
                          </m:r>
                          <m: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=1</m:t>
                          </m:r>
                        </m:sub>
                        <m:sup>
                          <m: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4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𝑗</m:t>
                              </m:r>
                              <m: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3</m:t>
                              </m:r>
                            </m:sup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𝑖𝑗</m:t>
                              </m:r>
                            </m:e>
                          </m:nary>
                        </m:e>
                      </m:nary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𝑖</m:t>
                          </m:r>
                          <m: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=1</m:t>
                          </m:r>
                        </m:sub>
                        <m:sup>
                          <m: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4</m:t>
                          </m:r>
                        </m:sup>
                        <m:e>
                          <m:d>
                            <m:dPr>
                              <m:ctrlP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𝑖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+2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𝑖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+3</m:t>
                              </m:r>
                              <m:r>
                                <a:rPr lang="es-MX" sz="18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𝑖</m:t>
                          </m:r>
                          <m: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=1</m:t>
                          </m:r>
                        </m:sub>
                        <m:sup>
                          <m: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4</m:t>
                          </m:r>
                        </m:sup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6</m:t>
                          </m:r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𝑖</m:t>
                          </m:r>
                        </m:e>
                      </m:nary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=6</m:t>
                      </m:r>
                      <m:d>
                        <m:dPr>
                          <m:ctrlP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1</m:t>
                          </m:r>
                        </m:e>
                      </m:d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+</m:t>
                      </m:r>
                      <m:r>
                        <a:rPr lang="es-MX" sz="18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6</m:t>
                      </m:r>
                      <m:d>
                        <m:dPr>
                          <m:ctrlP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2</m:t>
                          </m:r>
                        </m:e>
                      </m:d>
                      <m:r>
                        <a:rPr lang="es-MX" sz="18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+6</m:t>
                      </m:r>
                      <m:d>
                        <m:dPr>
                          <m:ctrlP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3</m:t>
                          </m:r>
                        </m:e>
                      </m:d>
                      <m:r>
                        <a:rPr lang="es-MX" sz="18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+6</m:t>
                      </m:r>
                      <m:d>
                        <m:dPr>
                          <m:ctrlP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18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4</m:t>
                          </m:r>
                        </m:e>
                      </m:d>
                      <m:r>
                        <a:rPr lang="es-MX" sz="18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=6+12+18+24=60</m:t>
                      </m:r>
                    </m:oMath>
                  </m:oMathPara>
                </a14:m>
                <a:endParaRPr lang="es-CO" sz="180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AFEF42A-5FF2-4DE7-8507-2FCEBF175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333" y="3880738"/>
                <a:ext cx="9112815" cy="8210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BEBC54C-62E2-4C01-80AF-F477A0AF69DB}"/>
                  </a:ext>
                </a:extLst>
              </p:cNvPr>
              <p:cNvSpPr txBox="1"/>
              <p:nvPr/>
            </p:nvSpPr>
            <p:spPr>
              <a:xfrm>
                <a:off x="1214333" y="5703922"/>
                <a:ext cx="2565702" cy="8338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MX" sz="180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𝑠</m:t>
                          </m:r>
                          <m: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18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0,2,4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s-MX" sz="18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𝑠</m:t>
                          </m:r>
                        </m:e>
                      </m:nary>
                      <m:r>
                        <a:rPr lang="es-MX" sz="1800" b="0" i="1" smtClean="0">
                          <a:latin typeface="Cambria Math" panose="02040503050406030204" pitchFamily="18" charset="0"/>
                        </a:rPr>
                        <m:t>=0+2+4=6</m:t>
                      </m:r>
                    </m:oMath>
                  </m:oMathPara>
                </a14:m>
                <a:endParaRPr lang="es-CO" sz="18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BEBC54C-62E2-4C01-80AF-F477A0AF6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333" y="5703922"/>
                <a:ext cx="2565702" cy="8338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62938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0"/>
            <a:ext cx="8763450" cy="9495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406400" y="849467"/>
            <a:ext cx="68028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Sucesión</a:t>
            </a:r>
          </a:p>
        </p:txBody>
      </p:sp>
      <p:sp>
        <p:nvSpPr>
          <p:cNvPr id="5" name="Google Shape;310;p34">
            <a:extLst>
              <a:ext uri="{FF2B5EF4-FFF2-40B4-BE49-F238E27FC236}">
                <a16:creationId xmlns:a16="http://schemas.microsoft.com/office/drawing/2014/main" id="{F102D340-F804-4113-9FEB-9A4128546791}"/>
              </a:ext>
            </a:extLst>
          </p:cNvPr>
          <p:cNvSpPr txBox="1">
            <a:spLocks/>
          </p:cNvSpPr>
          <p:nvPr/>
        </p:nvSpPr>
        <p:spPr>
          <a:xfrm>
            <a:off x="279400" y="1291030"/>
            <a:ext cx="11550065" cy="69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b="1" dirty="0">
                <a:latin typeface="+mn-lt"/>
                <a:ea typeface="Roboto" panose="02000000000000000000" pitchFamily="2" charset="0"/>
              </a:rPr>
              <a:t>Ejemplos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: La siguiente tabla muestra algunos ejemplos de sucesiones:</a:t>
            </a:r>
          </a:p>
          <a:p>
            <a:pPr lvl="1"/>
            <a:endParaRPr lang="es-MX" sz="1800" b="1" dirty="0">
              <a:latin typeface="+mn-lt"/>
              <a:ea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a 9">
                <a:extLst>
                  <a:ext uri="{FF2B5EF4-FFF2-40B4-BE49-F238E27FC236}">
                    <a16:creationId xmlns:a16="http://schemas.microsoft.com/office/drawing/2014/main" id="{7E63930B-C1DE-494E-8450-B35498C90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7494073"/>
                  </p:ext>
                </p:extLst>
              </p:nvPr>
            </p:nvGraphicFramePr>
            <p:xfrm>
              <a:off x="1112656" y="2033182"/>
              <a:ext cx="5156584" cy="4120835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975063">
                      <a:extLst>
                        <a:ext uri="{9D8B030D-6E8A-4147-A177-3AD203B41FA5}">
                          <a16:colId xmlns:a16="http://schemas.microsoft.com/office/drawing/2014/main" val="253011443"/>
                        </a:ext>
                      </a:extLst>
                    </a:gridCol>
                    <a:gridCol w="3181521">
                      <a:extLst>
                        <a:ext uri="{9D8B030D-6E8A-4147-A177-3AD203B41FA5}">
                          <a16:colId xmlns:a16="http://schemas.microsoft.com/office/drawing/2014/main" val="402758340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Expresión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Formula </a:t>
                          </a:r>
                          <a:r>
                            <a:rPr lang="es-MX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cerrada</a:t>
                          </a:r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99830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s-CO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𝑖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𝑐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𝑛𝑐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6636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s-CO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𝑖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𝑖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𝑛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102503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s-CO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𝑖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𝑖</m:t>
                                        </m:r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𝑛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2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𝑛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6053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s-CO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𝑖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𝑖</m:t>
                                        </m:r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+1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0105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s-CO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𝑖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+</m:t>
                                        </m:r>
                                        <m:d>
                                          <m:dPr>
                                            <m:ctrlP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𝑑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 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𝑛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𝑑</m:t>
                                    </m:r>
                                  </m:e>
                                </m:d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1565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a 9">
                <a:extLst>
                  <a:ext uri="{FF2B5EF4-FFF2-40B4-BE49-F238E27FC236}">
                    <a16:creationId xmlns:a16="http://schemas.microsoft.com/office/drawing/2014/main" id="{7E63930B-C1DE-494E-8450-B35498C90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7494073"/>
                  </p:ext>
                </p:extLst>
              </p:nvPr>
            </p:nvGraphicFramePr>
            <p:xfrm>
              <a:off x="1112656" y="2033182"/>
              <a:ext cx="5156584" cy="4120835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1975063">
                      <a:extLst>
                        <a:ext uri="{9D8B030D-6E8A-4147-A177-3AD203B41FA5}">
                          <a16:colId xmlns:a16="http://schemas.microsoft.com/office/drawing/2014/main" val="253011443"/>
                        </a:ext>
                      </a:extLst>
                    </a:gridCol>
                    <a:gridCol w="3181521">
                      <a:extLst>
                        <a:ext uri="{9D8B030D-6E8A-4147-A177-3AD203B41FA5}">
                          <a16:colId xmlns:a16="http://schemas.microsoft.com/office/drawing/2014/main" val="4027583409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Expresión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Formula </a:t>
                          </a:r>
                          <a:r>
                            <a:rPr lang="es-MX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cerrada</a:t>
                          </a:r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9983075"/>
                      </a:ext>
                    </a:extLst>
                  </a:tr>
                  <a:tr h="757111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9" t="-45968" r="-162037" b="-4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141" t="-45968" r="-382" b="-40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663674"/>
                      </a:ext>
                    </a:extLst>
                  </a:tr>
                  <a:tr h="757111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9" t="-144800" r="-16203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141" t="-144800" r="-38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1025034"/>
                      </a:ext>
                    </a:extLst>
                  </a:tr>
                  <a:tr h="757111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9" t="-246774" r="-162037" b="-202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141" t="-246774" r="-382" b="-202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605380"/>
                      </a:ext>
                    </a:extLst>
                  </a:tr>
                  <a:tr h="757111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9" t="-344000" r="-162037" b="-100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141" t="-344000" r="-382" b="-1008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0105893"/>
                      </a:ext>
                    </a:extLst>
                  </a:tr>
                  <a:tr h="757111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9" t="-447581" r="-162037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141" t="-447581" r="-382" b="-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1565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a 9">
                <a:extLst>
                  <a:ext uri="{FF2B5EF4-FFF2-40B4-BE49-F238E27FC236}">
                    <a16:creationId xmlns:a16="http://schemas.microsoft.com/office/drawing/2014/main" id="{6D0BA783-8C12-4F4C-B4C0-42A6B70457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3276731"/>
                  </p:ext>
                </p:extLst>
              </p:nvPr>
            </p:nvGraphicFramePr>
            <p:xfrm>
              <a:off x="6662274" y="2266831"/>
              <a:ext cx="4835182" cy="33636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391785">
                      <a:extLst>
                        <a:ext uri="{9D8B030D-6E8A-4147-A177-3AD203B41FA5}">
                          <a16:colId xmlns:a16="http://schemas.microsoft.com/office/drawing/2014/main" val="253011443"/>
                        </a:ext>
                      </a:extLst>
                    </a:gridCol>
                    <a:gridCol w="2443397">
                      <a:extLst>
                        <a:ext uri="{9D8B030D-6E8A-4147-A177-3AD203B41FA5}">
                          <a16:colId xmlns:a16="http://schemas.microsoft.com/office/drawing/2014/main" val="402758340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Expresión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Formula </a:t>
                          </a:r>
                          <a:r>
                            <a:rPr lang="es-MX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cerrada</a:t>
                          </a:r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99830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s-CO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𝑖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  <m:sSup>
                                      <m:sSup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𝑎</m:t>
                                </m:r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𝑛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+1</m:t>
                                        </m:r>
                                      </m:sup>
                                    </m:s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𝑟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−1</m:t>
                                    </m:r>
                                  </m:den>
                                </m:f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     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𝑟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6636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s-CO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𝑖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  <m:sSup>
                                      <m:sSup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𝑖</m:t>
                                        </m:r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p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+1</m:t>
                                            </m:r>
                                          </m:sup>
                                        </m:sSup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𝑟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(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𝑟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−1)</m:t>
                                    </m:r>
                                  </m:den>
                                </m:f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     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𝑟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≠0, 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102503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s-CO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𝑖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  <m:sSup>
                                      <m:sSup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1−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𝑟</m:t>
                                    </m:r>
                                  </m:den>
                                </m:f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      </m:t>
                                </m:r>
                                <m:d>
                                  <m:d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&lt;1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  <a:p>
                          <a:pPr algn="l"/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69468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s-CO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𝑖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s-MX" sz="1600" b="0" i="1" smtClean="0">
                                            <a:latin typeface="Cambria Math" panose="02040503050406030204" pitchFamily="18" charset="0"/>
                                            <a:ea typeface="Roboto" panose="02000000000000000000" pitchFamily="2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s-MX" sz="1600" b="0" i="1" smtClean="0">
                                                <a:latin typeface="Cambria Math" panose="02040503050406030204" pitchFamily="18" charset="0"/>
                                                <a:ea typeface="Roboto" panose="02000000000000000000" pitchFamily="2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s-MX" sz="1600" b="0" i="1" smtClean="0">
                                    <a:latin typeface="Cambria Math" panose="02040503050406030204" pitchFamily="18" charset="0"/>
                                    <a:ea typeface="Roboto" panose="02000000000000000000" pitchFamily="2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𝑛</m:t>
                                    </m:r>
                                    <m:r>
                                      <a:rPr lang="es-MX" sz="1600" b="0" i="1" smtClean="0">
                                        <a:latin typeface="Cambria Math" panose="02040503050406030204" pitchFamily="18" charset="0"/>
                                        <a:ea typeface="Roboto" panose="02000000000000000000" pitchFamily="2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CO" sz="1600" b="0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6053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a 9">
                <a:extLst>
                  <a:ext uri="{FF2B5EF4-FFF2-40B4-BE49-F238E27FC236}">
                    <a16:creationId xmlns:a16="http://schemas.microsoft.com/office/drawing/2014/main" id="{6D0BA783-8C12-4F4C-B4C0-42A6B70457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3276731"/>
                  </p:ext>
                </p:extLst>
              </p:nvPr>
            </p:nvGraphicFramePr>
            <p:xfrm>
              <a:off x="6662274" y="2266831"/>
              <a:ext cx="4835182" cy="3363660"/>
            </p:xfrm>
            <a:graphic>
              <a:graphicData uri="http://schemas.openxmlformats.org/drawingml/2006/table">
                <a:tbl>
                  <a:tblPr firstRow="1" bandRow="1">
                    <a:tableStyleId>{AD6A3598-7CB8-4345-8D95-17CE05F158A0}</a:tableStyleId>
                  </a:tblPr>
                  <a:tblGrid>
                    <a:gridCol w="2391785">
                      <a:extLst>
                        <a:ext uri="{9D8B030D-6E8A-4147-A177-3AD203B41FA5}">
                          <a16:colId xmlns:a16="http://schemas.microsoft.com/office/drawing/2014/main" val="253011443"/>
                        </a:ext>
                      </a:extLst>
                    </a:gridCol>
                    <a:gridCol w="2443397">
                      <a:extLst>
                        <a:ext uri="{9D8B030D-6E8A-4147-A177-3AD203B41FA5}">
                          <a16:colId xmlns:a16="http://schemas.microsoft.com/office/drawing/2014/main" val="4027583409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Expresión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CO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Formula </a:t>
                          </a:r>
                          <a:r>
                            <a:rPr lang="es-MX" sz="1600" b="1" dirty="0">
                              <a:latin typeface="Roboto" panose="02000000000000000000" pitchFamily="2" charset="0"/>
                              <a:ea typeface="Roboto" panose="02000000000000000000" pitchFamily="2" charset="0"/>
                            </a:rPr>
                            <a:t>cerrada</a:t>
                          </a:r>
                          <a:endParaRPr lang="es-CO" sz="1600" b="1" dirty="0">
                            <a:latin typeface="Roboto" panose="02000000000000000000" pitchFamily="2" charset="0"/>
                            <a:ea typeface="Roboto" panose="02000000000000000000" pitchFamily="2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9983075"/>
                      </a:ext>
                    </a:extLst>
                  </a:tr>
                  <a:tr h="757365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4" t="-45600" r="-10279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8010" t="-45600" r="-49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663674"/>
                      </a:ext>
                    </a:extLst>
                  </a:tr>
                  <a:tr h="757365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4" t="-146774" r="-102799" b="-202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8010" t="-146774" r="-498" b="-202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1025034"/>
                      </a:ext>
                    </a:extLst>
                  </a:tr>
                  <a:tr h="756539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4" t="-244800" r="-102799" b="-100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8010" t="-244800" r="-498" b="-1008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6946828"/>
                      </a:ext>
                    </a:extLst>
                  </a:tr>
                  <a:tr h="757111"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4" t="-347581" r="-102799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8010" t="-347581" r="-498" b="-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6053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921154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50" y="96038"/>
            <a:ext cx="8761200" cy="9495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459450" y="929922"/>
            <a:ext cx="62925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Productoria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2100" y="1399915"/>
                <a:ext cx="11745001" cy="45281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Una secuencia consiste en el producto de los términos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𝑚</m:t>
                        </m:r>
                      </m:sub>
                    </m:sSub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 </m:t>
                    </m:r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𝑚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+1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,…,</m:t>
                    </m:r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MX" sz="2000" b="0" dirty="0">
                    <a:latin typeface="+mn-lt"/>
                    <a:ea typeface="Roboto" panose="02000000000000000000" pitchFamily="2" charset="0"/>
                  </a:rPr>
                  <a:t> de una secuencia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{</m:t>
                        </m:r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𝑛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}</m:t>
                    </m:r>
                  </m:oMath>
                </a14:m>
                <a:r>
                  <a:rPr lang="es-MX" sz="2000" b="0" dirty="0">
                    <a:latin typeface="+mn-lt"/>
                    <a:ea typeface="Roboto" panose="02000000000000000000" pitchFamily="2" charset="0"/>
                  </a:rPr>
                  <a:t> </a:t>
                </a:r>
              </a:p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Notación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</a:t>
                </a: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La notación para una sumatoria se muestra a continuación: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s-MX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×…×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584200" lvl="1" indent="0">
                  <a:buNone/>
                </a:pPr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Una representación mas generalizada para un conjunto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𝑆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esta dada por:</a:t>
                </a: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es-MX" sz="200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𝑗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∈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sSub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0" y="1399915"/>
                <a:ext cx="11745001" cy="4528163"/>
              </a:xfrm>
              <a:prstGeom prst="rect">
                <a:avLst/>
              </a:prstGeom>
              <a:blipFill>
                <a:blip r:embed="rId2"/>
                <a:stretch>
                  <a:fillRect b="-265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6022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6038"/>
            <a:ext cx="8763450" cy="9495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457200" y="928797"/>
            <a:ext cx="67520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Función identidad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7988" y="1392445"/>
                <a:ext cx="11697199" cy="18466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La función identidad es una función que mapea cada elemento del conjunto a sí mismo. Definiendo esto mas formalmente, si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un conjunto no vacío, La función identidad sobre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 denotada 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MX" sz="2000" b="0" i="0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id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​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𝐼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​ 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​), esta definida por: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𝐼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</m:t>
                          </m:r>
                        </m:sub>
                      </m:sSub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: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𝐴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→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𝐴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,    </m:t>
                      </m:r>
                      <m:sSub>
                        <m:sSub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𝐼</m:t>
                          </m:r>
                        </m:e>
                        <m:sub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𝑥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  ∀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𝑥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∈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𝐴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88" y="1392445"/>
                <a:ext cx="11697199" cy="18466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5C6028BD-96FE-474A-8E66-C60B0FB355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7988" y="3217327"/>
                <a:ext cx="4824452" cy="32378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Ejemplo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Sea 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={1,2,3}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entonces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𝐼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0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</m:e>
                    </m:d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=1</m:t>
                    </m:r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𝐼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0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</m:e>
                    </m:d>
                    <m:r>
                      <a:rPr lang="es-MX" sz="200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</m:t>
                    </m:r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𝐼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</m:t>
                        </m:r>
                      </m:sub>
                    </m:sSub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0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3</m:t>
                        </m:r>
                      </m:e>
                    </m:d>
                    <m:r>
                      <a:rPr lang="es-MX" sz="200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a:rPr lang="es-MX" sz="2000" b="0" i="0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3</m:t>
                    </m:r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Luego, la representación como pares ordenados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𝐼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será:</a:t>
                </a:r>
              </a:p>
              <a:p>
                <a:pPr lvl="1"/>
                <a:endParaRPr lang="es-MX" sz="16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sSub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𝐼</m:t>
                          </m:r>
                        </m:e>
                        <m:sub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𝐴</m:t>
                          </m:r>
                        </m:sub>
                      </m:sSub>
                      <m:r>
                        <a:rPr lang="es-MX" sz="20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1,1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2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3</m:t>
                              </m:r>
                              <m:r>
                                <a:rPr lang="es-MX" sz="2000" i="1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  <a:ea typeface="Roboto" panose="02000000000000000000" pitchFamily="2" charset="0"/>
                                </a:rPr>
                                <m:t>3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Google Shape;310;p34">
                <a:extLst>
                  <a:ext uri="{FF2B5EF4-FFF2-40B4-BE49-F238E27FC236}">
                    <a16:creationId xmlns:a16="http://schemas.microsoft.com/office/drawing/2014/main" id="{5C6028BD-96FE-474A-8E66-C60B0FB35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88" y="3217327"/>
                <a:ext cx="4824452" cy="3237874"/>
              </a:xfrm>
              <a:prstGeom prst="rect">
                <a:avLst/>
              </a:prstGeom>
              <a:blipFill>
                <a:blip r:embed="rId3"/>
                <a:stretch>
                  <a:fillRect b="-32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upo 42">
            <a:extLst>
              <a:ext uri="{FF2B5EF4-FFF2-40B4-BE49-F238E27FC236}">
                <a16:creationId xmlns:a16="http://schemas.microsoft.com/office/drawing/2014/main" id="{51E643FC-7B0F-4EF1-BAF1-740F42F85A15}"/>
              </a:ext>
            </a:extLst>
          </p:cNvPr>
          <p:cNvGrpSpPr/>
          <p:nvPr/>
        </p:nvGrpSpPr>
        <p:grpSpPr>
          <a:xfrm>
            <a:off x="4685872" y="3791935"/>
            <a:ext cx="3140704" cy="2139187"/>
            <a:chOff x="8415159" y="3630162"/>
            <a:chExt cx="3140704" cy="21391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4A1B2CD6-D907-4822-A645-2FDBC1EA8FD5}"/>
                    </a:ext>
                  </a:extLst>
                </p:cNvPr>
                <p:cNvSpPr txBox="1"/>
                <p:nvPr/>
              </p:nvSpPr>
              <p:spPr>
                <a:xfrm>
                  <a:off x="8415159" y="5400017"/>
                  <a:ext cx="14082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s-MX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  <m:d>
                          <m:dPr>
                            <m:ctrlPr>
                              <a:rPr lang="es-MX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d>
                      </m:oMath>
                    </m:oMathPara>
                  </a14:m>
                  <a:endParaRPr lang="es-CO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4A1B2CD6-D907-4822-A645-2FDBC1EA8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5159" y="5400017"/>
                  <a:ext cx="140828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FF31D2C0-6610-499B-9276-29B35160FD02}"/>
                    </a:ext>
                  </a:extLst>
                </p:cNvPr>
                <p:cNvSpPr txBox="1"/>
                <p:nvPr/>
              </p:nvSpPr>
              <p:spPr>
                <a:xfrm>
                  <a:off x="10147576" y="5391018"/>
                  <a:ext cx="14082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s-MX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MX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d>
                          <m:dPr>
                            <m:ctrlPr>
                              <a:rPr lang="es-MX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d>
                      </m:oMath>
                    </m:oMathPara>
                  </a14:m>
                  <a:endParaRPr lang="es-CO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FF31D2C0-6610-499B-9276-29B35160FD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47576" y="5391018"/>
                  <a:ext cx="140828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F8BFEB0B-A4D8-444F-8382-00E4784D67DB}"/>
                </a:ext>
              </a:extLst>
            </p:cNvPr>
            <p:cNvGrpSpPr/>
            <p:nvPr/>
          </p:nvGrpSpPr>
          <p:grpSpPr>
            <a:xfrm>
              <a:off x="8857455" y="3643560"/>
              <a:ext cx="2331933" cy="1618938"/>
              <a:chOff x="8730808" y="2998033"/>
              <a:chExt cx="2331933" cy="1618938"/>
            </a:xfrm>
          </p:grpSpPr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4EF860C1-7095-49B1-8A22-8F48A9350FDB}"/>
                  </a:ext>
                </a:extLst>
              </p:cNvPr>
              <p:cNvSpPr/>
              <p:nvPr/>
            </p:nvSpPr>
            <p:spPr>
              <a:xfrm>
                <a:off x="8730808" y="2998033"/>
                <a:ext cx="675335" cy="161893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079833CF-21B3-44B4-A619-131BB0D9A8EB}"/>
                      </a:ext>
                    </a:extLst>
                  </p:cNvPr>
                  <p:cNvSpPr txBox="1"/>
                  <p:nvPr/>
                </p:nvSpPr>
                <p:spPr>
                  <a:xfrm>
                    <a:off x="8801230" y="3300829"/>
                    <a:ext cx="40377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s-CO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079833CF-21B3-44B4-A619-131BB0D9A8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01230" y="3300829"/>
                    <a:ext cx="403774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CuadroTexto 32">
                    <a:extLst>
                      <a:ext uri="{FF2B5EF4-FFF2-40B4-BE49-F238E27FC236}">
                        <a16:creationId xmlns:a16="http://schemas.microsoft.com/office/drawing/2014/main" id="{17E28732-A988-426C-A6F3-8B7FDC3F21DF}"/>
                      </a:ext>
                    </a:extLst>
                  </p:cNvPr>
                  <p:cNvSpPr txBox="1"/>
                  <p:nvPr/>
                </p:nvSpPr>
                <p:spPr>
                  <a:xfrm>
                    <a:off x="8801757" y="3634261"/>
                    <a:ext cx="40377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s-CO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CuadroTexto 32">
                    <a:extLst>
                      <a:ext uri="{FF2B5EF4-FFF2-40B4-BE49-F238E27FC236}">
                        <a16:creationId xmlns:a16="http://schemas.microsoft.com/office/drawing/2014/main" id="{17E28732-A988-426C-A6F3-8B7FDC3F21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01757" y="3634261"/>
                    <a:ext cx="403774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84D31CE7-84C5-4213-BB09-725A618B9435}"/>
                      </a:ext>
                    </a:extLst>
                  </p:cNvPr>
                  <p:cNvSpPr txBox="1"/>
                  <p:nvPr/>
                </p:nvSpPr>
                <p:spPr>
                  <a:xfrm>
                    <a:off x="8790769" y="3976521"/>
                    <a:ext cx="40377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s-CO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84D31CE7-84C5-4213-BB09-725A618B94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0769" y="3976521"/>
                    <a:ext cx="403774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5CDF5296-5972-4E95-B58A-402B74382F84}"/>
                  </a:ext>
                </a:extLst>
              </p:cNvPr>
              <p:cNvSpPr/>
              <p:nvPr/>
            </p:nvSpPr>
            <p:spPr>
              <a:xfrm>
                <a:off x="10387406" y="2998033"/>
                <a:ext cx="675335" cy="161893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CuadroTexto 20">
                    <a:extLst>
                      <a:ext uri="{FF2B5EF4-FFF2-40B4-BE49-F238E27FC236}">
                        <a16:creationId xmlns:a16="http://schemas.microsoft.com/office/drawing/2014/main" id="{74E1EC3F-740D-4436-9E27-F740E71E5693}"/>
                      </a:ext>
                    </a:extLst>
                  </p:cNvPr>
                  <p:cNvSpPr txBox="1"/>
                  <p:nvPr/>
                </p:nvSpPr>
                <p:spPr>
                  <a:xfrm>
                    <a:off x="10496790" y="3299791"/>
                    <a:ext cx="40377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s-CO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CuadroTexto 20">
                    <a:extLst>
                      <a:ext uri="{FF2B5EF4-FFF2-40B4-BE49-F238E27FC236}">
                        <a16:creationId xmlns:a16="http://schemas.microsoft.com/office/drawing/2014/main" id="{74E1EC3F-740D-4436-9E27-F740E71E56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96790" y="3299791"/>
                    <a:ext cx="403774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CuadroTexto 21">
                    <a:extLst>
                      <a:ext uri="{FF2B5EF4-FFF2-40B4-BE49-F238E27FC236}">
                        <a16:creationId xmlns:a16="http://schemas.microsoft.com/office/drawing/2014/main" id="{9CAF320E-B1D4-4543-B43F-238592AB52A8}"/>
                      </a:ext>
                    </a:extLst>
                  </p:cNvPr>
                  <p:cNvSpPr txBox="1"/>
                  <p:nvPr/>
                </p:nvSpPr>
                <p:spPr>
                  <a:xfrm>
                    <a:off x="10484617" y="3633223"/>
                    <a:ext cx="40377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s-CO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CuadroTexto 21">
                    <a:extLst>
                      <a:ext uri="{FF2B5EF4-FFF2-40B4-BE49-F238E27FC236}">
                        <a16:creationId xmlns:a16="http://schemas.microsoft.com/office/drawing/2014/main" id="{9CAF320E-B1D4-4543-B43F-238592AB52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84617" y="3633223"/>
                    <a:ext cx="403774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CuadroTexto 22">
                    <a:extLst>
                      <a:ext uri="{FF2B5EF4-FFF2-40B4-BE49-F238E27FC236}">
                        <a16:creationId xmlns:a16="http://schemas.microsoft.com/office/drawing/2014/main" id="{3D408609-4679-4D69-B5E7-B017A489EE24}"/>
                      </a:ext>
                    </a:extLst>
                  </p:cNvPr>
                  <p:cNvSpPr txBox="1"/>
                  <p:nvPr/>
                </p:nvSpPr>
                <p:spPr>
                  <a:xfrm>
                    <a:off x="10486329" y="3975483"/>
                    <a:ext cx="40377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 xmlns:m="http://schemas.openxmlformats.org/officeDocument/2006/math">
                          <m:r>
                            <a:rPr lang="es-MX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s-CO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CuadroTexto 22">
                    <a:extLst>
                      <a:ext uri="{FF2B5EF4-FFF2-40B4-BE49-F238E27FC236}">
                        <a16:creationId xmlns:a16="http://schemas.microsoft.com/office/drawing/2014/main" id="{3D408609-4679-4D69-B5E7-B017A489EE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86329" y="3975483"/>
                    <a:ext cx="403774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Conector recto de flecha 10">
                <a:extLst>
                  <a:ext uri="{FF2B5EF4-FFF2-40B4-BE49-F238E27FC236}">
                    <a16:creationId xmlns:a16="http://schemas.microsoft.com/office/drawing/2014/main" id="{985C846F-7178-49C7-9CD8-042E1B117B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4530" y="3491700"/>
                <a:ext cx="1416799" cy="581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cto de flecha 11">
                <a:extLst>
                  <a:ext uri="{FF2B5EF4-FFF2-40B4-BE49-F238E27FC236}">
                    <a16:creationId xmlns:a16="http://schemas.microsoft.com/office/drawing/2014/main" id="{F4E73E13-3431-4809-B771-C9C4408422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69293" y="3820312"/>
                <a:ext cx="1416799" cy="581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de flecha 12">
                <a:extLst>
                  <a:ext uri="{FF2B5EF4-FFF2-40B4-BE49-F238E27FC236}">
                    <a16:creationId xmlns:a16="http://schemas.microsoft.com/office/drawing/2014/main" id="{73F3434A-FF23-4390-9705-491FC76ED5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59768" y="4163212"/>
                <a:ext cx="1416799" cy="581"/>
              </a:xfrm>
              <a:prstGeom prst="straightConnector1">
                <a:avLst/>
              </a:prstGeom>
              <a:ln w="28575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CuadroTexto 41">
                  <a:extLst>
                    <a:ext uri="{FF2B5EF4-FFF2-40B4-BE49-F238E27FC236}">
                      <a16:creationId xmlns:a16="http://schemas.microsoft.com/office/drawing/2014/main" id="{CEF6E88F-10FA-49C6-9757-4DE4488902E0}"/>
                    </a:ext>
                  </a:extLst>
                </p:cNvPr>
                <p:cNvSpPr txBox="1"/>
                <p:nvPr/>
              </p:nvSpPr>
              <p:spPr>
                <a:xfrm>
                  <a:off x="9725199" y="3630162"/>
                  <a:ext cx="6753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MX" sz="18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18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s-MX" sz="18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oMath>
                    </m:oMathPara>
                  </a14:m>
                  <a:endParaRPr lang="es-CO" b="1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CuadroTexto 41">
                  <a:extLst>
                    <a:ext uri="{FF2B5EF4-FFF2-40B4-BE49-F238E27FC236}">
                      <a16:creationId xmlns:a16="http://schemas.microsoft.com/office/drawing/2014/main" id="{CEF6E88F-10FA-49C6-9757-4DE4488902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5199" y="3630162"/>
                  <a:ext cx="675335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798978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60" y="96038"/>
            <a:ext cx="8849690" cy="9495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370960" y="976296"/>
            <a:ext cx="9796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Función definida sobre un conjunto potencia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1300" y="1477335"/>
                <a:ext cx="5854700" cy="3510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Previamente se vió que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denota el potencia de un conjunto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Suponiendo que se define la función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𝐹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: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{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𝑏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𝑐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}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→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como sigue para cada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𝑋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∈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{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𝑏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𝑐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}</m:t>
                        </m:r>
                      </m:e>
                    </m:d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, 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𝐹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𝑋</m:t>
                          </m:r>
                        </m:e>
                      </m:d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numero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de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elementos</m:t>
                      </m:r>
                      <m: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en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𝑋</m:t>
                      </m:r>
                    </m:oMath>
                  </m:oMathPara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Dibuje el diagrama de flechas para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𝐹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exprese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𝐹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como pares de puntos.</a:t>
                </a: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1477335"/>
                <a:ext cx="5854700" cy="35105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6322AC0-8B34-46EB-83F4-A680CC302CBC}"/>
                  </a:ext>
                </a:extLst>
              </p:cNvPr>
              <p:cNvSpPr txBox="1"/>
              <p:nvPr/>
            </p:nvSpPr>
            <p:spPr>
              <a:xfrm>
                <a:off x="1667960" y="6135759"/>
                <a:ext cx="885607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MX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∅,0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s-MX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e>
                          </m:d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,2</m:t>
                              </m:r>
                            </m:e>
                          </m:d>
                          <m:r>
                            <a:rPr lang="es-MX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s-MX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s-MX" sz="20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es-MX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MX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CO" sz="20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6322AC0-8B34-46EB-83F4-A680CC302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960" y="6135759"/>
                <a:ext cx="8856079" cy="307777"/>
              </a:xfrm>
              <a:prstGeom prst="rect">
                <a:avLst/>
              </a:prstGeom>
              <a:blipFill>
                <a:blip r:embed="rId3"/>
                <a:stretch>
                  <a:fillRect l="-207" b="-16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4" descr="The first set, script P ({a, b, c}), of the arrow diagram has the elements the empty set, {a}, {b}, {c}, {a, b}, {a, c}, {b, c}, and {a, b, c} . The second set, Z^non neg, has elements 0, 1, 2, 3, 4, 5, ....  An arrow from the empty set points to 0. Arrows from {a}, {b}, and {c} point to point 1. Arrows from {a,b}, {b,c}, and {a,c} point to 2. An arrow from {a, b, c} points to 3.">
            <a:extLst>
              <a:ext uri="{FF2B5EF4-FFF2-40B4-BE49-F238E27FC236}">
                <a16:creationId xmlns:a16="http://schemas.microsoft.com/office/drawing/2014/main" id="{78A00881-AAC0-4DA9-9F40-347882654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124" y="1651249"/>
            <a:ext cx="4800600" cy="389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0847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915" y="96038"/>
            <a:ext cx="8856735" cy="9495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353962" y="928797"/>
            <a:ext cx="103587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Función definida sobre un producto cartesiano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4000" y="1421241"/>
                <a:ext cx="11333397" cy="2895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pt-BR" sz="2000" dirty="0">
                    <a:latin typeface="+mn-lt"/>
                    <a:ea typeface="Roboto" panose="02000000000000000000" pitchFamily="2" charset="0"/>
                  </a:rPr>
                  <a:t>Se define funciones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𝑀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: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pt-BR" sz="2000" dirty="0">
                    <a:latin typeface="+mn-lt"/>
                    <a:ea typeface="Roboto" panose="02000000000000000000" pitchFamily="2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𝑅</m:t>
                    </m:r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: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MX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pt-BR" sz="2000" dirty="0">
                    <a:latin typeface="+mn-lt"/>
                    <a:ea typeface="Roboto" panose="02000000000000000000" pitchFamily="2" charset="0"/>
                  </a:rPr>
                  <a:t> como sigue: para todos los pares de números reales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𝑎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pt-BR" sz="2000" dirty="0">
                    <a:latin typeface="+mn-lt"/>
                    <a:ea typeface="Roboto" panose="02000000000000000000" pitchFamily="2" charset="0"/>
                  </a:rPr>
                  <a:t>,</a:t>
                </a: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Entonces </a:t>
                </a:r>
                <a14:m>
                  <m:oMath xmlns:m="http://schemas.openxmlformats.org/officeDocument/2006/math">
                    <m:r>
                      <a:rPr lang="es-MX" sz="200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𝑀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la función multiplicación que envía cada par de números reales al producto de los dos y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𝑅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la función de reflexión que envía cada punto en el plano que corresponde a un par de números reales a la imagen espejo del punto a través del eje vertical. Tenemos:</a:t>
                </a: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1421241"/>
                <a:ext cx="11333397" cy="2895928"/>
              </a:xfrm>
              <a:prstGeom prst="rect">
                <a:avLst/>
              </a:prstGeom>
              <a:blipFill>
                <a:blip r:embed="rId2"/>
                <a:stretch>
                  <a:fillRect r="-54" b="-46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6322AC0-8B34-46EB-83F4-A680CC302CBC}"/>
                  </a:ext>
                </a:extLst>
              </p:cNvPr>
              <p:cNvSpPr txBox="1"/>
              <p:nvPr/>
            </p:nvSpPr>
            <p:spPr>
              <a:xfrm>
                <a:off x="4831711" y="2373305"/>
                <a:ext cx="16386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𝑀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𝑏</m:t>
                          </m:r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𝑎𝑏</m:t>
                      </m:r>
                    </m:oMath>
                  </m:oMathPara>
                </a14:m>
                <a:endParaRPr lang="es-MX" sz="2000" dirty="0"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6322AC0-8B34-46EB-83F4-A680CC302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711" y="2373305"/>
                <a:ext cx="1638654" cy="307777"/>
              </a:xfrm>
              <a:prstGeom prst="rect">
                <a:avLst/>
              </a:prstGeom>
              <a:blipFill>
                <a:blip r:embed="rId3"/>
                <a:stretch>
                  <a:fillRect r="-746" b="-588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DF8B815-5F43-4697-BC27-8CB003E9B2E3}"/>
                  </a:ext>
                </a:extLst>
              </p:cNvPr>
              <p:cNvSpPr txBox="1"/>
              <p:nvPr/>
            </p:nvSpPr>
            <p:spPr>
              <a:xfrm>
                <a:off x="4605399" y="2915174"/>
                <a:ext cx="209127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𝑅</m:t>
                      </m:r>
                      <m:d>
                        <m:dPr>
                          <m:ctrlP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𝑎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</m:t>
                          </m:r>
                          <m:r>
                            <a:rPr lang="es-MX" sz="20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𝑏</m:t>
                          </m:r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=(−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𝑎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,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𝑏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)</m:t>
                      </m:r>
                    </m:oMath>
                  </m:oMathPara>
                </a14:m>
                <a:endParaRPr lang="es-MX" sz="2000" dirty="0"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DF8B815-5F43-4697-BC27-8CB003E9B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399" y="2915174"/>
                <a:ext cx="2091278" cy="307777"/>
              </a:xfrm>
              <a:prstGeom prst="rect">
                <a:avLst/>
              </a:prstGeom>
              <a:blipFill>
                <a:blip r:embed="rId4"/>
                <a:stretch>
                  <a:fillRect t="-1961" r="-1453" b="-3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310;p34">
                <a:extLst>
                  <a:ext uri="{FF2B5EF4-FFF2-40B4-BE49-F238E27FC236}">
                    <a16:creationId xmlns:a16="http://schemas.microsoft.com/office/drawing/2014/main" id="{D259159F-289A-4F68-84F9-54856D59A7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3915" y="4721668"/>
                <a:ext cx="5287123" cy="14301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s-MX" sz="180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𝑀</m:t>
                    </m:r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−1</m:t>
                        </m:r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</m:e>
                    </m:d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 ?→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𝑀</m:t>
                    </m:r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−1,1</m:t>
                        </m:r>
                      </m:e>
                    </m:d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ctrlP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</m:e>
                    </m:d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=−1</m:t>
                    </m:r>
                  </m:oMath>
                </a14:m>
                <a:endParaRPr lang="es-MX" sz="1800" b="0" dirty="0">
                  <a:latin typeface="+mn-lt"/>
                  <a:ea typeface="Roboto" panose="02000000000000000000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s-MX" sz="180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𝑀</m:t>
                    </m:r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fPr>
                          <m:num>
                            <m:r>
                              <a:rPr lang="es-MX" sz="18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MX" sz="18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den>
                        </m:f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f>
                          <m:fPr>
                            <m:ctrlPr>
                              <a:rPr lang="es-MX" sz="18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fPr>
                          <m:num>
                            <m:r>
                              <a:rPr lang="es-MX" sz="18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MX" sz="18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 ?→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𝑀</m:t>
                    </m:r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fPr>
                          <m:num>
                            <m: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den>
                        </m:f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f>
                          <m:fPr>
                            <m:ctrlP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fPr>
                          <m:num>
                            <m: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fPr>
                          <m:num>
                            <m: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fPr>
                          <m:num>
                            <m: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f>
                      <m:f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fPr>
                      <m:num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</m:t>
                        </m:r>
                      </m:num>
                      <m:den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4</m:t>
                        </m:r>
                      </m:den>
                    </m:f>
                  </m:oMath>
                </a14:m>
                <a:endParaRPr lang="es-MX" sz="1800" b="0" dirty="0">
                  <a:latin typeface="+mn-lt"/>
                  <a:ea typeface="Roboto" panose="02000000000000000000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s-MX" sz="180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𝑀</m:t>
                    </m:r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s-MX" sz="180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radPr>
                          <m:deg/>
                          <m:e>
                            <m:r>
                              <a:rPr lang="es-MX" sz="18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e>
                        </m:rad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radPr>
                          <m:deg/>
                          <m:e>
                            <m: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 ?→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𝑀</m:t>
                    </m:r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radPr>
                          <m:deg/>
                          <m:e>
                            <m: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e>
                        </m:rad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radPr>
                          <m:deg/>
                          <m:e>
                            <m: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radPr>
                          <m:deg/>
                          <m:e>
                            <m: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e>
                        </m:rad>
                      </m:e>
                    </m:d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radPr>
                          <m:deg/>
                          <m:e>
                            <m:r>
                              <a:rPr lang="es-MX" sz="1800" i="1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2</m:t>
                    </m:r>
                  </m:oMath>
                </a14:m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9" name="Google Shape;310;p34">
                <a:extLst>
                  <a:ext uri="{FF2B5EF4-FFF2-40B4-BE49-F238E27FC236}">
                    <a16:creationId xmlns:a16="http://schemas.microsoft.com/office/drawing/2014/main" id="{D259159F-289A-4F68-84F9-54856D59A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15" y="4721668"/>
                <a:ext cx="5287123" cy="14301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49AE7A74-7161-4F5C-8078-6C214F9442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4663026"/>
                <a:ext cx="4619260" cy="13713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𝑅</m:t>
                    </m:r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5</m:t>
                        </m:r>
                      </m:e>
                    </m:d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−(</m:t>
                        </m:r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2</m:t>
                        </m:r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)</m:t>
                        </m:r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,5</m:t>
                        </m:r>
                      </m:e>
                    </m:d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=(−2,5)</m:t>
                    </m:r>
                  </m:oMath>
                </a14:m>
                <a:endParaRPr lang="es-MX" sz="1800" b="0" dirty="0">
                  <a:latin typeface="+mn-lt"/>
                  <a:ea typeface="Roboto" panose="02000000000000000000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𝑅</m:t>
                    </m:r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−2</m:t>
                        </m:r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5</m:t>
                        </m:r>
                      </m:e>
                    </m:d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−(</m:t>
                        </m:r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−2</m:t>
                        </m:r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)</m:t>
                        </m:r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,5</m:t>
                        </m:r>
                      </m:e>
                    </m:d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=(2,5)</m:t>
                    </m:r>
                  </m:oMath>
                </a14:m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𝑅</m:t>
                    </m:r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3</m:t>
                        </m:r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−4</m:t>
                        </m:r>
                      </m:e>
                    </m:d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</m:t>
                    </m:r>
                    <m:d>
                      <m:dPr>
                        <m:ctrlP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−</m:t>
                        </m:r>
                        <m:d>
                          <m:dPr>
                            <m:ctrlPr>
                              <a:rPr lang="es-MX" sz="18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</m:ctrlPr>
                          </m:dPr>
                          <m:e>
                            <m:r>
                              <a:rPr lang="es-MX" sz="1800" b="0" i="1" smtClean="0">
                                <a:latin typeface="Cambria Math" panose="02040503050406030204" pitchFamily="18" charset="0"/>
                                <a:ea typeface="Roboto" panose="02000000000000000000" pitchFamily="2" charset="0"/>
                              </a:rPr>
                              <m:t>3</m:t>
                            </m:r>
                          </m:e>
                        </m:d>
                        <m:r>
                          <a:rPr lang="es-MX" sz="18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18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−4</m:t>
                        </m:r>
                      </m:e>
                    </m:d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=(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−3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,</m:t>
                    </m:r>
                    <m:r>
                      <a:rPr lang="es-MX" sz="18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−4</m:t>
                    </m:r>
                    <m:r>
                      <a:rPr lang="es-MX" sz="18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)</m:t>
                    </m:r>
                  </m:oMath>
                </a14:m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  <a:p>
                <a:endParaRPr lang="es-MX" sz="18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1" name="Google Shape;310;p34">
                <a:extLst>
                  <a:ext uri="{FF2B5EF4-FFF2-40B4-BE49-F238E27FC236}">
                    <a16:creationId xmlns:a16="http://schemas.microsoft.com/office/drawing/2014/main" id="{49AE7A74-7161-4F5C-8078-6C214F944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663026"/>
                <a:ext cx="4619260" cy="13713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257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11" y="96038"/>
            <a:ext cx="8864439" cy="9495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356211" y="1045538"/>
            <a:ext cx="9796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Funciones de codificación y decodificación</a:t>
            </a:r>
          </a:p>
        </p:txBody>
      </p:sp>
      <p:sp>
        <p:nvSpPr>
          <p:cNvPr id="5" name="Google Shape;310;p34">
            <a:extLst>
              <a:ext uri="{FF2B5EF4-FFF2-40B4-BE49-F238E27FC236}">
                <a16:creationId xmlns:a16="http://schemas.microsoft.com/office/drawing/2014/main" id="{F102D340-F804-4113-9FEB-9A4128546791}"/>
              </a:ext>
            </a:extLst>
          </p:cNvPr>
          <p:cNvSpPr txBox="1">
            <a:spLocks/>
          </p:cNvSpPr>
          <p:nvPr/>
        </p:nvSpPr>
        <p:spPr>
          <a:xfrm>
            <a:off x="289424" y="1537981"/>
            <a:ext cx="10737533" cy="4799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Los mensajes digitales constan de sucesiones finitas de 0 y de 1. Cuando se comunican a través de un canal de transmisión, con frecuencia se codifican de forma especial para reducir la posibilidad de que sean ilegibles por ruido que interfiera en las líneas de transmisión.</a:t>
            </a:r>
          </a:p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Por ejemplo, suponga que un mensaje consiste en una sucesión de 0 y de 1. Una forma sencilla de codificar el mensaje es escribir cada bit tres veces. Por tanto, el mensaje</a:t>
            </a:r>
          </a:p>
          <a:p>
            <a:pPr marL="127000" indent="0">
              <a:buNone/>
            </a:pPr>
            <a:endParaRPr lang="es-MX" sz="2000" dirty="0">
              <a:latin typeface="+mn-lt"/>
              <a:ea typeface="Roboto" panose="02000000000000000000" pitchFamily="2" charset="0"/>
            </a:endParaRPr>
          </a:p>
          <a:p>
            <a:pPr marL="127000" indent="0">
              <a:buNone/>
            </a:pPr>
            <a:endParaRPr lang="es-MX" sz="2000" dirty="0">
              <a:latin typeface="+mn-lt"/>
              <a:ea typeface="Roboto" panose="02000000000000000000" pitchFamily="2" charset="0"/>
            </a:endParaRPr>
          </a:p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podría codificarse como</a:t>
            </a:r>
          </a:p>
          <a:p>
            <a:pPr marL="127000" indent="0">
              <a:buNone/>
            </a:pPr>
            <a:endParaRPr lang="es-MX" sz="2000" dirty="0">
              <a:latin typeface="+mn-lt"/>
              <a:ea typeface="Roboto" panose="02000000000000000000" pitchFamily="2" charset="0"/>
            </a:endParaRPr>
          </a:p>
          <a:p>
            <a:pPr marL="127000" indent="0">
              <a:buNone/>
            </a:pPr>
            <a:endParaRPr lang="es-MX" sz="2000" dirty="0">
              <a:latin typeface="+mn-lt"/>
              <a:ea typeface="Roboto" panose="02000000000000000000" pitchFamily="2" charset="0"/>
            </a:endParaRPr>
          </a:p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El receptor del mensaje lo decodifica sustituyendo cada sección de tres bits idénticos por un bit que es igual a todos los tres.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6322AC0-8B34-46EB-83F4-A680CC302CBC}"/>
                  </a:ext>
                </a:extLst>
              </p:cNvPr>
              <p:cNvSpPr txBox="1"/>
              <p:nvPr/>
            </p:nvSpPr>
            <p:spPr>
              <a:xfrm>
                <a:off x="4868711" y="3783930"/>
                <a:ext cx="13336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00101111</m:t>
                      </m:r>
                    </m:oMath>
                  </m:oMathPara>
                </a14:m>
                <a:endParaRPr lang="es-MX" sz="2000" dirty="0"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6322AC0-8B34-46EB-83F4-A680CC302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711" y="3783930"/>
                <a:ext cx="1333698" cy="307777"/>
              </a:xfrm>
              <a:prstGeom prst="rect">
                <a:avLst/>
              </a:prstGeom>
              <a:blipFill>
                <a:blip r:embed="rId2"/>
                <a:stretch>
                  <a:fillRect r="-459" b="-6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28268DD-4B2A-433B-B210-E8FA7F16E3BE}"/>
                  </a:ext>
                </a:extLst>
              </p:cNvPr>
              <p:cNvSpPr txBox="1"/>
              <p:nvPr/>
            </p:nvSpPr>
            <p:spPr>
              <a:xfrm>
                <a:off x="3727373" y="4983850"/>
                <a:ext cx="361637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000000111000111111111111</m:t>
                      </m:r>
                    </m:oMath>
                  </m:oMathPara>
                </a14:m>
                <a:endParaRPr lang="es-MX" sz="2000" dirty="0"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28268DD-4B2A-433B-B210-E8FA7F16E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373" y="4983850"/>
                <a:ext cx="3616375" cy="307777"/>
              </a:xfrm>
              <a:prstGeom prst="rect">
                <a:avLst/>
              </a:prstGeom>
              <a:blipFill>
                <a:blip r:embed="rId3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60237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25" y="96038"/>
            <a:ext cx="8723725" cy="9495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430138" y="948318"/>
            <a:ext cx="9796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Funciones de codificación y decodificación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6925" y="1421240"/>
                <a:ext cx="11090471" cy="41700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el conjunto de todas las cadenas de 0 y de 1 y sea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𝑇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el conjunto de todas las cadenas de 0 y de 1 que consisten de triples consecutivos bits idénticos. Los procesos de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codificación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</a:t>
                </a:r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decodificación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descritos anteriormente son realmente funciones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𝑇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y de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𝑇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</a:t>
                </a:r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Función de codificación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La función de codificación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𝐸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es la función de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</a:t>
                </a:r>
                <a:r>
                  <a:rPr lang="es-MX" sz="2000" dirty="0" err="1">
                    <a:latin typeface="+mn-lt"/>
                    <a:ea typeface="Roboto" panose="02000000000000000000" pitchFamily="2" charset="0"/>
                  </a:rPr>
                  <a:t>a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𝑇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se define como sigue: Para cada cadena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𝑠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𝐴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</a:t>
                </a:r>
              </a:p>
              <a:p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Función de decodificación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 La función de codificación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𝐷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se define como sigue: Para cada cadena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𝑡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∈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𝑇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</a:t>
                </a: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925" y="1421240"/>
                <a:ext cx="11090471" cy="41700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6322AC0-8B34-46EB-83F4-A680CC302CBC}"/>
                  </a:ext>
                </a:extLst>
              </p:cNvPr>
              <p:cNvSpPr txBox="1"/>
              <p:nvPr/>
            </p:nvSpPr>
            <p:spPr>
              <a:xfrm>
                <a:off x="1051269" y="3383174"/>
                <a:ext cx="1060291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𝐸</m:t>
                      </m:r>
                      <m:d>
                        <m:d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𝑠</m:t>
                          </m:r>
                        </m:e>
                      </m:d>
                      <m:r>
                        <a:rPr lang="es-MX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cadena</m:t>
                      </m:r>
                      <m: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que</m:t>
                      </m:r>
                      <m: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se</m:t>
                      </m:r>
                      <m: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obtiene</m:t>
                      </m:r>
                      <m: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de</m:t>
                      </m:r>
                      <m:r>
                        <a:rPr lang="es-MX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𝑠</m:t>
                      </m:r>
                      <m:r>
                        <a:rPr lang="es-MX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al</m:t>
                      </m:r>
                      <m: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reemplazar</m:t>
                      </m:r>
                      <m: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cada</m:t>
                      </m:r>
                      <m:r>
                        <a:rPr lang="es-MX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bit</m:t>
                      </m:r>
                      <m: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de</m:t>
                      </m:r>
                      <m:r>
                        <a:rPr lang="es-MX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𝑠</m:t>
                      </m:r>
                      <m:r>
                        <a:rPr lang="es-MX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por</m:t>
                      </m:r>
                      <m: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el</m:t>
                      </m:r>
                      <m: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mismo</m:t>
                      </m:r>
                      <m: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bit</m:t>
                      </m:r>
                      <m: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escrito</m:t>
                      </m:r>
                      <m:r>
                        <a:rPr lang="es-MX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tres</m:t>
                      </m:r>
                      <m: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veces</m:t>
                      </m:r>
                    </m:oMath>
                  </m:oMathPara>
                </a14:m>
                <a:endParaRPr lang="es-MX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6322AC0-8B34-46EB-83F4-A680CC302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269" y="3383174"/>
                <a:ext cx="10602914" cy="276999"/>
              </a:xfrm>
              <a:prstGeom prst="rect">
                <a:avLst/>
              </a:prstGeom>
              <a:blipFill>
                <a:blip r:embed="rId3"/>
                <a:stretch>
                  <a:fillRect b="-3777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C54F61C-291C-45D5-BB3C-E2C3721E4F6E}"/>
                  </a:ext>
                </a:extLst>
              </p:cNvPr>
              <p:cNvSpPr txBox="1"/>
              <p:nvPr/>
            </p:nvSpPr>
            <p:spPr>
              <a:xfrm>
                <a:off x="604604" y="4954564"/>
                <a:ext cx="11307996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𝐷</m:t>
                      </m:r>
                      <m:d>
                        <m:dPr>
                          <m:ctrlPr>
                            <a:rPr lang="es-MX" sz="16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1600" i="1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𝑠</m:t>
                          </m:r>
                        </m:e>
                      </m:d>
                      <m: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cadena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que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se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obtiene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de</m:t>
                      </m:r>
                      <m:r>
                        <m:rPr>
                          <m:nor/>
                        </m:rPr>
                        <a:rPr lang="es-CO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s-CO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al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sustituir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cada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triple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CO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consecutivo</m:t>
                      </m:r>
                      <m:r>
                        <m:rPr>
                          <m:nor/>
                        </m:rPr>
                        <a:rPr lang="es-MX" sz="16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s-MX" sz="16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de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tres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bits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identicos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de</m:t>
                      </m:r>
                      <m:r>
                        <m:rPr>
                          <m:nor/>
                        </m:rP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s-MX" sz="16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 b="0" i="0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por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una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sola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copia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de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dicho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bit</m:t>
                      </m:r>
                      <m:r>
                        <m:rPr>
                          <m:nor/>
                        </m:rPr>
                        <a:rPr lang="es-MX" sz="160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.</m:t>
                      </m:r>
                    </m:oMath>
                  </m:oMathPara>
                </a14:m>
                <a:endParaRPr lang="es-MX" sz="1600" dirty="0">
                  <a:latin typeface="Cambria Math" panose="02040503050406030204" pitchFamily="18" charset="0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C54F61C-291C-45D5-BB3C-E2C3721E4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04" y="4954564"/>
                <a:ext cx="11307996" cy="246221"/>
              </a:xfrm>
              <a:prstGeom prst="rect">
                <a:avLst/>
              </a:prstGeom>
              <a:blipFill>
                <a:blip r:embed="rId4"/>
                <a:stretch>
                  <a:fillRect b="-35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7453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96038"/>
            <a:ext cx="8712650" cy="9495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604604" y="799316"/>
            <a:ext cx="101081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Distancia Hamming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4605" y="1165468"/>
                <a:ext cx="10982792" cy="47397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302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●"/>
                  <a:defRPr sz="2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1pPr>
                <a:lvl2pPr marL="914400" marR="0" lvl="1" indent="-3302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Roboto"/>
                  <a:buChar char="○"/>
                  <a:defRPr sz="22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8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●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○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Roboto"/>
                  <a:buChar char="■"/>
                  <a:defRPr sz="1600" b="0" i="0" u="none" strike="noStrike" cap="none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defRPr>
                </a:lvl9pPr>
              </a:lstStyle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La función de distancia de Hamming, nombrada así en honor del científico en computación Richard W. Hamming (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  <a:hlinkClick r:id="rId2"/>
                  </a:rPr>
                  <a:t>link</a:t>
                </a: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), es muy importante en la teoría de codificación. Da una medida de la “diferencia” entre dos cadenas de 0 y 1 que tienen la misma longitud. 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𝑆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el conjunto de todas las cadenas de 0 y de 1 de longitud </a:t>
                </a:r>
                <a14:m>
                  <m:oMath xmlns:m="http://schemas.openxmlformats.org/officeDocument/2006/math"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𝑛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. Se define una función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𝐻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:</m:t>
                    </m:r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𝑆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𝑛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×</m:t>
                    </m:r>
                    <m:sSub>
                      <m:sSub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𝑆</m:t>
                        </m:r>
                      </m:e>
                      <m:sub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𝑛</m:t>
                        </m:r>
                      </m:sub>
                    </m:sSub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→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 como sigue: Para cada par de cadenas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𝑠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,</m:t>
                        </m:r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𝑡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∈</m:t>
                    </m:r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𝑆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𝑛</m:t>
                        </m:r>
                      </m:sub>
                    </m:sSub>
                    <m:r>
                      <a:rPr lang="es-MX" sz="2000" i="1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×</m:t>
                    </m:r>
                    <m:sSub>
                      <m:sSubPr>
                        <m:ctrlP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sSubPr>
                      <m:e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𝑆</m:t>
                        </m:r>
                      </m:e>
                      <m:sub>
                        <m:r>
                          <a:rPr lang="es-MX" sz="2000" i="1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MX" sz="2000" b="1" dirty="0">
                    <a:latin typeface="+mn-lt"/>
                    <a:ea typeface="Roboto" panose="02000000000000000000" pitchFamily="2" charset="0"/>
                  </a:rPr>
                  <a:t>,</a:t>
                </a:r>
              </a:p>
              <a:p>
                <a:pPr marL="127000" indent="0">
                  <a:buNone/>
                </a:pPr>
                <a:endParaRPr lang="es-MX" sz="2000" b="1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𝐻</m:t>
                      </m:r>
                      <m:d>
                        <m:dPr>
                          <m:ctrlP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</m:ctrlPr>
                        </m:dPr>
                        <m:e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𝑠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,</m:t>
                          </m:r>
                          <m:r>
                            <a:rPr lang="es-MX" sz="2000" b="0" i="1" smtClean="0">
                              <a:latin typeface="Cambria Math" panose="02040503050406030204" pitchFamily="18" charset="0"/>
                              <a:ea typeface="Roboto" panose="02000000000000000000" pitchFamily="2" charset="0"/>
                            </a:rPr>
                            <m:t>𝑡</m:t>
                          </m:r>
                        </m:e>
                      </m:d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n</m:t>
                      </m:r>
                      <m: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ú</m:t>
                      </m:r>
                      <m:r>
                        <m:rPr>
                          <m:sty m:val="p"/>
                        </m:rP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mero</m:t>
                      </m:r>
                      <m: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de</m:t>
                      </m:r>
                      <m: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posiciones</m:t>
                      </m:r>
                      <m: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en</m:t>
                      </m:r>
                      <m: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las</m:t>
                      </m:r>
                      <m: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que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𝑠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y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𝑡</m:t>
                      </m:r>
                      <m:r>
                        <a:rPr lang="es-MX" sz="2000" i="1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tienen</m:t>
                      </m:r>
                      <m: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valores</m:t>
                      </m:r>
                      <m: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MX" sz="2000" i="0">
                          <a:latin typeface="Cambria Math" panose="02040503050406030204" pitchFamily="18" charset="0"/>
                          <a:ea typeface="Roboto" panose="02000000000000000000" pitchFamily="2" charset="0"/>
                        </a:rPr>
                        <m:t>diferentes</m:t>
                      </m:r>
                    </m:oMath>
                  </m:oMathPara>
                </a14:m>
                <a:endParaRPr lang="es-MX" sz="2000" b="1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b="1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Aplicando esta definición tenemos para algunos casos en los que </a:t>
                </a:r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𝑛</m:t>
                    </m:r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=5</m:t>
                    </m:r>
                  </m:oMath>
                </a14:m>
                <a:r>
                  <a:rPr lang="es-MX" sz="2000" dirty="0">
                    <a:latin typeface="+mn-lt"/>
                    <a:ea typeface="Roboto" panose="02000000000000000000" pitchFamily="2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𝐻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11111,00000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=5</m:t>
                    </m:r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𝐻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11000,00000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=2</m:t>
                    </m:r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𝐻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00101,01110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=3</m:t>
                    </m:r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𝐻</m:t>
                    </m:r>
                    <m:d>
                      <m:dPr>
                        <m:ctrlP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</m:ctrlPr>
                      </m:dPr>
                      <m:e>
                        <m:r>
                          <a:rPr lang="es-MX" sz="2000" b="0" i="1" smtClean="0">
                            <a:latin typeface="Cambria Math" panose="02040503050406030204" pitchFamily="18" charset="0"/>
                            <a:ea typeface="Roboto" panose="02000000000000000000" pitchFamily="2" charset="0"/>
                          </a:rPr>
                          <m:t>10001,01111</m:t>
                        </m:r>
                      </m:e>
                    </m:d>
                    <m:r>
                      <a:rPr lang="es-MX" sz="2000" b="0" i="1" smtClean="0">
                        <a:latin typeface="Cambria Math" panose="02040503050406030204" pitchFamily="18" charset="0"/>
                        <a:ea typeface="Roboto" panose="02000000000000000000" pitchFamily="2" charset="0"/>
                      </a:rPr>
                      <m:t>=4</m:t>
                    </m:r>
                  </m:oMath>
                </a14:m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  <a:p>
                <a:pPr marL="127000" indent="0">
                  <a:buNone/>
                </a:pPr>
                <a:endParaRPr lang="es-MX" sz="2000" dirty="0">
                  <a:latin typeface="+mn-lt"/>
                  <a:ea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5" name="Google Shape;310;p34">
                <a:extLst>
                  <a:ext uri="{FF2B5EF4-FFF2-40B4-BE49-F238E27FC236}">
                    <a16:creationId xmlns:a16="http://schemas.microsoft.com/office/drawing/2014/main" id="{F102D340-F804-4113-9FEB-9A4128546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05" y="1165468"/>
                <a:ext cx="10982792" cy="4739717"/>
              </a:xfrm>
              <a:prstGeom prst="rect">
                <a:avLst/>
              </a:prstGeom>
              <a:blipFill>
                <a:blip r:embed="rId3"/>
                <a:stretch>
                  <a:fillRect r="-6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D48F8BB0-78F9-4226-92BE-25C199E933BC}"/>
              </a:ext>
            </a:extLst>
          </p:cNvPr>
          <p:cNvSpPr txBox="1"/>
          <p:nvPr/>
        </p:nvSpPr>
        <p:spPr>
          <a:xfrm>
            <a:off x="849863" y="6025115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b="1" dirty="0">
                <a:ea typeface="Roboto" panose="02000000000000000000" pitchFamily="2" charset="0"/>
              </a:rPr>
              <a:t>Para profundizar: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200" dirty="0">
                <a:ea typeface="Roboto" panose="02000000000000000000" pitchFamily="2" charset="0"/>
                <a:hlinkClick r:id="rId4"/>
              </a:rPr>
              <a:t>https://www.compscilib.com/calculate/hamming-distance?view=tool</a:t>
            </a:r>
            <a:endParaRPr lang="es-CO" sz="1200" dirty="0">
              <a:ea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200" dirty="0">
                <a:ea typeface="Roboto" panose="02000000000000000000" pitchFamily="2" charset="0"/>
                <a:hlinkClick r:id="rId5"/>
              </a:rPr>
              <a:t>https://www.datacamp.com/tutorial/hamming-distance</a:t>
            </a:r>
            <a:r>
              <a:rPr lang="es-CO" sz="1200" dirty="0">
                <a:ea typeface="Roboto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73597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8DF2-7986-4872-8459-F68D43B2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63" y="96038"/>
            <a:ext cx="8879187" cy="9495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  <a:latin typeface="+mj-lt"/>
              </a:rPr>
              <a:t>Algunas funciones importantes</a:t>
            </a:r>
            <a:endParaRPr lang="es-CO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06584F-E654-43C4-B227-506E8D74F454}"/>
              </a:ext>
            </a:extLst>
          </p:cNvPr>
          <p:cNvSpPr txBox="1"/>
          <p:nvPr/>
        </p:nvSpPr>
        <p:spPr>
          <a:xfrm>
            <a:off x="341463" y="898295"/>
            <a:ext cx="979608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600" b="1" dirty="0">
                <a:ea typeface="Roboto" panose="02000000000000000000" pitchFamily="2" charset="0"/>
              </a:rPr>
              <a:t>Funciones Booleanas</a:t>
            </a:r>
          </a:p>
        </p:txBody>
      </p:sp>
      <p:sp>
        <p:nvSpPr>
          <p:cNvPr id="5" name="Google Shape;310;p34">
            <a:extLst>
              <a:ext uri="{FF2B5EF4-FFF2-40B4-BE49-F238E27FC236}">
                <a16:creationId xmlns:a16="http://schemas.microsoft.com/office/drawing/2014/main" id="{F102D340-F804-4113-9FEB-9A4128546791}"/>
              </a:ext>
            </a:extLst>
          </p:cNvPr>
          <p:cNvSpPr txBox="1">
            <a:spLocks/>
          </p:cNvSpPr>
          <p:nvPr/>
        </p:nvSpPr>
        <p:spPr>
          <a:xfrm>
            <a:off x="206552" y="1271378"/>
            <a:ext cx="11515547" cy="240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  <a:defRPr sz="2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○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Cualquier tabla de entrada/salida define una función de la siguiente manera: los elementos de la columna de entrada pueden considerarse tuplas ordenadas de 0 y 1; el conjunto de todas estas tuplas ordenadas constituye el dominio de la función. </a:t>
            </a:r>
          </a:p>
          <a:p>
            <a:pPr marL="127000" indent="0">
              <a:buNone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Los elementos de la columna de salida son todos 0 o 1; por lo tanto, {0, 1} se considera el codominio de la función. La relación envía cada elemento de entrada al elemento de salida en la misma fila. Así, por ejemplo, la tabla de entrada/salida de figura (a) define la función con el diagrama de flechas de la figura (b).</a:t>
            </a:r>
          </a:p>
        </p:txBody>
      </p:sp>
      <p:pic>
        <p:nvPicPr>
          <p:cNvPr id="6" name="Picture 3" descr="A table labeled a has 2 columns with headings input and output. Under input heading there are another 3 columns with headings P, Q, and R and under output heading is another heading S. &#10;For the input values 1, 1, 1, of P, Q, R the output value S is 1,&#10;For the input values 1, 1, 0, of P, Q, R the output value S is 1,&#10;For the input values 1, 0, 1, of P, Q, R the output value S is 0,&#10;For the input values 1, 0, 0, of P, Q, R the output value S is 1,&#10;For the input values 0, 1, 1, of P, Q, R the output value S is 0,&#10;For the input values 0, 1, 0, of P, Q, R the output value S is 1,&#10;For the input values 0, 0, 1, of P, Q, R the output value S is 0,&#10;For the input values 0, 0, 0, of P, Q, R the output value S is 0.">
            <a:extLst>
              <a:ext uri="{FF2B5EF4-FFF2-40B4-BE49-F238E27FC236}">
                <a16:creationId xmlns:a16="http://schemas.microsoft.com/office/drawing/2014/main" id="{CA82209F-5D19-49DB-8F1C-B9459A958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477" y="3481689"/>
            <a:ext cx="2330720" cy="3280273"/>
          </a:xfrm>
          <a:prstGeom prst="rect">
            <a:avLst/>
          </a:prstGeom>
        </p:spPr>
      </p:pic>
      <p:pic>
        <p:nvPicPr>
          <p:cNvPr id="7" name="Picture 7" descr="The first set of the arrow diagram has the elements (1,1,1), (1,1,0), (1,0,1), (1,0,0), (0,1,1), (0,1,0), (0,0,1), and (0,0,0). The second set has the elements 1 and 0. Arrows from (1,1,1), (1,1,0), (1,0,0), and (0,1,0) point to 1; and, arrows from (1,0,1), (0,1,1), (0,0,1), and (0,0,0) point to 0.  ">
            <a:extLst>
              <a:ext uri="{FF2B5EF4-FFF2-40B4-BE49-F238E27FC236}">
                <a16:creationId xmlns:a16="http://schemas.microsoft.com/office/drawing/2014/main" id="{5BAB70EE-8F7A-466A-AA86-E361C4EEE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28100"/>
            <a:ext cx="2943693" cy="258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101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28191</TotalTime>
  <Words>4516</Words>
  <Application>Microsoft Office PowerPoint</Application>
  <PresentationFormat>Panorámica</PresentationFormat>
  <Paragraphs>777</Paragraphs>
  <Slides>45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45</vt:i4>
      </vt:variant>
    </vt:vector>
  </HeadingPairs>
  <TitlesOfParts>
    <vt:vector size="54" baseType="lpstr">
      <vt:lpstr>Roboto Slab</vt:lpstr>
      <vt:lpstr>Consolas</vt:lpstr>
      <vt:lpstr>Arial</vt:lpstr>
      <vt:lpstr>Calibri</vt:lpstr>
      <vt:lpstr>Calibri Light</vt:lpstr>
      <vt:lpstr>Roboto</vt:lpstr>
      <vt:lpstr>Cambria Math</vt:lpstr>
      <vt:lpstr>Tema de Office</vt:lpstr>
      <vt:lpstr>1_Tema de Office</vt:lpstr>
      <vt:lpstr> Matemáticas Discretas I</vt:lpstr>
      <vt:lpstr>Conceptos preliminares</vt:lpstr>
      <vt:lpstr>Conceptos preliminares</vt:lpstr>
      <vt:lpstr>Conceptos preliminares</vt:lpstr>
      <vt:lpstr>Conceptos preliminares</vt:lpstr>
      <vt:lpstr>Conceptos preliminares</vt:lpstr>
      <vt:lpstr>Conceptos preliminares</vt:lpstr>
      <vt:lpstr>Conceptos preliminares</vt:lpstr>
      <vt:lpstr>Conceptos preliminares</vt:lpstr>
      <vt:lpstr>Conceptos preliminares</vt:lpstr>
      <vt:lpstr>Conceptos preliminares</vt:lpstr>
      <vt:lpstr>Conceptos preliminares</vt:lpstr>
      <vt:lpstr>Conceptos preliminares</vt:lpstr>
      <vt:lpstr>Conceptos preliminares</vt:lpstr>
      <vt:lpstr>Conceptos preliminares</vt:lpstr>
      <vt:lpstr>Conceptos preliminares</vt:lpstr>
      <vt:lpstr>Conceptos preliminares</vt:lpstr>
      <vt:lpstr>Conceptos preliminares</vt:lpstr>
      <vt:lpstr>Conceptos preliminares</vt:lpstr>
      <vt:lpstr>Conceptos preliminares</vt:lpstr>
      <vt:lpstr>Funciones</vt:lpstr>
      <vt:lpstr>Funciones</vt:lpstr>
      <vt:lpstr>Funciones</vt:lpstr>
      <vt:lpstr>Funciones</vt:lpstr>
      <vt:lpstr>Funciones</vt:lpstr>
      <vt:lpstr>Funciones</vt:lpstr>
      <vt:lpstr>Funciones</vt:lpstr>
      <vt:lpstr>Funciones</vt:lpstr>
      <vt:lpstr>Funciones</vt:lpstr>
      <vt:lpstr>Algunas funciones importantes</vt:lpstr>
      <vt:lpstr>Algunas funciones importantes</vt:lpstr>
      <vt:lpstr>Algunas funciones importantes</vt:lpstr>
      <vt:lpstr>Algunas funciones importantes</vt:lpstr>
      <vt:lpstr>Algunas funciones importantes</vt:lpstr>
      <vt:lpstr>Algunas funciones importantes</vt:lpstr>
      <vt:lpstr>Algunas funciones importantes</vt:lpstr>
      <vt:lpstr>Algunas funciones importantes</vt:lpstr>
      <vt:lpstr>Algunas funciones importantes</vt:lpstr>
      <vt:lpstr>Algunas funciones importantes</vt:lpstr>
      <vt:lpstr>Algunas funciones importantes</vt:lpstr>
      <vt:lpstr>Algunas funciones importantes</vt:lpstr>
      <vt:lpstr>Algunas funciones importantes</vt:lpstr>
      <vt:lpstr>Algunas funciones importantes</vt:lpstr>
      <vt:lpstr>Algunas funciones importantes</vt:lpstr>
      <vt:lpstr>Algunas funciones importantes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Matemáticas Discretas I</dc:title>
  <dc:creator>Usuario</dc:creator>
  <cp:lastModifiedBy>HENRY ALBERTO ARCILA RAMIREZ</cp:lastModifiedBy>
  <cp:revision>372</cp:revision>
  <dcterms:modified xsi:type="dcterms:W3CDTF">2026-10-22T04:07:45Z</dcterms:modified>
</cp:coreProperties>
</file>