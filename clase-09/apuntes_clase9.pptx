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41"/>
  </p:notesMasterIdLst>
  <p:sldIdLst>
    <p:sldId id="256" r:id="rId2"/>
    <p:sldId id="581" r:id="rId3"/>
    <p:sldId id="586" r:id="rId4"/>
    <p:sldId id="553" r:id="rId5"/>
    <p:sldId id="566" r:id="rId6"/>
    <p:sldId id="583" r:id="rId7"/>
    <p:sldId id="587" r:id="rId8"/>
    <p:sldId id="469" r:id="rId9"/>
    <p:sldId id="555" r:id="rId10"/>
    <p:sldId id="588" r:id="rId11"/>
    <p:sldId id="589" r:id="rId12"/>
    <p:sldId id="590" r:id="rId13"/>
    <p:sldId id="372" r:id="rId14"/>
    <p:sldId id="560" r:id="rId15"/>
    <p:sldId id="265" r:id="rId16"/>
    <p:sldId id="591" r:id="rId17"/>
    <p:sldId id="556" r:id="rId18"/>
    <p:sldId id="402" r:id="rId19"/>
    <p:sldId id="410" r:id="rId20"/>
    <p:sldId id="558" r:id="rId21"/>
    <p:sldId id="479" r:id="rId22"/>
    <p:sldId id="559" r:id="rId23"/>
    <p:sldId id="592" r:id="rId24"/>
    <p:sldId id="594" r:id="rId25"/>
    <p:sldId id="595" r:id="rId26"/>
    <p:sldId id="500" r:id="rId27"/>
    <p:sldId id="501" r:id="rId28"/>
    <p:sldId id="575" r:id="rId29"/>
    <p:sldId id="318" r:id="rId30"/>
    <p:sldId id="488" r:id="rId31"/>
    <p:sldId id="596" r:id="rId32"/>
    <p:sldId id="490" r:id="rId33"/>
    <p:sldId id="492" r:id="rId34"/>
    <p:sldId id="493" r:id="rId35"/>
    <p:sldId id="570" r:id="rId36"/>
    <p:sldId id="597" r:id="rId37"/>
    <p:sldId id="598" r:id="rId38"/>
    <p:sldId id="494" r:id="rId39"/>
    <p:sldId id="599" r:id="rId40"/>
  </p:sldIdLst>
  <p:sldSz cx="12192000" cy="6858000"/>
  <p:notesSz cx="6858000" cy="9144000"/>
  <p:embeddedFontLs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libri Light" panose="020F0302020204030204" pitchFamily="34" charset="0"/>
      <p:regular r:id="rId46"/>
      <p:italic r:id="rId47"/>
    </p:embeddedFont>
    <p:embeddedFont>
      <p:font typeface="Cambria Math" panose="02040503050406030204" pitchFamily="18" charset="0"/>
      <p:regular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Slab" panose="020B0604020202020204" charset="0"/>
      <p:regular r:id="rId53"/>
      <p:bold r:id="rId54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6A3598-7CB8-4345-8D95-17CE05F158A0}">
  <a:tblStyle styleId="{AD6A3598-7CB8-4345-8D95-17CE05F158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4291" autoAdjust="0"/>
  </p:normalViewPr>
  <p:slideViewPr>
    <p:cSldViewPr snapToGrid="0">
      <p:cViewPr varScale="1">
        <p:scale>
          <a:sx n="65" d="100"/>
          <a:sy n="65" d="100"/>
        </p:scale>
        <p:origin x="7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0576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3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9019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3730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18727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775033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666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6167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6725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5903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5312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8364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3722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1580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533530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84579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365836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49657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104799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94796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5403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000798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10107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3523753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190459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7541837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5296210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5956538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4700098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09191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28189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836738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5301126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1014012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862524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1321298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208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F7C0A-E2D6-4080-904E-6704D2B4B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351679-63AE-4C40-A6F6-990681453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41DC7B-6996-4E8E-9DC9-64F8F991F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F70192-6802-48FC-B445-66DF70EF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D7B2A8-303A-465A-AC56-149E54E1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202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0EB09-C1FE-4BF3-B66C-634F3FBD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47A6BC-9CE4-43AE-BE9F-9E5409213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F0E079-CE95-4E95-8AC4-C6249E256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529B62-9B43-44AB-B3D5-2E70F2B3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13AFD5-0143-4119-9B88-5DD335E4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74872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7FEC7-E98F-427E-9D15-7AFA5ABA7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B65703-454F-4AD7-8AAC-F8A6D3B0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9164B4-36C6-44AE-B221-6B86F3BC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67A48F-27AA-4344-B825-BA98D269A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870694-3817-4195-9E48-8754FA71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067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D88CB-AC75-42A8-834A-539149C8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1FC942-BCFB-4AF4-8904-2009A61DD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20351C-DB08-4F03-9C30-21CF1745D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720BD3-20A0-499E-AB1B-297A98B9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A2F911-D549-4C77-9383-2D6A1263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570277-D447-4EAD-A19C-C4E34A06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432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ED162-9027-475F-8984-D6762B0E5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DA3F26-096E-4859-9B23-261D1DCEF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425495-2CF7-4F53-8A9C-C0DF6AE84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6560A6-2F20-4674-8377-4A13517F3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1E30EC-B181-42A1-ACF6-FAFD4B8BD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00BF459-AF99-4E06-A0D1-68A785046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2207BA-F2EE-46BF-B465-867953B6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3815C5-F837-42CA-96C8-D7FBA07E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898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4EBF-F43D-4712-ACFC-5A55BA52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469F65-53CD-42B8-8433-6707E65A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E19D78E-BF28-464D-B5A7-7AAF031B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F26584-5325-409C-BF4F-EF6961C69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92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F15D94-E8F3-40CD-88B8-09D0B084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8DF5E7-3F5A-4FD2-9729-75934A36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7233BB-9E2A-4074-8113-8FE80F64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25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9CAB6-5FF4-44C4-8045-D71269B6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FFC3DF-95EB-4DAA-94F0-9DA23DAB7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3442A5-9405-4569-997F-D46460FD4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792D93-3E82-4D8B-A59D-3C51978E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C1CC21-447F-43B6-B0D3-1FDBF25D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305255-D0EA-45B9-B488-1F19E976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396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0B853-095B-4578-80D9-D7B1796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DAE3409-D233-4FB0-957E-4E51B7970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5DD858-3FCE-458C-A67F-F27163348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DD8C4E-C251-4D87-BC5D-A6420003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D2DC2A-F4FD-4CE4-9883-30CF599CE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E99798-8108-42CD-AD15-F625BDC5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47553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CAFC2-FE20-4635-9171-63884AD9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E2024D-040E-4379-B5F3-70F2394DD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C5702-B3C2-43D0-BD7B-F0367BA8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AB459F-EB54-4A9B-B1CF-231174555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4BDE13-18E6-424B-B148-10F9E4CB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38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9E9C86-C77C-437C-B30E-C10807CFE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F4023E-8248-48D6-8AA2-50B4C13DB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C3B313-4725-4E33-A222-B834000E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91A7D-7FCE-490D-9CE8-CFE92198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47AABF-929C-40B1-955D-0E7F8B84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689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0222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7011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274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A77D22-D66C-4F3B-85CD-E61D8CFF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949632-76AF-43EB-82A7-23D5AD231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70532-90AA-44A1-ABBD-5058D4EE2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A96F85-FAB2-4D4F-8D14-B184E9A4A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A54398-900D-4268-B5EA-3F0FC94F0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620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gif"/><Relationship Id="rId5" Type="http://schemas.openxmlformats.org/officeDocument/2006/relationships/hyperlink" Target="https://www.youtube.com/watch?v=OK_m5Em0B8E" TargetMode="External"/><Relationship Id="rId4" Type="http://schemas.openxmlformats.org/officeDocument/2006/relationships/image" Target="../media/image12.jpe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37.png"/><Relationship Id="rId4" Type="http://schemas.openxmlformats.org/officeDocument/2006/relationships/image" Target="../media/image2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hyperlink" Target="https://es.wikipedia.org/wiki/Lewis_Carroll" TargetMode="External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hyperlink" Target="https://www.gutenberg.org/files/28696/28696-h/28696-h.htm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Lewis_Carrol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gutenberg.org/files/28696/28696-h/28696-h.htm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35379"/>
            <a:ext cx="11021275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dirty="0"/>
              <a:t>Matemáticas Discretas I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365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600" b="1" dirty="0"/>
              <a:t>Clase 09 – Equivalencias Lógica </a:t>
            </a:r>
            <a:r>
              <a:rPr lang="es-ES" sz="3600" b="1" dirty="0" err="1"/>
              <a:t>cuantificacional</a:t>
            </a:r>
            <a:endParaRPr lang="es-ES" sz="3600" b="1"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O" sz="2800" dirty="0"/>
              <a:t>Universidad de Antioquia</a:t>
            </a:r>
          </a:p>
          <a:p>
            <a:r>
              <a:rPr lang="es-CO" sz="2800" dirty="0"/>
              <a:t>Facultad de Ingeniería</a:t>
            </a:r>
          </a:p>
          <a:p>
            <a:r>
              <a:rPr lang="es-CO" sz="28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23" y="96038"/>
            <a:ext cx="11150968" cy="949500"/>
          </a:xfrm>
        </p:spPr>
        <p:txBody>
          <a:bodyPr/>
          <a:lstStyle/>
          <a:p>
            <a:pPr marL="57150" lvl="0" algn="l" rtl="0">
              <a:spcBef>
                <a:spcPts val="1000"/>
              </a:spcBef>
              <a:spcAft>
                <a:spcPts val="0"/>
              </a:spcAft>
              <a:buSzPts val="2700"/>
            </a:pPr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338878" y="971762"/>
            <a:ext cx="11150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Lógica de primer orden (FOL – First Order Logic)</a:t>
            </a:r>
          </a:p>
        </p:txBody>
      </p:sp>
      <p:sp>
        <p:nvSpPr>
          <p:cNvPr id="12" name="Google Shape;310;p34">
            <a:extLst>
              <a:ext uri="{FF2B5EF4-FFF2-40B4-BE49-F238E27FC236}">
                <a16:creationId xmlns:a16="http://schemas.microsoft.com/office/drawing/2014/main" id="{ACC4508D-920F-4244-9412-59F6BEE00FB9}"/>
              </a:ext>
            </a:extLst>
          </p:cNvPr>
          <p:cNvSpPr txBox="1">
            <a:spLocks/>
          </p:cNvSpPr>
          <p:nvPr/>
        </p:nvSpPr>
        <p:spPr>
          <a:xfrm>
            <a:off x="176647" y="1382616"/>
            <a:ext cx="11224229" cy="231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La </a:t>
            </a:r>
            <a:r>
              <a:rPr lang="es-MX" sz="2200" b="1" dirty="0">
                <a:latin typeface="+mn-lt"/>
                <a:ea typeface="Roboto" panose="02000000000000000000" pitchFamily="2" charset="0"/>
              </a:rPr>
              <a:t>lógica de primer orden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(lógica de predicados o lógica cuantificacional) es un sistema lógico para razonar sobre las propiedades de los objetos.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Amplía los conectores lógicos de la lógica proposicional con:</a:t>
            </a:r>
          </a:p>
          <a:p>
            <a:pPr lvl="1"/>
            <a:r>
              <a:rPr lang="es-MX" b="1" dirty="0">
                <a:latin typeface="+mn-lt"/>
                <a:ea typeface="Roboto" panose="02000000000000000000" pitchFamily="2" charset="0"/>
              </a:rPr>
              <a:t>Predicados</a:t>
            </a:r>
            <a:r>
              <a:rPr lang="es-MX" dirty="0">
                <a:latin typeface="+mn-lt"/>
                <a:ea typeface="Roboto" panose="02000000000000000000" pitchFamily="2" charset="0"/>
              </a:rPr>
              <a:t> que describen las propiedades de los objetos.</a:t>
            </a:r>
          </a:p>
          <a:p>
            <a:pPr lvl="1"/>
            <a:r>
              <a:rPr lang="es-MX" b="1" dirty="0">
                <a:latin typeface="+mn-lt"/>
                <a:ea typeface="Roboto" panose="02000000000000000000" pitchFamily="2" charset="0"/>
              </a:rPr>
              <a:t>Funciones</a:t>
            </a:r>
            <a:r>
              <a:rPr lang="es-MX" dirty="0">
                <a:latin typeface="+mn-lt"/>
                <a:ea typeface="Roboto" panose="02000000000000000000" pitchFamily="2" charset="0"/>
              </a:rPr>
              <a:t> que relacionan los objetos entre sí.</a:t>
            </a:r>
          </a:p>
          <a:p>
            <a:pPr lvl="1"/>
            <a:r>
              <a:rPr lang="es-MX" b="1" dirty="0">
                <a:latin typeface="+mn-lt"/>
                <a:ea typeface="Roboto" panose="02000000000000000000" pitchFamily="2" charset="0"/>
              </a:rPr>
              <a:t>Cuantificadores</a:t>
            </a:r>
            <a:r>
              <a:rPr lang="es-MX" dirty="0">
                <a:latin typeface="+mn-lt"/>
                <a:ea typeface="Roboto" panose="02000000000000000000" pitchFamily="2" charset="0"/>
              </a:rPr>
              <a:t> que permiten razonar sobre muchos objetos a la vez.</a:t>
            </a:r>
          </a:p>
        </p:txBody>
      </p:sp>
    </p:spTree>
    <p:extLst>
      <p:ext uri="{BB962C8B-B14F-4D97-AF65-F5344CB8AC3E}">
        <p14:creationId xmlns:p14="http://schemas.microsoft.com/office/powerpoint/2010/main" val="402707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23" y="96038"/>
            <a:ext cx="11150968" cy="949500"/>
          </a:xfrm>
        </p:spPr>
        <p:txBody>
          <a:bodyPr/>
          <a:lstStyle/>
          <a:p>
            <a:pPr marL="57150" lvl="0" algn="l" rtl="0">
              <a:spcBef>
                <a:spcPts val="1000"/>
              </a:spcBef>
              <a:spcAft>
                <a:spcPts val="0"/>
              </a:spcAft>
              <a:buSzPts val="2700"/>
            </a:pPr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294968" y="971762"/>
            <a:ext cx="10646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Lógica de primer orden (FOL – First Order Logic)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4391F97-1788-4622-91F5-5712EAD92173}"/>
              </a:ext>
            </a:extLst>
          </p:cNvPr>
          <p:cNvSpPr txBox="1"/>
          <p:nvPr/>
        </p:nvSpPr>
        <p:spPr>
          <a:xfrm>
            <a:off x="2556400" y="2269823"/>
            <a:ext cx="7451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dirty="0">
                <a:ea typeface="Roboto" panose="02000000000000000000" pitchFamily="2" charset="0"/>
              </a:rPr>
              <a:t>“Cualquier equipo que pase a la final puede ser campeón”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918AEAF-A095-436F-8D08-4E95012678DE}"/>
              </a:ext>
            </a:extLst>
          </p:cNvPr>
          <p:cNvSpPr txBox="1"/>
          <p:nvPr/>
        </p:nvSpPr>
        <p:spPr>
          <a:xfrm>
            <a:off x="353626" y="1504096"/>
            <a:ext cx="116057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Ejemplo</a:t>
            </a:r>
            <a:r>
              <a:rPr lang="es-CO" sz="2000" dirty="0">
                <a:ea typeface="Roboto" panose="02000000000000000000" pitchFamily="2" charset="0"/>
              </a:rPr>
              <a:t>: Exprese la afirmación “cualquier equipo que pase a la final puede ser campeón” en lógica proposicional y lógica cuantificacional.</a:t>
            </a: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F37E690C-F1E9-41EC-9282-A40AD8FCF181}"/>
              </a:ext>
            </a:extLst>
          </p:cNvPr>
          <p:cNvGrpSpPr/>
          <p:nvPr/>
        </p:nvGrpSpPr>
        <p:grpSpPr>
          <a:xfrm>
            <a:off x="798285" y="3685583"/>
            <a:ext cx="6549243" cy="870178"/>
            <a:chOff x="1069722" y="3650371"/>
            <a:chExt cx="6549243" cy="870178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495B1ABB-5FF8-452F-9FDF-1BD174A42329}"/>
                </a:ext>
              </a:extLst>
            </p:cNvPr>
            <p:cNvSpPr txBox="1"/>
            <p:nvPr/>
          </p:nvSpPr>
          <p:spPr>
            <a:xfrm>
              <a:off x="1069722" y="3650371"/>
              <a:ext cx="654924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2000" dirty="0">
                  <a:ea typeface="Roboto" panose="02000000000000000000" pitchFamily="2" charset="0"/>
                </a:rPr>
                <a:t>Si </a:t>
              </a:r>
              <a:r>
                <a:rPr lang="es-CO" sz="2000" dirty="0">
                  <a:solidFill>
                    <a:srgbClr val="C00000"/>
                  </a:solidFill>
                  <a:ea typeface="Roboto" panose="02000000000000000000" pitchFamily="2" charset="0"/>
                </a:rPr>
                <a:t>un equipo pasa a la final</a:t>
              </a:r>
              <a:r>
                <a:rPr lang="es-CO" sz="2000" dirty="0">
                  <a:ea typeface="Roboto" panose="02000000000000000000" pitchFamily="2" charset="0"/>
                </a:rPr>
                <a:t>, entonces </a:t>
              </a:r>
              <a:r>
                <a:rPr lang="es-CO" sz="2000" dirty="0">
                  <a:solidFill>
                    <a:schemeClr val="accent1"/>
                  </a:solidFill>
                  <a:ea typeface="Roboto" panose="02000000000000000000" pitchFamily="2" charset="0"/>
                </a:rPr>
                <a:t>puede ser campeón</a:t>
              </a:r>
            </a:p>
          </p:txBody>
        </p:sp>
        <p:sp>
          <p:nvSpPr>
            <p:cNvPr id="5" name="Abrir llave 4">
              <a:extLst>
                <a:ext uri="{FF2B5EF4-FFF2-40B4-BE49-F238E27FC236}">
                  <a16:creationId xmlns:a16="http://schemas.microsoft.com/office/drawing/2014/main" id="{425E257F-EF49-4006-8530-F32D6C75D16E}"/>
                </a:ext>
              </a:extLst>
            </p:cNvPr>
            <p:cNvSpPr/>
            <p:nvPr/>
          </p:nvSpPr>
          <p:spPr>
            <a:xfrm rot="16200000">
              <a:off x="2771348" y="2771346"/>
              <a:ext cx="180804" cy="2520615"/>
            </a:xfrm>
            <a:prstGeom prst="leftBrace">
              <a:avLst>
                <a:gd name="adj1" fmla="val 25928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sz="2000"/>
            </a:p>
          </p:txBody>
        </p:sp>
        <p:sp>
          <p:nvSpPr>
            <p:cNvPr id="27" name="Abrir llave 26">
              <a:extLst>
                <a:ext uri="{FF2B5EF4-FFF2-40B4-BE49-F238E27FC236}">
                  <a16:creationId xmlns:a16="http://schemas.microsoft.com/office/drawing/2014/main" id="{3D3B44B3-B3DA-48FE-88F4-D696392E64F6}"/>
                </a:ext>
              </a:extLst>
            </p:cNvPr>
            <p:cNvSpPr/>
            <p:nvPr/>
          </p:nvSpPr>
          <p:spPr>
            <a:xfrm rot="16200000">
              <a:off x="6185292" y="2990678"/>
              <a:ext cx="180804" cy="2081952"/>
            </a:xfrm>
            <a:prstGeom prst="leftBrace">
              <a:avLst>
                <a:gd name="adj1" fmla="val 25928"/>
                <a:gd name="adj2" fmla="val 50000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sz="20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1FD38843-4345-4A96-9CE2-DA12336677C3}"/>
                    </a:ext>
                  </a:extLst>
                </p:cNvPr>
                <p:cNvSpPr txBox="1"/>
                <p:nvPr/>
              </p:nvSpPr>
              <p:spPr>
                <a:xfrm>
                  <a:off x="6135276" y="4210767"/>
                  <a:ext cx="21800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s-CO" sz="20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1FD38843-4345-4A96-9CE2-DA1233667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5276" y="4210767"/>
                  <a:ext cx="218008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27778" r="-25000" b="-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D8C19A7B-41A3-4E6C-BBBD-8FC9BE867961}"/>
                    </a:ext>
                  </a:extLst>
                </p:cNvPr>
                <p:cNvSpPr txBox="1"/>
                <p:nvPr/>
              </p:nvSpPr>
              <p:spPr>
                <a:xfrm>
                  <a:off x="2751143" y="4210768"/>
                  <a:ext cx="22121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oMath>
                    </m:oMathPara>
                  </a14:m>
                  <a:endParaRPr lang="es-CO" sz="20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D8C19A7B-41A3-4E6C-BBBD-8FC9BE867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143" y="4210768"/>
                  <a:ext cx="221214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7778" r="-27778" b="-6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5FD94689-6987-4751-B6E6-82F3ECE0E613}"/>
                    </a:ext>
                  </a:extLst>
                </p:cNvPr>
                <p:cNvSpPr txBox="1"/>
                <p:nvPr/>
              </p:nvSpPr>
              <p:spPr>
                <a:xfrm>
                  <a:off x="4610760" y="4212772"/>
                  <a:ext cx="27251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s-CO" sz="20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5FD94689-6987-4751-B6E6-82F3ECE0E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0760" y="4212772"/>
                  <a:ext cx="272510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3333" r="-1333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B7115030-6414-4FC2-8292-02AE1FBD1590}"/>
                  </a:ext>
                </a:extLst>
              </p:cNvPr>
              <p:cNvSpPr txBox="1"/>
              <p:nvPr/>
            </p:nvSpPr>
            <p:spPr>
              <a:xfrm>
                <a:off x="480601" y="5385310"/>
                <a:ext cx="79540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O" sz="2000" dirty="0">
                    <a:solidFill>
                      <a:srgbClr val="7030A0"/>
                    </a:solidFill>
                    <a:ea typeface="Roboto" panose="02000000000000000000" pitchFamily="2" charset="0"/>
                  </a:rPr>
                  <a:t>Para todo</a:t>
                </a:r>
                <a:r>
                  <a:rPr lang="es-CO" sz="2000" dirty="0">
                    <a:ea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CO" sz="2000" dirty="0">
                    <a:ea typeface="Roboto" panose="02000000000000000000" pitchFamily="2" charset="0"/>
                  </a:rPr>
                  <a:t>, si </a:t>
                </a:r>
                <a14:m>
                  <m:oMath xmlns:m="http://schemas.openxmlformats.org/officeDocument/2006/math">
                    <m:r>
                      <a:rPr lang="es-MX" sz="2000" b="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</m:oMath>
                </a14:m>
                <a:r>
                  <a:rPr lang="es-CO" sz="2000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pasa a la final</a:t>
                </a:r>
                <a:r>
                  <a:rPr lang="es-CO" sz="2000" dirty="0">
                    <a:ea typeface="Roboto" panose="02000000000000000000" pitchFamily="2" charset="0"/>
                  </a:rPr>
                  <a:t>, entonces </a:t>
                </a:r>
                <a14:m>
                  <m:oMath xmlns:m="http://schemas.openxmlformats.org/officeDocument/2006/math">
                    <m:r>
                      <a:rPr lang="es-MX" sz="2000" b="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</m:oMath>
                </a14:m>
                <a:r>
                  <a:rPr lang="es-CO" sz="2000" dirty="0">
                    <a:solidFill>
                      <a:schemeClr val="accent1"/>
                    </a:solidFill>
                    <a:ea typeface="Roboto" panose="02000000000000000000" pitchFamily="2" charset="0"/>
                  </a:rPr>
                  <a:t>puede ser campeón</a:t>
                </a: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B7115030-6414-4FC2-8292-02AE1FBD1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01" y="5385310"/>
                <a:ext cx="7954080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brir llave 27">
            <a:extLst>
              <a:ext uri="{FF2B5EF4-FFF2-40B4-BE49-F238E27FC236}">
                <a16:creationId xmlns:a16="http://schemas.microsoft.com/office/drawing/2014/main" id="{B42B92DD-8AB1-4924-AEE1-A34B6E956D57}"/>
              </a:ext>
            </a:extLst>
          </p:cNvPr>
          <p:cNvSpPr/>
          <p:nvPr/>
        </p:nvSpPr>
        <p:spPr>
          <a:xfrm rot="16200000">
            <a:off x="3511207" y="5113660"/>
            <a:ext cx="250113" cy="1406119"/>
          </a:xfrm>
          <a:prstGeom prst="leftBrace">
            <a:avLst>
              <a:gd name="adj1" fmla="val 25928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 dirty="0"/>
          </a:p>
        </p:txBody>
      </p:sp>
      <p:sp>
        <p:nvSpPr>
          <p:cNvPr id="29" name="Abrir llave 28">
            <a:extLst>
              <a:ext uri="{FF2B5EF4-FFF2-40B4-BE49-F238E27FC236}">
                <a16:creationId xmlns:a16="http://schemas.microsoft.com/office/drawing/2014/main" id="{AF4EE081-2D53-47C2-98A7-3A9F67A4FADC}"/>
              </a:ext>
            </a:extLst>
          </p:cNvPr>
          <p:cNvSpPr/>
          <p:nvPr/>
        </p:nvSpPr>
        <p:spPr>
          <a:xfrm rot="16200000">
            <a:off x="6570360" y="4749262"/>
            <a:ext cx="250114" cy="2134914"/>
          </a:xfrm>
          <a:prstGeom prst="leftBrace">
            <a:avLst>
              <a:gd name="adj1" fmla="val 25928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40FFF5B-FE82-4080-B8DE-D487A56E1BBA}"/>
                  </a:ext>
                </a:extLst>
              </p:cNvPr>
              <p:cNvSpPr txBox="1"/>
              <p:nvPr/>
            </p:nvSpPr>
            <p:spPr>
              <a:xfrm>
                <a:off x="6406877" y="6024950"/>
                <a:ext cx="5770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s-MX" sz="2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MX" sz="2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000" b="1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40FFF5B-FE82-4080-B8DE-D487A56E1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877" y="6024950"/>
                <a:ext cx="577081" cy="307777"/>
              </a:xfrm>
              <a:prstGeom prst="rect">
                <a:avLst/>
              </a:prstGeom>
              <a:blipFill>
                <a:blip r:embed="rId7"/>
                <a:stretch>
                  <a:fillRect l="-10526" t="-1961" r="-14737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FA7F035-76A2-4769-AB0E-FAF3FD1E7AA2}"/>
                  </a:ext>
                </a:extLst>
              </p:cNvPr>
              <p:cNvSpPr txBox="1"/>
              <p:nvPr/>
            </p:nvSpPr>
            <p:spPr>
              <a:xfrm>
                <a:off x="3346119" y="6024950"/>
                <a:ext cx="58028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MX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MX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000" b="1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FA7F035-76A2-4769-AB0E-FAF3FD1E7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119" y="6024950"/>
                <a:ext cx="580287" cy="307777"/>
              </a:xfrm>
              <a:prstGeom prst="rect">
                <a:avLst/>
              </a:prstGeom>
              <a:blipFill>
                <a:blip r:embed="rId8"/>
                <a:stretch>
                  <a:fillRect l="-10526" t="-1961" r="-15789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FF63C-9B5E-43C4-A68A-A0CC3887F571}"/>
                  </a:ext>
                </a:extLst>
              </p:cNvPr>
              <p:cNvSpPr txBox="1"/>
              <p:nvPr/>
            </p:nvSpPr>
            <p:spPr>
              <a:xfrm>
                <a:off x="4963281" y="6024950"/>
                <a:ext cx="2725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CO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FF63C-9B5E-43C4-A68A-A0CC3887F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281" y="6024950"/>
                <a:ext cx="272510" cy="307777"/>
              </a:xfrm>
              <a:prstGeom prst="rect">
                <a:avLst/>
              </a:prstGeom>
              <a:blipFill>
                <a:blip r:embed="rId9"/>
                <a:stretch>
                  <a:fillRect l="-13333" r="-1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B906EF6-8C29-437D-88F6-DF74263A5AE1}"/>
                  </a:ext>
                </a:extLst>
              </p:cNvPr>
              <p:cNvSpPr txBox="1"/>
              <p:nvPr/>
            </p:nvSpPr>
            <p:spPr>
              <a:xfrm>
                <a:off x="1613068" y="6024950"/>
                <a:ext cx="3670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s-MX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CO" sz="2000" b="1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B906EF6-8C29-437D-88F6-DF74263A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068" y="6024950"/>
                <a:ext cx="367088" cy="307777"/>
              </a:xfrm>
              <a:prstGeom prst="rect">
                <a:avLst/>
              </a:prstGeom>
              <a:blipFill>
                <a:blip r:embed="rId10"/>
                <a:stretch>
                  <a:fillRect l="-15000" r="-10000" b="-39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brir llave 35">
            <a:extLst>
              <a:ext uri="{FF2B5EF4-FFF2-40B4-BE49-F238E27FC236}">
                <a16:creationId xmlns:a16="http://schemas.microsoft.com/office/drawing/2014/main" id="{F1EB3756-8310-4F69-93FB-9FF7D6F84898}"/>
              </a:ext>
            </a:extLst>
          </p:cNvPr>
          <p:cNvSpPr/>
          <p:nvPr/>
        </p:nvSpPr>
        <p:spPr>
          <a:xfrm rot="16200000">
            <a:off x="1664294" y="5221173"/>
            <a:ext cx="264636" cy="1211967"/>
          </a:xfrm>
          <a:prstGeom prst="leftBrace">
            <a:avLst>
              <a:gd name="adj1" fmla="val 25928"/>
              <a:gd name="adj2" fmla="val 5000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5BB0CE6-CE67-4683-AE27-FB071DB5C0E2}"/>
                  </a:ext>
                </a:extLst>
              </p:cNvPr>
              <p:cNvSpPr txBox="1"/>
              <p:nvPr/>
            </p:nvSpPr>
            <p:spPr>
              <a:xfrm>
                <a:off x="9160839" y="3829003"/>
                <a:ext cx="812338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s-MX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MX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s-CO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5BB0CE6-CE67-4683-AE27-FB071DB5C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39" y="3829003"/>
                <a:ext cx="812338" cy="338554"/>
              </a:xfrm>
              <a:prstGeom prst="rect">
                <a:avLst/>
              </a:prstGeom>
              <a:blipFill>
                <a:blip r:embed="rId11"/>
                <a:stretch>
                  <a:fillRect l="-7519" r="-8271" b="-53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0E125527-4E9B-46E0-B297-9A621A9CAF7E}"/>
                  </a:ext>
                </a:extLst>
              </p:cNvPr>
              <p:cNvSpPr txBox="1"/>
              <p:nvPr/>
            </p:nvSpPr>
            <p:spPr>
              <a:xfrm>
                <a:off x="8720030" y="5416088"/>
                <a:ext cx="2260362" cy="3821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s-MX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MX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MX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es-MX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s-MX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s-MX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s-MX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sz="2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0E125527-4E9B-46E0-B297-9A621A9CA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030" y="5416088"/>
                <a:ext cx="2260362" cy="382156"/>
              </a:xfrm>
              <a:prstGeom prst="rect">
                <a:avLst/>
              </a:prstGeom>
              <a:blipFill>
                <a:blip r:embed="rId12"/>
                <a:stretch>
                  <a:fillRect l="-21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uadroTexto 40">
            <a:extLst>
              <a:ext uri="{FF2B5EF4-FFF2-40B4-BE49-F238E27FC236}">
                <a16:creationId xmlns:a16="http://schemas.microsoft.com/office/drawing/2014/main" id="{FDE4C0C5-13D0-47FB-9644-DB6B5B3939DE}"/>
              </a:ext>
            </a:extLst>
          </p:cNvPr>
          <p:cNvSpPr txBox="1"/>
          <p:nvPr/>
        </p:nvSpPr>
        <p:spPr>
          <a:xfrm>
            <a:off x="400755" y="3016321"/>
            <a:ext cx="3449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u="sng" dirty="0">
                <a:solidFill>
                  <a:srgbClr val="C00000"/>
                </a:solidFill>
                <a:ea typeface="Roboto" panose="02000000000000000000" pitchFamily="2" charset="0"/>
              </a:rPr>
              <a:t>Lógica proposicional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36A9B98-505C-4FA1-B315-4622FD0A63A8}"/>
              </a:ext>
            </a:extLst>
          </p:cNvPr>
          <p:cNvSpPr txBox="1"/>
          <p:nvPr/>
        </p:nvSpPr>
        <p:spPr>
          <a:xfrm>
            <a:off x="400755" y="4716048"/>
            <a:ext cx="4003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u="sng" dirty="0">
                <a:solidFill>
                  <a:srgbClr val="C00000"/>
                </a:solidFill>
                <a:ea typeface="Roboto" panose="02000000000000000000" pitchFamily="2" charset="0"/>
              </a:rPr>
              <a:t>Lógica cuantificacional</a:t>
            </a:r>
          </a:p>
        </p:txBody>
      </p:sp>
    </p:spTree>
    <p:extLst>
      <p:ext uri="{BB962C8B-B14F-4D97-AF65-F5344CB8AC3E}">
        <p14:creationId xmlns:p14="http://schemas.microsoft.com/office/powerpoint/2010/main" val="251646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96038"/>
            <a:ext cx="11401691" cy="949500"/>
          </a:xfrm>
        </p:spPr>
        <p:txBody>
          <a:bodyPr/>
          <a:lstStyle/>
          <a:p>
            <a:pPr marL="57150" lvl="0" algn="l" rtl="0">
              <a:spcBef>
                <a:spcPts val="1000"/>
              </a:spcBef>
              <a:spcAft>
                <a:spcPts val="0"/>
              </a:spcAft>
              <a:buSzPts val="2700"/>
            </a:pPr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279399" y="1022332"/>
            <a:ext cx="8153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Conceptos claves de la lógica de primer orden</a:t>
            </a:r>
          </a:p>
        </p:txBody>
      </p:sp>
      <p:sp>
        <p:nvSpPr>
          <p:cNvPr id="12" name="Google Shape;310;p34">
            <a:extLst>
              <a:ext uri="{FF2B5EF4-FFF2-40B4-BE49-F238E27FC236}">
                <a16:creationId xmlns:a16="http://schemas.microsoft.com/office/drawing/2014/main" id="{ACC4508D-920F-4244-9412-59F6BEE00FB9}"/>
              </a:ext>
            </a:extLst>
          </p:cNvPr>
          <p:cNvSpPr txBox="1">
            <a:spLocks/>
          </p:cNvSpPr>
          <p:nvPr/>
        </p:nvSpPr>
        <p:spPr>
          <a:xfrm>
            <a:off x="167211" y="1423159"/>
            <a:ext cx="108907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En lógica de predicados es importante tener claros los siguientes conceptos:</a:t>
            </a:r>
          </a:p>
        </p:txBody>
      </p:sp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B59C7CB6-0E1D-4AA4-9636-7C71F19CA94D}"/>
              </a:ext>
            </a:extLst>
          </p:cNvPr>
          <p:cNvSpPr txBox="1">
            <a:spLocks/>
          </p:cNvSpPr>
          <p:nvPr/>
        </p:nvSpPr>
        <p:spPr>
          <a:xfrm>
            <a:off x="167875" y="1853606"/>
            <a:ext cx="4347748" cy="308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Universo o dominio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Objetos o individuos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Predicados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Variables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Conjunto de verdad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Cuantificadores.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Funciones proposicionales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6CAB6B-6811-4F00-91D4-995D3D608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384" y="2104407"/>
            <a:ext cx="2629381" cy="316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A298086-DD2C-4292-947B-94B899CA6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5614" y="2091707"/>
            <a:ext cx="2629382" cy="320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310;p34">
            <a:extLst>
              <a:ext uri="{FF2B5EF4-FFF2-40B4-BE49-F238E27FC236}">
                <a16:creationId xmlns:a16="http://schemas.microsoft.com/office/drawing/2014/main" id="{0626E66E-1E90-43B9-9618-CE55C3CD19C8}"/>
              </a:ext>
            </a:extLst>
          </p:cNvPr>
          <p:cNvSpPr txBox="1">
            <a:spLocks/>
          </p:cNvSpPr>
          <p:nvPr/>
        </p:nvSpPr>
        <p:spPr>
          <a:xfrm>
            <a:off x="6995076" y="5997647"/>
            <a:ext cx="370489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1600" dirty="0">
                <a:latin typeface="+mn-lt"/>
                <a:ea typeface="Roboto" panose="02000000000000000000" pitchFamily="2" charset="0"/>
              </a:rPr>
              <a:t>Canción del Juglar Alan-a-Dale </a:t>
            </a:r>
            <a:r>
              <a:rPr lang="es-MX" sz="1600" dirty="0">
                <a:latin typeface="+mn-lt"/>
                <a:ea typeface="Roboto" panose="02000000000000000000" pitchFamily="2" charset="0"/>
                <a:hlinkClick r:id="rId5"/>
              </a:rPr>
              <a:t>[link]</a:t>
            </a:r>
            <a:endParaRPr lang="es-MX" sz="16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030" name="Picture 6" descr="Alan A Dale | The Parody Wiki | Fandom">
            <a:extLst>
              <a:ext uri="{FF2B5EF4-FFF2-40B4-BE49-F238E27FC236}">
                <a16:creationId xmlns:a16="http://schemas.microsoft.com/office/drawing/2014/main" id="{BC0A4485-86B3-442D-9944-C1CB177E3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1464" y="5503288"/>
            <a:ext cx="1067064" cy="108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Principe Juan | Pichi Pichi Pitch's adventures Wiki | Fandom">
            <a:extLst>
              <a:ext uri="{FF2B5EF4-FFF2-40B4-BE49-F238E27FC236}">
                <a16:creationId xmlns:a16="http://schemas.microsoft.com/office/drawing/2014/main" id="{1DD8FE20-3860-424E-AF77-E7AF1E1BC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184" y="5192963"/>
            <a:ext cx="709865" cy="137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King Richard | Disney y Pixar | Fandom">
            <a:extLst>
              <a:ext uri="{FF2B5EF4-FFF2-40B4-BE49-F238E27FC236}">
                <a16:creationId xmlns:a16="http://schemas.microsoft.com/office/drawing/2014/main" id="{12618078-2C09-424D-940E-B77C6883E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043" y="5128184"/>
            <a:ext cx="1162207" cy="146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Robin Hood | Walt Disney Animation Studios Wikia | Fandom">
            <a:extLst>
              <a:ext uri="{FF2B5EF4-FFF2-40B4-BE49-F238E27FC236}">
                <a16:creationId xmlns:a16="http://schemas.microsoft.com/office/drawing/2014/main" id="{D7521D57-0278-4478-BDC5-D42A90D61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10" y="5099992"/>
            <a:ext cx="839215" cy="147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6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96038"/>
            <a:ext cx="11338190" cy="949500"/>
          </a:xfrm>
        </p:spPr>
        <p:txBody>
          <a:bodyPr/>
          <a:lstStyle/>
          <a:p>
            <a:pPr marL="57150" lvl="0" algn="l" rtl="0">
              <a:spcBef>
                <a:spcPts val="1000"/>
              </a:spcBef>
              <a:spcAft>
                <a:spcPts val="0"/>
              </a:spcAft>
              <a:buSzPts val="2700"/>
            </a:pPr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342901" y="936797"/>
            <a:ext cx="10890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Pasos para la traducción de lenguaje natural a lenguaje formal</a:t>
            </a:r>
          </a:p>
        </p:txBody>
      </p:sp>
      <p:sp>
        <p:nvSpPr>
          <p:cNvPr id="12" name="Google Shape;310;p34">
            <a:extLst>
              <a:ext uri="{FF2B5EF4-FFF2-40B4-BE49-F238E27FC236}">
                <a16:creationId xmlns:a16="http://schemas.microsoft.com/office/drawing/2014/main" id="{ACC4508D-920F-4244-9412-59F6BEE00FB9}"/>
              </a:ext>
            </a:extLst>
          </p:cNvPr>
          <p:cNvSpPr txBox="1">
            <a:spLocks/>
          </p:cNvSpPr>
          <p:nvPr/>
        </p:nvSpPr>
        <p:spPr>
          <a:xfrm>
            <a:off x="241301" y="1257300"/>
            <a:ext cx="11170181" cy="4246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A continuación se listan algunos pasos para traducir enunciados del lenguaje natural a lógica de primer orden: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Leer y comprender el enunciado completo.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Identificar el dominio del discurso.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Determinar las constantes y variables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Identificar los predicados.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Traducir conectores lógicos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Detectar cuantificadores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Armar la fórmula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Verificar la fidelidad de la traducción</a:t>
            </a:r>
          </a:p>
          <a:p>
            <a:pPr marL="127000" indent="0"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0A7BDBA-54D2-477A-A870-E007FA483CC8}"/>
              </a:ext>
            </a:extLst>
          </p:cNvPr>
          <p:cNvSpPr txBox="1"/>
          <p:nvPr/>
        </p:nvSpPr>
        <p:spPr>
          <a:xfrm>
            <a:off x="5954845" y="3388335"/>
            <a:ext cx="447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Enunciado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Juan es hermano de Ricardo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a 2">
                <a:extLst>
                  <a:ext uri="{FF2B5EF4-FFF2-40B4-BE49-F238E27FC236}">
                    <a16:creationId xmlns:a16="http://schemas.microsoft.com/office/drawing/2014/main" id="{BC0991B5-4EA7-4D6D-AE8F-42263064A8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531238"/>
                  </p:ext>
                </p:extLst>
              </p:nvPr>
            </p:nvGraphicFramePr>
            <p:xfrm>
              <a:off x="6096000" y="3887976"/>
              <a:ext cx="5854699" cy="22250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892300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3962399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122967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Personas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122967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122967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𝐽𝑢𝑎𝑛</m:t>
                              </m:r>
                            </m:oMath>
                          </a14:m>
                          <a:endParaRPr lang="es-MX" sz="1800" b="0" dirty="0">
                            <a:latin typeface="+mn-lt"/>
                          </a:endParaRP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𝑅𝑖𝑐𝑎𝑟𝑑𝑜</m:t>
                              </m:r>
                            </m:oMath>
                          </a14:m>
                          <a:endParaRPr lang="es-MX" sz="1800" b="0" kern="1200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217557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𝐵𝑟𝑜𝑡h𝑒𝑟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1800" dirty="0">
                              <a:latin typeface="+mn-lt"/>
                              <a:ea typeface="Roboto" panose="02000000000000000000" pitchFamily="2" charset="0"/>
                            </a:rPr>
                            <a:t> es hermano de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12296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a 2">
                <a:extLst>
                  <a:ext uri="{FF2B5EF4-FFF2-40B4-BE49-F238E27FC236}">
                    <a16:creationId xmlns:a16="http://schemas.microsoft.com/office/drawing/2014/main" id="{BC0991B5-4EA7-4D6D-AE8F-42263064A8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1531238"/>
                  </p:ext>
                </p:extLst>
              </p:nvPr>
            </p:nvGraphicFramePr>
            <p:xfrm>
              <a:off x="6096000" y="3887976"/>
              <a:ext cx="5854699" cy="22250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892300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3962399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Personas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000" t="-107692" r="-154" b="-3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000" t="-127358" r="-154" b="-1396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000" t="-370769" r="-154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Picture 2" descr="Principe Juan | Pichi Pichi Pitch's adventures Wiki | Fandom">
            <a:extLst>
              <a:ext uri="{FF2B5EF4-FFF2-40B4-BE49-F238E27FC236}">
                <a16:creationId xmlns:a16="http://schemas.microsoft.com/office/drawing/2014/main" id="{1077BB34-66B3-4C2D-9A74-7FB24ED92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471" y="2211007"/>
            <a:ext cx="511053" cy="99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King Richard | Disney y Pixar | Fandom">
            <a:extLst>
              <a:ext uri="{FF2B5EF4-FFF2-40B4-BE49-F238E27FC236}">
                <a16:creationId xmlns:a16="http://schemas.microsoft.com/office/drawing/2014/main" id="{9B546901-162B-494B-B354-5BA33A07F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604" y="2237412"/>
            <a:ext cx="825500" cy="103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0062DE8-2AAF-4015-B0F3-A9D27D62E4BD}"/>
                  </a:ext>
                </a:extLst>
              </p:cNvPr>
              <p:cNvSpPr txBox="1"/>
              <p:nvPr/>
            </p:nvSpPr>
            <p:spPr>
              <a:xfrm>
                <a:off x="7592998" y="6312078"/>
                <a:ext cx="3233940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𝐵𝑟𝑜𝑡h𝑒𝑟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𝐽𝑈𝐴𝑁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𝑅𝐼𝐶𝐴𝑅𝐷𝑂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0062DE8-2AAF-4015-B0F3-A9D27D62E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998" y="6312078"/>
                <a:ext cx="3233940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3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52915" y="96038"/>
            <a:ext cx="8967736" cy="76382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0" dirty="0">
                <a:solidFill>
                  <a:schemeClr val="tx1"/>
                </a:solidFill>
                <a:latin typeface="+mj-lt"/>
              </a:rPr>
              <a:t>Equivalencias en lógica de predicados</a:t>
            </a:r>
            <a:endParaRPr sz="40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BCE741C-2A86-407D-9A6F-C50DEB856409}"/>
              </a:ext>
            </a:extLst>
          </p:cNvPr>
          <p:cNvSpPr txBox="1"/>
          <p:nvPr/>
        </p:nvSpPr>
        <p:spPr>
          <a:xfrm>
            <a:off x="252914" y="723116"/>
            <a:ext cx="11559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Formas Aristotélicas</a:t>
            </a: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151314" y="976635"/>
            <a:ext cx="11787772" cy="76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Las cuatro formas aristotélicas son proposiciones categóricas básicas que forman la base del silogismo clásico en la lógica aristotélica:</a:t>
            </a:r>
          </a:p>
          <a:p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67B3890-BEE3-4114-BD50-4F8AFFD8D3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2268814"/>
                  </p:ext>
                </p:extLst>
              </p:nvPr>
            </p:nvGraphicFramePr>
            <p:xfrm>
              <a:off x="533692" y="1870493"/>
              <a:ext cx="11124616" cy="462000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70819">
                      <a:extLst>
                        <a:ext uri="{9D8B030D-6E8A-4147-A177-3AD203B41FA5}">
                          <a16:colId xmlns:a16="http://schemas.microsoft.com/office/drawing/2014/main" val="1182511114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37487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055286892"/>
                        </a:ext>
                      </a:extLst>
                    </a:gridCol>
                    <a:gridCol w="3162300">
                      <a:extLst>
                        <a:ext uri="{9D8B030D-6E8A-4147-A177-3AD203B41FA5}">
                          <a16:colId xmlns:a16="http://schemas.microsoft.com/office/drawing/2014/main" val="4284222693"/>
                        </a:ext>
                      </a:extLst>
                    </a:gridCol>
                    <a:gridCol w="3897497">
                      <a:extLst>
                        <a:ext uri="{9D8B030D-6E8A-4147-A177-3AD203B41FA5}">
                          <a16:colId xmlns:a16="http://schemas.microsoft.com/office/drawing/2014/main" val="558989908"/>
                        </a:ext>
                      </a:extLst>
                    </a:gridCol>
                  </a:tblGrid>
                  <a:tr h="127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Forma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Forma Aristotélica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Lógica de predicados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287797"/>
                      </a:ext>
                    </a:extLst>
                  </a:tr>
                  <a:tr h="127807">
                    <a:tc>
                      <a:txBody>
                        <a:bodyPr/>
                        <a:lstStyle/>
                        <a:p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Forma A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: Universal afirmativa</a:t>
                          </a:r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Todos los S son 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𝑆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𝑆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→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2000" b="1" dirty="0">
                            <a:latin typeface="+mn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</a:rPr>
                            <a:t>Interpretación:</a:t>
                          </a:r>
                          <a:r>
                            <a:rPr lang="es-MX" sz="2000" dirty="0">
                              <a:latin typeface="+mn-lt"/>
                            </a:rPr>
                            <a:t> Para todo x, si x es un S, entonces x es un P.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 Todos los hombres son mortales.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h𝑜𝑚𝑏𝑟𝑒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𝑚𝑜𝑟𝑡𝑎𝑙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442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Forma E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: Universal negativa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Ningún S es 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𝑆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𝑆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→¬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2000" b="1" dirty="0">
                            <a:latin typeface="+mn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</a:rPr>
                            <a:t>Interpretación:</a:t>
                          </a:r>
                          <a:r>
                            <a:rPr lang="es-MX" sz="2000" dirty="0">
                              <a:latin typeface="+mn-lt"/>
                            </a:rPr>
                            <a:t> Para todo x, si x es un S, entonces x no es un P.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 Ningún cuadrado es circulo.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𝑐𝑢𝑎𝑑𝑟𝑎𝑑𝑜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→¬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𝑐𝑖𝑟𝑐𝑢𝑙𝑜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398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67B3890-BEE3-4114-BD50-4F8AFFD8D3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2268814"/>
                  </p:ext>
                </p:extLst>
              </p:nvPr>
            </p:nvGraphicFramePr>
            <p:xfrm>
              <a:off x="533692" y="1870493"/>
              <a:ext cx="11124616" cy="462000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70819">
                      <a:extLst>
                        <a:ext uri="{9D8B030D-6E8A-4147-A177-3AD203B41FA5}">
                          <a16:colId xmlns:a16="http://schemas.microsoft.com/office/drawing/2014/main" val="1182511114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37487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055286892"/>
                        </a:ext>
                      </a:extLst>
                    </a:gridCol>
                    <a:gridCol w="3162300">
                      <a:extLst>
                        <a:ext uri="{9D8B030D-6E8A-4147-A177-3AD203B41FA5}">
                          <a16:colId xmlns:a16="http://schemas.microsoft.com/office/drawing/2014/main" val="4284222693"/>
                        </a:ext>
                      </a:extLst>
                    </a:gridCol>
                    <a:gridCol w="3897497">
                      <a:extLst>
                        <a:ext uri="{9D8B030D-6E8A-4147-A177-3AD203B41FA5}">
                          <a16:colId xmlns:a16="http://schemas.microsoft.com/office/drawing/2014/main" val="558989908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Forma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Forma Aristotélica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Lógica de predicados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287797"/>
                      </a:ext>
                    </a:extLst>
                  </a:tr>
                  <a:tr h="1959483">
                    <a:tc>
                      <a:txBody>
                        <a:bodyPr/>
                        <a:lstStyle/>
                        <a:p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Forma A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: Universal afirmativa</a:t>
                          </a:r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Todos los S son 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1545" t="-37267" r="-471951" b="-100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709" t="-37267" r="-123699" b="-100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5469" t="-37267" r="-313" b="-100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442380"/>
                      </a:ext>
                    </a:extLst>
                  </a:tr>
                  <a:tr h="19594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Forma E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: Universal negativa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Ningún S es 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1545" t="-137267" r="-471951" b="-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709" t="-137267" r="-123699" b="-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5469" t="-137267" r="-313" b="-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39803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9645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52915" y="96038"/>
            <a:ext cx="8967736" cy="76382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0" dirty="0">
                <a:solidFill>
                  <a:schemeClr val="tx1"/>
                </a:solidFill>
                <a:latin typeface="+mj-lt"/>
              </a:rPr>
              <a:t>Equivalencias en lógica de predicados</a:t>
            </a:r>
            <a:endParaRPr sz="40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BCE741C-2A86-407D-9A6F-C50DEB856409}"/>
              </a:ext>
            </a:extLst>
          </p:cNvPr>
          <p:cNvSpPr txBox="1"/>
          <p:nvPr/>
        </p:nvSpPr>
        <p:spPr>
          <a:xfrm>
            <a:off x="252914" y="723116"/>
            <a:ext cx="11559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Formas Aristotélicas</a:t>
            </a: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151314" y="976635"/>
            <a:ext cx="11787772" cy="76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Las cuatro formas aristotélicas son proposiciones categóricas básicas que forman la base del silogismo clásico en la lógica aristotélica:</a:t>
            </a:r>
          </a:p>
          <a:p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67B3890-BEE3-4114-BD50-4F8AFFD8D3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0745473"/>
                  </p:ext>
                </p:extLst>
              </p:nvPr>
            </p:nvGraphicFramePr>
            <p:xfrm>
              <a:off x="634181" y="1803963"/>
              <a:ext cx="11124616" cy="492480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334319">
                      <a:extLst>
                        <a:ext uri="{9D8B030D-6E8A-4147-A177-3AD203B41FA5}">
                          <a16:colId xmlns:a16="http://schemas.microsoft.com/office/drawing/2014/main" val="1182511114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7487"/>
                        </a:ext>
                      </a:extLst>
                    </a:gridCol>
                    <a:gridCol w="1638300">
                      <a:extLst>
                        <a:ext uri="{9D8B030D-6E8A-4147-A177-3AD203B41FA5}">
                          <a16:colId xmlns:a16="http://schemas.microsoft.com/office/drawing/2014/main" val="3055286892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4284222693"/>
                        </a:ext>
                      </a:extLst>
                    </a:gridCol>
                    <a:gridCol w="4126097">
                      <a:extLst>
                        <a:ext uri="{9D8B030D-6E8A-4147-A177-3AD203B41FA5}">
                          <a16:colId xmlns:a16="http://schemas.microsoft.com/office/drawing/2014/main" val="558989908"/>
                        </a:ext>
                      </a:extLst>
                    </a:gridCol>
                  </a:tblGrid>
                  <a:tr h="127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Forma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Forma Aristotélica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Lógica de predicados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2877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Forma I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: Particular afirmativa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Algún S es 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𝑆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𝑆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∧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2000" b="1" dirty="0">
                            <a:latin typeface="+mn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</a:rPr>
                            <a:t>Interpretación:</a:t>
                          </a:r>
                          <a:r>
                            <a:rPr lang="es-MX" sz="2000" dirty="0">
                              <a:latin typeface="+mn-lt"/>
                            </a:rPr>
                            <a:t> Existe al menos un x tal que x es S y también es P.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 Alguno estudiante es ingeniero.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𝑒𝑠𝑡𝑢𝑑𝑖𝑎𝑛𝑡𝑒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𝑖𝑛𝑔𝑒𝑛𝑖𝑒𝑟𝑜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99465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Forma O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: Particular negativa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Algún S no es 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𝑆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𝑆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∧¬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2000" b="1" dirty="0">
                            <a:latin typeface="+mn-lt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</a:rPr>
                            <a:t>Interpretación:</a:t>
                          </a:r>
                          <a:r>
                            <a:rPr lang="es-MX" sz="2000" dirty="0">
                              <a:latin typeface="+mn-lt"/>
                            </a:rPr>
                            <a:t> Existe al menos un x tal que x es S y no es P.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 Algún pájaro no vuela.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Expresión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:</a:t>
                          </a:r>
                        </a:p>
                        <a:p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𝑝𝑎𝑗𝑎𝑟𝑜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∧¬</m:t>
                                    </m:r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𝑣𝑢𝑒𝑙𝑎</m:t>
                                    </m:r>
                                    <m:d>
                                      <m:dPr>
                                        <m:ctrlP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7691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67B3890-BEE3-4114-BD50-4F8AFFD8D3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0745473"/>
                  </p:ext>
                </p:extLst>
              </p:nvPr>
            </p:nvGraphicFramePr>
            <p:xfrm>
              <a:off x="634181" y="1803963"/>
              <a:ext cx="11124616" cy="492480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334319">
                      <a:extLst>
                        <a:ext uri="{9D8B030D-6E8A-4147-A177-3AD203B41FA5}">
                          <a16:colId xmlns:a16="http://schemas.microsoft.com/office/drawing/2014/main" val="1182511114"/>
                        </a:ext>
                      </a:extLst>
                    </a:gridCol>
                    <a:gridCol w="1498600">
                      <a:extLst>
                        <a:ext uri="{9D8B030D-6E8A-4147-A177-3AD203B41FA5}">
                          <a16:colId xmlns:a16="http://schemas.microsoft.com/office/drawing/2014/main" val="37487"/>
                        </a:ext>
                      </a:extLst>
                    </a:gridCol>
                    <a:gridCol w="1638300">
                      <a:extLst>
                        <a:ext uri="{9D8B030D-6E8A-4147-A177-3AD203B41FA5}">
                          <a16:colId xmlns:a16="http://schemas.microsoft.com/office/drawing/2014/main" val="3055286892"/>
                        </a:ext>
                      </a:extLst>
                    </a:gridCol>
                    <a:gridCol w="2527300">
                      <a:extLst>
                        <a:ext uri="{9D8B030D-6E8A-4147-A177-3AD203B41FA5}">
                          <a16:colId xmlns:a16="http://schemas.microsoft.com/office/drawing/2014/main" val="4284222693"/>
                        </a:ext>
                      </a:extLst>
                    </a:gridCol>
                    <a:gridCol w="4126097">
                      <a:extLst>
                        <a:ext uri="{9D8B030D-6E8A-4147-A177-3AD203B41FA5}">
                          <a16:colId xmlns:a16="http://schemas.microsoft.com/office/drawing/2014/main" val="558989908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Forma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Forma Aristotélica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Lógica de predicados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solidFill>
                                <a:schemeClr val="bg1"/>
                              </a:solidFill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287797"/>
                      </a:ext>
                    </a:extLst>
                  </a:tr>
                  <a:tr h="22642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Forma I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: Particular afirmativa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Algún S es 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3234" t="-32258" r="-406320" b="-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7536" t="-32258" r="-164010" b="-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9719" t="-32258" r="-295" b="-870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9946557"/>
                      </a:ext>
                    </a:extLst>
                  </a:tr>
                  <a:tr h="19594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1" dirty="0">
                              <a:latin typeface="+mn-lt"/>
                              <a:ea typeface="Roboto" panose="02000000000000000000" pitchFamily="2" charset="0"/>
                            </a:rPr>
                            <a:t>Forma O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: Particular negativa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Algún S no es 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3234" t="-152795" r="-406320" b="-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7536" t="-152795" r="-164010" b="-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9719" t="-152795" r="-295" b="-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47691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690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96038"/>
            <a:ext cx="11200581" cy="949500"/>
          </a:xfrm>
        </p:spPr>
        <p:txBody>
          <a:bodyPr/>
          <a:lstStyle/>
          <a:p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  <a:endParaRPr lang="es-CO" sz="40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280219" y="928527"/>
            <a:ext cx="8101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Lógica cuantificacional - Ejemplo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D88AEF4-41FC-4FBA-9338-3932CFBB6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881" y="1336702"/>
            <a:ext cx="6385127" cy="4374801"/>
          </a:xfrm>
          <a:prstGeom prst="rect">
            <a:avLst/>
          </a:prstGeom>
        </p:spPr>
      </p:pic>
      <p:sp>
        <p:nvSpPr>
          <p:cNvPr id="24" name="Google Shape;310;p34">
            <a:extLst>
              <a:ext uri="{FF2B5EF4-FFF2-40B4-BE49-F238E27FC236}">
                <a16:creationId xmlns:a16="http://schemas.microsoft.com/office/drawing/2014/main" id="{A9971318-92E7-43B3-9F4D-6365C60DB088}"/>
              </a:ext>
            </a:extLst>
          </p:cNvPr>
          <p:cNvSpPr txBox="1">
            <a:spLocks/>
          </p:cNvSpPr>
          <p:nvPr/>
        </p:nvSpPr>
        <p:spPr>
          <a:xfrm>
            <a:off x="153219" y="1336702"/>
            <a:ext cx="9330936" cy="62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latin typeface="+mn-lt"/>
                <a:ea typeface="Roboto" panose="02000000000000000000" pitchFamily="2" charset="0"/>
              </a:rPr>
              <a:t>Contexto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: La siguiente figura muestra a:</a:t>
            </a:r>
          </a:p>
        </p:txBody>
      </p:sp>
      <p:sp>
        <p:nvSpPr>
          <p:cNvPr id="25" name="Google Shape;310;p34">
            <a:extLst>
              <a:ext uri="{FF2B5EF4-FFF2-40B4-BE49-F238E27FC236}">
                <a16:creationId xmlns:a16="http://schemas.microsoft.com/office/drawing/2014/main" id="{97355C05-2F74-411D-9380-1BE2A7312D24}"/>
              </a:ext>
            </a:extLst>
          </p:cNvPr>
          <p:cNvSpPr txBox="1">
            <a:spLocks/>
          </p:cNvSpPr>
          <p:nvPr/>
        </p:nvSpPr>
        <p:spPr>
          <a:xfrm>
            <a:off x="153219" y="1865797"/>
            <a:ext cx="4241893" cy="3000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Ricardo Corazón de León, Rey de Inglaterra de 1189 a 1199.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Su hermano más joven, el malvado Rey Juan, quien reinó de 1199 a 1215. 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Las piernas izquierda de Ricardo y Juan.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Una corona.</a:t>
            </a:r>
          </a:p>
        </p:txBody>
      </p:sp>
    </p:spTree>
    <p:extLst>
      <p:ext uri="{BB962C8B-B14F-4D97-AF65-F5344CB8AC3E}">
        <p14:creationId xmlns:p14="http://schemas.microsoft.com/office/powerpoint/2010/main" val="2918503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1" y="96038"/>
            <a:ext cx="11494729" cy="742919"/>
          </a:xfrm>
        </p:spPr>
        <p:txBody>
          <a:bodyPr/>
          <a:lstStyle/>
          <a:p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  <a:endParaRPr lang="es-CO" sz="54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265471" y="672451"/>
            <a:ext cx="8619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Lógica cuantificacional - Ejemplo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D88AEF4-41FC-4FBA-9338-3932CFBB6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527" y="2246301"/>
            <a:ext cx="4947888" cy="33900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BA0EAA30-0FF3-4A9A-B374-4FDA0B19F3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18539"/>
                  </p:ext>
                </p:extLst>
              </p:nvPr>
            </p:nvGraphicFramePr>
            <p:xfrm>
              <a:off x="354371" y="1184916"/>
              <a:ext cx="6440129" cy="55778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918929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521200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2400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800" b="1" i="1" dirty="0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b="1" i="1" dirty="0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𝑼</m:t>
                                  </m:r>
                                </m:e>
                                <m:sub>
                                  <m:r>
                                    <a:rPr lang="es-MX" sz="1800" b="1" i="1" dirty="0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MX" sz="1800" b="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: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Personas</m:t>
                              </m:r>
                            </m:oMath>
                          </a14:m>
                          <a:endParaRPr lang="es-MX" sz="1800" b="0" i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800" b="1" i="1" dirty="0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b="1" i="1" dirty="0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𝑼</m:t>
                                  </m:r>
                                </m:e>
                                <m:sub>
                                  <m:r>
                                    <a:rPr lang="es-MX" sz="1800" b="1" i="1" dirty="0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s-MX" sz="1800" b="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: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Cosas</m:t>
                              </m:r>
                              <m:r>
                                <a:rPr lang="es-MX" sz="1800" b="0" i="0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       </m:t>
                              </m:r>
                            </m:oMath>
                          </a14:m>
                          <a:endParaRPr lang="es-CO" sz="1800" b="0" i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0" smtClean="0">
                                  <a:latin typeface="Cambria Math" panose="02040503050406030204" pitchFamily="18" charset="0"/>
                                </a:rPr>
                                <m:t>𝐏𝐞𝐫𝐬𝐨𝐧𝐚𝐬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Ricardo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Juan</m:t>
                              </m:r>
                            </m:oMath>
                          </a14:m>
                          <a:endParaRPr lang="es-MX" sz="18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0" smtClean="0">
                                  <a:latin typeface="Cambria Math" panose="02040503050406030204" pitchFamily="18" charset="0"/>
                                </a:rPr>
                                <m:t>𝐂𝐨𝐬𝐚𝐬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Corona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pierna</m:t>
                              </m:r>
                              <m:r>
                                <a:rPr lang="es-MX" sz="1800" b="0" i="0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oMath>
                          </a14:m>
                          <a:endParaRPr lang="es-CO" sz="1800" i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𝑩𝒓𝒐𝒕𝒉𝒆𝒓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hermano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s-MX" sz="1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𝑶𝒏𝑯𝒆𝒂𝒅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tiene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sobre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su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cabeza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s-MX" sz="1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𝑷𝒆𝒓𝒔𝒐𝒏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una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persona</m:t>
                              </m:r>
                            </m:oMath>
                          </a14:m>
                          <a:endParaRPr lang="es-MX" sz="1800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𝑲𝒊𝒏𝒈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un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rey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s-MX" sz="1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𝑩𝒓𝒐𝒌𝒆𝒏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esta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fracturada</m:t>
                              </m:r>
                            </m:oMath>
                          </a14:m>
                          <a:endParaRPr lang="es-CO" sz="18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𝑶𝒘𝒏𝒔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posee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s-CO" sz="18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𝑾𝒆𝒂𝒓𝒔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lleva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puesta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s-CO" sz="18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𝑩𝒆𝒕𝒓𝒂𝒚𝒆𝒅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traicion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ó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s-CO" sz="18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𝑬𝒗𝒊𝒍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malvado</m:t>
                              </m:r>
                            </m:oMath>
                          </a14:m>
                          <a:endParaRPr lang="es-MX" sz="18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Cambria Math" panose="02040503050406030204" pitchFamily="18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𝑮𝒓𝒆𝒆𝒅𝒚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codicioso</m:t>
                              </m:r>
                            </m:oMath>
                          </a14:m>
                          <a:endParaRPr lang="es-MX" sz="1800" b="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Cambria Math" panose="02040503050406030204" pitchFamily="18" charset="0"/>
                          </a:endParaRPr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𝑰𝒔𝑪𝒓𝒐𝒘𝒏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es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una</m:t>
                              </m:r>
                              <m: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corona</m:t>
                              </m:r>
                            </m:oMath>
                          </a14:m>
                          <a:endParaRPr lang="es-CO" sz="18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Funciones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𝑳𝒆𝒇𝒕𝑳𝒆𝒈</m:t>
                              </m:r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pierna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izquierda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MX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s-CO" sz="1800" dirty="0">
                            <a:solidFill>
                              <a:schemeClr val="tx1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1948138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∃</m:t>
                                </m:r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a 2">
                <a:extLst>
                  <a:ext uri="{FF2B5EF4-FFF2-40B4-BE49-F238E27FC236}">
                    <a16:creationId xmlns:a16="http://schemas.microsoft.com/office/drawing/2014/main" id="{BA0EAA30-0FF3-4A9A-B374-4FDA0B19F3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18539"/>
                  </p:ext>
                </p:extLst>
              </p:nvPr>
            </p:nvGraphicFramePr>
            <p:xfrm>
              <a:off x="354371" y="1184916"/>
              <a:ext cx="6440129" cy="557784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918929">
                      <a:extLst>
                        <a:ext uri="{9D8B030D-6E8A-4147-A177-3AD203B41FA5}">
                          <a16:colId xmlns:a16="http://schemas.microsoft.com/office/drawing/2014/main" val="55665907"/>
                        </a:ext>
                      </a:extLst>
                    </a:gridCol>
                    <a:gridCol w="4521200">
                      <a:extLst>
                        <a:ext uri="{9D8B030D-6E8A-4147-A177-3AD203B41FA5}">
                          <a16:colId xmlns:a16="http://schemas.microsoft.com/office/drawing/2014/main" val="239399467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Dominio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588" t="-952" r="-270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40540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Variables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588" t="-163077" r="-270" b="-117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97047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Constantes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588" t="-162857" r="-270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736836"/>
                      </a:ext>
                    </a:extLst>
                  </a:tr>
                  <a:tr h="3108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588" t="-54012" r="-270" b="-287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9332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Funciones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588" t="-1210769" r="-270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194813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Cuantificadores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588" t="-1310769" r="-270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01306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576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06" y="96038"/>
            <a:ext cx="11395588" cy="949500"/>
          </a:xfrm>
        </p:spPr>
        <p:txBody>
          <a:bodyPr/>
          <a:lstStyle/>
          <a:p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  <a:endParaRPr lang="es-CO" sz="54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398206" y="799316"/>
            <a:ext cx="81012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Lógica cuantificacional - Ejemplo</a:t>
            </a:r>
          </a:p>
        </p:txBody>
      </p:sp>
      <p:sp>
        <p:nvSpPr>
          <p:cNvPr id="24" name="Google Shape;310;p34">
            <a:extLst>
              <a:ext uri="{FF2B5EF4-FFF2-40B4-BE49-F238E27FC236}">
                <a16:creationId xmlns:a16="http://schemas.microsoft.com/office/drawing/2014/main" id="{A9971318-92E7-43B3-9F4D-6365C60DB088}"/>
              </a:ext>
            </a:extLst>
          </p:cNvPr>
          <p:cNvSpPr txBox="1">
            <a:spLocks/>
          </p:cNvSpPr>
          <p:nvPr/>
        </p:nvSpPr>
        <p:spPr>
          <a:xfrm>
            <a:off x="272142" y="1233690"/>
            <a:ext cx="11521652" cy="532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Contexto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Suponga que el juglar dice ciertas cosas sobre los reyes. La siguiente tabla muestra lo que dice el juglar (lenguaje natural) escrito en lógica de predicados.</a:t>
            </a:r>
          </a:p>
          <a:p>
            <a:pPr marL="469900" indent="-342900">
              <a:buFont typeface="+mj-lt"/>
              <a:buAutoNum type="arabicPeriod"/>
            </a:pPr>
            <a:r>
              <a:rPr lang="es-CO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Ricardo es un rey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CO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Juan es una persona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MX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Juan es hermano de Ricardo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CO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Juan traicionó a Ricardo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MX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Ricardo lleva puesta la corona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MX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Juan es Malvado y codicioso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MX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La pierna izquierda de Ricardo está rota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MX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Todo rey es una persona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MX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 hermano de un rey es un rey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MX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Si alguien lleva puesta la corona, entonces es rey</a:t>
            </a:r>
            <a:endParaRPr 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342900">
              <a:buFont typeface="+mj-lt"/>
              <a:buAutoNum type="arabicPeriod"/>
            </a:pPr>
            <a:r>
              <a:rPr lang="es-MX" sz="1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Todo el que tiene la corona sobre su cabeza es rey</a:t>
            </a:r>
            <a:endParaRPr lang="es-CO" sz="1800" b="0" i="0" u="none" strike="noStrike" dirty="0">
              <a:effectLst/>
              <a:latin typeface="Arial" panose="020B0604020202020204" pitchFamily="34" charset="0"/>
            </a:endParaRP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2" name="Picture 6" descr="Alan A Dale | The Parody Wiki | Fandom">
            <a:extLst>
              <a:ext uri="{FF2B5EF4-FFF2-40B4-BE49-F238E27FC236}">
                <a16:creationId xmlns:a16="http://schemas.microsoft.com/office/drawing/2014/main" id="{BACD522B-FE79-4462-A2C3-59C6856BD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557" y="3609860"/>
            <a:ext cx="1478643" cy="150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Principe Juan | Pichi Pichi Pitch's adventures Wiki | Fandom">
            <a:extLst>
              <a:ext uri="{FF2B5EF4-FFF2-40B4-BE49-F238E27FC236}">
                <a16:creationId xmlns:a16="http://schemas.microsoft.com/office/drawing/2014/main" id="{1255D46A-6F20-4F66-96B8-ACE6FC49B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932" y="3270426"/>
            <a:ext cx="976867" cy="1896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King Richard | Disney y Pixar | Fandom">
            <a:extLst>
              <a:ext uri="{FF2B5EF4-FFF2-40B4-BE49-F238E27FC236}">
                <a16:creationId xmlns:a16="http://schemas.microsoft.com/office/drawing/2014/main" id="{7923FF21-0C28-419E-B882-6B1D5581B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574" y="3289300"/>
            <a:ext cx="1493129" cy="187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878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06" y="96038"/>
            <a:ext cx="11273094" cy="949500"/>
          </a:xfrm>
        </p:spPr>
        <p:txBody>
          <a:bodyPr/>
          <a:lstStyle/>
          <a:p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  <a:endParaRPr lang="es-CO" sz="54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398206" y="813870"/>
            <a:ext cx="8101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Lógica cuantificacional - Ejemplo</a:t>
            </a:r>
          </a:p>
        </p:txBody>
      </p:sp>
      <p:sp>
        <p:nvSpPr>
          <p:cNvPr id="24" name="Google Shape;310;p34">
            <a:extLst>
              <a:ext uri="{FF2B5EF4-FFF2-40B4-BE49-F238E27FC236}">
                <a16:creationId xmlns:a16="http://schemas.microsoft.com/office/drawing/2014/main" id="{A9971318-92E7-43B3-9F4D-6365C60DB088}"/>
              </a:ext>
            </a:extLst>
          </p:cNvPr>
          <p:cNvSpPr txBox="1">
            <a:spLocks/>
          </p:cNvSpPr>
          <p:nvPr/>
        </p:nvSpPr>
        <p:spPr>
          <a:xfrm>
            <a:off x="398206" y="1268174"/>
            <a:ext cx="10758235" cy="75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Contexto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Suponga que el juglar dice ciertas cosas sobre los reyes. La siguiente tabla muestra lo que dice el juglar (lenguaje natural) escrito en lógica de predicados.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3">
                <a:extLst>
                  <a:ext uri="{FF2B5EF4-FFF2-40B4-BE49-F238E27FC236}">
                    <a16:creationId xmlns:a16="http://schemas.microsoft.com/office/drawing/2014/main" id="{FDCCE3DD-8190-4A76-96F6-707A5B3EAC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0531965"/>
                  </p:ext>
                </p:extLst>
              </p:nvPr>
            </p:nvGraphicFramePr>
            <p:xfrm>
              <a:off x="557663" y="2478299"/>
              <a:ext cx="6706737" cy="277368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376257">
                      <a:extLst>
                        <a:ext uri="{9D8B030D-6E8A-4147-A177-3AD203B41FA5}">
                          <a16:colId xmlns:a16="http://schemas.microsoft.com/office/drawing/2014/main" val="2057099001"/>
                        </a:ext>
                      </a:extLst>
                    </a:gridCol>
                    <a:gridCol w="3269780">
                      <a:extLst>
                        <a:ext uri="{9D8B030D-6E8A-4147-A177-3AD203B41FA5}">
                          <a16:colId xmlns:a16="http://schemas.microsoft.com/office/drawing/2014/main" val="2721384015"/>
                        </a:ext>
                      </a:extLst>
                    </a:gridCol>
                    <a:gridCol w="3060700">
                      <a:extLst>
                        <a:ext uri="{9D8B030D-6E8A-4147-A177-3AD203B41FA5}">
                          <a16:colId xmlns:a16="http://schemas.microsoft.com/office/drawing/2014/main" val="3804441368"/>
                        </a:ext>
                      </a:extLst>
                    </a:gridCol>
                  </a:tblGrid>
                  <a:tr h="3633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#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282906"/>
                      </a:ext>
                    </a:extLst>
                  </a:tr>
                  <a:tr h="363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</a:rPr>
                            <a:t>Ricardo es un rey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𝐾𝑖𝑛𝑔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Ricardo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12829917"/>
                      </a:ext>
                    </a:extLst>
                  </a:tr>
                  <a:tr h="363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</a:rPr>
                            <a:t>Juan es una persona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𝑃𝑒𝑟𝑠𝑜𝑛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Juan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5296453"/>
                      </a:ext>
                    </a:extLst>
                  </a:tr>
                  <a:tr h="363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Juan es hermano de Ricardo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𝐵𝑟𝑜𝑡h𝑒𝑟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Juan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Ricardo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9990816"/>
                      </a:ext>
                    </a:extLst>
                  </a:tr>
                  <a:tr h="363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Juan traicionó a Ricardo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𝐵𝑒𝑡𝑟𝑎𝑦𝑒𝑑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Juan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Ricardo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70412116"/>
                      </a:ext>
                    </a:extLst>
                  </a:tr>
                  <a:tr h="363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Ricardo lleva puesta la corona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𝑊𝑒𝑎𝑟𝑠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Ricardo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Corona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2978830"/>
                      </a:ext>
                    </a:extLst>
                  </a:tr>
                  <a:tr h="3633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Juan es Malvado y codicioso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𝐸𝑣𝑖𝑙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Juan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𝐺𝑟𝑒𝑒𝑑𝑦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Juan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07605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3">
                <a:extLst>
                  <a:ext uri="{FF2B5EF4-FFF2-40B4-BE49-F238E27FC236}">
                    <a16:creationId xmlns:a16="http://schemas.microsoft.com/office/drawing/2014/main" id="{FDCCE3DD-8190-4A76-96F6-707A5B3EAC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0531965"/>
                  </p:ext>
                </p:extLst>
              </p:nvPr>
            </p:nvGraphicFramePr>
            <p:xfrm>
              <a:off x="557663" y="2478299"/>
              <a:ext cx="6706737" cy="277368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376257">
                      <a:extLst>
                        <a:ext uri="{9D8B030D-6E8A-4147-A177-3AD203B41FA5}">
                          <a16:colId xmlns:a16="http://schemas.microsoft.com/office/drawing/2014/main" val="2057099001"/>
                        </a:ext>
                      </a:extLst>
                    </a:gridCol>
                    <a:gridCol w="3269780">
                      <a:extLst>
                        <a:ext uri="{9D8B030D-6E8A-4147-A177-3AD203B41FA5}">
                          <a16:colId xmlns:a16="http://schemas.microsoft.com/office/drawing/2014/main" val="2721384015"/>
                        </a:ext>
                      </a:extLst>
                    </a:gridCol>
                    <a:gridCol w="3060700">
                      <a:extLst>
                        <a:ext uri="{9D8B030D-6E8A-4147-A177-3AD203B41FA5}">
                          <a16:colId xmlns:a16="http://schemas.microsoft.com/office/drawing/2014/main" val="380444136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#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2829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</a:rPr>
                            <a:t>Ricardo es un rey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522" t="-107692" r="-398" b="-5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282991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</a:rPr>
                            <a:t>Juan es una persona</a:t>
                          </a:r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522" t="-207692" r="-398" b="-4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52964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Juan es hermano de Ricardo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522" t="-303030" r="-398" b="-3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99908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</a:rPr>
                            <a:t>Juan traicionó a Ricardo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522" t="-409231" r="-398" b="-2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4121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Ricardo lleva puesta la corona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522" t="-509231" r="-398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9788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Juan es Malvado y codicioso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9522" t="-609231" r="-398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60577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2" descr="Principe Juan | Pichi Pichi Pitch's adventures Wiki | Fandom">
            <a:extLst>
              <a:ext uri="{FF2B5EF4-FFF2-40B4-BE49-F238E27FC236}">
                <a16:creationId xmlns:a16="http://schemas.microsoft.com/office/drawing/2014/main" id="{DF3D41B4-2F39-4B78-B47F-8D7D94328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3227" y="3031111"/>
            <a:ext cx="976867" cy="1896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King Richard | Disney y Pixar | Fandom">
            <a:extLst>
              <a:ext uri="{FF2B5EF4-FFF2-40B4-BE49-F238E27FC236}">
                <a16:creationId xmlns:a16="http://schemas.microsoft.com/office/drawing/2014/main" id="{7543DEEC-45AB-42B1-8CDA-F75770DC3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099" y="3031111"/>
            <a:ext cx="1493129" cy="187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55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06" y="96038"/>
            <a:ext cx="11234994" cy="949500"/>
          </a:xfrm>
        </p:spPr>
        <p:txBody>
          <a:bodyPr/>
          <a:lstStyle/>
          <a:p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  <a:endParaRPr lang="es-CO" sz="54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398206" y="855341"/>
            <a:ext cx="8101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Lógica cuantificacional - Ejemplo</a:t>
            </a:r>
          </a:p>
        </p:txBody>
      </p:sp>
      <p:sp>
        <p:nvSpPr>
          <p:cNvPr id="24" name="Google Shape;310;p34">
            <a:extLst>
              <a:ext uri="{FF2B5EF4-FFF2-40B4-BE49-F238E27FC236}">
                <a16:creationId xmlns:a16="http://schemas.microsoft.com/office/drawing/2014/main" id="{A9971318-92E7-43B3-9F4D-6365C60DB088}"/>
              </a:ext>
            </a:extLst>
          </p:cNvPr>
          <p:cNvSpPr txBox="1">
            <a:spLocks/>
          </p:cNvSpPr>
          <p:nvPr/>
        </p:nvSpPr>
        <p:spPr>
          <a:xfrm>
            <a:off x="286060" y="1142103"/>
            <a:ext cx="10120882" cy="75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Contexto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Suponga que el juglar dice ciertas cosas sobre los reyes. La siguiente tabla muestra lo que dice el juglar (lenguaje natural) escrito en lógica de predicados.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3">
                <a:extLst>
                  <a:ext uri="{FF2B5EF4-FFF2-40B4-BE49-F238E27FC236}">
                    <a16:creationId xmlns:a16="http://schemas.microsoft.com/office/drawing/2014/main" id="{FDCCE3DD-8190-4A76-96F6-707A5B3EAC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643563"/>
                  </p:ext>
                </p:extLst>
              </p:nvPr>
            </p:nvGraphicFramePr>
            <p:xfrm>
              <a:off x="652206" y="2186357"/>
              <a:ext cx="9046291" cy="3306318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16694">
                      <a:extLst>
                        <a:ext uri="{9D8B030D-6E8A-4147-A177-3AD203B41FA5}">
                          <a16:colId xmlns:a16="http://schemas.microsoft.com/office/drawing/2014/main" val="2057099001"/>
                        </a:ext>
                      </a:extLst>
                    </a:gridCol>
                    <a:gridCol w="3500188">
                      <a:extLst>
                        <a:ext uri="{9D8B030D-6E8A-4147-A177-3AD203B41FA5}">
                          <a16:colId xmlns:a16="http://schemas.microsoft.com/office/drawing/2014/main" val="2721384015"/>
                        </a:ext>
                      </a:extLst>
                    </a:gridCol>
                    <a:gridCol w="5029409">
                      <a:extLst>
                        <a:ext uri="{9D8B030D-6E8A-4147-A177-3AD203B41FA5}">
                          <a16:colId xmlns:a16="http://schemas.microsoft.com/office/drawing/2014/main" val="3804441368"/>
                        </a:ext>
                      </a:extLst>
                    </a:gridCol>
                  </a:tblGrid>
                  <a:tr h="276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#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282906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La pierna izquierda de Ricardo está rota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𝐵𝑟𝑜𝑘𝑒𝑛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𝐿𝑒𝑓𝑡𝐿𝑒𝑔</m:t>
                                    </m:r>
                                    <m: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Ricardo</m:t>
                                    </m:r>
                                    <m: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6157059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Todo rey es una persona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𝐾𝑖𝑛𝑔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→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𝑃𝑒𝑟𝑠𝑜𝑛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86934461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El hermano de un rey es un rey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𝐵𝑟𝑜𝑡h𝑒𝑟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,</m:t>
                                        </m:r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𝐾𝑖𝑛𝑔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→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𝐾𝑖𝑛𝑔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(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4639713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Si alguien lleva puesta la corona, entonces es rey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𝑊𝑒𝑎𝑟𝑠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s-MX" sz="1800" b="0" i="0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Corona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→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𝐾𝑖𝑛𝑔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78827223"/>
                      </a:ext>
                    </a:extLst>
                  </a:tr>
                  <a:tr h="27655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Todo el que tiene la corona sobre su cabeza es rey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𝑂𝑛𝐻𝑒𝑎𝑑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s-MX" sz="1800" b="0" i="0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Corona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𝐾𝑖𝑛𝑔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𝐼𝑠𝐶𝑟𝑜𝑤𝑛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𝑂𝑛𝐻𝑒𝑎𝑑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𝐾𝑖𝑛𝑔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28411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3">
                <a:extLst>
                  <a:ext uri="{FF2B5EF4-FFF2-40B4-BE49-F238E27FC236}">
                    <a16:creationId xmlns:a16="http://schemas.microsoft.com/office/drawing/2014/main" id="{FDCCE3DD-8190-4A76-96F6-707A5B3EAC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643563"/>
                  </p:ext>
                </p:extLst>
              </p:nvPr>
            </p:nvGraphicFramePr>
            <p:xfrm>
              <a:off x="652206" y="2186357"/>
              <a:ext cx="9046291" cy="3306318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16694">
                      <a:extLst>
                        <a:ext uri="{9D8B030D-6E8A-4147-A177-3AD203B41FA5}">
                          <a16:colId xmlns:a16="http://schemas.microsoft.com/office/drawing/2014/main" val="2057099001"/>
                        </a:ext>
                      </a:extLst>
                    </a:gridCol>
                    <a:gridCol w="3500188">
                      <a:extLst>
                        <a:ext uri="{9D8B030D-6E8A-4147-A177-3AD203B41FA5}">
                          <a16:colId xmlns:a16="http://schemas.microsoft.com/office/drawing/2014/main" val="2721384015"/>
                        </a:ext>
                      </a:extLst>
                    </a:gridCol>
                    <a:gridCol w="5029409">
                      <a:extLst>
                        <a:ext uri="{9D8B030D-6E8A-4147-A177-3AD203B41FA5}">
                          <a16:colId xmlns:a16="http://schemas.microsoft.com/office/drawing/2014/main" val="380444136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#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Enunciado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Representación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028290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La pierna izquierda de Ricardo está rota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782" t="-60345" r="-242" b="-326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6157059"/>
                      </a:ext>
                    </a:extLst>
                  </a:tr>
                  <a:tr h="4010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Todo rey es una persona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782" t="-281818" r="-242" b="-47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69344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El hermano de un rey es un rey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782" t="-387692" r="-242" b="-38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463971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Si alguien lleva puesta la corona, entonces es rey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782" t="-275652" r="-242" b="-11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8827223"/>
                      </a:ext>
                    </a:extLst>
                  </a:tr>
                  <a:tr h="7106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dirty="0">
                              <a:latin typeface="+mn-lt"/>
                            </a:rPr>
                            <a:t>Todo el que tiene la corona sobre su cabeza es rey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9782" t="-369231" r="-242" b="-136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28411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Picture 2" descr="Principe Juan | Pichi Pichi Pitch's adventures Wiki | Fandom">
            <a:extLst>
              <a:ext uri="{FF2B5EF4-FFF2-40B4-BE49-F238E27FC236}">
                <a16:creationId xmlns:a16="http://schemas.microsoft.com/office/drawing/2014/main" id="{CCC38CA5-A9F2-4832-A940-D68B198E9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927" y="4284764"/>
            <a:ext cx="976867" cy="1896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King Richard | Disney y Pixar | Fandom">
            <a:extLst>
              <a:ext uri="{FF2B5EF4-FFF2-40B4-BE49-F238E27FC236}">
                <a16:creationId xmlns:a16="http://schemas.microsoft.com/office/drawing/2014/main" id="{4417961C-6A7C-42D7-880F-52C26ABEF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795" y="2186357"/>
            <a:ext cx="1493129" cy="187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552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23" y="125066"/>
            <a:ext cx="11230077" cy="949500"/>
          </a:xfrm>
        </p:spPr>
        <p:txBody>
          <a:bodyPr/>
          <a:lstStyle/>
          <a:p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  <a:endParaRPr lang="es-CO" sz="54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250723" y="987963"/>
            <a:ext cx="724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ea typeface="Roboto" panose="02000000000000000000" pitchFamily="2" charset="0"/>
              </a:rPr>
              <a:t>Tabla Resumen – Lógica de primer orden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1C70F4D-2340-43C9-BC34-7294F2C9F3FF}"/>
              </a:ext>
            </a:extLst>
          </p:cNvPr>
          <p:cNvGrpSpPr/>
          <p:nvPr/>
        </p:nvGrpSpPr>
        <p:grpSpPr>
          <a:xfrm>
            <a:off x="199922" y="1670745"/>
            <a:ext cx="5703769" cy="3980755"/>
            <a:chOff x="865849" y="1593528"/>
            <a:chExt cx="5703769" cy="3980755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7E78D98-EFAE-411D-8EAF-D75804D18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5850" y="1593528"/>
              <a:ext cx="5703768" cy="398075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F977621F-C04A-4536-B912-35E44AFA56D3}"/>
                </a:ext>
              </a:extLst>
            </p:cNvPr>
            <p:cNvSpPr/>
            <p:nvPr/>
          </p:nvSpPr>
          <p:spPr>
            <a:xfrm>
              <a:off x="865849" y="1593528"/>
              <a:ext cx="5703767" cy="398075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068720C-2E3C-4B62-ADF1-B55C54C22A59}"/>
              </a:ext>
            </a:extLst>
          </p:cNvPr>
          <p:cNvGrpSpPr/>
          <p:nvPr/>
        </p:nvGrpSpPr>
        <p:grpSpPr>
          <a:xfrm>
            <a:off x="6019800" y="1683100"/>
            <a:ext cx="6163322" cy="1841500"/>
            <a:chOff x="6400802" y="1587500"/>
            <a:chExt cx="6163322" cy="1841500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67A8B7D5-8622-4AC5-96DA-82558C509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2" y="1593528"/>
              <a:ext cx="6163322" cy="1835472"/>
            </a:xfrm>
            <a:prstGeom prst="rect">
              <a:avLst/>
            </a:prstGeom>
          </p:spPr>
        </p:pic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E892BF7-0DCF-4F63-87BC-A5B4BB91E12A}"/>
                </a:ext>
              </a:extLst>
            </p:cNvPr>
            <p:cNvSpPr/>
            <p:nvPr/>
          </p:nvSpPr>
          <p:spPr>
            <a:xfrm>
              <a:off x="6426203" y="1587500"/>
              <a:ext cx="5819875" cy="18415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117404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10" y="125066"/>
            <a:ext cx="11454580" cy="949500"/>
          </a:xfrm>
        </p:spPr>
        <p:txBody>
          <a:bodyPr/>
          <a:lstStyle/>
          <a:p>
            <a:r>
              <a:rPr lang="es-MX" sz="4000" b="0" dirty="0">
                <a:solidFill>
                  <a:schemeClr val="tx1"/>
                </a:solidFill>
                <a:latin typeface="+mj-lt"/>
              </a:rPr>
              <a:t>Repaso conceptos claves de la lógica de primer orden</a:t>
            </a:r>
            <a:endParaRPr lang="es-CO" sz="54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65F3B2-A256-4C17-BA39-917174208C08}"/>
              </a:ext>
            </a:extLst>
          </p:cNvPr>
          <p:cNvSpPr txBox="1"/>
          <p:nvPr/>
        </p:nvSpPr>
        <p:spPr>
          <a:xfrm>
            <a:off x="368710" y="1033359"/>
            <a:ext cx="72494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Tabla de verificación de tipos</a:t>
            </a:r>
          </a:p>
        </p:txBody>
      </p:sp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E8A43E3E-1FA7-4F05-AEBF-62C7782A9A87}"/>
              </a:ext>
            </a:extLst>
          </p:cNvPr>
          <p:cNvSpPr txBox="1">
            <a:spLocks/>
          </p:cNvSpPr>
          <p:nvPr/>
        </p:nvSpPr>
        <p:spPr>
          <a:xfrm>
            <a:off x="368710" y="1519844"/>
            <a:ext cx="10890782" cy="166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Muy útil en problemas de lógica de primer orden. Esta tabla tabla describe tres tipos de componentes lógicos: 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conectivos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, predicados y funciones, y explica: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Sobre que operan (Tipo de entrada)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Que producen (Tipo de salida)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a 12">
                <a:extLst>
                  <a:ext uri="{FF2B5EF4-FFF2-40B4-BE49-F238E27FC236}">
                    <a16:creationId xmlns:a16="http://schemas.microsoft.com/office/drawing/2014/main" id="{A9C7E546-3276-42E2-A89F-2B24B30338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662254"/>
                  </p:ext>
                </p:extLst>
              </p:nvPr>
            </p:nvGraphicFramePr>
            <p:xfrm>
              <a:off x="537029" y="3429000"/>
              <a:ext cx="11286262" cy="1584960"/>
            </p:xfrm>
            <a:graphic>
              <a:graphicData uri="http://schemas.openxmlformats.org/drawingml/2006/table">
                <a:tbl>
                  <a:tblPr/>
                  <a:tblGrid>
                    <a:gridCol w="3131879">
                      <a:extLst>
                        <a:ext uri="{9D8B030D-6E8A-4147-A177-3AD203B41FA5}">
                          <a16:colId xmlns:a16="http://schemas.microsoft.com/office/drawing/2014/main" val="405060489"/>
                        </a:ext>
                      </a:extLst>
                    </a:gridCol>
                    <a:gridCol w="1974256">
                      <a:extLst>
                        <a:ext uri="{9D8B030D-6E8A-4147-A177-3AD203B41FA5}">
                          <a16:colId xmlns:a16="http://schemas.microsoft.com/office/drawing/2014/main" val="2971188620"/>
                        </a:ext>
                      </a:extLst>
                    </a:gridCol>
                    <a:gridCol w="2097526">
                      <a:extLst>
                        <a:ext uri="{9D8B030D-6E8A-4147-A177-3AD203B41FA5}">
                          <a16:colId xmlns:a16="http://schemas.microsoft.com/office/drawing/2014/main" val="3889618071"/>
                        </a:ext>
                      </a:extLst>
                    </a:gridCol>
                    <a:gridCol w="4082601">
                      <a:extLst>
                        <a:ext uri="{9D8B030D-6E8A-4147-A177-3AD203B41FA5}">
                          <a16:colId xmlns:a16="http://schemas.microsoft.com/office/drawing/2014/main" val="282814732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Elemento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Opera sobre...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Produce...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73762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Conectivos </a:t>
                          </a:r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…</m:t>
                              </m:r>
                            </m:oMath>
                          </a14:m>
                          <a:r>
                            <a:rPr lang="es-CO" sz="2000" b="0" dirty="0">
                              <a:latin typeface="+mn-lt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Proposiciones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Una proposición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</a:t>
                          </a:r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¬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69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Predicados</a:t>
                          </a: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,)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Una proposición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𝑚𝑎𝑦𝑜𝑟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_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𝑞𝑢𝑒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,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𝑝𝑎𝑟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92735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Funciones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 objeto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𝑑𝑜𝑏𝑙𝑒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b="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𝑝𝑎𝑑𝑟𝑒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_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𝑑𝑒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𝑠𝑢𝑚𝑎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,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94744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a 12">
                <a:extLst>
                  <a:ext uri="{FF2B5EF4-FFF2-40B4-BE49-F238E27FC236}">
                    <a16:creationId xmlns:a16="http://schemas.microsoft.com/office/drawing/2014/main" id="{A9C7E546-3276-42E2-A89F-2B24B30338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662254"/>
                  </p:ext>
                </p:extLst>
              </p:nvPr>
            </p:nvGraphicFramePr>
            <p:xfrm>
              <a:off x="537029" y="3429000"/>
              <a:ext cx="11286262" cy="1584960"/>
            </p:xfrm>
            <a:graphic>
              <a:graphicData uri="http://schemas.openxmlformats.org/drawingml/2006/table">
                <a:tbl>
                  <a:tblPr/>
                  <a:tblGrid>
                    <a:gridCol w="3131879">
                      <a:extLst>
                        <a:ext uri="{9D8B030D-6E8A-4147-A177-3AD203B41FA5}">
                          <a16:colId xmlns:a16="http://schemas.microsoft.com/office/drawing/2014/main" val="405060489"/>
                        </a:ext>
                      </a:extLst>
                    </a:gridCol>
                    <a:gridCol w="1974256">
                      <a:extLst>
                        <a:ext uri="{9D8B030D-6E8A-4147-A177-3AD203B41FA5}">
                          <a16:colId xmlns:a16="http://schemas.microsoft.com/office/drawing/2014/main" val="2971188620"/>
                        </a:ext>
                      </a:extLst>
                    </a:gridCol>
                    <a:gridCol w="2097526">
                      <a:extLst>
                        <a:ext uri="{9D8B030D-6E8A-4147-A177-3AD203B41FA5}">
                          <a16:colId xmlns:a16="http://schemas.microsoft.com/office/drawing/2014/main" val="3889618071"/>
                        </a:ext>
                      </a:extLst>
                    </a:gridCol>
                    <a:gridCol w="4082601">
                      <a:extLst>
                        <a:ext uri="{9D8B030D-6E8A-4147-A177-3AD203B41FA5}">
                          <a16:colId xmlns:a16="http://schemas.microsoft.com/office/drawing/2014/main" val="282814732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Elemento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Opera sobre...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Produce...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Ejemplo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737628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5" t="-106061" r="-260700" b="-2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Proposiciones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Una proposición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6567" t="-106061" r="-299" b="-2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978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5" t="-209231" r="-260700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Una proposición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6567" t="-209231" r="-299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92735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Funciones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Objetos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Un objeto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6567" t="-309231" r="-299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4744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91407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528700" y="142781"/>
            <a:ext cx="10515600" cy="89424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Repaso sobre cuantificadores</a:t>
            </a:r>
            <a:endParaRPr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a 5">
                <a:extLst>
                  <a:ext uri="{FF2B5EF4-FFF2-40B4-BE49-F238E27FC236}">
                    <a16:creationId xmlns:a16="http://schemas.microsoft.com/office/drawing/2014/main" id="{14737495-DDAE-415D-B57F-50AB3D6329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5813327"/>
                  </p:ext>
                </p:extLst>
              </p:nvPr>
            </p:nvGraphicFramePr>
            <p:xfrm>
              <a:off x="528698" y="1017914"/>
              <a:ext cx="11191914" cy="49987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351242">
                      <a:extLst>
                        <a:ext uri="{9D8B030D-6E8A-4147-A177-3AD203B41FA5}">
                          <a16:colId xmlns:a16="http://schemas.microsoft.com/office/drawing/2014/main" val="1345252817"/>
                        </a:ext>
                      </a:extLst>
                    </a:gridCol>
                    <a:gridCol w="4420336">
                      <a:extLst>
                        <a:ext uri="{9D8B030D-6E8A-4147-A177-3AD203B41FA5}">
                          <a16:colId xmlns:a16="http://schemas.microsoft.com/office/drawing/2014/main" val="4015708041"/>
                        </a:ext>
                      </a:extLst>
                    </a:gridCol>
                    <a:gridCol w="4420336">
                      <a:extLst>
                        <a:ext uri="{9D8B030D-6E8A-4147-A177-3AD203B41FA5}">
                          <a16:colId xmlns:a16="http://schemas.microsoft.com/office/drawing/2014/main" val="3816877368"/>
                        </a:ext>
                      </a:extLst>
                    </a:gridCol>
                  </a:tblGrid>
                  <a:tr h="2398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Característica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 universal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(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)</m:t>
                              </m:r>
                            </m:oMath>
                          </a14:m>
                          <a:endParaRPr lang="es-CO" sz="20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Cuantificador existencial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(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)</m:t>
                              </m:r>
                            </m:oMath>
                          </a14:m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8850732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0087425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</a:rPr>
                            <a:t>Lectura común</a:t>
                          </a:r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"Para todo", "Para cada", "Para cualquier"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"Existe (al menos) un", "Para algún", "Hay algún"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2153765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Significado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MX" sz="2000" dirty="0">
                              <a:latin typeface="+mn-lt"/>
                            </a:rPr>
                            <a:t>La propiedad es verdadera para </a:t>
                          </a:r>
                          <a:r>
                            <a:rPr lang="es-MX" sz="2000" b="1" dirty="0">
                              <a:latin typeface="+mn-lt"/>
                            </a:rPr>
                            <a:t>todos</a:t>
                          </a:r>
                          <a:r>
                            <a:rPr lang="es-MX" sz="2000" dirty="0">
                              <a:latin typeface="+mn-lt"/>
                            </a:rPr>
                            <a:t> los elementos del dominio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La propiedad es verdadera para </a:t>
                          </a:r>
                          <a:r>
                            <a:rPr lang="es-MX" sz="2000" b="1" dirty="0">
                              <a:latin typeface="+mn-lt"/>
                            </a:rPr>
                            <a:t>al menos uno</a:t>
                          </a:r>
                          <a:r>
                            <a:rPr lang="es-MX" sz="2000" dirty="0">
                              <a:latin typeface="+mn-lt"/>
                            </a:rPr>
                            <a:t> del dominio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91561335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Estructura típica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85523613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Condición de verdad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verdadero para todo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Hay algún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 para</a:t>
                          </a:r>
                          <a:r>
                            <a:rPr lang="es-MX" sz="2000" b="0" baseline="0" dirty="0">
                              <a:latin typeface="+mn-lt"/>
                              <a:ea typeface="Cambria Math" panose="02040503050406030204" pitchFamily="18" charset="0"/>
                            </a:rPr>
                            <a:t> el cual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verdadero.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9915265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Condición de falsedad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Existe un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 para</a:t>
                          </a:r>
                          <a:r>
                            <a:rPr lang="es-MX" sz="2000" b="0" baseline="0" dirty="0">
                              <a:latin typeface="+mn-lt"/>
                              <a:ea typeface="Cambria Math" panose="02040503050406030204" pitchFamily="18" charset="0"/>
                            </a:rPr>
                            <a:t> el cual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falso.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MX" sz="2000" b="0" dirty="0">
                              <a:latin typeface="+mn-lt"/>
                              <a:ea typeface="Cambria Math" panose="02040503050406030204" pitchFamily="18" charset="0"/>
                            </a:rPr>
                            <a:t> es falso para cada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8402189"/>
                      </a:ext>
                    </a:extLst>
                  </a:tr>
                  <a:tr h="23984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Palabras claves asociadas (al lenguaje natural)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Todos, cada, cualquiera, ninguno (usado con negación), siempre, para todo.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Existe, algún, algunos, hay, al menos uno, a veces, para algún.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2270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a 5">
                <a:extLst>
                  <a:ext uri="{FF2B5EF4-FFF2-40B4-BE49-F238E27FC236}">
                    <a16:creationId xmlns:a16="http://schemas.microsoft.com/office/drawing/2014/main" id="{14737495-DDAE-415D-B57F-50AB3D6329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5813327"/>
                  </p:ext>
                </p:extLst>
              </p:nvPr>
            </p:nvGraphicFramePr>
            <p:xfrm>
              <a:off x="528698" y="1017914"/>
              <a:ext cx="11191914" cy="49987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351242">
                      <a:extLst>
                        <a:ext uri="{9D8B030D-6E8A-4147-A177-3AD203B41FA5}">
                          <a16:colId xmlns:a16="http://schemas.microsoft.com/office/drawing/2014/main" val="1345252817"/>
                        </a:ext>
                      </a:extLst>
                    </a:gridCol>
                    <a:gridCol w="4420336">
                      <a:extLst>
                        <a:ext uri="{9D8B030D-6E8A-4147-A177-3AD203B41FA5}">
                          <a16:colId xmlns:a16="http://schemas.microsoft.com/office/drawing/2014/main" val="4015708041"/>
                        </a:ext>
                      </a:extLst>
                    </a:gridCol>
                    <a:gridCol w="4420336">
                      <a:extLst>
                        <a:ext uri="{9D8B030D-6E8A-4147-A177-3AD203B41FA5}">
                          <a16:colId xmlns:a16="http://schemas.microsoft.com/office/drawing/2014/main" val="381687736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Característica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53379" t="-7692" r="-100414" b="-119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53168" t="-7692" r="-275" b="-11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885073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Símbolo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379" t="-107692" r="-100414" b="-109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168" t="-107692" r="-275" b="-109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008742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</a:rPr>
                            <a:t>Lectura común</a:t>
                          </a:r>
                          <a:endParaRPr lang="es-CO" sz="2000" b="1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"Para todo", "Para cada", "Para cualquier"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"Existe (al menos) un", "Para algún", "Hay algún"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21537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Significado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MX" sz="2000" dirty="0">
                              <a:latin typeface="+mn-lt"/>
                            </a:rPr>
                            <a:t>La propiedad es verdadera para </a:t>
                          </a:r>
                          <a:r>
                            <a:rPr lang="es-MX" sz="2000" b="1" dirty="0">
                              <a:latin typeface="+mn-lt"/>
                            </a:rPr>
                            <a:t>todos</a:t>
                          </a:r>
                          <a:r>
                            <a:rPr lang="es-MX" sz="2000" dirty="0">
                              <a:latin typeface="+mn-lt"/>
                            </a:rPr>
                            <a:t> los elementos del dominio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La propiedad es verdadera para </a:t>
                          </a:r>
                          <a:r>
                            <a:rPr lang="es-MX" sz="2000" b="1" dirty="0">
                              <a:latin typeface="+mn-lt"/>
                            </a:rPr>
                            <a:t>al menos uno</a:t>
                          </a:r>
                          <a:r>
                            <a:rPr lang="es-MX" sz="2000" dirty="0">
                              <a:latin typeface="+mn-lt"/>
                            </a:rPr>
                            <a:t> del dominio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915613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Estructura típica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379" t="-553030" r="-100414" b="-6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168" t="-553030" r="-275" b="-625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52361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Condición de verdad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379" t="-374783" r="-100414" b="-259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168" t="-374783" r="-275" b="-25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991526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Condición de falsedad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379" t="-474783" r="-100414" b="-1591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3168" t="-474783" r="-275" b="-15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8402189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s-CO" sz="2000" b="1" dirty="0">
                              <a:latin typeface="+mn-lt"/>
                            </a:rPr>
                            <a:t>Palabras claves asociadas (al lenguaje natural)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Todos, cada, cualquiera, ninguno (usado con negación), siempre, para todo.</a:t>
                          </a:r>
                          <a:endParaRPr lang="es-CO" sz="20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</a:rPr>
                            <a:t>Existe, algún, algunos, hay, al menos uno, a veces, para algún.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22703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Google Shape;310;p34">
                <a:extLst>
                  <a:ext uri="{FF2B5EF4-FFF2-40B4-BE49-F238E27FC236}">
                    <a16:creationId xmlns:a16="http://schemas.microsoft.com/office/drawing/2014/main" id="{1A5A9F6B-91D3-4CCC-8DF8-0FF323EF11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141" y="6192870"/>
                <a:ext cx="11872686" cy="5223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valor de verdad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depende tanto de la función proposicional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como del dominio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8" name="Google Shape;310;p34">
                <a:extLst>
                  <a:ext uri="{FF2B5EF4-FFF2-40B4-BE49-F238E27FC236}">
                    <a16:creationId xmlns:a16="http://schemas.microsoft.com/office/drawing/2014/main" id="{1A5A9F6B-91D3-4CCC-8DF8-0FF323EF1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41" y="6192870"/>
                <a:ext cx="11872686" cy="522349"/>
              </a:xfrm>
              <a:prstGeom prst="rect">
                <a:avLst/>
              </a:prstGeom>
              <a:blipFill>
                <a:blip r:embed="rId4"/>
                <a:stretch>
                  <a:fillRect b="-151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759750" y="38500"/>
            <a:ext cx="10515600" cy="99173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sobre cuantificadores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7BC8B6FF-F5F6-412B-B5B3-1B0E6B398F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6573" y="870577"/>
                <a:ext cx="11603542" cy="5138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orden en que aparecen distintos cuantificadores no es intercambiable: a diferencia de sumar varios números, aquí cambiar el orden cambia el significado de la expresión.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𝑦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𝑦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𝑦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(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𝑦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)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Por ejemplo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Con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i="1" dirty="0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 dirty="0" err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  <m:r>
                          <a:rPr lang="es-MX" sz="2000" i="1" dirty="0" err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2000" i="1" dirty="0" err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𝑦</m:t>
                        </m:r>
                      </m:e>
                    </m:d>
                    <m:r>
                      <a:rPr lang="es-MX" sz="2000" b="0" i="0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b="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b="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&gt;</m:t>
                    </m:r>
                    <m:r>
                      <a:rPr lang="es-MX" sz="2000" b="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sobre los naturales. Observe que cambiar el orden de los cuantificadores, cambia el significado y por ende el valor de la proposición.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verdadero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(siempre hay un número mayor que cualquier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dado).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i="1" dirty="0" err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falso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(no existe un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que sea mayor que todos los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 la vez).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Los cuantificadores ∀ y ∃ tienen mayor precedencia que los operadores lógicos: se aplican primero, sobre la fórmula más pequeña que los sigue.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𝑥𝑃</m:t>
                      </m:r>
                      <m:d>
                        <m:dPr>
                          <m:ctrlP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s-MX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∀</m:t>
                          </m:r>
                          <m:r>
                            <a:rPr lang="es-MX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𝑥𝑃</m:t>
                          </m:r>
                          <m:d>
                            <m:dPr>
                              <m:ctrlPr>
                                <a:rPr lang="es-MX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7BC8B6FF-F5F6-412B-B5B3-1B0E6B398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73" y="870577"/>
                <a:ext cx="11603542" cy="5138337"/>
              </a:xfrm>
              <a:prstGeom prst="rect">
                <a:avLst/>
              </a:prstGeom>
              <a:blipFill>
                <a:blip r:embed="rId3"/>
                <a:stretch>
                  <a:fillRect r="-1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366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759750" y="38500"/>
            <a:ext cx="10515600" cy="99173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sobre cuantificadores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7BC8B6FF-F5F6-412B-B5B3-1B0E6B398F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6573" y="870577"/>
                <a:ext cx="11603542" cy="29757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Cuando el dominio es finito y no vacío,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pPr marL="1041400" lvl="1" indent="-4572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proposición cuantificada universalmente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equivale a una conjunción sin cuantificadores.</a:t>
                </a:r>
              </a:p>
              <a:p>
                <a:pPr marL="1041400" lvl="1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(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)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041400" lvl="1" indent="-457200">
                  <a:buFont typeface="+mj-lt"/>
                  <a:buAutoNum type="arabicPeriod" startAt="2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proposición cuantificada existencialmente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equivale a una disyunción sin cuantificadores.</a:t>
                </a:r>
              </a:p>
              <a:p>
                <a:pPr marL="1041400" lvl="1" indent="-457200">
                  <a:buFont typeface="+mj-lt"/>
                  <a:buAutoNum type="arabicPeriod" startAt="2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(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)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7BC8B6FF-F5F6-412B-B5B3-1B0E6B398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73" y="870577"/>
                <a:ext cx="11603542" cy="29757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609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53" y="96038"/>
            <a:ext cx="10645689" cy="949500"/>
          </a:xfrm>
        </p:spPr>
        <p:txBody>
          <a:bodyPr/>
          <a:lstStyle/>
          <a:p>
            <a:r>
              <a:rPr lang="es-CO" b="0" dirty="0">
                <a:solidFill>
                  <a:schemeClr val="tx1"/>
                </a:solidFill>
                <a:latin typeface="+mj-lt"/>
              </a:rPr>
              <a:t>Equivalencias de lógica proposicional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a 3">
                <a:extLst>
                  <a:ext uri="{FF2B5EF4-FFF2-40B4-BE49-F238E27FC236}">
                    <a16:creationId xmlns:a16="http://schemas.microsoft.com/office/drawing/2014/main" id="{C596B25B-8353-4A20-AC46-6CF2D48EBE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4639960"/>
                  </p:ext>
                </p:extLst>
              </p:nvPr>
            </p:nvGraphicFramePr>
            <p:xfrm>
              <a:off x="559340" y="1115661"/>
              <a:ext cx="7175492" cy="532841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835341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2610807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  <a:gridCol w="2729344">
                      <a:extLst>
                        <a:ext uri="{9D8B030D-6E8A-4147-A177-3AD203B41FA5}">
                          <a16:colId xmlns:a16="http://schemas.microsoft.com/office/drawing/2014/main" val="180266477"/>
                        </a:ext>
                      </a:extLst>
                    </a:gridCol>
                  </a:tblGrid>
                  <a:tr h="298833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Conmutatividad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Distributividad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Idempotencia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Doble negación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49062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Leyes de Morgan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306023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Identidad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4965197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Dominación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485840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Absorción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2652958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Complemento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0911309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Implicación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393804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→¬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506134"/>
                      </a:ext>
                    </a:extLst>
                  </a:tr>
                  <a:tr h="27393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≡(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)∧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7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a 3">
                <a:extLst>
                  <a:ext uri="{FF2B5EF4-FFF2-40B4-BE49-F238E27FC236}">
                    <a16:creationId xmlns:a16="http://schemas.microsoft.com/office/drawing/2014/main" id="{C596B25B-8353-4A20-AC46-6CF2D48EBE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4639960"/>
                  </p:ext>
                </p:extLst>
              </p:nvPr>
            </p:nvGraphicFramePr>
            <p:xfrm>
              <a:off x="559340" y="1115661"/>
              <a:ext cx="7175492" cy="532841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835341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2610807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  <a:gridCol w="2729344">
                      <a:extLst>
                        <a:ext uri="{9D8B030D-6E8A-4147-A177-3AD203B41FA5}">
                          <a16:colId xmlns:a16="http://schemas.microsoft.com/office/drawing/2014/main" val="18026647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Conmutatividad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108333" r="-104895" b="-12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108333" r="-446" b="-12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Asociatividad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208333" r="-104895" b="-11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208333" r="-446" b="-11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573532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Distributividad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196809" r="-104895" b="-655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196809" r="-446" b="-6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Idempotencia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465000" r="-104895" b="-9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465000" r="-446" b="-9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Doble negación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4436" t="-565000" r="-228" b="-8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490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Leyes de Morgan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654098" r="-104895" b="-7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654098" r="-446" b="-7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30602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Identidad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766667" r="-10489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766667" r="-446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49651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Dominación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866667" r="-104895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866667" r="-446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4858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Absorción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966667" r="-104895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966667" r="-446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5295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Complemento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70396" t="-1066667" r="-104895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63170" t="-1066667" r="-446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09113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Implicación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4436" t="-1166667" r="-228" b="-225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39380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Contrarrecíproco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4436" t="-1266667" r="-228" b="-125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55061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+mn-lt"/>
                              <a:ea typeface="Roboto" panose="02000000000000000000" pitchFamily="2" charset="0"/>
                            </a:rPr>
                            <a:t>Equivalencia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34436" t="-1366667" r="-228" b="-25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7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8E1E762-6C1E-4D83-9181-E30710876934}"/>
                  </a:ext>
                </a:extLst>
              </p:cNvPr>
              <p:cNvSpPr txBox="1"/>
              <p:nvPr/>
            </p:nvSpPr>
            <p:spPr>
              <a:xfrm>
                <a:off x="7997370" y="2348706"/>
                <a:ext cx="3904343" cy="28931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MX" sz="2200" b="1" dirty="0">
                    <a:solidFill>
                      <a:srgbClr val="C00000"/>
                    </a:solidFill>
                  </a:rPr>
                  <a:t>Nota importante</a:t>
                </a:r>
                <a:r>
                  <a:rPr lang="es-MX" sz="2200" dirty="0">
                    <a:solidFill>
                      <a:srgbClr val="C00000"/>
                    </a:solidFill>
                  </a:rPr>
                  <a:t>: </a:t>
                </a:r>
              </a:p>
              <a:p>
                <a:r>
                  <a:rPr lang="es-MX" sz="2000" dirty="0"/>
                  <a:t>Todas las equivalencias </a:t>
                </a:r>
                <a:r>
                  <a:rPr lang="es-MX" sz="2000" b="1" dirty="0"/>
                  <a:t>lógicas proposicionales</a:t>
                </a:r>
                <a:r>
                  <a:rPr lang="es-MX" sz="2000" dirty="0"/>
                  <a:t> son válidas en </a:t>
                </a:r>
                <a:r>
                  <a:rPr lang="es-MX" sz="2000" b="1" dirty="0"/>
                  <a:t>lógica cuantificacional</a:t>
                </a:r>
                <a:r>
                  <a:rPr lang="es-MX" sz="2000" dirty="0"/>
                  <a:t>, aplicándose a las fórmulas dentro del alcance de los cuantificadores, sustituyendo las variables proposicionales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/>
                  <a:t> por funciones proposicionales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MX" sz="2000" dirty="0"/>
                  <a:t>.</a:t>
                </a:r>
                <a:endParaRPr lang="es-CO" sz="20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8E1E762-6C1E-4D83-9181-E307108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370" y="2348706"/>
                <a:ext cx="3904343" cy="2893100"/>
              </a:xfrm>
              <a:prstGeom prst="rect">
                <a:avLst/>
              </a:prstGeom>
              <a:blipFill>
                <a:blip r:embed="rId4"/>
                <a:stretch>
                  <a:fillRect l="-2031" t="-1263" r="-2813" b="-273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750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91886" y="96038"/>
            <a:ext cx="88287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Sobre las equivalencias lógicas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11AE6AF-2485-4CE1-8486-3FD000D3D4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1388" y="1045538"/>
                <a:ext cx="11409224" cy="50649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Las afirmaciones que involucran predicados y cuantificadores son lógicamente equivalentes si y solo si tienen el </a:t>
                </a: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mismo valor de verdad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en los siguientes casos:</a:t>
                </a:r>
              </a:p>
              <a:p>
                <a:pPr lvl="1"/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Para cada predicado sustituido en estas afirmaciones. </a:t>
                </a:r>
              </a:p>
              <a:p>
                <a:pPr lvl="1"/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Para cada dominio del discurso utilizado para las variables en las expresiones.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La notación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𝑆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indica que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son lógicamente equivalentes.</a:t>
                </a:r>
              </a:p>
              <a:p>
                <a:pPr lvl="1"/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Recor</a:t>
                </a:r>
                <a:r>
                  <a:rPr lang="es-MX" sz="2000" dirty="0">
                    <a:latin typeface="+mn-lt"/>
                  </a:rPr>
                  <a:t>dando de la tabla de equivalencias lógicas, la doble negación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¬(¬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 ≡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MX" sz="2000" dirty="0">
                    <a:latin typeface="+mn-lt"/>
                  </a:rPr>
                  <a:t> aplicada al contexto de funciones proposicionales sería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¬¬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 ≡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</a:rPr>
                  <a:t> de modo que:</a:t>
                </a: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endParaRPr lang="es-MX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¬¬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≡∀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MX" sz="2000" dirty="0">
                  <a:latin typeface="+mn-lt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Las equivalencias son herramientas fundamentales para cosas como:</a:t>
                </a:r>
              </a:p>
              <a:p>
                <a:pPr lvl="1"/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Transformar expresiones sin cambiar su significado lógico.</a:t>
                </a:r>
              </a:p>
              <a:p>
                <a:pPr lvl="1"/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Simplificar pruebas.</a:t>
                </a:r>
              </a:p>
              <a:p>
                <a:pPr lvl="1"/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Aplicar reglas de inferencia o deducción natural.</a:t>
                </a:r>
                <a:endParaRPr lang="es-MX" sz="24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11AE6AF-2485-4CE1-8486-3FD000D3D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88" y="1045538"/>
                <a:ext cx="11409224" cy="5064976"/>
              </a:xfrm>
              <a:prstGeom prst="rect">
                <a:avLst/>
              </a:prstGeom>
              <a:blipFill>
                <a:blip r:embed="rId3"/>
                <a:stretch>
                  <a:fillRect r="-10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780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108907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Cuantificadores y negaciones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614" y="919267"/>
                <a:ext cx="11446771" cy="56266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Los cuantificadores existencial (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) y universal (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) están profundamente conectados a través de las negaciones.</a:t>
                </a: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Cuando negamos una afirmación cuantificada, el cuantificador cambia: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Negar que “para </a:t>
                </a:r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todo </a:t>
                </a: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𝒙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 se cumple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”  es lo mismo que decir que "</a:t>
                </a:r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existe al menos un </a:t>
                </a: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𝒙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" tal que </a:t>
                </a:r>
                <a14:m>
                  <m:oMath xmlns:m="http://schemas.openxmlformats.org/officeDocument/2006/math">
                    <m:r>
                      <a:rPr lang="es-MX" b="1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𝑷</m:t>
                    </m:r>
                    <m:d>
                      <m:dPr>
                        <m:ctrlPr>
                          <a:rPr lang="es-MX" b="1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b="1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 no se cumple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. Formalmente esto es:</a:t>
                </a:r>
              </a:p>
              <a:p>
                <a:pPr marL="584200" lvl="1" indent="0">
                  <a:buNone/>
                </a:pPr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¬∀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≡∃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Negar que "</a:t>
                </a:r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existe </a:t>
                </a: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𝒙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" tal que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se cumple, es lo mismo que decir que "</a:t>
                </a:r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para todo </a:t>
                </a: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𝒙</m:t>
                    </m:r>
                  </m:oMath>
                </a14:m>
                <a:r>
                  <a:rPr lang="es-MX" dirty="0">
                    <a:latin typeface="+mn-lt"/>
                    <a:ea typeface="Roboto" panose="02000000000000000000" pitchFamily="2" charset="0"/>
                  </a:rPr>
                  <a:t>",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</m:oMath>
                </a14:m>
                <a:r>
                  <a:rPr lang="es-MX" b="1" dirty="0">
                    <a:latin typeface="+mn-lt"/>
                    <a:ea typeface="Roboto" panose="02000000000000000000" pitchFamily="2" charset="0"/>
                  </a:rPr>
                  <a:t>no se cumple</a:t>
                </a:r>
                <a:r>
                  <a:rPr lang="es-MX" dirty="0">
                    <a:latin typeface="+mn-lt"/>
                    <a:ea typeface="Roboto" panose="02000000000000000000" pitchFamily="2" charset="0"/>
                  </a:rPr>
                  <a:t>. Lo cual formalmente es:</a:t>
                </a:r>
              </a:p>
              <a:p>
                <a:pPr lvl="1"/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¬∃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≡∀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El cuantificador existencial puede expresarse en términos del universal, y viceversa, mediante las </a:t>
                </a:r>
                <a:r>
                  <a:rPr lang="es-MX" sz="2200" b="1" dirty="0">
                    <a:latin typeface="+mn-lt"/>
                    <a:ea typeface="Roboto" panose="02000000000000000000" pitchFamily="2" charset="0"/>
                  </a:rPr>
                  <a:t>leyes de Morgan para cuantificadores</a:t>
                </a: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14" y="919267"/>
                <a:ext cx="11446771" cy="56266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4193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98667" y="232116"/>
            <a:ext cx="1163939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tx1"/>
                </a:solidFill>
                <a:latin typeface="+mj-lt"/>
              </a:rPr>
              <a:t>Cuantificadores y negaciones – Leyes de Morgan para cuantificadores</a:t>
            </a:r>
            <a:endParaRPr lang="es-E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298667" y="1274957"/>
            <a:ext cx="108907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La siguiente tabla resume las leyes de Morgan para cuantificadores: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EDA24EB9-B9D4-4744-8651-82D27FA0C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2166791"/>
                  </p:ext>
                </p:extLst>
              </p:nvPr>
            </p:nvGraphicFramePr>
            <p:xfrm>
              <a:off x="1204686" y="1896516"/>
              <a:ext cx="10318591" cy="11887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703995">
                      <a:extLst>
                        <a:ext uri="{9D8B030D-6E8A-4147-A177-3AD203B41FA5}">
                          <a16:colId xmlns:a16="http://schemas.microsoft.com/office/drawing/2014/main" val="1182511114"/>
                        </a:ext>
                      </a:extLst>
                    </a:gridCol>
                    <a:gridCol w="4082790">
                      <a:extLst>
                        <a:ext uri="{9D8B030D-6E8A-4147-A177-3AD203B41FA5}">
                          <a16:colId xmlns:a16="http://schemas.microsoft.com/office/drawing/2014/main" val="3055286892"/>
                        </a:ext>
                      </a:extLst>
                    </a:gridCol>
                    <a:gridCol w="3531806">
                      <a:extLst>
                        <a:ext uri="{9D8B030D-6E8A-4147-A177-3AD203B41FA5}">
                          <a16:colId xmlns:a16="http://schemas.microsoft.com/office/drawing/2014/main" val="4284222693"/>
                        </a:ext>
                      </a:extLst>
                    </a:gridCol>
                  </a:tblGrid>
                  <a:tr h="127807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¿Cuando es la negación cierta?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¿Cuándo la negación es falsa?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287797"/>
                      </a:ext>
                    </a:extLst>
                  </a:tr>
                  <a:tr h="1278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¬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Hay un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para el que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falsa.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verdadero para todo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.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5442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¬∃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≡∀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¬</m:t>
                                </m:r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 es falsa para</a:t>
                          </a:r>
                          <a:r>
                            <a:rPr lang="es-CO" sz="2000" baseline="0" dirty="0">
                              <a:latin typeface="+mn-lt"/>
                              <a:ea typeface="Roboto" panose="02000000000000000000" pitchFamily="2" charset="0"/>
                            </a:rPr>
                            <a:t> todo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kern="120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</a:rPr>
                            <a:t>Hay un</a:t>
                          </a:r>
                          <a:r>
                            <a:rPr lang="es-CO" sz="2000" kern="1200" dirty="0">
                              <a:solidFill>
                                <a:srgbClr val="000000"/>
                              </a:solidFill>
                              <a:latin typeface="Arial"/>
                              <a:ea typeface="Roboto" panose="02000000000000000000" pitchFamily="2" charset="0"/>
                              <a:cs typeface="Arial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CO" sz="2000" kern="1200" dirty="0">
                              <a:solidFill>
                                <a:srgbClr val="000000"/>
                              </a:solidFill>
                              <a:latin typeface="Arial"/>
                              <a:ea typeface="Roboto" panose="02000000000000000000" pitchFamily="2" charset="0"/>
                              <a:cs typeface="Arial"/>
                            </a:rPr>
                            <a:t> </a:t>
                          </a:r>
                          <a:r>
                            <a:rPr lang="es-CO" sz="2000" kern="120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 panose="020B0604020202020204" pitchFamily="34" charset="0"/>
                            </a:rPr>
                            <a:t>para el</a:t>
                          </a:r>
                          <a:r>
                            <a:rPr lang="es-CO" sz="2000" kern="1200" baseline="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 panose="020B0604020202020204" pitchFamily="34" charset="0"/>
                            </a:rPr>
                            <a:t> cual</a:t>
                          </a:r>
                          <a:r>
                            <a:rPr lang="es-CO" sz="2000" kern="1200" dirty="0">
                              <a:solidFill>
                                <a:srgbClr val="000000"/>
                              </a:solidFill>
                              <a:latin typeface="Arial"/>
                              <a:ea typeface="Roboto" panose="02000000000000000000" pitchFamily="2" charset="0"/>
                              <a:cs typeface="Arial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398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EDA24EB9-B9D4-4744-8651-82D27FA0C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2166791"/>
                  </p:ext>
                </p:extLst>
              </p:nvPr>
            </p:nvGraphicFramePr>
            <p:xfrm>
              <a:off x="1204686" y="1896516"/>
              <a:ext cx="10318591" cy="11887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703995">
                      <a:extLst>
                        <a:ext uri="{9D8B030D-6E8A-4147-A177-3AD203B41FA5}">
                          <a16:colId xmlns:a16="http://schemas.microsoft.com/office/drawing/2014/main" val="1182511114"/>
                        </a:ext>
                      </a:extLst>
                    </a:gridCol>
                    <a:gridCol w="4082790">
                      <a:extLst>
                        <a:ext uri="{9D8B030D-6E8A-4147-A177-3AD203B41FA5}">
                          <a16:colId xmlns:a16="http://schemas.microsoft.com/office/drawing/2014/main" val="3055286892"/>
                        </a:ext>
                      </a:extLst>
                    </a:gridCol>
                    <a:gridCol w="3531806">
                      <a:extLst>
                        <a:ext uri="{9D8B030D-6E8A-4147-A177-3AD203B41FA5}">
                          <a16:colId xmlns:a16="http://schemas.microsoft.com/office/drawing/2014/main" val="428422269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¿Cuando es la negación cierta?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¿Cuándo la negación es falsa?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2877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06061" r="-281757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6418" t="-106061" r="-86716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92241" t="-106061" r="-172" b="-1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4423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225" t="-209231" r="-281757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66418" t="-209231" r="-86716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92241" t="-209231" r="-172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3980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Google Shape;310;p34">
            <a:extLst>
              <a:ext uri="{FF2B5EF4-FFF2-40B4-BE49-F238E27FC236}">
                <a16:creationId xmlns:a16="http://schemas.microsoft.com/office/drawing/2014/main" id="{A7D58B4D-7566-4D9A-AC78-8791D7939E31}"/>
              </a:ext>
            </a:extLst>
          </p:cNvPr>
          <p:cNvSpPr txBox="1">
            <a:spLocks/>
          </p:cNvSpPr>
          <p:nvPr/>
        </p:nvSpPr>
        <p:spPr>
          <a:xfrm>
            <a:off x="480685" y="3181523"/>
            <a:ext cx="11457373" cy="71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200" dirty="0">
                <a:latin typeface="+mn-lt"/>
                <a:ea typeface="Roboto" panose="02000000000000000000" pitchFamily="2" charset="0"/>
              </a:rPr>
              <a:t>Al aplicar las leyes de Morgan es posible decir lo mismo empleando diferentes cuantificadores.</a:t>
            </a:r>
          </a:p>
        </p:txBody>
      </p:sp>
      <p:pic>
        <p:nvPicPr>
          <p:cNvPr id="3076" name="Picture 4" descr="Los Magníficos | Doblaje Wiki | Fandom">
            <a:extLst>
              <a:ext uri="{FF2B5EF4-FFF2-40B4-BE49-F238E27FC236}">
                <a16:creationId xmlns:a16="http://schemas.microsoft.com/office/drawing/2014/main" id="{0AFD85FB-73D6-4430-9A4E-1BE7666F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99" y="3940063"/>
            <a:ext cx="1797750" cy="246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30C5E8C7-0906-47F8-8AE6-FD62762FC2F6}"/>
                  </a:ext>
                </a:extLst>
              </p:cNvPr>
              <p:cNvSpPr txBox="1"/>
              <p:nvPr/>
            </p:nvSpPr>
            <p:spPr>
              <a:xfrm>
                <a:off x="2795863" y="3847439"/>
                <a:ext cx="9142195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000" b="1" dirty="0"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ea typeface="Roboto" panose="02000000000000000000" pitchFamily="2" charset="0"/>
                  </a:rPr>
                  <a:t>: A todos les gusta volar se puede expresar como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; sin embargo, mediante el uso de las leyes de Morgan podemos decir lo mismo empleando el cuantificador existe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∃</m:t>
                        </m:r>
                      </m:e>
                    </m:d>
                  </m:oMath>
                </a14:m>
                <a:r>
                  <a:rPr lang="es-CO" sz="2000" dirty="0"/>
                  <a:t>:</a:t>
                </a:r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30C5E8C7-0906-47F8-8AE6-FD62762FC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863" y="3847439"/>
                <a:ext cx="9142195" cy="1015663"/>
              </a:xfrm>
              <a:prstGeom prst="rect">
                <a:avLst/>
              </a:prstGeom>
              <a:blipFill>
                <a:blip r:embed="rId5"/>
                <a:stretch>
                  <a:fillRect l="-734" t="-2994" b="-95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1ADE4489-D056-456C-B34C-BE09D13F88F4}"/>
                  </a:ext>
                </a:extLst>
              </p:cNvPr>
              <p:cNvSpPr txBox="1"/>
              <p:nvPr/>
            </p:nvSpPr>
            <p:spPr>
              <a:xfrm>
                <a:off x="4466513" y="5170072"/>
                <a:ext cx="6332116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≡¬¬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∀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≡¬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∀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≡¬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1ADE4489-D056-456C-B34C-BE09D13F8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13" y="5170072"/>
                <a:ext cx="6332116" cy="4397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E9F1280-D102-4BB2-91A1-C37A24E4AE2C}"/>
                  </a:ext>
                </a:extLst>
              </p:cNvPr>
              <p:cNvSpPr txBox="1"/>
              <p:nvPr/>
            </p:nvSpPr>
            <p:spPr>
              <a:xfrm>
                <a:off x="2906934" y="5859157"/>
                <a:ext cx="8920051" cy="78713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s-MX" sz="2000" dirty="0">
                    <a:ea typeface="Roboto" panose="02000000000000000000" pitchFamily="2" charset="0"/>
                  </a:rPr>
                  <a:t>Según lo anterior, decir que “todos les gusta volar”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∀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𝑃</m:t>
                        </m:r>
                        <m:d>
                          <m:d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s-MX" sz="2000" dirty="0">
                    <a:ea typeface="Roboto" panose="02000000000000000000" pitchFamily="2" charset="0"/>
                  </a:rPr>
                  <a:t> es lo mismo que decir que “No hay alguien a quien no le guste volar”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¬∃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¬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s-CO" sz="20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E9F1280-D102-4BB2-91A1-C37A24E4A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934" y="5859157"/>
                <a:ext cx="8920051" cy="787139"/>
              </a:xfrm>
              <a:prstGeom prst="rect">
                <a:avLst/>
              </a:prstGeom>
              <a:blipFill>
                <a:blip r:embed="rId7"/>
                <a:stretch>
                  <a:fillRect l="-752" t="-775" r="-957" b="-1162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564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114706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Cuantificadores y negaciones - Ejemplos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44AC130B-3A31-42BD-A7D5-934CE25E5DD0}"/>
              </a:ext>
            </a:extLst>
          </p:cNvPr>
          <p:cNvSpPr txBox="1">
            <a:spLocks/>
          </p:cNvSpPr>
          <p:nvPr/>
        </p:nvSpPr>
        <p:spPr>
          <a:xfrm>
            <a:off x="88545" y="704543"/>
            <a:ext cx="11947455" cy="76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>
                <a:latin typeface="+mn-lt"/>
                <a:ea typeface="Roboto" panose="02000000000000000000" pitchFamily="2" charset="0"/>
              </a:rPr>
              <a:t>La siguiente tabla muestran algunos ejemplos al aplicar las leyes de Morgan para los cuantificadores.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67B3890-BEE3-4114-BD50-4F8AFFD8D3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3381328"/>
                  </p:ext>
                </p:extLst>
              </p:nvPr>
            </p:nvGraphicFramePr>
            <p:xfrm>
              <a:off x="635999" y="1287426"/>
              <a:ext cx="11195342" cy="427202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499087">
                      <a:extLst>
                        <a:ext uri="{9D8B030D-6E8A-4147-A177-3AD203B41FA5}">
                          <a16:colId xmlns:a16="http://schemas.microsoft.com/office/drawing/2014/main" val="1182511114"/>
                        </a:ext>
                      </a:extLst>
                    </a:gridCol>
                    <a:gridCol w="2467428">
                      <a:extLst>
                        <a:ext uri="{9D8B030D-6E8A-4147-A177-3AD203B41FA5}">
                          <a16:colId xmlns:a16="http://schemas.microsoft.com/office/drawing/2014/main" val="3055286892"/>
                        </a:ext>
                      </a:extLst>
                    </a:gridCol>
                    <a:gridCol w="3454419">
                      <a:extLst>
                        <a:ext uri="{9D8B030D-6E8A-4147-A177-3AD203B41FA5}">
                          <a16:colId xmlns:a16="http://schemas.microsoft.com/office/drawing/2014/main" val="4284222693"/>
                        </a:ext>
                      </a:extLst>
                    </a:gridCol>
                    <a:gridCol w="2774408">
                      <a:extLst>
                        <a:ext uri="{9D8B030D-6E8A-4147-A177-3AD203B41FA5}">
                          <a16:colId xmlns:a16="http://schemas.microsoft.com/office/drawing/2014/main" val="558989908"/>
                        </a:ext>
                      </a:extLst>
                    </a:gridCol>
                  </a:tblGrid>
                  <a:tr h="127807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Proposición original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Proposición negada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8039"/>
                      </a:ext>
                    </a:extLst>
                  </a:tr>
                  <a:tr h="1278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Enunciado original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 Lógica</a:t>
                          </a: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Negación lógica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Enunciado negado</a:t>
                          </a: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287797"/>
                      </a:ext>
                    </a:extLst>
                  </a:tr>
                  <a:tr h="127807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Todos los estudiantes aprobaron.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𝑃𝑎𝑠𝑠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𝑃𝑎𝑠𝑠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𝑃𝑎𝑠𝑠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Algunos estudiantes no aprobaron.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625442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Existe un estudiante que aprobó.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𝑃𝑎𝑠𝑠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𝑃𝑎𝑠𝑠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𝑃𝑎𝑠𝑠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Ningún estudiante aprobó</a:t>
                          </a: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093980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A nadie le gustan las espinacas.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𝐿𝑖𝑘𝑒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Espinacas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𝐿𝑖𝑘𝑒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Espinacas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s-MX" sz="1800" b="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¬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𝐿𝑖𝑘𝑒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𝑥</m:t>
                                        </m:r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s-MX" sz="1800" b="0" i="0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Espinacas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𝐿𝑖𝑘𝑒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MX" sz="1800" b="0" i="0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Espinacas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A algunas personas les gustan las espinacas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68708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567B3890-BEE3-4114-BD50-4F8AFFD8D3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3381328"/>
                  </p:ext>
                </p:extLst>
              </p:nvPr>
            </p:nvGraphicFramePr>
            <p:xfrm>
              <a:off x="635999" y="1287426"/>
              <a:ext cx="11195342" cy="427202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499087">
                      <a:extLst>
                        <a:ext uri="{9D8B030D-6E8A-4147-A177-3AD203B41FA5}">
                          <a16:colId xmlns:a16="http://schemas.microsoft.com/office/drawing/2014/main" val="1182511114"/>
                        </a:ext>
                      </a:extLst>
                    </a:gridCol>
                    <a:gridCol w="2467428">
                      <a:extLst>
                        <a:ext uri="{9D8B030D-6E8A-4147-A177-3AD203B41FA5}">
                          <a16:colId xmlns:a16="http://schemas.microsoft.com/office/drawing/2014/main" val="3055286892"/>
                        </a:ext>
                      </a:extLst>
                    </a:gridCol>
                    <a:gridCol w="3454419">
                      <a:extLst>
                        <a:ext uri="{9D8B030D-6E8A-4147-A177-3AD203B41FA5}">
                          <a16:colId xmlns:a16="http://schemas.microsoft.com/office/drawing/2014/main" val="4284222693"/>
                        </a:ext>
                      </a:extLst>
                    </a:gridCol>
                    <a:gridCol w="2774408">
                      <a:extLst>
                        <a:ext uri="{9D8B030D-6E8A-4147-A177-3AD203B41FA5}">
                          <a16:colId xmlns:a16="http://schemas.microsoft.com/office/drawing/2014/main" val="558989908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Proposición original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Proposición negada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6980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Enunciado original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Forma Lógica</a:t>
                          </a: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Negación lógica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Enunciado negado</a:t>
                          </a: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7287797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Todos los estudiantes aprobaron.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01728" t="-81818" r="-253086" b="-2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44092" t="-81818" r="-80776" b="-2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2000" dirty="0">
                              <a:latin typeface="+mn-lt"/>
                              <a:ea typeface="Roboto" panose="02000000000000000000" pitchFamily="2" charset="0"/>
                            </a:rPr>
                            <a:t>Algunos estudiantes no aprobaron.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62544238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Existe un estudiante que aprobó.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01728" t="-260870" r="-253086" b="-2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44092" t="-260870" r="-80776" b="-2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Ningún estudiante aprobó</a:t>
                          </a: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09398036"/>
                      </a:ext>
                    </a:extLst>
                  </a:tr>
                  <a:tr h="17726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A nadie le gustan las espinacas.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728" t="-142612" r="-253086" b="-1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4092" t="-142612" r="-80776" b="-1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2000" dirty="0">
                              <a:latin typeface="+mn-lt"/>
                              <a:ea typeface="Roboto" panose="02000000000000000000" pitchFamily="2" charset="0"/>
                            </a:rPr>
                            <a:t>A algunas personas les gustan las espinacas</a:t>
                          </a:r>
                          <a:endParaRPr lang="es-CO" sz="20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68708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8499CC8E-051E-4794-91FE-F648D56484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659" y="5566706"/>
                <a:ext cx="11403229" cy="12477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Realizar la negación se resume en los siguientes pasos:</a:t>
                </a:r>
              </a:p>
              <a:p>
                <a:pPr marL="927100" lvl="1" indent="-3429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Cambiar el cuantificador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∀→∃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ó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∃→∀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</a:t>
                </a:r>
              </a:p>
              <a:p>
                <a:pPr marL="927100" lvl="1" indent="-342900">
                  <a:buFont typeface="+mj-lt"/>
                  <a:buAutoNum type="arabicPeriod"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Negar la proposición interna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→¬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8499CC8E-051E-4794-91FE-F648D5648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59" y="5566706"/>
                <a:ext cx="11403229" cy="1247752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209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114706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Distributividad en cuantificadores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284" y="838800"/>
                <a:ext cx="11947455" cy="5923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Los cuantificadores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se comportan de manera distinta frente a los conectivos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∧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∨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cada uno distribuye completamente solo sobre uno de ellos.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cuantificador universal se distribuye sobre la conjunción: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dirty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i="1" dirty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d>
                        <m:dPr>
                          <m:ctrlPr>
                            <a:rPr lang="es-MX" sz="2000" i="1" dirty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 dirty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200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sz="2000" i="1" dirty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∧ </m:t>
                          </m:r>
                          <m:r>
                            <a:rPr lang="es-MX" sz="2000" i="1" dirty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s-MX" sz="200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2000" i="1" dirty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≡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𝑥𝑃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000" i="1" dirty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∧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𝑥𝑄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cuantificador existencial se distribuye sobre la disyunción: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dirty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i="1" dirty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d>
                        <m:dPr>
                          <m:ctrlPr>
                            <a:rPr lang="es-MX" sz="2000" i="1" dirty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 dirty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200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sz="2000" i="1" dirty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∨ </m:t>
                          </m:r>
                          <m:r>
                            <a:rPr lang="es-MX" sz="2000" i="1" dirty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s-MX" sz="200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2000" i="1" dirty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≡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𝑥𝑃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000" i="1" dirty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𝑥𝑄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Nota importante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Lo anterior no funciona igual si para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∨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o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∧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𝑥𝑄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CO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CO" sz="2000" dirty="0"/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𝑥𝑃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∃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𝑥𝑄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CO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4" y="838800"/>
                <a:ext cx="11947455" cy="5923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566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60659" y="96038"/>
            <a:ext cx="114706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Distributividad en cuantificadores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284" y="838801"/>
                <a:ext cx="11947455" cy="36461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1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Sea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𝑃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“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aprobó el parcial” y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𝑄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“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aprobó el quiz”, sobre el dominio de los estudiantes del curso. Decir:</a:t>
                </a:r>
              </a:p>
              <a:p>
                <a:pPr lvl="1"/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“Todos aprobaron el parcial y el quiz” es exactamente lo mismo que decir “todos aprobaron el parcial” y “todos aprobaron el quiz”.</a:t>
                </a:r>
              </a:p>
              <a:p>
                <a:pPr lvl="1"/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“Existe un estudiante que aprobó el parcial o el quiz” es exactamente lo mismo que decir “existe alguien que aprobó el parcial”, o “existe alguien que aprobó el quiz”.</a:t>
                </a:r>
              </a:p>
              <a:p>
                <a:pPr lvl="1"/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2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Teniendo en cuenta el ejemplo 1, suponga que se tiene el caso en el cual Milhouse aprobó el parcial pero no el quiz y Bart aprobó el quiz pero no el parcial. ¿Qué podemos decir al respecto?</a:t>
                </a:r>
              </a:p>
            </p:txBody>
          </p:sp>
        </mc:Choice>
        <mc:Fallback xmlns="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44AC130B-3A31-42BD-A7D5-934CE25E5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4" y="838801"/>
                <a:ext cx="11947455" cy="3646114"/>
              </a:xfrm>
              <a:prstGeom prst="rect">
                <a:avLst/>
              </a:prstGeom>
              <a:blipFill>
                <a:blip r:embed="rId3"/>
                <a:stretch>
                  <a:fillRect r="-6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o 11">
            <a:extLst>
              <a:ext uri="{FF2B5EF4-FFF2-40B4-BE49-F238E27FC236}">
                <a16:creationId xmlns:a16="http://schemas.microsoft.com/office/drawing/2014/main" id="{41DAEE99-919C-436F-AE39-3F8B2CF3462E}"/>
              </a:ext>
            </a:extLst>
          </p:cNvPr>
          <p:cNvGrpSpPr/>
          <p:nvPr/>
        </p:nvGrpSpPr>
        <p:grpSpPr>
          <a:xfrm>
            <a:off x="2681660" y="4776985"/>
            <a:ext cx="1319315" cy="1410922"/>
            <a:chOff x="2037940" y="5112161"/>
            <a:chExt cx="1319315" cy="1410922"/>
          </a:xfrm>
        </p:grpSpPr>
        <p:pic>
          <p:nvPicPr>
            <p:cNvPr id="2054" name="Picture 6" descr="THE SIMPSONS MILHOUSE VAN HOUTEN">
              <a:extLst>
                <a:ext uri="{FF2B5EF4-FFF2-40B4-BE49-F238E27FC236}">
                  <a16:creationId xmlns:a16="http://schemas.microsoft.com/office/drawing/2014/main" id="{E0EBC0BD-D9F8-4192-B15A-FB5140BD43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7940" y="5146175"/>
              <a:ext cx="521759" cy="1376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76694AC-280F-4AAD-8135-70A22EFE2E1C}"/>
                </a:ext>
              </a:extLst>
            </p:cNvPr>
            <p:cNvSpPr txBox="1"/>
            <p:nvPr/>
          </p:nvSpPr>
          <p:spPr>
            <a:xfrm>
              <a:off x="2706801" y="5112161"/>
              <a:ext cx="337217" cy="369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/>
                <a:t>P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3ED36DD2-0D16-46F2-99FE-AD4738837916}"/>
                </a:ext>
              </a:extLst>
            </p:cNvPr>
            <p:cNvSpPr txBox="1"/>
            <p:nvPr/>
          </p:nvSpPr>
          <p:spPr>
            <a:xfrm>
              <a:off x="2706802" y="5664573"/>
              <a:ext cx="337217" cy="369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/>
                <a:t>Q</a:t>
              </a:r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2D59B33-252E-4AD8-9B9B-A742EF9F5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44018" y="5112161"/>
              <a:ext cx="313237" cy="286767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35EEC505-9D0B-4D97-8049-852C8AE8C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87154" y="5739206"/>
              <a:ext cx="226964" cy="238806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0AC327B-B54F-4218-9F3A-2A34BDA306DD}"/>
              </a:ext>
            </a:extLst>
          </p:cNvPr>
          <p:cNvGrpSpPr/>
          <p:nvPr/>
        </p:nvGrpSpPr>
        <p:grpSpPr>
          <a:xfrm>
            <a:off x="576749" y="4666891"/>
            <a:ext cx="1401267" cy="1635344"/>
            <a:chOff x="387075" y="5016957"/>
            <a:chExt cx="1401267" cy="1635344"/>
          </a:xfrm>
        </p:grpSpPr>
        <p:pic>
          <p:nvPicPr>
            <p:cNvPr id="2050" name="Picture 2" descr="Bart Simpson - Wikipedia">
              <a:extLst>
                <a:ext uri="{FF2B5EF4-FFF2-40B4-BE49-F238E27FC236}">
                  <a16:creationId xmlns:a16="http://schemas.microsoft.com/office/drawing/2014/main" id="{CBA160CA-83E7-4D76-923A-DC9D487B6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075" y="5016957"/>
              <a:ext cx="1097546" cy="1635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0D90D344-8DFF-40C4-96FD-CCD5A80074EE}"/>
                </a:ext>
              </a:extLst>
            </p:cNvPr>
            <p:cNvSpPr txBox="1"/>
            <p:nvPr/>
          </p:nvSpPr>
          <p:spPr>
            <a:xfrm>
              <a:off x="1147404" y="5113306"/>
              <a:ext cx="337217" cy="369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/>
                <a:t>P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D281F560-26DD-40E3-87FC-C69B4C5A6352}"/>
                </a:ext>
              </a:extLst>
            </p:cNvPr>
            <p:cNvSpPr txBox="1"/>
            <p:nvPr/>
          </p:nvSpPr>
          <p:spPr>
            <a:xfrm>
              <a:off x="1147405" y="5650059"/>
              <a:ext cx="337217" cy="369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/>
                <a:t>Q</a:t>
              </a:r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42D98D5-DD4E-4727-A2FB-91B7D2021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5105" y="5691245"/>
              <a:ext cx="313237" cy="286767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3B8E621-7C54-4736-B1D3-10D8789F4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7757" y="5159203"/>
              <a:ext cx="226964" cy="238806"/>
            </a:xfrm>
            <a:prstGeom prst="rect">
              <a:avLst/>
            </a:prstGeom>
          </p:spPr>
        </p:pic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682D477-C66E-4630-B295-330EF472D7A9}"/>
              </a:ext>
            </a:extLst>
          </p:cNvPr>
          <p:cNvSpPr txBox="1"/>
          <p:nvPr/>
        </p:nvSpPr>
        <p:spPr>
          <a:xfrm>
            <a:off x="5496842" y="4476025"/>
            <a:ext cx="47171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“todos aprobaron el parcial o el quiz”</a:t>
            </a:r>
            <a:endParaRPr lang="es-CO" sz="20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3D8D13E-3D65-4CE9-BB72-7BB95D45BBD4}"/>
              </a:ext>
            </a:extLst>
          </p:cNvPr>
          <p:cNvSpPr txBox="1"/>
          <p:nvPr/>
        </p:nvSpPr>
        <p:spPr>
          <a:xfrm>
            <a:off x="4883169" y="5642836"/>
            <a:ext cx="5944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“todos aprobaron el parcial o todos aprobaron el quiz”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167028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375618" y="180494"/>
            <a:ext cx="10515600" cy="89613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Equivalencias lógica cuantificacional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3">
                <a:extLst>
                  <a:ext uri="{FF2B5EF4-FFF2-40B4-BE49-F238E27FC236}">
                    <a16:creationId xmlns:a16="http://schemas.microsoft.com/office/drawing/2014/main" id="{B9252CBD-B080-409D-94D7-CAA8A680DF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6643092"/>
                  </p:ext>
                </p:extLst>
              </p:nvPr>
            </p:nvGraphicFramePr>
            <p:xfrm>
              <a:off x="635234" y="1064695"/>
              <a:ext cx="10649624" cy="3941572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272080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5377544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228789">
                    <a:tc>
                      <a:txBody>
                        <a:bodyPr/>
                        <a:lstStyle/>
                        <a:p>
                          <a:r>
                            <a:rPr lang="es-CO" sz="1800" b="0" dirty="0">
                              <a:latin typeface="+mn-lt"/>
                              <a:ea typeface="Roboto" panose="02000000000000000000" pitchFamily="2" charset="0"/>
                            </a:rPr>
                            <a:t>Negación de cuantificadores (De Morgan para cuantificadores)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𝑥𝑃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𝑥𝑃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¬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228789">
                    <a:tc>
                      <a:txBody>
                        <a:bodyPr/>
                        <a:lstStyle/>
                        <a:p>
                          <a:r>
                            <a:rPr lang="es-CO" sz="1800" b="0" dirty="0">
                              <a:latin typeface="+mn-lt"/>
                              <a:ea typeface="Roboto" panose="02000000000000000000" pitchFamily="2" charset="0"/>
                            </a:rPr>
                            <a:t>Distribución del cuantificador universal sobre la conjunción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𝑥𝑃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𝑥𝑄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447064">
                    <a:tc>
                      <a:txBody>
                        <a:bodyPr/>
                        <a:lstStyle/>
                        <a:p>
                          <a:r>
                            <a:rPr lang="es-CO" sz="1800" b="0" kern="120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</a:rPr>
                            <a:t>Distribución del cuantificador existencial sobre la disyunción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𝑥𝑃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𝑥𝑄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80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228789">
                    <a:tc>
                      <a:txBody>
                        <a:bodyPr/>
                        <a:lstStyle/>
                        <a:p>
                          <a:r>
                            <a:rPr lang="es-CO" sz="1800" b="0" dirty="0">
                              <a:latin typeface="+mn-lt"/>
                              <a:ea typeface="Roboto" panose="02000000000000000000" pitchFamily="2" charset="0"/>
                            </a:rPr>
                            <a:t>Distribución de cuantificadores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800" b="0" i="0" dirty="0">
                              <a:latin typeface="+mn-lt"/>
                              <a:ea typeface="Roboto" panose="02000000000000000000" pitchFamily="2" charset="0"/>
                            </a:rPr>
                            <a:t>Si la formula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s-MX" sz="1800" b="0" i="0" dirty="0">
                              <a:latin typeface="+mn-lt"/>
                              <a:ea typeface="Roboto" panose="02000000000000000000" pitchFamily="2" charset="0"/>
                            </a:rPr>
                            <a:t> no contiene la variable cuantificada </a:t>
                          </a:r>
                          <a14:m>
                            <m:oMath xmlns:m="http://schemas.openxmlformats.org/officeDocument/2006/math"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s-MX" sz="1800" b="0" i="0" dirty="0">
                              <a:latin typeface="+mn-lt"/>
                              <a:ea typeface="Roboto" panose="02000000000000000000" pitchFamily="2" charset="0"/>
                            </a:rPr>
                            <a:t>: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∀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∀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𝑥𝑃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MX" sz="18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∃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d>
                                  <m:dPr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∃</m:t>
                                    </m:r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𝑥𝑃</m:t>
                                    </m:r>
                                    <m:d>
                                      <m:dPr>
                                        <m:ctrlP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s-MX" sz="18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228789">
                    <a:tc>
                      <a:txBody>
                        <a:bodyPr/>
                        <a:lstStyle/>
                        <a:p>
                          <a:r>
                            <a:rPr lang="es-MX" sz="1800" b="0" dirty="0">
                              <a:latin typeface="+mn-lt"/>
                              <a:ea typeface="Roboto" panose="02000000000000000000" pitchFamily="2" charset="0"/>
                            </a:rPr>
                            <a:t>Conmutatividad de cuantificadores del mismo tipo</a:t>
                          </a:r>
                          <a:endParaRPr lang="es-CO" sz="18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i="1" dirty="0" err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MX" sz="1800" i="1" dirty="0" err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MX" sz="1800" i="1" dirty="0" err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≡ ∀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s-MX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800" i="1" dirty="0" err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s-MX" sz="1800" i="1" dirty="0" err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MX" sz="1800" i="1" dirty="0" err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MX" sz="18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) ≡ ∃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MX" sz="1800" i="1" dirty="0" err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sz="18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MX" sz="1800" b="0" i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3932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3">
                <a:extLst>
                  <a:ext uri="{FF2B5EF4-FFF2-40B4-BE49-F238E27FC236}">
                    <a16:creationId xmlns:a16="http://schemas.microsoft.com/office/drawing/2014/main" id="{B9252CBD-B080-409D-94D7-CAA8A680DF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6643092"/>
                  </p:ext>
                </p:extLst>
              </p:nvPr>
            </p:nvGraphicFramePr>
            <p:xfrm>
              <a:off x="635234" y="1064695"/>
              <a:ext cx="10649624" cy="3941572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272080">
                      <a:extLst>
                        <a:ext uri="{9D8B030D-6E8A-4147-A177-3AD203B41FA5}">
                          <a16:colId xmlns:a16="http://schemas.microsoft.com/office/drawing/2014/main" val="2419793140"/>
                        </a:ext>
                      </a:extLst>
                    </a:gridCol>
                    <a:gridCol w="5377544">
                      <a:extLst>
                        <a:ext uri="{9D8B030D-6E8A-4147-A177-3AD203B41FA5}">
                          <a16:colId xmlns:a16="http://schemas.microsoft.com/office/drawing/2014/main" val="276111902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2000" b="1" dirty="0">
                              <a:latin typeface="+mn-lt"/>
                              <a:ea typeface="Roboto" panose="02000000000000000000" pitchFamily="2" charset="0"/>
                            </a:rPr>
                            <a:t>Equivalencia lógica</a:t>
                          </a: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52659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s-CO" sz="1800" b="0" dirty="0">
                              <a:latin typeface="+mn-lt"/>
                              <a:ea typeface="Roboto" panose="02000000000000000000" pitchFamily="2" charset="0"/>
                            </a:rPr>
                            <a:t>Negación de cuantificadores (De Morgan para cuantificadores)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98075" t="-66667" r="-113" b="-46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5157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s-CO" sz="1800" b="0" dirty="0">
                              <a:latin typeface="+mn-lt"/>
                              <a:ea typeface="Roboto" panose="02000000000000000000" pitchFamily="2" charset="0"/>
                            </a:rPr>
                            <a:t>Distribución del cuantificador universal sobre la conjunción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98075" t="-165094" r="-113" b="-358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374391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s-CO" sz="1800" b="0" kern="1200" dirty="0">
                              <a:solidFill>
                                <a:srgbClr val="000000"/>
                              </a:solidFill>
                              <a:latin typeface="+mn-lt"/>
                              <a:ea typeface="Roboto" panose="02000000000000000000" pitchFamily="2" charset="0"/>
                              <a:cs typeface="Arial"/>
                            </a:rPr>
                            <a:t>Distribución del cuantificador existencial sobre la disyunción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98075" t="-267619" r="-113" b="-2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401643"/>
                      </a:ext>
                    </a:extLst>
                  </a:tr>
                  <a:tr h="985012">
                    <a:tc>
                      <a:txBody>
                        <a:bodyPr/>
                        <a:lstStyle/>
                        <a:p>
                          <a:r>
                            <a:rPr lang="es-CO" sz="1800" b="0" dirty="0">
                              <a:latin typeface="+mn-lt"/>
                              <a:ea typeface="Roboto" panose="02000000000000000000" pitchFamily="2" charset="0"/>
                            </a:rPr>
                            <a:t>Distribución de cuantificadores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98075" t="-238272" r="-113" b="-697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81885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s-MX" sz="1800" b="0" dirty="0">
                              <a:latin typeface="+mn-lt"/>
                              <a:ea typeface="Roboto" panose="02000000000000000000" pitchFamily="2" charset="0"/>
                            </a:rPr>
                            <a:t>Conmutatividad de cuantificadores del mismo tipo</a:t>
                          </a:r>
                          <a:endParaRPr lang="es-CO" sz="1800" b="0" dirty="0">
                            <a:latin typeface="+mn-lt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98075" t="-521905" r="-113" b="-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32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BEB98A2-B4A9-49CF-A74C-543AC89DCE67}"/>
                  </a:ext>
                </a:extLst>
              </p:cNvPr>
              <p:cNvSpPr txBox="1"/>
              <p:nvPr/>
            </p:nvSpPr>
            <p:spPr>
              <a:xfrm>
                <a:off x="497349" y="5132460"/>
                <a:ext cx="10787509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000" b="1" dirty="0"/>
                  <a:t>Cuidado</a:t>
                </a:r>
                <a:r>
                  <a:rPr lang="es-MX" sz="2000" dirty="0"/>
                  <a:t>: Las siguientes combinaciones no son equivalencias completas, solo una dirección es válida:</a:t>
                </a:r>
              </a:p>
              <a:p>
                <a:endParaRPr lang="es-MX" sz="2000" dirty="0"/>
              </a:p>
              <a:p>
                <a:pPr algn="ctr"/>
                <a14:m>
                  <m:oMath xmlns:m="http://schemas.openxmlformats.org/officeDocument/2006/math">
                    <m:r>
                      <a:rPr lang="es-CO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s-CO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 ∨ ∀</m:t>
                    </m:r>
                    <m:r>
                      <a:rPr lang="es-CO" i="1" dirty="0" err="1" smtClean="0">
                        <a:latin typeface="Cambria Math" panose="02040503050406030204" pitchFamily="18" charset="0"/>
                      </a:rPr>
                      <m:t>𝑥𝑄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 → ∀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s-CO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s-CO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∨ </m:t>
                        </m:r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s-CO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s-MX" dirty="0"/>
                  <a:t>, </a:t>
                </a:r>
                <a:r>
                  <a:rPr lang="es-CO" sz="2000" dirty="0"/>
                  <a:t>pero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CO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 ∨ 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)) ≢ ∀</m:t>
                    </m:r>
                    <m:r>
                      <a:rPr lang="es-CO" i="1" dirty="0" err="1" smtClean="0">
                        <a:latin typeface="Cambria Math" panose="02040503050406030204" pitchFamily="18" charset="0"/>
                      </a:rPr>
                      <m:t>𝑥𝑃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 ∨ ∀</m:t>
                    </m:r>
                    <m:r>
                      <a:rPr lang="es-CO" i="1" dirty="0" err="1" smtClean="0">
                        <a:latin typeface="Cambria Math" panose="02040503050406030204" pitchFamily="18" charset="0"/>
                      </a:rPr>
                      <m:t>𝑥𝑄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dirty="0"/>
              </a:p>
              <a:p>
                <a:pPr algn="ctr"/>
                <a:endParaRPr lang="es-MX" dirty="0"/>
              </a:p>
              <a:p>
                <a:pPr algn="ctr"/>
                <a14:m>
                  <m:oMath xmlns:m="http://schemas.openxmlformats.org/officeDocument/2006/math">
                    <m:r>
                      <a:rPr lang="es-CO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s-CO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s-CO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∧ </m:t>
                        </m:r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s-CO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s-CO" i="1" dirty="0" smtClean="0">
                        <a:latin typeface="Cambria Math" panose="02040503050406030204" pitchFamily="18" charset="0"/>
                      </a:rPr>
                      <m:t> → ∃</m:t>
                    </m:r>
                    <m:r>
                      <a:rPr lang="es-CO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 ∧ ∃</m:t>
                    </m:r>
                    <m:r>
                      <a:rPr lang="es-CO" i="1" dirty="0" err="1" smtClean="0">
                        <a:latin typeface="Cambria Math" panose="02040503050406030204" pitchFamily="18" charset="0"/>
                      </a:rPr>
                      <m:t>𝑥𝑄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, </a:t>
                </a:r>
                <a:r>
                  <a:rPr lang="es-CO" sz="2000" dirty="0"/>
                  <a:t>pero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CO" i="1" dirty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s-CO" i="1" dirty="0" err="1" smtClean="0">
                        <a:latin typeface="Cambria Math" panose="02040503050406030204" pitchFamily="18" charset="0"/>
                      </a:rPr>
                      <m:t>𝑥𝑃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 ∧ ∃</m:t>
                    </m:r>
                    <m:r>
                      <a:rPr lang="es-CO" i="1" dirty="0" err="1" smtClean="0">
                        <a:latin typeface="Cambria Math" panose="02040503050406030204" pitchFamily="18" charset="0"/>
                      </a:rPr>
                      <m:t>𝑥𝑄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 ≢ ∃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 ∧ 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BEB98A2-B4A9-49CF-A74C-543AC89DC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49" y="5132460"/>
                <a:ext cx="10787509" cy="1600438"/>
              </a:xfrm>
              <a:prstGeom prst="rect">
                <a:avLst/>
              </a:prstGeom>
              <a:blipFill>
                <a:blip r:embed="rId4"/>
                <a:stretch>
                  <a:fillRect l="-622" t="-2290" b="-64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987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4BC9AA3-64E9-4D87-B0D9-555EF80DA0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7703" y="1016510"/>
                <a:ext cx="11157388" cy="4135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¿Cuáles son las negaciones de las afirmaciones “Hay un político honesto” y “Todos los colombianos comen frijoles con mazamorra”? 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¿Cuáles son las negaciones de las afirmaciones “Todos los estudiantes de esta clase han tomado un curso de Java” y “Uno o más estudiantes de esta clase han hecho un curso de Java”? 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Cuales son las negaciones de las proposiciones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(</m:t>
                    </m:r>
                    <m:sSup>
                      <m:sSup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p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p>
                    </m:sSup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&gt;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(</m:t>
                    </m:r>
                    <m:sSup>
                      <m:sSup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p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p>
                    </m:sSup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=2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endParaRPr lang="es-MX" sz="2200" dirty="0">
                  <a:latin typeface="+mn-lt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Utilice predicados y cuantificadores para expresar las especificaciones del sistema “Todo mensaje de correo mayor a un megabyte será comprimido” y “Si un usuario está activo, al menos un enlace de red estará disponible”.</a:t>
                </a:r>
              </a:p>
              <a:p>
                <a:pPr marL="584200" indent="-457200">
                  <a:buFont typeface="+mj-lt"/>
                  <a:buAutoNum type="arabicPeriod"/>
                </a:pPr>
                <a:endParaRPr lang="es-MX" sz="22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4BC9AA3-64E9-4D87-B0D9-555EF80DA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03" y="1016510"/>
                <a:ext cx="11157388" cy="4135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849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296607" y="137689"/>
            <a:ext cx="88224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4BC9AA3-64E9-4D87-B0D9-555EF80DA0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6607" y="883989"/>
                <a:ext cx="11598786" cy="56331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584200" indent="-457200">
                  <a:buFont typeface="+mj-lt"/>
                  <a:buAutoNum type="arabicPeriod" startAt="5"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Sean:</a:t>
                </a:r>
              </a:p>
              <a:p>
                <a:pPr marL="584200" lvl="1" indent="0">
                  <a:buNone/>
                </a:pPr>
                <a:endParaRPr lang="es-MX" dirty="0">
                  <a:latin typeface="+mn-lt"/>
                </a:endParaRPr>
              </a:p>
              <a:p>
                <a:pPr marL="1498600" lvl="3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2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MX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2200">
                              <a:latin typeface="Cambria Math" panose="02040503050406030204" pitchFamily="18" charset="0"/>
                            </a:rPr>
                            <m:t>cachivaches</m:t>
                          </m:r>
                          <m:r>
                            <a:rPr lang="es-MX" sz="22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s-MX" sz="2200">
                              <a:latin typeface="Cambria Math" panose="02040503050406030204" pitchFamily="18" charset="0"/>
                            </a:rPr>
                            <m:t>aparatos</m:t>
                          </m:r>
                          <m:r>
                            <a:rPr lang="es-MX"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200">
                              <a:latin typeface="Cambria Math" panose="02040503050406030204" pitchFamily="18" charset="0"/>
                            </a:rPr>
                            <m:t>raros</m:t>
                          </m:r>
                          <m:r>
                            <a:rPr lang="es-MX" sz="22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s-MX" sz="2200">
                              <a:latin typeface="Cambria Math" panose="02040503050406030204" pitchFamily="18" charset="0"/>
                            </a:rPr>
                            <m:t>cosas</m:t>
                          </m:r>
                        </m:e>
                      </m:d>
                    </m:oMath>
                  </m:oMathPara>
                </a14:m>
                <a:endParaRPr lang="es-MX" sz="2200" dirty="0">
                  <a:latin typeface="+mn-lt"/>
                </a:endParaRPr>
              </a:p>
              <a:p>
                <a:pPr marL="584200" lvl="1" indent="0">
                  <a:buNone/>
                </a:pPr>
                <a:endParaRPr lang="es-MX" dirty="0">
                  <a:latin typeface="+mn-lt"/>
                </a:endParaRPr>
              </a:p>
              <a:p>
                <a:pPr marL="584200" lvl="1" indent="0">
                  <a:buNone/>
                </a:pPr>
                <a:r>
                  <a:rPr lang="es-MX" dirty="0">
                    <a:latin typeface="+mn-lt"/>
                  </a:rPr>
                  <a:t>Además, sea: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s-MX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MX">
                        <a:latin typeface="Cambria Math" panose="02040503050406030204" pitchFamily="18" charset="0"/>
                      </a:rPr>
                      <m:t>"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b="0" i="0" smtClean="0">
                        <a:latin typeface="Cambria Math" panose="02040503050406030204" pitchFamily="18" charset="0"/>
                      </a:rPr>
                      <m:t>es</m:t>
                    </m:r>
                    <m:r>
                      <a:rPr lang="es-MX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b="0" i="0" smtClean="0">
                        <a:latin typeface="Cambria Math" panose="02040503050406030204" pitchFamily="18" charset="0"/>
                      </a:rPr>
                      <m:t>un</m:t>
                    </m:r>
                    <m:r>
                      <a:rPr lang="es-MX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b="0" i="0" smtClean="0">
                        <a:latin typeface="Cambria Math" panose="02040503050406030204" pitchFamily="18" charset="0"/>
                      </a:rPr>
                      <m:t>cachivache</m:t>
                    </m:r>
                    <m:r>
                      <a:rPr lang="es-MX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endParaRPr lang="es-MX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es-MX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"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es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b="0" i="0" smtClean="0">
                        <a:latin typeface="Cambria Math" panose="02040503050406030204" pitchFamily="18" charset="0"/>
                      </a:rPr>
                      <m:t>un</m:t>
                    </m:r>
                    <m:r>
                      <a:rPr lang="es-MX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aparato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raro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"</m:t>
                    </m:r>
                  </m:oMath>
                </a14:m>
                <a:endParaRPr lang="es-MX" dirty="0">
                  <a:latin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s-MX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"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es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b="0" i="0" smtClean="0">
                        <a:latin typeface="Cambria Math" panose="02040503050406030204" pitchFamily="18" charset="0"/>
                      </a:rPr>
                      <m:t>una</m:t>
                    </m:r>
                    <m:r>
                      <a:rPr lang="es-MX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b="0" i="0" smtClean="0">
                        <a:latin typeface="Cambria Math" panose="02040503050406030204" pitchFamily="18" charset="0"/>
                      </a:rPr>
                      <m:t>cosa</m:t>
                    </m:r>
                    <m:r>
                      <m:rPr>
                        <m:nor/>
                      </m:rPr>
                      <a:rPr lang="es-MX" b="0" i="0" smtClean="0">
                        <a:latin typeface="+mn-lt"/>
                      </a:rPr>
                      <m:t>"</m:t>
                    </m:r>
                  </m:oMath>
                </a14:m>
                <a:endParaRPr lang="es-MX" dirty="0">
                  <a:latin typeface="+mn-lt"/>
                </a:endParaRPr>
              </a:p>
              <a:p>
                <a:pPr marL="584200" lvl="1" indent="0">
                  <a:buNone/>
                </a:pPr>
                <a:endParaRPr lang="es-MX" dirty="0">
                  <a:latin typeface="+mn-lt"/>
                </a:endParaRPr>
              </a:p>
              <a:p>
                <a:pPr marL="584200" lvl="1" indent="0">
                  <a:buNone/>
                </a:pPr>
                <a:r>
                  <a:rPr lang="es-MX" dirty="0">
                    <a:latin typeface="+mn-lt"/>
                  </a:rPr>
                  <a:t>Escriba en lenguaje formar las siguientes expresiones: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Nada es un aparato raro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Todos los cachivaches son aparatos raros.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Algunos cachivaches son cosas.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Si algún cachivache es un aparato raro, entonces también es una cosa.</a:t>
                </a:r>
              </a:p>
              <a:p>
                <a:pPr lvl="1"/>
                <a:r>
                  <a:rPr lang="es-MX" dirty="0">
                    <a:latin typeface="+mn-lt"/>
                    <a:ea typeface="Roboto" panose="02000000000000000000" pitchFamily="2" charset="0"/>
                  </a:rPr>
                  <a:t>Cualquier cachivache que sea aparato raro, es también una cosa</a:t>
                </a:r>
              </a:p>
              <a:p>
                <a:pPr lvl="1"/>
                <a:endParaRPr lang="es-MX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4BC9AA3-64E9-4D87-B0D9-555EF80DA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07" y="883989"/>
                <a:ext cx="11598786" cy="5633122"/>
              </a:xfrm>
              <a:prstGeom prst="rect">
                <a:avLst/>
              </a:prstGeom>
              <a:blipFill>
                <a:blip r:embed="rId3"/>
                <a:stretch>
                  <a:fillRect b="-11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91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413953" y="96038"/>
            <a:ext cx="880669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64BC9AA3-64E9-4D87-B0D9-555EF80DA0CF}"/>
              </a:ext>
            </a:extLst>
          </p:cNvPr>
          <p:cNvSpPr txBox="1">
            <a:spLocks/>
          </p:cNvSpPr>
          <p:nvPr/>
        </p:nvSpPr>
        <p:spPr>
          <a:xfrm>
            <a:off x="442238" y="1045538"/>
            <a:ext cx="8570478" cy="320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584200" indent="-457200">
              <a:buFont typeface="+mj-lt"/>
              <a:buAutoNum type="arabicPeriod" startAt="6"/>
            </a:pPr>
            <a:r>
              <a:rPr lang="es-MX" sz="2200" dirty="0">
                <a:latin typeface="+mn-lt"/>
                <a:ea typeface="Roboto" panose="02000000000000000000" pitchFamily="2" charset="0"/>
                <a:hlinkClick r:id="rId3"/>
              </a:rPr>
              <a:t>Lewis Carroll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(en realidad C. L. Dodgson, quien escribía con este seudónimo), autor de Alicia en el País de las Maravillas, también es autor de varias obras sobre lógica simbólica como Lógica simbólica (</a:t>
            </a:r>
            <a:r>
              <a:rPr lang="es-MX" sz="2200" dirty="0">
                <a:latin typeface="+mn-lt"/>
                <a:ea typeface="Roboto" panose="02000000000000000000" pitchFamily="2" charset="0"/>
                <a:hlinkClick r:id="rId4"/>
              </a:rPr>
              <a:t>Symbolic Logic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). Teniendo en cuenta el siguiente argumento (premisas y conclusión) obtenido de uno se sus libros, escriba su traducción en lenguaje formal:</a:t>
            </a:r>
          </a:p>
          <a:p>
            <a:pPr lvl="1"/>
            <a:r>
              <a:rPr lang="es-MX" dirty="0">
                <a:latin typeface="+mn-lt"/>
                <a:ea typeface="Roboto" panose="02000000000000000000" pitchFamily="2" charset="0"/>
              </a:rPr>
              <a:t>“Todos los leones son feroces.”</a:t>
            </a:r>
          </a:p>
          <a:p>
            <a:pPr lvl="1"/>
            <a:r>
              <a:rPr lang="es-MX" dirty="0">
                <a:latin typeface="+mn-lt"/>
                <a:ea typeface="Roboto" panose="02000000000000000000" pitchFamily="2" charset="0"/>
              </a:rPr>
              <a:t>“Algunos leones no toman café.”</a:t>
            </a:r>
          </a:p>
          <a:p>
            <a:pPr lvl="1"/>
            <a:r>
              <a:rPr lang="es-MX" dirty="0">
                <a:latin typeface="+mn-lt"/>
                <a:ea typeface="Roboto" panose="02000000000000000000" pitchFamily="2" charset="0"/>
              </a:rPr>
              <a:t>“Algunas criaturas feroces no toman café.”</a:t>
            </a:r>
          </a:p>
          <a:p>
            <a:pPr marL="584200" indent="-457200">
              <a:buFont typeface="+mj-lt"/>
              <a:buAutoNum type="arabicPeriod" startAt="6"/>
            </a:pPr>
            <a:endParaRPr lang="es-MX" sz="2200" dirty="0">
              <a:latin typeface="+mn-lt"/>
              <a:ea typeface="Roboto" panose="02000000000000000000" pitchFamily="2" charset="0"/>
            </a:endParaRPr>
          </a:p>
          <a:p>
            <a:pPr marL="584200" indent="-457200">
              <a:buFont typeface="+mj-lt"/>
              <a:buAutoNum type="arabicPeriod" startAt="6"/>
            </a:pPr>
            <a:endParaRPr lang="es-MX" sz="2200" dirty="0">
              <a:latin typeface="+mn-lt"/>
              <a:ea typeface="Roboto" panose="02000000000000000000" pitchFamily="2" charset="0"/>
            </a:endParaRPr>
          </a:p>
          <a:p>
            <a:pPr marL="584200" indent="-457200">
              <a:buFont typeface="+mj-lt"/>
              <a:buAutoNum type="arabicPeriod" startAt="6"/>
            </a:pPr>
            <a:endParaRPr lang="es-MX" sz="2200" dirty="0">
              <a:latin typeface="+mn-lt"/>
              <a:ea typeface="Roboto" panose="02000000000000000000" pitchFamily="2" charset="0"/>
            </a:endParaRPr>
          </a:p>
          <a:p>
            <a:pPr marL="584200" indent="-457200">
              <a:buFont typeface="+mj-lt"/>
              <a:buAutoNum type="arabicPeriod" startAt="6"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5A2BE5B-30E8-4790-9C60-0A073647E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691" y="4701190"/>
            <a:ext cx="2762250" cy="172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Lewis Carroll (1832 – 1898)">
            <a:extLst>
              <a:ext uri="{FF2B5EF4-FFF2-40B4-BE49-F238E27FC236}">
                <a16:creationId xmlns:a16="http://schemas.microsoft.com/office/drawing/2014/main" id="{B6778203-4A2F-47CB-A097-AB1BF03A3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608" y="1365149"/>
            <a:ext cx="2159154" cy="256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YMBOLIC LOGIC">
            <a:extLst>
              <a:ext uri="{FF2B5EF4-FFF2-40B4-BE49-F238E27FC236}">
                <a16:creationId xmlns:a16="http://schemas.microsoft.com/office/drawing/2014/main" id="{35EF3E06-2BE9-4708-B090-DEE3A5952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716" y="4703968"/>
            <a:ext cx="1155785" cy="172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The Story of Alice review – the worrying, winding road to Wonderland | Lewis  Carroll | The Guardian">
            <a:extLst>
              <a:ext uri="{FF2B5EF4-FFF2-40B4-BE49-F238E27FC236}">
                <a16:creationId xmlns:a16="http://schemas.microsoft.com/office/drawing/2014/main" id="{1AB556D9-4B12-40CC-9166-9FCB008B7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035" y="4701190"/>
            <a:ext cx="27622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523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83459" y="111459"/>
            <a:ext cx="858646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1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64BC9AA3-64E9-4D87-B0D9-555EF80DA0CF}"/>
              </a:ext>
            </a:extLst>
          </p:cNvPr>
          <p:cNvSpPr txBox="1">
            <a:spLocks/>
          </p:cNvSpPr>
          <p:nvPr/>
        </p:nvSpPr>
        <p:spPr>
          <a:xfrm>
            <a:off x="383459" y="930330"/>
            <a:ext cx="11242073" cy="797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Roboto" panose="02000000000000000000" pitchFamily="2" charset="0"/>
                <a:ea typeface="Roboto" panose="02000000000000000000" pitchFamily="2" charset="0"/>
              </a:rPr>
              <a:t>¿Cuáles son las negaciones de las afirmaciones “Hay un político honesto” y “Todos los colombianos comen frijoles con mazamorra”? </a:t>
            </a:r>
          </a:p>
        </p:txBody>
      </p:sp>
    </p:spTree>
    <p:extLst>
      <p:ext uri="{BB962C8B-B14F-4D97-AF65-F5344CB8AC3E}">
        <p14:creationId xmlns:p14="http://schemas.microsoft.com/office/powerpoint/2010/main" val="176198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06692" y="237212"/>
            <a:ext cx="870523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2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64BC9AA3-64E9-4D87-B0D9-555EF80DA0CF}"/>
              </a:ext>
            </a:extLst>
          </p:cNvPr>
          <p:cNvSpPr txBox="1">
            <a:spLocks/>
          </p:cNvSpPr>
          <p:nvPr/>
        </p:nvSpPr>
        <p:spPr>
          <a:xfrm>
            <a:off x="306692" y="1070600"/>
            <a:ext cx="11369891" cy="760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¿Cuáles son las negaciones de las afirmaciones “Todos los estudiantes de esta clase han tomado un curso de Java” y “Uno o más estudiantes de esta clase han hecho un curso de Java”? </a:t>
            </a:r>
          </a:p>
        </p:txBody>
      </p:sp>
    </p:spTree>
    <p:extLst>
      <p:ext uri="{BB962C8B-B14F-4D97-AF65-F5344CB8AC3E}">
        <p14:creationId xmlns:p14="http://schemas.microsoft.com/office/powerpoint/2010/main" val="2234782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06692" y="237212"/>
            <a:ext cx="870523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2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64BC9AA3-64E9-4D87-B0D9-555EF80DA0CF}"/>
              </a:ext>
            </a:extLst>
          </p:cNvPr>
          <p:cNvSpPr txBox="1">
            <a:spLocks/>
          </p:cNvSpPr>
          <p:nvPr/>
        </p:nvSpPr>
        <p:spPr>
          <a:xfrm>
            <a:off x="306692" y="1070600"/>
            <a:ext cx="11369891" cy="760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¿Cuáles son las negaciones de las afirmaciones “Todos los estudiantes de esta clase han tomado un curso de Java” y “Uno o más estudiantes de esta clase han hecho un curso de Java”? </a:t>
            </a:r>
          </a:p>
        </p:txBody>
      </p:sp>
    </p:spTree>
    <p:extLst>
      <p:ext uri="{BB962C8B-B14F-4D97-AF65-F5344CB8AC3E}">
        <p14:creationId xmlns:p14="http://schemas.microsoft.com/office/powerpoint/2010/main" val="2591349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39213" y="96038"/>
            <a:ext cx="1104429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3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4BC9AA3-64E9-4D87-B0D9-555EF80DA0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050" y="898995"/>
                <a:ext cx="10890782" cy="492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Cuales son las negaciones de las proposiciones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∀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(</m:t>
                    </m:r>
                    <m:sSup>
                      <m:sSupPr>
                        <m:ctrlP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pPr>
                      <m:e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s-MX" sz="22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p>
                    </m:sSup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&gt;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∃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(</m:t>
                    </m:r>
                    <m:sSup>
                      <m:sSupPr>
                        <m:ctrlP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pPr>
                      <m:e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s-MX" sz="22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p>
                    </m:sSup>
                    <m:r>
                      <a:rPr lang="es-MX" sz="22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=2</m:t>
                    </m:r>
                    <m:r>
                      <a:rPr lang="es-MX" sz="22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4BC9AA3-64E9-4D87-B0D9-555EF80DA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50" y="898995"/>
                <a:ext cx="10890782" cy="492444"/>
              </a:xfrm>
              <a:prstGeom prst="rect">
                <a:avLst/>
              </a:prstGeom>
              <a:blipFill>
                <a:blip r:embed="rId3"/>
                <a:stretch>
                  <a:fillRect b="-32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922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231059" y="96038"/>
            <a:ext cx="1144552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4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64BC9AA3-64E9-4D87-B0D9-555EF80DA0CF}"/>
              </a:ext>
            </a:extLst>
          </p:cNvPr>
          <p:cNvSpPr txBox="1">
            <a:spLocks/>
          </p:cNvSpPr>
          <p:nvPr/>
        </p:nvSpPr>
        <p:spPr>
          <a:xfrm>
            <a:off x="319788" y="921935"/>
            <a:ext cx="11445522" cy="1269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lnSpc>
                <a:spcPct val="100000"/>
              </a:lnSpc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</a:rPr>
              <a:t>Utilice predicados y cuantificadores para expresar las especificaciones del sistema “Todo mensaje de correo mayor a un megabyte será comprimido” y “Si un usuario está activo, al menos un enlace de red estará disponible”.</a:t>
            </a:r>
          </a:p>
          <a:p>
            <a:pPr marL="127000" indent="0">
              <a:lnSpc>
                <a:spcPct val="100000"/>
              </a:lnSpc>
              <a:buNone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232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231060" y="96038"/>
            <a:ext cx="898959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5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Google Shape;310;p34">
                <a:extLst>
                  <a:ext uri="{FF2B5EF4-FFF2-40B4-BE49-F238E27FC236}">
                    <a16:creationId xmlns:a16="http://schemas.microsoft.com/office/drawing/2014/main" id="{ECD8C5D9-4F07-456C-9AD7-0FF8D8A0A1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8711" y="851018"/>
                <a:ext cx="11337780" cy="5838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lnSpc>
                    <a:spcPct val="100000"/>
                  </a:lnSpc>
                  <a:buNone/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Sean:</a:t>
                </a:r>
              </a:p>
              <a:p>
                <a:pPr marL="584200" lvl="1" indent="0">
                  <a:lnSpc>
                    <a:spcPct val="100000"/>
                  </a:lnSpc>
                  <a:buNone/>
                </a:pPr>
                <a:endParaRPr lang="es-MX" dirty="0">
                  <a:latin typeface="+mn-lt"/>
                </a:endParaRPr>
              </a:p>
              <a:p>
                <a:pPr marL="1041400" lvl="2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22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s-MX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2200">
                              <a:latin typeface="Cambria Math" panose="02040503050406030204" pitchFamily="18" charset="0"/>
                            </a:rPr>
                            <m:t>cachivaches</m:t>
                          </m:r>
                          <m:r>
                            <a:rPr lang="es-MX" sz="22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s-MX" sz="2200">
                              <a:latin typeface="Cambria Math" panose="02040503050406030204" pitchFamily="18" charset="0"/>
                            </a:rPr>
                            <m:t>aparatos</m:t>
                          </m:r>
                          <m:r>
                            <a:rPr lang="es-MX"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200">
                              <a:latin typeface="Cambria Math" panose="02040503050406030204" pitchFamily="18" charset="0"/>
                            </a:rPr>
                            <m:t>raros</m:t>
                          </m:r>
                          <m:r>
                            <a:rPr lang="es-MX" sz="22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s-MX" sz="2200">
                              <a:latin typeface="Cambria Math" panose="02040503050406030204" pitchFamily="18" charset="0"/>
                            </a:rPr>
                            <m:t>cosas</m:t>
                          </m:r>
                        </m:e>
                      </m:d>
                    </m:oMath>
                  </m:oMathPara>
                </a14:m>
                <a:endParaRPr lang="es-MX" sz="2200" dirty="0">
                  <a:latin typeface="+mn-lt"/>
                </a:endParaRPr>
              </a:p>
              <a:p>
                <a:pPr marL="127000" indent="0">
                  <a:lnSpc>
                    <a:spcPct val="100000"/>
                  </a:lnSpc>
                  <a:buNone/>
                </a:pPr>
                <a:r>
                  <a:rPr lang="es-MX" sz="2200" dirty="0">
                    <a:latin typeface="+mn-lt"/>
                  </a:rPr>
                  <a:t>Además, sea: 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s-MX" sz="2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sz="22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MX" sz="2200">
                        <a:latin typeface="Cambria Math" panose="02040503050406030204" pitchFamily="18" charset="0"/>
                      </a:rPr>
                      <m:t>"</m:t>
                    </m:r>
                    <m:r>
                      <a:rPr lang="es-MX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es</m:t>
                    </m:r>
                    <m:r>
                      <a:rPr lang="es-MX" sz="2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un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cachivache</m:t>
                    </m:r>
                    <m:r>
                      <a:rPr lang="es-MX" sz="220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endParaRPr lang="es-MX" sz="2200" dirty="0">
                  <a:latin typeface="+mn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es-MX" sz="2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sz="2200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"</m:t>
                    </m:r>
                    <m:r>
                      <a:rPr lang="es-MX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es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un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aparato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raro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"</m:t>
                    </m:r>
                  </m:oMath>
                </a14:m>
                <a:endParaRPr lang="es-MX" sz="2200" dirty="0">
                  <a:latin typeface="+mn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s-MX" sz="2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MX" sz="2200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"</m:t>
                    </m:r>
                    <m:r>
                      <a:rPr lang="es-MX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es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una</m:t>
                    </m:r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200" b="0" i="0" smtClean="0">
                        <a:latin typeface="Cambria Math" panose="02040503050406030204" pitchFamily="18" charset="0"/>
                      </a:rPr>
                      <m:t>cosa</m:t>
                    </m:r>
                    <m:r>
                      <m:rPr>
                        <m:nor/>
                      </m:rPr>
                      <a:rPr lang="es-MX" sz="2200" b="0" i="0" smtClean="0">
                        <a:latin typeface="+mn-lt"/>
                      </a:rPr>
                      <m:t>"</m:t>
                    </m:r>
                  </m:oMath>
                </a14:m>
                <a:endParaRPr lang="es-MX" sz="2200" dirty="0">
                  <a:latin typeface="+mn-lt"/>
                </a:endParaRPr>
              </a:p>
              <a:p>
                <a:pPr marL="127000" indent="0">
                  <a:lnSpc>
                    <a:spcPct val="100000"/>
                  </a:lnSpc>
                  <a:buNone/>
                </a:pPr>
                <a:r>
                  <a:rPr lang="es-MX" sz="2200" dirty="0">
                    <a:latin typeface="+mn-lt"/>
                  </a:rPr>
                  <a:t>Escriba en lenguaje formar las siguientes expresiones:</a:t>
                </a:r>
              </a:p>
              <a:p>
                <a:pPr>
                  <a:lnSpc>
                    <a:spcPct val="100000"/>
                  </a:lnSpc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Nada es un aparato raro</a:t>
                </a:r>
              </a:p>
              <a:p>
                <a:pPr>
                  <a:lnSpc>
                    <a:spcPct val="100000"/>
                  </a:lnSpc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Todos los cachivaches son aparatos raros.</a:t>
                </a:r>
              </a:p>
              <a:p>
                <a:pPr>
                  <a:lnSpc>
                    <a:spcPct val="100000"/>
                  </a:lnSpc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Algunos cachivaches son cosas.</a:t>
                </a:r>
              </a:p>
              <a:p>
                <a:pPr>
                  <a:lnSpc>
                    <a:spcPct val="100000"/>
                  </a:lnSpc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Si algún cachivache es un aparato raro, entonces también es una cosa.</a:t>
                </a:r>
              </a:p>
              <a:p>
                <a:pPr>
                  <a:lnSpc>
                    <a:spcPct val="100000"/>
                  </a:lnSpc>
                </a:pPr>
                <a:r>
                  <a:rPr lang="es-MX" sz="2200" dirty="0">
                    <a:latin typeface="+mn-lt"/>
                    <a:ea typeface="Roboto" panose="02000000000000000000" pitchFamily="2" charset="0"/>
                  </a:rPr>
                  <a:t>Cualquier cachivache que sea aparato raro, es también una cosa</a:t>
                </a:r>
              </a:p>
            </p:txBody>
          </p:sp>
        </mc:Choice>
        <mc:Fallback xmlns="">
          <p:sp>
            <p:nvSpPr>
              <p:cNvPr id="25" name="Google Shape;310;p34">
                <a:extLst>
                  <a:ext uri="{FF2B5EF4-FFF2-40B4-BE49-F238E27FC236}">
                    <a16:creationId xmlns:a16="http://schemas.microsoft.com/office/drawing/2014/main" id="{ECD8C5D9-4F07-456C-9AD7-0FF8D8A0A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11" y="851018"/>
                <a:ext cx="11337780" cy="5838374"/>
              </a:xfrm>
              <a:prstGeom prst="rect">
                <a:avLst/>
              </a:prstGeom>
              <a:blipFill>
                <a:blip r:embed="rId3"/>
                <a:stretch>
                  <a:fillRect b="-33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940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88519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5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5389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88519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5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766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88519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5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3245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8224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6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Google Shape;310;p34">
            <a:extLst>
              <a:ext uri="{FF2B5EF4-FFF2-40B4-BE49-F238E27FC236}">
                <a16:creationId xmlns:a16="http://schemas.microsoft.com/office/drawing/2014/main" id="{05533AB3-98BD-4687-9E8F-4641ADAAE651}"/>
              </a:ext>
            </a:extLst>
          </p:cNvPr>
          <p:cNvSpPr txBox="1">
            <a:spLocks/>
          </p:cNvSpPr>
          <p:nvPr/>
        </p:nvSpPr>
        <p:spPr>
          <a:xfrm>
            <a:off x="305521" y="863106"/>
            <a:ext cx="11488273" cy="285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dirty="0">
                <a:latin typeface="+mn-lt"/>
                <a:ea typeface="Roboto" panose="02000000000000000000" pitchFamily="2" charset="0"/>
                <a:hlinkClick r:id="rId3"/>
              </a:rPr>
              <a:t>Lewis Carroll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 (en realidad C. L. Dodgson, quien escribía con este seudónimo), autor de Alicia en el País de las Maravillas, también es autor de varias obras sobre lógica simbólica como Lógica simbólica (</a:t>
            </a:r>
            <a:r>
              <a:rPr lang="es-MX" sz="2200" dirty="0">
                <a:latin typeface="+mn-lt"/>
                <a:ea typeface="Roboto" panose="02000000000000000000" pitchFamily="2" charset="0"/>
                <a:hlinkClick r:id="rId4"/>
              </a:rPr>
              <a:t>Symbolic Logic</a:t>
            </a:r>
            <a:r>
              <a:rPr lang="es-MX" sz="2200" dirty="0">
                <a:latin typeface="+mn-lt"/>
                <a:ea typeface="Roboto" panose="02000000000000000000" pitchFamily="2" charset="0"/>
              </a:rPr>
              <a:t>). Teniendo en cuenta el siguiente argumento (premisas y conclusión) obtenido de uno se sus libros, escriba su traducción en lenguaje formal: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“Todos los leones son feroces.”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“Algunos leones no toman café.”</a:t>
            </a:r>
          </a:p>
          <a:p>
            <a:r>
              <a:rPr lang="es-MX" sz="2200" dirty="0">
                <a:latin typeface="+mn-lt"/>
                <a:ea typeface="Roboto" panose="02000000000000000000" pitchFamily="2" charset="0"/>
              </a:rPr>
              <a:t>“Algunas criaturas feroces no toman café.”</a:t>
            </a:r>
          </a:p>
          <a:p>
            <a:pPr marL="584200" indent="-457200">
              <a:buFont typeface="+mj-lt"/>
              <a:buAutoNum type="arabicPeriod" startAt="6"/>
            </a:pPr>
            <a:endParaRPr lang="es-MX" sz="2200" dirty="0">
              <a:latin typeface="+mn-lt"/>
              <a:ea typeface="Roboto" panose="02000000000000000000" pitchFamily="2" charset="0"/>
            </a:endParaRPr>
          </a:p>
          <a:p>
            <a:pPr marL="584200" indent="-457200">
              <a:buFont typeface="+mj-lt"/>
              <a:buAutoNum type="arabicPeriod" startAt="6"/>
            </a:pPr>
            <a:endParaRPr lang="es-MX" sz="2200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11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88519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Ejemplo 6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620098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27490</TotalTime>
  <Words>3728</Words>
  <Application>Microsoft Office PowerPoint</Application>
  <PresentationFormat>Panorámica</PresentationFormat>
  <Paragraphs>520</Paragraphs>
  <Slides>39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6" baseType="lpstr">
      <vt:lpstr>Roboto</vt:lpstr>
      <vt:lpstr>Arial</vt:lpstr>
      <vt:lpstr>Calibri</vt:lpstr>
      <vt:lpstr>Roboto Slab</vt:lpstr>
      <vt:lpstr>Calibri Light</vt:lpstr>
      <vt:lpstr>Cambria Math</vt:lpstr>
      <vt:lpstr>Tema de Office</vt:lpstr>
      <vt:lpstr> Matemáticas Discretas I</vt:lpstr>
      <vt:lpstr>Repaso conceptos claves de la lógica de primer orden</vt:lpstr>
      <vt:lpstr>Repaso conceptos claves de la lógica de primer orden</vt:lpstr>
      <vt:lpstr>Repaso conceptos claves de la lógica de primer orden</vt:lpstr>
      <vt:lpstr>Repaso conceptos claves de la lógica de primer orden</vt:lpstr>
      <vt:lpstr>Equivalencias en lógica de predicados</vt:lpstr>
      <vt:lpstr>Equivalencias en lógica de predicados</vt:lpstr>
      <vt:lpstr>Repaso conceptos claves de la lógica de primer orden</vt:lpstr>
      <vt:lpstr>Repaso conceptos claves de la lógica de primer orden</vt:lpstr>
      <vt:lpstr>Repaso conceptos claves de la lógica de primer orden</vt:lpstr>
      <vt:lpstr>Repaso conceptos claves de la lógica de primer orden</vt:lpstr>
      <vt:lpstr>Repaso conceptos claves de la lógica de primer orden</vt:lpstr>
      <vt:lpstr>Repaso conceptos claves de la lógica de primer orden</vt:lpstr>
      <vt:lpstr>Repaso conceptos claves de la lógica de primer orden</vt:lpstr>
      <vt:lpstr>Repaso sobre cuantificadores</vt:lpstr>
      <vt:lpstr>Repaso sobre cuantificadores</vt:lpstr>
      <vt:lpstr>Repaso sobre cuantificadores</vt:lpstr>
      <vt:lpstr>Equivalencias de lógica proposicional</vt:lpstr>
      <vt:lpstr>Sobre las equivalencias lógicas</vt:lpstr>
      <vt:lpstr>Cuantificadores y negaciones</vt:lpstr>
      <vt:lpstr>Cuantificadores y negaciones – Leyes de Morgan para cuantificadores</vt:lpstr>
      <vt:lpstr>Cuantificadores y negaciones - Ejemplos</vt:lpstr>
      <vt:lpstr>Distributividad en cuantificadores</vt:lpstr>
      <vt:lpstr>Distributividad en cuantificadores</vt:lpstr>
      <vt:lpstr>Equivalencias lógica cuantificacional</vt:lpstr>
      <vt:lpstr>Ejemplos</vt:lpstr>
      <vt:lpstr>Ejemplos</vt:lpstr>
      <vt:lpstr>Ejemplos</vt:lpstr>
      <vt:lpstr>Ejemplo 1</vt:lpstr>
      <vt:lpstr>Ejemplo 2</vt:lpstr>
      <vt:lpstr>Ejemplo 2</vt:lpstr>
      <vt:lpstr>Ejemplo 3</vt:lpstr>
      <vt:lpstr>Ejemplo 4</vt:lpstr>
      <vt:lpstr>Ejemplo 5</vt:lpstr>
      <vt:lpstr>Ejemplo 5</vt:lpstr>
      <vt:lpstr>Ejemplo 5</vt:lpstr>
      <vt:lpstr>Ejemplo 5</vt:lpstr>
      <vt:lpstr>Ejemplo 6</vt:lpstr>
      <vt:lpstr>Ejemplo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Matemáticas Discretas I</dc:title>
  <dc:creator>Usuario</dc:creator>
  <cp:lastModifiedBy>HENRY ALBERTO ARCILA RAMIREZ</cp:lastModifiedBy>
  <cp:revision>325</cp:revision>
  <dcterms:modified xsi:type="dcterms:W3CDTF">2026-09-17T03:37:26Z</dcterms:modified>
</cp:coreProperties>
</file>