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17" r:id="rId4"/>
    <p:sldId id="300" r:id="rId5"/>
    <p:sldId id="273" r:id="rId6"/>
    <p:sldId id="294" r:id="rId7"/>
    <p:sldId id="318" r:id="rId8"/>
    <p:sldId id="307" r:id="rId9"/>
    <p:sldId id="301" r:id="rId10"/>
    <p:sldId id="308" r:id="rId11"/>
    <p:sldId id="319" r:id="rId12"/>
    <p:sldId id="320" r:id="rId13"/>
    <p:sldId id="302" r:id="rId14"/>
    <p:sldId id="309" r:id="rId15"/>
    <p:sldId id="274" r:id="rId16"/>
    <p:sldId id="295" r:id="rId17"/>
    <p:sldId id="311" r:id="rId18"/>
    <p:sldId id="310" r:id="rId19"/>
    <p:sldId id="303" r:id="rId20"/>
    <p:sldId id="296" r:id="rId21"/>
    <p:sldId id="304" r:id="rId22"/>
    <p:sldId id="313" r:id="rId23"/>
    <p:sldId id="314" r:id="rId24"/>
    <p:sldId id="316" r:id="rId25"/>
    <p:sldId id="315" r:id="rId26"/>
    <p:sldId id="321" r:id="rId27"/>
    <p:sldId id="298" r:id="rId2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66" d="100"/>
          <a:sy n="66" d="100"/>
        </p:scale>
        <p:origin x="81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142770-6FBD-4BB4-A2B9-23B83B79FB5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90A678D-ACF8-42CB-B602-771D3671A8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2CA27A23-4A75-4158-B3E1-3279D54A912A}"/>
              </a:ext>
            </a:extLst>
          </p:cNvPr>
          <p:cNvSpPr>
            <a:spLocks noGrp="1"/>
          </p:cNvSpPr>
          <p:nvPr>
            <p:ph type="dt" sz="half" idx="10"/>
          </p:nvPr>
        </p:nvSpPr>
        <p:spPr/>
        <p:txBody>
          <a:bodyPr/>
          <a:lstStyle/>
          <a:p>
            <a:fld id="{163E4E5A-E75E-4899-90F5-DDB39F3E781F}" type="datetimeFigureOut">
              <a:rPr lang="es-CO" smtClean="0"/>
              <a:t>19/08/2026</a:t>
            </a:fld>
            <a:endParaRPr lang="es-CO"/>
          </a:p>
        </p:txBody>
      </p:sp>
      <p:sp>
        <p:nvSpPr>
          <p:cNvPr id="5" name="Marcador de pie de página 4">
            <a:extLst>
              <a:ext uri="{FF2B5EF4-FFF2-40B4-BE49-F238E27FC236}">
                <a16:creationId xmlns:a16="http://schemas.microsoft.com/office/drawing/2014/main" id="{685C36C1-26A3-49BE-A8A8-656951FEAC4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C69EE2A-0423-43AD-9F4C-5952D9F2FE4A}"/>
              </a:ext>
            </a:extLst>
          </p:cNvPr>
          <p:cNvSpPr>
            <a:spLocks noGrp="1"/>
          </p:cNvSpPr>
          <p:nvPr>
            <p:ph type="sldNum" sz="quarter" idx="12"/>
          </p:nvPr>
        </p:nvSpPr>
        <p:spPr/>
        <p:txBody>
          <a:bodyPr/>
          <a:lstStyle/>
          <a:p>
            <a:fld id="{38E450EB-BA4E-4FAC-BF54-AABC0C89B02E}" type="slidenum">
              <a:rPr lang="es-CO" smtClean="0"/>
              <a:t>‹Nº›</a:t>
            </a:fld>
            <a:endParaRPr lang="es-CO"/>
          </a:p>
        </p:txBody>
      </p:sp>
    </p:spTree>
    <p:extLst>
      <p:ext uri="{BB962C8B-B14F-4D97-AF65-F5344CB8AC3E}">
        <p14:creationId xmlns:p14="http://schemas.microsoft.com/office/powerpoint/2010/main" val="340449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5926FE-A781-4BB8-B275-F95FB8E130E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AD71A97-A3C2-4295-8826-D28A126AD9F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9006F645-AB27-4911-BCC9-574BF3670C18}"/>
              </a:ext>
            </a:extLst>
          </p:cNvPr>
          <p:cNvSpPr>
            <a:spLocks noGrp="1"/>
          </p:cNvSpPr>
          <p:nvPr>
            <p:ph type="dt" sz="half" idx="10"/>
          </p:nvPr>
        </p:nvSpPr>
        <p:spPr/>
        <p:txBody>
          <a:bodyPr/>
          <a:lstStyle/>
          <a:p>
            <a:fld id="{163E4E5A-E75E-4899-90F5-DDB39F3E781F}" type="datetimeFigureOut">
              <a:rPr lang="es-CO" smtClean="0"/>
              <a:t>19/08/2026</a:t>
            </a:fld>
            <a:endParaRPr lang="es-CO"/>
          </a:p>
        </p:txBody>
      </p:sp>
      <p:sp>
        <p:nvSpPr>
          <p:cNvPr id="5" name="Marcador de pie de página 4">
            <a:extLst>
              <a:ext uri="{FF2B5EF4-FFF2-40B4-BE49-F238E27FC236}">
                <a16:creationId xmlns:a16="http://schemas.microsoft.com/office/drawing/2014/main" id="{EBA8FE45-F388-46E1-847F-D74F2CDFD28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FE19B6D-4D65-4A9C-873F-E7FFC1C65A33}"/>
              </a:ext>
            </a:extLst>
          </p:cNvPr>
          <p:cNvSpPr>
            <a:spLocks noGrp="1"/>
          </p:cNvSpPr>
          <p:nvPr>
            <p:ph type="sldNum" sz="quarter" idx="12"/>
          </p:nvPr>
        </p:nvSpPr>
        <p:spPr/>
        <p:txBody>
          <a:bodyPr/>
          <a:lstStyle/>
          <a:p>
            <a:fld id="{38E450EB-BA4E-4FAC-BF54-AABC0C89B02E}" type="slidenum">
              <a:rPr lang="es-CO" smtClean="0"/>
              <a:t>‹Nº›</a:t>
            </a:fld>
            <a:endParaRPr lang="es-CO"/>
          </a:p>
        </p:txBody>
      </p:sp>
    </p:spTree>
    <p:extLst>
      <p:ext uri="{BB962C8B-B14F-4D97-AF65-F5344CB8AC3E}">
        <p14:creationId xmlns:p14="http://schemas.microsoft.com/office/powerpoint/2010/main" val="724382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96E4C1-EE2C-4DF3-B95E-10353CE8FFA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936596D-34C7-480C-B7C7-AE611D66A8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FF39E0B-86F6-4DD6-8E06-F04AB91D8698}"/>
              </a:ext>
            </a:extLst>
          </p:cNvPr>
          <p:cNvSpPr>
            <a:spLocks noGrp="1"/>
          </p:cNvSpPr>
          <p:nvPr>
            <p:ph type="dt" sz="half" idx="10"/>
          </p:nvPr>
        </p:nvSpPr>
        <p:spPr/>
        <p:txBody>
          <a:bodyPr/>
          <a:lstStyle/>
          <a:p>
            <a:fld id="{163E4E5A-E75E-4899-90F5-DDB39F3E781F}" type="datetimeFigureOut">
              <a:rPr lang="es-CO" smtClean="0"/>
              <a:t>19/08/2026</a:t>
            </a:fld>
            <a:endParaRPr lang="es-CO"/>
          </a:p>
        </p:txBody>
      </p:sp>
      <p:sp>
        <p:nvSpPr>
          <p:cNvPr id="5" name="Marcador de pie de página 4">
            <a:extLst>
              <a:ext uri="{FF2B5EF4-FFF2-40B4-BE49-F238E27FC236}">
                <a16:creationId xmlns:a16="http://schemas.microsoft.com/office/drawing/2014/main" id="{1F028C16-2CC1-490E-9309-92C8F9A0B58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2EC182E-E5DD-4074-AA33-D149FC8153A1}"/>
              </a:ext>
            </a:extLst>
          </p:cNvPr>
          <p:cNvSpPr>
            <a:spLocks noGrp="1"/>
          </p:cNvSpPr>
          <p:nvPr>
            <p:ph type="sldNum" sz="quarter" idx="12"/>
          </p:nvPr>
        </p:nvSpPr>
        <p:spPr/>
        <p:txBody>
          <a:bodyPr/>
          <a:lstStyle/>
          <a:p>
            <a:fld id="{38E450EB-BA4E-4FAC-BF54-AABC0C89B02E}" type="slidenum">
              <a:rPr lang="es-CO" smtClean="0"/>
              <a:t>‹Nº›</a:t>
            </a:fld>
            <a:endParaRPr lang="es-CO"/>
          </a:p>
        </p:txBody>
      </p:sp>
    </p:spTree>
    <p:extLst>
      <p:ext uri="{BB962C8B-B14F-4D97-AF65-F5344CB8AC3E}">
        <p14:creationId xmlns:p14="http://schemas.microsoft.com/office/powerpoint/2010/main" val="2612443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6F4A12-1EEC-4400-93DE-671E040EACB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844AD98-7D87-40F1-9981-C755DC42604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E43F4873-7AED-4F9D-9103-5818CC36D26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9FEDBBA8-578A-446A-800E-01BDB42C0678}"/>
              </a:ext>
            </a:extLst>
          </p:cNvPr>
          <p:cNvSpPr>
            <a:spLocks noGrp="1"/>
          </p:cNvSpPr>
          <p:nvPr>
            <p:ph type="dt" sz="half" idx="10"/>
          </p:nvPr>
        </p:nvSpPr>
        <p:spPr/>
        <p:txBody>
          <a:bodyPr/>
          <a:lstStyle/>
          <a:p>
            <a:fld id="{163E4E5A-E75E-4899-90F5-DDB39F3E781F}" type="datetimeFigureOut">
              <a:rPr lang="es-CO" smtClean="0"/>
              <a:t>19/08/2026</a:t>
            </a:fld>
            <a:endParaRPr lang="es-CO"/>
          </a:p>
        </p:txBody>
      </p:sp>
      <p:sp>
        <p:nvSpPr>
          <p:cNvPr id="6" name="Marcador de pie de página 5">
            <a:extLst>
              <a:ext uri="{FF2B5EF4-FFF2-40B4-BE49-F238E27FC236}">
                <a16:creationId xmlns:a16="http://schemas.microsoft.com/office/drawing/2014/main" id="{0082B379-A5D7-4342-86D7-62F9B931FFA0}"/>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1451239-35D4-4220-9B22-7EE6E22E4CF4}"/>
              </a:ext>
            </a:extLst>
          </p:cNvPr>
          <p:cNvSpPr>
            <a:spLocks noGrp="1"/>
          </p:cNvSpPr>
          <p:nvPr>
            <p:ph type="sldNum" sz="quarter" idx="12"/>
          </p:nvPr>
        </p:nvSpPr>
        <p:spPr/>
        <p:txBody>
          <a:bodyPr/>
          <a:lstStyle/>
          <a:p>
            <a:fld id="{38E450EB-BA4E-4FAC-BF54-AABC0C89B02E}" type="slidenum">
              <a:rPr lang="es-CO" smtClean="0"/>
              <a:t>‹Nº›</a:t>
            </a:fld>
            <a:endParaRPr lang="es-CO"/>
          </a:p>
        </p:txBody>
      </p:sp>
    </p:spTree>
    <p:extLst>
      <p:ext uri="{BB962C8B-B14F-4D97-AF65-F5344CB8AC3E}">
        <p14:creationId xmlns:p14="http://schemas.microsoft.com/office/powerpoint/2010/main" val="1304234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7EBB5A-6224-4348-9B94-4161FF84383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ECF24BE-9C24-4CA6-8A5C-36DBE9285B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ADEFA7D-A451-44F4-B5C6-2ACBE2F847E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EB200E4-6816-4997-87AF-39943A0870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501A54D-0CA9-4172-B839-F19F04CFF57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698EF700-2071-4D13-B6EE-34550DBEF63B}"/>
              </a:ext>
            </a:extLst>
          </p:cNvPr>
          <p:cNvSpPr>
            <a:spLocks noGrp="1"/>
          </p:cNvSpPr>
          <p:nvPr>
            <p:ph type="dt" sz="half" idx="10"/>
          </p:nvPr>
        </p:nvSpPr>
        <p:spPr/>
        <p:txBody>
          <a:bodyPr/>
          <a:lstStyle/>
          <a:p>
            <a:fld id="{163E4E5A-E75E-4899-90F5-DDB39F3E781F}" type="datetimeFigureOut">
              <a:rPr lang="es-CO" smtClean="0"/>
              <a:t>19/08/2026</a:t>
            </a:fld>
            <a:endParaRPr lang="es-CO"/>
          </a:p>
        </p:txBody>
      </p:sp>
      <p:sp>
        <p:nvSpPr>
          <p:cNvPr id="8" name="Marcador de pie de página 7">
            <a:extLst>
              <a:ext uri="{FF2B5EF4-FFF2-40B4-BE49-F238E27FC236}">
                <a16:creationId xmlns:a16="http://schemas.microsoft.com/office/drawing/2014/main" id="{B3078420-F81E-408E-A9AB-0F92562DAB9F}"/>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34306ED8-BF80-4607-B42A-65A6846C62CB}"/>
              </a:ext>
            </a:extLst>
          </p:cNvPr>
          <p:cNvSpPr>
            <a:spLocks noGrp="1"/>
          </p:cNvSpPr>
          <p:nvPr>
            <p:ph type="sldNum" sz="quarter" idx="12"/>
          </p:nvPr>
        </p:nvSpPr>
        <p:spPr/>
        <p:txBody>
          <a:bodyPr/>
          <a:lstStyle/>
          <a:p>
            <a:fld id="{38E450EB-BA4E-4FAC-BF54-AABC0C89B02E}" type="slidenum">
              <a:rPr lang="es-CO" smtClean="0"/>
              <a:t>‹Nº›</a:t>
            </a:fld>
            <a:endParaRPr lang="es-CO"/>
          </a:p>
        </p:txBody>
      </p:sp>
    </p:spTree>
    <p:extLst>
      <p:ext uri="{BB962C8B-B14F-4D97-AF65-F5344CB8AC3E}">
        <p14:creationId xmlns:p14="http://schemas.microsoft.com/office/powerpoint/2010/main" val="1441987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1C3652-A105-4D57-9F69-2D3E81B532E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BF5AD369-43CB-4B39-8D56-C54136FF9698}"/>
              </a:ext>
            </a:extLst>
          </p:cNvPr>
          <p:cNvSpPr>
            <a:spLocks noGrp="1"/>
          </p:cNvSpPr>
          <p:nvPr>
            <p:ph type="dt" sz="half" idx="10"/>
          </p:nvPr>
        </p:nvSpPr>
        <p:spPr/>
        <p:txBody>
          <a:bodyPr/>
          <a:lstStyle/>
          <a:p>
            <a:fld id="{163E4E5A-E75E-4899-90F5-DDB39F3E781F}" type="datetimeFigureOut">
              <a:rPr lang="es-CO" smtClean="0"/>
              <a:t>19/08/2026</a:t>
            </a:fld>
            <a:endParaRPr lang="es-CO"/>
          </a:p>
        </p:txBody>
      </p:sp>
      <p:sp>
        <p:nvSpPr>
          <p:cNvPr id="4" name="Marcador de pie de página 3">
            <a:extLst>
              <a:ext uri="{FF2B5EF4-FFF2-40B4-BE49-F238E27FC236}">
                <a16:creationId xmlns:a16="http://schemas.microsoft.com/office/drawing/2014/main" id="{C1DF48D6-33A3-43B8-9361-244B90D5F454}"/>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37288C44-51DA-4E62-85C0-E253415A685B}"/>
              </a:ext>
            </a:extLst>
          </p:cNvPr>
          <p:cNvSpPr>
            <a:spLocks noGrp="1"/>
          </p:cNvSpPr>
          <p:nvPr>
            <p:ph type="sldNum" sz="quarter" idx="12"/>
          </p:nvPr>
        </p:nvSpPr>
        <p:spPr/>
        <p:txBody>
          <a:bodyPr/>
          <a:lstStyle/>
          <a:p>
            <a:fld id="{38E450EB-BA4E-4FAC-BF54-AABC0C89B02E}" type="slidenum">
              <a:rPr lang="es-CO" smtClean="0"/>
              <a:t>‹Nº›</a:t>
            </a:fld>
            <a:endParaRPr lang="es-CO"/>
          </a:p>
        </p:txBody>
      </p:sp>
    </p:spTree>
    <p:extLst>
      <p:ext uri="{BB962C8B-B14F-4D97-AF65-F5344CB8AC3E}">
        <p14:creationId xmlns:p14="http://schemas.microsoft.com/office/powerpoint/2010/main" val="182281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F7FBCCC-D27A-4A96-85AB-1BAF649347A6}"/>
              </a:ext>
            </a:extLst>
          </p:cNvPr>
          <p:cNvSpPr>
            <a:spLocks noGrp="1"/>
          </p:cNvSpPr>
          <p:nvPr>
            <p:ph type="dt" sz="half" idx="10"/>
          </p:nvPr>
        </p:nvSpPr>
        <p:spPr/>
        <p:txBody>
          <a:bodyPr/>
          <a:lstStyle/>
          <a:p>
            <a:fld id="{163E4E5A-E75E-4899-90F5-DDB39F3E781F}" type="datetimeFigureOut">
              <a:rPr lang="es-CO" smtClean="0"/>
              <a:t>19/08/2026</a:t>
            </a:fld>
            <a:endParaRPr lang="es-CO"/>
          </a:p>
        </p:txBody>
      </p:sp>
      <p:sp>
        <p:nvSpPr>
          <p:cNvPr id="3" name="Marcador de pie de página 2">
            <a:extLst>
              <a:ext uri="{FF2B5EF4-FFF2-40B4-BE49-F238E27FC236}">
                <a16:creationId xmlns:a16="http://schemas.microsoft.com/office/drawing/2014/main" id="{D1C6C721-C0F1-483D-97A4-E08FDBE340C0}"/>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02EA1B9F-FE52-448D-B841-4A00EEA73E75}"/>
              </a:ext>
            </a:extLst>
          </p:cNvPr>
          <p:cNvSpPr>
            <a:spLocks noGrp="1"/>
          </p:cNvSpPr>
          <p:nvPr>
            <p:ph type="sldNum" sz="quarter" idx="12"/>
          </p:nvPr>
        </p:nvSpPr>
        <p:spPr/>
        <p:txBody>
          <a:bodyPr/>
          <a:lstStyle/>
          <a:p>
            <a:fld id="{38E450EB-BA4E-4FAC-BF54-AABC0C89B02E}" type="slidenum">
              <a:rPr lang="es-CO" smtClean="0"/>
              <a:t>‹Nº›</a:t>
            </a:fld>
            <a:endParaRPr lang="es-CO"/>
          </a:p>
        </p:txBody>
      </p:sp>
    </p:spTree>
    <p:extLst>
      <p:ext uri="{BB962C8B-B14F-4D97-AF65-F5344CB8AC3E}">
        <p14:creationId xmlns:p14="http://schemas.microsoft.com/office/powerpoint/2010/main" val="1109782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A02A91-1D28-42A9-B21E-EFA7DDA2B41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5294BA1-5B56-44D0-B843-FE7B2B25AA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BF0E838D-4388-42AC-AC13-A32F7F7E46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8099FCE-0501-4EC2-A21B-EDDDE2E64976}"/>
              </a:ext>
            </a:extLst>
          </p:cNvPr>
          <p:cNvSpPr>
            <a:spLocks noGrp="1"/>
          </p:cNvSpPr>
          <p:nvPr>
            <p:ph type="dt" sz="half" idx="10"/>
          </p:nvPr>
        </p:nvSpPr>
        <p:spPr/>
        <p:txBody>
          <a:bodyPr/>
          <a:lstStyle/>
          <a:p>
            <a:fld id="{163E4E5A-E75E-4899-90F5-DDB39F3E781F}" type="datetimeFigureOut">
              <a:rPr lang="es-CO" smtClean="0"/>
              <a:t>19/08/2026</a:t>
            </a:fld>
            <a:endParaRPr lang="es-CO"/>
          </a:p>
        </p:txBody>
      </p:sp>
      <p:sp>
        <p:nvSpPr>
          <p:cNvPr id="6" name="Marcador de pie de página 5">
            <a:extLst>
              <a:ext uri="{FF2B5EF4-FFF2-40B4-BE49-F238E27FC236}">
                <a16:creationId xmlns:a16="http://schemas.microsoft.com/office/drawing/2014/main" id="{12EAC3F1-97ED-4708-B0C0-2A867F7395F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388FABF-430B-4BBC-AAF0-0C3836E0A54A}"/>
              </a:ext>
            </a:extLst>
          </p:cNvPr>
          <p:cNvSpPr>
            <a:spLocks noGrp="1"/>
          </p:cNvSpPr>
          <p:nvPr>
            <p:ph type="sldNum" sz="quarter" idx="12"/>
          </p:nvPr>
        </p:nvSpPr>
        <p:spPr/>
        <p:txBody>
          <a:bodyPr/>
          <a:lstStyle/>
          <a:p>
            <a:fld id="{38E450EB-BA4E-4FAC-BF54-AABC0C89B02E}" type="slidenum">
              <a:rPr lang="es-CO" smtClean="0"/>
              <a:t>‹Nº›</a:t>
            </a:fld>
            <a:endParaRPr lang="es-CO"/>
          </a:p>
        </p:txBody>
      </p:sp>
    </p:spTree>
    <p:extLst>
      <p:ext uri="{BB962C8B-B14F-4D97-AF65-F5344CB8AC3E}">
        <p14:creationId xmlns:p14="http://schemas.microsoft.com/office/powerpoint/2010/main" val="292699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43730-08F4-474D-BF3B-2673A2E08C8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931ADB43-4142-4E41-9C02-2EC1C4EE5F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FD40C94E-B1B0-42F9-8668-259526B6FF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E67A2EA-ED3A-479F-B942-4062C6647161}"/>
              </a:ext>
            </a:extLst>
          </p:cNvPr>
          <p:cNvSpPr>
            <a:spLocks noGrp="1"/>
          </p:cNvSpPr>
          <p:nvPr>
            <p:ph type="dt" sz="half" idx="10"/>
          </p:nvPr>
        </p:nvSpPr>
        <p:spPr/>
        <p:txBody>
          <a:bodyPr/>
          <a:lstStyle/>
          <a:p>
            <a:fld id="{163E4E5A-E75E-4899-90F5-DDB39F3E781F}" type="datetimeFigureOut">
              <a:rPr lang="es-CO" smtClean="0"/>
              <a:t>19/08/2026</a:t>
            </a:fld>
            <a:endParaRPr lang="es-CO"/>
          </a:p>
        </p:txBody>
      </p:sp>
      <p:sp>
        <p:nvSpPr>
          <p:cNvPr id="6" name="Marcador de pie de página 5">
            <a:extLst>
              <a:ext uri="{FF2B5EF4-FFF2-40B4-BE49-F238E27FC236}">
                <a16:creationId xmlns:a16="http://schemas.microsoft.com/office/drawing/2014/main" id="{D0C577A8-F277-4E96-AC0F-E0581A09E36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559C557-34C4-49D7-B43D-1D70DA14722C}"/>
              </a:ext>
            </a:extLst>
          </p:cNvPr>
          <p:cNvSpPr>
            <a:spLocks noGrp="1"/>
          </p:cNvSpPr>
          <p:nvPr>
            <p:ph type="sldNum" sz="quarter" idx="12"/>
          </p:nvPr>
        </p:nvSpPr>
        <p:spPr/>
        <p:txBody>
          <a:bodyPr/>
          <a:lstStyle/>
          <a:p>
            <a:fld id="{38E450EB-BA4E-4FAC-BF54-AABC0C89B02E}" type="slidenum">
              <a:rPr lang="es-CO" smtClean="0"/>
              <a:t>‹Nº›</a:t>
            </a:fld>
            <a:endParaRPr lang="es-CO"/>
          </a:p>
        </p:txBody>
      </p:sp>
    </p:spTree>
    <p:extLst>
      <p:ext uri="{BB962C8B-B14F-4D97-AF65-F5344CB8AC3E}">
        <p14:creationId xmlns:p14="http://schemas.microsoft.com/office/powerpoint/2010/main" val="3911898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59DA3E-683D-49C3-B835-5DA47B06192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82A7221-F084-498B-A2A3-827959A7040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5E26429-F5E6-4B51-8B8E-E05BD7856223}"/>
              </a:ext>
            </a:extLst>
          </p:cNvPr>
          <p:cNvSpPr>
            <a:spLocks noGrp="1"/>
          </p:cNvSpPr>
          <p:nvPr>
            <p:ph type="dt" sz="half" idx="10"/>
          </p:nvPr>
        </p:nvSpPr>
        <p:spPr/>
        <p:txBody>
          <a:bodyPr/>
          <a:lstStyle/>
          <a:p>
            <a:fld id="{163E4E5A-E75E-4899-90F5-DDB39F3E781F}" type="datetimeFigureOut">
              <a:rPr lang="es-CO" smtClean="0"/>
              <a:t>19/08/2026</a:t>
            </a:fld>
            <a:endParaRPr lang="es-CO"/>
          </a:p>
        </p:txBody>
      </p:sp>
      <p:sp>
        <p:nvSpPr>
          <p:cNvPr id="5" name="Marcador de pie de página 4">
            <a:extLst>
              <a:ext uri="{FF2B5EF4-FFF2-40B4-BE49-F238E27FC236}">
                <a16:creationId xmlns:a16="http://schemas.microsoft.com/office/drawing/2014/main" id="{9910D87B-E1BE-4DE4-9F60-CD7364B24B1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D6E0DB5-B959-49A6-9256-FDCF4D4DF6E9}"/>
              </a:ext>
            </a:extLst>
          </p:cNvPr>
          <p:cNvSpPr>
            <a:spLocks noGrp="1"/>
          </p:cNvSpPr>
          <p:nvPr>
            <p:ph type="sldNum" sz="quarter" idx="12"/>
          </p:nvPr>
        </p:nvSpPr>
        <p:spPr/>
        <p:txBody>
          <a:bodyPr/>
          <a:lstStyle/>
          <a:p>
            <a:fld id="{38E450EB-BA4E-4FAC-BF54-AABC0C89B02E}" type="slidenum">
              <a:rPr lang="es-CO" smtClean="0"/>
              <a:t>‹Nº›</a:t>
            </a:fld>
            <a:endParaRPr lang="es-CO"/>
          </a:p>
        </p:txBody>
      </p:sp>
    </p:spTree>
    <p:extLst>
      <p:ext uri="{BB962C8B-B14F-4D97-AF65-F5344CB8AC3E}">
        <p14:creationId xmlns:p14="http://schemas.microsoft.com/office/powerpoint/2010/main" val="850115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088A24B-644E-406E-86FA-07F4B0DB5A7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082AB56-3945-4933-BAEA-72759D36250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F9CA228-69BD-4106-8570-761E9E57B1D6}"/>
              </a:ext>
            </a:extLst>
          </p:cNvPr>
          <p:cNvSpPr>
            <a:spLocks noGrp="1"/>
          </p:cNvSpPr>
          <p:nvPr>
            <p:ph type="dt" sz="half" idx="10"/>
          </p:nvPr>
        </p:nvSpPr>
        <p:spPr/>
        <p:txBody>
          <a:bodyPr/>
          <a:lstStyle/>
          <a:p>
            <a:fld id="{163E4E5A-E75E-4899-90F5-DDB39F3E781F}" type="datetimeFigureOut">
              <a:rPr lang="es-CO" smtClean="0"/>
              <a:t>19/08/2026</a:t>
            </a:fld>
            <a:endParaRPr lang="es-CO"/>
          </a:p>
        </p:txBody>
      </p:sp>
      <p:sp>
        <p:nvSpPr>
          <p:cNvPr id="5" name="Marcador de pie de página 4">
            <a:extLst>
              <a:ext uri="{FF2B5EF4-FFF2-40B4-BE49-F238E27FC236}">
                <a16:creationId xmlns:a16="http://schemas.microsoft.com/office/drawing/2014/main" id="{40BA0E29-7829-410A-9C8D-1D51D1C56FC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7341274-8A44-49CB-A1AD-9434CB354FC9}"/>
              </a:ext>
            </a:extLst>
          </p:cNvPr>
          <p:cNvSpPr>
            <a:spLocks noGrp="1"/>
          </p:cNvSpPr>
          <p:nvPr>
            <p:ph type="sldNum" sz="quarter" idx="12"/>
          </p:nvPr>
        </p:nvSpPr>
        <p:spPr/>
        <p:txBody>
          <a:bodyPr/>
          <a:lstStyle/>
          <a:p>
            <a:fld id="{38E450EB-BA4E-4FAC-BF54-AABC0C89B02E}" type="slidenum">
              <a:rPr lang="es-CO" smtClean="0"/>
              <a:t>‹Nº›</a:t>
            </a:fld>
            <a:endParaRPr lang="es-CO"/>
          </a:p>
        </p:txBody>
      </p:sp>
    </p:spTree>
    <p:extLst>
      <p:ext uri="{BB962C8B-B14F-4D97-AF65-F5344CB8AC3E}">
        <p14:creationId xmlns:p14="http://schemas.microsoft.com/office/powerpoint/2010/main" val="2271293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15368ED-5B28-4202-9E33-32EC05B8A5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2C0C07D-486C-406F-ABEB-E3692C2CE8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61E458E-9971-4F89-8F75-BCD52B5927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3E4E5A-E75E-4899-90F5-DDB39F3E781F}" type="datetimeFigureOut">
              <a:rPr lang="es-CO" smtClean="0"/>
              <a:t>19/08/2026</a:t>
            </a:fld>
            <a:endParaRPr lang="es-CO"/>
          </a:p>
        </p:txBody>
      </p:sp>
      <p:sp>
        <p:nvSpPr>
          <p:cNvPr id="5" name="Marcador de pie de página 4">
            <a:extLst>
              <a:ext uri="{FF2B5EF4-FFF2-40B4-BE49-F238E27FC236}">
                <a16:creationId xmlns:a16="http://schemas.microsoft.com/office/drawing/2014/main" id="{0113CD78-927C-4944-A41E-D7C93DAE7B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BB0AC53E-55C5-4980-8039-C8B4C48B2B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E450EB-BA4E-4FAC-BF54-AABC0C89B02E}" type="slidenum">
              <a:rPr lang="es-CO" smtClean="0"/>
              <a:t>‹Nº›</a:t>
            </a:fld>
            <a:endParaRPr lang="es-CO"/>
          </a:p>
        </p:txBody>
      </p:sp>
    </p:spTree>
    <p:extLst>
      <p:ext uri="{BB962C8B-B14F-4D97-AF65-F5344CB8AC3E}">
        <p14:creationId xmlns:p14="http://schemas.microsoft.com/office/powerpoint/2010/main" val="4191097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hyperlink" Target="https://discretas1-udea.github.io/discretas1-udea-20262/lessons/mod1/clase4/" TargetMode="External"/><Relationship Id="rId7" Type="http://schemas.openxmlformats.org/officeDocument/2006/relationships/hyperlink" Target="https://www.edstirner.com/biblioteca-online/obra/comics-existenciales/rene-descartes/" TargetMode="External"/><Relationship Id="rId2" Type="http://schemas.openxmlformats.org/officeDocument/2006/relationships/hyperlink" Target="https://discretas1-udea.github.io/discretas1-udea-20262" TargetMode="Externa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discretas1-udea.github.io/discretas1-udea-20262/assets/slides/clase3.pdf" TargetMode="External"/><Relationship Id="rId4" Type="http://schemas.openxmlformats.org/officeDocument/2006/relationships/hyperlink" Target="https://discretas1-udea.github.io/discretas1-udea-20262/lessons/mod1/clase4_autoevaluacion/"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51E613-42B3-43C2-8E09-AFBF8FB95BB6}"/>
              </a:ext>
            </a:extLst>
          </p:cNvPr>
          <p:cNvSpPr>
            <a:spLocks noGrp="1"/>
          </p:cNvSpPr>
          <p:nvPr>
            <p:ph type="ctrTitle"/>
          </p:nvPr>
        </p:nvSpPr>
        <p:spPr/>
        <p:txBody>
          <a:bodyPr/>
          <a:lstStyle/>
          <a:p>
            <a:r>
              <a:rPr lang="es-CO" b="1" dirty="0"/>
              <a:t>Matemáticas Discretas 1</a:t>
            </a:r>
          </a:p>
        </p:txBody>
      </p:sp>
      <p:sp>
        <p:nvSpPr>
          <p:cNvPr id="3" name="Subtítulo 2">
            <a:extLst>
              <a:ext uri="{FF2B5EF4-FFF2-40B4-BE49-F238E27FC236}">
                <a16:creationId xmlns:a16="http://schemas.microsoft.com/office/drawing/2014/main" id="{4EE98DC3-5DEF-4734-A422-0A017D4D3503}"/>
              </a:ext>
            </a:extLst>
          </p:cNvPr>
          <p:cNvSpPr>
            <a:spLocks noGrp="1"/>
          </p:cNvSpPr>
          <p:nvPr>
            <p:ph type="subTitle" idx="1"/>
          </p:nvPr>
        </p:nvSpPr>
        <p:spPr>
          <a:xfrm>
            <a:off x="651163" y="3602038"/>
            <a:ext cx="11097491" cy="1815089"/>
          </a:xfrm>
        </p:spPr>
        <p:txBody>
          <a:bodyPr>
            <a:normAutofit fontScale="92500" lnSpcReduction="20000"/>
          </a:bodyPr>
          <a:lstStyle/>
          <a:p>
            <a:r>
              <a:rPr lang="es-CO" sz="3900" b="1" dirty="0"/>
              <a:t>Clase 05 – Enfoque axiomático</a:t>
            </a:r>
          </a:p>
          <a:p>
            <a:r>
              <a:rPr lang="es-CO" sz="3000" dirty="0"/>
              <a:t>Universidad de Antioquia</a:t>
            </a:r>
          </a:p>
          <a:p>
            <a:r>
              <a:rPr lang="es-CO" sz="3000" dirty="0"/>
              <a:t>Facultad de Ingeniería</a:t>
            </a:r>
          </a:p>
          <a:p>
            <a:r>
              <a:rPr lang="es-CO" sz="3000" dirty="0"/>
              <a:t>Ingeniería de Sistemas</a:t>
            </a:r>
          </a:p>
        </p:txBody>
      </p:sp>
    </p:spTree>
    <p:extLst>
      <p:ext uri="{BB962C8B-B14F-4D97-AF65-F5344CB8AC3E}">
        <p14:creationId xmlns:p14="http://schemas.microsoft.com/office/powerpoint/2010/main" val="2704810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443345" y="229590"/>
            <a:ext cx="10515600" cy="725185"/>
          </a:xfrm>
        </p:spPr>
        <p:txBody>
          <a:bodyPr/>
          <a:lstStyle/>
          <a:p>
            <a:r>
              <a:rPr lang="es-CO" dirty="0"/>
              <a:t>Recursos de esta clase</a:t>
            </a:r>
          </a:p>
        </p:txBody>
      </p:sp>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443345" y="1085954"/>
            <a:ext cx="11014364" cy="2562506"/>
          </a:xfrm>
        </p:spPr>
        <p:txBody>
          <a:bodyPr>
            <a:normAutofit/>
          </a:bodyPr>
          <a:lstStyle/>
          <a:p>
            <a:r>
              <a:rPr lang="es-CO" sz="2400" b="1" dirty="0"/>
              <a:t>Pagina web</a:t>
            </a:r>
            <a:r>
              <a:rPr lang="es-CO" sz="2400" dirty="0"/>
              <a:t>: </a:t>
            </a:r>
            <a:r>
              <a:rPr lang="es-CO" sz="2400" dirty="0">
                <a:hlinkClick r:id="rId2"/>
              </a:rPr>
              <a:t>https://discretas1-udea.github.io/discretas1-udea-20262</a:t>
            </a:r>
            <a:endParaRPr lang="es-CO" sz="2400" dirty="0"/>
          </a:p>
          <a:p>
            <a:pPr lvl="1"/>
            <a:r>
              <a:rPr lang="es-CO" sz="2200" b="1" dirty="0"/>
              <a:t>Para consulta adicional</a:t>
            </a:r>
            <a:r>
              <a:rPr lang="es-CO" sz="2200" dirty="0"/>
              <a:t>: </a:t>
            </a:r>
          </a:p>
          <a:p>
            <a:pPr lvl="2"/>
            <a:r>
              <a:rPr lang="es-CO" b="1" dirty="0"/>
              <a:t>Teoría</a:t>
            </a:r>
            <a:r>
              <a:rPr lang="es-CO" dirty="0"/>
              <a:t>: </a:t>
            </a:r>
            <a:r>
              <a:rPr lang="es-CO" dirty="0">
                <a:hlinkClick r:id="rId3"/>
              </a:rPr>
              <a:t>https://discretas1-udea.github.io/discretas1-udea-20262/lessons/mod1/clase4/</a:t>
            </a:r>
            <a:endParaRPr lang="es-CO" dirty="0"/>
          </a:p>
          <a:p>
            <a:pPr lvl="2"/>
            <a:r>
              <a:rPr lang="es-CO" b="1" dirty="0"/>
              <a:t>Autoevaluación</a:t>
            </a:r>
            <a:r>
              <a:rPr lang="es-CO" dirty="0"/>
              <a:t>: </a:t>
            </a:r>
            <a:r>
              <a:rPr lang="es-CO" dirty="0">
                <a:hlinkClick r:id="rId4"/>
              </a:rPr>
              <a:t>https://discretas1-udea.github.io/discretas1-udea-20262/lessons/mod1/clase4_autoevaluacion/</a:t>
            </a:r>
            <a:r>
              <a:rPr lang="es-CO" dirty="0"/>
              <a:t> </a:t>
            </a:r>
          </a:p>
          <a:p>
            <a:pPr lvl="1"/>
            <a:r>
              <a:rPr lang="es-CO" sz="2200" b="1" dirty="0"/>
              <a:t>Diapositivas complementarias</a:t>
            </a:r>
            <a:r>
              <a:rPr lang="es-CO" sz="2200" dirty="0"/>
              <a:t>:</a:t>
            </a:r>
            <a:r>
              <a:rPr lang="es-CO" dirty="0"/>
              <a:t> </a:t>
            </a:r>
          </a:p>
          <a:p>
            <a:pPr lvl="2"/>
            <a:r>
              <a:rPr lang="es-CO" dirty="0">
                <a:hlinkClick r:id="rId5"/>
              </a:rPr>
              <a:t>https://discretas1-udea.github.io/discretas1-udea-20262/assets/slides/clase3.pdf</a:t>
            </a:r>
            <a:r>
              <a:rPr lang="es-CO" dirty="0"/>
              <a:t>  </a:t>
            </a:r>
          </a:p>
        </p:txBody>
      </p:sp>
      <p:sp>
        <p:nvSpPr>
          <p:cNvPr id="5" name="CuadroTexto 4">
            <a:extLst>
              <a:ext uri="{FF2B5EF4-FFF2-40B4-BE49-F238E27FC236}">
                <a16:creationId xmlns:a16="http://schemas.microsoft.com/office/drawing/2014/main" id="{13118C7A-DEAE-4B8C-AA75-2E8C3E00543A}"/>
              </a:ext>
            </a:extLst>
          </p:cNvPr>
          <p:cNvSpPr txBox="1"/>
          <p:nvPr/>
        </p:nvSpPr>
        <p:spPr>
          <a:xfrm>
            <a:off x="4506190" y="4042248"/>
            <a:ext cx="1780306" cy="400110"/>
          </a:xfrm>
          <a:prstGeom prst="rect">
            <a:avLst/>
          </a:prstGeom>
          <a:noFill/>
        </p:spPr>
        <p:txBody>
          <a:bodyPr wrap="square">
            <a:spAutoFit/>
          </a:bodyPr>
          <a:lstStyle/>
          <a:p>
            <a:pPr algn="ctr"/>
            <a:r>
              <a:rPr lang="es-CO" sz="2000" b="1" dirty="0"/>
              <a:t>coito ergo sum</a:t>
            </a:r>
          </a:p>
        </p:txBody>
      </p:sp>
      <p:pic>
        <p:nvPicPr>
          <p:cNvPr id="1026" name="Picture 2">
            <a:extLst>
              <a:ext uri="{FF2B5EF4-FFF2-40B4-BE49-F238E27FC236}">
                <a16:creationId xmlns:a16="http://schemas.microsoft.com/office/drawing/2014/main" id="{5FD394EC-16F3-40F9-85C4-7601D08728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3606" y="3699661"/>
            <a:ext cx="1798933" cy="2746371"/>
          </a:xfrm>
          <a:prstGeom prst="rect">
            <a:avLst/>
          </a:prstGeom>
          <a:noFill/>
          <a:extLst>
            <a:ext uri="{909E8E84-426E-40DD-AFC4-6F175D3DCCD1}">
              <a14:hiddenFill xmlns:a14="http://schemas.microsoft.com/office/drawing/2010/main">
                <a:solidFill>
                  <a:srgbClr val="FFFFFF"/>
                </a:solidFill>
              </a14:hiddenFill>
            </a:ext>
          </a:extLst>
        </p:spPr>
      </p:pic>
      <p:sp>
        <p:nvSpPr>
          <p:cNvPr id="7" name="Bocadillo nube: nube 6">
            <a:extLst>
              <a:ext uri="{FF2B5EF4-FFF2-40B4-BE49-F238E27FC236}">
                <a16:creationId xmlns:a16="http://schemas.microsoft.com/office/drawing/2014/main" id="{C144F0C2-CA65-46C8-A99C-24FE7D46EDC2}"/>
              </a:ext>
            </a:extLst>
          </p:cNvPr>
          <p:cNvSpPr/>
          <p:nvPr/>
        </p:nvSpPr>
        <p:spPr>
          <a:xfrm>
            <a:off x="4197925" y="3882041"/>
            <a:ext cx="2396836" cy="967050"/>
          </a:xfrm>
          <a:prstGeom prst="cloudCallout">
            <a:avLst>
              <a:gd name="adj1" fmla="val -92509"/>
              <a:gd name="adj2" fmla="val -1156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CuadroTexto 7">
            <a:extLst>
              <a:ext uri="{FF2B5EF4-FFF2-40B4-BE49-F238E27FC236}">
                <a16:creationId xmlns:a16="http://schemas.microsoft.com/office/drawing/2014/main" id="{A2BAA104-03C4-4F79-A07D-D2056ADE40D2}"/>
              </a:ext>
            </a:extLst>
          </p:cNvPr>
          <p:cNvSpPr txBox="1"/>
          <p:nvPr/>
        </p:nvSpPr>
        <p:spPr>
          <a:xfrm>
            <a:off x="734926" y="6446032"/>
            <a:ext cx="3462999" cy="276999"/>
          </a:xfrm>
          <a:prstGeom prst="rect">
            <a:avLst/>
          </a:prstGeom>
          <a:noFill/>
        </p:spPr>
        <p:txBody>
          <a:bodyPr wrap="none" rtlCol="0">
            <a:spAutoFit/>
          </a:bodyPr>
          <a:lstStyle/>
          <a:p>
            <a:r>
              <a:rPr lang="es-CO" sz="1200" dirty="0"/>
              <a:t>Imagen tomada de </a:t>
            </a:r>
            <a:r>
              <a:rPr lang="es-CO" sz="1200" b="1" dirty="0">
                <a:hlinkClick r:id="rId7"/>
              </a:rPr>
              <a:t>Ed Stirner – Cómics existenciales</a:t>
            </a:r>
            <a:endParaRPr lang="es-CO" sz="1200" b="1" dirty="0"/>
          </a:p>
        </p:txBody>
      </p:sp>
      <p:pic>
        <p:nvPicPr>
          <p:cNvPr id="1028" name="Picture 4" descr="Condorito... ¡ Plop !">
            <a:extLst>
              <a:ext uri="{FF2B5EF4-FFF2-40B4-BE49-F238E27FC236}">
                <a16:creationId xmlns:a16="http://schemas.microsoft.com/office/drawing/2014/main" id="{997A996F-0F2A-4F90-AB26-95EDA0DE557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01638" y="4304858"/>
            <a:ext cx="2798326" cy="173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6998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360218" y="226581"/>
            <a:ext cx="11055927" cy="781638"/>
          </a:xfrm>
        </p:spPr>
        <p:txBody>
          <a:bodyPr/>
          <a:lstStyle/>
          <a:p>
            <a:r>
              <a:rPr lang="es-CO" dirty="0"/>
              <a:t>Repaso</a:t>
            </a:r>
          </a:p>
        </p:txBody>
      </p:sp>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360218" y="1008219"/>
            <a:ext cx="11471563" cy="446508"/>
          </a:xfrm>
        </p:spPr>
        <p:txBody>
          <a:bodyPr>
            <a:normAutofit/>
          </a:bodyPr>
          <a:lstStyle/>
          <a:p>
            <a:pPr marL="0" indent="0">
              <a:buNone/>
            </a:pPr>
            <a:r>
              <a:rPr lang="es-MX" sz="2400" b="1" dirty="0">
                <a:solidFill>
                  <a:srgbClr val="131314"/>
                </a:solidFill>
              </a:rPr>
              <a:t>Tablas de verdad</a:t>
            </a:r>
            <a:endParaRPr lang="es-MX" sz="2400" b="1" dirty="0"/>
          </a:p>
          <a:p>
            <a:pPr marL="457200" indent="-457200">
              <a:buFont typeface="+mj-lt"/>
              <a:buAutoNum type="arabicPeriod"/>
            </a:pPr>
            <a:endParaRPr lang="es-MX" sz="2400" dirty="0"/>
          </a:p>
          <a:p>
            <a:pPr marL="457200" indent="-457200">
              <a:buFont typeface="+mj-lt"/>
              <a:buAutoNum type="arabicPeriod"/>
            </a:pPr>
            <a:endParaRPr lang="es-MX" sz="2400" dirty="0"/>
          </a:p>
          <a:p>
            <a:pPr marL="457200" indent="-457200">
              <a:buFont typeface="+mj-lt"/>
              <a:buAutoNum type="arabicPeriod"/>
            </a:pPr>
            <a:endParaRPr lang="es-MX" sz="2400" dirty="0"/>
          </a:p>
          <a:p>
            <a:pPr marL="0" indent="0">
              <a:buNone/>
            </a:pPr>
            <a:endParaRPr lang="es-MX" sz="2400" dirty="0"/>
          </a:p>
          <a:p>
            <a:pPr marL="0" indent="0">
              <a:buNone/>
            </a:pPr>
            <a:endParaRPr lang="es-MX" sz="2400" b="1" dirty="0"/>
          </a:p>
          <a:p>
            <a:pPr marL="0" indent="0">
              <a:buNone/>
            </a:pPr>
            <a:endParaRPr lang="es-MX" sz="2400" b="1" dirty="0"/>
          </a:p>
        </p:txBody>
      </p:sp>
      <mc:AlternateContent xmlns:mc="http://schemas.openxmlformats.org/markup-compatibility/2006">
        <mc:Choice xmlns:a14="http://schemas.microsoft.com/office/drawing/2010/main" Requires="a14">
          <p:graphicFrame>
            <p:nvGraphicFramePr>
              <p:cNvPr id="4" name="Tabla 3">
                <a:extLst>
                  <a:ext uri="{FF2B5EF4-FFF2-40B4-BE49-F238E27FC236}">
                    <a16:creationId xmlns:a16="http://schemas.microsoft.com/office/drawing/2014/main" id="{63BB3C40-812C-46D7-81FB-A38FE4576A77}"/>
                  </a:ext>
                </a:extLst>
              </p:cNvPr>
              <p:cNvGraphicFramePr>
                <a:graphicFrameLocks noGrp="1"/>
              </p:cNvGraphicFramePr>
              <p:nvPr>
                <p:extLst>
                  <p:ext uri="{D42A27DB-BD31-4B8C-83A1-F6EECF244321}">
                    <p14:modId xmlns:p14="http://schemas.microsoft.com/office/powerpoint/2010/main" val="1246116081"/>
                  </p:ext>
                </p:extLst>
              </p:nvPr>
            </p:nvGraphicFramePr>
            <p:xfrm>
              <a:off x="1855164" y="2957946"/>
              <a:ext cx="1135628" cy="1188720"/>
            </p:xfrm>
            <a:graphic>
              <a:graphicData uri="http://schemas.openxmlformats.org/drawingml/2006/table">
                <a:tbl>
                  <a:tblPr firstRow="1" bandRow="1"/>
                  <a:tblGrid>
                    <a:gridCol w="567814">
                      <a:extLst>
                        <a:ext uri="{9D8B030D-6E8A-4147-A177-3AD203B41FA5}">
                          <a16:colId xmlns:a16="http://schemas.microsoft.com/office/drawing/2014/main" val="384604534"/>
                        </a:ext>
                      </a:extLst>
                    </a:gridCol>
                    <a:gridCol w="567814">
                      <a:extLst>
                        <a:ext uri="{9D8B030D-6E8A-4147-A177-3AD203B41FA5}">
                          <a16:colId xmlns:a16="http://schemas.microsoft.com/office/drawing/2014/main" val="79869298"/>
                        </a:ext>
                      </a:extLst>
                    </a:gridCol>
                  </a:tblGrid>
                  <a:tr h="352522">
                    <a:tc>
                      <a:txBody>
                        <a:bodyPr/>
                        <a:lstStyle/>
                        <a:p>
                          <a:pPr algn="ct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lgn="ct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m:t>
                                </m:r>
                                <m:r>
                                  <a:rPr lang="es-MX" sz="2000" b="1" i="1" smtClean="0">
                                    <a:solidFill>
                                      <a:schemeClr val="bg1"/>
                                    </a:solidFill>
                                    <a:latin typeface="Cambria Math" panose="02040503050406030204" pitchFamily="18" charset="0"/>
                                    <a:ea typeface="Roboto" panose="02000000000000000000" pitchFamily="2" charset="0"/>
                                  </a:rPr>
                                  <m:t>𝒑</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extLst>
                      <a:ext uri="{0D108BD9-81ED-4DB2-BD59-A6C34878D82A}">
                        <a16:rowId xmlns:a16="http://schemas.microsoft.com/office/drawing/2014/main" val="113670299"/>
                      </a:ext>
                    </a:extLst>
                  </a:tr>
                  <a:tr h="35252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algn="ct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805549228"/>
                      </a:ext>
                    </a:extLst>
                  </a:tr>
                  <a:tr h="352522">
                    <a:tc>
                      <a:txBody>
                        <a:bodyPr/>
                        <a:lstStyle/>
                        <a:p>
                          <a:pPr algn="ct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353127006"/>
                      </a:ext>
                    </a:extLst>
                  </a:tr>
                </a:tbl>
              </a:graphicData>
            </a:graphic>
          </p:graphicFrame>
        </mc:Choice>
        <mc:Fallback>
          <p:graphicFrame>
            <p:nvGraphicFramePr>
              <p:cNvPr id="4" name="Tabla 3">
                <a:extLst>
                  <a:ext uri="{FF2B5EF4-FFF2-40B4-BE49-F238E27FC236}">
                    <a16:creationId xmlns:a16="http://schemas.microsoft.com/office/drawing/2014/main" id="{63BB3C40-812C-46D7-81FB-A38FE4576A77}"/>
                  </a:ext>
                </a:extLst>
              </p:cNvPr>
              <p:cNvGraphicFramePr>
                <a:graphicFrameLocks noGrp="1"/>
              </p:cNvGraphicFramePr>
              <p:nvPr>
                <p:extLst>
                  <p:ext uri="{D42A27DB-BD31-4B8C-83A1-F6EECF244321}">
                    <p14:modId xmlns:p14="http://schemas.microsoft.com/office/powerpoint/2010/main" val="1246116081"/>
                  </p:ext>
                </p:extLst>
              </p:nvPr>
            </p:nvGraphicFramePr>
            <p:xfrm>
              <a:off x="1855164" y="2957946"/>
              <a:ext cx="1135628" cy="1188720"/>
            </p:xfrm>
            <a:graphic>
              <a:graphicData uri="http://schemas.openxmlformats.org/drawingml/2006/table">
                <a:tbl>
                  <a:tblPr firstRow="1" bandRow="1"/>
                  <a:tblGrid>
                    <a:gridCol w="567814">
                      <a:extLst>
                        <a:ext uri="{9D8B030D-6E8A-4147-A177-3AD203B41FA5}">
                          <a16:colId xmlns:a16="http://schemas.microsoft.com/office/drawing/2014/main" val="384604534"/>
                        </a:ext>
                      </a:extLst>
                    </a:gridCol>
                    <a:gridCol w="567814">
                      <a:extLst>
                        <a:ext uri="{9D8B030D-6E8A-4147-A177-3AD203B41FA5}">
                          <a16:colId xmlns:a16="http://schemas.microsoft.com/office/drawing/2014/main" val="79869298"/>
                        </a:ext>
                      </a:extLst>
                    </a:gridCol>
                  </a:tblGrid>
                  <a:tr h="396240">
                    <a:tc>
                      <a:txBody>
                        <a:bodyPr/>
                        <a:lstStyle/>
                        <a:p>
                          <a:endParaRPr lang="es-CO"/>
                        </a:p>
                      </a:txBody>
                      <a:tcPr>
                        <a:blipFill>
                          <a:blip r:embed="rId2"/>
                          <a:stretch>
                            <a:fillRect l="-1064" t="-1538" r="-101064" b="-204615"/>
                          </a:stretch>
                        </a:blipFill>
                      </a:tcPr>
                    </a:tc>
                    <a:tc>
                      <a:txBody>
                        <a:bodyPr/>
                        <a:lstStyle/>
                        <a:p>
                          <a:endParaRPr lang="es-CO"/>
                        </a:p>
                      </a:txBody>
                      <a:tcPr>
                        <a:blipFill>
                          <a:blip r:embed="rId2"/>
                          <a:stretch>
                            <a:fillRect l="-102151" t="-1538" r="-2151" b="-204615"/>
                          </a:stretch>
                        </a:blipFill>
                      </a:tcPr>
                    </a:tc>
                    <a:extLst>
                      <a:ext uri="{0D108BD9-81ED-4DB2-BD59-A6C34878D82A}">
                        <a16:rowId xmlns:a16="http://schemas.microsoft.com/office/drawing/2014/main" val="113670299"/>
                      </a:ext>
                    </a:extLst>
                  </a:tr>
                  <a:tr h="396240">
                    <a:tc>
                      <a:txBody>
                        <a:bodyPr/>
                        <a:lstStyle/>
                        <a:p>
                          <a:endParaRPr lang="es-CO"/>
                        </a:p>
                      </a:txBody>
                      <a:tcPr>
                        <a:blipFill>
                          <a:blip r:embed="rId2"/>
                          <a:stretch>
                            <a:fillRect l="-1064" t="-100000" r="-101064" b="-101515"/>
                          </a:stretch>
                        </a:blipFill>
                      </a:tcPr>
                    </a:tc>
                    <a:tc>
                      <a:txBody>
                        <a:bodyPr/>
                        <a:lstStyle/>
                        <a:p>
                          <a:endParaRPr lang="es-CO"/>
                        </a:p>
                      </a:txBody>
                      <a:tcPr>
                        <a:blipFill>
                          <a:blip r:embed="rId2"/>
                          <a:stretch>
                            <a:fillRect l="-102151" t="-100000" r="-2151" b="-101515"/>
                          </a:stretch>
                        </a:blipFill>
                      </a:tcPr>
                    </a:tc>
                    <a:extLst>
                      <a:ext uri="{0D108BD9-81ED-4DB2-BD59-A6C34878D82A}">
                        <a16:rowId xmlns:a16="http://schemas.microsoft.com/office/drawing/2014/main" val="1805549228"/>
                      </a:ext>
                    </a:extLst>
                  </a:tr>
                  <a:tr h="396240">
                    <a:tc>
                      <a:txBody>
                        <a:bodyPr/>
                        <a:lstStyle/>
                        <a:p>
                          <a:endParaRPr lang="es-CO"/>
                        </a:p>
                      </a:txBody>
                      <a:tcPr>
                        <a:blipFill>
                          <a:blip r:embed="rId2"/>
                          <a:stretch>
                            <a:fillRect l="-1064" t="-203077" r="-101064" b="-3077"/>
                          </a:stretch>
                        </a:blipFill>
                      </a:tcPr>
                    </a:tc>
                    <a:tc>
                      <a:txBody>
                        <a:bodyPr/>
                        <a:lstStyle/>
                        <a:p>
                          <a:endParaRPr lang="es-CO"/>
                        </a:p>
                      </a:txBody>
                      <a:tcPr>
                        <a:blipFill>
                          <a:blip r:embed="rId2"/>
                          <a:stretch>
                            <a:fillRect l="-102151" t="-203077" r="-2151" b="-3077"/>
                          </a:stretch>
                        </a:blipFill>
                      </a:tcPr>
                    </a:tc>
                    <a:extLst>
                      <a:ext uri="{0D108BD9-81ED-4DB2-BD59-A6C34878D82A}">
                        <a16:rowId xmlns:a16="http://schemas.microsoft.com/office/drawing/2014/main" val="235312700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5" name="Tabla 4">
                <a:extLst>
                  <a:ext uri="{FF2B5EF4-FFF2-40B4-BE49-F238E27FC236}">
                    <a16:creationId xmlns:a16="http://schemas.microsoft.com/office/drawing/2014/main" id="{5E869312-633E-40D0-86D0-6EF0C3F43C08}"/>
                  </a:ext>
                </a:extLst>
              </p:cNvPr>
              <p:cNvGraphicFramePr>
                <a:graphicFrameLocks noGrp="1"/>
              </p:cNvGraphicFramePr>
              <p:nvPr>
                <p:extLst>
                  <p:ext uri="{D42A27DB-BD31-4B8C-83A1-F6EECF244321}">
                    <p14:modId xmlns:p14="http://schemas.microsoft.com/office/powerpoint/2010/main" val="3863038844"/>
                  </p:ext>
                </p:extLst>
              </p:nvPr>
            </p:nvGraphicFramePr>
            <p:xfrm>
              <a:off x="4461163" y="2438400"/>
              <a:ext cx="6261577" cy="1981200"/>
            </p:xfrm>
            <a:graphic>
              <a:graphicData uri="http://schemas.openxmlformats.org/drawingml/2006/table">
                <a:tbl>
                  <a:tblPr firstRow="1" bandRow="1"/>
                  <a:tblGrid>
                    <a:gridCol w="544786">
                      <a:extLst>
                        <a:ext uri="{9D8B030D-6E8A-4147-A177-3AD203B41FA5}">
                          <a16:colId xmlns:a16="http://schemas.microsoft.com/office/drawing/2014/main" val="776375974"/>
                        </a:ext>
                      </a:extLst>
                    </a:gridCol>
                    <a:gridCol w="544786">
                      <a:extLst>
                        <a:ext uri="{9D8B030D-6E8A-4147-A177-3AD203B41FA5}">
                          <a16:colId xmlns:a16="http://schemas.microsoft.com/office/drawing/2014/main" val="384604534"/>
                        </a:ext>
                      </a:extLst>
                    </a:gridCol>
                    <a:gridCol w="1034401">
                      <a:extLst>
                        <a:ext uri="{9D8B030D-6E8A-4147-A177-3AD203B41FA5}">
                          <a16:colId xmlns:a16="http://schemas.microsoft.com/office/drawing/2014/main" val="79869298"/>
                        </a:ext>
                      </a:extLst>
                    </a:gridCol>
                    <a:gridCol w="1034401">
                      <a:extLst>
                        <a:ext uri="{9D8B030D-6E8A-4147-A177-3AD203B41FA5}">
                          <a16:colId xmlns:a16="http://schemas.microsoft.com/office/drawing/2014/main" val="3347906918"/>
                        </a:ext>
                      </a:extLst>
                    </a:gridCol>
                    <a:gridCol w="1034401">
                      <a:extLst>
                        <a:ext uri="{9D8B030D-6E8A-4147-A177-3AD203B41FA5}">
                          <a16:colId xmlns:a16="http://schemas.microsoft.com/office/drawing/2014/main" val="912474650"/>
                        </a:ext>
                      </a:extLst>
                    </a:gridCol>
                    <a:gridCol w="1034401">
                      <a:extLst>
                        <a:ext uri="{9D8B030D-6E8A-4147-A177-3AD203B41FA5}">
                          <a16:colId xmlns:a16="http://schemas.microsoft.com/office/drawing/2014/main" val="4025530010"/>
                        </a:ext>
                      </a:extLst>
                    </a:gridCol>
                    <a:gridCol w="1034401">
                      <a:extLst>
                        <a:ext uri="{9D8B030D-6E8A-4147-A177-3AD203B41FA5}">
                          <a16:colId xmlns:a16="http://schemas.microsoft.com/office/drawing/2014/main" val="2172254775"/>
                        </a:ext>
                      </a:extLst>
                    </a:gridCol>
                  </a:tblGrid>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ea typeface="Cambria Math" panose="02040503050406030204" pitchFamily="18"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ea typeface="Cambria Math" panose="02040503050406030204" pitchFamily="18"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ea typeface="Cambria Math" panose="02040503050406030204" pitchFamily="18"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ea typeface="Cambria Math" panose="02040503050406030204" pitchFamily="18"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ea typeface="Cambria Math" panose="02040503050406030204" pitchFamily="18"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extLst>
                      <a:ext uri="{0D108BD9-81ED-4DB2-BD59-A6C34878D82A}">
                        <a16:rowId xmlns:a16="http://schemas.microsoft.com/office/drawing/2014/main" val="113670299"/>
                      </a:ext>
                    </a:extLst>
                  </a:tr>
                  <a:tr h="33480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805549228"/>
                      </a:ext>
                    </a:extLst>
                  </a:tr>
                  <a:tr h="334807">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353127006"/>
                      </a:ext>
                    </a:extLst>
                  </a:tr>
                  <a:tr h="33480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184868107"/>
                      </a:ext>
                    </a:extLst>
                  </a:tr>
                  <a:tr h="33480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889136403"/>
                      </a:ext>
                    </a:extLst>
                  </a:tr>
                </a:tbl>
              </a:graphicData>
            </a:graphic>
          </p:graphicFrame>
        </mc:Choice>
        <mc:Fallback>
          <p:graphicFrame>
            <p:nvGraphicFramePr>
              <p:cNvPr id="5" name="Tabla 4">
                <a:extLst>
                  <a:ext uri="{FF2B5EF4-FFF2-40B4-BE49-F238E27FC236}">
                    <a16:creationId xmlns:a16="http://schemas.microsoft.com/office/drawing/2014/main" id="{5E869312-633E-40D0-86D0-6EF0C3F43C08}"/>
                  </a:ext>
                </a:extLst>
              </p:cNvPr>
              <p:cNvGraphicFramePr>
                <a:graphicFrameLocks noGrp="1"/>
              </p:cNvGraphicFramePr>
              <p:nvPr>
                <p:extLst>
                  <p:ext uri="{D42A27DB-BD31-4B8C-83A1-F6EECF244321}">
                    <p14:modId xmlns:p14="http://schemas.microsoft.com/office/powerpoint/2010/main" val="3863038844"/>
                  </p:ext>
                </p:extLst>
              </p:nvPr>
            </p:nvGraphicFramePr>
            <p:xfrm>
              <a:off x="4461163" y="2438400"/>
              <a:ext cx="6261577" cy="1981200"/>
            </p:xfrm>
            <a:graphic>
              <a:graphicData uri="http://schemas.openxmlformats.org/drawingml/2006/table">
                <a:tbl>
                  <a:tblPr firstRow="1" bandRow="1"/>
                  <a:tblGrid>
                    <a:gridCol w="544786">
                      <a:extLst>
                        <a:ext uri="{9D8B030D-6E8A-4147-A177-3AD203B41FA5}">
                          <a16:colId xmlns:a16="http://schemas.microsoft.com/office/drawing/2014/main" val="776375974"/>
                        </a:ext>
                      </a:extLst>
                    </a:gridCol>
                    <a:gridCol w="544786">
                      <a:extLst>
                        <a:ext uri="{9D8B030D-6E8A-4147-A177-3AD203B41FA5}">
                          <a16:colId xmlns:a16="http://schemas.microsoft.com/office/drawing/2014/main" val="384604534"/>
                        </a:ext>
                      </a:extLst>
                    </a:gridCol>
                    <a:gridCol w="1034401">
                      <a:extLst>
                        <a:ext uri="{9D8B030D-6E8A-4147-A177-3AD203B41FA5}">
                          <a16:colId xmlns:a16="http://schemas.microsoft.com/office/drawing/2014/main" val="79869298"/>
                        </a:ext>
                      </a:extLst>
                    </a:gridCol>
                    <a:gridCol w="1034401">
                      <a:extLst>
                        <a:ext uri="{9D8B030D-6E8A-4147-A177-3AD203B41FA5}">
                          <a16:colId xmlns:a16="http://schemas.microsoft.com/office/drawing/2014/main" val="3347906918"/>
                        </a:ext>
                      </a:extLst>
                    </a:gridCol>
                    <a:gridCol w="1034401">
                      <a:extLst>
                        <a:ext uri="{9D8B030D-6E8A-4147-A177-3AD203B41FA5}">
                          <a16:colId xmlns:a16="http://schemas.microsoft.com/office/drawing/2014/main" val="912474650"/>
                        </a:ext>
                      </a:extLst>
                    </a:gridCol>
                    <a:gridCol w="1034401">
                      <a:extLst>
                        <a:ext uri="{9D8B030D-6E8A-4147-A177-3AD203B41FA5}">
                          <a16:colId xmlns:a16="http://schemas.microsoft.com/office/drawing/2014/main" val="4025530010"/>
                        </a:ext>
                      </a:extLst>
                    </a:gridCol>
                    <a:gridCol w="1034401">
                      <a:extLst>
                        <a:ext uri="{9D8B030D-6E8A-4147-A177-3AD203B41FA5}">
                          <a16:colId xmlns:a16="http://schemas.microsoft.com/office/drawing/2014/main" val="2172254775"/>
                        </a:ext>
                      </a:extLst>
                    </a:gridCol>
                  </a:tblGrid>
                  <a:tr h="396240">
                    <a:tc>
                      <a:txBody>
                        <a:bodyPr/>
                        <a:lstStyle/>
                        <a:p>
                          <a:endParaRPr lang="es-CO"/>
                        </a:p>
                      </a:txBody>
                      <a:tcPr>
                        <a:blipFill>
                          <a:blip r:embed="rId3"/>
                          <a:stretch>
                            <a:fillRect l="-1124" t="-3077" r="-1058427" b="-404615"/>
                          </a:stretch>
                        </a:blipFill>
                      </a:tcPr>
                    </a:tc>
                    <a:tc>
                      <a:txBody>
                        <a:bodyPr/>
                        <a:lstStyle/>
                        <a:p>
                          <a:endParaRPr lang="es-CO"/>
                        </a:p>
                      </a:txBody>
                      <a:tcPr>
                        <a:blipFill>
                          <a:blip r:embed="rId3"/>
                          <a:stretch>
                            <a:fillRect l="-100000" t="-3077" r="-946667" b="-404615"/>
                          </a:stretch>
                        </a:blipFill>
                      </a:tcPr>
                    </a:tc>
                    <a:tc>
                      <a:txBody>
                        <a:bodyPr/>
                        <a:lstStyle/>
                        <a:p>
                          <a:endParaRPr lang="es-CO"/>
                        </a:p>
                      </a:txBody>
                      <a:tcPr>
                        <a:blipFill>
                          <a:blip r:embed="rId3"/>
                          <a:stretch>
                            <a:fillRect l="-105882" t="-3077" r="-401176" b="-404615"/>
                          </a:stretch>
                        </a:blipFill>
                      </a:tcPr>
                    </a:tc>
                    <a:tc>
                      <a:txBody>
                        <a:bodyPr/>
                        <a:lstStyle/>
                        <a:p>
                          <a:endParaRPr lang="es-CO"/>
                        </a:p>
                      </a:txBody>
                      <a:tcPr>
                        <a:blipFill>
                          <a:blip r:embed="rId3"/>
                          <a:stretch>
                            <a:fillRect l="-205882" t="-3077" r="-301176" b="-404615"/>
                          </a:stretch>
                        </a:blipFill>
                      </a:tcPr>
                    </a:tc>
                    <a:tc>
                      <a:txBody>
                        <a:bodyPr/>
                        <a:lstStyle/>
                        <a:p>
                          <a:endParaRPr lang="es-CO"/>
                        </a:p>
                      </a:txBody>
                      <a:tcPr>
                        <a:blipFill>
                          <a:blip r:embed="rId3"/>
                          <a:stretch>
                            <a:fillRect l="-307692" t="-3077" r="-202959" b="-404615"/>
                          </a:stretch>
                        </a:blipFill>
                      </a:tcPr>
                    </a:tc>
                    <a:tc>
                      <a:txBody>
                        <a:bodyPr/>
                        <a:lstStyle/>
                        <a:p>
                          <a:endParaRPr lang="es-CO"/>
                        </a:p>
                      </a:txBody>
                      <a:tcPr>
                        <a:blipFill>
                          <a:blip r:embed="rId3"/>
                          <a:stretch>
                            <a:fillRect l="-405294" t="-3077" r="-101765" b="-404615"/>
                          </a:stretch>
                        </a:blipFill>
                      </a:tcPr>
                    </a:tc>
                    <a:tc>
                      <a:txBody>
                        <a:bodyPr/>
                        <a:lstStyle/>
                        <a:p>
                          <a:endParaRPr lang="es-CO"/>
                        </a:p>
                      </a:txBody>
                      <a:tcPr>
                        <a:blipFill>
                          <a:blip r:embed="rId3"/>
                          <a:stretch>
                            <a:fillRect l="-505294" t="-3077" r="-1765" b="-404615"/>
                          </a:stretch>
                        </a:blipFill>
                      </a:tcPr>
                    </a:tc>
                    <a:extLst>
                      <a:ext uri="{0D108BD9-81ED-4DB2-BD59-A6C34878D82A}">
                        <a16:rowId xmlns:a16="http://schemas.microsoft.com/office/drawing/2014/main" val="113670299"/>
                      </a:ext>
                    </a:extLst>
                  </a:tr>
                  <a:tr h="396240">
                    <a:tc>
                      <a:txBody>
                        <a:bodyPr/>
                        <a:lstStyle/>
                        <a:p>
                          <a:endParaRPr lang="es-CO"/>
                        </a:p>
                      </a:txBody>
                      <a:tcPr>
                        <a:blipFill>
                          <a:blip r:embed="rId3"/>
                          <a:stretch>
                            <a:fillRect l="-1124" t="-103077" r="-1058427" b="-304615"/>
                          </a:stretch>
                        </a:blipFill>
                      </a:tcPr>
                    </a:tc>
                    <a:tc>
                      <a:txBody>
                        <a:bodyPr/>
                        <a:lstStyle/>
                        <a:p>
                          <a:endParaRPr lang="es-CO"/>
                        </a:p>
                      </a:txBody>
                      <a:tcPr>
                        <a:blipFill>
                          <a:blip r:embed="rId3"/>
                          <a:stretch>
                            <a:fillRect l="-100000" t="-103077" r="-946667" b="-304615"/>
                          </a:stretch>
                        </a:blipFill>
                      </a:tcPr>
                    </a:tc>
                    <a:tc>
                      <a:txBody>
                        <a:bodyPr/>
                        <a:lstStyle/>
                        <a:p>
                          <a:endParaRPr lang="es-CO"/>
                        </a:p>
                      </a:txBody>
                      <a:tcPr>
                        <a:blipFill>
                          <a:blip r:embed="rId3"/>
                          <a:stretch>
                            <a:fillRect l="-105882" t="-103077" r="-401176" b="-304615"/>
                          </a:stretch>
                        </a:blipFill>
                      </a:tcPr>
                    </a:tc>
                    <a:tc>
                      <a:txBody>
                        <a:bodyPr/>
                        <a:lstStyle/>
                        <a:p>
                          <a:endParaRPr lang="es-CO"/>
                        </a:p>
                      </a:txBody>
                      <a:tcPr>
                        <a:blipFill>
                          <a:blip r:embed="rId3"/>
                          <a:stretch>
                            <a:fillRect l="-205882" t="-103077" r="-301176" b="-304615"/>
                          </a:stretch>
                        </a:blipFill>
                      </a:tcPr>
                    </a:tc>
                    <a:tc>
                      <a:txBody>
                        <a:bodyPr/>
                        <a:lstStyle/>
                        <a:p>
                          <a:endParaRPr lang="es-CO"/>
                        </a:p>
                      </a:txBody>
                      <a:tcPr>
                        <a:blipFill>
                          <a:blip r:embed="rId3"/>
                          <a:stretch>
                            <a:fillRect l="-307692" t="-103077" r="-202959" b="-304615"/>
                          </a:stretch>
                        </a:blipFill>
                      </a:tcPr>
                    </a:tc>
                    <a:tc>
                      <a:txBody>
                        <a:bodyPr/>
                        <a:lstStyle/>
                        <a:p>
                          <a:endParaRPr lang="es-CO"/>
                        </a:p>
                      </a:txBody>
                      <a:tcPr>
                        <a:blipFill>
                          <a:blip r:embed="rId3"/>
                          <a:stretch>
                            <a:fillRect l="-405294" t="-103077" r="-101765" b="-304615"/>
                          </a:stretch>
                        </a:blipFill>
                      </a:tcPr>
                    </a:tc>
                    <a:tc>
                      <a:txBody>
                        <a:bodyPr/>
                        <a:lstStyle/>
                        <a:p>
                          <a:endParaRPr lang="es-CO"/>
                        </a:p>
                      </a:txBody>
                      <a:tcPr>
                        <a:blipFill>
                          <a:blip r:embed="rId3"/>
                          <a:stretch>
                            <a:fillRect l="-505294" t="-103077" r="-1765" b="-304615"/>
                          </a:stretch>
                        </a:blipFill>
                      </a:tcPr>
                    </a:tc>
                    <a:extLst>
                      <a:ext uri="{0D108BD9-81ED-4DB2-BD59-A6C34878D82A}">
                        <a16:rowId xmlns:a16="http://schemas.microsoft.com/office/drawing/2014/main" val="1805549228"/>
                      </a:ext>
                    </a:extLst>
                  </a:tr>
                  <a:tr h="396240">
                    <a:tc>
                      <a:txBody>
                        <a:bodyPr/>
                        <a:lstStyle/>
                        <a:p>
                          <a:endParaRPr lang="es-CO"/>
                        </a:p>
                      </a:txBody>
                      <a:tcPr>
                        <a:blipFill>
                          <a:blip r:embed="rId3"/>
                          <a:stretch>
                            <a:fillRect l="-1124" t="-203077" r="-1058427" b="-204615"/>
                          </a:stretch>
                        </a:blipFill>
                      </a:tcPr>
                    </a:tc>
                    <a:tc>
                      <a:txBody>
                        <a:bodyPr/>
                        <a:lstStyle/>
                        <a:p>
                          <a:endParaRPr lang="es-CO"/>
                        </a:p>
                      </a:txBody>
                      <a:tcPr>
                        <a:blipFill>
                          <a:blip r:embed="rId3"/>
                          <a:stretch>
                            <a:fillRect l="-100000" t="-203077" r="-946667" b="-204615"/>
                          </a:stretch>
                        </a:blipFill>
                      </a:tcPr>
                    </a:tc>
                    <a:tc>
                      <a:txBody>
                        <a:bodyPr/>
                        <a:lstStyle/>
                        <a:p>
                          <a:endParaRPr lang="es-CO"/>
                        </a:p>
                      </a:txBody>
                      <a:tcPr>
                        <a:blipFill>
                          <a:blip r:embed="rId3"/>
                          <a:stretch>
                            <a:fillRect l="-105882" t="-203077" r="-401176" b="-204615"/>
                          </a:stretch>
                        </a:blipFill>
                      </a:tcPr>
                    </a:tc>
                    <a:tc>
                      <a:txBody>
                        <a:bodyPr/>
                        <a:lstStyle/>
                        <a:p>
                          <a:endParaRPr lang="es-CO"/>
                        </a:p>
                      </a:txBody>
                      <a:tcPr>
                        <a:blipFill>
                          <a:blip r:embed="rId3"/>
                          <a:stretch>
                            <a:fillRect l="-205882" t="-203077" r="-301176" b="-204615"/>
                          </a:stretch>
                        </a:blipFill>
                      </a:tcPr>
                    </a:tc>
                    <a:tc>
                      <a:txBody>
                        <a:bodyPr/>
                        <a:lstStyle/>
                        <a:p>
                          <a:endParaRPr lang="es-CO"/>
                        </a:p>
                      </a:txBody>
                      <a:tcPr>
                        <a:blipFill>
                          <a:blip r:embed="rId3"/>
                          <a:stretch>
                            <a:fillRect l="-307692" t="-203077" r="-202959" b="-204615"/>
                          </a:stretch>
                        </a:blipFill>
                      </a:tcPr>
                    </a:tc>
                    <a:tc>
                      <a:txBody>
                        <a:bodyPr/>
                        <a:lstStyle/>
                        <a:p>
                          <a:endParaRPr lang="es-CO"/>
                        </a:p>
                      </a:txBody>
                      <a:tcPr>
                        <a:blipFill>
                          <a:blip r:embed="rId3"/>
                          <a:stretch>
                            <a:fillRect l="-405294" t="-203077" r="-101765" b="-204615"/>
                          </a:stretch>
                        </a:blipFill>
                      </a:tcPr>
                    </a:tc>
                    <a:tc>
                      <a:txBody>
                        <a:bodyPr/>
                        <a:lstStyle/>
                        <a:p>
                          <a:endParaRPr lang="es-CO"/>
                        </a:p>
                      </a:txBody>
                      <a:tcPr>
                        <a:blipFill>
                          <a:blip r:embed="rId3"/>
                          <a:stretch>
                            <a:fillRect l="-505294" t="-203077" r="-1765" b="-204615"/>
                          </a:stretch>
                        </a:blipFill>
                      </a:tcPr>
                    </a:tc>
                    <a:extLst>
                      <a:ext uri="{0D108BD9-81ED-4DB2-BD59-A6C34878D82A}">
                        <a16:rowId xmlns:a16="http://schemas.microsoft.com/office/drawing/2014/main" val="2353127006"/>
                      </a:ext>
                    </a:extLst>
                  </a:tr>
                  <a:tr h="396240">
                    <a:tc>
                      <a:txBody>
                        <a:bodyPr/>
                        <a:lstStyle/>
                        <a:p>
                          <a:endParaRPr lang="es-CO"/>
                        </a:p>
                      </a:txBody>
                      <a:tcPr>
                        <a:blipFill>
                          <a:blip r:embed="rId3"/>
                          <a:stretch>
                            <a:fillRect l="-1124" t="-303077" r="-1058427" b="-104615"/>
                          </a:stretch>
                        </a:blipFill>
                      </a:tcPr>
                    </a:tc>
                    <a:tc>
                      <a:txBody>
                        <a:bodyPr/>
                        <a:lstStyle/>
                        <a:p>
                          <a:endParaRPr lang="es-CO"/>
                        </a:p>
                      </a:txBody>
                      <a:tcPr>
                        <a:blipFill>
                          <a:blip r:embed="rId3"/>
                          <a:stretch>
                            <a:fillRect l="-100000" t="-303077" r="-946667" b="-104615"/>
                          </a:stretch>
                        </a:blipFill>
                      </a:tcPr>
                    </a:tc>
                    <a:tc>
                      <a:txBody>
                        <a:bodyPr/>
                        <a:lstStyle/>
                        <a:p>
                          <a:endParaRPr lang="es-CO"/>
                        </a:p>
                      </a:txBody>
                      <a:tcPr>
                        <a:blipFill>
                          <a:blip r:embed="rId3"/>
                          <a:stretch>
                            <a:fillRect l="-105882" t="-303077" r="-401176" b="-104615"/>
                          </a:stretch>
                        </a:blipFill>
                      </a:tcPr>
                    </a:tc>
                    <a:tc>
                      <a:txBody>
                        <a:bodyPr/>
                        <a:lstStyle/>
                        <a:p>
                          <a:endParaRPr lang="es-CO"/>
                        </a:p>
                      </a:txBody>
                      <a:tcPr>
                        <a:blipFill>
                          <a:blip r:embed="rId3"/>
                          <a:stretch>
                            <a:fillRect l="-205882" t="-303077" r="-301176" b="-104615"/>
                          </a:stretch>
                        </a:blipFill>
                      </a:tcPr>
                    </a:tc>
                    <a:tc>
                      <a:txBody>
                        <a:bodyPr/>
                        <a:lstStyle/>
                        <a:p>
                          <a:endParaRPr lang="es-CO"/>
                        </a:p>
                      </a:txBody>
                      <a:tcPr>
                        <a:blipFill>
                          <a:blip r:embed="rId3"/>
                          <a:stretch>
                            <a:fillRect l="-307692" t="-303077" r="-202959" b="-104615"/>
                          </a:stretch>
                        </a:blipFill>
                      </a:tcPr>
                    </a:tc>
                    <a:tc>
                      <a:txBody>
                        <a:bodyPr/>
                        <a:lstStyle/>
                        <a:p>
                          <a:endParaRPr lang="es-CO"/>
                        </a:p>
                      </a:txBody>
                      <a:tcPr>
                        <a:blipFill>
                          <a:blip r:embed="rId3"/>
                          <a:stretch>
                            <a:fillRect l="-405294" t="-303077" r="-101765" b="-104615"/>
                          </a:stretch>
                        </a:blipFill>
                      </a:tcPr>
                    </a:tc>
                    <a:tc>
                      <a:txBody>
                        <a:bodyPr/>
                        <a:lstStyle/>
                        <a:p>
                          <a:endParaRPr lang="es-CO"/>
                        </a:p>
                      </a:txBody>
                      <a:tcPr>
                        <a:blipFill>
                          <a:blip r:embed="rId3"/>
                          <a:stretch>
                            <a:fillRect l="-505294" t="-303077" r="-1765" b="-104615"/>
                          </a:stretch>
                        </a:blipFill>
                      </a:tcPr>
                    </a:tc>
                    <a:extLst>
                      <a:ext uri="{0D108BD9-81ED-4DB2-BD59-A6C34878D82A}">
                        <a16:rowId xmlns:a16="http://schemas.microsoft.com/office/drawing/2014/main" val="4184868107"/>
                      </a:ext>
                    </a:extLst>
                  </a:tr>
                  <a:tr h="396240">
                    <a:tc>
                      <a:txBody>
                        <a:bodyPr/>
                        <a:lstStyle/>
                        <a:p>
                          <a:endParaRPr lang="es-CO"/>
                        </a:p>
                      </a:txBody>
                      <a:tcPr>
                        <a:blipFill>
                          <a:blip r:embed="rId3"/>
                          <a:stretch>
                            <a:fillRect l="-1124" t="-403077" r="-1058427" b="-4615"/>
                          </a:stretch>
                        </a:blipFill>
                      </a:tcPr>
                    </a:tc>
                    <a:tc>
                      <a:txBody>
                        <a:bodyPr/>
                        <a:lstStyle/>
                        <a:p>
                          <a:endParaRPr lang="es-CO"/>
                        </a:p>
                      </a:txBody>
                      <a:tcPr>
                        <a:blipFill>
                          <a:blip r:embed="rId3"/>
                          <a:stretch>
                            <a:fillRect l="-100000" t="-403077" r="-946667" b="-4615"/>
                          </a:stretch>
                        </a:blipFill>
                      </a:tcPr>
                    </a:tc>
                    <a:tc>
                      <a:txBody>
                        <a:bodyPr/>
                        <a:lstStyle/>
                        <a:p>
                          <a:endParaRPr lang="es-CO"/>
                        </a:p>
                      </a:txBody>
                      <a:tcPr>
                        <a:blipFill>
                          <a:blip r:embed="rId3"/>
                          <a:stretch>
                            <a:fillRect l="-105882" t="-403077" r="-401176" b="-4615"/>
                          </a:stretch>
                        </a:blipFill>
                      </a:tcPr>
                    </a:tc>
                    <a:tc>
                      <a:txBody>
                        <a:bodyPr/>
                        <a:lstStyle/>
                        <a:p>
                          <a:endParaRPr lang="es-CO"/>
                        </a:p>
                      </a:txBody>
                      <a:tcPr>
                        <a:blipFill>
                          <a:blip r:embed="rId3"/>
                          <a:stretch>
                            <a:fillRect l="-205882" t="-403077" r="-301176" b="-4615"/>
                          </a:stretch>
                        </a:blipFill>
                      </a:tcPr>
                    </a:tc>
                    <a:tc>
                      <a:txBody>
                        <a:bodyPr/>
                        <a:lstStyle/>
                        <a:p>
                          <a:endParaRPr lang="es-CO"/>
                        </a:p>
                      </a:txBody>
                      <a:tcPr>
                        <a:blipFill>
                          <a:blip r:embed="rId3"/>
                          <a:stretch>
                            <a:fillRect l="-307692" t="-403077" r="-202959" b="-4615"/>
                          </a:stretch>
                        </a:blipFill>
                      </a:tcPr>
                    </a:tc>
                    <a:tc>
                      <a:txBody>
                        <a:bodyPr/>
                        <a:lstStyle/>
                        <a:p>
                          <a:endParaRPr lang="es-CO"/>
                        </a:p>
                      </a:txBody>
                      <a:tcPr>
                        <a:blipFill>
                          <a:blip r:embed="rId3"/>
                          <a:stretch>
                            <a:fillRect l="-405294" t="-403077" r="-101765" b="-4615"/>
                          </a:stretch>
                        </a:blipFill>
                      </a:tcPr>
                    </a:tc>
                    <a:tc>
                      <a:txBody>
                        <a:bodyPr/>
                        <a:lstStyle/>
                        <a:p>
                          <a:endParaRPr lang="es-CO"/>
                        </a:p>
                      </a:txBody>
                      <a:tcPr>
                        <a:blipFill>
                          <a:blip r:embed="rId3"/>
                          <a:stretch>
                            <a:fillRect l="-505294" t="-403077" r="-1765" b="-4615"/>
                          </a:stretch>
                        </a:blipFill>
                      </a:tcPr>
                    </a:tc>
                    <a:extLst>
                      <a:ext uri="{0D108BD9-81ED-4DB2-BD59-A6C34878D82A}">
                        <a16:rowId xmlns:a16="http://schemas.microsoft.com/office/drawing/2014/main" val="889136403"/>
                      </a:ext>
                    </a:extLst>
                  </a:tr>
                </a:tbl>
              </a:graphicData>
            </a:graphic>
          </p:graphicFrame>
        </mc:Fallback>
      </mc:AlternateContent>
    </p:spTree>
    <p:extLst>
      <p:ext uri="{BB962C8B-B14F-4D97-AF65-F5344CB8AC3E}">
        <p14:creationId xmlns:p14="http://schemas.microsoft.com/office/powerpoint/2010/main" val="3428736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360218" y="226580"/>
            <a:ext cx="11055927" cy="781638"/>
          </a:xfrm>
        </p:spPr>
        <p:txBody>
          <a:bodyPr/>
          <a:lstStyle/>
          <a:p>
            <a:r>
              <a:rPr lang="es-CO" dirty="0"/>
              <a:t>Repaso</a:t>
            </a:r>
          </a:p>
        </p:txBody>
      </p:sp>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360218" y="1196565"/>
            <a:ext cx="11471563" cy="404945"/>
          </a:xfrm>
        </p:spPr>
        <p:txBody>
          <a:bodyPr>
            <a:normAutofit lnSpcReduction="10000"/>
          </a:bodyPr>
          <a:lstStyle/>
          <a:p>
            <a:pPr marL="0" indent="0">
              <a:buNone/>
            </a:pPr>
            <a:r>
              <a:rPr lang="es-MX" sz="2400" b="1" dirty="0"/>
              <a:t>Reglas de prioridad y asociatividad</a:t>
            </a:r>
          </a:p>
          <a:p>
            <a:pPr marL="0" indent="0">
              <a:buNone/>
            </a:pPr>
            <a:endParaRPr lang="es-MX" sz="2200" b="1" dirty="0"/>
          </a:p>
        </p:txBody>
      </p:sp>
      <mc:AlternateContent xmlns:mc="http://schemas.openxmlformats.org/markup-compatibility/2006">
        <mc:Choice xmlns:a14="http://schemas.microsoft.com/office/drawing/2010/main" Requires="a14">
          <p:graphicFrame>
            <p:nvGraphicFramePr>
              <p:cNvPr id="6" name="Tabla 2">
                <a:extLst>
                  <a:ext uri="{FF2B5EF4-FFF2-40B4-BE49-F238E27FC236}">
                    <a16:creationId xmlns:a16="http://schemas.microsoft.com/office/drawing/2014/main" id="{FEDA91D7-23FD-416A-86C9-A9A50A25DFA7}"/>
                  </a:ext>
                </a:extLst>
              </p:cNvPr>
              <p:cNvGraphicFramePr>
                <a:graphicFrameLocks noGrp="1"/>
              </p:cNvGraphicFramePr>
              <p:nvPr>
                <p:extLst>
                  <p:ext uri="{D42A27DB-BD31-4B8C-83A1-F6EECF244321}">
                    <p14:modId xmlns:p14="http://schemas.microsoft.com/office/powerpoint/2010/main" val="285884105"/>
                  </p:ext>
                </p:extLst>
              </p:nvPr>
            </p:nvGraphicFramePr>
            <p:xfrm>
              <a:off x="1341646" y="2066948"/>
              <a:ext cx="9795267" cy="3009138"/>
            </p:xfrm>
            <a:graphic>
              <a:graphicData uri="http://schemas.openxmlformats.org/drawingml/2006/table">
                <a:tbl>
                  <a:tblPr firstRow="1" bandRow="1"/>
                  <a:tblGrid>
                    <a:gridCol w="1927543">
                      <a:extLst>
                        <a:ext uri="{9D8B030D-6E8A-4147-A177-3AD203B41FA5}">
                          <a16:colId xmlns:a16="http://schemas.microsoft.com/office/drawing/2014/main" val="2912375319"/>
                        </a:ext>
                      </a:extLst>
                    </a:gridCol>
                    <a:gridCol w="1246909">
                      <a:extLst>
                        <a:ext uri="{9D8B030D-6E8A-4147-A177-3AD203B41FA5}">
                          <a16:colId xmlns:a16="http://schemas.microsoft.com/office/drawing/2014/main" val="2830172176"/>
                        </a:ext>
                      </a:extLst>
                    </a:gridCol>
                    <a:gridCol w="2405380">
                      <a:extLst>
                        <a:ext uri="{9D8B030D-6E8A-4147-A177-3AD203B41FA5}">
                          <a16:colId xmlns:a16="http://schemas.microsoft.com/office/drawing/2014/main" val="3163836375"/>
                        </a:ext>
                      </a:extLst>
                    </a:gridCol>
                    <a:gridCol w="4215435">
                      <a:extLst>
                        <a:ext uri="{9D8B030D-6E8A-4147-A177-3AD203B41FA5}">
                          <a16:colId xmlns:a16="http://schemas.microsoft.com/office/drawing/2014/main" val="2124308029"/>
                        </a:ext>
                      </a:extLst>
                    </a:gridCol>
                  </a:tblGrid>
                  <a:tr h="284254">
                    <a:tc>
                      <a:txBody>
                        <a:bodyPr/>
                        <a:lstStyle/>
                        <a:p>
                          <a:pPr algn="ctr"/>
                          <a:r>
                            <a:rPr lang="es-CO" sz="2000" b="1" dirty="0">
                              <a:solidFill>
                                <a:schemeClr val="bg1"/>
                              </a:solidFill>
                              <a:latin typeface="Roboto" panose="02000000000000000000" pitchFamily="2" charset="0"/>
                              <a:ea typeface="Roboto" panose="02000000000000000000" pitchFamily="2" charset="0"/>
                            </a:rPr>
                            <a:t>Prioridad</a:t>
                          </a:r>
                        </a:p>
                      </a:txBody>
                      <a:tcPr>
                        <a:solidFill>
                          <a:schemeClr val="tx1"/>
                        </a:solidFill>
                      </a:tcPr>
                    </a:tc>
                    <a:tc>
                      <a:txBody>
                        <a:bodyPr/>
                        <a:lstStyle/>
                        <a:p>
                          <a:pPr algn="ctr"/>
                          <a:r>
                            <a:rPr lang="es-CO" sz="2000" b="1" dirty="0">
                              <a:solidFill>
                                <a:schemeClr val="bg1"/>
                              </a:solidFill>
                              <a:latin typeface="Roboto" panose="02000000000000000000" pitchFamily="2" charset="0"/>
                              <a:ea typeface="Roboto" panose="02000000000000000000" pitchFamily="2" charset="0"/>
                            </a:rPr>
                            <a:t>Operador</a:t>
                          </a:r>
                        </a:p>
                      </a:txBody>
                      <a:tcPr>
                        <a:solidFill>
                          <a:schemeClr val="tx1"/>
                        </a:solidFill>
                      </a:tcPr>
                    </a:tc>
                    <a:tc>
                      <a:txBody>
                        <a:bodyPr/>
                        <a:lstStyle/>
                        <a:p>
                          <a:pPr algn="ctr"/>
                          <a:r>
                            <a:rPr lang="es-CO" sz="2000" b="1" dirty="0">
                              <a:solidFill>
                                <a:schemeClr val="bg1"/>
                              </a:solidFill>
                              <a:latin typeface="Roboto" panose="02000000000000000000" pitchFamily="2" charset="0"/>
                              <a:ea typeface="Roboto" panose="02000000000000000000" pitchFamily="2" charset="0"/>
                            </a:rPr>
                            <a:t>Asociatividad</a:t>
                          </a:r>
                        </a:p>
                      </a:txBody>
                      <a:tcPr>
                        <a:solidFill>
                          <a:schemeClr val="tx1"/>
                        </a:solidFill>
                      </a:tcPr>
                    </a:tc>
                    <a:tc>
                      <a:txBody>
                        <a:bodyPr/>
                        <a:lstStyle/>
                        <a:p>
                          <a:pPr algn="ctr"/>
                          <a:r>
                            <a:rPr lang="es-CO" sz="2000" b="1" dirty="0">
                              <a:solidFill>
                                <a:schemeClr val="bg1"/>
                              </a:solidFill>
                              <a:latin typeface="Roboto" panose="02000000000000000000" pitchFamily="2" charset="0"/>
                              <a:ea typeface="Roboto" panose="02000000000000000000" pitchFamily="2" charset="0"/>
                            </a:rPr>
                            <a:t>Ejemplo con paréntesis</a:t>
                          </a:r>
                        </a:p>
                      </a:txBody>
                      <a:tcPr>
                        <a:solidFill>
                          <a:schemeClr val="tx1"/>
                        </a:solidFill>
                      </a:tcPr>
                    </a:tc>
                    <a:extLst>
                      <a:ext uri="{0D108BD9-81ED-4DB2-BD59-A6C34878D82A}">
                        <a16:rowId xmlns:a16="http://schemas.microsoft.com/office/drawing/2014/main" val="884271441"/>
                      </a:ext>
                    </a:extLst>
                  </a:tr>
                  <a:tr h="312406">
                    <a:tc>
                      <a:txBody>
                        <a:bodyPr/>
                        <a:lstStyle/>
                        <a:p>
                          <a:r>
                            <a:rPr lang="es-CO" sz="2000" dirty="0">
                              <a:latin typeface="Roboto" panose="02000000000000000000" pitchFamily="2" charset="0"/>
                              <a:ea typeface="Roboto" panose="02000000000000000000" pitchFamily="2" charset="0"/>
                            </a:rPr>
                            <a:t>1 (la mas alta)</a:t>
                          </a: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r>
                            <a:rPr lang="es-CO" sz="2000" dirty="0">
                              <a:latin typeface="Roboto" panose="02000000000000000000" pitchFamily="2" charset="0"/>
                              <a:ea typeface="Roboto" panose="02000000000000000000" pitchFamily="2" charset="0"/>
                            </a:rPr>
                            <a:t>No aplica (unitario)</a:t>
                          </a: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e>
                                </m:d>
                              </m:oMath>
                            </m:oMathPara>
                          </a14:m>
                          <a:endParaRPr lang="es-CO" sz="2000" dirty="0">
                            <a:latin typeface="Roboto" panose="02000000000000000000" pitchFamily="2" charset="0"/>
                            <a:ea typeface="Roboto" panose="02000000000000000000" pitchFamily="2" charset="0"/>
                          </a:endParaRPr>
                        </a:p>
                      </a:txBody>
                      <a:tcPr>
                        <a:solidFill>
                          <a:schemeClr val="bg1"/>
                        </a:solidFill>
                      </a:tcPr>
                    </a:tc>
                    <a:extLst>
                      <a:ext uri="{0D108BD9-81ED-4DB2-BD59-A6C34878D82A}">
                        <a16:rowId xmlns:a16="http://schemas.microsoft.com/office/drawing/2014/main" val="2762419328"/>
                      </a:ext>
                    </a:extLst>
                  </a:tr>
                  <a:tr h="312406">
                    <a:tc>
                      <a:txBody>
                        <a:bodyPr/>
                        <a:lstStyle/>
                        <a:p>
                          <a:r>
                            <a:rPr lang="es-CO" sz="2000" dirty="0">
                              <a:latin typeface="Roboto" panose="02000000000000000000" pitchFamily="2" charset="0"/>
                              <a:ea typeface="Roboto" panose="02000000000000000000" pitchFamily="2" charset="0"/>
                            </a:rPr>
                            <a:t>2</a:t>
                          </a: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r>
                            <a:rPr lang="es-CO" sz="2000" dirty="0">
                              <a:latin typeface="Roboto" panose="02000000000000000000" pitchFamily="2" charset="0"/>
                              <a:ea typeface="Roboto" panose="02000000000000000000" pitchFamily="2" charset="0"/>
                            </a:rPr>
                            <a:t>Izquierda (</a:t>
                          </a:r>
                          <a14:m>
                            <m:oMath xmlns:m="http://schemas.openxmlformats.org/officeDocument/2006/math">
                              <m:r>
                                <a:rPr lang="es-MX" sz="2000" b="0" i="1" smtClean="0">
                                  <a:latin typeface="Cambria Math" panose="02040503050406030204" pitchFamily="18" charset="0"/>
                                  <a:ea typeface="Roboto" panose="02000000000000000000" pitchFamily="2" charset="0"/>
                                </a:rPr>
                                <m:t>𝐼</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𝐷</m:t>
                              </m:r>
                            </m:oMath>
                          </a14:m>
                          <a:r>
                            <a:rPr lang="es-CO" sz="2000" dirty="0">
                              <a:latin typeface="Roboto" panose="02000000000000000000" pitchFamily="2" charset="0"/>
                              <a:ea typeface="Roboto" panose="02000000000000000000" pitchFamily="2" charset="0"/>
                            </a:rPr>
                            <a:t>)</a:t>
                          </a: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e>
                                </m:d>
                              </m:oMath>
                            </m:oMathPara>
                          </a14:m>
                          <a:endParaRPr lang="es-CO" sz="2000" dirty="0">
                            <a:latin typeface="Roboto" panose="02000000000000000000" pitchFamily="2" charset="0"/>
                            <a:ea typeface="Roboto" panose="02000000000000000000" pitchFamily="2" charset="0"/>
                          </a:endParaRPr>
                        </a:p>
                      </a:txBody>
                      <a:tcPr>
                        <a:solidFill>
                          <a:schemeClr val="bg1"/>
                        </a:solidFill>
                      </a:tcPr>
                    </a:tc>
                    <a:extLst>
                      <a:ext uri="{0D108BD9-81ED-4DB2-BD59-A6C34878D82A}">
                        <a16:rowId xmlns:a16="http://schemas.microsoft.com/office/drawing/2014/main" val="2162588756"/>
                      </a:ext>
                    </a:extLst>
                  </a:tr>
                  <a:tr h="312406">
                    <a:tc>
                      <a:txBody>
                        <a:bodyPr/>
                        <a:lstStyle/>
                        <a:p>
                          <a:r>
                            <a:rPr lang="es-CO" sz="2000" dirty="0">
                              <a:latin typeface="Roboto" panose="02000000000000000000" pitchFamily="2" charset="0"/>
                              <a:ea typeface="Roboto" panose="02000000000000000000" pitchFamily="2" charset="0"/>
                            </a:rPr>
                            <a:t>3</a:t>
                          </a:r>
                        </a:p>
                      </a:txBody>
                      <a:tcP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Roboto" panose="02000000000000000000" pitchFamily="2" charset="0"/>
                              <a:ea typeface="Roboto" panose="02000000000000000000" pitchFamily="2" charset="0"/>
                            </a:rPr>
                            <a:t>Izquierda (</a:t>
                          </a:r>
                          <a14:m>
                            <m:oMath xmlns:m="http://schemas.openxmlformats.org/officeDocument/2006/math">
                              <m:r>
                                <a:rPr lang="es-MX" sz="2000" b="0" i="1" smtClean="0">
                                  <a:latin typeface="Cambria Math" panose="02040503050406030204" pitchFamily="18" charset="0"/>
                                  <a:ea typeface="Roboto" panose="02000000000000000000" pitchFamily="2" charset="0"/>
                                </a:rPr>
                                <m:t>𝐼</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𝐷</m:t>
                              </m:r>
                            </m:oMath>
                          </a14:m>
                          <a:r>
                            <a:rPr lang="es-CO" sz="2000" dirty="0">
                              <a:latin typeface="Roboto" panose="02000000000000000000" pitchFamily="2" charset="0"/>
                              <a:ea typeface="Roboto" panose="02000000000000000000" pitchFamily="2" charset="0"/>
                            </a:rPr>
                            <a:t>)</a:t>
                          </a: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e>
                                </m:d>
                              </m:oMath>
                            </m:oMathPara>
                          </a14:m>
                          <a:endParaRPr lang="es-CO" sz="2000" dirty="0">
                            <a:latin typeface="Roboto" panose="02000000000000000000" pitchFamily="2" charset="0"/>
                            <a:ea typeface="Roboto" panose="02000000000000000000" pitchFamily="2" charset="0"/>
                          </a:endParaRPr>
                        </a:p>
                      </a:txBody>
                      <a:tcPr>
                        <a:solidFill>
                          <a:schemeClr val="bg1"/>
                        </a:solidFill>
                      </a:tcPr>
                    </a:tc>
                    <a:extLst>
                      <a:ext uri="{0D108BD9-81ED-4DB2-BD59-A6C34878D82A}">
                        <a16:rowId xmlns:a16="http://schemas.microsoft.com/office/drawing/2014/main" val="3027133619"/>
                      </a:ext>
                    </a:extLst>
                  </a:tr>
                  <a:tr h="312406">
                    <a:tc>
                      <a:txBody>
                        <a:bodyPr/>
                        <a:lstStyle/>
                        <a:p>
                          <a:r>
                            <a:rPr lang="es-CO" sz="2000" dirty="0">
                              <a:latin typeface="Roboto" panose="02000000000000000000" pitchFamily="2" charset="0"/>
                              <a:ea typeface="Roboto" panose="02000000000000000000" pitchFamily="2" charset="0"/>
                            </a:rPr>
                            <a:t>4</a:t>
                          </a:r>
                        </a:p>
                      </a:txBody>
                      <a:tcP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Roboto" panose="02000000000000000000" pitchFamily="2" charset="0"/>
                              <a:ea typeface="Roboto" panose="02000000000000000000" pitchFamily="2" charset="0"/>
                            </a:rPr>
                            <a:t>Izquierda (</a:t>
                          </a:r>
                          <a14:m>
                            <m:oMath xmlns:m="http://schemas.openxmlformats.org/officeDocument/2006/math">
                              <m:r>
                                <a:rPr lang="es-MX" sz="2000" b="0" i="1" smtClean="0">
                                  <a:latin typeface="Cambria Math" panose="02040503050406030204" pitchFamily="18" charset="0"/>
                                  <a:ea typeface="Roboto" panose="02000000000000000000" pitchFamily="2" charset="0"/>
                                </a:rPr>
                                <m:t>𝐼</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𝐷</m:t>
                              </m:r>
                            </m:oMath>
                          </a14:m>
                          <a:r>
                            <a:rPr lang="es-CO" sz="2000" dirty="0">
                              <a:latin typeface="Roboto" panose="02000000000000000000" pitchFamily="2" charset="0"/>
                              <a:ea typeface="Roboto" panose="02000000000000000000" pitchFamily="2" charset="0"/>
                            </a:rPr>
                            <a: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e>
                                </m:d>
                              </m:oMath>
                            </m:oMathPara>
                          </a14:m>
                          <a:endParaRPr lang="es-CO" sz="2000" dirty="0">
                            <a:latin typeface="Roboto" panose="02000000000000000000" pitchFamily="2" charset="0"/>
                            <a:ea typeface="Roboto" panose="02000000000000000000" pitchFamily="2" charset="0"/>
                          </a:endParaRPr>
                        </a:p>
                      </a:txBody>
                      <a:tcPr>
                        <a:solidFill>
                          <a:schemeClr val="bg1"/>
                        </a:solidFill>
                      </a:tcPr>
                    </a:tc>
                    <a:extLst>
                      <a:ext uri="{0D108BD9-81ED-4DB2-BD59-A6C34878D82A}">
                        <a16:rowId xmlns:a16="http://schemas.microsoft.com/office/drawing/2014/main" val="2163104284"/>
                      </a:ext>
                    </a:extLst>
                  </a:tr>
                  <a:tr h="312406">
                    <a:tc>
                      <a:txBody>
                        <a:bodyPr/>
                        <a:lstStyle/>
                        <a:p>
                          <a:r>
                            <a:rPr lang="es-CO" sz="2000" dirty="0">
                              <a:latin typeface="Roboto" panose="02000000000000000000" pitchFamily="2" charset="0"/>
                              <a:ea typeface="Roboto" panose="02000000000000000000" pitchFamily="2" charset="0"/>
                            </a:rPr>
                            <a:t>5</a:t>
                          </a:r>
                        </a:p>
                      </a:txBody>
                      <a:tcP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Roboto" panose="02000000000000000000" pitchFamily="2" charset="0"/>
                              <a:ea typeface="Roboto" panose="02000000000000000000" pitchFamily="2" charset="0"/>
                            </a:rPr>
                            <a:t>Derecha (</a:t>
                          </a:r>
                          <a14:m>
                            <m:oMath xmlns:m="http://schemas.openxmlformats.org/officeDocument/2006/math">
                              <m:r>
                                <a:rPr lang="es-MX" sz="2000" b="0" i="1" smtClean="0">
                                  <a:latin typeface="Cambria Math" panose="02040503050406030204" pitchFamily="18" charset="0"/>
                                  <a:ea typeface="Roboto" panose="02000000000000000000" pitchFamily="2" charset="0"/>
                                </a:rPr>
                                <m:t>𝐷</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𝐼</m:t>
                              </m:r>
                            </m:oMath>
                          </a14:m>
                          <a:r>
                            <a:rPr lang="es-CO" sz="2000" dirty="0">
                              <a:latin typeface="Roboto" panose="02000000000000000000" pitchFamily="2" charset="0"/>
                              <a:ea typeface="Roboto" panose="02000000000000000000" pitchFamily="2" charset="0"/>
                            </a:rPr>
                            <a: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e>
                                    </m:d>
                                  </m:e>
                                </m:d>
                              </m:oMath>
                            </m:oMathPara>
                          </a14:m>
                          <a:endParaRPr lang="es-CO" sz="2000" dirty="0">
                            <a:latin typeface="Roboto" panose="02000000000000000000" pitchFamily="2" charset="0"/>
                            <a:ea typeface="Roboto" panose="02000000000000000000" pitchFamily="2" charset="0"/>
                          </a:endParaRPr>
                        </a:p>
                      </a:txBody>
                      <a:tcPr>
                        <a:solidFill>
                          <a:schemeClr val="bg1"/>
                        </a:solidFill>
                      </a:tcPr>
                    </a:tc>
                    <a:extLst>
                      <a:ext uri="{0D108BD9-81ED-4DB2-BD59-A6C34878D82A}">
                        <a16:rowId xmlns:a16="http://schemas.microsoft.com/office/drawing/2014/main" val="650495079"/>
                      </a:ext>
                    </a:extLst>
                  </a:tr>
                  <a:tr h="312406">
                    <a:tc>
                      <a:txBody>
                        <a:bodyPr/>
                        <a:lstStyle/>
                        <a:p>
                          <a:r>
                            <a:rPr lang="es-CO" sz="2000" dirty="0">
                              <a:latin typeface="Roboto" panose="02000000000000000000" pitchFamily="2" charset="0"/>
                              <a:ea typeface="Roboto" panose="02000000000000000000" pitchFamily="2" charset="0"/>
                            </a:rPr>
                            <a:t>6 (la mas baja)</a:t>
                          </a:r>
                        </a:p>
                      </a:txBody>
                      <a:tcP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Roboto" panose="02000000000000000000" pitchFamily="2" charset="0"/>
                              <a:ea typeface="Roboto" panose="02000000000000000000" pitchFamily="2" charset="0"/>
                            </a:rPr>
                            <a:t>Derecha (</a:t>
                          </a:r>
                          <a14:m>
                            <m:oMath xmlns:m="http://schemas.openxmlformats.org/officeDocument/2006/math">
                              <m:r>
                                <a:rPr lang="es-MX" sz="2000" b="0" i="1" smtClean="0">
                                  <a:latin typeface="Cambria Math" panose="02040503050406030204" pitchFamily="18" charset="0"/>
                                  <a:ea typeface="Roboto" panose="02000000000000000000" pitchFamily="2" charset="0"/>
                                </a:rPr>
                                <m:t>𝐷</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𝐼</m:t>
                              </m:r>
                            </m:oMath>
                          </a14:m>
                          <a:r>
                            <a:rPr lang="es-CO" sz="2000" dirty="0">
                              <a:latin typeface="Roboto" panose="02000000000000000000" pitchFamily="2" charset="0"/>
                              <a:ea typeface="Roboto" panose="02000000000000000000" pitchFamily="2" charset="0"/>
                            </a:rPr>
                            <a: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e>
                                    </m:d>
                                  </m:e>
                                </m:d>
                              </m:oMath>
                            </m:oMathPara>
                          </a14:m>
                          <a:endParaRPr lang="es-CO" sz="2000" dirty="0">
                            <a:latin typeface="Roboto" panose="02000000000000000000" pitchFamily="2" charset="0"/>
                            <a:ea typeface="Roboto" panose="02000000000000000000" pitchFamily="2" charset="0"/>
                          </a:endParaRPr>
                        </a:p>
                      </a:txBody>
                      <a:tcPr>
                        <a:solidFill>
                          <a:schemeClr val="bg1"/>
                        </a:solidFill>
                      </a:tcPr>
                    </a:tc>
                    <a:extLst>
                      <a:ext uri="{0D108BD9-81ED-4DB2-BD59-A6C34878D82A}">
                        <a16:rowId xmlns:a16="http://schemas.microsoft.com/office/drawing/2014/main" val="134153505"/>
                      </a:ext>
                    </a:extLst>
                  </a:tr>
                </a:tbl>
              </a:graphicData>
            </a:graphic>
          </p:graphicFrame>
        </mc:Choice>
        <mc:Fallback>
          <p:graphicFrame>
            <p:nvGraphicFramePr>
              <p:cNvPr id="6" name="Tabla 2">
                <a:extLst>
                  <a:ext uri="{FF2B5EF4-FFF2-40B4-BE49-F238E27FC236}">
                    <a16:creationId xmlns:a16="http://schemas.microsoft.com/office/drawing/2014/main" id="{FEDA91D7-23FD-416A-86C9-A9A50A25DFA7}"/>
                  </a:ext>
                </a:extLst>
              </p:cNvPr>
              <p:cNvGraphicFramePr>
                <a:graphicFrameLocks noGrp="1"/>
              </p:cNvGraphicFramePr>
              <p:nvPr>
                <p:extLst>
                  <p:ext uri="{D42A27DB-BD31-4B8C-83A1-F6EECF244321}">
                    <p14:modId xmlns:p14="http://schemas.microsoft.com/office/powerpoint/2010/main" val="285884105"/>
                  </p:ext>
                </p:extLst>
              </p:nvPr>
            </p:nvGraphicFramePr>
            <p:xfrm>
              <a:off x="1341646" y="2066948"/>
              <a:ext cx="9795267" cy="3009138"/>
            </p:xfrm>
            <a:graphic>
              <a:graphicData uri="http://schemas.openxmlformats.org/drawingml/2006/table">
                <a:tbl>
                  <a:tblPr firstRow="1" bandRow="1"/>
                  <a:tblGrid>
                    <a:gridCol w="1927543">
                      <a:extLst>
                        <a:ext uri="{9D8B030D-6E8A-4147-A177-3AD203B41FA5}">
                          <a16:colId xmlns:a16="http://schemas.microsoft.com/office/drawing/2014/main" val="2912375319"/>
                        </a:ext>
                      </a:extLst>
                    </a:gridCol>
                    <a:gridCol w="1246909">
                      <a:extLst>
                        <a:ext uri="{9D8B030D-6E8A-4147-A177-3AD203B41FA5}">
                          <a16:colId xmlns:a16="http://schemas.microsoft.com/office/drawing/2014/main" val="2830172176"/>
                        </a:ext>
                      </a:extLst>
                    </a:gridCol>
                    <a:gridCol w="2405380">
                      <a:extLst>
                        <a:ext uri="{9D8B030D-6E8A-4147-A177-3AD203B41FA5}">
                          <a16:colId xmlns:a16="http://schemas.microsoft.com/office/drawing/2014/main" val="3163836375"/>
                        </a:ext>
                      </a:extLst>
                    </a:gridCol>
                    <a:gridCol w="4215435">
                      <a:extLst>
                        <a:ext uri="{9D8B030D-6E8A-4147-A177-3AD203B41FA5}">
                          <a16:colId xmlns:a16="http://schemas.microsoft.com/office/drawing/2014/main" val="2124308029"/>
                        </a:ext>
                      </a:extLst>
                    </a:gridCol>
                  </a:tblGrid>
                  <a:tr h="396240">
                    <a:tc>
                      <a:txBody>
                        <a:bodyPr/>
                        <a:lstStyle/>
                        <a:p>
                          <a:pPr algn="ctr"/>
                          <a:r>
                            <a:rPr lang="es-CO" sz="2000" b="1" dirty="0">
                              <a:solidFill>
                                <a:schemeClr val="bg1"/>
                              </a:solidFill>
                              <a:latin typeface="Roboto" panose="02000000000000000000" pitchFamily="2" charset="0"/>
                              <a:ea typeface="Roboto" panose="02000000000000000000" pitchFamily="2" charset="0"/>
                            </a:rPr>
                            <a:t>Prioridad</a:t>
                          </a:r>
                        </a:p>
                      </a:txBody>
                      <a:tcPr>
                        <a:solidFill>
                          <a:schemeClr val="tx1"/>
                        </a:solidFill>
                      </a:tcPr>
                    </a:tc>
                    <a:tc>
                      <a:txBody>
                        <a:bodyPr/>
                        <a:lstStyle/>
                        <a:p>
                          <a:pPr algn="ctr"/>
                          <a:r>
                            <a:rPr lang="es-CO" sz="2000" b="1" dirty="0">
                              <a:solidFill>
                                <a:schemeClr val="bg1"/>
                              </a:solidFill>
                              <a:latin typeface="Roboto" panose="02000000000000000000" pitchFamily="2" charset="0"/>
                              <a:ea typeface="Roboto" panose="02000000000000000000" pitchFamily="2" charset="0"/>
                            </a:rPr>
                            <a:t>Operador</a:t>
                          </a:r>
                        </a:p>
                      </a:txBody>
                      <a:tcPr>
                        <a:solidFill>
                          <a:schemeClr val="tx1"/>
                        </a:solidFill>
                      </a:tcPr>
                    </a:tc>
                    <a:tc>
                      <a:txBody>
                        <a:bodyPr/>
                        <a:lstStyle/>
                        <a:p>
                          <a:pPr algn="ctr"/>
                          <a:r>
                            <a:rPr lang="es-CO" sz="2000" b="1" dirty="0">
                              <a:solidFill>
                                <a:schemeClr val="bg1"/>
                              </a:solidFill>
                              <a:latin typeface="Roboto" panose="02000000000000000000" pitchFamily="2" charset="0"/>
                              <a:ea typeface="Roboto" panose="02000000000000000000" pitchFamily="2" charset="0"/>
                            </a:rPr>
                            <a:t>Asociatividad</a:t>
                          </a:r>
                        </a:p>
                      </a:txBody>
                      <a:tcPr>
                        <a:solidFill>
                          <a:schemeClr val="tx1"/>
                        </a:solidFill>
                      </a:tcPr>
                    </a:tc>
                    <a:tc>
                      <a:txBody>
                        <a:bodyPr/>
                        <a:lstStyle/>
                        <a:p>
                          <a:pPr algn="ctr"/>
                          <a:r>
                            <a:rPr lang="es-CO" sz="2000" b="1" dirty="0">
                              <a:solidFill>
                                <a:schemeClr val="bg1"/>
                              </a:solidFill>
                              <a:latin typeface="Roboto" panose="02000000000000000000" pitchFamily="2" charset="0"/>
                              <a:ea typeface="Roboto" panose="02000000000000000000" pitchFamily="2" charset="0"/>
                            </a:rPr>
                            <a:t>Ejemplo con paréntesis</a:t>
                          </a:r>
                        </a:p>
                      </a:txBody>
                      <a:tcPr>
                        <a:solidFill>
                          <a:schemeClr val="tx1"/>
                        </a:solidFill>
                      </a:tcPr>
                    </a:tc>
                    <a:extLst>
                      <a:ext uri="{0D108BD9-81ED-4DB2-BD59-A6C34878D82A}">
                        <a16:rowId xmlns:a16="http://schemas.microsoft.com/office/drawing/2014/main" val="884271441"/>
                      </a:ext>
                    </a:extLst>
                  </a:tr>
                  <a:tr h="435483">
                    <a:tc>
                      <a:txBody>
                        <a:bodyPr/>
                        <a:lstStyle/>
                        <a:p>
                          <a:r>
                            <a:rPr lang="es-CO" sz="2000" dirty="0">
                              <a:latin typeface="Roboto" panose="02000000000000000000" pitchFamily="2" charset="0"/>
                              <a:ea typeface="Roboto" panose="02000000000000000000" pitchFamily="2" charset="0"/>
                            </a:rPr>
                            <a:t>1 (la mas alta)</a:t>
                          </a:r>
                        </a:p>
                      </a:txBody>
                      <a:tcPr>
                        <a:solidFill>
                          <a:schemeClr val="bg1"/>
                        </a:solidFill>
                      </a:tcPr>
                    </a:tc>
                    <a:tc>
                      <a:txBody>
                        <a:bodyPr/>
                        <a:lstStyle/>
                        <a:p>
                          <a:endParaRPr lang="es-CO"/>
                        </a:p>
                      </a:txBody>
                      <a:tcPr>
                        <a:blipFill>
                          <a:blip r:embed="rId2"/>
                          <a:stretch>
                            <a:fillRect l="-154634" t="-95833" r="-531220" b="-512500"/>
                          </a:stretch>
                        </a:blipFill>
                      </a:tcPr>
                    </a:tc>
                    <a:tc>
                      <a:txBody>
                        <a:bodyPr/>
                        <a:lstStyle/>
                        <a:p>
                          <a:r>
                            <a:rPr lang="es-CO" sz="2000" dirty="0">
                              <a:latin typeface="Roboto" panose="02000000000000000000" pitchFamily="2" charset="0"/>
                              <a:ea typeface="Roboto" panose="02000000000000000000" pitchFamily="2" charset="0"/>
                            </a:rPr>
                            <a:t>No aplica (unitario)</a:t>
                          </a:r>
                        </a:p>
                      </a:txBody>
                      <a:tcPr>
                        <a:solidFill>
                          <a:schemeClr val="bg1"/>
                        </a:solidFill>
                      </a:tcPr>
                    </a:tc>
                    <a:tc>
                      <a:txBody>
                        <a:bodyPr/>
                        <a:lstStyle/>
                        <a:p>
                          <a:endParaRPr lang="es-CO"/>
                        </a:p>
                      </a:txBody>
                      <a:tcPr>
                        <a:blipFill>
                          <a:blip r:embed="rId2"/>
                          <a:stretch>
                            <a:fillRect l="-132370" t="-95833" r="-434" b="-512500"/>
                          </a:stretch>
                        </a:blipFill>
                      </a:tcPr>
                    </a:tc>
                    <a:extLst>
                      <a:ext uri="{0D108BD9-81ED-4DB2-BD59-A6C34878D82A}">
                        <a16:rowId xmlns:a16="http://schemas.microsoft.com/office/drawing/2014/main" val="2762419328"/>
                      </a:ext>
                    </a:extLst>
                  </a:tr>
                  <a:tr h="435483">
                    <a:tc>
                      <a:txBody>
                        <a:bodyPr/>
                        <a:lstStyle/>
                        <a:p>
                          <a:r>
                            <a:rPr lang="es-CO" sz="2000" dirty="0">
                              <a:latin typeface="Roboto" panose="02000000000000000000" pitchFamily="2" charset="0"/>
                              <a:ea typeface="Roboto" panose="02000000000000000000" pitchFamily="2" charset="0"/>
                            </a:rPr>
                            <a:t>2</a:t>
                          </a:r>
                        </a:p>
                      </a:txBody>
                      <a:tcPr>
                        <a:solidFill>
                          <a:schemeClr val="bg1"/>
                        </a:solidFill>
                      </a:tcPr>
                    </a:tc>
                    <a:tc>
                      <a:txBody>
                        <a:bodyPr/>
                        <a:lstStyle/>
                        <a:p>
                          <a:endParaRPr lang="es-CO"/>
                        </a:p>
                      </a:txBody>
                      <a:tcPr>
                        <a:blipFill>
                          <a:blip r:embed="rId2"/>
                          <a:stretch>
                            <a:fillRect l="-154634" t="-198592" r="-531220" b="-419718"/>
                          </a:stretch>
                        </a:blipFill>
                      </a:tcPr>
                    </a:tc>
                    <a:tc>
                      <a:txBody>
                        <a:bodyPr/>
                        <a:lstStyle/>
                        <a:p>
                          <a:endParaRPr lang="es-CO"/>
                        </a:p>
                      </a:txBody>
                      <a:tcPr>
                        <a:blipFill>
                          <a:blip r:embed="rId2"/>
                          <a:stretch>
                            <a:fillRect l="-132487" t="-198592" r="-176396" b="-419718"/>
                          </a:stretch>
                        </a:blipFill>
                      </a:tcPr>
                    </a:tc>
                    <a:tc>
                      <a:txBody>
                        <a:bodyPr/>
                        <a:lstStyle/>
                        <a:p>
                          <a:endParaRPr lang="es-CO"/>
                        </a:p>
                      </a:txBody>
                      <a:tcPr>
                        <a:blipFill>
                          <a:blip r:embed="rId2"/>
                          <a:stretch>
                            <a:fillRect l="-132370" t="-198592" r="-434" b="-419718"/>
                          </a:stretch>
                        </a:blipFill>
                      </a:tcPr>
                    </a:tc>
                    <a:extLst>
                      <a:ext uri="{0D108BD9-81ED-4DB2-BD59-A6C34878D82A}">
                        <a16:rowId xmlns:a16="http://schemas.microsoft.com/office/drawing/2014/main" val="2162588756"/>
                      </a:ext>
                    </a:extLst>
                  </a:tr>
                  <a:tr h="435483">
                    <a:tc>
                      <a:txBody>
                        <a:bodyPr/>
                        <a:lstStyle/>
                        <a:p>
                          <a:r>
                            <a:rPr lang="es-CO" sz="2000" dirty="0">
                              <a:latin typeface="Roboto" panose="02000000000000000000" pitchFamily="2" charset="0"/>
                              <a:ea typeface="Roboto" panose="02000000000000000000" pitchFamily="2" charset="0"/>
                            </a:rPr>
                            <a:t>3</a:t>
                          </a:r>
                        </a:p>
                      </a:txBody>
                      <a:tcPr>
                        <a:solidFill>
                          <a:schemeClr val="bg1"/>
                        </a:solidFill>
                      </a:tcPr>
                    </a:tc>
                    <a:tc>
                      <a:txBody>
                        <a:bodyPr/>
                        <a:lstStyle/>
                        <a:p>
                          <a:endParaRPr lang="es-CO"/>
                        </a:p>
                      </a:txBody>
                      <a:tcPr>
                        <a:blipFill>
                          <a:blip r:embed="rId2"/>
                          <a:stretch>
                            <a:fillRect l="-154634" t="-294444" r="-531220" b="-313889"/>
                          </a:stretch>
                        </a:blipFill>
                      </a:tcPr>
                    </a:tc>
                    <a:tc>
                      <a:txBody>
                        <a:bodyPr/>
                        <a:lstStyle/>
                        <a:p>
                          <a:endParaRPr lang="es-CO"/>
                        </a:p>
                      </a:txBody>
                      <a:tcPr>
                        <a:blipFill>
                          <a:blip r:embed="rId2"/>
                          <a:stretch>
                            <a:fillRect l="-132487" t="-294444" r="-176396" b="-313889"/>
                          </a:stretch>
                        </a:blipFill>
                      </a:tcPr>
                    </a:tc>
                    <a:tc>
                      <a:txBody>
                        <a:bodyPr/>
                        <a:lstStyle/>
                        <a:p>
                          <a:endParaRPr lang="es-CO"/>
                        </a:p>
                      </a:txBody>
                      <a:tcPr>
                        <a:blipFill>
                          <a:blip r:embed="rId2"/>
                          <a:stretch>
                            <a:fillRect l="-132370" t="-294444" r="-434" b="-313889"/>
                          </a:stretch>
                        </a:blipFill>
                      </a:tcPr>
                    </a:tc>
                    <a:extLst>
                      <a:ext uri="{0D108BD9-81ED-4DB2-BD59-A6C34878D82A}">
                        <a16:rowId xmlns:a16="http://schemas.microsoft.com/office/drawing/2014/main" val="3027133619"/>
                      </a:ext>
                    </a:extLst>
                  </a:tr>
                  <a:tr h="435483">
                    <a:tc>
                      <a:txBody>
                        <a:bodyPr/>
                        <a:lstStyle/>
                        <a:p>
                          <a:r>
                            <a:rPr lang="es-CO" sz="2000" dirty="0">
                              <a:latin typeface="Roboto" panose="02000000000000000000" pitchFamily="2" charset="0"/>
                              <a:ea typeface="Roboto" panose="02000000000000000000" pitchFamily="2" charset="0"/>
                            </a:rPr>
                            <a:t>4</a:t>
                          </a:r>
                        </a:p>
                      </a:txBody>
                      <a:tcPr>
                        <a:solidFill>
                          <a:schemeClr val="bg1"/>
                        </a:solidFill>
                      </a:tcPr>
                    </a:tc>
                    <a:tc>
                      <a:txBody>
                        <a:bodyPr/>
                        <a:lstStyle/>
                        <a:p>
                          <a:endParaRPr lang="es-CO"/>
                        </a:p>
                      </a:txBody>
                      <a:tcPr>
                        <a:blipFill>
                          <a:blip r:embed="rId2"/>
                          <a:stretch>
                            <a:fillRect l="-154634" t="-400000" r="-531220" b="-218310"/>
                          </a:stretch>
                        </a:blipFill>
                      </a:tcPr>
                    </a:tc>
                    <a:tc>
                      <a:txBody>
                        <a:bodyPr/>
                        <a:lstStyle/>
                        <a:p>
                          <a:endParaRPr lang="es-CO"/>
                        </a:p>
                      </a:txBody>
                      <a:tcPr>
                        <a:blipFill>
                          <a:blip r:embed="rId2"/>
                          <a:stretch>
                            <a:fillRect l="-132487" t="-400000" r="-176396" b="-218310"/>
                          </a:stretch>
                        </a:blipFill>
                      </a:tcPr>
                    </a:tc>
                    <a:tc>
                      <a:txBody>
                        <a:bodyPr/>
                        <a:lstStyle/>
                        <a:p>
                          <a:endParaRPr lang="es-CO"/>
                        </a:p>
                      </a:txBody>
                      <a:tcPr>
                        <a:blipFill>
                          <a:blip r:embed="rId2"/>
                          <a:stretch>
                            <a:fillRect l="-132370" t="-400000" r="-434" b="-218310"/>
                          </a:stretch>
                        </a:blipFill>
                      </a:tcPr>
                    </a:tc>
                    <a:extLst>
                      <a:ext uri="{0D108BD9-81ED-4DB2-BD59-A6C34878D82A}">
                        <a16:rowId xmlns:a16="http://schemas.microsoft.com/office/drawing/2014/main" val="2163104284"/>
                      </a:ext>
                    </a:extLst>
                  </a:tr>
                  <a:tr h="435483">
                    <a:tc>
                      <a:txBody>
                        <a:bodyPr/>
                        <a:lstStyle/>
                        <a:p>
                          <a:r>
                            <a:rPr lang="es-CO" sz="2000" dirty="0">
                              <a:latin typeface="Roboto" panose="02000000000000000000" pitchFamily="2" charset="0"/>
                              <a:ea typeface="Roboto" panose="02000000000000000000" pitchFamily="2" charset="0"/>
                            </a:rPr>
                            <a:t>5</a:t>
                          </a:r>
                        </a:p>
                      </a:txBody>
                      <a:tcPr>
                        <a:solidFill>
                          <a:schemeClr val="bg1"/>
                        </a:solidFill>
                      </a:tcPr>
                    </a:tc>
                    <a:tc>
                      <a:txBody>
                        <a:bodyPr/>
                        <a:lstStyle/>
                        <a:p>
                          <a:endParaRPr lang="es-CO"/>
                        </a:p>
                      </a:txBody>
                      <a:tcPr>
                        <a:blipFill>
                          <a:blip r:embed="rId2"/>
                          <a:stretch>
                            <a:fillRect l="-154634" t="-493056" r="-531220" b="-115278"/>
                          </a:stretch>
                        </a:blipFill>
                      </a:tcPr>
                    </a:tc>
                    <a:tc>
                      <a:txBody>
                        <a:bodyPr/>
                        <a:lstStyle/>
                        <a:p>
                          <a:endParaRPr lang="es-CO"/>
                        </a:p>
                      </a:txBody>
                      <a:tcPr>
                        <a:blipFill>
                          <a:blip r:embed="rId2"/>
                          <a:stretch>
                            <a:fillRect l="-132487" t="-493056" r="-176396" b="-115278"/>
                          </a:stretch>
                        </a:blipFill>
                      </a:tcPr>
                    </a:tc>
                    <a:tc>
                      <a:txBody>
                        <a:bodyPr/>
                        <a:lstStyle/>
                        <a:p>
                          <a:endParaRPr lang="es-CO"/>
                        </a:p>
                      </a:txBody>
                      <a:tcPr>
                        <a:blipFill>
                          <a:blip r:embed="rId2"/>
                          <a:stretch>
                            <a:fillRect l="-132370" t="-493056" r="-434" b="-115278"/>
                          </a:stretch>
                        </a:blipFill>
                      </a:tcPr>
                    </a:tc>
                    <a:extLst>
                      <a:ext uri="{0D108BD9-81ED-4DB2-BD59-A6C34878D82A}">
                        <a16:rowId xmlns:a16="http://schemas.microsoft.com/office/drawing/2014/main" val="650495079"/>
                      </a:ext>
                    </a:extLst>
                  </a:tr>
                  <a:tr h="435483">
                    <a:tc>
                      <a:txBody>
                        <a:bodyPr/>
                        <a:lstStyle/>
                        <a:p>
                          <a:r>
                            <a:rPr lang="es-CO" sz="2000" dirty="0">
                              <a:latin typeface="Roboto" panose="02000000000000000000" pitchFamily="2" charset="0"/>
                              <a:ea typeface="Roboto" panose="02000000000000000000" pitchFamily="2" charset="0"/>
                            </a:rPr>
                            <a:t>6 (la mas baja)</a:t>
                          </a:r>
                        </a:p>
                      </a:txBody>
                      <a:tcPr>
                        <a:solidFill>
                          <a:schemeClr val="bg1"/>
                        </a:solidFill>
                      </a:tcPr>
                    </a:tc>
                    <a:tc>
                      <a:txBody>
                        <a:bodyPr/>
                        <a:lstStyle/>
                        <a:p>
                          <a:endParaRPr lang="es-CO"/>
                        </a:p>
                      </a:txBody>
                      <a:tcPr>
                        <a:blipFill>
                          <a:blip r:embed="rId2"/>
                          <a:stretch>
                            <a:fillRect l="-154634" t="-601408" r="-531220" b="-16901"/>
                          </a:stretch>
                        </a:blipFill>
                      </a:tcPr>
                    </a:tc>
                    <a:tc>
                      <a:txBody>
                        <a:bodyPr/>
                        <a:lstStyle/>
                        <a:p>
                          <a:endParaRPr lang="es-CO"/>
                        </a:p>
                      </a:txBody>
                      <a:tcPr>
                        <a:blipFill>
                          <a:blip r:embed="rId2"/>
                          <a:stretch>
                            <a:fillRect l="-132487" t="-601408" r="-176396" b="-16901"/>
                          </a:stretch>
                        </a:blipFill>
                      </a:tcPr>
                    </a:tc>
                    <a:tc>
                      <a:txBody>
                        <a:bodyPr/>
                        <a:lstStyle/>
                        <a:p>
                          <a:endParaRPr lang="es-CO"/>
                        </a:p>
                      </a:txBody>
                      <a:tcPr>
                        <a:blipFill>
                          <a:blip r:embed="rId2"/>
                          <a:stretch>
                            <a:fillRect l="-132370" t="-601408" r="-434" b="-16901"/>
                          </a:stretch>
                        </a:blipFill>
                      </a:tcPr>
                    </a:tc>
                    <a:extLst>
                      <a:ext uri="{0D108BD9-81ED-4DB2-BD59-A6C34878D82A}">
                        <a16:rowId xmlns:a16="http://schemas.microsoft.com/office/drawing/2014/main" val="134153505"/>
                      </a:ext>
                    </a:extLst>
                  </a:tr>
                </a:tbl>
              </a:graphicData>
            </a:graphic>
          </p:graphicFrame>
        </mc:Fallback>
      </mc:AlternateContent>
    </p:spTree>
    <p:extLst>
      <p:ext uri="{BB962C8B-B14F-4D97-AF65-F5344CB8AC3E}">
        <p14:creationId xmlns:p14="http://schemas.microsoft.com/office/powerpoint/2010/main" val="173573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360218" y="226581"/>
            <a:ext cx="11055927" cy="881783"/>
          </a:xfrm>
        </p:spPr>
        <p:txBody>
          <a:bodyPr/>
          <a:lstStyle/>
          <a:p>
            <a:r>
              <a:rPr lang="es-CO" dirty="0"/>
              <a:t>Repaso</a:t>
            </a:r>
          </a:p>
        </p:txBody>
      </p:sp>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359419" y="1052947"/>
            <a:ext cx="11471563" cy="1371600"/>
          </a:xfrm>
        </p:spPr>
        <p:txBody>
          <a:bodyPr>
            <a:normAutofit/>
          </a:bodyPr>
          <a:lstStyle/>
          <a:p>
            <a:pPr marL="0" indent="0">
              <a:buNone/>
            </a:pPr>
            <a:r>
              <a:rPr lang="es-MX" sz="2400" b="1" dirty="0">
                <a:solidFill>
                  <a:srgbClr val="131314"/>
                </a:solidFill>
              </a:rPr>
              <a:t>Clasificación de las proposiciones</a:t>
            </a:r>
          </a:p>
          <a:p>
            <a:pPr marL="0" indent="0">
              <a:buNone/>
            </a:pPr>
            <a:r>
              <a:rPr lang="es-MX" sz="2200" dirty="0">
                <a:solidFill>
                  <a:srgbClr val="131314"/>
                </a:solidFill>
              </a:rPr>
              <a:t>En lógica proposicional, las proposiciones se clasifican según su valor de verdad en todas sus posibles interpretaciones (combinación de valores de la tabla de verdad) en tres tipos.</a:t>
            </a:r>
          </a:p>
        </p:txBody>
      </p:sp>
      <mc:AlternateContent xmlns:mc="http://schemas.openxmlformats.org/markup-compatibility/2006">
        <mc:Choice xmlns:a14="http://schemas.microsoft.com/office/drawing/2010/main" Requires="a14">
          <p:graphicFrame>
            <p:nvGraphicFramePr>
              <p:cNvPr id="4" name="Tabla 4">
                <a:extLst>
                  <a:ext uri="{FF2B5EF4-FFF2-40B4-BE49-F238E27FC236}">
                    <a16:creationId xmlns:a16="http://schemas.microsoft.com/office/drawing/2014/main" id="{A4628F4F-DFD9-4BDA-B513-51A6088E8F87}"/>
                  </a:ext>
                </a:extLst>
              </p:cNvPr>
              <p:cNvGraphicFramePr>
                <a:graphicFrameLocks noGrp="1"/>
              </p:cNvGraphicFramePr>
              <p:nvPr>
                <p:extLst>
                  <p:ext uri="{D42A27DB-BD31-4B8C-83A1-F6EECF244321}">
                    <p14:modId xmlns:p14="http://schemas.microsoft.com/office/powerpoint/2010/main" val="3265747939"/>
                  </p:ext>
                </p:extLst>
              </p:nvPr>
            </p:nvGraphicFramePr>
            <p:xfrm>
              <a:off x="668246" y="3420809"/>
              <a:ext cx="2184788" cy="1188720"/>
            </p:xfrm>
            <a:graphic>
              <a:graphicData uri="http://schemas.openxmlformats.org/drawingml/2006/table">
                <a:tbl>
                  <a:tblPr firstRow="1" bandRow="1"/>
                  <a:tblGrid>
                    <a:gridCol w="403543">
                      <a:extLst>
                        <a:ext uri="{9D8B030D-6E8A-4147-A177-3AD203B41FA5}">
                          <a16:colId xmlns:a16="http://schemas.microsoft.com/office/drawing/2014/main" val="776375974"/>
                        </a:ext>
                      </a:extLst>
                    </a:gridCol>
                    <a:gridCol w="594043">
                      <a:extLst>
                        <a:ext uri="{9D8B030D-6E8A-4147-A177-3AD203B41FA5}">
                          <a16:colId xmlns:a16="http://schemas.microsoft.com/office/drawing/2014/main" val="384604534"/>
                        </a:ext>
                      </a:extLst>
                    </a:gridCol>
                    <a:gridCol w="1187202">
                      <a:extLst>
                        <a:ext uri="{9D8B030D-6E8A-4147-A177-3AD203B41FA5}">
                          <a16:colId xmlns:a16="http://schemas.microsoft.com/office/drawing/2014/main" val="79869298"/>
                        </a:ext>
                      </a:extLst>
                    </a:gridCol>
                  </a:tblGrid>
                  <a:tr h="12930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m:t>
                                </m:r>
                                <m:r>
                                  <a:rPr lang="es-MX" sz="2000" b="1" i="1" smtClean="0">
                                    <a:solidFill>
                                      <a:schemeClr val="bg1"/>
                                    </a:solidFill>
                                    <a:latin typeface="Cambria Math" panose="02040503050406030204" pitchFamily="18" charset="0"/>
                                    <a:ea typeface="Roboto" panose="02000000000000000000" pitchFamily="2" charset="0"/>
                                  </a:rPr>
                                  <m:t>𝒑</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marL="0" indent="0">
                            <a:buFont typeface="+mj-lt"/>
                            <a:buNone/>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rPr>
                                  <m:t>𝒑</m:t>
                                </m:r>
                                <m:r>
                                  <a:rPr lang="es-MX" sz="2000" b="1" i="1" smtClean="0">
                                    <a:solidFill>
                                      <a:schemeClr val="bg1"/>
                                    </a:solidFill>
                                    <a:latin typeface="Cambria Math" panose="02040503050406030204" pitchFamily="18" charset="0"/>
                                  </a:rPr>
                                  <m:t> ∨¬</m:t>
                                </m:r>
                                <m:r>
                                  <a:rPr lang="es-MX" sz="2000" b="1" i="1" smtClean="0">
                                    <a:solidFill>
                                      <a:schemeClr val="bg1"/>
                                    </a:solidFill>
                                    <a:latin typeface="Cambria Math" panose="02040503050406030204" pitchFamily="18" charset="0"/>
                                    <a:ea typeface="Cambria Math" panose="02040503050406030204" pitchFamily="18" charset="0"/>
                                  </a:rPr>
                                  <m:t>𝒑</m:t>
                                </m:r>
                              </m:oMath>
                            </m:oMathPara>
                          </a14:m>
                          <a:endParaRPr lang="es-MX" sz="2000" b="1" dirty="0">
                            <a:solidFill>
                              <a:schemeClr val="bg1"/>
                            </a:solidFill>
                          </a:endParaRPr>
                        </a:p>
                      </a:txBody>
                      <a:tcPr>
                        <a:solidFill>
                          <a:schemeClr val="tx1"/>
                        </a:solidFill>
                      </a:tcPr>
                    </a:tc>
                    <a:extLst>
                      <a:ext uri="{0D108BD9-81ED-4DB2-BD59-A6C34878D82A}">
                        <a16:rowId xmlns:a16="http://schemas.microsoft.com/office/drawing/2014/main" val="113670299"/>
                      </a:ext>
                    </a:extLst>
                  </a:tr>
                  <a:tr h="1473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b="0" dirty="0">
                            <a:solidFill>
                              <a:schemeClr val="tx1"/>
                            </a:solidFill>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b="0" dirty="0">
                            <a:solidFill>
                              <a:schemeClr val="tx1"/>
                            </a:solidFill>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b="0" dirty="0">
                            <a:solidFill>
                              <a:schemeClr val="tx1"/>
                            </a:solidFill>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805549228"/>
                      </a:ext>
                    </a:extLst>
                  </a:tr>
                  <a:tr h="147320">
                    <a:tc>
                      <a:txBody>
                        <a:bodyPr/>
                        <a:lstStyle/>
                        <a:p>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b="0" dirty="0">
                            <a:solidFill>
                              <a:schemeClr val="tx1"/>
                            </a:solidFill>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b="0" dirty="0">
                            <a:solidFill>
                              <a:schemeClr val="tx1"/>
                            </a:solidFill>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b="0" dirty="0">
                            <a:solidFill>
                              <a:schemeClr val="tx1"/>
                            </a:solidFill>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353127006"/>
                      </a:ext>
                    </a:extLst>
                  </a:tr>
                </a:tbl>
              </a:graphicData>
            </a:graphic>
          </p:graphicFrame>
        </mc:Choice>
        <mc:Fallback>
          <p:graphicFrame>
            <p:nvGraphicFramePr>
              <p:cNvPr id="4" name="Tabla 4">
                <a:extLst>
                  <a:ext uri="{FF2B5EF4-FFF2-40B4-BE49-F238E27FC236}">
                    <a16:creationId xmlns:a16="http://schemas.microsoft.com/office/drawing/2014/main" id="{A4628F4F-DFD9-4BDA-B513-51A6088E8F87}"/>
                  </a:ext>
                </a:extLst>
              </p:cNvPr>
              <p:cNvGraphicFramePr>
                <a:graphicFrameLocks noGrp="1"/>
              </p:cNvGraphicFramePr>
              <p:nvPr>
                <p:extLst>
                  <p:ext uri="{D42A27DB-BD31-4B8C-83A1-F6EECF244321}">
                    <p14:modId xmlns:p14="http://schemas.microsoft.com/office/powerpoint/2010/main" val="3265747939"/>
                  </p:ext>
                </p:extLst>
              </p:nvPr>
            </p:nvGraphicFramePr>
            <p:xfrm>
              <a:off x="668246" y="3420809"/>
              <a:ext cx="2184788" cy="1188720"/>
            </p:xfrm>
            <a:graphic>
              <a:graphicData uri="http://schemas.openxmlformats.org/drawingml/2006/table">
                <a:tbl>
                  <a:tblPr firstRow="1" bandRow="1"/>
                  <a:tblGrid>
                    <a:gridCol w="403543">
                      <a:extLst>
                        <a:ext uri="{9D8B030D-6E8A-4147-A177-3AD203B41FA5}">
                          <a16:colId xmlns:a16="http://schemas.microsoft.com/office/drawing/2014/main" val="776375974"/>
                        </a:ext>
                      </a:extLst>
                    </a:gridCol>
                    <a:gridCol w="594043">
                      <a:extLst>
                        <a:ext uri="{9D8B030D-6E8A-4147-A177-3AD203B41FA5}">
                          <a16:colId xmlns:a16="http://schemas.microsoft.com/office/drawing/2014/main" val="384604534"/>
                        </a:ext>
                      </a:extLst>
                    </a:gridCol>
                    <a:gridCol w="1187202">
                      <a:extLst>
                        <a:ext uri="{9D8B030D-6E8A-4147-A177-3AD203B41FA5}">
                          <a16:colId xmlns:a16="http://schemas.microsoft.com/office/drawing/2014/main" val="79869298"/>
                        </a:ext>
                      </a:extLst>
                    </a:gridCol>
                  </a:tblGrid>
                  <a:tr h="396240">
                    <a:tc>
                      <a:txBody>
                        <a:bodyPr/>
                        <a:lstStyle/>
                        <a:p>
                          <a:endParaRPr lang="es-CO"/>
                        </a:p>
                      </a:txBody>
                      <a:tcPr>
                        <a:blipFill>
                          <a:blip r:embed="rId2"/>
                          <a:stretch>
                            <a:fillRect l="-1515" t="-1538" r="-448485" b="-204615"/>
                          </a:stretch>
                        </a:blipFill>
                      </a:tcPr>
                    </a:tc>
                    <a:tc>
                      <a:txBody>
                        <a:bodyPr/>
                        <a:lstStyle/>
                        <a:p>
                          <a:endParaRPr lang="es-CO"/>
                        </a:p>
                      </a:txBody>
                      <a:tcPr>
                        <a:blipFill>
                          <a:blip r:embed="rId2"/>
                          <a:stretch>
                            <a:fillRect l="-68367" t="-1538" r="-202041" b="-204615"/>
                          </a:stretch>
                        </a:blipFill>
                      </a:tcPr>
                    </a:tc>
                    <a:tc>
                      <a:txBody>
                        <a:bodyPr/>
                        <a:lstStyle/>
                        <a:p>
                          <a:endParaRPr lang="es-CO"/>
                        </a:p>
                      </a:txBody>
                      <a:tcPr>
                        <a:blipFill>
                          <a:blip r:embed="rId2"/>
                          <a:stretch>
                            <a:fillRect l="-84184" t="-1538" r="-1020" b="-204615"/>
                          </a:stretch>
                        </a:blipFill>
                      </a:tcPr>
                    </a:tc>
                    <a:extLst>
                      <a:ext uri="{0D108BD9-81ED-4DB2-BD59-A6C34878D82A}">
                        <a16:rowId xmlns:a16="http://schemas.microsoft.com/office/drawing/2014/main" val="113670299"/>
                      </a:ext>
                    </a:extLst>
                  </a:tr>
                  <a:tr h="396240">
                    <a:tc>
                      <a:txBody>
                        <a:bodyPr/>
                        <a:lstStyle/>
                        <a:p>
                          <a:endParaRPr lang="es-CO"/>
                        </a:p>
                      </a:txBody>
                      <a:tcPr>
                        <a:blipFill>
                          <a:blip r:embed="rId2"/>
                          <a:stretch>
                            <a:fillRect l="-1515" t="-100000" r="-448485" b="-101515"/>
                          </a:stretch>
                        </a:blipFill>
                      </a:tcPr>
                    </a:tc>
                    <a:tc>
                      <a:txBody>
                        <a:bodyPr/>
                        <a:lstStyle/>
                        <a:p>
                          <a:endParaRPr lang="es-CO"/>
                        </a:p>
                      </a:txBody>
                      <a:tcPr>
                        <a:blipFill>
                          <a:blip r:embed="rId2"/>
                          <a:stretch>
                            <a:fillRect l="-68367" t="-100000" r="-202041" b="-101515"/>
                          </a:stretch>
                        </a:blipFill>
                      </a:tcPr>
                    </a:tc>
                    <a:tc>
                      <a:txBody>
                        <a:bodyPr/>
                        <a:lstStyle/>
                        <a:p>
                          <a:endParaRPr lang="es-CO"/>
                        </a:p>
                      </a:txBody>
                      <a:tcPr>
                        <a:blipFill>
                          <a:blip r:embed="rId2"/>
                          <a:stretch>
                            <a:fillRect l="-84184" t="-100000" r="-1020" b="-101515"/>
                          </a:stretch>
                        </a:blipFill>
                      </a:tcPr>
                    </a:tc>
                    <a:extLst>
                      <a:ext uri="{0D108BD9-81ED-4DB2-BD59-A6C34878D82A}">
                        <a16:rowId xmlns:a16="http://schemas.microsoft.com/office/drawing/2014/main" val="1805549228"/>
                      </a:ext>
                    </a:extLst>
                  </a:tr>
                  <a:tr h="396240">
                    <a:tc>
                      <a:txBody>
                        <a:bodyPr/>
                        <a:lstStyle/>
                        <a:p>
                          <a:endParaRPr lang="es-CO"/>
                        </a:p>
                      </a:txBody>
                      <a:tcPr>
                        <a:blipFill>
                          <a:blip r:embed="rId2"/>
                          <a:stretch>
                            <a:fillRect l="-1515" t="-203077" r="-448485" b="-3077"/>
                          </a:stretch>
                        </a:blipFill>
                      </a:tcPr>
                    </a:tc>
                    <a:tc>
                      <a:txBody>
                        <a:bodyPr/>
                        <a:lstStyle/>
                        <a:p>
                          <a:endParaRPr lang="es-CO"/>
                        </a:p>
                      </a:txBody>
                      <a:tcPr>
                        <a:blipFill>
                          <a:blip r:embed="rId2"/>
                          <a:stretch>
                            <a:fillRect l="-68367" t="-203077" r="-202041" b="-3077"/>
                          </a:stretch>
                        </a:blipFill>
                      </a:tcPr>
                    </a:tc>
                    <a:tc>
                      <a:txBody>
                        <a:bodyPr/>
                        <a:lstStyle/>
                        <a:p>
                          <a:endParaRPr lang="es-CO"/>
                        </a:p>
                      </a:txBody>
                      <a:tcPr>
                        <a:blipFill>
                          <a:blip r:embed="rId2"/>
                          <a:stretch>
                            <a:fillRect l="-84184" t="-203077" r="-1020" b="-3077"/>
                          </a:stretch>
                        </a:blipFill>
                      </a:tcPr>
                    </a:tc>
                    <a:extLst>
                      <a:ext uri="{0D108BD9-81ED-4DB2-BD59-A6C34878D82A}">
                        <a16:rowId xmlns:a16="http://schemas.microsoft.com/office/drawing/2014/main" val="235312700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5" name="Tabla 4">
                <a:extLst>
                  <a:ext uri="{FF2B5EF4-FFF2-40B4-BE49-F238E27FC236}">
                    <a16:creationId xmlns:a16="http://schemas.microsoft.com/office/drawing/2014/main" id="{B303214D-7C7D-4980-B758-2E6C09651BDF}"/>
                  </a:ext>
                </a:extLst>
              </p:cNvPr>
              <p:cNvGraphicFramePr>
                <a:graphicFrameLocks noGrp="1"/>
              </p:cNvGraphicFramePr>
              <p:nvPr>
                <p:extLst>
                  <p:ext uri="{D42A27DB-BD31-4B8C-83A1-F6EECF244321}">
                    <p14:modId xmlns:p14="http://schemas.microsoft.com/office/powerpoint/2010/main" val="800392998"/>
                  </p:ext>
                </p:extLst>
              </p:nvPr>
            </p:nvGraphicFramePr>
            <p:xfrm>
              <a:off x="4495248" y="3420809"/>
              <a:ext cx="2281954" cy="1188720"/>
            </p:xfrm>
            <a:graphic>
              <a:graphicData uri="http://schemas.openxmlformats.org/drawingml/2006/table">
                <a:tbl>
                  <a:tblPr firstRow="1" bandRow="1"/>
                  <a:tblGrid>
                    <a:gridCol w="403543">
                      <a:extLst>
                        <a:ext uri="{9D8B030D-6E8A-4147-A177-3AD203B41FA5}">
                          <a16:colId xmlns:a16="http://schemas.microsoft.com/office/drawing/2014/main" val="776375974"/>
                        </a:ext>
                      </a:extLst>
                    </a:gridCol>
                    <a:gridCol w="594043">
                      <a:extLst>
                        <a:ext uri="{9D8B030D-6E8A-4147-A177-3AD203B41FA5}">
                          <a16:colId xmlns:a16="http://schemas.microsoft.com/office/drawing/2014/main" val="79869298"/>
                        </a:ext>
                      </a:extLst>
                    </a:gridCol>
                    <a:gridCol w="1284368">
                      <a:extLst>
                        <a:ext uri="{9D8B030D-6E8A-4147-A177-3AD203B41FA5}">
                          <a16:colId xmlns:a16="http://schemas.microsoft.com/office/drawing/2014/main" val="1121803805"/>
                        </a:ext>
                      </a:extLst>
                    </a:gridCol>
                  </a:tblGrid>
                  <a:tr h="14547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rPr>
                                  <m:t>¬</m:t>
                                </m:r>
                                <m:r>
                                  <a:rPr lang="es-MX" sz="2000" b="1" i="1" smtClean="0">
                                    <a:solidFill>
                                      <a:schemeClr val="bg1"/>
                                    </a:solidFill>
                                    <a:latin typeface="Cambria Math" panose="02040503050406030204" pitchFamily="18" charset="0"/>
                                  </a:rPr>
                                  <m:t>𝒑</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rPr>
                                  <m:t>𝒑</m:t>
                                </m:r>
                                <m:r>
                                  <a:rPr lang="es-MX" sz="2000" b="1" i="1" smtClean="0">
                                    <a:solidFill>
                                      <a:schemeClr val="bg1"/>
                                    </a:solidFill>
                                    <a:latin typeface="Cambria Math" panose="02040503050406030204" pitchFamily="18" charset="0"/>
                                  </a:rPr>
                                  <m:t> ∧¬</m:t>
                                </m:r>
                                <m:r>
                                  <a:rPr lang="es-MX" sz="2000" b="1" i="1" smtClean="0">
                                    <a:solidFill>
                                      <a:schemeClr val="bg1"/>
                                    </a:solidFill>
                                    <a:latin typeface="Cambria Math" panose="02040503050406030204" pitchFamily="18" charset="0"/>
                                    <a:ea typeface="Cambria Math" panose="02040503050406030204" pitchFamily="18" charset="0"/>
                                  </a:rPr>
                                  <m:t>𝒑</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extLst>
                      <a:ext uri="{0D108BD9-81ED-4DB2-BD59-A6C34878D82A}">
                        <a16:rowId xmlns:a16="http://schemas.microsoft.com/office/drawing/2014/main" val="113670299"/>
                      </a:ext>
                    </a:extLst>
                  </a:tr>
                  <a:tr h="14547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b="0" dirty="0">
                            <a:solidFill>
                              <a:schemeClr val="tx1"/>
                            </a:solidFill>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b="0" dirty="0">
                            <a:solidFill>
                              <a:schemeClr val="tx1"/>
                            </a:solidFill>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b="0" dirty="0">
                            <a:solidFill>
                              <a:schemeClr val="tx1"/>
                            </a:solidFill>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805549228"/>
                      </a:ext>
                    </a:extLst>
                  </a:tr>
                  <a:tr h="145473">
                    <a:tc>
                      <a:txBody>
                        <a:bodyPr/>
                        <a:lstStyle/>
                        <a:p>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b="0" dirty="0">
                            <a:solidFill>
                              <a:schemeClr val="tx1"/>
                            </a:solidFill>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b="0" dirty="0">
                            <a:solidFill>
                              <a:schemeClr val="tx1"/>
                            </a:solidFill>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b="0" dirty="0">
                            <a:solidFill>
                              <a:schemeClr val="tx1"/>
                            </a:solidFill>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353127006"/>
                      </a:ext>
                    </a:extLst>
                  </a:tr>
                </a:tbl>
              </a:graphicData>
            </a:graphic>
          </p:graphicFrame>
        </mc:Choice>
        <mc:Fallback>
          <p:graphicFrame>
            <p:nvGraphicFramePr>
              <p:cNvPr id="5" name="Tabla 4">
                <a:extLst>
                  <a:ext uri="{FF2B5EF4-FFF2-40B4-BE49-F238E27FC236}">
                    <a16:creationId xmlns:a16="http://schemas.microsoft.com/office/drawing/2014/main" id="{B303214D-7C7D-4980-B758-2E6C09651BDF}"/>
                  </a:ext>
                </a:extLst>
              </p:cNvPr>
              <p:cNvGraphicFramePr>
                <a:graphicFrameLocks noGrp="1"/>
              </p:cNvGraphicFramePr>
              <p:nvPr>
                <p:extLst>
                  <p:ext uri="{D42A27DB-BD31-4B8C-83A1-F6EECF244321}">
                    <p14:modId xmlns:p14="http://schemas.microsoft.com/office/powerpoint/2010/main" val="800392998"/>
                  </p:ext>
                </p:extLst>
              </p:nvPr>
            </p:nvGraphicFramePr>
            <p:xfrm>
              <a:off x="4495248" y="3420809"/>
              <a:ext cx="2281954" cy="1188720"/>
            </p:xfrm>
            <a:graphic>
              <a:graphicData uri="http://schemas.openxmlformats.org/drawingml/2006/table">
                <a:tbl>
                  <a:tblPr firstRow="1" bandRow="1"/>
                  <a:tblGrid>
                    <a:gridCol w="403543">
                      <a:extLst>
                        <a:ext uri="{9D8B030D-6E8A-4147-A177-3AD203B41FA5}">
                          <a16:colId xmlns:a16="http://schemas.microsoft.com/office/drawing/2014/main" val="776375974"/>
                        </a:ext>
                      </a:extLst>
                    </a:gridCol>
                    <a:gridCol w="594043">
                      <a:extLst>
                        <a:ext uri="{9D8B030D-6E8A-4147-A177-3AD203B41FA5}">
                          <a16:colId xmlns:a16="http://schemas.microsoft.com/office/drawing/2014/main" val="79869298"/>
                        </a:ext>
                      </a:extLst>
                    </a:gridCol>
                    <a:gridCol w="1284368">
                      <a:extLst>
                        <a:ext uri="{9D8B030D-6E8A-4147-A177-3AD203B41FA5}">
                          <a16:colId xmlns:a16="http://schemas.microsoft.com/office/drawing/2014/main" val="1121803805"/>
                        </a:ext>
                      </a:extLst>
                    </a:gridCol>
                  </a:tblGrid>
                  <a:tr h="396240">
                    <a:tc>
                      <a:txBody>
                        <a:bodyPr/>
                        <a:lstStyle/>
                        <a:p>
                          <a:endParaRPr lang="es-CO"/>
                        </a:p>
                      </a:txBody>
                      <a:tcPr>
                        <a:blipFill>
                          <a:blip r:embed="rId3"/>
                          <a:stretch>
                            <a:fillRect l="-1515" t="-1538" r="-471212" b="-204615"/>
                          </a:stretch>
                        </a:blipFill>
                      </a:tcPr>
                    </a:tc>
                    <a:tc>
                      <a:txBody>
                        <a:bodyPr/>
                        <a:lstStyle/>
                        <a:p>
                          <a:endParaRPr lang="es-CO"/>
                        </a:p>
                      </a:txBody>
                      <a:tcPr>
                        <a:blipFill>
                          <a:blip r:embed="rId3"/>
                          <a:stretch>
                            <a:fillRect l="-68367" t="-1538" r="-217347" b="-204615"/>
                          </a:stretch>
                        </a:blipFill>
                      </a:tcPr>
                    </a:tc>
                    <a:tc>
                      <a:txBody>
                        <a:bodyPr/>
                        <a:lstStyle/>
                        <a:p>
                          <a:endParaRPr lang="es-CO"/>
                        </a:p>
                      </a:txBody>
                      <a:tcPr>
                        <a:blipFill>
                          <a:blip r:embed="rId3"/>
                          <a:stretch>
                            <a:fillRect l="-78199" t="-1538" r="-948" b="-204615"/>
                          </a:stretch>
                        </a:blipFill>
                      </a:tcPr>
                    </a:tc>
                    <a:extLst>
                      <a:ext uri="{0D108BD9-81ED-4DB2-BD59-A6C34878D82A}">
                        <a16:rowId xmlns:a16="http://schemas.microsoft.com/office/drawing/2014/main" val="113670299"/>
                      </a:ext>
                    </a:extLst>
                  </a:tr>
                  <a:tr h="396240">
                    <a:tc>
                      <a:txBody>
                        <a:bodyPr/>
                        <a:lstStyle/>
                        <a:p>
                          <a:endParaRPr lang="es-CO"/>
                        </a:p>
                      </a:txBody>
                      <a:tcPr>
                        <a:blipFill>
                          <a:blip r:embed="rId3"/>
                          <a:stretch>
                            <a:fillRect l="-1515" t="-100000" r="-471212" b="-101515"/>
                          </a:stretch>
                        </a:blipFill>
                      </a:tcPr>
                    </a:tc>
                    <a:tc>
                      <a:txBody>
                        <a:bodyPr/>
                        <a:lstStyle/>
                        <a:p>
                          <a:endParaRPr lang="es-CO"/>
                        </a:p>
                      </a:txBody>
                      <a:tcPr>
                        <a:blipFill>
                          <a:blip r:embed="rId3"/>
                          <a:stretch>
                            <a:fillRect l="-68367" t="-100000" r="-217347" b="-101515"/>
                          </a:stretch>
                        </a:blipFill>
                      </a:tcPr>
                    </a:tc>
                    <a:tc>
                      <a:txBody>
                        <a:bodyPr/>
                        <a:lstStyle/>
                        <a:p>
                          <a:endParaRPr lang="es-CO"/>
                        </a:p>
                      </a:txBody>
                      <a:tcPr>
                        <a:blipFill>
                          <a:blip r:embed="rId3"/>
                          <a:stretch>
                            <a:fillRect l="-78199" t="-100000" r="-948" b="-101515"/>
                          </a:stretch>
                        </a:blipFill>
                      </a:tcPr>
                    </a:tc>
                    <a:extLst>
                      <a:ext uri="{0D108BD9-81ED-4DB2-BD59-A6C34878D82A}">
                        <a16:rowId xmlns:a16="http://schemas.microsoft.com/office/drawing/2014/main" val="1805549228"/>
                      </a:ext>
                    </a:extLst>
                  </a:tr>
                  <a:tr h="396240">
                    <a:tc>
                      <a:txBody>
                        <a:bodyPr/>
                        <a:lstStyle/>
                        <a:p>
                          <a:endParaRPr lang="es-CO"/>
                        </a:p>
                      </a:txBody>
                      <a:tcPr>
                        <a:blipFill>
                          <a:blip r:embed="rId3"/>
                          <a:stretch>
                            <a:fillRect l="-1515" t="-203077" r="-471212" b="-3077"/>
                          </a:stretch>
                        </a:blipFill>
                      </a:tcPr>
                    </a:tc>
                    <a:tc>
                      <a:txBody>
                        <a:bodyPr/>
                        <a:lstStyle/>
                        <a:p>
                          <a:endParaRPr lang="es-CO"/>
                        </a:p>
                      </a:txBody>
                      <a:tcPr>
                        <a:blipFill>
                          <a:blip r:embed="rId3"/>
                          <a:stretch>
                            <a:fillRect l="-68367" t="-203077" r="-217347" b="-3077"/>
                          </a:stretch>
                        </a:blipFill>
                      </a:tcPr>
                    </a:tc>
                    <a:tc>
                      <a:txBody>
                        <a:bodyPr/>
                        <a:lstStyle/>
                        <a:p>
                          <a:endParaRPr lang="es-CO"/>
                        </a:p>
                      </a:txBody>
                      <a:tcPr>
                        <a:blipFill>
                          <a:blip r:embed="rId3"/>
                          <a:stretch>
                            <a:fillRect l="-78199" t="-203077" r="-948" b="-3077"/>
                          </a:stretch>
                        </a:blipFill>
                      </a:tcPr>
                    </a:tc>
                    <a:extLst>
                      <a:ext uri="{0D108BD9-81ED-4DB2-BD59-A6C34878D82A}">
                        <a16:rowId xmlns:a16="http://schemas.microsoft.com/office/drawing/2014/main" val="235312700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6" name="Tabla 4">
                <a:extLst>
                  <a:ext uri="{FF2B5EF4-FFF2-40B4-BE49-F238E27FC236}">
                    <a16:creationId xmlns:a16="http://schemas.microsoft.com/office/drawing/2014/main" id="{BC2371CA-8B43-4239-B4C1-DCBC355E4E38}"/>
                  </a:ext>
                </a:extLst>
              </p:cNvPr>
              <p:cNvGraphicFramePr>
                <a:graphicFrameLocks noGrp="1"/>
              </p:cNvGraphicFramePr>
              <p:nvPr>
                <p:extLst>
                  <p:ext uri="{D42A27DB-BD31-4B8C-83A1-F6EECF244321}">
                    <p14:modId xmlns:p14="http://schemas.microsoft.com/office/powerpoint/2010/main" val="3848289180"/>
                  </p:ext>
                </p:extLst>
              </p:nvPr>
            </p:nvGraphicFramePr>
            <p:xfrm>
              <a:off x="8166571" y="3134242"/>
              <a:ext cx="3357183" cy="1981200"/>
            </p:xfrm>
            <a:graphic>
              <a:graphicData uri="http://schemas.openxmlformats.org/drawingml/2006/table">
                <a:tbl>
                  <a:tblPr firstRow="1" bandRow="1"/>
                  <a:tblGrid>
                    <a:gridCol w="403543">
                      <a:extLst>
                        <a:ext uri="{9D8B030D-6E8A-4147-A177-3AD203B41FA5}">
                          <a16:colId xmlns:a16="http://schemas.microsoft.com/office/drawing/2014/main" val="776375974"/>
                        </a:ext>
                      </a:extLst>
                    </a:gridCol>
                    <a:gridCol w="400367">
                      <a:extLst>
                        <a:ext uri="{9D8B030D-6E8A-4147-A177-3AD203B41FA5}">
                          <a16:colId xmlns:a16="http://schemas.microsoft.com/office/drawing/2014/main" val="1921489981"/>
                        </a:ext>
                      </a:extLst>
                    </a:gridCol>
                    <a:gridCol w="2553273">
                      <a:extLst>
                        <a:ext uri="{9D8B030D-6E8A-4147-A177-3AD203B41FA5}">
                          <a16:colId xmlns:a16="http://schemas.microsoft.com/office/drawing/2014/main" val="2498736789"/>
                        </a:ext>
                      </a:extLst>
                    </a:gridCol>
                  </a:tblGrid>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d>
                                  <m:dPr>
                                    <m:begChr m:val="["/>
                                    <m:endChr m:val="]"/>
                                    <m:ctrlPr>
                                      <a:rPr lang="es-MX" sz="2000" b="0" i="1" smtClean="0">
                                        <a:solidFill>
                                          <a:schemeClr val="bg1"/>
                                        </a:solidFill>
                                        <a:latin typeface="Cambria Math" panose="02040503050406030204" pitchFamily="18" charset="0"/>
                                        <a:ea typeface="Roboto" panose="02000000000000000000" pitchFamily="2" charset="0"/>
                                      </a:rPr>
                                    </m:ctrlPr>
                                  </m:dPr>
                                  <m:e>
                                    <m:d>
                                      <m:dPr>
                                        <m:ctrlPr>
                                          <a:rPr lang="es-MX" sz="2000" b="0" i="1" smtClean="0">
                                            <a:solidFill>
                                              <a:schemeClr val="bg1"/>
                                            </a:solidFill>
                                            <a:latin typeface="Cambria Math" panose="02040503050406030204" pitchFamily="18" charset="0"/>
                                            <a:ea typeface="Roboto" panose="02000000000000000000" pitchFamily="2" charset="0"/>
                                          </a:rPr>
                                        </m:ctrlPr>
                                      </m:dPr>
                                      <m:e>
                                        <m:r>
                                          <a:rPr lang="es-MX" sz="2000" b="0" i="1" smtClean="0">
                                            <a:solidFill>
                                              <a:schemeClr val="bg1"/>
                                            </a:solidFill>
                                            <a:latin typeface="Cambria Math" panose="02040503050406030204" pitchFamily="18" charset="0"/>
                                            <a:ea typeface="Roboto" panose="02000000000000000000" pitchFamily="2" charset="0"/>
                                          </a:rPr>
                                          <m:t>¬</m:t>
                                        </m:r>
                                        <m:r>
                                          <a:rPr lang="es-MX" sz="2000" b="1" i="1" smtClean="0">
                                            <a:solidFill>
                                              <a:schemeClr val="bg1"/>
                                            </a:solidFill>
                                            <a:latin typeface="Cambria Math" panose="02040503050406030204" pitchFamily="18" charset="0"/>
                                            <a:ea typeface="Roboto" panose="02000000000000000000" pitchFamily="2" charset="0"/>
                                          </a:rPr>
                                          <m:t>𝒑</m:t>
                                        </m:r>
                                        <m:r>
                                          <a:rPr lang="es-MX" sz="2000" b="1" i="1" smtClean="0">
                                            <a:solidFill>
                                              <a:schemeClr val="bg1"/>
                                            </a:solidFill>
                                            <a:latin typeface="Cambria Math" panose="02040503050406030204" pitchFamily="18" charset="0"/>
                                            <a:ea typeface="Cambria Math" panose="02040503050406030204" pitchFamily="18" charset="0"/>
                                          </a:rPr>
                                          <m:t>∨</m:t>
                                        </m:r>
                                        <m:r>
                                          <m:rPr>
                                            <m:lit/>
                                          </m:rPr>
                                          <a:rPr lang="es-MX" sz="2000" b="1" i="1" smtClean="0">
                                            <a:solidFill>
                                              <a:schemeClr val="bg1"/>
                                            </a:solidFill>
                                            <a:latin typeface="Cambria Math" panose="02040503050406030204" pitchFamily="18" charset="0"/>
                                            <a:ea typeface="Cambria Math" panose="02040503050406030204" pitchFamily="18" charset="0"/>
                                          </a:rPr>
                                          <m:t> </m:t>
                                        </m:r>
                                        <m:r>
                                          <a:rPr lang="es-MX" sz="2000" b="1" i="1" smtClean="0">
                                            <a:solidFill>
                                              <a:schemeClr val="bg1"/>
                                            </a:solidFill>
                                            <a:latin typeface="Cambria Math" panose="02040503050406030204" pitchFamily="18" charset="0"/>
                                            <a:ea typeface="Cambria Math" panose="02040503050406030204" pitchFamily="18" charset="0"/>
                                          </a:rPr>
                                          <m:t>𝒒</m:t>
                                        </m:r>
                                      </m:e>
                                    </m:d>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ea typeface="Cambria Math" panose="02040503050406030204" pitchFamily="18" charset="0"/>
                                      </a:rPr>
                                      <m:t>𝒑</m:t>
                                    </m:r>
                                  </m:e>
                                </m:d>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ea typeface="Cambria Math" panose="02040503050406030204" pitchFamily="18"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extLst>
                      <a:ext uri="{0D108BD9-81ED-4DB2-BD59-A6C34878D82A}">
                        <a16:rowId xmlns:a16="http://schemas.microsoft.com/office/drawing/2014/main" val="11367029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b="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b="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b="0" dirty="0">
                            <a:solidFill>
                              <a:schemeClr val="tx1"/>
                            </a:solidFill>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805549228"/>
                      </a:ext>
                    </a:extLst>
                  </a:tr>
                  <a:tr h="0">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b="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b="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b="0" dirty="0">
                            <a:solidFill>
                              <a:schemeClr val="tx1"/>
                            </a:solidFill>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353127006"/>
                      </a:ext>
                    </a:extLst>
                  </a:tr>
                  <a:tr h="0">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b="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b="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b="0" dirty="0">
                            <a:solidFill>
                              <a:schemeClr val="tx1"/>
                            </a:solidFill>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17488799"/>
                      </a:ext>
                    </a:extLst>
                  </a:tr>
                  <a:tr h="0">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b="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b="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b="0" dirty="0">
                            <a:solidFill>
                              <a:schemeClr val="tx1"/>
                            </a:solidFill>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64919473"/>
                      </a:ext>
                    </a:extLst>
                  </a:tr>
                </a:tbl>
              </a:graphicData>
            </a:graphic>
          </p:graphicFrame>
        </mc:Choice>
        <mc:Fallback>
          <p:graphicFrame>
            <p:nvGraphicFramePr>
              <p:cNvPr id="6" name="Tabla 4">
                <a:extLst>
                  <a:ext uri="{FF2B5EF4-FFF2-40B4-BE49-F238E27FC236}">
                    <a16:creationId xmlns:a16="http://schemas.microsoft.com/office/drawing/2014/main" id="{BC2371CA-8B43-4239-B4C1-DCBC355E4E38}"/>
                  </a:ext>
                </a:extLst>
              </p:cNvPr>
              <p:cNvGraphicFramePr>
                <a:graphicFrameLocks noGrp="1"/>
              </p:cNvGraphicFramePr>
              <p:nvPr>
                <p:extLst>
                  <p:ext uri="{D42A27DB-BD31-4B8C-83A1-F6EECF244321}">
                    <p14:modId xmlns:p14="http://schemas.microsoft.com/office/powerpoint/2010/main" val="3848289180"/>
                  </p:ext>
                </p:extLst>
              </p:nvPr>
            </p:nvGraphicFramePr>
            <p:xfrm>
              <a:off x="8166571" y="3134242"/>
              <a:ext cx="3357183" cy="1981200"/>
            </p:xfrm>
            <a:graphic>
              <a:graphicData uri="http://schemas.openxmlformats.org/drawingml/2006/table">
                <a:tbl>
                  <a:tblPr firstRow="1" bandRow="1"/>
                  <a:tblGrid>
                    <a:gridCol w="403543">
                      <a:extLst>
                        <a:ext uri="{9D8B030D-6E8A-4147-A177-3AD203B41FA5}">
                          <a16:colId xmlns:a16="http://schemas.microsoft.com/office/drawing/2014/main" val="776375974"/>
                        </a:ext>
                      </a:extLst>
                    </a:gridCol>
                    <a:gridCol w="400367">
                      <a:extLst>
                        <a:ext uri="{9D8B030D-6E8A-4147-A177-3AD203B41FA5}">
                          <a16:colId xmlns:a16="http://schemas.microsoft.com/office/drawing/2014/main" val="1921489981"/>
                        </a:ext>
                      </a:extLst>
                    </a:gridCol>
                    <a:gridCol w="2553273">
                      <a:extLst>
                        <a:ext uri="{9D8B030D-6E8A-4147-A177-3AD203B41FA5}">
                          <a16:colId xmlns:a16="http://schemas.microsoft.com/office/drawing/2014/main" val="2498736789"/>
                        </a:ext>
                      </a:extLst>
                    </a:gridCol>
                  </a:tblGrid>
                  <a:tr h="396240">
                    <a:tc>
                      <a:txBody>
                        <a:bodyPr/>
                        <a:lstStyle/>
                        <a:p>
                          <a:endParaRPr lang="es-CO"/>
                        </a:p>
                      </a:txBody>
                      <a:tcPr>
                        <a:blipFill>
                          <a:blip r:embed="rId4"/>
                          <a:stretch>
                            <a:fillRect l="-1515" t="-1538" r="-739394" b="-404615"/>
                          </a:stretch>
                        </a:blipFill>
                      </a:tcPr>
                    </a:tc>
                    <a:tc>
                      <a:txBody>
                        <a:bodyPr/>
                        <a:lstStyle/>
                        <a:p>
                          <a:endParaRPr lang="es-CO"/>
                        </a:p>
                      </a:txBody>
                      <a:tcPr>
                        <a:blipFill>
                          <a:blip r:embed="rId4"/>
                          <a:stretch>
                            <a:fillRect l="-101515" t="-1538" r="-639394" b="-404615"/>
                          </a:stretch>
                        </a:blipFill>
                      </a:tcPr>
                    </a:tc>
                    <a:tc>
                      <a:txBody>
                        <a:bodyPr/>
                        <a:lstStyle/>
                        <a:p>
                          <a:endParaRPr lang="es-CO"/>
                        </a:p>
                      </a:txBody>
                      <a:tcPr>
                        <a:blipFill>
                          <a:blip r:embed="rId4"/>
                          <a:stretch>
                            <a:fillRect l="-31667" t="-1538" r="-476" b="-404615"/>
                          </a:stretch>
                        </a:blipFill>
                      </a:tcPr>
                    </a:tc>
                    <a:extLst>
                      <a:ext uri="{0D108BD9-81ED-4DB2-BD59-A6C34878D82A}">
                        <a16:rowId xmlns:a16="http://schemas.microsoft.com/office/drawing/2014/main" val="113670299"/>
                      </a:ext>
                    </a:extLst>
                  </a:tr>
                  <a:tr h="396240">
                    <a:tc>
                      <a:txBody>
                        <a:bodyPr/>
                        <a:lstStyle/>
                        <a:p>
                          <a:endParaRPr lang="es-CO"/>
                        </a:p>
                      </a:txBody>
                      <a:tcPr>
                        <a:blipFill>
                          <a:blip r:embed="rId4"/>
                          <a:stretch>
                            <a:fillRect l="-1515" t="-101538" r="-739394" b="-304615"/>
                          </a:stretch>
                        </a:blipFill>
                      </a:tcPr>
                    </a:tc>
                    <a:tc>
                      <a:txBody>
                        <a:bodyPr/>
                        <a:lstStyle/>
                        <a:p>
                          <a:endParaRPr lang="es-CO"/>
                        </a:p>
                      </a:txBody>
                      <a:tcPr>
                        <a:blipFill>
                          <a:blip r:embed="rId4"/>
                          <a:stretch>
                            <a:fillRect l="-101515" t="-101538" r="-639394" b="-304615"/>
                          </a:stretch>
                        </a:blipFill>
                      </a:tcPr>
                    </a:tc>
                    <a:tc>
                      <a:txBody>
                        <a:bodyPr/>
                        <a:lstStyle/>
                        <a:p>
                          <a:endParaRPr lang="es-CO"/>
                        </a:p>
                      </a:txBody>
                      <a:tcPr>
                        <a:blipFill>
                          <a:blip r:embed="rId4"/>
                          <a:stretch>
                            <a:fillRect l="-31667" t="-101538" r="-476" b="-304615"/>
                          </a:stretch>
                        </a:blipFill>
                      </a:tcPr>
                    </a:tc>
                    <a:extLst>
                      <a:ext uri="{0D108BD9-81ED-4DB2-BD59-A6C34878D82A}">
                        <a16:rowId xmlns:a16="http://schemas.microsoft.com/office/drawing/2014/main" val="1805549228"/>
                      </a:ext>
                    </a:extLst>
                  </a:tr>
                  <a:tr h="396240">
                    <a:tc>
                      <a:txBody>
                        <a:bodyPr/>
                        <a:lstStyle/>
                        <a:p>
                          <a:endParaRPr lang="es-CO"/>
                        </a:p>
                      </a:txBody>
                      <a:tcPr>
                        <a:blipFill>
                          <a:blip r:embed="rId4"/>
                          <a:stretch>
                            <a:fillRect l="-1515" t="-198485" r="-739394" b="-200000"/>
                          </a:stretch>
                        </a:blipFill>
                      </a:tcPr>
                    </a:tc>
                    <a:tc>
                      <a:txBody>
                        <a:bodyPr/>
                        <a:lstStyle/>
                        <a:p>
                          <a:endParaRPr lang="es-CO"/>
                        </a:p>
                      </a:txBody>
                      <a:tcPr>
                        <a:blipFill>
                          <a:blip r:embed="rId4"/>
                          <a:stretch>
                            <a:fillRect l="-101515" t="-198485" r="-639394" b="-200000"/>
                          </a:stretch>
                        </a:blipFill>
                      </a:tcPr>
                    </a:tc>
                    <a:tc>
                      <a:txBody>
                        <a:bodyPr/>
                        <a:lstStyle/>
                        <a:p>
                          <a:endParaRPr lang="es-CO"/>
                        </a:p>
                      </a:txBody>
                      <a:tcPr>
                        <a:blipFill>
                          <a:blip r:embed="rId4"/>
                          <a:stretch>
                            <a:fillRect l="-31667" t="-198485" r="-476" b="-200000"/>
                          </a:stretch>
                        </a:blipFill>
                      </a:tcPr>
                    </a:tc>
                    <a:extLst>
                      <a:ext uri="{0D108BD9-81ED-4DB2-BD59-A6C34878D82A}">
                        <a16:rowId xmlns:a16="http://schemas.microsoft.com/office/drawing/2014/main" val="2353127006"/>
                      </a:ext>
                    </a:extLst>
                  </a:tr>
                  <a:tr h="396240">
                    <a:tc>
                      <a:txBody>
                        <a:bodyPr/>
                        <a:lstStyle/>
                        <a:p>
                          <a:endParaRPr lang="es-CO"/>
                        </a:p>
                      </a:txBody>
                      <a:tcPr>
                        <a:blipFill>
                          <a:blip r:embed="rId4"/>
                          <a:stretch>
                            <a:fillRect l="-1515" t="-303077" r="-739394" b="-103077"/>
                          </a:stretch>
                        </a:blipFill>
                      </a:tcPr>
                    </a:tc>
                    <a:tc>
                      <a:txBody>
                        <a:bodyPr/>
                        <a:lstStyle/>
                        <a:p>
                          <a:endParaRPr lang="es-CO"/>
                        </a:p>
                      </a:txBody>
                      <a:tcPr>
                        <a:blipFill>
                          <a:blip r:embed="rId4"/>
                          <a:stretch>
                            <a:fillRect l="-101515" t="-303077" r="-639394" b="-103077"/>
                          </a:stretch>
                        </a:blipFill>
                      </a:tcPr>
                    </a:tc>
                    <a:tc>
                      <a:txBody>
                        <a:bodyPr/>
                        <a:lstStyle/>
                        <a:p>
                          <a:endParaRPr lang="es-CO"/>
                        </a:p>
                      </a:txBody>
                      <a:tcPr>
                        <a:blipFill>
                          <a:blip r:embed="rId4"/>
                          <a:stretch>
                            <a:fillRect l="-31667" t="-303077" r="-476" b="-103077"/>
                          </a:stretch>
                        </a:blipFill>
                      </a:tcPr>
                    </a:tc>
                    <a:extLst>
                      <a:ext uri="{0D108BD9-81ED-4DB2-BD59-A6C34878D82A}">
                        <a16:rowId xmlns:a16="http://schemas.microsoft.com/office/drawing/2014/main" val="717488799"/>
                      </a:ext>
                    </a:extLst>
                  </a:tr>
                  <a:tr h="396240">
                    <a:tc>
                      <a:txBody>
                        <a:bodyPr/>
                        <a:lstStyle/>
                        <a:p>
                          <a:endParaRPr lang="es-CO"/>
                        </a:p>
                      </a:txBody>
                      <a:tcPr>
                        <a:blipFill>
                          <a:blip r:embed="rId4"/>
                          <a:stretch>
                            <a:fillRect l="-1515" t="-403077" r="-739394" b="-3077"/>
                          </a:stretch>
                        </a:blipFill>
                      </a:tcPr>
                    </a:tc>
                    <a:tc>
                      <a:txBody>
                        <a:bodyPr/>
                        <a:lstStyle/>
                        <a:p>
                          <a:endParaRPr lang="es-CO"/>
                        </a:p>
                      </a:txBody>
                      <a:tcPr>
                        <a:blipFill>
                          <a:blip r:embed="rId4"/>
                          <a:stretch>
                            <a:fillRect l="-101515" t="-403077" r="-639394" b="-3077"/>
                          </a:stretch>
                        </a:blipFill>
                      </a:tcPr>
                    </a:tc>
                    <a:tc>
                      <a:txBody>
                        <a:bodyPr/>
                        <a:lstStyle/>
                        <a:p>
                          <a:endParaRPr lang="es-CO"/>
                        </a:p>
                      </a:txBody>
                      <a:tcPr>
                        <a:blipFill>
                          <a:blip r:embed="rId4"/>
                          <a:stretch>
                            <a:fillRect l="-31667" t="-403077" r="-476" b="-3077"/>
                          </a:stretch>
                        </a:blipFill>
                      </a:tcPr>
                    </a:tc>
                    <a:extLst>
                      <a:ext uri="{0D108BD9-81ED-4DB2-BD59-A6C34878D82A}">
                        <a16:rowId xmlns:a16="http://schemas.microsoft.com/office/drawing/2014/main" val="264919473"/>
                      </a:ext>
                    </a:extLst>
                  </a:tr>
                </a:tbl>
              </a:graphicData>
            </a:graphic>
          </p:graphicFrame>
        </mc:Fallback>
      </mc:AlternateContent>
      <p:sp>
        <p:nvSpPr>
          <p:cNvPr id="7" name="CuadroTexto 6">
            <a:extLst>
              <a:ext uri="{FF2B5EF4-FFF2-40B4-BE49-F238E27FC236}">
                <a16:creationId xmlns:a16="http://schemas.microsoft.com/office/drawing/2014/main" id="{053C1F56-893D-4659-8B09-1FAA2C8D72CB}"/>
              </a:ext>
            </a:extLst>
          </p:cNvPr>
          <p:cNvSpPr txBox="1"/>
          <p:nvPr/>
        </p:nvSpPr>
        <p:spPr>
          <a:xfrm>
            <a:off x="668246" y="2557267"/>
            <a:ext cx="1514517" cy="461665"/>
          </a:xfrm>
          <a:prstGeom prst="rect">
            <a:avLst/>
          </a:prstGeom>
          <a:noFill/>
        </p:spPr>
        <p:txBody>
          <a:bodyPr wrap="none" rtlCol="0">
            <a:spAutoFit/>
          </a:bodyPr>
          <a:lstStyle/>
          <a:p>
            <a:r>
              <a:rPr lang="es-CO" sz="2400" b="1" dirty="0"/>
              <a:t>Tautología</a:t>
            </a:r>
          </a:p>
        </p:txBody>
      </p:sp>
      <p:sp>
        <p:nvSpPr>
          <p:cNvPr id="8" name="CuadroTexto 7">
            <a:extLst>
              <a:ext uri="{FF2B5EF4-FFF2-40B4-BE49-F238E27FC236}">
                <a16:creationId xmlns:a16="http://schemas.microsoft.com/office/drawing/2014/main" id="{63DDC967-2032-4DD2-994F-E4ACB0DF1CD4}"/>
              </a:ext>
            </a:extLst>
          </p:cNvPr>
          <p:cNvSpPr txBox="1"/>
          <p:nvPr/>
        </p:nvSpPr>
        <p:spPr>
          <a:xfrm>
            <a:off x="4486759" y="2557266"/>
            <a:ext cx="1939955" cy="461665"/>
          </a:xfrm>
          <a:prstGeom prst="rect">
            <a:avLst/>
          </a:prstGeom>
          <a:noFill/>
        </p:spPr>
        <p:txBody>
          <a:bodyPr wrap="none" rtlCol="0">
            <a:spAutoFit/>
          </a:bodyPr>
          <a:lstStyle/>
          <a:p>
            <a:r>
              <a:rPr lang="es-CO" sz="2400" b="1" dirty="0"/>
              <a:t>Contradicción</a:t>
            </a:r>
          </a:p>
        </p:txBody>
      </p:sp>
      <p:sp>
        <p:nvSpPr>
          <p:cNvPr id="9" name="CuadroTexto 8">
            <a:extLst>
              <a:ext uri="{FF2B5EF4-FFF2-40B4-BE49-F238E27FC236}">
                <a16:creationId xmlns:a16="http://schemas.microsoft.com/office/drawing/2014/main" id="{46E157A3-2DCF-4706-9297-DFB077D1DB04}"/>
              </a:ext>
            </a:extLst>
          </p:cNvPr>
          <p:cNvSpPr txBox="1"/>
          <p:nvPr/>
        </p:nvSpPr>
        <p:spPr>
          <a:xfrm>
            <a:off x="8814035" y="2542547"/>
            <a:ext cx="1842364" cy="461665"/>
          </a:xfrm>
          <a:prstGeom prst="rect">
            <a:avLst/>
          </a:prstGeom>
          <a:noFill/>
        </p:spPr>
        <p:txBody>
          <a:bodyPr wrap="none" rtlCol="0">
            <a:spAutoFit/>
          </a:bodyPr>
          <a:lstStyle/>
          <a:p>
            <a:r>
              <a:rPr lang="es-CO" sz="2400" b="1" dirty="0"/>
              <a:t>Contingencia</a:t>
            </a:r>
          </a:p>
        </p:txBody>
      </p:sp>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D5BA483F-2081-4810-9597-C07236266BF6}"/>
                  </a:ext>
                </a:extLst>
              </p:cNvPr>
              <p:cNvSpPr txBox="1"/>
              <p:nvPr/>
            </p:nvSpPr>
            <p:spPr>
              <a:xfrm>
                <a:off x="571081" y="5087082"/>
                <a:ext cx="2281954" cy="707886"/>
              </a:xfrm>
              <a:prstGeom prst="rect">
                <a:avLst/>
              </a:prstGeom>
              <a:noFill/>
            </p:spPr>
            <p:txBody>
              <a:bodyPr wrap="square">
                <a:spAutoFit/>
              </a:bodyPr>
              <a:lstStyle/>
              <a:p>
                <a:pPr marL="0" indent="0" algn="ctr">
                  <a:buFont typeface="+mj-lt"/>
                  <a:buNone/>
                </a:pPr>
                <a14:m>
                  <m:oMath xmlns:m="http://schemas.openxmlformats.org/officeDocument/2006/math">
                    <m:r>
                      <a:rPr lang="es-MX" sz="2000" b="1" i="1" smtClean="0">
                        <a:solidFill>
                          <a:schemeClr val="tx1"/>
                        </a:solidFill>
                        <a:latin typeface="Cambria Math" panose="02040503050406030204" pitchFamily="18" charset="0"/>
                      </a:rPr>
                      <m:t>𝒑</m:t>
                    </m:r>
                    <m:r>
                      <a:rPr lang="es-MX" sz="2000" b="1" i="1" smtClean="0">
                        <a:solidFill>
                          <a:schemeClr val="tx1"/>
                        </a:solidFill>
                        <a:latin typeface="Cambria Math" panose="02040503050406030204" pitchFamily="18" charset="0"/>
                      </a:rPr>
                      <m:t> ∨¬</m:t>
                    </m:r>
                    <m:r>
                      <a:rPr lang="es-MX" sz="2000" b="1" i="1" smtClean="0">
                        <a:solidFill>
                          <a:schemeClr val="tx1"/>
                        </a:solidFill>
                        <a:latin typeface="Cambria Math" panose="02040503050406030204" pitchFamily="18" charset="0"/>
                        <a:ea typeface="Cambria Math" panose="02040503050406030204" pitchFamily="18" charset="0"/>
                      </a:rPr>
                      <m:t>𝒑</m:t>
                    </m:r>
                  </m:oMath>
                </a14:m>
                <a:r>
                  <a:rPr lang="es-MX" sz="2000" b="1" dirty="0">
                    <a:solidFill>
                      <a:schemeClr val="tx1"/>
                    </a:solidFill>
                  </a:rPr>
                  <a:t> </a:t>
                </a:r>
                <a:r>
                  <a:rPr lang="es-MX" sz="2000" dirty="0">
                    <a:solidFill>
                      <a:schemeClr val="tx1"/>
                    </a:solidFill>
                  </a:rPr>
                  <a:t>es una </a:t>
                </a:r>
                <a:r>
                  <a:rPr lang="es-MX" sz="2000" b="1" dirty="0">
                    <a:solidFill>
                      <a:schemeClr val="tx1"/>
                    </a:solidFill>
                  </a:rPr>
                  <a:t>tautología</a:t>
                </a:r>
                <a:r>
                  <a:rPr lang="es-MX" sz="2000" dirty="0">
                    <a:solidFill>
                      <a:schemeClr val="tx1"/>
                    </a:solidFill>
                  </a:rPr>
                  <a:t> </a:t>
                </a:r>
              </a:p>
            </p:txBody>
          </p:sp>
        </mc:Choice>
        <mc:Fallback>
          <p:sp>
            <p:nvSpPr>
              <p:cNvPr id="11" name="CuadroTexto 10">
                <a:extLst>
                  <a:ext uri="{FF2B5EF4-FFF2-40B4-BE49-F238E27FC236}">
                    <a16:creationId xmlns:a16="http://schemas.microsoft.com/office/drawing/2014/main" id="{D5BA483F-2081-4810-9597-C07236266BF6}"/>
                  </a:ext>
                </a:extLst>
              </p:cNvPr>
              <p:cNvSpPr txBox="1">
                <a:spLocks noRot="1" noChangeAspect="1" noMove="1" noResize="1" noEditPoints="1" noAdjustHandles="1" noChangeArrowheads="1" noChangeShapeType="1" noTextEdit="1"/>
              </p:cNvSpPr>
              <p:nvPr/>
            </p:nvSpPr>
            <p:spPr>
              <a:xfrm>
                <a:off x="571081" y="5087082"/>
                <a:ext cx="2281954" cy="707886"/>
              </a:xfrm>
              <a:prstGeom prst="rect">
                <a:avLst/>
              </a:prstGeom>
              <a:blipFill>
                <a:blip r:embed="rId5"/>
                <a:stretch>
                  <a:fillRect t="-4274" b="-13675"/>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3BB43E79-39CB-4C93-921E-BC2C534EC7F7}"/>
                  </a:ext>
                </a:extLst>
              </p:cNvPr>
              <p:cNvSpPr txBox="1"/>
              <p:nvPr/>
            </p:nvSpPr>
            <p:spPr>
              <a:xfrm>
                <a:off x="4702470" y="5097167"/>
                <a:ext cx="1867509" cy="707886"/>
              </a:xfrm>
              <a:prstGeom prst="rect">
                <a:avLst/>
              </a:prstGeom>
              <a:noFill/>
            </p:spPr>
            <p:txBody>
              <a:bodyPr wrap="square">
                <a:spAutoFit/>
              </a:bodyPr>
              <a:lstStyle/>
              <a:p>
                <a:pPr lvl="0" algn="ctr">
                  <a:buClr>
                    <a:srgbClr val="000000"/>
                  </a:buClr>
                  <a:defRPr/>
                </a:pPr>
                <a14:m>
                  <m:oMath xmlns:m="http://schemas.openxmlformats.org/officeDocument/2006/math">
                    <m:r>
                      <a:rPr lang="es-MX" sz="2000" b="1" i="1" smtClean="0">
                        <a:solidFill>
                          <a:schemeClr val="tx1"/>
                        </a:solidFill>
                        <a:latin typeface="Cambria Math" panose="02040503050406030204" pitchFamily="18" charset="0"/>
                      </a:rPr>
                      <m:t>𝒑</m:t>
                    </m:r>
                    <m:r>
                      <a:rPr lang="es-MX" sz="2000" b="1" i="1" smtClean="0">
                        <a:solidFill>
                          <a:schemeClr val="tx1"/>
                        </a:solidFill>
                        <a:latin typeface="Cambria Math" panose="02040503050406030204" pitchFamily="18" charset="0"/>
                      </a:rPr>
                      <m:t> ∧¬</m:t>
                    </m:r>
                    <m:r>
                      <a:rPr lang="es-MX" sz="2000" b="1" i="1" smtClean="0">
                        <a:solidFill>
                          <a:schemeClr val="tx1"/>
                        </a:solidFill>
                        <a:latin typeface="Cambria Math" panose="02040503050406030204" pitchFamily="18" charset="0"/>
                        <a:ea typeface="Cambria Math" panose="02040503050406030204" pitchFamily="18" charset="0"/>
                      </a:rPr>
                      <m:t>𝒑</m:t>
                    </m:r>
                  </m:oMath>
                </a14:m>
                <a:r>
                  <a:rPr lang="es-CO" sz="2000" b="1" dirty="0">
                    <a:solidFill>
                      <a:schemeClr val="tx1"/>
                    </a:solidFill>
                    <a:latin typeface="Roboto" panose="02000000000000000000" pitchFamily="2" charset="0"/>
                    <a:ea typeface="Roboto" panose="02000000000000000000" pitchFamily="2" charset="0"/>
                  </a:rPr>
                  <a:t> </a:t>
                </a:r>
                <a:r>
                  <a:rPr lang="es-MX" sz="2000" dirty="0"/>
                  <a:t>es una </a:t>
                </a:r>
                <a:r>
                  <a:rPr lang="es-MX" sz="2000" b="1" dirty="0"/>
                  <a:t>contradicción</a:t>
                </a:r>
                <a:r>
                  <a:rPr lang="es-MX" sz="2000" dirty="0"/>
                  <a:t> </a:t>
                </a:r>
                <a:endParaRPr lang="es-CO" sz="2000" b="1" dirty="0">
                  <a:solidFill>
                    <a:schemeClr val="tx1"/>
                  </a:solidFill>
                  <a:latin typeface="Roboto" panose="02000000000000000000" pitchFamily="2" charset="0"/>
                  <a:ea typeface="Roboto" panose="02000000000000000000" pitchFamily="2" charset="0"/>
                </a:endParaRPr>
              </a:p>
            </p:txBody>
          </p:sp>
        </mc:Choice>
        <mc:Fallback>
          <p:sp>
            <p:nvSpPr>
              <p:cNvPr id="13" name="CuadroTexto 12">
                <a:extLst>
                  <a:ext uri="{FF2B5EF4-FFF2-40B4-BE49-F238E27FC236}">
                    <a16:creationId xmlns:a16="http://schemas.microsoft.com/office/drawing/2014/main" id="{3BB43E79-39CB-4C93-921E-BC2C534EC7F7}"/>
                  </a:ext>
                </a:extLst>
              </p:cNvPr>
              <p:cNvSpPr txBox="1">
                <a:spLocks noRot="1" noChangeAspect="1" noMove="1" noResize="1" noEditPoints="1" noAdjustHandles="1" noChangeArrowheads="1" noChangeShapeType="1" noTextEdit="1"/>
              </p:cNvSpPr>
              <p:nvPr/>
            </p:nvSpPr>
            <p:spPr>
              <a:xfrm>
                <a:off x="4702470" y="5097167"/>
                <a:ext cx="1867509" cy="707886"/>
              </a:xfrm>
              <a:prstGeom prst="rect">
                <a:avLst/>
              </a:prstGeom>
              <a:blipFill>
                <a:blip r:embed="rId6"/>
                <a:stretch>
                  <a:fillRect t="-4310" r="-2932" b="-14655"/>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5" name="CuadroTexto 14">
                <a:extLst>
                  <a:ext uri="{FF2B5EF4-FFF2-40B4-BE49-F238E27FC236}">
                    <a16:creationId xmlns:a16="http://schemas.microsoft.com/office/drawing/2014/main" id="{5EBF10CD-819D-4B75-A7B5-9795F05B2667}"/>
                  </a:ext>
                </a:extLst>
              </p:cNvPr>
              <p:cNvSpPr txBox="1"/>
              <p:nvPr/>
            </p:nvSpPr>
            <p:spPr>
              <a:xfrm>
                <a:off x="7765835" y="5270674"/>
                <a:ext cx="3938763" cy="707886"/>
              </a:xfrm>
              <a:prstGeom prst="rect">
                <a:avLst/>
              </a:prstGeom>
              <a:noFill/>
            </p:spPr>
            <p:txBody>
              <a:bodyPr wrap="square">
                <a:spAutoFit/>
              </a:bodyPr>
              <a:lstStyle/>
              <a:p>
                <a:pPr lvl="0" algn="ctr">
                  <a:buClr>
                    <a:srgbClr val="000000"/>
                  </a:buClr>
                  <a:defRPr/>
                </a:pPr>
                <a14:m>
                  <m:oMath xmlns:m="http://schemas.openxmlformats.org/officeDocument/2006/math">
                    <m:d>
                      <m:dPr>
                        <m:begChr m:val="["/>
                        <m:endChr m:val="]"/>
                        <m:ctrlPr>
                          <a:rPr lang="es-MX" sz="2000" b="0" i="1" smtClean="0">
                            <a:latin typeface="Cambria Math" panose="02040503050406030204" pitchFamily="18" charset="0"/>
                            <a:ea typeface="Roboto" panose="02000000000000000000" pitchFamily="2" charset="0"/>
                          </a:rPr>
                        </m:ctrlPr>
                      </m:dPr>
                      <m:e>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m:t>
                            </m:r>
                            <m:r>
                              <a:rPr lang="es-MX" sz="2000" b="1" i="1" smtClean="0">
                                <a:latin typeface="Cambria Math" panose="02040503050406030204" pitchFamily="18" charset="0"/>
                                <a:ea typeface="Roboto" panose="02000000000000000000" pitchFamily="2" charset="0"/>
                              </a:rPr>
                              <m:t>𝒑</m:t>
                            </m:r>
                            <m:r>
                              <a:rPr lang="es-MX" sz="2000" b="1" i="1" smtClean="0">
                                <a:latin typeface="Cambria Math" panose="02040503050406030204" pitchFamily="18" charset="0"/>
                                <a:ea typeface="Cambria Math" panose="02040503050406030204" pitchFamily="18" charset="0"/>
                              </a:rPr>
                              <m:t>∨</m:t>
                            </m:r>
                            <m:r>
                              <m:rPr>
                                <m:lit/>
                              </m:rPr>
                              <a:rPr lang="es-MX" sz="2000" b="1" i="1" smtClean="0">
                                <a:latin typeface="Cambria Math" panose="02040503050406030204" pitchFamily="18" charset="0"/>
                                <a:ea typeface="Cambria Math" panose="02040503050406030204" pitchFamily="18" charset="0"/>
                              </a:rPr>
                              <m:t> </m:t>
                            </m:r>
                            <m:r>
                              <a:rPr lang="es-MX" sz="2000" b="1" i="1" smtClean="0">
                                <a:latin typeface="Cambria Math" panose="02040503050406030204" pitchFamily="18" charset="0"/>
                                <a:ea typeface="Cambria Math" panose="02040503050406030204" pitchFamily="18" charset="0"/>
                              </a:rPr>
                              <m:t>𝒒</m:t>
                            </m:r>
                          </m:e>
                        </m:d>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𝒑</m:t>
                        </m:r>
                      </m:e>
                    </m:d>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𝒒</m:t>
                    </m:r>
                  </m:oMath>
                </a14:m>
                <a:r>
                  <a:rPr lang="es-CO" sz="2000" b="1" dirty="0">
                    <a:latin typeface="Roboto" panose="02000000000000000000" pitchFamily="2" charset="0"/>
                    <a:ea typeface="Roboto" panose="02000000000000000000" pitchFamily="2" charset="0"/>
                  </a:rPr>
                  <a:t> </a:t>
                </a:r>
                <a:r>
                  <a:rPr lang="es-MX" sz="2000" dirty="0"/>
                  <a:t>es una </a:t>
                </a:r>
                <a:r>
                  <a:rPr lang="es-MX" sz="2000" b="1" dirty="0"/>
                  <a:t>contingencia</a:t>
                </a:r>
                <a:r>
                  <a:rPr lang="es-MX" sz="2000" dirty="0"/>
                  <a:t> </a:t>
                </a:r>
                <a:endParaRPr lang="es-CO" sz="2000" b="1" dirty="0">
                  <a:latin typeface="Roboto" panose="02000000000000000000" pitchFamily="2" charset="0"/>
                  <a:ea typeface="Roboto" panose="02000000000000000000" pitchFamily="2" charset="0"/>
                </a:endParaRPr>
              </a:p>
            </p:txBody>
          </p:sp>
        </mc:Choice>
        <mc:Fallback>
          <p:sp>
            <p:nvSpPr>
              <p:cNvPr id="15" name="CuadroTexto 14">
                <a:extLst>
                  <a:ext uri="{FF2B5EF4-FFF2-40B4-BE49-F238E27FC236}">
                    <a16:creationId xmlns:a16="http://schemas.microsoft.com/office/drawing/2014/main" id="{5EBF10CD-819D-4B75-A7B5-9795F05B2667}"/>
                  </a:ext>
                </a:extLst>
              </p:cNvPr>
              <p:cNvSpPr txBox="1">
                <a:spLocks noRot="1" noChangeAspect="1" noMove="1" noResize="1" noEditPoints="1" noAdjustHandles="1" noChangeArrowheads="1" noChangeShapeType="1" noTextEdit="1"/>
              </p:cNvSpPr>
              <p:nvPr/>
            </p:nvSpPr>
            <p:spPr>
              <a:xfrm>
                <a:off x="7765835" y="5270674"/>
                <a:ext cx="3938763" cy="707886"/>
              </a:xfrm>
              <a:prstGeom prst="rect">
                <a:avLst/>
              </a:prstGeom>
              <a:blipFill>
                <a:blip r:embed="rId7"/>
                <a:stretch>
                  <a:fillRect t="-5172" b="-14655"/>
                </a:stretch>
              </a:blipFill>
            </p:spPr>
            <p:txBody>
              <a:bodyPr/>
              <a:lstStyle/>
              <a:p>
                <a:r>
                  <a:rPr lang="es-CO">
                    <a:noFill/>
                  </a:rPr>
                  <a:t> </a:t>
                </a:r>
              </a:p>
            </p:txBody>
          </p:sp>
        </mc:Fallback>
      </mc:AlternateContent>
    </p:spTree>
    <p:extLst>
      <p:ext uri="{BB962C8B-B14F-4D97-AF65-F5344CB8AC3E}">
        <p14:creationId xmlns:p14="http://schemas.microsoft.com/office/powerpoint/2010/main" val="3681733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360218" y="226581"/>
            <a:ext cx="10993581" cy="753714"/>
          </a:xfrm>
        </p:spPr>
        <p:txBody>
          <a:bodyPr/>
          <a:lstStyle/>
          <a:p>
            <a:r>
              <a:rPr lang="es-CO" dirty="0"/>
              <a:t>Repaso</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261746" y="915660"/>
                <a:ext cx="11570036" cy="1157427"/>
              </a:xfrm>
            </p:spPr>
            <p:txBody>
              <a:bodyPr>
                <a:normAutofit/>
              </a:bodyPr>
              <a:lstStyle/>
              <a:p>
                <a:pPr marL="0" indent="0">
                  <a:buNone/>
                </a:pPr>
                <a:r>
                  <a:rPr lang="es-MX" sz="2400" b="1" dirty="0">
                    <a:ea typeface="Roboto" panose="02000000000000000000" pitchFamily="2" charset="0"/>
                  </a:rPr>
                  <a:t>Equivalencias lógicas</a:t>
                </a:r>
              </a:p>
              <a:p>
                <a:pPr marL="0" indent="0">
                  <a:buNone/>
                </a:pPr>
                <a:r>
                  <a:rPr lang="es-MX" sz="2200" dirty="0">
                    <a:ea typeface="Roboto" panose="02000000000000000000" pitchFamily="2" charset="0"/>
                  </a:rPr>
                  <a:t>Dos proposiciones compuestas </a:t>
                </a:r>
                <a14:m>
                  <m:oMath xmlns:m="http://schemas.openxmlformats.org/officeDocument/2006/math">
                    <m:r>
                      <a:rPr lang="es-MX" sz="2200" b="1" i="1" smtClean="0">
                        <a:latin typeface="Cambria Math" panose="02040503050406030204" pitchFamily="18" charset="0"/>
                        <a:ea typeface="Roboto" panose="02000000000000000000" pitchFamily="2" charset="0"/>
                      </a:rPr>
                      <m:t>𝒑</m:t>
                    </m:r>
                  </m:oMath>
                </a14:m>
                <a:r>
                  <a:rPr lang="es-MX" sz="2200" dirty="0">
                    <a:ea typeface="Roboto" panose="02000000000000000000" pitchFamily="2" charset="0"/>
                  </a:rPr>
                  <a:t> y </a:t>
                </a:r>
                <a14:m>
                  <m:oMath xmlns:m="http://schemas.openxmlformats.org/officeDocument/2006/math">
                    <m:r>
                      <a:rPr lang="es-MX" sz="2200" b="1" i="1" smtClean="0">
                        <a:latin typeface="Cambria Math" panose="02040503050406030204" pitchFamily="18" charset="0"/>
                        <a:ea typeface="Roboto" panose="02000000000000000000" pitchFamily="2" charset="0"/>
                      </a:rPr>
                      <m:t>𝒒</m:t>
                    </m:r>
                  </m:oMath>
                </a14:m>
                <a:r>
                  <a:rPr lang="es-MX" sz="2200" dirty="0">
                    <a:ea typeface="Roboto" panose="02000000000000000000" pitchFamily="2" charset="0"/>
                  </a:rPr>
                  <a:t> son lógicamente equivalentes, o simplemente equivalentes, si </a:t>
                </a:r>
                <a14:m>
                  <m:oMath xmlns:m="http://schemas.openxmlformats.org/officeDocument/2006/math">
                    <m:r>
                      <a:rPr lang="es-MX" sz="2200" b="1" i="1" smtClean="0">
                        <a:latin typeface="Cambria Math" panose="02040503050406030204" pitchFamily="18" charset="0"/>
                        <a:ea typeface="Roboto" panose="02000000000000000000" pitchFamily="2" charset="0"/>
                      </a:rPr>
                      <m:t>𝒑</m:t>
                    </m:r>
                    <m:r>
                      <a:rPr lang="es-MX" sz="2200" b="1" i="1" smtClean="0">
                        <a:latin typeface="Cambria Math" panose="02040503050406030204" pitchFamily="18" charset="0"/>
                        <a:ea typeface="Cambria Math" panose="02040503050406030204" pitchFamily="18" charset="0"/>
                      </a:rPr>
                      <m:t>↔</m:t>
                    </m:r>
                    <m:r>
                      <a:rPr lang="es-MX" sz="2200" b="1" i="1" smtClean="0">
                        <a:latin typeface="Cambria Math" panose="02040503050406030204" pitchFamily="18" charset="0"/>
                        <a:ea typeface="Cambria Math" panose="02040503050406030204" pitchFamily="18" charset="0"/>
                      </a:rPr>
                      <m:t>𝒒</m:t>
                    </m:r>
                  </m:oMath>
                </a14:m>
                <a:r>
                  <a:rPr lang="es-MX" sz="2200" dirty="0">
                    <a:ea typeface="Roboto" panose="02000000000000000000" pitchFamily="2" charset="0"/>
                  </a:rPr>
                  <a:t> es una tautología.</a:t>
                </a:r>
              </a:p>
              <a:p>
                <a:pPr marL="0" indent="0">
                  <a:buNone/>
                </a:pPr>
                <a:endParaRPr lang="es-MX" dirty="0"/>
              </a:p>
            </p:txBody>
          </p:sp>
        </mc:Choice>
        <mc:Fallback>
          <p:sp>
            <p:nvSpPr>
              <p:cNvPr id="3" name="Marcador de contenido 2">
                <a:extLst>
                  <a:ext uri="{FF2B5EF4-FFF2-40B4-BE49-F238E27FC236}">
                    <a16:creationId xmlns:a16="http://schemas.microsoft.com/office/drawing/2014/main" id="{8C611C1C-AB20-4127-87E3-88401D8503D0}"/>
                  </a:ext>
                </a:extLst>
              </p:cNvPr>
              <p:cNvSpPr>
                <a:spLocks noGrp="1" noRot="1" noChangeAspect="1" noMove="1" noResize="1" noEditPoints="1" noAdjustHandles="1" noChangeArrowheads="1" noChangeShapeType="1" noTextEdit="1"/>
              </p:cNvSpPr>
              <p:nvPr>
                <p:ph idx="1"/>
              </p:nvPr>
            </p:nvSpPr>
            <p:spPr>
              <a:xfrm>
                <a:off x="261746" y="915660"/>
                <a:ext cx="11570036" cy="1157427"/>
              </a:xfrm>
              <a:blipFill>
                <a:blip r:embed="rId2"/>
                <a:stretch>
                  <a:fillRect l="-843" t="-7368" b="-10526"/>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B30BA250-E803-4847-BACF-C2EA1E6FD9D4}"/>
                  </a:ext>
                </a:extLst>
              </p:cNvPr>
              <p:cNvSpPr txBox="1"/>
              <p:nvPr/>
            </p:nvSpPr>
            <p:spPr>
              <a:xfrm>
                <a:off x="360218" y="2150878"/>
                <a:ext cx="11333018" cy="400110"/>
              </a:xfrm>
              <a:prstGeom prst="rect">
                <a:avLst/>
              </a:prstGeom>
              <a:solidFill>
                <a:schemeClr val="bg2"/>
              </a:solidFill>
            </p:spPr>
            <p:txBody>
              <a:bodyPr wrap="square" rtlCol="0">
                <a:spAutoFit/>
              </a:bodyPr>
              <a:lstStyle/>
              <a:p>
                <a:r>
                  <a:rPr lang="es-MX" sz="2000" b="1" dirty="0">
                    <a:ea typeface="Roboto" panose="02000000000000000000" pitchFamily="2" charset="0"/>
                  </a:rPr>
                  <a:t>Notación</a:t>
                </a:r>
                <a:r>
                  <a:rPr lang="es-MX" sz="2000" dirty="0">
                    <a:ea typeface="Roboto" panose="02000000000000000000" pitchFamily="2" charset="0"/>
                  </a:rPr>
                  <a:t>:</a:t>
                </a:r>
                <a:r>
                  <a:rPr lang="es-MX" sz="2000" dirty="0">
                    <a:solidFill>
                      <a:schemeClr val="accent5"/>
                    </a:solidFill>
                    <a:ea typeface="Roboto" panose="02000000000000000000" pitchFamily="2" charset="0"/>
                  </a:rPr>
                  <a:t> </a:t>
                </a:r>
                <a:r>
                  <a:rPr lang="es-MX" sz="2000" dirty="0">
                    <a:ea typeface="Roboto" panose="02000000000000000000" pitchFamily="2" charset="0"/>
                  </a:rPr>
                  <a:t>Una equivalencia se puede escribir como </a:t>
                </a:r>
                <a14:m>
                  <m:oMath xmlns:m="http://schemas.openxmlformats.org/officeDocument/2006/math">
                    <m:r>
                      <a:rPr lang="es-MX" sz="2000" b="1" i="1" smtClean="0">
                        <a:latin typeface="Cambria Math" panose="02040503050406030204" pitchFamily="18" charset="0"/>
                        <a:ea typeface="Roboto" panose="02000000000000000000" pitchFamily="2" charset="0"/>
                      </a:rPr>
                      <m:t>𝒑</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𝒒</m:t>
                    </m:r>
                  </m:oMath>
                </a14:m>
                <a:r>
                  <a:rPr lang="es-MX" sz="2000" dirty="0">
                    <a:ea typeface="Roboto" panose="02000000000000000000" pitchFamily="2" charset="0"/>
                  </a:rPr>
                  <a:t> o como </a:t>
                </a:r>
                <a14:m>
                  <m:oMath xmlns:m="http://schemas.openxmlformats.org/officeDocument/2006/math">
                    <m:r>
                      <a:rPr lang="es-MX" sz="2000" b="1" i="1">
                        <a:latin typeface="Cambria Math" panose="02040503050406030204" pitchFamily="18" charset="0"/>
                        <a:ea typeface="Roboto" panose="02000000000000000000" pitchFamily="2" charset="0"/>
                      </a:rPr>
                      <m:t>𝒑</m:t>
                    </m:r>
                    <m:r>
                      <a:rPr lang="es-MX" sz="2000" b="1" i="1" smtClean="0">
                        <a:latin typeface="Cambria Math" panose="02040503050406030204" pitchFamily="18" charset="0"/>
                        <a:ea typeface="Cambria Math" panose="02040503050406030204" pitchFamily="18" charset="0"/>
                      </a:rPr>
                      <m:t>≡</m:t>
                    </m:r>
                    <m:r>
                      <a:rPr lang="es-MX" sz="2000" b="1" i="1">
                        <a:latin typeface="Cambria Math" panose="02040503050406030204" pitchFamily="18" charset="0"/>
                        <a:ea typeface="Cambria Math" panose="02040503050406030204" pitchFamily="18" charset="0"/>
                      </a:rPr>
                      <m:t>𝒒</m:t>
                    </m:r>
                  </m:oMath>
                </a14:m>
                <a:endParaRPr lang="es-MX" sz="2000" dirty="0">
                  <a:ea typeface="Roboto" panose="02000000000000000000" pitchFamily="2" charset="0"/>
                </a:endParaRPr>
              </a:p>
            </p:txBody>
          </p:sp>
        </mc:Choice>
        <mc:Fallback>
          <p:sp>
            <p:nvSpPr>
              <p:cNvPr id="6" name="CuadroTexto 5">
                <a:extLst>
                  <a:ext uri="{FF2B5EF4-FFF2-40B4-BE49-F238E27FC236}">
                    <a16:creationId xmlns:a16="http://schemas.microsoft.com/office/drawing/2014/main" id="{B30BA250-E803-4847-BACF-C2EA1E6FD9D4}"/>
                  </a:ext>
                </a:extLst>
              </p:cNvPr>
              <p:cNvSpPr txBox="1">
                <a:spLocks noRot="1" noChangeAspect="1" noMove="1" noResize="1" noEditPoints="1" noAdjustHandles="1" noChangeArrowheads="1" noChangeShapeType="1" noTextEdit="1"/>
              </p:cNvSpPr>
              <p:nvPr/>
            </p:nvSpPr>
            <p:spPr>
              <a:xfrm>
                <a:off x="360218" y="2150878"/>
                <a:ext cx="11333018" cy="400110"/>
              </a:xfrm>
              <a:prstGeom prst="rect">
                <a:avLst/>
              </a:prstGeom>
              <a:blipFill>
                <a:blip r:embed="rId3"/>
                <a:stretch>
                  <a:fillRect l="-538" t="-9231" b="-27692"/>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17" name="Tabla 4">
                <a:extLst>
                  <a:ext uri="{FF2B5EF4-FFF2-40B4-BE49-F238E27FC236}">
                    <a16:creationId xmlns:a16="http://schemas.microsoft.com/office/drawing/2014/main" id="{91CDBF3D-6BC6-4487-B9EE-CA7F011018C6}"/>
                  </a:ext>
                </a:extLst>
              </p:cNvPr>
              <p:cNvGraphicFramePr>
                <a:graphicFrameLocks noGrp="1"/>
              </p:cNvGraphicFramePr>
              <p:nvPr>
                <p:extLst>
                  <p:ext uri="{D42A27DB-BD31-4B8C-83A1-F6EECF244321}">
                    <p14:modId xmlns:p14="http://schemas.microsoft.com/office/powerpoint/2010/main" val="3800130648"/>
                  </p:ext>
                </p:extLst>
              </p:nvPr>
            </p:nvGraphicFramePr>
            <p:xfrm>
              <a:off x="3483183" y="2753423"/>
              <a:ext cx="3796147" cy="1188720"/>
            </p:xfrm>
            <a:graphic>
              <a:graphicData uri="http://schemas.openxmlformats.org/drawingml/2006/table">
                <a:tbl>
                  <a:tblPr firstRow="1" bandRow="1"/>
                  <a:tblGrid>
                    <a:gridCol w="607481">
                      <a:extLst>
                        <a:ext uri="{9D8B030D-6E8A-4147-A177-3AD203B41FA5}">
                          <a16:colId xmlns:a16="http://schemas.microsoft.com/office/drawing/2014/main" val="776375974"/>
                        </a:ext>
                      </a:extLst>
                    </a:gridCol>
                    <a:gridCol w="607481">
                      <a:extLst>
                        <a:ext uri="{9D8B030D-6E8A-4147-A177-3AD203B41FA5}">
                          <a16:colId xmlns:a16="http://schemas.microsoft.com/office/drawing/2014/main" val="384604534"/>
                        </a:ext>
                      </a:extLst>
                    </a:gridCol>
                    <a:gridCol w="974350">
                      <a:extLst>
                        <a:ext uri="{9D8B030D-6E8A-4147-A177-3AD203B41FA5}">
                          <a16:colId xmlns:a16="http://schemas.microsoft.com/office/drawing/2014/main" val="1121803805"/>
                        </a:ext>
                      </a:extLst>
                    </a:gridCol>
                    <a:gridCol w="1606835">
                      <a:extLst>
                        <a:ext uri="{9D8B030D-6E8A-4147-A177-3AD203B41FA5}">
                          <a16:colId xmlns:a16="http://schemas.microsoft.com/office/drawing/2014/main" val="3312794932"/>
                        </a:ext>
                      </a:extLst>
                    </a:gridCol>
                  </a:tblGrid>
                  <a:tr h="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lgn="ct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m:t>
                                </m:r>
                                <m:r>
                                  <a:rPr lang="es-MX" sz="2000" b="1" i="1" smtClean="0">
                                    <a:solidFill>
                                      <a:schemeClr val="bg1"/>
                                    </a:solidFill>
                                    <a:latin typeface="Cambria Math" panose="02040503050406030204" pitchFamily="18" charset="0"/>
                                    <a:ea typeface="Roboto" panose="02000000000000000000" pitchFamily="2" charset="0"/>
                                  </a:rPr>
                                  <m:t>𝒑</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rPr>
                                  <m:t>¬(¬</m:t>
                                </m:r>
                                <m:r>
                                  <a:rPr lang="es-MX" sz="2000" b="1" i="1" smtClean="0">
                                    <a:solidFill>
                                      <a:schemeClr val="bg1"/>
                                    </a:solidFill>
                                    <a:latin typeface="Cambria Math" panose="02040503050406030204" pitchFamily="18" charset="0"/>
                                  </a:rPr>
                                  <m:t>𝒑</m:t>
                                </m:r>
                                <m:r>
                                  <a:rPr lang="es-MX" sz="2000" b="1" i="1" smtClean="0">
                                    <a:solidFill>
                                      <a:schemeClr val="bg1"/>
                                    </a:solidFill>
                                    <a:latin typeface="Cambria Math" panose="02040503050406030204" pitchFamily="18" charset="0"/>
                                  </a:rPr>
                                  <m:t>)</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rPr>
                                  <m:t>¬</m:t>
                                </m:r>
                                <m:d>
                                  <m:dPr>
                                    <m:ctrlPr>
                                      <a:rPr lang="es-MX" sz="2000" b="1" i="1" smtClean="0">
                                        <a:solidFill>
                                          <a:schemeClr val="bg1"/>
                                        </a:solidFill>
                                        <a:latin typeface="Cambria Math" panose="02040503050406030204" pitchFamily="18" charset="0"/>
                                      </a:rPr>
                                    </m:ctrlPr>
                                  </m:dPr>
                                  <m:e>
                                    <m:r>
                                      <a:rPr lang="es-MX" sz="2000" b="1" i="1" smtClean="0">
                                        <a:solidFill>
                                          <a:schemeClr val="bg1"/>
                                        </a:solidFill>
                                        <a:latin typeface="Cambria Math" panose="02040503050406030204" pitchFamily="18" charset="0"/>
                                      </a:rPr>
                                      <m:t>¬</m:t>
                                    </m:r>
                                    <m:r>
                                      <a:rPr lang="es-MX" sz="2000" b="1" i="1" smtClean="0">
                                        <a:solidFill>
                                          <a:schemeClr val="bg1"/>
                                        </a:solidFill>
                                        <a:latin typeface="Cambria Math" panose="02040503050406030204" pitchFamily="18" charset="0"/>
                                      </a:rPr>
                                      <m:t>𝒑</m:t>
                                    </m:r>
                                  </m:e>
                                </m:d>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rPr>
                                  <m:t>𝒑</m:t>
                                </m:r>
                              </m:oMath>
                            </m:oMathPara>
                          </a14:m>
                          <a:endParaRPr lang="es-CO" sz="2000" b="1" dirty="0">
                            <a:solidFill>
                              <a:schemeClr val="bg1"/>
                            </a:solidFill>
                          </a:endParaRPr>
                        </a:p>
                      </a:txBody>
                      <a:tcPr>
                        <a:solidFill>
                          <a:schemeClr val="tx1"/>
                        </a:solidFill>
                      </a:tcPr>
                    </a:tc>
                    <a:extLst>
                      <a:ext uri="{0D108BD9-81ED-4DB2-BD59-A6C34878D82A}">
                        <a16:rowId xmlns:a16="http://schemas.microsoft.com/office/drawing/2014/main" val="11367029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dirty="0">
                            <a:solidFill>
                              <a:schemeClr val="tx1"/>
                            </a:solidFill>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dirty="0">
                            <a:solidFill>
                              <a:schemeClr val="tx1"/>
                            </a:solidFill>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dirty="0">
                            <a:solidFill>
                              <a:schemeClr val="tx1"/>
                            </a:solidFill>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dirty="0">
                            <a:solidFill>
                              <a:schemeClr val="tx1"/>
                            </a:solidFill>
                            <a:latin typeface="Roboto" panose="02000000000000000000" pitchFamily="2" charset="0"/>
                            <a:ea typeface="Roboto" panose="02000000000000000000" pitchFamily="2" charset="0"/>
                          </a:endParaRPr>
                        </a:p>
                      </a:txBody>
                      <a:tcPr>
                        <a:solidFill>
                          <a:schemeClr val="bg2"/>
                        </a:solidFill>
                      </a:tcPr>
                    </a:tc>
                    <a:extLst>
                      <a:ext uri="{0D108BD9-81ED-4DB2-BD59-A6C34878D82A}">
                        <a16:rowId xmlns:a16="http://schemas.microsoft.com/office/drawing/2014/main" val="1805549228"/>
                      </a:ext>
                    </a:extLst>
                  </a:tr>
                  <a:tr h="0">
                    <a:tc>
                      <a:txBody>
                        <a:bodyPr/>
                        <a:lstStyle/>
                        <a:p>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dirty="0">
                            <a:solidFill>
                              <a:schemeClr val="tx1"/>
                            </a:solidFill>
                            <a:latin typeface="Roboto" panose="02000000000000000000" pitchFamily="2" charset="0"/>
                            <a:ea typeface="Roboto" panose="02000000000000000000" pitchFamily="2" charset="0"/>
                          </a:endParaRPr>
                        </a:p>
                      </a:txBody>
                      <a:tcPr>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dirty="0">
                            <a:solidFill>
                              <a:schemeClr val="tx1"/>
                            </a:solidFill>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dirty="0">
                            <a:solidFill>
                              <a:schemeClr val="tx1"/>
                            </a:solidFill>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dirty="0">
                            <a:solidFill>
                              <a:schemeClr val="tx1"/>
                            </a:solidFill>
                            <a:latin typeface="Roboto" panose="02000000000000000000" pitchFamily="2" charset="0"/>
                            <a:ea typeface="Roboto" panose="02000000000000000000" pitchFamily="2" charset="0"/>
                          </a:endParaRPr>
                        </a:p>
                      </a:txBody>
                      <a:tcPr>
                        <a:solidFill>
                          <a:schemeClr val="bg2"/>
                        </a:solidFill>
                      </a:tcPr>
                    </a:tc>
                    <a:extLst>
                      <a:ext uri="{0D108BD9-81ED-4DB2-BD59-A6C34878D82A}">
                        <a16:rowId xmlns:a16="http://schemas.microsoft.com/office/drawing/2014/main" val="2353127006"/>
                      </a:ext>
                    </a:extLst>
                  </a:tr>
                </a:tbl>
              </a:graphicData>
            </a:graphic>
          </p:graphicFrame>
        </mc:Choice>
        <mc:Fallback>
          <p:graphicFrame>
            <p:nvGraphicFramePr>
              <p:cNvPr id="17" name="Tabla 4">
                <a:extLst>
                  <a:ext uri="{FF2B5EF4-FFF2-40B4-BE49-F238E27FC236}">
                    <a16:creationId xmlns:a16="http://schemas.microsoft.com/office/drawing/2014/main" id="{91CDBF3D-6BC6-4487-B9EE-CA7F011018C6}"/>
                  </a:ext>
                </a:extLst>
              </p:cNvPr>
              <p:cNvGraphicFramePr>
                <a:graphicFrameLocks noGrp="1"/>
              </p:cNvGraphicFramePr>
              <p:nvPr>
                <p:extLst>
                  <p:ext uri="{D42A27DB-BD31-4B8C-83A1-F6EECF244321}">
                    <p14:modId xmlns:p14="http://schemas.microsoft.com/office/powerpoint/2010/main" val="3800130648"/>
                  </p:ext>
                </p:extLst>
              </p:nvPr>
            </p:nvGraphicFramePr>
            <p:xfrm>
              <a:off x="3483183" y="2753423"/>
              <a:ext cx="3796147" cy="1188720"/>
            </p:xfrm>
            <a:graphic>
              <a:graphicData uri="http://schemas.openxmlformats.org/drawingml/2006/table">
                <a:tbl>
                  <a:tblPr firstRow="1" bandRow="1"/>
                  <a:tblGrid>
                    <a:gridCol w="607481">
                      <a:extLst>
                        <a:ext uri="{9D8B030D-6E8A-4147-A177-3AD203B41FA5}">
                          <a16:colId xmlns:a16="http://schemas.microsoft.com/office/drawing/2014/main" val="776375974"/>
                        </a:ext>
                      </a:extLst>
                    </a:gridCol>
                    <a:gridCol w="607481">
                      <a:extLst>
                        <a:ext uri="{9D8B030D-6E8A-4147-A177-3AD203B41FA5}">
                          <a16:colId xmlns:a16="http://schemas.microsoft.com/office/drawing/2014/main" val="384604534"/>
                        </a:ext>
                      </a:extLst>
                    </a:gridCol>
                    <a:gridCol w="974350">
                      <a:extLst>
                        <a:ext uri="{9D8B030D-6E8A-4147-A177-3AD203B41FA5}">
                          <a16:colId xmlns:a16="http://schemas.microsoft.com/office/drawing/2014/main" val="1121803805"/>
                        </a:ext>
                      </a:extLst>
                    </a:gridCol>
                    <a:gridCol w="1606835">
                      <a:extLst>
                        <a:ext uri="{9D8B030D-6E8A-4147-A177-3AD203B41FA5}">
                          <a16:colId xmlns:a16="http://schemas.microsoft.com/office/drawing/2014/main" val="3312794932"/>
                        </a:ext>
                      </a:extLst>
                    </a:gridCol>
                  </a:tblGrid>
                  <a:tr h="396240">
                    <a:tc>
                      <a:txBody>
                        <a:bodyPr/>
                        <a:lstStyle/>
                        <a:p>
                          <a:endParaRPr lang="es-CO"/>
                        </a:p>
                      </a:txBody>
                      <a:tcPr>
                        <a:blipFill>
                          <a:blip r:embed="rId4"/>
                          <a:stretch>
                            <a:fillRect l="-1000" t="-1538" r="-526000" b="-204615"/>
                          </a:stretch>
                        </a:blipFill>
                      </a:tcPr>
                    </a:tc>
                    <a:tc>
                      <a:txBody>
                        <a:bodyPr/>
                        <a:lstStyle/>
                        <a:p>
                          <a:endParaRPr lang="es-CO"/>
                        </a:p>
                      </a:txBody>
                      <a:tcPr>
                        <a:blipFill>
                          <a:blip r:embed="rId4"/>
                          <a:stretch>
                            <a:fillRect l="-101000" t="-1538" r="-426000" b="-204615"/>
                          </a:stretch>
                        </a:blipFill>
                      </a:tcPr>
                    </a:tc>
                    <a:tc>
                      <a:txBody>
                        <a:bodyPr/>
                        <a:lstStyle/>
                        <a:p>
                          <a:endParaRPr lang="es-CO"/>
                        </a:p>
                      </a:txBody>
                      <a:tcPr>
                        <a:blipFill>
                          <a:blip r:embed="rId4"/>
                          <a:stretch>
                            <a:fillRect l="-125625" t="-1538" r="-166250" b="-204615"/>
                          </a:stretch>
                        </a:blipFill>
                      </a:tcPr>
                    </a:tc>
                    <a:tc>
                      <a:txBody>
                        <a:bodyPr/>
                        <a:lstStyle/>
                        <a:p>
                          <a:endParaRPr lang="es-CO"/>
                        </a:p>
                      </a:txBody>
                      <a:tcPr>
                        <a:blipFill>
                          <a:blip r:embed="rId4"/>
                          <a:stretch>
                            <a:fillRect l="-136742" t="-1538" r="-758" b="-204615"/>
                          </a:stretch>
                        </a:blipFill>
                      </a:tcPr>
                    </a:tc>
                    <a:extLst>
                      <a:ext uri="{0D108BD9-81ED-4DB2-BD59-A6C34878D82A}">
                        <a16:rowId xmlns:a16="http://schemas.microsoft.com/office/drawing/2014/main" val="113670299"/>
                      </a:ext>
                    </a:extLst>
                  </a:tr>
                  <a:tr h="396240">
                    <a:tc>
                      <a:txBody>
                        <a:bodyPr/>
                        <a:lstStyle/>
                        <a:p>
                          <a:endParaRPr lang="es-CO"/>
                        </a:p>
                      </a:txBody>
                      <a:tcPr>
                        <a:blipFill>
                          <a:blip r:embed="rId4"/>
                          <a:stretch>
                            <a:fillRect l="-1000" t="-100000" r="-526000" b="-101515"/>
                          </a:stretch>
                        </a:blipFill>
                      </a:tcPr>
                    </a:tc>
                    <a:tc>
                      <a:txBody>
                        <a:bodyPr/>
                        <a:lstStyle/>
                        <a:p>
                          <a:endParaRPr lang="es-CO"/>
                        </a:p>
                      </a:txBody>
                      <a:tcPr>
                        <a:blipFill>
                          <a:blip r:embed="rId4"/>
                          <a:stretch>
                            <a:fillRect l="-101000" t="-100000" r="-426000" b="-101515"/>
                          </a:stretch>
                        </a:blipFill>
                      </a:tcPr>
                    </a:tc>
                    <a:tc>
                      <a:txBody>
                        <a:bodyPr/>
                        <a:lstStyle/>
                        <a:p>
                          <a:endParaRPr lang="es-CO"/>
                        </a:p>
                      </a:txBody>
                      <a:tcPr>
                        <a:blipFill>
                          <a:blip r:embed="rId4"/>
                          <a:stretch>
                            <a:fillRect l="-125625" t="-100000" r="-166250" b="-101515"/>
                          </a:stretch>
                        </a:blipFill>
                      </a:tcPr>
                    </a:tc>
                    <a:tc>
                      <a:txBody>
                        <a:bodyPr/>
                        <a:lstStyle/>
                        <a:p>
                          <a:endParaRPr lang="es-CO"/>
                        </a:p>
                      </a:txBody>
                      <a:tcPr>
                        <a:blipFill>
                          <a:blip r:embed="rId4"/>
                          <a:stretch>
                            <a:fillRect l="-136742" t="-100000" r="-758" b="-101515"/>
                          </a:stretch>
                        </a:blipFill>
                      </a:tcPr>
                    </a:tc>
                    <a:extLst>
                      <a:ext uri="{0D108BD9-81ED-4DB2-BD59-A6C34878D82A}">
                        <a16:rowId xmlns:a16="http://schemas.microsoft.com/office/drawing/2014/main" val="1805549228"/>
                      </a:ext>
                    </a:extLst>
                  </a:tr>
                  <a:tr h="396240">
                    <a:tc>
                      <a:txBody>
                        <a:bodyPr/>
                        <a:lstStyle/>
                        <a:p>
                          <a:endParaRPr lang="es-CO"/>
                        </a:p>
                      </a:txBody>
                      <a:tcPr>
                        <a:blipFill>
                          <a:blip r:embed="rId4"/>
                          <a:stretch>
                            <a:fillRect l="-1000" t="-203077" r="-526000" b="-3077"/>
                          </a:stretch>
                        </a:blipFill>
                      </a:tcPr>
                    </a:tc>
                    <a:tc>
                      <a:txBody>
                        <a:bodyPr/>
                        <a:lstStyle/>
                        <a:p>
                          <a:endParaRPr lang="es-CO"/>
                        </a:p>
                      </a:txBody>
                      <a:tcPr>
                        <a:blipFill>
                          <a:blip r:embed="rId4"/>
                          <a:stretch>
                            <a:fillRect l="-101000" t="-203077" r="-426000" b="-3077"/>
                          </a:stretch>
                        </a:blipFill>
                      </a:tcPr>
                    </a:tc>
                    <a:tc>
                      <a:txBody>
                        <a:bodyPr/>
                        <a:lstStyle/>
                        <a:p>
                          <a:endParaRPr lang="es-CO"/>
                        </a:p>
                      </a:txBody>
                      <a:tcPr>
                        <a:blipFill>
                          <a:blip r:embed="rId4"/>
                          <a:stretch>
                            <a:fillRect l="-125625" t="-203077" r="-166250" b="-3077"/>
                          </a:stretch>
                        </a:blipFill>
                      </a:tcPr>
                    </a:tc>
                    <a:tc>
                      <a:txBody>
                        <a:bodyPr/>
                        <a:lstStyle/>
                        <a:p>
                          <a:endParaRPr lang="es-CO"/>
                        </a:p>
                      </a:txBody>
                      <a:tcPr>
                        <a:blipFill>
                          <a:blip r:embed="rId4"/>
                          <a:stretch>
                            <a:fillRect l="-136742" t="-203077" r="-758" b="-3077"/>
                          </a:stretch>
                        </a:blipFill>
                      </a:tcPr>
                    </a:tc>
                    <a:extLst>
                      <a:ext uri="{0D108BD9-81ED-4DB2-BD59-A6C34878D82A}">
                        <a16:rowId xmlns:a16="http://schemas.microsoft.com/office/drawing/2014/main" val="2353127006"/>
                      </a:ext>
                    </a:extLst>
                  </a:tr>
                </a:tbl>
              </a:graphicData>
            </a:graphic>
          </p:graphicFrame>
        </mc:Fallback>
      </mc:AlternateContent>
      <mc:AlternateContent xmlns:mc="http://schemas.openxmlformats.org/markup-compatibility/2006">
        <mc:Choice xmlns:a14="http://schemas.microsoft.com/office/drawing/2010/main" Requires="a14">
          <p:sp>
            <p:nvSpPr>
              <p:cNvPr id="19" name="CuadroTexto 18">
                <a:extLst>
                  <a:ext uri="{FF2B5EF4-FFF2-40B4-BE49-F238E27FC236}">
                    <a16:creationId xmlns:a16="http://schemas.microsoft.com/office/drawing/2014/main" id="{9D20B9EC-A42B-4415-A013-B61280368621}"/>
                  </a:ext>
                </a:extLst>
              </p:cNvPr>
              <p:cNvSpPr txBox="1"/>
              <p:nvPr/>
            </p:nvSpPr>
            <p:spPr>
              <a:xfrm>
                <a:off x="360218" y="2767281"/>
                <a:ext cx="1455040" cy="338554"/>
              </a:xfrm>
              <a:prstGeom prst="rect">
                <a:avLst/>
              </a:prstGeom>
              <a:solidFill>
                <a:schemeClr val="accent3">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MX" sz="2200" b="1" i="1" smtClean="0">
                          <a:latin typeface="Cambria Math" panose="02040503050406030204" pitchFamily="18" charset="0"/>
                        </a:rPr>
                        <m:t>¬</m:t>
                      </m:r>
                      <m:d>
                        <m:dPr>
                          <m:ctrlPr>
                            <a:rPr lang="es-MX" sz="2200" b="1" i="1" smtClean="0">
                              <a:latin typeface="Cambria Math" panose="02040503050406030204" pitchFamily="18" charset="0"/>
                            </a:rPr>
                          </m:ctrlPr>
                        </m:dPr>
                        <m:e>
                          <m:r>
                            <a:rPr lang="es-MX" sz="2200" b="1" i="1" smtClean="0">
                              <a:latin typeface="Cambria Math" panose="02040503050406030204" pitchFamily="18" charset="0"/>
                            </a:rPr>
                            <m:t>¬</m:t>
                          </m:r>
                          <m:r>
                            <a:rPr lang="es-MX" sz="2200" b="1" i="1" smtClean="0">
                              <a:latin typeface="Cambria Math" panose="02040503050406030204" pitchFamily="18" charset="0"/>
                            </a:rPr>
                            <m:t>𝒑</m:t>
                          </m:r>
                        </m:e>
                      </m:d>
                      <m:r>
                        <a:rPr lang="es-MX" sz="2200" b="1" i="1" smtClean="0">
                          <a:latin typeface="Cambria Math" panose="02040503050406030204" pitchFamily="18" charset="0"/>
                          <a:ea typeface="Cambria Math" panose="02040503050406030204" pitchFamily="18" charset="0"/>
                        </a:rPr>
                        <m:t>≡</m:t>
                      </m:r>
                      <m:r>
                        <a:rPr lang="es-MX" sz="2200" b="1" i="1" smtClean="0">
                          <a:latin typeface="Cambria Math" panose="02040503050406030204" pitchFamily="18" charset="0"/>
                        </a:rPr>
                        <m:t>𝒑</m:t>
                      </m:r>
                    </m:oMath>
                  </m:oMathPara>
                </a14:m>
                <a:endParaRPr lang="es-CO" sz="2200" b="1" dirty="0"/>
              </a:p>
            </p:txBody>
          </p:sp>
        </mc:Choice>
        <mc:Fallback>
          <p:sp>
            <p:nvSpPr>
              <p:cNvPr id="19" name="CuadroTexto 18">
                <a:extLst>
                  <a:ext uri="{FF2B5EF4-FFF2-40B4-BE49-F238E27FC236}">
                    <a16:creationId xmlns:a16="http://schemas.microsoft.com/office/drawing/2014/main" id="{9D20B9EC-A42B-4415-A013-B61280368621}"/>
                  </a:ext>
                </a:extLst>
              </p:cNvPr>
              <p:cNvSpPr txBox="1">
                <a:spLocks noRot="1" noChangeAspect="1" noMove="1" noResize="1" noEditPoints="1" noAdjustHandles="1" noChangeArrowheads="1" noChangeShapeType="1" noTextEdit="1"/>
              </p:cNvSpPr>
              <p:nvPr/>
            </p:nvSpPr>
            <p:spPr>
              <a:xfrm>
                <a:off x="360218" y="2767281"/>
                <a:ext cx="1455040" cy="338554"/>
              </a:xfrm>
              <a:prstGeom prst="rect">
                <a:avLst/>
              </a:prstGeom>
              <a:blipFill>
                <a:blip r:embed="rId5"/>
                <a:stretch>
                  <a:fillRect r="-3766" b="-27273"/>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10" name="Tabla 4">
                <a:extLst>
                  <a:ext uri="{FF2B5EF4-FFF2-40B4-BE49-F238E27FC236}">
                    <a16:creationId xmlns:a16="http://schemas.microsoft.com/office/drawing/2014/main" id="{4E7E4398-A50B-4D49-8872-F90CB6BCF3E0}"/>
                  </a:ext>
                </a:extLst>
              </p:cNvPr>
              <p:cNvGraphicFramePr>
                <a:graphicFrameLocks noGrp="1"/>
              </p:cNvGraphicFramePr>
              <p:nvPr>
                <p:extLst>
                  <p:ext uri="{D42A27DB-BD31-4B8C-83A1-F6EECF244321}">
                    <p14:modId xmlns:p14="http://schemas.microsoft.com/office/powerpoint/2010/main" val="18147846"/>
                  </p:ext>
                </p:extLst>
              </p:nvPr>
            </p:nvGraphicFramePr>
            <p:xfrm>
              <a:off x="3483183" y="4477137"/>
              <a:ext cx="8210053" cy="1981200"/>
            </p:xfrm>
            <a:graphic>
              <a:graphicData uri="http://schemas.openxmlformats.org/drawingml/2006/table">
                <a:tbl>
                  <a:tblPr firstRow="1" bandRow="1"/>
                  <a:tblGrid>
                    <a:gridCol w="432627">
                      <a:extLst>
                        <a:ext uri="{9D8B030D-6E8A-4147-A177-3AD203B41FA5}">
                          <a16:colId xmlns:a16="http://schemas.microsoft.com/office/drawing/2014/main" val="776375974"/>
                        </a:ext>
                      </a:extLst>
                    </a:gridCol>
                    <a:gridCol w="429223">
                      <a:extLst>
                        <a:ext uri="{9D8B030D-6E8A-4147-A177-3AD203B41FA5}">
                          <a16:colId xmlns:a16="http://schemas.microsoft.com/office/drawing/2014/main" val="384604534"/>
                        </a:ext>
                      </a:extLst>
                    </a:gridCol>
                    <a:gridCol w="636857">
                      <a:extLst>
                        <a:ext uri="{9D8B030D-6E8A-4147-A177-3AD203B41FA5}">
                          <a16:colId xmlns:a16="http://schemas.microsoft.com/office/drawing/2014/main" val="79869298"/>
                        </a:ext>
                      </a:extLst>
                    </a:gridCol>
                    <a:gridCol w="633452">
                      <a:extLst>
                        <a:ext uri="{9D8B030D-6E8A-4147-A177-3AD203B41FA5}">
                          <a16:colId xmlns:a16="http://schemas.microsoft.com/office/drawing/2014/main" val="1202042647"/>
                        </a:ext>
                      </a:extLst>
                    </a:gridCol>
                    <a:gridCol w="878733">
                      <a:extLst>
                        <a:ext uri="{9D8B030D-6E8A-4147-A177-3AD203B41FA5}">
                          <a16:colId xmlns:a16="http://schemas.microsoft.com/office/drawing/2014/main" val="1121803805"/>
                        </a:ext>
                      </a:extLst>
                    </a:gridCol>
                    <a:gridCol w="1220978">
                      <a:extLst>
                        <a:ext uri="{9D8B030D-6E8A-4147-A177-3AD203B41FA5}">
                          <a16:colId xmlns:a16="http://schemas.microsoft.com/office/drawing/2014/main" val="3636147316"/>
                        </a:ext>
                      </a:extLst>
                    </a:gridCol>
                    <a:gridCol w="1200658">
                      <a:extLst>
                        <a:ext uri="{9D8B030D-6E8A-4147-A177-3AD203B41FA5}">
                          <a16:colId xmlns:a16="http://schemas.microsoft.com/office/drawing/2014/main" val="1883770935"/>
                        </a:ext>
                      </a:extLst>
                    </a:gridCol>
                    <a:gridCol w="2777525">
                      <a:extLst>
                        <a:ext uri="{9D8B030D-6E8A-4147-A177-3AD203B41FA5}">
                          <a16:colId xmlns:a16="http://schemas.microsoft.com/office/drawing/2014/main" val="3726908545"/>
                        </a:ext>
                      </a:extLst>
                    </a:gridCol>
                  </a:tblGrid>
                  <a:tr h="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lgn="ct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lgn="ct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rPr>
                                  <m:t>¬</m:t>
                                </m:r>
                                <m:r>
                                  <a:rPr lang="es-MX" sz="2000" b="1" i="1" smtClean="0">
                                    <a:solidFill>
                                      <a:schemeClr val="bg1"/>
                                    </a:solidFill>
                                    <a:latin typeface="Cambria Math" panose="02040503050406030204" pitchFamily="18" charset="0"/>
                                  </a:rPr>
                                  <m:t>𝒑</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rPr>
                                  <m:t>¬</m:t>
                                </m:r>
                                <m:r>
                                  <a:rPr lang="es-MX" sz="2000" b="1" i="1" smtClean="0">
                                    <a:solidFill>
                                      <a:schemeClr val="bg1"/>
                                    </a:solidFill>
                                    <a:latin typeface="Cambria Math" panose="02040503050406030204" pitchFamily="18"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rPr>
                                  <m:t>𝒑</m:t>
                                </m:r>
                                <m:r>
                                  <a:rPr lang="es-MX" sz="2000" b="1" i="1">
                                    <a:solidFill>
                                      <a:schemeClr val="bg1"/>
                                    </a:solidFill>
                                    <a:latin typeface="Cambria Math" panose="02040503050406030204" pitchFamily="18" charset="0"/>
                                    <a:ea typeface="Cambria Math" panose="02040503050406030204" pitchFamily="18" charset="0"/>
                                  </a:rPr>
                                  <m:t>∧</m:t>
                                </m:r>
                                <m:r>
                                  <a:rPr lang="es-MX" sz="2000" b="1" i="1">
                                    <a:solidFill>
                                      <a:schemeClr val="bg1"/>
                                    </a:solidFill>
                                    <a:latin typeface="Cambria Math" panose="02040503050406030204" pitchFamily="18" charset="0"/>
                                    <a:ea typeface="Cambria Math" panose="02040503050406030204" pitchFamily="18"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rPr>
                                  <m:t>¬</m:t>
                                </m:r>
                                <m:d>
                                  <m:dPr>
                                    <m:ctrlPr>
                                      <a:rPr lang="es-MX" sz="2000" b="1" i="1" smtClean="0">
                                        <a:solidFill>
                                          <a:schemeClr val="bg1"/>
                                        </a:solidFill>
                                        <a:latin typeface="Cambria Math" panose="02040503050406030204" pitchFamily="18" charset="0"/>
                                      </a:rPr>
                                    </m:ctrlPr>
                                  </m:dPr>
                                  <m:e>
                                    <m:r>
                                      <a:rPr lang="es-MX" sz="2000" b="1" i="1" smtClean="0">
                                        <a:solidFill>
                                          <a:schemeClr val="bg1"/>
                                        </a:solidFill>
                                        <a:latin typeface="Cambria Math" panose="02040503050406030204" pitchFamily="18" charset="0"/>
                                      </a:rPr>
                                      <m:t>𝒑</m:t>
                                    </m:r>
                                    <m:r>
                                      <a:rPr lang="es-MX" sz="2000" b="1" i="1">
                                        <a:solidFill>
                                          <a:schemeClr val="bg1"/>
                                        </a:solidFill>
                                        <a:latin typeface="Cambria Math" panose="02040503050406030204" pitchFamily="18" charset="0"/>
                                        <a:ea typeface="Cambria Math" panose="02040503050406030204" pitchFamily="18" charset="0"/>
                                      </a:rPr>
                                      <m:t>∧</m:t>
                                    </m:r>
                                    <m:r>
                                      <a:rPr lang="es-MX" sz="2000" b="1" i="1">
                                        <a:solidFill>
                                          <a:schemeClr val="bg1"/>
                                        </a:solidFill>
                                        <a:latin typeface="Cambria Math" panose="02040503050406030204" pitchFamily="18" charset="0"/>
                                        <a:ea typeface="Cambria Math" panose="02040503050406030204" pitchFamily="18" charset="0"/>
                                      </a:rPr>
                                      <m:t>𝒒</m:t>
                                    </m:r>
                                  </m:e>
                                </m:d>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rPr>
                                  <m:t>¬</m:t>
                                </m:r>
                                <m:r>
                                  <a:rPr lang="es-MX" sz="2000" b="1" i="1" smtClean="0">
                                    <a:solidFill>
                                      <a:schemeClr val="bg1"/>
                                    </a:solidFill>
                                    <a:latin typeface="Cambria Math" panose="02040503050406030204" pitchFamily="18" charset="0"/>
                                  </a:rPr>
                                  <m:t>𝒑</m:t>
                                </m:r>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rPr>
                                  <m:t>¬</m:t>
                                </m:r>
                                <m:r>
                                  <a:rPr lang="es-MX" sz="2000" b="1" i="1">
                                    <a:solidFill>
                                      <a:schemeClr val="bg1"/>
                                    </a:solidFill>
                                    <a:latin typeface="Cambria Math" panose="02040503050406030204" pitchFamily="18" charset="0"/>
                                    <a:ea typeface="Cambria Math" panose="02040503050406030204" pitchFamily="18"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rPr>
                                  <m:t>¬</m:t>
                                </m:r>
                                <m:d>
                                  <m:dPr>
                                    <m:ctrlPr>
                                      <a:rPr lang="es-MX" sz="2000" b="1" i="1" smtClean="0">
                                        <a:solidFill>
                                          <a:schemeClr val="bg1"/>
                                        </a:solidFill>
                                        <a:latin typeface="Cambria Math" panose="02040503050406030204" pitchFamily="18" charset="0"/>
                                      </a:rPr>
                                    </m:ctrlPr>
                                  </m:dPr>
                                  <m:e>
                                    <m:r>
                                      <a:rPr lang="es-MX" sz="2000" b="1" i="1" smtClean="0">
                                        <a:solidFill>
                                          <a:schemeClr val="bg1"/>
                                        </a:solidFill>
                                        <a:latin typeface="Cambria Math" panose="02040503050406030204" pitchFamily="18" charset="0"/>
                                      </a:rPr>
                                      <m:t>𝒑</m:t>
                                    </m:r>
                                    <m:r>
                                      <a:rPr lang="es-MX" sz="2000" b="1" i="1">
                                        <a:solidFill>
                                          <a:schemeClr val="bg1"/>
                                        </a:solidFill>
                                        <a:latin typeface="Cambria Math" panose="02040503050406030204" pitchFamily="18" charset="0"/>
                                        <a:ea typeface="Cambria Math" panose="02040503050406030204" pitchFamily="18" charset="0"/>
                                      </a:rPr>
                                      <m:t>∧</m:t>
                                    </m:r>
                                    <m:r>
                                      <a:rPr lang="es-MX" sz="2000" b="1" i="1">
                                        <a:solidFill>
                                          <a:schemeClr val="bg1"/>
                                        </a:solidFill>
                                        <a:latin typeface="Cambria Math" panose="02040503050406030204" pitchFamily="18" charset="0"/>
                                        <a:ea typeface="Cambria Math" panose="02040503050406030204" pitchFamily="18" charset="0"/>
                                      </a:rPr>
                                      <m:t>𝒒</m:t>
                                    </m:r>
                                  </m:e>
                                </m:d>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rPr>
                                  <m:t>¬</m:t>
                                </m:r>
                                <m:r>
                                  <a:rPr lang="es-MX" sz="2000" b="1" i="1" smtClean="0">
                                    <a:solidFill>
                                      <a:schemeClr val="bg1"/>
                                    </a:solidFill>
                                    <a:latin typeface="Cambria Math" panose="02040503050406030204" pitchFamily="18" charset="0"/>
                                  </a:rPr>
                                  <m:t>𝒑</m:t>
                                </m:r>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rPr>
                                  <m:t>¬</m:t>
                                </m:r>
                                <m:r>
                                  <a:rPr lang="es-MX" sz="2000" b="1" i="1">
                                    <a:solidFill>
                                      <a:schemeClr val="bg1"/>
                                    </a:solidFill>
                                    <a:latin typeface="Cambria Math" panose="02040503050406030204" pitchFamily="18" charset="0"/>
                                    <a:ea typeface="Cambria Math" panose="02040503050406030204" pitchFamily="18"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extLst>
                      <a:ext uri="{0D108BD9-81ED-4DB2-BD59-A6C34878D82A}">
                        <a16:rowId xmlns:a16="http://schemas.microsoft.com/office/drawing/2014/main" val="113670299"/>
                      </a:ext>
                    </a:extLst>
                  </a:tr>
                  <a:tr h="23774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dirty="0">
                            <a:solidFill>
                              <a:schemeClr val="tx1"/>
                            </a:solidFill>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dirty="0">
                            <a:solidFill>
                              <a:schemeClr val="tx1"/>
                            </a:solidFill>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dirty="0">
                            <a:solidFill>
                              <a:schemeClr val="tx1"/>
                            </a:solidFill>
                            <a:latin typeface="Roboto" panose="02000000000000000000" pitchFamily="2" charset="0"/>
                            <a:ea typeface="Roboto" panose="02000000000000000000" pitchFamily="2" charset="0"/>
                          </a:endParaRPr>
                        </a:p>
                      </a:txBody>
                      <a:tcPr>
                        <a:solidFill>
                          <a:schemeClr val="bg2"/>
                        </a:solidFill>
                      </a:tcPr>
                    </a:tc>
                    <a:extLst>
                      <a:ext uri="{0D108BD9-81ED-4DB2-BD59-A6C34878D82A}">
                        <a16:rowId xmlns:a16="http://schemas.microsoft.com/office/drawing/2014/main" val="1805549228"/>
                      </a:ext>
                    </a:extLst>
                  </a:tr>
                  <a:tr h="23774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dirty="0">
                            <a:solidFill>
                              <a:schemeClr val="tx1"/>
                            </a:solidFill>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dirty="0">
                            <a:solidFill>
                              <a:schemeClr val="tx1"/>
                            </a:solidFill>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dirty="0">
                            <a:solidFill>
                              <a:schemeClr val="tx1"/>
                            </a:solidFill>
                            <a:latin typeface="Roboto" panose="02000000000000000000" pitchFamily="2" charset="0"/>
                            <a:ea typeface="Roboto" panose="02000000000000000000" pitchFamily="2" charset="0"/>
                          </a:endParaRPr>
                        </a:p>
                      </a:txBody>
                      <a:tcPr>
                        <a:solidFill>
                          <a:schemeClr val="bg2"/>
                        </a:solidFill>
                      </a:tcPr>
                    </a:tc>
                    <a:extLst>
                      <a:ext uri="{0D108BD9-81ED-4DB2-BD59-A6C34878D82A}">
                        <a16:rowId xmlns:a16="http://schemas.microsoft.com/office/drawing/2014/main" val="2353127006"/>
                      </a:ext>
                    </a:extLst>
                  </a:tr>
                  <a:tr h="23774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dirty="0">
                            <a:solidFill>
                              <a:schemeClr val="tx1"/>
                            </a:solidFill>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dirty="0">
                            <a:solidFill>
                              <a:schemeClr val="tx1"/>
                            </a:solidFill>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dirty="0">
                            <a:solidFill>
                              <a:schemeClr val="tx1"/>
                            </a:solidFill>
                            <a:latin typeface="Roboto" panose="02000000000000000000" pitchFamily="2" charset="0"/>
                            <a:ea typeface="Roboto" panose="02000000000000000000" pitchFamily="2" charset="0"/>
                          </a:endParaRPr>
                        </a:p>
                      </a:txBody>
                      <a:tcPr>
                        <a:solidFill>
                          <a:schemeClr val="bg2"/>
                        </a:solidFill>
                      </a:tcPr>
                    </a:tc>
                    <a:extLst>
                      <a:ext uri="{0D108BD9-81ED-4DB2-BD59-A6C34878D82A}">
                        <a16:rowId xmlns:a16="http://schemas.microsoft.com/office/drawing/2014/main" val="3651764017"/>
                      </a:ext>
                    </a:extLst>
                  </a:tr>
                  <a:tr h="23774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dirty="0">
                            <a:solidFill>
                              <a:schemeClr val="tx1"/>
                            </a:solidFill>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dirty="0">
                            <a:solidFill>
                              <a:schemeClr val="tx1"/>
                            </a:solidFill>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dirty="0">
                            <a:solidFill>
                              <a:schemeClr val="tx1"/>
                            </a:solidFill>
                            <a:latin typeface="Roboto" panose="02000000000000000000" pitchFamily="2" charset="0"/>
                            <a:ea typeface="Roboto" panose="02000000000000000000" pitchFamily="2" charset="0"/>
                          </a:endParaRPr>
                        </a:p>
                      </a:txBody>
                      <a:tcPr>
                        <a:solidFill>
                          <a:schemeClr val="bg2"/>
                        </a:solidFill>
                      </a:tcPr>
                    </a:tc>
                    <a:extLst>
                      <a:ext uri="{0D108BD9-81ED-4DB2-BD59-A6C34878D82A}">
                        <a16:rowId xmlns:a16="http://schemas.microsoft.com/office/drawing/2014/main" val="2841338906"/>
                      </a:ext>
                    </a:extLst>
                  </a:tr>
                </a:tbl>
              </a:graphicData>
            </a:graphic>
          </p:graphicFrame>
        </mc:Choice>
        <mc:Fallback>
          <p:graphicFrame>
            <p:nvGraphicFramePr>
              <p:cNvPr id="10" name="Tabla 4">
                <a:extLst>
                  <a:ext uri="{FF2B5EF4-FFF2-40B4-BE49-F238E27FC236}">
                    <a16:creationId xmlns:a16="http://schemas.microsoft.com/office/drawing/2014/main" id="{4E7E4398-A50B-4D49-8872-F90CB6BCF3E0}"/>
                  </a:ext>
                </a:extLst>
              </p:cNvPr>
              <p:cNvGraphicFramePr>
                <a:graphicFrameLocks noGrp="1"/>
              </p:cNvGraphicFramePr>
              <p:nvPr>
                <p:extLst>
                  <p:ext uri="{D42A27DB-BD31-4B8C-83A1-F6EECF244321}">
                    <p14:modId xmlns:p14="http://schemas.microsoft.com/office/powerpoint/2010/main" val="18147846"/>
                  </p:ext>
                </p:extLst>
              </p:nvPr>
            </p:nvGraphicFramePr>
            <p:xfrm>
              <a:off x="3483183" y="4477137"/>
              <a:ext cx="8210053" cy="1981200"/>
            </p:xfrm>
            <a:graphic>
              <a:graphicData uri="http://schemas.openxmlformats.org/drawingml/2006/table">
                <a:tbl>
                  <a:tblPr firstRow="1" bandRow="1"/>
                  <a:tblGrid>
                    <a:gridCol w="432627">
                      <a:extLst>
                        <a:ext uri="{9D8B030D-6E8A-4147-A177-3AD203B41FA5}">
                          <a16:colId xmlns:a16="http://schemas.microsoft.com/office/drawing/2014/main" val="776375974"/>
                        </a:ext>
                      </a:extLst>
                    </a:gridCol>
                    <a:gridCol w="429223">
                      <a:extLst>
                        <a:ext uri="{9D8B030D-6E8A-4147-A177-3AD203B41FA5}">
                          <a16:colId xmlns:a16="http://schemas.microsoft.com/office/drawing/2014/main" val="384604534"/>
                        </a:ext>
                      </a:extLst>
                    </a:gridCol>
                    <a:gridCol w="636857">
                      <a:extLst>
                        <a:ext uri="{9D8B030D-6E8A-4147-A177-3AD203B41FA5}">
                          <a16:colId xmlns:a16="http://schemas.microsoft.com/office/drawing/2014/main" val="79869298"/>
                        </a:ext>
                      </a:extLst>
                    </a:gridCol>
                    <a:gridCol w="633452">
                      <a:extLst>
                        <a:ext uri="{9D8B030D-6E8A-4147-A177-3AD203B41FA5}">
                          <a16:colId xmlns:a16="http://schemas.microsoft.com/office/drawing/2014/main" val="1202042647"/>
                        </a:ext>
                      </a:extLst>
                    </a:gridCol>
                    <a:gridCol w="878733">
                      <a:extLst>
                        <a:ext uri="{9D8B030D-6E8A-4147-A177-3AD203B41FA5}">
                          <a16:colId xmlns:a16="http://schemas.microsoft.com/office/drawing/2014/main" val="1121803805"/>
                        </a:ext>
                      </a:extLst>
                    </a:gridCol>
                    <a:gridCol w="1220978">
                      <a:extLst>
                        <a:ext uri="{9D8B030D-6E8A-4147-A177-3AD203B41FA5}">
                          <a16:colId xmlns:a16="http://schemas.microsoft.com/office/drawing/2014/main" val="3636147316"/>
                        </a:ext>
                      </a:extLst>
                    </a:gridCol>
                    <a:gridCol w="1200658">
                      <a:extLst>
                        <a:ext uri="{9D8B030D-6E8A-4147-A177-3AD203B41FA5}">
                          <a16:colId xmlns:a16="http://schemas.microsoft.com/office/drawing/2014/main" val="1883770935"/>
                        </a:ext>
                      </a:extLst>
                    </a:gridCol>
                    <a:gridCol w="2777525">
                      <a:extLst>
                        <a:ext uri="{9D8B030D-6E8A-4147-A177-3AD203B41FA5}">
                          <a16:colId xmlns:a16="http://schemas.microsoft.com/office/drawing/2014/main" val="3726908545"/>
                        </a:ext>
                      </a:extLst>
                    </a:gridCol>
                  </a:tblGrid>
                  <a:tr h="396240">
                    <a:tc>
                      <a:txBody>
                        <a:bodyPr/>
                        <a:lstStyle/>
                        <a:p>
                          <a:endParaRPr lang="es-CO"/>
                        </a:p>
                      </a:txBody>
                      <a:tcPr>
                        <a:blipFill>
                          <a:blip r:embed="rId6"/>
                          <a:stretch>
                            <a:fillRect l="-1408" t="-1538" r="-1801408" b="-404615"/>
                          </a:stretch>
                        </a:blipFill>
                      </a:tcPr>
                    </a:tc>
                    <a:tc>
                      <a:txBody>
                        <a:bodyPr/>
                        <a:lstStyle/>
                        <a:p>
                          <a:endParaRPr lang="es-CO"/>
                        </a:p>
                      </a:txBody>
                      <a:tcPr>
                        <a:blipFill>
                          <a:blip r:embed="rId6"/>
                          <a:stretch>
                            <a:fillRect l="-101408" t="-1538" r="-1701408" b="-404615"/>
                          </a:stretch>
                        </a:blipFill>
                      </a:tcPr>
                    </a:tc>
                    <a:tc>
                      <a:txBody>
                        <a:bodyPr/>
                        <a:lstStyle/>
                        <a:p>
                          <a:endParaRPr lang="es-CO"/>
                        </a:p>
                      </a:txBody>
                      <a:tcPr>
                        <a:blipFill>
                          <a:blip r:embed="rId6"/>
                          <a:stretch>
                            <a:fillRect l="-137500" t="-1538" r="-1061538" b="-404615"/>
                          </a:stretch>
                        </a:blipFill>
                      </a:tcPr>
                    </a:tc>
                    <a:tc>
                      <a:txBody>
                        <a:bodyPr/>
                        <a:lstStyle/>
                        <a:p>
                          <a:endParaRPr lang="es-CO"/>
                        </a:p>
                      </a:txBody>
                      <a:tcPr>
                        <a:blipFill>
                          <a:blip r:embed="rId6"/>
                          <a:stretch>
                            <a:fillRect l="-237500" t="-1538" r="-961538" b="-404615"/>
                          </a:stretch>
                        </a:blipFill>
                      </a:tcPr>
                    </a:tc>
                    <a:tc>
                      <a:txBody>
                        <a:bodyPr/>
                        <a:lstStyle/>
                        <a:p>
                          <a:endParaRPr lang="es-CO"/>
                        </a:p>
                      </a:txBody>
                      <a:tcPr>
                        <a:blipFill>
                          <a:blip r:embed="rId6"/>
                          <a:stretch>
                            <a:fillRect l="-243750" t="-1538" r="-594444" b="-404615"/>
                          </a:stretch>
                        </a:blipFill>
                      </a:tcPr>
                    </a:tc>
                    <a:tc>
                      <a:txBody>
                        <a:bodyPr/>
                        <a:lstStyle/>
                        <a:p>
                          <a:endParaRPr lang="es-CO"/>
                        </a:p>
                      </a:txBody>
                      <a:tcPr>
                        <a:blipFill>
                          <a:blip r:embed="rId6"/>
                          <a:stretch>
                            <a:fillRect l="-246269" t="-1538" r="-325871" b="-404615"/>
                          </a:stretch>
                        </a:blipFill>
                      </a:tcPr>
                    </a:tc>
                    <a:tc>
                      <a:txBody>
                        <a:bodyPr/>
                        <a:lstStyle/>
                        <a:p>
                          <a:endParaRPr lang="es-CO"/>
                        </a:p>
                      </a:txBody>
                      <a:tcPr>
                        <a:blipFill>
                          <a:blip r:embed="rId6"/>
                          <a:stretch>
                            <a:fillRect l="-353299" t="-1538" r="-232487" b="-404615"/>
                          </a:stretch>
                        </a:blipFill>
                      </a:tcPr>
                    </a:tc>
                    <a:tc>
                      <a:txBody>
                        <a:bodyPr/>
                        <a:lstStyle/>
                        <a:p>
                          <a:endParaRPr lang="es-CO"/>
                        </a:p>
                      </a:txBody>
                      <a:tcPr>
                        <a:blipFill>
                          <a:blip r:embed="rId6"/>
                          <a:stretch>
                            <a:fillRect l="-195833" t="-1538" r="-439" b="-404615"/>
                          </a:stretch>
                        </a:blipFill>
                      </a:tcPr>
                    </a:tc>
                    <a:extLst>
                      <a:ext uri="{0D108BD9-81ED-4DB2-BD59-A6C34878D82A}">
                        <a16:rowId xmlns:a16="http://schemas.microsoft.com/office/drawing/2014/main" val="113670299"/>
                      </a:ext>
                    </a:extLst>
                  </a:tr>
                  <a:tr h="396240">
                    <a:tc>
                      <a:txBody>
                        <a:bodyPr/>
                        <a:lstStyle/>
                        <a:p>
                          <a:endParaRPr lang="es-CO"/>
                        </a:p>
                      </a:txBody>
                      <a:tcPr>
                        <a:blipFill>
                          <a:blip r:embed="rId6"/>
                          <a:stretch>
                            <a:fillRect l="-1408" t="-101538" r="-1801408" b="-304615"/>
                          </a:stretch>
                        </a:blipFill>
                      </a:tcPr>
                    </a:tc>
                    <a:tc>
                      <a:txBody>
                        <a:bodyPr/>
                        <a:lstStyle/>
                        <a:p>
                          <a:endParaRPr lang="es-CO"/>
                        </a:p>
                      </a:txBody>
                      <a:tcPr>
                        <a:blipFill>
                          <a:blip r:embed="rId6"/>
                          <a:stretch>
                            <a:fillRect l="-101408" t="-101538" r="-1701408" b="-304615"/>
                          </a:stretch>
                        </a:blipFill>
                      </a:tcPr>
                    </a:tc>
                    <a:tc>
                      <a:txBody>
                        <a:bodyPr/>
                        <a:lstStyle/>
                        <a:p>
                          <a:endParaRPr lang="es-CO"/>
                        </a:p>
                      </a:txBody>
                      <a:tcPr>
                        <a:blipFill>
                          <a:blip r:embed="rId6"/>
                          <a:stretch>
                            <a:fillRect l="-137500" t="-101538" r="-1061538" b="-304615"/>
                          </a:stretch>
                        </a:blipFill>
                      </a:tcPr>
                    </a:tc>
                    <a:tc>
                      <a:txBody>
                        <a:bodyPr/>
                        <a:lstStyle/>
                        <a:p>
                          <a:endParaRPr lang="es-CO"/>
                        </a:p>
                      </a:txBody>
                      <a:tcPr>
                        <a:blipFill>
                          <a:blip r:embed="rId6"/>
                          <a:stretch>
                            <a:fillRect l="-237500" t="-101538" r="-961538" b="-304615"/>
                          </a:stretch>
                        </a:blipFill>
                      </a:tcPr>
                    </a:tc>
                    <a:tc>
                      <a:txBody>
                        <a:bodyPr/>
                        <a:lstStyle/>
                        <a:p>
                          <a:endParaRPr lang="es-CO"/>
                        </a:p>
                      </a:txBody>
                      <a:tcPr>
                        <a:blipFill>
                          <a:blip r:embed="rId6"/>
                          <a:stretch>
                            <a:fillRect l="-243750" t="-101538" r="-594444" b="-304615"/>
                          </a:stretch>
                        </a:blipFill>
                      </a:tcPr>
                    </a:tc>
                    <a:tc>
                      <a:txBody>
                        <a:bodyPr/>
                        <a:lstStyle/>
                        <a:p>
                          <a:endParaRPr lang="es-CO"/>
                        </a:p>
                      </a:txBody>
                      <a:tcPr>
                        <a:blipFill>
                          <a:blip r:embed="rId6"/>
                          <a:stretch>
                            <a:fillRect l="-246269" t="-101538" r="-325871" b="-304615"/>
                          </a:stretch>
                        </a:blipFill>
                      </a:tcPr>
                    </a:tc>
                    <a:tc>
                      <a:txBody>
                        <a:bodyPr/>
                        <a:lstStyle/>
                        <a:p>
                          <a:endParaRPr lang="es-CO"/>
                        </a:p>
                      </a:txBody>
                      <a:tcPr>
                        <a:blipFill>
                          <a:blip r:embed="rId6"/>
                          <a:stretch>
                            <a:fillRect l="-353299" t="-101538" r="-232487" b="-304615"/>
                          </a:stretch>
                        </a:blipFill>
                      </a:tcPr>
                    </a:tc>
                    <a:tc>
                      <a:txBody>
                        <a:bodyPr/>
                        <a:lstStyle/>
                        <a:p>
                          <a:endParaRPr lang="es-CO"/>
                        </a:p>
                      </a:txBody>
                      <a:tcPr>
                        <a:blipFill>
                          <a:blip r:embed="rId6"/>
                          <a:stretch>
                            <a:fillRect l="-195833" t="-101538" r="-439" b="-304615"/>
                          </a:stretch>
                        </a:blipFill>
                      </a:tcPr>
                    </a:tc>
                    <a:extLst>
                      <a:ext uri="{0D108BD9-81ED-4DB2-BD59-A6C34878D82A}">
                        <a16:rowId xmlns:a16="http://schemas.microsoft.com/office/drawing/2014/main" val="1805549228"/>
                      </a:ext>
                    </a:extLst>
                  </a:tr>
                  <a:tr h="396240">
                    <a:tc>
                      <a:txBody>
                        <a:bodyPr/>
                        <a:lstStyle/>
                        <a:p>
                          <a:endParaRPr lang="es-CO"/>
                        </a:p>
                      </a:txBody>
                      <a:tcPr>
                        <a:blipFill>
                          <a:blip r:embed="rId6"/>
                          <a:stretch>
                            <a:fillRect l="-1408" t="-198485" r="-1801408" b="-200000"/>
                          </a:stretch>
                        </a:blipFill>
                      </a:tcPr>
                    </a:tc>
                    <a:tc>
                      <a:txBody>
                        <a:bodyPr/>
                        <a:lstStyle/>
                        <a:p>
                          <a:endParaRPr lang="es-CO"/>
                        </a:p>
                      </a:txBody>
                      <a:tcPr>
                        <a:blipFill>
                          <a:blip r:embed="rId6"/>
                          <a:stretch>
                            <a:fillRect l="-101408" t="-198485" r="-1701408" b="-200000"/>
                          </a:stretch>
                        </a:blipFill>
                      </a:tcPr>
                    </a:tc>
                    <a:tc>
                      <a:txBody>
                        <a:bodyPr/>
                        <a:lstStyle/>
                        <a:p>
                          <a:endParaRPr lang="es-CO"/>
                        </a:p>
                      </a:txBody>
                      <a:tcPr>
                        <a:blipFill>
                          <a:blip r:embed="rId6"/>
                          <a:stretch>
                            <a:fillRect l="-137500" t="-198485" r="-1061538" b="-200000"/>
                          </a:stretch>
                        </a:blipFill>
                      </a:tcPr>
                    </a:tc>
                    <a:tc>
                      <a:txBody>
                        <a:bodyPr/>
                        <a:lstStyle/>
                        <a:p>
                          <a:endParaRPr lang="es-CO"/>
                        </a:p>
                      </a:txBody>
                      <a:tcPr>
                        <a:blipFill>
                          <a:blip r:embed="rId6"/>
                          <a:stretch>
                            <a:fillRect l="-237500" t="-198485" r="-961538" b="-200000"/>
                          </a:stretch>
                        </a:blipFill>
                      </a:tcPr>
                    </a:tc>
                    <a:tc>
                      <a:txBody>
                        <a:bodyPr/>
                        <a:lstStyle/>
                        <a:p>
                          <a:endParaRPr lang="es-CO"/>
                        </a:p>
                      </a:txBody>
                      <a:tcPr>
                        <a:blipFill>
                          <a:blip r:embed="rId6"/>
                          <a:stretch>
                            <a:fillRect l="-243750" t="-198485" r="-594444" b="-200000"/>
                          </a:stretch>
                        </a:blipFill>
                      </a:tcPr>
                    </a:tc>
                    <a:tc>
                      <a:txBody>
                        <a:bodyPr/>
                        <a:lstStyle/>
                        <a:p>
                          <a:endParaRPr lang="es-CO"/>
                        </a:p>
                      </a:txBody>
                      <a:tcPr>
                        <a:blipFill>
                          <a:blip r:embed="rId6"/>
                          <a:stretch>
                            <a:fillRect l="-246269" t="-198485" r="-325871" b="-200000"/>
                          </a:stretch>
                        </a:blipFill>
                      </a:tcPr>
                    </a:tc>
                    <a:tc>
                      <a:txBody>
                        <a:bodyPr/>
                        <a:lstStyle/>
                        <a:p>
                          <a:endParaRPr lang="es-CO"/>
                        </a:p>
                      </a:txBody>
                      <a:tcPr>
                        <a:blipFill>
                          <a:blip r:embed="rId6"/>
                          <a:stretch>
                            <a:fillRect l="-353299" t="-198485" r="-232487" b="-200000"/>
                          </a:stretch>
                        </a:blipFill>
                      </a:tcPr>
                    </a:tc>
                    <a:tc>
                      <a:txBody>
                        <a:bodyPr/>
                        <a:lstStyle/>
                        <a:p>
                          <a:endParaRPr lang="es-CO"/>
                        </a:p>
                      </a:txBody>
                      <a:tcPr>
                        <a:blipFill>
                          <a:blip r:embed="rId6"/>
                          <a:stretch>
                            <a:fillRect l="-195833" t="-198485" r="-439" b="-200000"/>
                          </a:stretch>
                        </a:blipFill>
                      </a:tcPr>
                    </a:tc>
                    <a:extLst>
                      <a:ext uri="{0D108BD9-81ED-4DB2-BD59-A6C34878D82A}">
                        <a16:rowId xmlns:a16="http://schemas.microsoft.com/office/drawing/2014/main" val="2353127006"/>
                      </a:ext>
                    </a:extLst>
                  </a:tr>
                  <a:tr h="396240">
                    <a:tc>
                      <a:txBody>
                        <a:bodyPr/>
                        <a:lstStyle/>
                        <a:p>
                          <a:endParaRPr lang="es-CO"/>
                        </a:p>
                      </a:txBody>
                      <a:tcPr>
                        <a:blipFill>
                          <a:blip r:embed="rId6"/>
                          <a:stretch>
                            <a:fillRect l="-1408" t="-303077" r="-1801408" b="-103077"/>
                          </a:stretch>
                        </a:blipFill>
                      </a:tcPr>
                    </a:tc>
                    <a:tc>
                      <a:txBody>
                        <a:bodyPr/>
                        <a:lstStyle/>
                        <a:p>
                          <a:endParaRPr lang="es-CO"/>
                        </a:p>
                      </a:txBody>
                      <a:tcPr>
                        <a:blipFill>
                          <a:blip r:embed="rId6"/>
                          <a:stretch>
                            <a:fillRect l="-101408" t="-303077" r="-1701408" b="-103077"/>
                          </a:stretch>
                        </a:blipFill>
                      </a:tcPr>
                    </a:tc>
                    <a:tc>
                      <a:txBody>
                        <a:bodyPr/>
                        <a:lstStyle/>
                        <a:p>
                          <a:endParaRPr lang="es-CO"/>
                        </a:p>
                      </a:txBody>
                      <a:tcPr>
                        <a:blipFill>
                          <a:blip r:embed="rId6"/>
                          <a:stretch>
                            <a:fillRect l="-137500" t="-303077" r="-1061538" b="-103077"/>
                          </a:stretch>
                        </a:blipFill>
                      </a:tcPr>
                    </a:tc>
                    <a:tc>
                      <a:txBody>
                        <a:bodyPr/>
                        <a:lstStyle/>
                        <a:p>
                          <a:endParaRPr lang="es-CO"/>
                        </a:p>
                      </a:txBody>
                      <a:tcPr>
                        <a:blipFill>
                          <a:blip r:embed="rId6"/>
                          <a:stretch>
                            <a:fillRect l="-237500" t="-303077" r="-961538" b="-103077"/>
                          </a:stretch>
                        </a:blipFill>
                      </a:tcPr>
                    </a:tc>
                    <a:tc>
                      <a:txBody>
                        <a:bodyPr/>
                        <a:lstStyle/>
                        <a:p>
                          <a:endParaRPr lang="es-CO"/>
                        </a:p>
                      </a:txBody>
                      <a:tcPr>
                        <a:blipFill>
                          <a:blip r:embed="rId6"/>
                          <a:stretch>
                            <a:fillRect l="-243750" t="-303077" r="-594444" b="-103077"/>
                          </a:stretch>
                        </a:blipFill>
                      </a:tcPr>
                    </a:tc>
                    <a:tc>
                      <a:txBody>
                        <a:bodyPr/>
                        <a:lstStyle/>
                        <a:p>
                          <a:endParaRPr lang="es-CO"/>
                        </a:p>
                      </a:txBody>
                      <a:tcPr>
                        <a:blipFill>
                          <a:blip r:embed="rId6"/>
                          <a:stretch>
                            <a:fillRect l="-246269" t="-303077" r="-325871" b="-103077"/>
                          </a:stretch>
                        </a:blipFill>
                      </a:tcPr>
                    </a:tc>
                    <a:tc>
                      <a:txBody>
                        <a:bodyPr/>
                        <a:lstStyle/>
                        <a:p>
                          <a:endParaRPr lang="es-CO"/>
                        </a:p>
                      </a:txBody>
                      <a:tcPr>
                        <a:blipFill>
                          <a:blip r:embed="rId6"/>
                          <a:stretch>
                            <a:fillRect l="-353299" t="-303077" r="-232487" b="-103077"/>
                          </a:stretch>
                        </a:blipFill>
                      </a:tcPr>
                    </a:tc>
                    <a:tc>
                      <a:txBody>
                        <a:bodyPr/>
                        <a:lstStyle/>
                        <a:p>
                          <a:endParaRPr lang="es-CO"/>
                        </a:p>
                      </a:txBody>
                      <a:tcPr>
                        <a:blipFill>
                          <a:blip r:embed="rId6"/>
                          <a:stretch>
                            <a:fillRect l="-195833" t="-303077" r="-439" b="-103077"/>
                          </a:stretch>
                        </a:blipFill>
                      </a:tcPr>
                    </a:tc>
                    <a:extLst>
                      <a:ext uri="{0D108BD9-81ED-4DB2-BD59-A6C34878D82A}">
                        <a16:rowId xmlns:a16="http://schemas.microsoft.com/office/drawing/2014/main" val="3651764017"/>
                      </a:ext>
                    </a:extLst>
                  </a:tr>
                  <a:tr h="396240">
                    <a:tc>
                      <a:txBody>
                        <a:bodyPr/>
                        <a:lstStyle/>
                        <a:p>
                          <a:endParaRPr lang="es-CO"/>
                        </a:p>
                      </a:txBody>
                      <a:tcPr>
                        <a:blipFill>
                          <a:blip r:embed="rId6"/>
                          <a:stretch>
                            <a:fillRect l="-1408" t="-403077" r="-1801408" b="-3077"/>
                          </a:stretch>
                        </a:blipFill>
                      </a:tcPr>
                    </a:tc>
                    <a:tc>
                      <a:txBody>
                        <a:bodyPr/>
                        <a:lstStyle/>
                        <a:p>
                          <a:endParaRPr lang="es-CO"/>
                        </a:p>
                      </a:txBody>
                      <a:tcPr>
                        <a:blipFill>
                          <a:blip r:embed="rId6"/>
                          <a:stretch>
                            <a:fillRect l="-101408" t="-403077" r="-1701408" b="-3077"/>
                          </a:stretch>
                        </a:blipFill>
                      </a:tcPr>
                    </a:tc>
                    <a:tc>
                      <a:txBody>
                        <a:bodyPr/>
                        <a:lstStyle/>
                        <a:p>
                          <a:endParaRPr lang="es-CO"/>
                        </a:p>
                      </a:txBody>
                      <a:tcPr>
                        <a:blipFill>
                          <a:blip r:embed="rId6"/>
                          <a:stretch>
                            <a:fillRect l="-137500" t="-403077" r="-1061538" b="-3077"/>
                          </a:stretch>
                        </a:blipFill>
                      </a:tcPr>
                    </a:tc>
                    <a:tc>
                      <a:txBody>
                        <a:bodyPr/>
                        <a:lstStyle/>
                        <a:p>
                          <a:endParaRPr lang="es-CO"/>
                        </a:p>
                      </a:txBody>
                      <a:tcPr>
                        <a:blipFill>
                          <a:blip r:embed="rId6"/>
                          <a:stretch>
                            <a:fillRect l="-237500" t="-403077" r="-961538" b="-3077"/>
                          </a:stretch>
                        </a:blipFill>
                      </a:tcPr>
                    </a:tc>
                    <a:tc>
                      <a:txBody>
                        <a:bodyPr/>
                        <a:lstStyle/>
                        <a:p>
                          <a:endParaRPr lang="es-CO"/>
                        </a:p>
                      </a:txBody>
                      <a:tcPr>
                        <a:blipFill>
                          <a:blip r:embed="rId6"/>
                          <a:stretch>
                            <a:fillRect l="-243750" t="-403077" r="-594444" b="-3077"/>
                          </a:stretch>
                        </a:blipFill>
                      </a:tcPr>
                    </a:tc>
                    <a:tc>
                      <a:txBody>
                        <a:bodyPr/>
                        <a:lstStyle/>
                        <a:p>
                          <a:endParaRPr lang="es-CO"/>
                        </a:p>
                      </a:txBody>
                      <a:tcPr>
                        <a:blipFill>
                          <a:blip r:embed="rId6"/>
                          <a:stretch>
                            <a:fillRect l="-246269" t="-403077" r="-325871" b="-3077"/>
                          </a:stretch>
                        </a:blipFill>
                      </a:tcPr>
                    </a:tc>
                    <a:tc>
                      <a:txBody>
                        <a:bodyPr/>
                        <a:lstStyle/>
                        <a:p>
                          <a:endParaRPr lang="es-CO"/>
                        </a:p>
                      </a:txBody>
                      <a:tcPr>
                        <a:blipFill>
                          <a:blip r:embed="rId6"/>
                          <a:stretch>
                            <a:fillRect l="-353299" t="-403077" r="-232487" b="-3077"/>
                          </a:stretch>
                        </a:blipFill>
                      </a:tcPr>
                    </a:tc>
                    <a:tc>
                      <a:txBody>
                        <a:bodyPr/>
                        <a:lstStyle/>
                        <a:p>
                          <a:endParaRPr lang="es-CO"/>
                        </a:p>
                      </a:txBody>
                      <a:tcPr>
                        <a:blipFill>
                          <a:blip r:embed="rId6"/>
                          <a:stretch>
                            <a:fillRect l="-195833" t="-403077" r="-439" b="-3077"/>
                          </a:stretch>
                        </a:blipFill>
                      </a:tcPr>
                    </a:tc>
                    <a:extLst>
                      <a:ext uri="{0D108BD9-81ED-4DB2-BD59-A6C34878D82A}">
                        <a16:rowId xmlns:a16="http://schemas.microsoft.com/office/drawing/2014/main" val="2841338906"/>
                      </a:ext>
                    </a:extLst>
                  </a:tr>
                </a:tbl>
              </a:graphicData>
            </a:graphic>
          </p:graphicFrame>
        </mc:Fallback>
      </mc:AlternateContent>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32A16AF0-572D-40C6-93BF-EFFDB3A3230B}"/>
                  </a:ext>
                </a:extLst>
              </p:cNvPr>
              <p:cNvSpPr txBox="1"/>
              <p:nvPr/>
            </p:nvSpPr>
            <p:spPr>
              <a:xfrm>
                <a:off x="261745" y="4477137"/>
                <a:ext cx="2770909" cy="338554"/>
              </a:xfrm>
              <a:prstGeom prst="rect">
                <a:avLst/>
              </a:prstGeom>
              <a:solidFill>
                <a:schemeClr val="accent3">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MX" sz="2200" b="1" i="1">
                          <a:latin typeface="Cambria Math" panose="02040503050406030204" pitchFamily="18" charset="0"/>
                        </a:rPr>
                        <m:t>¬</m:t>
                      </m:r>
                      <m:d>
                        <m:dPr>
                          <m:ctrlPr>
                            <a:rPr lang="es-MX" sz="2200" b="1" i="1">
                              <a:latin typeface="Cambria Math" panose="02040503050406030204" pitchFamily="18" charset="0"/>
                            </a:rPr>
                          </m:ctrlPr>
                        </m:dPr>
                        <m:e>
                          <m:r>
                            <a:rPr lang="es-MX" sz="2200" b="1" i="1">
                              <a:latin typeface="Cambria Math" panose="02040503050406030204" pitchFamily="18" charset="0"/>
                            </a:rPr>
                            <m:t>𝒑</m:t>
                          </m:r>
                          <m:r>
                            <a:rPr lang="es-MX" sz="2200" b="1" i="1">
                              <a:latin typeface="Cambria Math" panose="02040503050406030204" pitchFamily="18" charset="0"/>
                              <a:ea typeface="Cambria Math" panose="02040503050406030204" pitchFamily="18" charset="0"/>
                            </a:rPr>
                            <m:t>∧</m:t>
                          </m:r>
                          <m:r>
                            <a:rPr lang="es-MX" sz="2200" b="1" i="1">
                              <a:latin typeface="Cambria Math" panose="02040503050406030204" pitchFamily="18" charset="0"/>
                              <a:ea typeface="Cambria Math" panose="02040503050406030204" pitchFamily="18" charset="0"/>
                            </a:rPr>
                            <m:t>𝒒</m:t>
                          </m:r>
                        </m:e>
                      </m:d>
                      <m:r>
                        <a:rPr lang="es-MX" sz="2200" b="1" i="1" smtClean="0">
                          <a:latin typeface="Cambria Math" panose="02040503050406030204" pitchFamily="18" charset="0"/>
                          <a:ea typeface="Cambria Math" panose="02040503050406030204" pitchFamily="18" charset="0"/>
                        </a:rPr>
                        <m:t>≢</m:t>
                      </m:r>
                      <m:r>
                        <a:rPr lang="es-MX" sz="2200" b="1" i="1">
                          <a:latin typeface="Cambria Math" panose="02040503050406030204" pitchFamily="18" charset="0"/>
                        </a:rPr>
                        <m:t>¬</m:t>
                      </m:r>
                      <m:r>
                        <a:rPr lang="es-MX" sz="2200" b="1" i="1">
                          <a:latin typeface="Cambria Math" panose="02040503050406030204" pitchFamily="18" charset="0"/>
                        </a:rPr>
                        <m:t>𝒑</m:t>
                      </m:r>
                      <m:r>
                        <a:rPr lang="es-MX" sz="2200" b="1" i="1">
                          <a:latin typeface="Cambria Math" panose="02040503050406030204" pitchFamily="18" charset="0"/>
                          <a:ea typeface="Cambria Math" panose="02040503050406030204" pitchFamily="18" charset="0"/>
                        </a:rPr>
                        <m:t>∧</m:t>
                      </m:r>
                      <m:r>
                        <a:rPr lang="es-MX" sz="2200" b="1" i="1">
                          <a:latin typeface="Cambria Math" panose="02040503050406030204" pitchFamily="18" charset="0"/>
                        </a:rPr>
                        <m:t>¬</m:t>
                      </m:r>
                      <m:r>
                        <a:rPr lang="es-MX" sz="2200" b="1" i="1">
                          <a:latin typeface="Cambria Math" panose="02040503050406030204" pitchFamily="18" charset="0"/>
                          <a:ea typeface="Cambria Math" panose="02040503050406030204" pitchFamily="18" charset="0"/>
                        </a:rPr>
                        <m:t>𝒒</m:t>
                      </m:r>
                    </m:oMath>
                  </m:oMathPara>
                </a14:m>
                <a:endParaRPr lang="es-CO" sz="2200" b="1" dirty="0">
                  <a:latin typeface="Roboto" panose="02000000000000000000" pitchFamily="2" charset="0"/>
                  <a:ea typeface="Roboto" panose="02000000000000000000" pitchFamily="2" charset="0"/>
                </a:endParaRPr>
              </a:p>
            </p:txBody>
          </p:sp>
        </mc:Choice>
        <mc:Fallback>
          <p:sp>
            <p:nvSpPr>
              <p:cNvPr id="11" name="CuadroTexto 10">
                <a:extLst>
                  <a:ext uri="{FF2B5EF4-FFF2-40B4-BE49-F238E27FC236}">
                    <a16:creationId xmlns:a16="http://schemas.microsoft.com/office/drawing/2014/main" id="{32A16AF0-572D-40C6-93BF-EFFDB3A3230B}"/>
                  </a:ext>
                </a:extLst>
              </p:cNvPr>
              <p:cNvSpPr txBox="1">
                <a:spLocks noRot="1" noChangeAspect="1" noMove="1" noResize="1" noEditPoints="1" noAdjustHandles="1" noChangeArrowheads="1" noChangeShapeType="1" noTextEdit="1"/>
              </p:cNvSpPr>
              <p:nvPr/>
            </p:nvSpPr>
            <p:spPr>
              <a:xfrm>
                <a:off x="261745" y="4477137"/>
                <a:ext cx="2770909" cy="338554"/>
              </a:xfrm>
              <a:prstGeom prst="rect">
                <a:avLst/>
              </a:prstGeom>
              <a:blipFill>
                <a:blip r:embed="rId7"/>
                <a:stretch>
                  <a:fillRect b="-26786"/>
                </a:stretch>
              </a:blipFill>
            </p:spPr>
            <p:txBody>
              <a:bodyPr/>
              <a:lstStyle/>
              <a:p>
                <a:r>
                  <a:rPr lang="es-CO">
                    <a:noFill/>
                  </a:rPr>
                  <a:t> </a:t>
                </a:r>
              </a:p>
            </p:txBody>
          </p:sp>
        </mc:Fallback>
      </mc:AlternateContent>
    </p:spTree>
    <p:extLst>
      <p:ext uri="{BB962C8B-B14F-4D97-AF65-F5344CB8AC3E}">
        <p14:creationId xmlns:p14="http://schemas.microsoft.com/office/powerpoint/2010/main" val="738706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360218" y="226580"/>
            <a:ext cx="10993581" cy="1034184"/>
          </a:xfrm>
        </p:spPr>
        <p:txBody>
          <a:bodyPr/>
          <a:lstStyle/>
          <a:p>
            <a:r>
              <a:rPr lang="es-CO" dirty="0"/>
              <a:t>Repaso</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360218" y="1094509"/>
                <a:ext cx="11471563" cy="1157427"/>
              </a:xfrm>
            </p:spPr>
            <p:txBody>
              <a:bodyPr>
                <a:normAutofit/>
              </a:bodyPr>
              <a:lstStyle/>
              <a:p>
                <a:pPr marL="0" indent="0">
                  <a:buNone/>
                </a:pPr>
                <a:r>
                  <a:rPr lang="es-MX" sz="2400" b="1" dirty="0">
                    <a:ea typeface="Roboto" panose="02000000000000000000" pitchFamily="2" charset="0"/>
                  </a:rPr>
                  <a:t>Equivalencias lógicas</a:t>
                </a:r>
              </a:p>
              <a:p>
                <a:pPr marL="0" indent="0">
                  <a:buNone/>
                </a:pPr>
                <a:r>
                  <a:rPr lang="es-MX" sz="2200" dirty="0">
                    <a:ea typeface="Roboto" panose="02000000000000000000" pitchFamily="2" charset="0"/>
                  </a:rPr>
                  <a:t>Dos proposiciones compuestas </a:t>
                </a:r>
                <a14:m>
                  <m:oMath xmlns:m="http://schemas.openxmlformats.org/officeDocument/2006/math">
                    <m:r>
                      <a:rPr lang="es-MX" sz="2200" b="1" i="1" smtClean="0">
                        <a:latin typeface="Cambria Math" panose="02040503050406030204" pitchFamily="18" charset="0"/>
                        <a:ea typeface="Roboto" panose="02000000000000000000" pitchFamily="2" charset="0"/>
                      </a:rPr>
                      <m:t>𝒑</m:t>
                    </m:r>
                  </m:oMath>
                </a14:m>
                <a:r>
                  <a:rPr lang="es-MX" sz="2200" dirty="0">
                    <a:ea typeface="Roboto" panose="02000000000000000000" pitchFamily="2" charset="0"/>
                  </a:rPr>
                  <a:t> y </a:t>
                </a:r>
                <a14:m>
                  <m:oMath xmlns:m="http://schemas.openxmlformats.org/officeDocument/2006/math">
                    <m:r>
                      <a:rPr lang="es-MX" sz="2200" b="1" i="1" smtClean="0">
                        <a:latin typeface="Cambria Math" panose="02040503050406030204" pitchFamily="18" charset="0"/>
                        <a:ea typeface="Roboto" panose="02000000000000000000" pitchFamily="2" charset="0"/>
                      </a:rPr>
                      <m:t>𝒒</m:t>
                    </m:r>
                  </m:oMath>
                </a14:m>
                <a:r>
                  <a:rPr lang="es-MX" sz="2200" dirty="0">
                    <a:ea typeface="Roboto" panose="02000000000000000000" pitchFamily="2" charset="0"/>
                  </a:rPr>
                  <a:t> son lógicamente equivalentes, o simplemente equivalentes, si </a:t>
                </a:r>
                <a14:m>
                  <m:oMath xmlns:m="http://schemas.openxmlformats.org/officeDocument/2006/math">
                    <m:r>
                      <a:rPr lang="es-MX" sz="2200" b="1" i="1" smtClean="0">
                        <a:latin typeface="Cambria Math" panose="02040503050406030204" pitchFamily="18" charset="0"/>
                        <a:ea typeface="Roboto" panose="02000000000000000000" pitchFamily="2" charset="0"/>
                      </a:rPr>
                      <m:t>𝒑</m:t>
                    </m:r>
                    <m:r>
                      <a:rPr lang="es-MX" sz="2200" b="1" i="1" smtClean="0">
                        <a:latin typeface="Cambria Math" panose="02040503050406030204" pitchFamily="18" charset="0"/>
                        <a:ea typeface="Cambria Math" panose="02040503050406030204" pitchFamily="18" charset="0"/>
                      </a:rPr>
                      <m:t>↔</m:t>
                    </m:r>
                    <m:r>
                      <a:rPr lang="es-MX" sz="2200" b="1" i="1" smtClean="0">
                        <a:latin typeface="Cambria Math" panose="02040503050406030204" pitchFamily="18" charset="0"/>
                        <a:ea typeface="Cambria Math" panose="02040503050406030204" pitchFamily="18" charset="0"/>
                      </a:rPr>
                      <m:t>𝒒</m:t>
                    </m:r>
                  </m:oMath>
                </a14:m>
                <a:r>
                  <a:rPr lang="es-MX" sz="2200" dirty="0">
                    <a:ea typeface="Roboto" panose="02000000000000000000" pitchFamily="2" charset="0"/>
                  </a:rPr>
                  <a:t> es una tautología.</a:t>
                </a:r>
              </a:p>
              <a:p>
                <a:pPr marL="0" indent="0">
                  <a:buNone/>
                </a:pPr>
                <a:endParaRPr lang="es-MX" dirty="0"/>
              </a:p>
            </p:txBody>
          </p:sp>
        </mc:Choice>
        <mc:Fallback>
          <p:sp>
            <p:nvSpPr>
              <p:cNvPr id="3" name="Marcador de contenido 2">
                <a:extLst>
                  <a:ext uri="{FF2B5EF4-FFF2-40B4-BE49-F238E27FC236}">
                    <a16:creationId xmlns:a16="http://schemas.microsoft.com/office/drawing/2014/main" id="{8C611C1C-AB20-4127-87E3-88401D8503D0}"/>
                  </a:ext>
                </a:extLst>
              </p:cNvPr>
              <p:cNvSpPr>
                <a:spLocks noGrp="1" noRot="1" noChangeAspect="1" noMove="1" noResize="1" noEditPoints="1" noAdjustHandles="1" noChangeArrowheads="1" noChangeShapeType="1" noTextEdit="1"/>
              </p:cNvSpPr>
              <p:nvPr>
                <p:ph idx="1"/>
              </p:nvPr>
            </p:nvSpPr>
            <p:spPr>
              <a:xfrm>
                <a:off x="360218" y="1094509"/>
                <a:ext cx="11471563" cy="1157427"/>
              </a:xfrm>
              <a:blipFill>
                <a:blip r:embed="rId2"/>
                <a:stretch>
                  <a:fillRect l="-797" t="-7407" r="-531" b="-10582"/>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B30BA250-E803-4847-BACF-C2EA1E6FD9D4}"/>
                  </a:ext>
                </a:extLst>
              </p:cNvPr>
              <p:cNvSpPr txBox="1"/>
              <p:nvPr/>
            </p:nvSpPr>
            <p:spPr>
              <a:xfrm>
                <a:off x="360218" y="2407226"/>
                <a:ext cx="11333018" cy="400110"/>
              </a:xfrm>
              <a:prstGeom prst="rect">
                <a:avLst/>
              </a:prstGeom>
              <a:solidFill>
                <a:schemeClr val="bg2"/>
              </a:solidFill>
            </p:spPr>
            <p:txBody>
              <a:bodyPr wrap="square" rtlCol="0">
                <a:spAutoFit/>
              </a:bodyPr>
              <a:lstStyle/>
              <a:p>
                <a:r>
                  <a:rPr lang="es-MX" sz="2000" b="1" dirty="0">
                    <a:solidFill>
                      <a:schemeClr val="accent5"/>
                    </a:solidFill>
                    <a:ea typeface="Roboto" panose="02000000000000000000" pitchFamily="2" charset="0"/>
                  </a:rPr>
                  <a:t>Notación</a:t>
                </a:r>
                <a:r>
                  <a:rPr lang="es-MX" sz="2000" dirty="0">
                    <a:solidFill>
                      <a:schemeClr val="accent5"/>
                    </a:solidFill>
                    <a:ea typeface="Roboto" panose="02000000000000000000" pitchFamily="2" charset="0"/>
                  </a:rPr>
                  <a:t>: </a:t>
                </a:r>
                <a:r>
                  <a:rPr lang="es-MX" sz="2000" dirty="0">
                    <a:ea typeface="Roboto" panose="02000000000000000000" pitchFamily="2" charset="0"/>
                  </a:rPr>
                  <a:t>Una equivalencia se puede escribir como </a:t>
                </a:r>
                <a14:m>
                  <m:oMath xmlns:m="http://schemas.openxmlformats.org/officeDocument/2006/math">
                    <m:r>
                      <a:rPr lang="es-MX" sz="2000" b="1" i="1" smtClean="0">
                        <a:latin typeface="Cambria Math" panose="02040503050406030204" pitchFamily="18" charset="0"/>
                        <a:ea typeface="Roboto" panose="02000000000000000000" pitchFamily="2" charset="0"/>
                      </a:rPr>
                      <m:t>𝒑</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𝒒</m:t>
                    </m:r>
                  </m:oMath>
                </a14:m>
                <a:r>
                  <a:rPr lang="es-MX" sz="2000" dirty="0">
                    <a:ea typeface="Roboto" panose="02000000000000000000" pitchFamily="2" charset="0"/>
                  </a:rPr>
                  <a:t> o como </a:t>
                </a:r>
                <a14:m>
                  <m:oMath xmlns:m="http://schemas.openxmlformats.org/officeDocument/2006/math">
                    <m:r>
                      <a:rPr lang="es-MX" sz="2000" b="1" i="1">
                        <a:latin typeface="Cambria Math" panose="02040503050406030204" pitchFamily="18" charset="0"/>
                        <a:ea typeface="Roboto" panose="02000000000000000000" pitchFamily="2" charset="0"/>
                      </a:rPr>
                      <m:t>𝒑</m:t>
                    </m:r>
                    <m:r>
                      <a:rPr lang="es-MX" sz="2000" b="1" i="1" smtClean="0">
                        <a:latin typeface="Cambria Math" panose="02040503050406030204" pitchFamily="18" charset="0"/>
                        <a:ea typeface="Cambria Math" panose="02040503050406030204" pitchFamily="18" charset="0"/>
                      </a:rPr>
                      <m:t>≡</m:t>
                    </m:r>
                    <m:r>
                      <a:rPr lang="es-MX" sz="2000" b="1" i="1">
                        <a:latin typeface="Cambria Math" panose="02040503050406030204" pitchFamily="18" charset="0"/>
                        <a:ea typeface="Cambria Math" panose="02040503050406030204" pitchFamily="18" charset="0"/>
                      </a:rPr>
                      <m:t>𝒒</m:t>
                    </m:r>
                  </m:oMath>
                </a14:m>
                <a:endParaRPr lang="es-MX" sz="2000" dirty="0">
                  <a:ea typeface="Roboto" panose="02000000000000000000" pitchFamily="2" charset="0"/>
                </a:endParaRPr>
              </a:p>
            </p:txBody>
          </p:sp>
        </mc:Choice>
        <mc:Fallback>
          <p:sp>
            <p:nvSpPr>
              <p:cNvPr id="6" name="CuadroTexto 5">
                <a:extLst>
                  <a:ext uri="{FF2B5EF4-FFF2-40B4-BE49-F238E27FC236}">
                    <a16:creationId xmlns:a16="http://schemas.microsoft.com/office/drawing/2014/main" id="{B30BA250-E803-4847-BACF-C2EA1E6FD9D4}"/>
                  </a:ext>
                </a:extLst>
              </p:cNvPr>
              <p:cNvSpPr txBox="1">
                <a:spLocks noRot="1" noChangeAspect="1" noMove="1" noResize="1" noEditPoints="1" noAdjustHandles="1" noChangeArrowheads="1" noChangeShapeType="1" noTextEdit="1"/>
              </p:cNvSpPr>
              <p:nvPr/>
            </p:nvSpPr>
            <p:spPr>
              <a:xfrm>
                <a:off x="360218" y="2407226"/>
                <a:ext cx="11333018" cy="400110"/>
              </a:xfrm>
              <a:prstGeom prst="rect">
                <a:avLst/>
              </a:prstGeom>
              <a:blipFill>
                <a:blip r:embed="rId3"/>
                <a:stretch>
                  <a:fillRect l="-538" t="-9091" b="-25758"/>
                </a:stretch>
              </a:blipFill>
            </p:spPr>
            <p:txBody>
              <a:bodyPr/>
              <a:lstStyle/>
              <a:p>
                <a:r>
                  <a:rPr lang="es-CO">
                    <a:noFill/>
                  </a:rPr>
                  <a:t> </a:t>
                </a:r>
              </a:p>
            </p:txBody>
          </p:sp>
        </mc:Fallback>
      </mc:AlternateContent>
      <p:sp>
        <p:nvSpPr>
          <p:cNvPr id="7" name="CuadroTexto 6">
            <a:extLst>
              <a:ext uri="{FF2B5EF4-FFF2-40B4-BE49-F238E27FC236}">
                <a16:creationId xmlns:a16="http://schemas.microsoft.com/office/drawing/2014/main" id="{480D542D-6A6B-4714-90D8-C0F308F00E58}"/>
              </a:ext>
            </a:extLst>
          </p:cNvPr>
          <p:cNvSpPr txBox="1"/>
          <p:nvPr/>
        </p:nvSpPr>
        <p:spPr>
          <a:xfrm>
            <a:off x="360218" y="2992927"/>
            <a:ext cx="11166763" cy="707886"/>
          </a:xfrm>
          <a:prstGeom prst="rect">
            <a:avLst/>
          </a:prstGeom>
          <a:noFill/>
        </p:spPr>
        <p:txBody>
          <a:bodyPr wrap="square" rtlCol="0">
            <a:spAutoFit/>
          </a:bodyPr>
          <a:lstStyle/>
          <a:p>
            <a:pPr marL="285750" indent="-285750">
              <a:buFont typeface="Arial" panose="020B0604020202020204" pitchFamily="34" charset="0"/>
              <a:buChar char="•"/>
            </a:pPr>
            <a:r>
              <a:rPr lang="es-CO" sz="2000" dirty="0"/>
              <a:t>Mediante el uso de tablas de verdad se demuestra si dos (o mas) proposiciones son equivalentes</a:t>
            </a:r>
          </a:p>
          <a:p>
            <a:pPr marL="285750" indent="-285750">
              <a:buFont typeface="Arial" panose="020B0604020202020204" pitchFamily="34" charset="0"/>
              <a:buChar char="•"/>
            </a:pPr>
            <a:r>
              <a:rPr lang="es-CO" sz="2000" dirty="0"/>
              <a:t>¿Es practico? _____</a:t>
            </a:r>
          </a:p>
        </p:txBody>
      </p:sp>
    </p:spTree>
    <p:extLst>
      <p:ext uri="{BB962C8B-B14F-4D97-AF65-F5344CB8AC3E}">
        <p14:creationId xmlns:p14="http://schemas.microsoft.com/office/powerpoint/2010/main" val="330750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360218" y="71745"/>
            <a:ext cx="10993581" cy="997873"/>
          </a:xfrm>
        </p:spPr>
        <p:txBody>
          <a:bodyPr/>
          <a:lstStyle/>
          <a:p>
            <a:r>
              <a:rPr lang="es-CO" dirty="0"/>
              <a:t>Repaso</a:t>
            </a:r>
          </a:p>
        </p:txBody>
      </p:sp>
      <p:sp>
        <p:nvSpPr>
          <p:cNvPr id="8" name="CuadroTexto 7">
            <a:extLst>
              <a:ext uri="{FF2B5EF4-FFF2-40B4-BE49-F238E27FC236}">
                <a16:creationId xmlns:a16="http://schemas.microsoft.com/office/drawing/2014/main" id="{4AA62499-0A79-4DB4-96F0-1187366C5807}"/>
              </a:ext>
            </a:extLst>
          </p:cNvPr>
          <p:cNvSpPr txBox="1"/>
          <p:nvPr/>
        </p:nvSpPr>
        <p:spPr>
          <a:xfrm>
            <a:off x="204352" y="876425"/>
            <a:ext cx="11627429" cy="1138773"/>
          </a:xfrm>
          <a:prstGeom prst="rect">
            <a:avLst/>
          </a:prstGeom>
          <a:noFill/>
        </p:spPr>
        <p:txBody>
          <a:bodyPr wrap="square" rtlCol="0">
            <a:spAutoFit/>
          </a:bodyPr>
          <a:lstStyle/>
          <a:p>
            <a:r>
              <a:rPr lang="es-MX" sz="2400" b="1" dirty="0">
                <a:ea typeface="Roboto" panose="02000000000000000000" pitchFamily="2" charset="0"/>
              </a:rPr>
              <a:t>Algunas equivalencias lógicas</a:t>
            </a:r>
          </a:p>
          <a:p>
            <a:r>
              <a:rPr lang="es-MX" sz="2200" b="1" dirty="0">
                <a:ea typeface="Roboto" panose="02000000000000000000" pitchFamily="2" charset="0"/>
              </a:rPr>
              <a:t>Ejemplos</a:t>
            </a:r>
            <a:r>
              <a:rPr lang="es-MX" sz="2200" dirty="0">
                <a:ea typeface="Roboto" panose="02000000000000000000" pitchFamily="2" charset="0"/>
              </a:rPr>
              <a:t>: Mediante el uso de tablas de verdad demostramos que las siguientes equivalencias eran validas:</a:t>
            </a:r>
          </a:p>
        </p:txBody>
      </p:sp>
      <p:sp>
        <p:nvSpPr>
          <p:cNvPr id="13" name="CuadroTexto 12">
            <a:extLst>
              <a:ext uri="{FF2B5EF4-FFF2-40B4-BE49-F238E27FC236}">
                <a16:creationId xmlns:a16="http://schemas.microsoft.com/office/drawing/2014/main" id="{9251405A-24D6-45CC-A74B-58C118E75E74}"/>
              </a:ext>
            </a:extLst>
          </p:cNvPr>
          <p:cNvSpPr txBox="1"/>
          <p:nvPr/>
        </p:nvSpPr>
        <p:spPr>
          <a:xfrm>
            <a:off x="360218" y="4493368"/>
            <a:ext cx="9929181" cy="1661993"/>
          </a:xfrm>
          <a:prstGeom prst="rect">
            <a:avLst/>
          </a:prstGeom>
          <a:noFill/>
        </p:spPr>
        <p:txBody>
          <a:bodyPr wrap="square" rtlCol="0">
            <a:spAutoFit/>
          </a:bodyPr>
          <a:lstStyle/>
          <a:p>
            <a:r>
              <a:rPr lang="es-MX" sz="2200" b="1" dirty="0">
                <a:ea typeface="Roboto" panose="02000000000000000000" pitchFamily="2" charset="0"/>
              </a:rPr>
              <a:t>Para que usar equivalencias como las anteriores</a:t>
            </a:r>
            <a:r>
              <a:rPr lang="es-MX" sz="2200" dirty="0">
                <a:ea typeface="Roboto" panose="02000000000000000000" pitchFamily="2" charset="0"/>
              </a:rPr>
              <a:t>: </a:t>
            </a:r>
          </a:p>
          <a:p>
            <a:pPr marL="342900" indent="-342900">
              <a:buFont typeface="Arial" panose="020B0604020202020204" pitchFamily="34" charset="0"/>
              <a:buChar char="•"/>
            </a:pPr>
            <a:r>
              <a:rPr lang="es-MX" sz="2000" dirty="0">
                <a:ea typeface="Roboto" panose="02000000000000000000" pitchFamily="2" charset="0"/>
              </a:rPr>
              <a:t>Para hacer demostraciones.</a:t>
            </a:r>
          </a:p>
          <a:p>
            <a:pPr marL="342900" indent="-342900">
              <a:buFont typeface="Arial" panose="020B0604020202020204" pitchFamily="34" charset="0"/>
              <a:buChar char="•"/>
            </a:pPr>
            <a:r>
              <a:rPr lang="es-MX" sz="2000" dirty="0">
                <a:ea typeface="Roboto" panose="02000000000000000000" pitchFamily="2" charset="0"/>
              </a:rPr>
              <a:t>Para simplificar expresiones lógicas.</a:t>
            </a:r>
          </a:p>
          <a:p>
            <a:pPr marL="342900" indent="-342900">
              <a:buFont typeface="Arial" panose="020B0604020202020204" pitchFamily="34" charset="0"/>
              <a:buChar char="•"/>
            </a:pPr>
            <a:r>
              <a:rPr lang="es-MX" sz="2000" dirty="0">
                <a:ea typeface="Roboto" panose="02000000000000000000" pitchFamily="2" charset="0"/>
              </a:rPr>
              <a:t>Verificar la validez de argumentos (lo veremos la próxima clase).</a:t>
            </a:r>
          </a:p>
          <a:p>
            <a:pPr marL="342900" indent="-342900">
              <a:buFont typeface="Arial" panose="020B0604020202020204" pitchFamily="34" charset="0"/>
              <a:buChar char="•"/>
            </a:pPr>
            <a:r>
              <a:rPr lang="es-MX" sz="2000" dirty="0">
                <a:ea typeface="Roboto" panose="02000000000000000000" pitchFamily="2" charset="0"/>
              </a:rPr>
              <a:t>Derivar nuevas proposiciones (Esto lo hacen mas que todo los Matemáticos puros).</a:t>
            </a:r>
          </a:p>
        </p:txBody>
      </p:sp>
      <p:grpSp>
        <p:nvGrpSpPr>
          <p:cNvPr id="5" name="Grupo 4">
            <a:extLst>
              <a:ext uri="{FF2B5EF4-FFF2-40B4-BE49-F238E27FC236}">
                <a16:creationId xmlns:a16="http://schemas.microsoft.com/office/drawing/2014/main" id="{6012446B-E025-4289-8FAA-8F2078BFFA76}"/>
              </a:ext>
            </a:extLst>
          </p:cNvPr>
          <p:cNvGrpSpPr/>
          <p:nvPr/>
        </p:nvGrpSpPr>
        <p:grpSpPr>
          <a:xfrm>
            <a:off x="931371" y="2340911"/>
            <a:ext cx="2549236" cy="1516749"/>
            <a:chOff x="724422" y="2408541"/>
            <a:chExt cx="2549236" cy="1516749"/>
          </a:xfrm>
        </p:grpSpPr>
        <mc:AlternateContent xmlns:mc="http://schemas.openxmlformats.org/markup-compatibility/2006">
          <mc:Choice xmlns:a14="http://schemas.microsoft.com/office/drawing/2010/main" Requires="a14">
            <p:sp>
              <p:nvSpPr>
                <p:cNvPr id="4" name="CuadroTexto 3">
                  <a:extLst>
                    <a:ext uri="{FF2B5EF4-FFF2-40B4-BE49-F238E27FC236}">
                      <a16:creationId xmlns:a16="http://schemas.microsoft.com/office/drawing/2014/main" id="{A714CE02-109B-4317-B705-48B5B2D92E9D}"/>
                    </a:ext>
                  </a:extLst>
                </p:cNvPr>
                <p:cNvSpPr txBox="1"/>
                <p:nvPr/>
              </p:nvSpPr>
              <p:spPr>
                <a:xfrm>
                  <a:off x="1071536" y="3166915"/>
                  <a:ext cx="1789721" cy="307777"/>
                </a:xfrm>
                <a:prstGeom prst="rect">
                  <a:avLst/>
                </a:prstGeom>
                <a:solidFill>
                  <a:schemeClr val="bg2"/>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m:t>
                        </m:r>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Roboto" panose="02000000000000000000" pitchFamily="2" charset="0"/>
                          </a:rPr>
                          <m:t>𝑞</m:t>
                        </m:r>
                      </m:oMath>
                    </m:oMathPara>
                  </a14:m>
                  <a:endParaRPr lang="es-CO" sz="2000" dirty="0"/>
                </a:p>
              </p:txBody>
            </p:sp>
          </mc:Choice>
          <mc:Fallback>
            <p:sp>
              <p:nvSpPr>
                <p:cNvPr id="4" name="CuadroTexto 3">
                  <a:extLst>
                    <a:ext uri="{FF2B5EF4-FFF2-40B4-BE49-F238E27FC236}">
                      <a16:creationId xmlns:a16="http://schemas.microsoft.com/office/drawing/2014/main" id="{A714CE02-109B-4317-B705-48B5B2D92E9D}"/>
                    </a:ext>
                  </a:extLst>
                </p:cNvPr>
                <p:cNvSpPr txBox="1">
                  <a:spLocks noRot="1" noChangeAspect="1" noMove="1" noResize="1" noEditPoints="1" noAdjustHandles="1" noChangeArrowheads="1" noChangeShapeType="1" noTextEdit="1"/>
                </p:cNvSpPr>
                <p:nvPr/>
              </p:nvSpPr>
              <p:spPr>
                <a:xfrm>
                  <a:off x="1071536" y="3166915"/>
                  <a:ext cx="1789721" cy="307777"/>
                </a:xfrm>
                <a:prstGeom prst="rect">
                  <a:avLst/>
                </a:prstGeom>
                <a:blipFill>
                  <a:blip r:embed="rId2"/>
                  <a:stretch>
                    <a:fillRect l="-683" r="-3072" b="-23529"/>
                  </a:stretch>
                </a:blipFill>
              </p:spPr>
              <p:txBody>
                <a:bodyPr/>
                <a:lstStyle/>
                <a:p>
                  <a:r>
                    <a:rPr lang="es-CO">
                      <a:noFill/>
                    </a:rPr>
                    <a:t> </a:t>
                  </a:r>
                </a:p>
              </p:txBody>
            </p:sp>
          </mc:Fallback>
        </mc:AlternateContent>
        <p:sp>
          <p:nvSpPr>
            <p:cNvPr id="9" name="CuadroTexto 8">
              <a:extLst>
                <a:ext uri="{FF2B5EF4-FFF2-40B4-BE49-F238E27FC236}">
                  <a16:creationId xmlns:a16="http://schemas.microsoft.com/office/drawing/2014/main" id="{456D673B-0894-4438-B6C2-178A26E825E8}"/>
                </a:ext>
              </a:extLst>
            </p:cNvPr>
            <p:cNvSpPr txBox="1"/>
            <p:nvPr/>
          </p:nvSpPr>
          <p:spPr>
            <a:xfrm>
              <a:off x="1180792" y="2482656"/>
              <a:ext cx="1614608" cy="430887"/>
            </a:xfrm>
            <a:prstGeom prst="rect">
              <a:avLst/>
            </a:prstGeom>
            <a:noFill/>
          </p:spPr>
          <p:txBody>
            <a:bodyPr wrap="square" rtlCol="0">
              <a:spAutoFit/>
            </a:bodyPr>
            <a:lstStyle/>
            <a:p>
              <a:pPr algn="ctr"/>
              <a:r>
                <a:rPr lang="es-CO" sz="2200" b="1" dirty="0"/>
                <a:t>Implicación</a:t>
              </a:r>
            </a:p>
          </p:txBody>
        </p:sp>
        <p:sp>
          <p:nvSpPr>
            <p:cNvPr id="3" name="Rectángulo: esquinas redondeadas 2">
              <a:extLst>
                <a:ext uri="{FF2B5EF4-FFF2-40B4-BE49-F238E27FC236}">
                  <a16:creationId xmlns:a16="http://schemas.microsoft.com/office/drawing/2014/main" id="{33AD7DAD-1F51-4F53-8506-2A5A2975E66C}"/>
                </a:ext>
              </a:extLst>
            </p:cNvPr>
            <p:cNvSpPr/>
            <p:nvPr/>
          </p:nvSpPr>
          <p:spPr>
            <a:xfrm>
              <a:off x="724422" y="2408541"/>
              <a:ext cx="2549236" cy="1516749"/>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grpSp>
        <p:nvGrpSpPr>
          <p:cNvPr id="6" name="Grupo 5">
            <a:extLst>
              <a:ext uri="{FF2B5EF4-FFF2-40B4-BE49-F238E27FC236}">
                <a16:creationId xmlns:a16="http://schemas.microsoft.com/office/drawing/2014/main" id="{16A3A51C-C586-4CAB-B8F9-EF16159C2861}"/>
              </a:ext>
            </a:extLst>
          </p:cNvPr>
          <p:cNvGrpSpPr/>
          <p:nvPr/>
        </p:nvGrpSpPr>
        <p:grpSpPr>
          <a:xfrm>
            <a:off x="4743448" y="2340910"/>
            <a:ext cx="2549236" cy="1516749"/>
            <a:chOff x="4262817" y="2408541"/>
            <a:chExt cx="2549236" cy="1516749"/>
          </a:xfrm>
        </p:grpSpPr>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A1FF6CC6-30E5-49C4-8CFD-22CC1B2F26C7}"/>
                    </a:ext>
                  </a:extLst>
                </p:cNvPr>
                <p:cNvSpPr txBox="1"/>
                <p:nvPr/>
              </p:nvSpPr>
              <p:spPr>
                <a:xfrm>
                  <a:off x="4390070" y="3480629"/>
                  <a:ext cx="2294731" cy="307777"/>
                </a:xfrm>
                <a:prstGeom prst="rect">
                  <a:avLst/>
                </a:prstGeom>
                <a:solidFill>
                  <a:schemeClr val="bg2"/>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m:t>
                        </m:r>
                        <m:d>
                          <m:dPr>
                            <m:ctrlPr>
                              <a:rPr lang="es-MX" sz="2000" b="0" i="1" smtClean="0">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e>
                        </m:d>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rPr>
                          <m:t>¬</m:t>
                        </m:r>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rPr>
                          <m:t>¬</m:t>
                        </m:r>
                        <m:r>
                          <a:rPr lang="es-MX" sz="2000" b="0" i="1" smtClean="0">
                            <a:latin typeface="Cambria Math" panose="02040503050406030204" pitchFamily="18" charset="0"/>
                          </a:rPr>
                          <m:t>𝑞</m:t>
                        </m:r>
                      </m:oMath>
                    </m:oMathPara>
                  </a14:m>
                  <a:endParaRPr lang="es-CO" sz="1600" dirty="0"/>
                </a:p>
              </p:txBody>
            </p:sp>
          </mc:Choice>
          <mc:Fallback>
            <p:sp>
              <p:nvSpPr>
                <p:cNvPr id="10" name="CuadroTexto 9">
                  <a:extLst>
                    <a:ext uri="{FF2B5EF4-FFF2-40B4-BE49-F238E27FC236}">
                      <a16:creationId xmlns:a16="http://schemas.microsoft.com/office/drawing/2014/main" id="{A1FF6CC6-30E5-49C4-8CFD-22CC1B2F26C7}"/>
                    </a:ext>
                  </a:extLst>
                </p:cNvPr>
                <p:cNvSpPr txBox="1">
                  <a:spLocks noRot="1" noChangeAspect="1" noMove="1" noResize="1" noEditPoints="1" noAdjustHandles="1" noChangeArrowheads="1" noChangeShapeType="1" noTextEdit="1"/>
                </p:cNvSpPr>
                <p:nvPr/>
              </p:nvSpPr>
              <p:spPr>
                <a:xfrm>
                  <a:off x="4390070" y="3480629"/>
                  <a:ext cx="2294731" cy="307777"/>
                </a:xfrm>
                <a:prstGeom prst="rect">
                  <a:avLst/>
                </a:prstGeom>
                <a:blipFill>
                  <a:blip r:embed="rId3"/>
                  <a:stretch>
                    <a:fillRect l="-532" r="-2128" b="-260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FE0D49F3-68CC-4CD1-A740-5F994B6AE03E}"/>
                    </a:ext>
                  </a:extLst>
                </p:cNvPr>
                <p:cNvSpPr txBox="1"/>
                <p:nvPr/>
              </p:nvSpPr>
              <p:spPr>
                <a:xfrm>
                  <a:off x="4405750" y="3013026"/>
                  <a:ext cx="2294731" cy="307777"/>
                </a:xfrm>
                <a:prstGeom prst="rect">
                  <a:avLst/>
                </a:prstGeom>
                <a:solidFill>
                  <a:schemeClr val="bg2"/>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m:t>
                        </m:r>
                        <m:d>
                          <m:dPr>
                            <m:ctrlPr>
                              <a:rPr lang="es-MX" sz="2000" b="0" i="1" smtClean="0">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e>
                        </m:d>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rPr>
                          <m:t>¬</m:t>
                        </m:r>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rPr>
                          <m:t>¬</m:t>
                        </m:r>
                        <m:r>
                          <a:rPr lang="es-MX" sz="2000" b="0" i="1" smtClean="0">
                            <a:latin typeface="Cambria Math" panose="02040503050406030204" pitchFamily="18" charset="0"/>
                          </a:rPr>
                          <m:t>𝑞</m:t>
                        </m:r>
                      </m:oMath>
                    </m:oMathPara>
                  </a14:m>
                  <a:endParaRPr lang="es-CO" sz="2000" dirty="0"/>
                </a:p>
              </p:txBody>
            </p:sp>
          </mc:Choice>
          <mc:Fallback>
            <p:sp>
              <p:nvSpPr>
                <p:cNvPr id="11" name="CuadroTexto 10">
                  <a:extLst>
                    <a:ext uri="{FF2B5EF4-FFF2-40B4-BE49-F238E27FC236}">
                      <a16:creationId xmlns:a16="http://schemas.microsoft.com/office/drawing/2014/main" id="{FE0D49F3-68CC-4CD1-A740-5F994B6AE03E}"/>
                    </a:ext>
                  </a:extLst>
                </p:cNvPr>
                <p:cNvSpPr txBox="1">
                  <a:spLocks noRot="1" noChangeAspect="1" noMove="1" noResize="1" noEditPoints="1" noAdjustHandles="1" noChangeArrowheads="1" noChangeShapeType="1" noTextEdit="1"/>
                </p:cNvSpPr>
                <p:nvPr/>
              </p:nvSpPr>
              <p:spPr>
                <a:xfrm>
                  <a:off x="4405750" y="3013026"/>
                  <a:ext cx="2294731" cy="307777"/>
                </a:xfrm>
                <a:prstGeom prst="rect">
                  <a:avLst/>
                </a:prstGeom>
                <a:blipFill>
                  <a:blip r:embed="rId4"/>
                  <a:stretch>
                    <a:fillRect l="-532" r="-2128" b="-23529"/>
                  </a:stretch>
                </a:blipFill>
              </p:spPr>
              <p:txBody>
                <a:bodyPr/>
                <a:lstStyle/>
                <a:p>
                  <a:r>
                    <a:rPr lang="es-CO">
                      <a:noFill/>
                    </a:rPr>
                    <a:t> </a:t>
                  </a:r>
                </a:p>
              </p:txBody>
            </p:sp>
          </mc:Fallback>
        </mc:AlternateContent>
        <p:sp>
          <p:nvSpPr>
            <p:cNvPr id="14" name="CuadroTexto 13">
              <a:extLst>
                <a:ext uri="{FF2B5EF4-FFF2-40B4-BE49-F238E27FC236}">
                  <a16:creationId xmlns:a16="http://schemas.microsoft.com/office/drawing/2014/main" id="{0A6F69C4-F29B-4AD5-ABD2-D5CE084DF32C}"/>
                </a:ext>
              </a:extLst>
            </p:cNvPr>
            <p:cNvSpPr txBox="1"/>
            <p:nvPr/>
          </p:nvSpPr>
          <p:spPr>
            <a:xfrm>
              <a:off x="4324810" y="2408541"/>
              <a:ext cx="2425249" cy="430887"/>
            </a:xfrm>
            <a:prstGeom prst="rect">
              <a:avLst/>
            </a:prstGeom>
            <a:noFill/>
          </p:spPr>
          <p:txBody>
            <a:bodyPr wrap="square" rtlCol="0">
              <a:spAutoFit/>
            </a:bodyPr>
            <a:lstStyle/>
            <a:p>
              <a:pPr algn="ctr"/>
              <a:r>
                <a:rPr lang="es-CO" sz="2200" b="1" dirty="0"/>
                <a:t>Leyes de Morgan</a:t>
              </a:r>
            </a:p>
          </p:txBody>
        </p:sp>
        <p:sp>
          <p:nvSpPr>
            <p:cNvPr id="16" name="Rectángulo: esquinas redondeadas 15">
              <a:extLst>
                <a:ext uri="{FF2B5EF4-FFF2-40B4-BE49-F238E27FC236}">
                  <a16:creationId xmlns:a16="http://schemas.microsoft.com/office/drawing/2014/main" id="{806845A6-00CC-4371-8892-3BF3FEA0841D}"/>
                </a:ext>
              </a:extLst>
            </p:cNvPr>
            <p:cNvSpPr/>
            <p:nvPr/>
          </p:nvSpPr>
          <p:spPr>
            <a:xfrm>
              <a:off x="4262817" y="2408541"/>
              <a:ext cx="2549236" cy="1516749"/>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grpSp>
        <p:nvGrpSpPr>
          <p:cNvPr id="7" name="Grupo 6">
            <a:extLst>
              <a:ext uri="{FF2B5EF4-FFF2-40B4-BE49-F238E27FC236}">
                <a16:creationId xmlns:a16="http://schemas.microsoft.com/office/drawing/2014/main" id="{404E14D4-D58A-4E09-B032-4F2CDA67F1E3}"/>
              </a:ext>
            </a:extLst>
          </p:cNvPr>
          <p:cNvGrpSpPr/>
          <p:nvPr/>
        </p:nvGrpSpPr>
        <p:grpSpPr>
          <a:xfrm>
            <a:off x="8510603" y="2353140"/>
            <a:ext cx="2549236" cy="1516749"/>
            <a:chOff x="8311623" y="2283885"/>
            <a:chExt cx="2549236" cy="1516749"/>
          </a:xfrm>
        </p:grpSpPr>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908A2D5F-2CD2-4D43-816C-22A571FA478C}"/>
                    </a:ext>
                  </a:extLst>
                </p:cNvPr>
                <p:cNvSpPr txBox="1"/>
                <p:nvPr/>
              </p:nvSpPr>
              <p:spPr>
                <a:xfrm>
                  <a:off x="8384256" y="2951625"/>
                  <a:ext cx="2425249" cy="307777"/>
                </a:xfrm>
                <a:prstGeom prst="rect">
                  <a:avLst/>
                </a:prstGeom>
                <a:solidFill>
                  <a:schemeClr val="bg2"/>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𝑞</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𝑝</m:t>
                        </m:r>
                      </m:oMath>
                    </m:oMathPara>
                  </a14:m>
                  <a:endParaRPr lang="es-CO" sz="2000" dirty="0"/>
                </a:p>
              </p:txBody>
            </p:sp>
          </mc:Choice>
          <mc:Fallback>
            <p:sp>
              <p:nvSpPr>
                <p:cNvPr id="12" name="CuadroTexto 11">
                  <a:extLst>
                    <a:ext uri="{FF2B5EF4-FFF2-40B4-BE49-F238E27FC236}">
                      <a16:creationId xmlns:a16="http://schemas.microsoft.com/office/drawing/2014/main" id="{908A2D5F-2CD2-4D43-816C-22A571FA478C}"/>
                    </a:ext>
                  </a:extLst>
                </p:cNvPr>
                <p:cNvSpPr txBox="1">
                  <a:spLocks noRot="1" noChangeAspect="1" noMove="1" noResize="1" noEditPoints="1" noAdjustHandles="1" noChangeArrowheads="1" noChangeShapeType="1" noTextEdit="1"/>
                </p:cNvSpPr>
                <p:nvPr/>
              </p:nvSpPr>
              <p:spPr>
                <a:xfrm>
                  <a:off x="8384256" y="2951625"/>
                  <a:ext cx="2425249" cy="307777"/>
                </a:xfrm>
                <a:prstGeom prst="rect">
                  <a:avLst/>
                </a:prstGeom>
                <a:blipFill>
                  <a:blip r:embed="rId5"/>
                  <a:stretch>
                    <a:fillRect l="-1005" r="-2513" b="-26000"/>
                  </a:stretch>
                </a:blipFill>
              </p:spPr>
              <p:txBody>
                <a:bodyPr/>
                <a:lstStyle/>
                <a:p>
                  <a:r>
                    <a:rPr lang="es-CO">
                      <a:noFill/>
                    </a:rPr>
                    <a:t> </a:t>
                  </a:r>
                </a:p>
              </p:txBody>
            </p:sp>
          </mc:Fallback>
        </mc:AlternateContent>
        <p:sp>
          <p:nvSpPr>
            <p:cNvPr id="15" name="CuadroTexto 14">
              <a:extLst>
                <a:ext uri="{FF2B5EF4-FFF2-40B4-BE49-F238E27FC236}">
                  <a16:creationId xmlns:a16="http://schemas.microsoft.com/office/drawing/2014/main" id="{A224ECE8-A5EC-4EA1-BCA2-EB7C3E4F5ACF}"/>
                </a:ext>
              </a:extLst>
            </p:cNvPr>
            <p:cNvSpPr txBox="1"/>
            <p:nvPr/>
          </p:nvSpPr>
          <p:spPr>
            <a:xfrm>
              <a:off x="8356546" y="2287284"/>
              <a:ext cx="2425249" cy="430887"/>
            </a:xfrm>
            <a:prstGeom prst="rect">
              <a:avLst/>
            </a:prstGeom>
            <a:noFill/>
          </p:spPr>
          <p:txBody>
            <a:bodyPr wrap="square" rtlCol="0">
              <a:spAutoFit/>
            </a:bodyPr>
            <a:lstStyle/>
            <a:p>
              <a:pPr algn="ctr"/>
              <a:r>
                <a:rPr lang="es-CO" sz="2200" b="1" dirty="0"/>
                <a:t>Contrarrecíproco</a:t>
              </a:r>
            </a:p>
          </p:txBody>
        </p:sp>
        <p:sp>
          <p:nvSpPr>
            <p:cNvPr id="17" name="Rectángulo: esquinas redondeadas 16">
              <a:extLst>
                <a:ext uri="{FF2B5EF4-FFF2-40B4-BE49-F238E27FC236}">
                  <a16:creationId xmlns:a16="http://schemas.microsoft.com/office/drawing/2014/main" id="{834402A6-C543-46CD-8982-6D7D2C48413E}"/>
                </a:ext>
              </a:extLst>
            </p:cNvPr>
            <p:cNvSpPr/>
            <p:nvPr/>
          </p:nvSpPr>
          <p:spPr>
            <a:xfrm>
              <a:off x="8311623" y="2283885"/>
              <a:ext cx="2549236" cy="1516749"/>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Tree>
    <p:extLst>
      <p:ext uri="{BB962C8B-B14F-4D97-AF65-F5344CB8AC3E}">
        <p14:creationId xmlns:p14="http://schemas.microsoft.com/office/powerpoint/2010/main" val="1106374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360218" y="173514"/>
            <a:ext cx="5408474" cy="1054582"/>
          </a:xfrm>
        </p:spPr>
        <p:txBody>
          <a:bodyPr/>
          <a:lstStyle/>
          <a:p>
            <a:r>
              <a:rPr lang="es-CO" dirty="0"/>
              <a:t>Contexto</a:t>
            </a:r>
          </a:p>
        </p:txBody>
      </p:sp>
      <p:pic>
        <p:nvPicPr>
          <p:cNvPr id="6" name="Imagen 5">
            <a:extLst>
              <a:ext uri="{FF2B5EF4-FFF2-40B4-BE49-F238E27FC236}">
                <a16:creationId xmlns:a16="http://schemas.microsoft.com/office/drawing/2014/main" id="{7523E4FC-0164-4994-8822-C965004E9A4F}"/>
              </a:ext>
            </a:extLst>
          </p:cNvPr>
          <p:cNvPicPr>
            <a:picLocks noChangeAspect="1"/>
          </p:cNvPicPr>
          <p:nvPr/>
        </p:nvPicPr>
        <p:blipFill>
          <a:blip r:embed="rId2"/>
          <a:stretch>
            <a:fillRect/>
          </a:stretch>
        </p:blipFill>
        <p:spPr>
          <a:xfrm>
            <a:off x="8322176" y="400816"/>
            <a:ext cx="3764003" cy="3089853"/>
          </a:xfrm>
          <a:prstGeom prst="rect">
            <a:avLst/>
          </a:prstGeom>
        </p:spPr>
      </p:pic>
      <p:pic>
        <p:nvPicPr>
          <p:cNvPr id="9" name="Imagen 8">
            <a:extLst>
              <a:ext uri="{FF2B5EF4-FFF2-40B4-BE49-F238E27FC236}">
                <a16:creationId xmlns:a16="http://schemas.microsoft.com/office/drawing/2014/main" id="{2895ECEA-CAFC-4702-9191-B2A0A33DD961}"/>
              </a:ext>
            </a:extLst>
          </p:cNvPr>
          <p:cNvPicPr>
            <a:picLocks noChangeAspect="1"/>
          </p:cNvPicPr>
          <p:nvPr/>
        </p:nvPicPr>
        <p:blipFill>
          <a:blip r:embed="rId3"/>
          <a:stretch>
            <a:fillRect/>
          </a:stretch>
        </p:blipFill>
        <p:spPr>
          <a:xfrm>
            <a:off x="8712611" y="3490669"/>
            <a:ext cx="2983133" cy="3321066"/>
          </a:xfrm>
          <a:prstGeom prst="rect">
            <a:avLst/>
          </a:prstGeom>
        </p:spPr>
      </p:pic>
      <p:pic>
        <p:nvPicPr>
          <p:cNvPr id="11" name="Imagen 10">
            <a:extLst>
              <a:ext uri="{FF2B5EF4-FFF2-40B4-BE49-F238E27FC236}">
                <a16:creationId xmlns:a16="http://schemas.microsoft.com/office/drawing/2014/main" id="{EAD4D327-3589-49F3-8263-47FA45A0AC9B}"/>
              </a:ext>
            </a:extLst>
          </p:cNvPr>
          <p:cNvPicPr>
            <a:picLocks noChangeAspect="1"/>
          </p:cNvPicPr>
          <p:nvPr/>
        </p:nvPicPr>
        <p:blipFill>
          <a:blip r:embed="rId4"/>
          <a:stretch>
            <a:fillRect/>
          </a:stretch>
        </p:blipFill>
        <p:spPr>
          <a:xfrm>
            <a:off x="5924547" y="400816"/>
            <a:ext cx="2397629" cy="5792166"/>
          </a:xfrm>
          <a:prstGeom prst="rect">
            <a:avLst/>
          </a:prstGeom>
        </p:spPr>
      </p:pic>
      <p:sp>
        <p:nvSpPr>
          <p:cNvPr id="12" name="CuadroTexto 11">
            <a:extLst>
              <a:ext uri="{FF2B5EF4-FFF2-40B4-BE49-F238E27FC236}">
                <a16:creationId xmlns:a16="http://schemas.microsoft.com/office/drawing/2014/main" id="{741BD50B-2B68-436C-80FD-A3E6522E3086}"/>
              </a:ext>
            </a:extLst>
          </p:cNvPr>
          <p:cNvSpPr txBox="1"/>
          <p:nvPr/>
        </p:nvSpPr>
        <p:spPr>
          <a:xfrm>
            <a:off x="360218" y="843852"/>
            <a:ext cx="5408474" cy="1107996"/>
          </a:xfrm>
          <a:prstGeom prst="rect">
            <a:avLst/>
          </a:prstGeom>
          <a:noFill/>
        </p:spPr>
        <p:txBody>
          <a:bodyPr wrap="square" rtlCol="0">
            <a:spAutoFit/>
          </a:bodyPr>
          <a:lstStyle/>
          <a:p>
            <a:r>
              <a:rPr lang="es-MX" sz="2400" b="1" dirty="0">
                <a:ea typeface="Roboto" panose="02000000000000000000" pitchFamily="2" charset="0"/>
              </a:rPr>
              <a:t>Demostraciones</a:t>
            </a:r>
          </a:p>
          <a:p>
            <a:r>
              <a:rPr lang="es-MX" sz="2200" b="1" dirty="0">
                <a:ea typeface="Roboto" panose="02000000000000000000" pitchFamily="2" charset="0"/>
              </a:rPr>
              <a:t>Ejemplo</a:t>
            </a:r>
            <a:r>
              <a:rPr lang="es-MX" sz="2200" dirty="0">
                <a:ea typeface="Roboto" panose="02000000000000000000" pitchFamily="2" charset="0"/>
              </a:rPr>
              <a:t>: Simplifique la siguiente expresión:</a:t>
            </a:r>
          </a:p>
          <a:p>
            <a:endParaRPr lang="es-MX" sz="2000" dirty="0">
              <a:ea typeface="Roboto" panose="02000000000000000000" pitchFamily="2" charset="0"/>
            </a:endParaRPr>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E88F1751-0DF4-4C35-9BEA-01F75373EC15}"/>
                  </a:ext>
                </a:extLst>
              </p:cNvPr>
              <p:cNvSpPr txBox="1"/>
              <p:nvPr/>
            </p:nvSpPr>
            <p:spPr>
              <a:xfrm>
                <a:off x="1307593" y="1773743"/>
                <a:ext cx="3104211" cy="668324"/>
              </a:xfrm>
              <a:prstGeom prst="rect">
                <a:avLst/>
              </a:prstGeom>
              <a:noFill/>
            </p:spPr>
            <p:txBody>
              <a:bodyPr wrap="square">
                <a:spAutoFit/>
              </a:bodyPr>
              <a:lstStyle/>
              <a:p>
                <a:pPr algn="ctr"/>
                <a14:m>
                  <m:oMath xmlns:m="http://schemas.openxmlformats.org/officeDocument/2006/math">
                    <m:f>
                      <m:fPr>
                        <m:ctrlPr>
                          <a:rPr lang="es-MX" sz="2400" b="0" i="1" smtClean="0">
                            <a:latin typeface="Cambria Math" panose="02040503050406030204" pitchFamily="18" charset="0"/>
                            <a:ea typeface="Roboto" panose="02000000000000000000" pitchFamily="2" charset="0"/>
                          </a:rPr>
                        </m:ctrlPr>
                      </m:fPr>
                      <m:num>
                        <m:r>
                          <a:rPr lang="es-MX" sz="2400" b="0" i="1" smtClean="0">
                            <a:latin typeface="Cambria Math" panose="02040503050406030204" pitchFamily="18" charset="0"/>
                            <a:ea typeface="Roboto" panose="02000000000000000000" pitchFamily="2" charset="0"/>
                          </a:rPr>
                          <m:t>2</m:t>
                        </m:r>
                        <m:sSup>
                          <m:sSupPr>
                            <m:ctrlPr>
                              <a:rPr lang="es-MX" sz="2400" b="0" i="1" smtClean="0">
                                <a:latin typeface="Cambria Math" panose="02040503050406030204" pitchFamily="18" charset="0"/>
                                <a:ea typeface="Roboto" panose="02000000000000000000" pitchFamily="2" charset="0"/>
                              </a:rPr>
                            </m:ctrlPr>
                          </m:sSupPr>
                          <m:e>
                            <m:r>
                              <a:rPr lang="es-MX" sz="2400" b="0" i="1" smtClean="0">
                                <a:latin typeface="Cambria Math" panose="02040503050406030204" pitchFamily="18" charset="0"/>
                                <a:ea typeface="Roboto" panose="02000000000000000000" pitchFamily="2" charset="0"/>
                              </a:rPr>
                              <m:t>𝑧</m:t>
                            </m:r>
                          </m:e>
                          <m:sup>
                            <m:r>
                              <a:rPr lang="es-MX" sz="2400" b="0" i="1" smtClean="0">
                                <a:latin typeface="Cambria Math" panose="02040503050406030204" pitchFamily="18" charset="0"/>
                                <a:ea typeface="Roboto" panose="02000000000000000000" pitchFamily="2" charset="0"/>
                              </a:rPr>
                              <m:t>2</m:t>
                            </m:r>
                          </m:sup>
                        </m:sSup>
                        <m:r>
                          <a:rPr lang="es-MX" sz="2400" b="0" i="1" smtClean="0">
                            <a:latin typeface="Cambria Math" panose="02040503050406030204" pitchFamily="18" charset="0"/>
                            <a:ea typeface="Roboto" panose="02000000000000000000" pitchFamily="2" charset="0"/>
                          </a:rPr>
                          <m:t>+7</m:t>
                        </m:r>
                        <m:r>
                          <a:rPr lang="es-MX" sz="2400" b="0" i="1" smtClean="0">
                            <a:latin typeface="Cambria Math" panose="02040503050406030204" pitchFamily="18" charset="0"/>
                            <a:ea typeface="Roboto" panose="02000000000000000000" pitchFamily="2" charset="0"/>
                          </a:rPr>
                          <m:t>𝑧</m:t>
                        </m:r>
                        <m:r>
                          <a:rPr lang="es-MX" sz="2400" b="0" i="1" smtClean="0">
                            <a:latin typeface="Cambria Math" panose="02040503050406030204" pitchFamily="18" charset="0"/>
                            <a:ea typeface="Roboto" panose="02000000000000000000" pitchFamily="2" charset="0"/>
                          </a:rPr>
                          <m:t>+3</m:t>
                        </m:r>
                      </m:num>
                      <m:den>
                        <m:sSup>
                          <m:sSupPr>
                            <m:ctrlPr>
                              <a:rPr lang="es-MX" sz="2400" b="0" i="1" smtClean="0">
                                <a:latin typeface="Cambria Math" panose="02040503050406030204" pitchFamily="18" charset="0"/>
                                <a:ea typeface="Roboto" panose="02000000000000000000" pitchFamily="2" charset="0"/>
                              </a:rPr>
                            </m:ctrlPr>
                          </m:sSupPr>
                          <m:e>
                            <m:r>
                              <a:rPr lang="es-MX" sz="2400" b="0" i="1" smtClean="0">
                                <a:latin typeface="Cambria Math" panose="02040503050406030204" pitchFamily="18" charset="0"/>
                                <a:ea typeface="Roboto" panose="02000000000000000000" pitchFamily="2" charset="0"/>
                              </a:rPr>
                              <m:t>𝑧</m:t>
                            </m:r>
                          </m:e>
                          <m:sup>
                            <m:r>
                              <a:rPr lang="es-MX" sz="2400" b="0" i="1" smtClean="0">
                                <a:latin typeface="Cambria Math" panose="02040503050406030204" pitchFamily="18" charset="0"/>
                                <a:ea typeface="Roboto" panose="02000000000000000000" pitchFamily="2" charset="0"/>
                              </a:rPr>
                              <m:t>2</m:t>
                            </m:r>
                          </m:sup>
                        </m:sSup>
                        <m:r>
                          <a:rPr lang="es-MX" sz="2400" b="0" i="1" smtClean="0">
                            <a:latin typeface="Cambria Math" panose="02040503050406030204" pitchFamily="18" charset="0"/>
                            <a:ea typeface="Roboto" panose="02000000000000000000" pitchFamily="2" charset="0"/>
                          </a:rPr>
                          <m:t>+9</m:t>
                        </m:r>
                      </m:den>
                    </m:f>
                    <m:r>
                      <a:rPr lang="es-MX" sz="2400" b="0" i="1" smtClean="0">
                        <a:latin typeface="Cambria Math" panose="02040503050406030204" pitchFamily="18" charset="0"/>
                        <a:ea typeface="Cambria Math" panose="02040503050406030204" pitchFamily="18" charset="0"/>
                      </a:rPr>
                      <m:t>∙</m:t>
                    </m:r>
                    <m:f>
                      <m:fPr>
                        <m:ctrlPr>
                          <a:rPr lang="es-MX" sz="2400" b="0" i="1" smtClean="0">
                            <a:latin typeface="Cambria Math" panose="02040503050406030204" pitchFamily="18" charset="0"/>
                            <a:ea typeface="Cambria Math" panose="02040503050406030204" pitchFamily="18" charset="0"/>
                          </a:rPr>
                        </m:ctrlPr>
                      </m:fPr>
                      <m:num>
                        <m:r>
                          <a:rPr lang="es-MX" sz="2400" b="0" i="1" smtClean="0">
                            <a:latin typeface="Cambria Math" panose="02040503050406030204" pitchFamily="18" charset="0"/>
                            <a:ea typeface="Cambria Math" panose="02040503050406030204" pitchFamily="18" charset="0"/>
                          </a:rPr>
                          <m:t>4</m:t>
                        </m:r>
                        <m:sSup>
                          <m:sSupPr>
                            <m:ctrlPr>
                              <a:rPr lang="es-MX" sz="2400" b="0" i="1" smtClean="0">
                                <a:latin typeface="Cambria Math" panose="02040503050406030204" pitchFamily="18" charset="0"/>
                                <a:ea typeface="Cambria Math" panose="02040503050406030204" pitchFamily="18" charset="0"/>
                              </a:rPr>
                            </m:ctrlPr>
                          </m:sSupPr>
                          <m:e>
                            <m:r>
                              <a:rPr lang="es-MX" sz="2400" b="0" i="1" smtClean="0">
                                <a:latin typeface="Cambria Math" panose="02040503050406030204" pitchFamily="18" charset="0"/>
                                <a:ea typeface="Cambria Math" panose="02040503050406030204" pitchFamily="18" charset="0"/>
                              </a:rPr>
                              <m:t>𝑧</m:t>
                            </m:r>
                          </m:e>
                          <m:sup>
                            <m:r>
                              <a:rPr lang="es-MX" sz="2400" b="0" i="1" smtClean="0">
                                <a:latin typeface="Cambria Math" panose="02040503050406030204" pitchFamily="18" charset="0"/>
                                <a:ea typeface="Cambria Math" panose="02040503050406030204" pitchFamily="18" charset="0"/>
                              </a:rPr>
                              <m:t>2</m:t>
                            </m:r>
                          </m:sup>
                        </m:sSup>
                        <m:r>
                          <a:rPr lang="es-MX" sz="2400" b="0" i="1" smtClean="0">
                            <a:latin typeface="Cambria Math" panose="02040503050406030204" pitchFamily="18" charset="0"/>
                            <a:ea typeface="Cambria Math" panose="02040503050406030204" pitchFamily="18" charset="0"/>
                          </a:rPr>
                          <m:t>−15+9</m:t>
                        </m:r>
                      </m:num>
                      <m:den>
                        <m:r>
                          <a:rPr lang="es-MX" sz="2400" b="0" i="1" smtClean="0">
                            <a:latin typeface="Cambria Math" panose="02040503050406030204" pitchFamily="18" charset="0"/>
                            <a:ea typeface="Cambria Math" panose="02040503050406030204" pitchFamily="18" charset="0"/>
                          </a:rPr>
                          <m:t>4</m:t>
                        </m:r>
                        <m:sSup>
                          <m:sSupPr>
                            <m:ctrlPr>
                              <a:rPr lang="es-MX" sz="2400" b="0" i="1" smtClean="0">
                                <a:latin typeface="Cambria Math" panose="02040503050406030204" pitchFamily="18" charset="0"/>
                                <a:ea typeface="Cambria Math" panose="02040503050406030204" pitchFamily="18" charset="0"/>
                              </a:rPr>
                            </m:ctrlPr>
                          </m:sSupPr>
                          <m:e>
                            <m:r>
                              <a:rPr lang="es-MX" sz="2400" b="0" i="1" smtClean="0">
                                <a:latin typeface="Cambria Math" panose="02040503050406030204" pitchFamily="18" charset="0"/>
                                <a:ea typeface="Cambria Math" panose="02040503050406030204" pitchFamily="18" charset="0"/>
                              </a:rPr>
                              <m:t>𝑧</m:t>
                            </m:r>
                          </m:e>
                          <m:sup>
                            <m:r>
                              <a:rPr lang="es-MX" sz="2400" b="0" i="1" smtClean="0">
                                <a:latin typeface="Cambria Math" panose="02040503050406030204" pitchFamily="18" charset="0"/>
                                <a:ea typeface="Cambria Math" panose="02040503050406030204" pitchFamily="18" charset="0"/>
                              </a:rPr>
                              <m:t>2</m:t>
                            </m:r>
                          </m:sup>
                        </m:sSup>
                        <m:r>
                          <a:rPr lang="es-MX" sz="2400" b="0" i="1" smtClean="0">
                            <a:latin typeface="Cambria Math" panose="02040503050406030204" pitchFamily="18" charset="0"/>
                            <a:ea typeface="Cambria Math" panose="02040503050406030204" pitchFamily="18" charset="0"/>
                          </a:rPr>
                          <m:t>−1</m:t>
                        </m:r>
                      </m:den>
                    </m:f>
                  </m:oMath>
                </a14:m>
                <a:r>
                  <a:rPr lang="es-MX" sz="2400" dirty="0">
                    <a:ea typeface="Roboto" panose="02000000000000000000" pitchFamily="2" charset="0"/>
                  </a:rPr>
                  <a:t> </a:t>
                </a:r>
              </a:p>
            </p:txBody>
          </p:sp>
        </mc:Choice>
        <mc:Fallback>
          <p:sp>
            <p:nvSpPr>
              <p:cNvPr id="8" name="CuadroTexto 7">
                <a:extLst>
                  <a:ext uri="{FF2B5EF4-FFF2-40B4-BE49-F238E27FC236}">
                    <a16:creationId xmlns:a16="http://schemas.microsoft.com/office/drawing/2014/main" id="{E88F1751-0DF4-4C35-9BEA-01F75373EC15}"/>
                  </a:ext>
                </a:extLst>
              </p:cNvPr>
              <p:cNvSpPr txBox="1">
                <a:spLocks noRot="1" noChangeAspect="1" noMove="1" noResize="1" noEditPoints="1" noAdjustHandles="1" noChangeArrowheads="1" noChangeShapeType="1" noTextEdit="1"/>
              </p:cNvSpPr>
              <p:nvPr/>
            </p:nvSpPr>
            <p:spPr>
              <a:xfrm>
                <a:off x="1307593" y="1773743"/>
                <a:ext cx="3104211" cy="668324"/>
              </a:xfrm>
              <a:prstGeom prst="rect">
                <a:avLst/>
              </a:prstGeom>
              <a:blipFill>
                <a:blip r:embed="rId5"/>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4154631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360217" y="173513"/>
            <a:ext cx="10993581" cy="1325563"/>
          </a:xfrm>
        </p:spPr>
        <p:txBody>
          <a:bodyPr/>
          <a:lstStyle/>
          <a:p>
            <a:r>
              <a:rPr lang="es-CO" dirty="0"/>
              <a:t>Contexto</a:t>
            </a:r>
          </a:p>
        </p:txBody>
      </p:sp>
      <p:sp>
        <p:nvSpPr>
          <p:cNvPr id="12" name="CuadroTexto 11">
            <a:extLst>
              <a:ext uri="{FF2B5EF4-FFF2-40B4-BE49-F238E27FC236}">
                <a16:creationId xmlns:a16="http://schemas.microsoft.com/office/drawing/2014/main" id="{741BD50B-2B68-436C-80FD-A3E6522E3086}"/>
              </a:ext>
            </a:extLst>
          </p:cNvPr>
          <p:cNvSpPr txBox="1"/>
          <p:nvPr/>
        </p:nvSpPr>
        <p:spPr>
          <a:xfrm>
            <a:off x="447302" y="1134572"/>
            <a:ext cx="6567056" cy="800219"/>
          </a:xfrm>
          <a:prstGeom prst="rect">
            <a:avLst/>
          </a:prstGeom>
          <a:noFill/>
        </p:spPr>
        <p:txBody>
          <a:bodyPr wrap="square" rtlCol="0">
            <a:spAutoFit/>
          </a:bodyPr>
          <a:lstStyle/>
          <a:p>
            <a:r>
              <a:rPr lang="es-MX" sz="2400" b="1" dirty="0">
                <a:ea typeface="Roboto" panose="02000000000000000000" pitchFamily="2" charset="0"/>
              </a:rPr>
              <a:t>Demostraciones</a:t>
            </a:r>
          </a:p>
          <a:p>
            <a:r>
              <a:rPr lang="es-MX" sz="2200" b="1" dirty="0">
                <a:ea typeface="Roboto" panose="02000000000000000000" pitchFamily="2" charset="0"/>
              </a:rPr>
              <a:t>Demuestre</a:t>
            </a:r>
            <a:r>
              <a:rPr lang="es-MX" sz="2200" dirty="0">
                <a:ea typeface="Roboto" panose="02000000000000000000" pitchFamily="2" charset="0"/>
              </a:rPr>
              <a:t>: Verifique la identidad:</a:t>
            </a:r>
            <a:endParaRPr lang="es-MX" sz="2000" dirty="0">
              <a:ea typeface="Roboto" panose="02000000000000000000" pitchFamily="2" charset="0"/>
            </a:endParaRPr>
          </a:p>
        </p:txBody>
      </p:sp>
      <p:pic>
        <p:nvPicPr>
          <p:cNvPr id="4" name="Imagen 3">
            <a:extLst>
              <a:ext uri="{FF2B5EF4-FFF2-40B4-BE49-F238E27FC236}">
                <a16:creationId xmlns:a16="http://schemas.microsoft.com/office/drawing/2014/main" id="{C7BD5A56-A037-49A5-A29E-72FB2F16B72E}"/>
              </a:ext>
            </a:extLst>
          </p:cNvPr>
          <p:cNvPicPr>
            <a:picLocks noChangeAspect="1"/>
          </p:cNvPicPr>
          <p:nvPr/>
        </p:nvPicPr>
        <p:blipFill>
          <a:blip r:embed="rId2"/>
          <a:stretch>
            <a:fillRect/>
          </a:stretch>
        </p:blipFill>
        <p:spPr>
          <a:xfrm>
            <a:off x="8893840" y="286811"/>
            <a:ext cx="2619942" cy="2083696"/>
          </a:xfrm>
          <a:prstGeom prst="rect">
            <a:avLst/>
          </a:prstGeom>
        </p:spPr>
      </p:pic>
      <p:pic>
        <p:nvPicPr>
          <p:cNvPr id="7" name="Imagen 6">
            <a:extLst>
              <a:ext uri="{FF2B5EF4-FFF2-40B4-BE49-F238E27FC236}">
                <a16:creationId xmlns:a16="http://schemas.microsoft.com/office/drawing/2014/main" id="{AF8D4168-2826-4576-AC30-B3E62436F082}"/>
              </a:ext>
            </a:extLst>
          </p:cNvPr>
          <p:cNvPicPr>
            <a:picLocks noChangeAspect="1"/>
          </p:cNvPicPr>
          <p:nvPr/>
        </p:nvPicPr>
        <p:blipFill>
          <a:blip r:embed="rId3"/>
          <a:stretch>
            <a:fillRect/>
          </a:stretch>
        </p:blipFill>
        <p:spPr>
          <a:xfrm>
            <a:off x="8301619" y="2467295"/>
            <a:ext cx="3593618" cy="2083695"/>
          </a:xfrm>
          <a:prstGeom prst="rect">
            <a:avLst/>
          </a:prstGeom>
        </p:spPr>
      </p:pic>
      <p:pic>
        <p:nvPicPr>
          <p:cNvPr id="10" name="Imagen 9">
            <a:extLst>
              <a:ext uri="{FF2B5EF4-FFF2-40B4-BE49-F238E27FC236}">
                <a16:creationId xmlns:a16="http://schemas.microsoft.com/office/drawing/2014/main" id="{204BE929-1221-452D-9FA3-B68357128FF8}"/>
              </a:ext>
            </a:extLst>
          </p:cNvPr>
          <p:cNvPicPr>
            <a:picLocks noChangeAspect="1"/>
          </p:cNvPicPr>
          <p:nvPr/>
        </p:nvPicPr>
        <p:blipFill>
          <a:blip r:embed="rId4"/>
          <a:stretch>
            <a:fillRect/>
          </a:stretch>
        </p:blipFill>
        <p:spPr>
          <a:xfrm>
            <a:off x="8589281" y="4661830"/>
            <a:ext cx="3018293" cy="2083695"/>
          </a:xfrm>
          <a:prstGeom prst="rect">
            <a:avLst/>
          </a:prstGeom>
        </p:spPr>
      </p:pic>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4987544F-09A6-49E9-9EF3-E5B961871A80}"/>
                  </a:ext>
                </a:extLst>
              </p:cNvPr>
              <p:cNvSpPr txBox="1"/>
              <p:nvPr/>
            </p:nvSpPr>
            <p:spPr>
              <a:xfrm>
                <a:off x="2376220" y="2060678"/>
                <a:ext cx="3323772" cy="6196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MX" sz="1800" b="0" i="1" smtClean="0">
                              <a:latin typeface="Cambria Math" panose="02040503050406030204" pitchFamily="18" charset="0"/>
                              <a:ea typeface="Roboto" panose="02000000000000000000" pitchFamily="2" charset="0"/>
                            </a:rPr>
                          </m:ctrlPr>
                        </m:fPr>
                        <m:num>
                          <m:func>
                            <m:funcPr>
                              <m:ctrlPr>
                                <a:rPr lang="es-MX" sz="1800" b="0" i="1" smtClean="0">
                                  <a:latin typeface="Cambria Math" panose="02040503050406030204" pitchFamily="18" charset="0"/>
                                  <a:ea typeface="Roboto" panose="02000000000000000000" pitchFamily="2" charset="0"/>
                                </a:rPr>
                              </m:ctrlPr>
                            </m:funcPr>
                            <m:fName>
                              <m:r>
                                <m:rPr>
                                  <m:sty m:val="p"/>
                                </m:rPr>
                                <a:rPr lang="es-MX" sz="1800" b="0" i="0" smtClean="0">
                                  <a:latin typeface="Cambria Math" panose="02040503050406030204" pitchFamily="18" charset="0"/>
                                  <a:ea typeface="Roboto" panose="02000000000000000000" pitchFamily="2" charset="0"/>
                                </a:rPr>
                                <m:t>sec</m:t>
                              </m:r>
                            </m:fName>
                            <m:e>
                              <m:r>
                                <a:rPr lang="es-MX" sz="1800" b="0" i="1" smtClean="0">
                                  <a:latin typeface="Cambria Math" panose="02040503050406030204" pitchFamily="18" charset="0"/>
                                  <a:ea typeface="Roboto" panose="02000000000000000000" pitchFamily="2" charset="0"/>
                                </a:rPr>
                                <m:t>𝜃</m:t>
                              </m:r>
                            </m:e>
                          </m:func>
                          <m:r>
                            <a:rPr lang="es-MX" sz="1800" b="0" i="1" smtClean="0">
                              <a:latin typeface="Cambria Math" panose="02040503050406030204" pitchFamily="18" charset="0"/>
                              <a:ea typeface="Roboto" panose="02000000000000000000" pitchFamily="2" charset="0"/>
                            </a:rPr>
                            <m:t>+</m:t>
                          </m:r>
                          <m:func>
                            <m:funcPr>
                              <m:ctrlPr>
                                <a:rPr lang="es-MX" sz="1800" b="0" i="1" smtClean="0">
                                  <a:latin typeface="Cambria Math" panose="02040503050406030204" pitchFamily="18" charset="0"/>
                                  <a:ea typeface="Roboto" panose="02000000000000000000" pitchFamily="2" charset="0"/>
                                </a:rPr>
                              </m:ctrlPr>
                            </m:funcPr>
                            <m:fName>
                              <m:r>
                                <m:rPr>
                                  <m:sty m:val="p"/>
                                </m:rPr>
                                <a:rPr lang="es-MX" sz="1800" b="0" i="0" smtClean="0">
                                  <a:latin typeface="Cambria Math" panose="02040503050406030204" pitchFamily="18" charset="0"/>
                                  <a:ea typeface="Roboto" panose="02000000000000000000" pitchFamily="2" charset="0"/>
                                </a:rPr>
                                <m:t>tan</m:t>
                              </m:r>
                            </m:fName>
                            <m:e>
                              <m:r>
                                <a:rPr lang="es-MX" sz="1800" i="1">
                                  <a:latin typeface="Cambria Math" panose="02040503050406030204" pitchFamily="18" charset="0"/>
                                  <a:ea typeface="Roboto" panose="02000000000000000000" pitchFamily="2" charset="0"/>
                                </a:rPr>
                                <m:t>𝜃</m:t>
                              </m:r>
                            </m:e>
                          </m:func>
                        </m:num>
                        <m:den>
                          <m:func>
                            <m:funcPr>
                              <m:ctrlPr>
                                <a:rPr lang="es-MX" sz="1800" b="0" i="1" smtClean="0">
                                  <a:latin typeface="Cambria Math" panose="02040503050406030204" pitchFamily="18" charset="0"/>
                                  <a:ea typeface="Roboto" panose="02000000000000000000" pitchFamily="2" charset="0"/>
                                </a:rPr>
                              </m:ctrlPr>
                            </m:funcPr>
                            <m:fName>
                              <m:r>
                                <m:rPr>
                                  <m:sty m:val="p"/>
                                </m:rPr>
                                <a:rPr lang="es-MX" sz="1800" b="0" i="0" smtClean="0">
                                  <a:latin typeface="Cambria Math" panose="02040503050406030204" pitchFamily="18" charset="0"/>
                                  <a:ea typeface="Roboto" panose="02000000000000000000" pitchFamily="2" charset="0"/>
                                </a:rPr>
                                <m:t>cot</m:t>
                              </m:r>
                            </m:fName>
                            <m:e>
                              <m:r>
                                <a:rPr lang="es-MX" sz="1800" i="1">
                                  <a:latin typeface="Cambria Math" panose="02040503050406030204" pitchFamily="18" charset="0"/>
                                  <a:ea typeface="Roboto" panose="02000000000000000000" pitchFamily="2" charset="0"/>
                                </a:rPr>
                                <m:t>𝜃</m:t>
                              </m:r>
                            </m:e>
                          </m:func>
                          <m:r>
                            <a:rPr lang="es-MX" sz="1800" b="0" i="1" smtClean="0">
                              <a:latin typeface="Cambria Math" panose="02040503050406030204" pitchFamily="18" charset="0"/>
                              <a:ea typeface="Roboto" panose="02000000000000000000" pitchFamily="2" charset="0"/>
                            </a:rPr>
                            <m:t>+</m:t>
                          </m:r>
                          <m:func>
                            <m:funcPr>
                              <m:ctrlPr>
                                <a:rPr lang="es-MX" sz="1800" b="0" i="1" smtClean="0">
                                  <a:latin typeface="Cambria Math" panose="02040503050406030204" pitchFamily="18" charset="0"/>
                                  <a:ea typeface="Roboto" panose="02000000000000000000" pitchFamily="2" charset="0"/>
                                </a:rPr>
                              </m:ctrlPr>
                            </m:funcPr>
                            <m:fName>
                              <m:r>
                                <m:rPr>
                                  <m:sty m:val="p"/>
                                </m:rPr>
                                <a:rPr lang="es-MX" sz="1800" b="0" i="0" smtClean="0">
                                  <a:latin typeface="Cambria Math" panose="02040503050406030204" pitchFamily="18" charset="0"/>
                                  <a:ea typeface="Roboto" panose="02000000000000000000" pitchFamily="2" charset="0"/>
                                </a:rPr>
                                <m:t>cos</m:t>
                              </m:r>
                            </m:fName>
                            <m:e>
                              <m:r>
                                <a:rPr lang="es-MX" sz="1800" i="1">
                                  <a:latin typeface="Cambria Math" panose="02040503050406030204" pitchFamily="18" charset="0"/>
                                  <a:ea typeface="Roboto" panose="02000000000000000000" pitchFamily="2" charset="0"/>
                                </a:rPr>
                                <m:t>𝜃</m:t>
                              </m:r>
                            </m:e>
                          </m:func>
                        </m:den>
                      </m:f>
                      <m:r>
                        <a:rPr lang="es-MX" sz="1800" b="0" i="1" smtClean="0">
                          <a:latin typeface="Cambria Math" panose="02040503050406030204" pitchFamily="18" charset="0"/>
                          <a:ea typeface="Cambria Math" panose="02040503050406030204" pitchFamily="18" charset="0"/>
                        </a:rPr>
                        <m:t>=</m:t>
                      </m:r>
                      <m:func>
                        <m:funcPr>
                          <m:ctrlPr>
                            <a:rPr lang="es-MX" sz="1800" b="0" i="1" smtClean="0">
                              <a:latin typeface="Cambria Math" panose="02040503050406030204" pitchFamily="18" charset="0"/>
                              <a:ea typeface="Cambria Math" panose="02040503050406030204" pitchFamily="18" charset="0"/>
                            </a:rPr>
                          </m:ctrlPr>
                        </m:funcPr>
                        <m:fName>
                          <m:r>
                            <m:rPr>
                              <m:sty m:val="p"/>
                            </m:rPr>
                            <a:rPr lang="es-MX" sz="1800" b="0" i="0" smtClean="0">
                              <a:latin typeface="Cambria Math" panose="02040503050406030204" pitchFamily="18" charset="0"/>
                              <a:ea typeface="Cambria Math" panose="02040503050406030204" pitchFamily="18" charset="0"/>
                            </a:rPr>
                            <m:t>sen</m:t>
                          </m:r>
                        </m:fName>
                        <m:e>
                          <m:r>
                            <a:rPr lang="es-MX" sz="1800" b="0" i="1" smtClean="0">
                              <a:latin typeface="Cambria Math" panose="02040503050406030204" pitchFamily="18" charset="0"/>
                              <a:ea typeface="Cambria Math" panose="02040503050406030204" pitchFamily="18" charset="0"/>
                            </a:rPr>
                            <m:t>𝜃</m:t>
                          </m:r>
                        </m:e>
                      </m:func>
                      <m:func>
                        <m:funcPr>
                          <m:ctrlPr>
                            <a:rPr lang="es-MX" sz="1800" b="0" i="1" smtClean="0">
                              <a:latin typeface="Cambria Math" panose="02040503050406030204" pitchFamily="18" charset="0"/>
                              <a:ea typeface="Cambria Math" panose="02040503050406030204" pitchFamily="18" charset="0"/>
                            </a:rPr>
                          </m:ctrlPr>
                        </m:funcPr>
                        <m:fName>
                          <m:sSup>
                            <m:sSupPr>
                              <m:ctrlPr>
                                <a:rPr lang="es-MX" sz="1800" b="0" i="1" smtClean="0">
                                  <a:latin typeface="Cambria Math" panose="02040503050406030204" pitchFamily="18" charset="0"/>
                                  <a:ea typeface="Cambria Math" panose="02040503050406030204" pitchFamily="18" charset="0"/>
                                </a:rPr>
                              </m:ctrlPr>
                            </m:sSupPr>
                            <m:e>
                              <m:r>
                                <m:rPr>
                                  <m:sty m:val="p"/>
                                </m:rPr>
                                <a:rPr lang="es-MX" sz="1800" b="0" i="0" smtClean="0">
                                  <a:latin typeface="Cambria Math" panose="02040503050406030204" pitchFamily="18" charset="0"/>
                                  <a:ea typeface="Cambria Math" panose="02040503050406030204" pitchFamily="18" charset="0"/>
                                </a:rPr>
                                <m:t>sec</m:t>
                              </m:r>
                            </m:e>
                            <m:sup>
                              <m:r>
                                <a:rPr lang="es-MX" sz="1800" b="0" i="1" smtClean="0">
                                  <a:latin typeface="Cambria Math" panose="02040503050406030204" pitchFamily="18" charset="0"/>
                                  <a:ea typeface="Cambria Math" panose="02040503050406030204" pitchFamily="18" charset="0"/>
                                </a:rPr>
                                <m:t>2</m:t>
                              </m:r>
                            </m:sup>
                          </m:sSup>
                        </m:fName>
                        <m:e>
                          <m:r>
                            <a:rPr lang="es-MX" sz="1800" b="0" i="1" smtClean="0">
                              <a:latin typeface="Cambria Math" panose="02040503050406030204" pitchFamily="18" charset="0"/>
                              <a:ea typeface="Cambria Math" panose="02040503050406030204" pitchFamily="18" charset="0"/>
                            </a:rPr>
                            <m:t>𝜃</m:t>
                          </m:r>
                        </m:e>
                      </m:func>
                    </m:oMath>
                  </m:oMathPara>
                </a14:m>
                <a:endParaRPr lang="es-CO" dirty="0"/>
              </a:p>
            </p:txBody>
          </p:sp>
        </mc:Choice>
        <mc:Fallback>
          <p:sp>
            <p:nvSpPr>
              <p:cNvPr id="8" name="CuadroTexto 7">
                <a:extLst>
                  <a:ext uri="{FF2B5EF4-FFF2-40B4-BE49-F238E27FC236}">
                    <a16:creationId xmlns:a16="http://schemas.microsoft.com/office/drawing/2014/main" id="{4987544F-09A6-49E9-9EF3-E5B961871A80}"/>
                  </a:ext>
                </a:extLst>
              </p:cNvPr>
              <p:cNvSpPr txBox="1">
                <a:spLocks noRot="1" noChangeAspect="1" noMove="1" noResize="1" noEditPoints="1" noAdjustHandles="1" noChangeArrowheads="1" noChangeShapeType="1" noTextEdit="1"/>
              </p:cNvSpPr>
              <p:nvPr/>
            </p:nvSpPr>
            <p:spPr>
              <a:xfrm>
                <a:off x="2376220" y="2060678"/>
                <a:ext cx="3323772" cy="619657"/>
              </a:xfrm>
              <a:prstGeom prst="rect">
                <a:avLst/>
              </a:prstGeom>
              <a:blipFill>
                <a:blip r:embed="rId5"/>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1068161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360218" y="226581"/>
            <a:ext cx="10993581" cy="726075"/>
          </a:xfrm>
        </p:spPr>
        <p:txBody>
          <a:bodyPr/>
          <a:lstStyle/>
          <a:p>
            <a:r>
              <a:rPr lang="es-CO" dirty="0"/>
              <a:t>Enfoque axiomático</a:t>
            </a:r>
          </a:p>
        </p:txBody>
      </p:sp>
      <p:sp>
        <p:nvSpPr>
          <p:cNvPr id="8" name="CuadroTexto 7">
            <a:extLst>
              <a:ext uri="{FF2B5EF4-FFF2-40B4-BE49-F238E27FC236}">
                <a16:creationId xmlns:a16="http://schemas.microsoft.com/office/drawing/2014/main" id="{4AA62499-0A79-4DB4-96F0-1187366C5807}"/>
              </a:ext>
            </a:extLst>
          </p:cNvPr>
          <p:cNvSpPr txBox="1"/>
          <p:nvPr/>
        </p:nvSpPr>
        <p:spPr>
          <a:xfrm>
            <a:off x="360217" y="935494"/>
            <a:ext cx="11471565" cy="1631216"/>
          </a:xfrm>
          <a:prstGeom prst="rect">
            <a:avLst/>
          </a:prstGeom>
          <a:noFill/>
        </p:spPr>
        <p:txBody>
          <a:bodyPr wrap="square" rtlCol="0">
            <a:spAutoFit/>
          </a:bodyPr>
          <a:lstStyle/>
          <a:p>
            <a:pPr marL="457200" indent="-457200">
              <a:buFont typeface="Arial" panose="020B0604020202020204" pitchFamily="34" charset="0"/>
              <a:buChar char="•"/>
            </a:pPr>
            <a:r>
              <a:rPr lang="es-MX" sz="2000" dirty="0"/>
              <a:t>El </a:t>
            </a:r>
            <a:r>
              <a:rPr lang="es-MX" sz="2000" b="1" dirty="0"/>
              <a:t>enfoque axiomático</a:t>
            </a:r>
            <a:r>
              <a:rPr lang="es-MX" sz="2000" dirty="0"/>
              <a:t> se usa para llegar a demostraciones partiendo de axiomas, enunciados que se aceptan sin demostración como punto de partida, y construyendo sobre ellos una cadena de razonamiento —mediante reglas de inferencia— hasta llegar a conclusiones válidas.</a:t>
            </a:r>
            <a:endParaRPr lang="es-MX" sz="2000" dirty="0">
              <a:ea typeface="Roboto" panose="02000000000000000000" pitchFamily="2" charset="0"/>
            </a:endParaRPr>
          </a:p>
          <a:p>
            <a:pPr marL="457200" indent="-457200">
              <a:buFont typeface="Arial" panose="020B0604020202020204" pitchFamily="34" charset="0"/>
              <a:buChar char="•"/>
            </a:pPr>
            <a:r>
              <a:rPr lang="es-MX" sz="2000" dirty="0"/>
              <a:t>Para nuestro caso, el mecanismo de deducción lógica que ya conocemos no cambia. Lo que cambia es el conjunto de axiomas propios de este dominio, sobre los cuales aplicamos ese mismo mecanismo.</a:t>
            </a:r>
            <a:endParaRPr lang="es-MX" sz="2000" dirty="0">
              <a:ea typeface="Roboto" panose="02000000000000000000" pitchFamily="2" charset="0"/>
            </a:endParaRPr>
          </a:p>
        </p:txBody>
      </p:sp>
      <p:pic>
        <p:nvPicPr>
          <p:cNvPr id="7" name="Imagen 6">
            <a:extLst>
              <a:ext uri="{FF2B5EF4-FFF2-40B4-BE49-F238E27FC236}">
                <a16:creationId xmlns:a16="http://schemas.microsoft.com/office/drawing/2014/main" id="{AF11A50A-AB96-4CB0-BE85-CD161F1586E8}"/>
              </a:ext>
            </a:extLst>
          </p:cNvPr>
          <p:cNvPicPr>
            <a:picLocks noChangeAspect="1"/>
          </p:cNvPicPr>
          <p:nvPr/>
        </p:nvPicPr>
        <p:blipFill>
          <a:blip r:embed="rId2"/>
          <a:stretch>
            <a:fillRect/>
          </a:stretch>
        </p:blipFill>
        <p:spPr>
          <a:xfrm>
            <a:off x="2942587" y="2617368"/>
            <a:ext cx="6471145" cy="4143649"/>
          </a:xfrm>
          <a:prstGeom prst="rect">
            <a:avLst/>
          </a:prstGeom>
        </p:spPr>
      </p:pic>
    </p:spTree>
    <p:extLst>
      <p:ext uri="{BB962C8B-B14F-4D97-AF65-F5344CB8AC3E}">
        <p14:creationId xmlns:p14="http://schemas.microsoft.com/office/powerpoint/2010/main" val="2795101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290943" y="138452"/>
            <a:ext cx="10993581" cy="687820"/>
          </a:xfrm>
        </p:spPr>
        <p:txBody>
          <a:bodyPr>
            <a:normAutofit fontScale="90000"/>
          </a:bodyPr>
          <a:lstStyle/>
          <a:p>
            <a:r>
              <a:rPr lang="es-CO" dirty="0"/>
              <a:t>Enfoque axiomático</a:t>
            </a:r>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4AA62499-0A79-4DB4-96F0-1187366C5807}"/>
                  </a:ext>
                </a:extLst>
              </p:cNvPr>
              <p:cNvSpPr txBox="1"/>
              <p:nvPr/>
            </p:nvSpPr>
            <p:spPr>
              <a:xfrm>
                <a:off x="274990" y="677260"/>
                <a:ext cx="11471564" cy="1323439"/>
              </a:xfrm>
              <a:prstGeom prst="rect">
                <a:avLst/>
              </a:prstGeom>
              <a:noFill/>
            </p:spPr>
            <p:txBody>
              <a:bodyPr wrap="square" rtlCol="0">
                <a:spAutoFit/>
              </a:bodyPr>
              <a:lstStyle/>
              <a:p>
                <a:pPr marL="457200" indent="-457200">
                  <a:buFont typeface="Arial" panose="020B0604020202020204" pitchFamily="34" charset="0"/>
                  <a:buChar char="•"/>
                </a:pPr>
                <a:r>
                  <a:rPr lang="es-MX" sz="2000" dirty="0">
                    <a:ea typeface="Roboto" panose="02000000000000000000" pitchFamily="2" charset="0"/>
                  </a:rPr>
                  <a:t>Verificar por tabla de verdad es infalible, pero impráctico con muchas variables.</a:t>
                </a:r>
              </a:p>
              <a:p>
                <a:pPr marL="457200" indent="-457200">
                  <a:buFont typeface="Arial" panose="020B0604020202020204" pitchFamily="34" charset="0"/>
                  <a:buChar char="•"/>
                </a:pPr>
                <a:r>
                  <a:rPr lang="es-MX" sz="2000" dirty="0">
                    <a:ea typeface="Roboto" panose="02000000000000000000" pitchFamily="2" charset="0"/>
                  </a:rPr>
                  <a:t>Esta tabla es nuestra </a:t>
                </a:r>
                <a:r>
                  <a:rPr lang="es-MX" sz="2000" b="1" dirty="0">
                    <a:ea typeface="Roboto" panose="02000000000000000000" pitchFamily="2" charset="0"/>
                  </a:rPr>
                  <a:t>fuente de verdad</a:t>
                </a:r>
                <a:r>
                  <a:rPr lang="es-MX" sz="2000" dirty="0">
                    <a:ea typeface="Roboto" panose="02000000000000000000" pitchFamily="2" charset="0"/>
                  </a:rPr>
                  <a:t>: leyes ya demostradas, listas para usar sin repetir la prueba.</a:t>
                </a:r>
              </a:p>
              <a:p>
                <a:pPr marL="457200" indent="-457200">
                  <a:buFont typeface="Arial" panose="020B0604020202020204" pitchFamily="34" charset="0"/>
                  <a:buChar char="•"/>
                </a:pPr>
                <a:r>
                  <a:rPr lang="es-MX" sz="2000" dirty="0">
                    <a:ea typeface="Roboto" panose="02000000000000000000" pitchFamily="2" charset="0"/>
                  </a:rPr>
                  <a:t>Cada </a:t>
                </a:r>
                <a14:m>
                  <m:oMath xmlns:m="http://schemas.openxmlformats.org/officeDocument/2006/math">
                    <m:r>
                      <a:rPr lang="es-MX" sz="2000" i="1" dirty="0" smtClean="0">
                        <a:latin typeface="Cambria Math" panose="02040503050406030204" pitchFamily="18" charset="0"/>
                        <a:ea typeface="Roboto" panose="02000000000000000000" pitchFamily="2" charset="0"/>
                      </a:rPr>
                      <m:t>≡</m:t>
                    </m:r>
                  </m:oMath>
                </a14:m>
                <a:r>
                  <a:rPr lang="es-MX" sz="2000" dirty="0">
                    <a:ea typeface="Roboto" panose="02000000000000000000" pitchFamily="2" charset="0"/>
                  </a:rPr>
                  <a:t> se lee en ambos sentidos: expandir o factorizar.</a:t>
                </a:r>
              </a:p>
              <a:p>
                <a:pPr marL="457200" indent="-457200">
                  <a:buFont typeface="Arial" panose="020B0604020202020204" pitchFamily="34" charset="0"/>
                  <a:buChar char="•"/>
                </a:pPr>
                <a:r>
                  <a:rPr lang="es-MX" sz="2000" dirty="0">
                    <a:ea typeface="Roboto" panose="02000000000000000000" pitchFamily="2" charset="0"/>
                  </a:rPr>
                  <a:t>Son los </a:t>
                </a:r>
                <a:r>
                  <a:rPr lang="es-MX" sz="2000" b="1" dirty="0">
                    <a:ea typeface="Roboto" panose="02000000000000000000" pitchFamily="2" charset="0"/>
                  </a:rPr>
                  <a:t>ladrillos</a:t>
                </a:r>
                <a:r>
                  <a:rPr lang="es-MX" sz="2000" dirty="0">
                    <a:ea typeface="Roboto" panose="02000000000000000000" pitchFamily="2" charset="0"/>
                  </a:rPr>
                  <a:t> ya construidos de nuestro edificio matemático.</a:t>
                </a:r>
              </a:p>
            </p:txBody>
          </p:sp>
        </mc:Choice>
        <mc:Fallback>
          <p:sp>
            <p:nvSpPr>
              <p:cNvPr id="8" name="CuadroTexto 7">
                <a:extLst>
                  <a:ext uri="{FF2B5EF4-FFF2-40B4-BE49-F238E27FC236}">
                    <a16:creationId xmlns:a16="http://schemas.microsoft.com/office/drawing/2014/main" id="{4AA62499-0A79-4DB4-96F0-1187366C5807}"/>
                  </a:ext>
                </a:extLst>
              </p:cNvPr>
              <p:cNvSpPr txBox="1">
                <a:spLocks noRot="1" noChangeAspect="1" noMove="1" noResize="1" noEditPoints="1" noAdjustHandles="1" noChangeArrowheads="1" noChangeShapeType="1" noTextEdit="1"/>
              </p:cNvSpPr>
              <p:nvPr/>
            </p:nvSpPr>
            <p:spPr>
              <a:xfrm>
                <a:off x="274990" y="677260"/>
                <a:ext cx="11471564" cy="1323439"/>
              </a:xfrm>
              <a:prstGeom prst="rect">
                <a:avLst/>
              </a:prstGeom>
              <a:blipFill>
                <a:blip r:embed="rId2"/>
                <a:stretch>
                  <a:fillRect l="-478" t="-2304" b="-7373"/>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5" name="Tabla 3">
                <a:extLst>
                  <a:ext uri="{FF2B5EF4-FFF2-40B4-BE49-F238E27FC236}">
                    <a16:creationId xmlns:a16="http://schemas.microsoft.com/office/drawing/2014/main" id="{8B856B17-6589-4F1E-A049-8A5AF1216B97}"/>
                  </a:ext>
                </a:extLst>
              </p:cNvPr>
              <p:cNvGraphicFramePr>
                <a:graphicFrameLocks noGrp="1"/>
              </p:cNvGraphicFramePr>
              <p:nvPr>
                <p:extLst>
                  <p:ext uri="{D42A27DB-BD31-4B8C-83A1-F6EECF244321}">
                    <p14:modId xmlns:p14="http://schemas.microsoft.com/office/powerpoint/2010/main" val="4217262927"/>
                  </p:ext>
                </p:extLst>
              </p:nvPr>
            </p:nvGraphicFramePr>
            <p:xfrm>
              <a:off x="4923491" y="2043870"/>
              <a:ext cx="6996803" cy="4724400"/>
            </p:xfrm>
            <a:graphic>
              <a:graphicData uri="http://schemas.openxmlformats.org/drawingml/2006/table">
                <a:tbl>
                  <a:tblPr firstRow="1" bandRow="1"/>
                  <a:tblGrid>
                    <a:gridCol w="1656652">
                      <a:extLst>
                        <a:ext uri="{9D8B030D-6E8A-4147-A177-3AD203B41FA5}">
                          <a16:colId xmlns:a16="http://schemas.microsoft.com/office/drawing/2014/main" val="2419793140"/>
                        </a:ext>
                      </a:extLst>
                    </a:gridCol>
                    <a:gridCol w="2610807">
                      <a:extLst>
                        <a:ext uri="{9D8B030D-6E8A-4147-A177-3AD203B41FA5}">
                          <a16:colId xmlns:a16="http://schemas.microsoft.com/office/drawing/2014/main" val="2761119023"/>
                        </a:ext>
                      </a:extLst>
                    </a:gridCol>
                    <a:gridCol w="2729344">
                      <a:extLst>
                        <a:ext uri="{9D8B030D-6E8A-4147-A177-3AD203B41FA5}">
                          <a16:colId xmlns:a16="http://schemas.microsoft.com/office/drawing/2014/main" val="180266477"/>
                        </a:ext>
                      </a:extLst>
                    </a:gridCol>
                  </a:tblGrid>
                  <a:tr h="240703">
                    <a:tc>
                      <a:txBody>
                        <a:bodyPr/>
                        <a:lstStyle/>
                        <a:p>
                          <a:r>
                            <a:rPr lang="es-CO" sz="1800" b="1" dirty="0">
                              <a:latin typeface="+mn-lt"/>
                              <a:ea typeface="Roboto" panose="02000000000000000000" pitchFamily="2" charset="0"/>
                            </a:rPr>
                            <a:t>Nombre</a:t>
                          </a:r>
                        </a:p>
                      </a:txBody>
                      <a:tcPr>
                        <a:solidFill>
                          <a:schemeClr val="bg2"/>
                        </a:solidFill>
                      </a:tcPr>
                    </a:tc>
                    <a:tc gridSpan="2">
                      <a:txBody>
                        <a:bodyPr/>
                        <a:lstStyle/>
                        <a:p>
                          <a:pPr algn="ctr"/>
                          <a:r>
                            <a:rPr lang="es-CO" sz="180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218821">
                    <a:tc>
                      <a:txBody>
                        <a:bodyPr/>
                        <a:lstStyle/>
                        <a:p>
                          <a:r>
                            <a:rPr lang="es-CO" sz="1600" b="1" dirty="0">
                              <a:latin typeface="+mn-lt"/>
                              <a:ea typeface="Roboto" panose="02000000000000000000" pitchFamily="2" charset="0"/>
                            </a:rPr>
                            <a:t>Conmutatividad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Roboto" panose="02000000000000000000" pitchFamily="2"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Roboto" panose="02000000000000000000" pitchFamily="2"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54515760"/>
                      </a:ext>
                    </a:extLst>
                  </a:tr>
                  <a:tr h="218821">
                    <a:tc>
                      <a:txBody>
                        <a:bodyPr/>
                        <a:lstStyle/>
                        <a:p>
                          <a:r>
                            <a:rPr lang="es-CO" sz="1600" b="1" dirty="0">
                              <a:latin typeface="+mn-lt"/>
                              <a:ea typeface="Roboto" panose="02000000000000000000" pitchFamily="2" charset="0"/>
                            </a:rPr>
                            <a:t>Asociatividad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913743916"/>
                      </a:ext>
                    </a:extLst>
                  </a:tr>
                  <a:tr h="218821">
                    <a:tc>
                      <a:txBody>
                        <a:bodyPr/>
                        <a:lstStyle/>
                        <a:p>
                          <a:r>
                            <a:rPr lang="es-CO" sz="1600" b="1" dirty="0">
                              <a:latin typeface="+mn-lt"/>
                              <a:ea typeface="Roboto" panose="02000000000000000000" pitchFamily="2" charset="0"/>
                            </a:rPr>
                            <a:t>Distributividad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𝑅</m:t>
                                    </m:r>
                                  </m:e>
                                </m:d>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17401643"/>
                      </a:ext>
                    </a:extLst>
                  </a:tr>
                  <a:tr h="218821">
                    <a:tc>
                      <a:txBody>
                        <a:bodyPr/>
                        <a:lstStyle/>
                        <a:p>
                          <a:r>
                            <a:rPr lang="es-CO" sz="1600" b="1" dirty="0">
                              <a:latin typeface="+mn-lt"/>
                              <a:ea typeface="Roboto" panose="02000000000000000000" pitchFamily="2" charset="0"/>
                            </a:rPr>
                            <a:t>Idempotencia</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46818852"/>
                      </a:ext>
                    </a:extLst>
                  </a:tr>
                  <a:tr h="218821">
                    <a:tc>
                      <a:txBody>
                        <a:bodyPr/>
                        <a:lstStyle/>
                        <a:p>
                          <a:r>
                            <a:rPr lang="es-CO" sz="1600" b="1" dirty="0">
                              <a:latin typeface="+mn-lt"/>
                              <a:ea typeface="Roboto" panose="02000000000000000000" pitchFamily="2" charset="0"/>
                            </a:rPr>
                            <a:t>Doble negación</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88149062"/>
                      </a:ext>
                    </a:extLst>
                  </a:tr>
                  <a:tr h="218821">
                    <a:tc>
                      <a:txBody>
                        <a:bodyPr/>
                        <a:lstStyle/>
                        <a:p>
                          <a:r>
                            <a:rPr lang="es-CO" sz="1600" b="1" dirty="0">
                              <a:latin typeface="+mn-lt"/>
                              <a:ea typeface="Roboto" panose="02000000000000000000" pitchFamily="2" charset="0"/>
                            </a:rPr>
                            <a:t>Leyes de Morgan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oMath>
                            </m:oMathPara>
                          </a14:m>
                          <a:endParaRPr lang="es-CO" sz="14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13060234"/>
                      </a:ext>
                    </a:extLst>
                  </a:tr>
                  <a:tr h="218821">
                    <a:tc>
                      <a:txBody>
                        <a:bodyPr/>
                        <a:lstStyle/>
                        <a:p>
                          <a:r>
                            <a:rPr lang="es-CO" sz="1600" b="1" dirty="0">
                              <a:latin typeface="+mn-lt"/>
                              <a:ea typeface="Roboto" panose="02000000000000000000" pitchFamily="2" charset="0"/>
                            </a:rPr>
                            <a:t>Identidad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𝑽</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𝑭</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494965197"/>
                      </a:ext>
                    </a:extLst>
                  </a:tr>
                  <a:tr h="218821">
                    <a:tc>
                      <a:txBody>
                        <a:bodyPr/>
                        <a:lstStyle/>
                        <a:p>
                          <a:r>
                            <a:rPr lang="es-CO" sz="1600" b="1" dirty="0">
                              <a:latin typeface="+mn-lt"/>
                              <a:ea typeface="Roboto" panose="02000000000000000000" pitchFamily="2" charset="0"/>
                            </a:rPr>
                            <a:t>Dominación</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𝑭</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𝑭</m:t>
                                </m:r>
                              </m:oMath>
                            </m:oMathPara>
                          </a14:m>
                          <a:endParaRPr lang="es-CO" sz="14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𝑽</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𝑽</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07485840"/>
                      </a:ext>
                    </a:extLst>
                  </a:tr>
                  <a:tr h="218821">
                    <a:tc>
                      <a:txBody>
                        <a:bodyPr/>
                        <a:lstStyle/>
                        <a:p>
                          <a:r>
                            <a:rPr lang="es-CO" sz="1600" b="1" dirty="0">
                              <a:latin typeface="+mn-lt"/>
                              <a:ea typeface="Roboto" panose="02000000000000000000" pitchFamily="2" charset="0"/>
                            </a:rPr>
                            <a:t>Absorción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232652958"/>
                      </a:ext>
                    </a:extLst>
                  </a:tr>
                  <a:tr h="218821">
                    <a:tc>
                      <a:txBody>
                        <a:bodyPr/>
                        <a:lstStyle/>
                        <a:p>
                          <a:r>
                            <a:rPr lang="es-CO" sz="1600" b="1" dirty="0">
                              <a:latin typeface="+mn-lt"/>
                              <a:ea typeface="Roboto" panose="02000000000000000000" pitchFamily="2" charset="0"/>
                            </a:rPr>
                            <a:t>Complemento</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𝑭</m:t>
                                </m:r>
                              </m:oMath>
                            </m:oMathPara>
                          </a14:m>
                          <a:endParaRPr lang="es-CO" sz="1400" b="1"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1" i="1" smtClean="0">
                                    <a:latin typeface="Cambria Math" panose="02040503050406030204" pitchFamily="18" charset="0"/>
                                    <a:ea typeface="Cambria Math" panose="02040503050406030204" pitchFamily="18" charset="0"/>
                                  </a:rPr>
                                  <m:t>𝑽</m:t>
                                </m:r>
                              </m:oMath>
                            </m:oMathPara>
                          </a14:m>
                          <a:endParaRPr lang="es-CO" sz="14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70911309"/>
                      </a:ext>
                    </a:extLst>
                  </a:tr>
                  <a:tr h="218821">
                    <a:tc>
                      <a:txBody>
                        <a:bodyPr/>
                        <a:lstStyle/>
                        <a:p>
                          <a:r>
                            <a:rPr lang="es-CO" sz="1600" b="1" dirty="0">
                              <a:latin typeface="+mn-lt"/>
                              <a:ea typeface="Roboto" panose="02000000000000000000" pitchFamily="2" charset="0"/>
                            </a:rPr>
                            <a:t>Implicación</a:t>
                          </a:r>
                        </a:p>
                      </a:txBody>
                      <a:tcPr>
                        <a:solidFill>
                          <a:schemeClr val="bg2"/>
                        </a:solidFill>
                      </a:tcPr>
                    </a:tc>
                    <a:tc gridSpan="2">
                      <a:txBody>
                        <a:bodyPr/>
                        <a:lstStyle/>
                        <a:p>
                          <a:pPr algn="ct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Roboto" panose="02000000000000000000" pitchFamily="2" charset="0"/>
                                  </a:rPr>
                                  <m:t>→</m:t>
                                </m:r>
                                <m:r>
                                  <a:rPr lang="es-MX" sz="1400" b="0" i="1" smtClean="0">
                                    <a:latin typeface="Cambria Math" panose="02040503050406030204" pitchFamily="18" charset="0"/>
                                    <a:ea typeface="Roboto" panose="02000000000000000000" pitchFamily="2"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oMath>
                            </m:oMathPara>
                          </a14:m>
                          <a:endParaRPr lang="es-CO" sz="14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483938044"/>
                      </a:ext>
                    </a:extLst>
                  </a:tr>
                  <a:tr h="218821">
                    <a:tc>
                      <a:txBody>
                        <a:bodyPr/>
                        <a:lstStyle/>
                        <a:p>
                          <a:r>
                            <a:rPr lang="es-CO" sz="1600" b="1" dirty="0">
                              <a:latin typeface="+mn-lt"/>
                              <a:ea typeface="Roboto" panose="02000000000000000000" pitchFamily="2" charset="0"/>
                            </a:rPr>
                            <a:t>Contrarrecíproco</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Roboto" panose="02000000000000000000" pitchFamily="2" charset="0"/>
                                  </a:rPr>
                                  <m:t>→</m:t>
                                </m:r>
                                <m:r>
                                  <a:rPr lang="es-MX" sz="1400" b="0" i="1" smtClean="0">
                                    <a:latin typeface="Cambria Math" panose="02040503050406030204" pitchFamily="18" charset="0"/>
                                    <a:ea typeface="Roboto" panose="02000000000000000000" pitchFamily="2"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oMath>
                            </m:oMathPara>
                          </a14:m>
                          <a:endParaRPr lang="es-CO" sz="14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255506134"/>
                      </a:ext>
                    </a:extLst>
                  </a:tr>
                  <a:tr h="218821">
                    <a:tc>
                      <a:txBody>
                        <a:bodyPr/>
                        <a:lstStyle/>
                        <a:p>
                          <a:r>
                            <a:rPr lang="es-CO" sz="1600" b="1" dirty="0">
                              <a:latin typeface="+mn-lt"/>
                              <a:ea typeface="Roboto" panose="02000000000000000000" pitchFamily="2" charset="0"/>
                            </a:rPr>
                            <a:t>Equivalencia</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Roboto" panose="02000000000000000000" pitchFamily="2"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𝑄</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𝑃</m:t>
                                    </m:r>
                                  </m:e>
                                </m:d>
                              </m:oMath>
                            </m:oMathPara>
                          </a14:m>
                          <a:endParaRPr lang="es-CO" sz="14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40457137"/>
                      </a:ext>
                    </a:extLst>
                  </a:tr>
                </a:tbl>
              </a:graphicData>
            </a:graphic>
          </p:graphicFrame>
        </mc:Choice>
        <mc:Fallback>
          <p:graphicFrame>
            <p:nvGraphicFramePr>
              <p:cNvPr id="5" name="Tabla 3">
                <a:extLst>
                  <a:ext uri="{FF2B5EF4-FFF2-40B4-BE49-F238E27FC236}">
                    <a16:creationId xmlns:a16="http://schemas.microsoft.com/office/drawing/2014/main" id="{8B856B17-6589-4F1E-A049-8A5AF1216B97}"/>
                  </a:ext>
                </a:extLst>
              </p:cNvPr>
              <p:cNvGraphicFramePr>
                <a:graphicFrameLocks noGrp="1"/>
              </p:cNvGraphicFramePr>
              <p:nvPr>
                <p:extLst>
                  <p:ext uri="{D42A27DB-BD31-4B8C-83A1-F6EECF244321}">
                    <p14:modId xmlns:p14="http://schemas.microsoft.com/office/powerpoint/2010/main" val="4217262927"/>
                  </p:ext>
                </p:extLst>
              </p:nvPr>
            </p:nvGraphicFramePr>
            <p:xfrm>
              <a:off x="4923491" y="2043870"/>
              <a:ext cx="6996803" cy="4724400"/>
            </p:xfrm>
            <a:graphic>
              <a:graphicData uri="http://schemas.openxmlformats.org/drawingml/2006/table">
                <a:tbl>
                  <a:tblPr firstRow="1" bandRow="1"/>
                  <a:tblGrid>
                    <a:gridCol w="1656652">
                      <a:extLst>
                        <a:ext uri="{9D8B030D-6E8A-4147-A177-3AD203B41FA5}">
                          <a16:colId xmlns:a16="http://schemas.microsoft.com/office/drawing/2014/main" val="2419793140"/>
                        </a:ext>
                      </a:extLst>
                    </a:gridCol>
                    <a:gridCol w="2610807">
                      <a:extLst>
                        <a:ext uri="{9D8B030D-6E8A-4147-A177-3AD203B41FA5}">
                          <a16:colId xmlns:a16="http://schemas.microsoft.com/office/drawing/2014/main" val="2761119023"/>
                        </a:ext>
                      </a:extLst>
                    </a:gridCol>
                    <a:gridCol w="2729344">
                      <a:extLst>
                        <a:ext uri="{9D8B030D-6E8A-4147-A177-3AD203B41FA5}">
                          <a16:colId xmlns:a16="http://schemas.microsoft.com/office/drawing/2014/main" val="180266477"/>
                        </a:ext>
                      </a:extLst>
                    </a:gridCol>
                  </a:tblGrid>
                  <a:tr h="365760">
                    <a:tc>
                      <a:txBody>
                        <a:bodyPr/>
                        <a:lstStyle/>
                        <a:p>
                          <a:r>
                            <a:rPr lang="es-CO" sz="1800" b="1" dirty="0">
                              <a:latin typeface="+mn-lt"/>
                              <a:ea typeface="Roboto" panose="02000000000000000000" pitchFamily="2" charset="0"/>
                            </a:rPr>
                            <a:t>Nombre</a:t>
                          </a:r>
                        </a:p>
                      </a:txBody>
                      <a:tcPr>
                        <a:solidFill>
                          <a:schemeClr val="bg2"/>
                        </a:solidFill>
                      </a:tcPr>
                    </a:tc>
                    <a:tc gridSpan="2">
                      <a:txBody>
                        <a:bodyPr/>
                        <a:lstStyle/>
                        <a:p>
                          <a:pPr algn="ctr"/>
                          <a:r>
                            <a:rPr lang="es-CO" sz="180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335280">
                    <a:tc>
                      <a:txBody>
                        <a:bodyPr/>
                        <a:lstStyle/>
                        <a:p>
                          <a:r>
                            <a:rPr lang="es-CO" sz="1600" b="1" dirty="0">
                              <a:latin typeface="+mn-lt"/>
                              <a:ea typeface="Roboto" panose="02000000000000000000" pitchFamily="2" charset="0"/>
                            </a:rPr>
                            <a:t>Conmutatividad</a:t>
                          </a:r>
                        </a:p>
                      </a:txBody>
                      <a:tcPr>
                        <a:solidFill>
                          <a:schemeClr val="bg2"/>
                        </a:solidFill>
                      </a:tcPr>
                    </a:tc>
                    <a:tc>
                      <a:txBody>
                        <a:bodyPr/>
                        <a:lstStyle/>
                        <a:p>
                          <a:endParaRPr lang="es-CO"/>
                        </a:p>
                      </a:txBody>
                      <a:tcPr>
                        <a:blipFill>
                          <a:blip r:embed="rId3"/>
                          <a:stretch>
                            <a:fillRect l="-63636" t="-118182" r="-104895" b="-1223636"/>
                          </a:stretch>
                        </a:blipFill>
                      </a:tcPr>
                    </a:tc>
                    <a:tc>
                      <a:txBody>
                        <a:bodyPr/>
                        <a:lstStyle/>
                        <a:p>
                          <a:endParaRPr lang="es-CO"/>
                        </a:p>
                      </a:txBody>
                      <a:tcPr>
                        <a:blipFill>
                          <a:blip r:embed="rId3"/>
                          <a:stretch>
                            <a:fillRect l="-156696" t="-118182" r="-446" b="-1223636"/>
                          </a:stretch>
                        </a:blipFill>
                      </a:tcPr>
                    </a:tc>
                    <a:extLst>
                      <a:ext uri="{0D108BD9-81ED-4DB2-BD59-A6C34878D82A}">
                        <a16:rowId xmlns:a16="http://schemas.microsoft.com/office/drawing/2014/main" val="3154515760"/>
                      </a:ext>
                    </a:extLst>
                  </a:tr>
                  <a:tr h="335280">
                    <a:tc>
                      <a:txBody>
                        <a:bodyPr/>
                        <a:lstStyle/>
                        <a:p>
                          <a:r>
                            <a:rPr lang="es-CO" sz="1600" b="1" dirty="0">
                              <a:latin typeface="+mn-lt"/>
                              <a:ea typeface="Roboto" panose="02000000000000000000" pitchFamily="2" charset="0"/>
                            </a:rPr>
                            <a:t>Asociatividad</a:t>
                          </a:r>
                        </a:p>
                      </a:txBody>
                      <a:tcPr>
                        <a:solidFill>
                          <a:schemeClr val="bg2"/>
                        </a:solidFill>
                      </a:tcPr>
                    </a:tc>
                    <a:tc>
                      <a:txBody>
                        <a:bodyPr/>
                        <a:lstStyle/>
                        <a:p>
                          <a:endParaRPr lang="es-CO"/>
                        </a:p>
                      </a:txBody>
                      <a:tcPr>
                        <a:blipFill>
                          <a:blip r:embed="rId3"/>
                          <a:stretch>
                            <a:fillRect l="-63636" t="-218182" r="-104895" b="-1123636"/>
                          </a:stretch>
                        </a:blipFill>
                      </a:tcPr>
                    </a:tc>
                    <a:tc>
                      <a:txBody>
                        <a:bodyPr/>
                        <a:lstStyle/>
                        <a:p>
                          <a:endParaRPr lang="es-CO"/>
                        </a:p>
                      </a:txBody>
                      <a:tcPr>
                        <a:blipFill>
                          <a:blip r:embed="rId3"/>
                          <a:stretch>
                            <a:fillRect l="-156696" t="-218182" r="-446" b="-1123636"/>
                          </a:stretch>
                        </a:blipFill>
                      </a:tcPr>
                    </a:tc>
                    <a:extLst>
                      <a:ext uri="{0D108BD9-81ED-4DB2-BD59-A6C34878D82A}">
                        <a16:rowId xmlns:a16="http://schemas.microsoft.com/office/drawing/2014/main" val="1913743916"/>
                      </a:ext>
                    </a:extLst>
                  </a:tr>
                  <a:tr h="335280">
                    <a:tc>
                      <a:txBody>
                        <a:bodyPr/>
                        <a:lstStyle/>
                        <a:p>
                          <a:r>
                            <a:rPr lang="es-CO" sz="1600" b="1" dirty="0">
                              <a:latin typeface="+mn-lt"/>
                              <a:ea typeface="Roboto" panose="02000000000000000000" pitchFamily="2" charset="0"/>
                            </a:rPr>
                            <a:t>Distributividad</a:t>
                          </a:r>
                        </a:p>
                      </a:txBody>
                      <a:tcPr>
                        <a:solidFill>
                          <a:schemeClr val="bg2"/>
                        </a:solidFill>
                      </a:tcPr>
                    </a:tc>
                    <a:tc>
                      <a:txBody>
                        <a:bodyPr/>
                        <a:lstStyle/>
                        <a:p>
                          <a:endParaRPr lang="es-CO"/>
                        </a:p>
                      </a:txBody>
                      <a:tcPr>
                        <a:blipFill>
                          <a:blip r:embed="rId3"/>
                          <a:stretch>
                            <a:fillRect l="-63636" t="-318182" r="-104895" b="-1023636"/>
                          </a:stretch>
                        </a:blipFill>
                      </a:tcPr>
                    </a:tc>
                    <a:tc>
                      <a:txBody>
                        <a:bodyPr/>
                        <a:lstStyle/>
                        <a:p>
                          <a:endParaRPr lang="es-CO"/>
                        </a:p>
                      </a:txBody>
                      <a:tcPr>
                        <a:blipFill>
                          <a:blip r:embed="rId3"/>
                          <a:stretch>
                            <a:fillRect l="-156696" t="-318182" r="-446" b="-1023636"/>
                          </a:stretch>
                        </a:blipFill>
                      </a:tcPr>
                    </a:tc>
                    <a:extLst>
                      <a:ext uri="{0D108BD9-81ED-4DB2-BD59-A6C34878D82A}">
                        <a16:rowId xmlns:a16="http://schemas.microsoft.com/office/drawing/2014/main" val="717401643"/>
                      </a:ext>
                    </a:extLst>
                  </a:tr>
                  <a:tr h="335280">
                    <a:tc>
                      <a:txBody>
                        <a:bodyPr/>
                        <a:lstStyle/>
                        <a:p>
                          <a:r>
                            <a:rPr lang="es-CO" sz="1600" b="1" dirty="0">
                              <a:latin typeface="+mn-lt"/>
                              <a:ea typeface="Roboto" panose="02000000000000000000" pitchFamily="2" charset="0"/>
                            </a:rPr>
                            <a:t>Idempotencia</a:t>
                          </a:r>
                        </a:p>
                      </a:txBody>
                      <a:tcPr>
                        <a:solidFill>
                          <a:schemeClr val="bg2"/>
                        </a:solidFill>
                      </a:tcPr>
                    </a:tc>
                    <a:tc>
                      <a:txBody>
                        <a:bodyPr/>
                        <a:lstStyle/>
                        <a:p>
                          <a:endParaRPr lang="es-CO"/>
                        </a:p>
                      </a:txBody>
                      <a:tcPr>
                        <a:blipFill>
                          <a:blip r:embed="rId3"/>
                          <a:stretch>
                            <a:fillRect l="-63636" t="-418182" r="-104895" b="-923636"/>
                          </a:stretch>
                        </a:blipFill>
                      </a:tcPr>
                    </a:tc>
                    <a:tc>
                      <a:txBody>
                        <a:bodyPr/>
                        <a:lstStyle/>
                        <a:p>
                          <a:endParaRPr lang="es-CO"/>
                        </a:p>
                      </a:txBody>
                      <a:tcPr>
                        <a:blipFill>
                          <a:blip r:embed="rId3"/>
                          <a:stretch>
                            <a:fillRect l="-156696" t="-418182" r="-446" b="-923636"/>
                          </a:stretch>
                        </a:blipFill>
                      </a:tcPr>
                    </a:tc>
                    <a:extLst>
                      <a:ext uri="{0D108BD9-81ED-4DB2-BD59-A6C34878D82A}">
                        <a16:rowId xmlns:a16="http://schemas.microsoft.com/office/drawing/2014/main" val="2246818852"/>
                      </a:ext>
                    </a:extLst>
                  </a:tr>
                  <a:tr h="335280">
                    <a:tc>
                      <a:txBody>
                        <a:bodyPr/>
                        <a:lstStyle/>
                        <a:p>
                          <a:r>
                            <a:rPr lang="es-CO" sz="1600" b="1" dirty="0">
                              <a:latin typeface="+mn-lt"/>
                              <a:ea typeface="Roboto" panose="02000000000000000000" pitchFamily="2" charset="0"/>
                            </a:rPr>
                            <a:t>Doble negación</a:t>
                          </a:r>
                        </a:p>
                      </a:txBody>
                      <a:tcPr>
                        <a:solidFill>
                          <a:schemeClr val="bg2"/>
                        </a:solidFill>
                      </a:tcPr>
                    </a:tc>
                    <a:tc gridSpan="2">
                      <a:txBody>
                        <a:bodyPr/>
                        <a:lstStyle/>
                        <a:p>
                          <a:endParaRPr lang="es-CO"/>
                        </a:p>
                      </a:txBody>
                      <a:tcPr>
                        <a:blipFill>
                          <a:blip r:embed="rId3"/>
                          <a:stretch>
                            <a:fillRect l="-31129" t="-518182" r="-228" b="-823636"/>
                          </a:stretch>
                        </a:blipFill>
                      </a:tcPr>
                    </a:tc>
                    <a:tc hMerge="1">
                      <a:txBody>
                        <a:bodyPr/>
                        <a:lstStyle/>
                        <a:p>
                          <a:endParaRPr lang="es-CO"/>
                        </a:p>
                      </a:txBody>
                      <a:tcPr/>
                    </a:tc>
                    <a:extLst>
                      <a:ext uri="{0D108BD9-81ED-4DB2-BD59-A6C34878D82A}">
                        <a16:rowId xmlns:a16="http://schemas.microsoft.com/office/drawing/2014/main" val="88149062"/>
                      </a:ext>
                    </a:extLst>
                  </a:tr>
                  <a:tr h="335280">
                    <a:tc>
                      <a:txBody>
                        <a:bodyPr/>
                        <a:lstStyle/>
                        <a:p>
                          <a:r>
                            <a:rPr lang="es-CO" sz="1600" b="1" dirty="0">
                              <a:latin typeface="+mn-lt"/>
                              <a:ea typeface="Roboto" panose="02000000000000000000" pitchFamily="2" charset="0"/>
                            </a:rPr>
                            <a:t>Leyes de Morgan</a:t>
                          </a:r>
                        </a:p>
                      </a:txBody>
                      <a:tcPr>
                        <a:solidFill>
                          <a:schemeClr val="bg2"/>
                        </a:solidFill>
                      </a:tcPr>
                    </a:tc>
                    <a:tc>
                      <a:txBody>
                        <a:bodyPr/>
                        <a:lstStyle/>
                        <a:p>
                          <a:endParaRPr lang="es-CO"/>
                        </a:p>
                      </a:txBody>
                      <a:tcPr>
                        <a:blipFill>
                          <a:blip r:embed="rId3"/>
                          <a:stretch>
                            <a:fillRect l="-63636" t="-607143" r="-104895" b="-708929"/>
                          </a:stretch>
                        </a:blipFill>
                      </a:tcPr>
                    </a:tc>
                    <a:tc>
                      <a:txBody>
                        <a:bodyPr/>
                        <a:lstStyle/>
                        <a:p>
                          <a:endParaRPr lang="es-CO"/>
                        </a:p>
                      </a:txBody>
                      <a:tcPr>
                        <a:blipFill>
                          <a:blip r:embed="rId3"/>
                          <a:stretch>
                            <a:fillRect l="-156696" t="-607143" r="-446" b="-708929"/>
                          </a:stretch>
                        </a:blipFill>
                      </a:tcPr>
                    </a:tc>
                    <a:extLst>
                      <a:ext uri="{0D108BD9-81ED-4DB2-BD59-A6C34878D82A}">
                        <a16:rowId xmlns:a16="http://schemas.microsoft.com/office/drawing/2014/main" val="2113060234"/>
                      </a:ext>
                    </a:extLst>
                  </a:tr>
                  <a:tr h="335280">
                    <a:tc>
                      <a:txBody>
                        <a:bodyPr/>
                        <a:lstStyle/>
                        <a:p>
                          <a:r>
                            <a:rPr lang="es-CO" sz="1600" b="1" dirty="0">
                              <a:latin typeface="+mn-lt"/>
                              <a:ea typeface="Roboto" panose="02000000000000000000" pitchFamily="2" charset="0"/>
                            </a:rPr>
                            <a:t>Identidad</a:t>
                          </a:r>
                        </a:p>
                      </a:txBody>
                      <a:tcPr>
                        <a:solidFill>
                          <a:schemeClr val="bg2"/>
                        </a:solidFill>
                      </a:tcPr>
                    </a:tc>
                    <a:tc>
                      <a:txBody>
                        <a:bodyPr/>
                        <a:lstStyle/>
                        <a:p>
                          <a:endParaRPr lang="es-CO"/>
                        </a:p>
                      </a:txBody>
                      <a:tcPr>
                        <a:blipFill>
                          <a:blip r:embed="rId3"/>
                          <a:stretch>
                            <a:fillRect l="-63636" t="-720000" r="-104895" b="-621818"/>
                          </a:stretch>
                        </a:blipFill>
                      </a:tcPr>
                    </a:tc>
                    <a:tc>
                      <a:txBody>
                        <a:bodyPr/>
                        <a:lstStyle/>
                        <a:p>
                          <a:endParaRPr lang="es-CO"/>
                        </a:p>
                      </a:txBody>
                      <a:tcPr>
                        <a:blipFill>
                          <a:blip r:embed="rId3"/>
                          <a:stretch>
                            <a:fillRect l="-156696" t="-720000" r="-446" b="-621818"/>
                          </a:stretch>
                        </a:blipFill>
                      </a:tcPr>
                    </a:tc>
                    <a:extLst>
                      <a:ext uri="{0D108BD9-81ED-4DB2-BD59-A6C34878D82A}">
                        <a16:rowId xmlns:a16="http://schemas.microsoft.com/office/drawing/2014/main" val="2494965197"/>
                      </a:ext>
                    </a:extLst>
                  </a:tr>
                  <a:tr h="335280">
                    <a:tc>
                      <a:txBody>
                        <a:bodyPr/>
                        <a:lstStyle/>
                        <a:p>
                          <a:r>
                            <a:rPr lang="es-CO" sz="1600" b="1" dirty="0">
                              <a:latin typeface="+mn-lt"/>
                              <a:ea typeface="Roboto" panose="02000000000000000000" pitchFamily="2" charset="0"/>
                            </a:rPr>
                            <a:t>Dominación</a:t>
                          </a:r>
                        </a:p>
                      </a:txBody>
                      <a:tcPr>
                        <a:solidFill>
                          <a:schemeClr val="bg2"/>
                        </a:solidFill>
                      </a:tcPr>
                    </a:tc>
                    <a:tc>
                      <a:txBody>
                        <a:bodyPr/>
                        <a:lstStyle/>
                        <a:p>
                          <a:endParaRPr lang="es-CO"/>
                        </a:p>
                      </a:txBody>
                      <a:tcPr>
                        <a:blipFill>
                          <a:blip r:embed="rId3"/>
                          <a:stretch>
                            <a:fillRect l="-63636" t="-820000" r="-104895" b="-521818"/>
                          </a:stretch>
                        </a:blipFill>
                      </a:tcPr>
                    </a:tc>
                    <a:tc>
                      <a:txBody>
                        <a:bodyPr/>
                        <a:lstStyle/>
                        <a:p>
                          <a:endParaRPr lang="es-CO"/>
                        </a:p>
                      </a:txBody>
                      <a:tcPr>
                        <a:blipFill>
                          <a:blip r:embed="rId3"/>
                          <a:stretch>
                            <a:fillRect l="-156696" t="-820000" r="-446" b="-521818"/>
                          </a:stretch>
                        </a:blipFill>
                      </a:tcPr>
                    </a:tc>
                    <a:extLst>
                      <a:ext uri="{0D108BD9-81ED-4DB2-BD59-A6C34878D82A}">
                        <a16:rowId xmlns:a16="http://schemas.microsoft.com/office/drawing/2014/main" val="707485840"/>
                      </a:ext>
                    </a:extLst>
                  </a:tr>
                  <a:tr h="335280">
                    <a:tc>
                      <a:txBody>
                        <a:bodyPr/>
                        <a:lstStyle/>
                        <a:p>
                          <a:r>
                            <a:rPr lang="es-CO" sz="1600" b="1" dirty="0">
                              <a:latin typeface="+mn-lt"/>
                              <a:ea typeface="Roboto" panose="02000000000000000000" pitchFamily="2" charset="0"/>
                            </a:rPr>
                            <a:t>Absorción</a:t>
                          </a:r>
                        </a:p>
                      </a:txBody>
                      <a:tcPr>
                        <a:solidFill>
                          <a:schemeClr val="bg2"/>
                        </a:solidFill>
                      </a:tcPr>
                    </a:tc>
                    <a:tc>
                      <a:txBody>
                        <a:bodyPr/>
                        <a:lstStyle/>
                        <a:p>
                          <a:endParaRPr lang="es-CO"/>
                        </a:p>
                      </a:txBody>
                      <a:tcPr>
                        <a:blipFill>
                          <a:blip r:embed="rId3"/>
                          <a:stretch>
                            <a:fillRect l="-63636" t="-920000" r="-104895" b="-421818"/>
                          </a:stretch>
                        </a:blipFill>
                      </a:tcPr>
                    </a:tc>
                    <a:tc>
                      <a:txBody>
                        <a:bodyPr/>
                        <a:lstStyle/>
                        <a:p>
                          <a:endParaRPr lang="es-CO"/>
                        </a:p>
                      </a:txBody>
                      <a:tcPr>
                        <a:blipFill>
                          <a:blip r:embed="rId3"/>
                          <a:stretch>
                            <a:fillRect l="-156696" t="-920000" r="-446" b="-421818"/>
                          </a:stretch>
                        </a:blipFill>
                      </a:tcPr>
                    </a:tc>
                    <a:extLst>
                      <a:ext uri="{0D108BD9-81ED-4DB2-BD59-A6C34878D82A}">
                        <a16:rowId xmlns:a16="http://schemas.microsoft.com/office/drawing/2014/main" val="1232652958"/>
                      </a:ext>
                    </a:extLst>
                  </a:tr>
                  <a:tr h="335280">
                    <a:tc>
                      <a:txBody>
                        <a:bodyPr/>
                        <a:lstStyle/>
                        <a:p>
                          <a:r>
                            <a:rPr lang="es-CO" sz="1600" b="1" dirty="0">
                              <a:latin typeface="+mn-lt"/>
                              <a:ea typeface="Roboto" panose="02000000000000000000" pitchFamily="2" charset="0"/>
                            </a:rPr>
                            <a:t>Complemento</a:t>
                          </a:r>
                        </a:p>
                      </a:txBody>
                      <a:tcPr>
                        <a:solidFill>
                          <a:schemeClr val="bg2"/>
                        </a:solidFill>
                      </a:tcPr>
                    </a:tc>
                    <a:tc>
                      <a:txBody>
                        <a:bodyPr/>
                        <a:lstStyle/>
                        <a:p>
                          <a:endParaRPr lang="es-CO"/>
                        </a:p>
                      </a:txBody>
                      <a:tcPr>
                        <a:blipFill>
                          <a:blip r:embed="rId3"/>
                          <a:stretch>
                            <a:fillRect l="-63636" t="-1020000" r="-104895" b="-321818"/>
                          </a:stretch>
                        </a:blipFill>
                      </a:tcPr>
                    </a:tc>
                    <a:tc>
                      <a:txBody>
                        <a:bodyPr/>
                        <a:lstStyle/>
                        <a:p>
                          <a:endParaRPr lang="es-CO"/>
                        </a:p>
                      </a:txBody>
                      <a:tcPr>
                        <a:blipFill>
                          <a:blip r:embed="rId3"/>
                          <a:stretch>
                            <a:fillRect l="-156696" t="-1020000" r="-446" b="-321818"/>
                          </a:stretch>
                        </a:blipFill>
                      </a:tcPr>
                    </a:tc>
                    <a:extLst>
                      <a:ext uri="{0D108BD9-81ED-4DB2-BD59-A6C34878D82A}">
                        <a16:rowId xmlns:a16="http://schemas.microsoft.com/office/drawing/2014/main" val="3770911309"/>
                      </a:ext>
                    </a:extLst>
                  </a:tr>
                  <a:tr h="335280">
                    <a:tc>
                      <a:txBody>
                        <a:bodyPr/>
                        <a:lstStyle/>
                        <a:p>
                          <a:r>
                            <a:rPr lang="es-CO" sz="1600" b="1" dirty="0">
                              <a:latin typeface="+mn-lt"/>
                              <a:ea typeface="Roboto" panose="02000000000000000000" pitchFamily="2" charset="0"/>
                            </a:rPr>
                            <a:t>Implicación</a:t>
                          </a:r>
                        </a:p>
                      </a:txBody>
                      <a:tcPr>
                        <a:solidFill>
                          <a:schemeClr val="bg2"/>
                        </a:solidFill>
                      </a:tcPr>
                    </a:tc>
                    <a:tc gridSpan="2">
                      <a:txBody>
                        <a:bodyPr/>
                        <a:lstStyle/>
                        <a:p>
                          <a:endParaRPr lang="es-CO"/>
                        </a:p>
                      </a:txBody>
                      <a:tcPr>
                        <a:blipFill>
                          <a:blip r:embed="rId3"/>
                          <a:stretch>
                            <a:fillRect l="-31129" t="-1120000" r="-228" b="-221818"/>
                          </a:stretch>
                        </a:blipFill>
                      </a:tcPr>
                    </a:tc>
                    <a:tc hMerge="1">
                      <a:txBody>
                        <a:bodyPr/>
                        <a:lstStyle/>
                        <a:p>
                          <a:endParaRPr lang="es-CO"/>
                        </a:p>
                      </a:txBody>
                      <a:tcPr/>
                    </a:tc>
                    <a:extLst>
                      <a:ext uri="{0D108BD9-81ED-4DB2-BD59-A6C34878D82A}">
                        <a16:rowId xmlns:a16="http://schemas.microsoft.com/office/drawing/2014/main" val="3483938044"/>
                      </a:ext>
                    </a:extLst>
                  </a:tr>
                  <a:tr h="335280">
                    <a:tc>
                      <a:txBody>
                        <a:bodyPr/>
                        <a:lstStyle/>
                        <a:p>
                          <a:r>
                            <a:rPr lang="es-CO" sz="1600" b="1" dirty="0">
                              <a:latin typeface="+mn-lt"/>
                              <a:ea typeface="Roboto" panose="02000000000000000000" pitchFamily="2" charset="0"/>
                            </a:rPr>
                            <a:t>Contrarrecíproco</a:t>
                          </a:r>
                        </a:p>
                      </a:txBody>
                      <a:tcPr>
                        <a:solidFill>
                          <a:schemeClr val="bg2"/>
                        </a:solidFill>
                      </a:tcPr>
                    </a:tc>
                    <a:tc gridSpan="2">
                      <a:txBody>
                        <a:bodyPr/>
                        <a:lstStyle/>
                        <a:p>
                          <a:endParaRPr lang="es-CO"/>
                        </a:p>
                      </a:txBody>
                      <a:tcPr>
                        <a:blipFill>
                          <a:blip r:embed="rId3"/>
                          <a:stretch>
                            <a:fillRect l="-31129" t="-1220000" r="-228" b="-121818"/>
                          </a:stretch>
                        </a:blipFill>
                      </a:tcPr>
                    </a:tc>
                    <a:tc hMerge="1">
                      <a:txBody>
                        <a:bodyPr/>
                        <a:lstStyle/>
                        <a:p>
                          <a:endParaRPr lang="es-CO"/>
                        </a:p>
                      </a:txBody>
                      <a:tcPr/>
                    </a:tc>
                    <a:extLst>
                      <a:ext uri="{0D108BD9-81ED-4DB2-BD59-A6C34878D82A}">
                        <a16:rowId xmlns:a16="http://schemas.microsoft.com/office/drawing/2014/main" val="3255506134"/>
                      </a:ext>
                    </a:extLst>
                  </a:tr>
                  <a:tr h="335280">
                    <a:tc>
                      <a:txBody>
                        <a:bodyPr/>
                        <a:lstStyle/>
                        <a:p>
                          <a:r>
                            <a:rPr lang="es-CO" sz="1600" b="1" dirty="0">
                              <a:latin typeface="+mn-lt"/>
                              <a:ea typeface="Roboto" panose="02000000000000000000" pitchFamily="2" charset="0"/>
                            </a:rPr>
                            <a:t>Equivalencia</a:t>
                          </a:r>
                        </a:p>
                      </a:txBody>
                      <a:tcPr>
                        <a:solidFill>
                          <a:schemeClr val="bg2"/>
                        </a:solidFill>
                      </a:tcPr>
                    </a:tc>
                    <a:tc gridSpan="2">
                      <a:txBody>
                        <a:bodyPr/>
                        <a:lstStyle/>
                        <a:p>
                          <a:endParaRPr lang="es-CO"/>
                        </a:p>
                      </a:txBody>
                      <a:tcPr>
                        <a:blipFill>
                          <a:blip r:embed="rId3"/>
                          <a:stretch>
                            <a:fillRect l="-31129" t="-1320000" r="-228" b="-21818"/>
                          </a:stretch>
                        </a:blipFill>
                      </a:tcPr>
                    </a:tc>
                    <a:tc hMerge="1">
                      <a:txBody>
                        <a:bodyPr/>
                        <a:lstStyle/>
                        <a:p>
                          <a:endParaRPr lang="es-CO"/>
                        </a:p>
                      </a:txBody>
                      <a:tcPr/>
                    </a:tc>
                    <a:extLst>
                      <a:ext uri="{0D108BD9-81ED-4DB2-BD59-A6C34878D82A}">
                        <a16:rowId xmlns:a16="http://schemas.microsoft.com/office/drawing/2014/main" val="40457137"/>
                      </a:ext>
                    </a:extLst>
                  </a:tr>
                </a:tbl>
              </a:graphicData>
            </a:graphic>
          </p:graphicFrame>
        </mc:Fallback>
      </mc:AlternateContent>
      <p:pic>
        <p:nvPicPr>
          <p:cNvPr id="10" name="Imagen 9">
            <a:extLst>
              <a:ext uri="{FF2B5EF4-FFF2-40B4-BE49-F238E27FC236}">
                <a16:creationId xmlns:a16="http://schemas.microsoft.com/office/drawing/2014/main" id="{758BEFC8-AEC6-4F7A-9FEA-894824C53EB5}"/>
              </a:ext>
            </a:extLst>
          </p:cNvPr>
          <p:cNvPicPr>
            <a:picLocks noChangeAspect="1"/>
          </p:cNvPicPr>
          <p:nvPr/>
        </p:nvPicPr>
        <p:blipFill>
          <a:blip r:embed="rId4"/>
          <a:stretch>
            <a:fillRect/>
          </a:stretch>
        </p:blipFill>
        <p:spPr>
          <a:xfrm>
            <a:off x="1477423" y="4885940"/>
            <a:ext cx="2115270" cy="1323438"/>
          </a:xfrm>
          <a:prstGeom prst="rect">
            <a:avLst/>
          </a:prstGeom>
        </p:spPr>
      </p:pic>
      <p:pic>
        <p:nvPicPr>
          <p:cNvPr id="12" name="Imagen 11">
            <a:extLst>
              <a:ext uri="{FF2B5EF4-FFF2-40B4-BE49-F238E27FC236}">
                <a16:creationId xmlns:a16="http://schemas.microsoft.com/office/drawing/2014/main" id="{41E8E6BD-7FEB-48A5-A3A4-B1238C0FCD6C}"/>
              </a:ext>
            </a:extLst>
          </p:cNvPr>
          <p:cNvPicPr>
            <a:picLocks noChangeAspect="1"/>
          </p:cNvPicPr>
          <p:nvPr/>
        </p:nvPicPr>
        <p:blipFill>
          <a:blip r:embed="rId5"/>
          <a:stretch>
            <a:fillRect/>
          </a:stretch>
        </p:blipFill>
        <p:spPr>
          <a:xfrm>
            <a:off x="274990" y="2565144"/>
            <a:ext cx="1985333" cy="1711013"/>
          </a:xfrm>
          <a:prstGeom prst="rect">
            <a:avLst/>
          </a:prstGeom>
        </p:spPr>
      </p:pic>
      <p:pic>
        <p:nvPicPr>
          <p:cNvPr id="14" name="Imagen 13">
            <a:extLst>
              <a:ext uri="{FF2B5EF4-FFF2-40B4-BE49-F238E27FC236}">
                <a16:creationId xmlns:a16="http://schemas.microsoft.com/office/drawing/2014/main" id="{9DE3B0E3-C55F-4DB0-9773-9EF501085070}"/>
              </a:ext>
            </a:extLst>
          </p:cNvPr>
          <p:cNvPicPr>
            <a:picLocks noChangeAspect="1"/>
          </p:cNvPicPr>
          <p:nvPr/>
        </p:nvPicPr>
        <p:blipFill>
          <a:blip r:embed="rId6"/>
          <a:stretch>
            <a:fillRect/>
          </a:stretch>
        </p:blipFill>
        <p:spPr>
          <a:xfrm>
            <a:off x="2570250" y="2871040"/>
            <a:ext cx="2043314" cy="1324674"/>
          </a:xfrm>
          <a:prstGeom prst="rect">
            <a:avLst/>
          </a:prstGeom>
        </p:spPr>
      </p:pic>
    </p:spTree>
    <p:extLst>
      <p:ext uri="{BB962C8B-B14F-4D97-AF65-F5344CB8AC3E}">
        <p14:creationId xmlns:p14="http://schemas.microsoft.com/office/powerpoint/2010/main" val="343747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360218" y="157306"/>
            <a:ext cx="10993581" cy="1015664"/>
          </a:xfrm>
        </p:spPr>
        <p:txBody>
          <a:bodyPr>
            <a:normAutofit fontScale="90000"/>
          </a:bodyPr>
          <a:lstStyle/>
          <a:p>
            <a:r>
              <a:rPr lang="es-CO" dirty="0"/>
              <a:t>Enfoque axiomático – Tabla de equivalencias lógicas</a:t>
            </a:r>
          </a:p>
        </p:txBody>
      </p:sp>
      <mc:AlternateContent xmlns:mc="http://schemas.openxmlformats.org/markup-compatibility/2006">
        <mc:Choice xmlns:a14="http://schemas.microsoft.com/office/drawing/2010/main" Requires="a14">
          <p:graphicFrame>
            <p:nvGraphicFramePr>
              <p:cNvPr id="5" name="Tabla 3">
                <a:extLst>
                  <a:ext uri="{FF2B5EF4-FFF2-40B4-BE49-F238E27FC236}">
                    <a16:creationId xmlns:a16="http://schemas.microsoft.com/office/drawing/2014/main" id="{8B856B17-6589-4F1E-A049-8A5AF1216B97}"/>
                  </a:ext>
                </a:extLst>
              </p:cNvPr>
              <p:cNvGraphicFramePr>
                <a:graphicFrameLocks noGrp="1"/>
              </p:cNvGraphicFramePr>
              <p:nvPr>
                <p:extLst>
                  <p:ext uri="{D42A27DB-BD31-4B8C-83A1-F6EECF244321}">
                    <p14:modId xmlns:p14="http://schemas.microsoft.com/office/powerpoint/2010/main" val="2390397542"/>
                  </p:ext>
                </p:extLst>
              </p:nvPr>
            </p:nvGraphicFramePr>
            <p:xfrm>
              <a:off x="1149922" y="1070970"/>
              <a:ext cx="10335489" cy="5547360"/>
            </p:xfrm>
            <a:graphic>
              <a:graphicData uri="http://schemas.openxmlformats.org/drawingml/2006/table">
                <a:tbl>
                  <a:tblPr firstRow="1" bandRow="1"/>
                  <a:tblGrid>
                    <a:gridCol w="2506466">
                      <a:extLst>
                        <a:ext uri="{9D8B030D-6E8A-4147-A177-3AD203B41FA5}">
                          <a16:colId xmlns:a16="http://schemas.microsoft.com/office/drawing/2014/main" val="2419793140"/>
                        </a:ext>
                      </a:extLst>
                    </a:gridCol>
                    <a:gridCol w="4090493">
                      <a:extLst>
                        <a:ext uri="{9D8B030D-6E8A-4147-A177-3AD203B41FA5}">
                          <a16:colId xmlns:a16="http://schemas.microsoft.com/office/drawing/2014/main" val="2761119023"/>
                        </a:ext>
                      </a:extLst>
                    </a:gridCol>
                    <a:gridCol w="3738530">
                      <a:extLst>
                        <a:ext uri="{9D8B030D-6E8A-4147-A177-3AD203B41FA5}">
                          <a16:colId xmlns:a16="http://schemas.microsoft.com/office/drawing/2014/main" val="180266477"/>
                        </a:ext>
                      </a:extLst>
                    </a:gridCol>
                  </a:tblGrid>
                  <a:tr h="240703">
                    <a:tc>
                      <a:txBody>
                        <a:bodyPr/>
                        <a:lstStyle/>
                        <a:p>
                          <a:r>
                            <a:rPr lang="es-CO" sz="2000" b="1" dirty="0">
                              <a:latin typeface="Roboto" panose="02000000000000000000" pitchFamily="2" charset="0"/>
                              <a:ea typeface="Roboto" panose="02000000000000000000" pitchFamily="2" charset="0"/>
                            </a:rPr>
                            <a:t>Nombre</a:t>
                          </a:r>
                        </a:p>
                      </a:txBody>
                      <a:tcPr>
                        <a:solidFill>
                          <a:schemeClr val="bg2"/>
                        </a:solidFill>
                      </a:tcPr>
                    </a:tc>
                    <a:tc gridSpan="2">
                      <a:txBody>
                        <a:bodyPr/>
                        <a:lstStyle/>
                        <a:p>
                          <a:pPr algn="ctr"/>
                          <a:r>
                            <a:rPr lang="es-CO" sz="2000" b="1" dirty="0">
                              <a:latin typeface="Roboto" panose="02000000000000000000" pitchFamily="2" charset="0"/>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218821">
                    <a:tc>
                      <a:txBody>
                        <a:bodyPr/>
                        <a:lstStyle/>
                        <a:p>
                          <a:r>
                            <a:rPr lang="es-CO" sz="2000" b="1" dirty="0">
                              <a:latin typeface="Roboto" panose="02000000000000000000" pitchFamily="2" charset="0"/>
                              <a:ea typeface="Roboto" panose="02000000000000000000" pitchFamily="2" charset="0"/>
                            </a:rPr>
                            <a:t>Conmutatividad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𝑄</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𝑄</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54515760"/>
                      </a:ext>
                    </a:extLst>
                  </a:tr>
                  <a:tr h="218821">
                    <a:tc>
                      <a:txBody>
                        <a:bodyPr/>
                        <a:lstStyle/>
                        <a:p>
                          <a:r>
                            <a:rPr lang="es-CO" sz="2000" b="1" dirty="0">
                              <a:latin typeface="Roboto" panose="02000000000000000000" pitchFamily="2" charset="0"/>
                              <a:ea typeface="Roboto" panose="02000000000000000000" pitchFamily="2" charset="0"/>
                            </a:rPr>
                            <a:t>Asociatividad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𝑄</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𝑅</m:t>
                                    </m:r>
                                  </m:e>
                                </m:d>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𝑅</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𝑄</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𝑅</m:t>
                                    </m:r>
                                  </m:e>
                                </m:d>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𝑅</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913743916"/>
                      </a:ext>
                    </a:extLst>
                  </a:tr>
                  <a:tr h="218821">
                    <a:tc>
                      <a:txBody>
                        <a:bodyPr/>
                        <a:lstStyle/>
                        <a:p>
                          <a:r>
                            <a:rPr lang="es-CO" sz="2000" b="1" dirty="0">
                              <a:latin typeface="Roboto" panose="02000000000000000000" pitchFamily="2" charset="0"/>
                              <a:ea typeface="Roboto" panose="02000000000000000000" pitchFamily="2" charset="0"/>
                            </a:rPr>
                            <a:t>Distributividad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𝑄</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𝑅</m:t>
                                    </m:r>
                                  </m:e>
                                </m:d>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e>
                                </m:d>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𝑅</m:t>
                                    </m:r>
                                  </m:e>
                                </m:d>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𝑄</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𝑅</m:t>
                                    </m:r>
                                  </m:e>
                                </m:d>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e>
                                </m:d>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𝑅</m:t>
                                    </m:r>
                                  </m:e>
                                </m:d>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17401643"/>
                      </a:ext>
                    </a:extLst>
                  </a:tr>
                  <a:tr h="218821">
                    <a:tc>
                      <a:txBody>
                        <a:bodyPr/>
                        <a:lstStyle/>
                        <a:p>
                          <a:r>
                            <a:rPr lang="es-CO" sz="2000" b="1" dirty="0">
                              <a:latin typeface="Roboto" panose="02000000000000000000" pitchFamily="2" charset="0"/>
                              <a:ea typeface="Roboto" panose="02000000000000000000" pitchFamily="2" charset="0"/>
                            </a:rPr>
                            <a:t>Idempotencia</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46818852"/>
                      </a:ext>
                    </a:extLst>
                  </a:tr>
                  <a:tr h="218821">
                    <a:tc>
                      <a:txBody>
                        <a:bodyPr/>
                        <a:lstStyle/>
                        <a:p>
                          <a:r>
                            <a:rPr lang="es-CO" sz="2000" b="1" dirty="0">
                              <a:latin typeface="Roboto" panose="02000000000000000000" pitchFamily="2" charset="0"/>
                              <a:ea typeface="Roboto" panose="02000000000000000000" pitchFamily="2" charset="0"/>
                            </a:rPr>
                            <a:t>Doble negación</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oMath>
                            </m:oMathPara>
                          </a14:m>
                          <a:endParaRPr lang="es-CO" sz="20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88149062"/>
                      </a:ext>
                    </a:extLst>
                  </a:tr>
                  <a:tr h="218821">
                    <a:tc>
                      <a:txBody>
                        <a:bodyPr/>
                        <a:lstStyle/>
                        <a:p>
                          <a:r>
                            <a:rPr lang="es-CO" sz="2000" b="1" dirty="0">
                              <a:latin typeface="Roboto" panose="02000000000000000000" pitchFamily="2" charset="0"/>
                              <a:ea typeface="Roboto" panose="02000000000000000000" pitchFamily="2" charset="0"/>
                            </a:rPr>
                            <a:t>Leyes de Morgan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13060234"/>
                      </a:ext>
                    </a:extLst>
                  </a:tr>
                  <a:tr h="218821">
                    <a:tc>
                      <a:txBody>
                        <a:bodyPr/>
                        <a:lstStyle/>
                        <a:p>
                          <a:r>
                            <a:rPr lang="es-CO" sz="2000" b="1" dirty="0">
                              <a:latin typeface="Roboto" panose="02000000000000000000" pitchFamily="2" charset="0"/>
                              <a:ea typeface="Roboto" panose="02000000000000000000" pitchFamily="2" charset="0"/>
                            </a:rPr>
                            <a:t>Identidad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𝑽</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𝑭</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494965197"/>
                      </a:ext>
                    </a:extLst>
                  </a:tr>
                  <a:tr h="218821">
                    <a:tc>
                      <a:txBody>
                        <a:bodyPr/>
                        <a:lstStyle/>
                        <a:p>
                          <a:r>
                            <a:rPr lang="es-CO" sz="2000" b="1" dirty="0">
                              <a:latin typeface="Roboto" panose="02000000000000000000" pitchFamily="2" charset="0"/>
                              <a:ea typeface="Roboto" panose="02000000000000000000" pitchFamily="2" charset="0"/>
                            </a:rPr>
                            <a:t>Dominación</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𝑭</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𝑭</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𝑽</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𝑽</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07485840"/>
                      </a:ext>
                    </a:extLst>
                  </a:tr>
                  <a:tr h="218821">
                    <a:tc>
                      <a:txBody>
                        <a:bodyPr/>
                        <a:lstStyle/>
                        <a:p>
                          <a:r>
                            <a:rPr lang="es-CO" sz="2000" b="1" dirty="0">
                              <a:latin typeface="Roboto" panose="02000000000000000000" pitchFamily="2" charset="0"/>
                              <a:ea typeface="Roboto" panose="02000000000000000000" pitchFamily="2" charset="0"/>
                            </a:rPr>
                            <a:t>Absorción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232652958"/>
                      </a:ext>
                    </a:extLst>
                  </a:tr>
                  <a:tr h="218821">
                    <a:tc>
                      <a:txBody>
                        <a:bodyPr/>
                        <a:lstStyle/>
                        <a:p>
                          <a:r>
                            <a:rPr lang="es-CO" sz="2000" b="1" dirty="0">
                              <a:latin typeface="Roboto" panose="02000000000000000000" pitchFamily="2" charset="0"/>
                              <a:ea typeface="Roboto" panose="02000000000000000000" pitchFamily="2" charset="0"/>
                            </a:rPr>
                            <a:t>Complemento</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𝑭</m:t>
                                </m:r>
                              </m:oMath>
                            </m:oMathPara>
                          </a14:m>
                          <a:endParaRPr lang="es-CO" sz="2000" b="1"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𝑽</m:t>
                                </m:r>
                              </m:oMath>
                            </m:oMathPara>
                          </a14:m>
                          <a:endParaRPr lang="es-CO" sz="20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70911309"/>
                      </a:ext>
                    </a:extLst>
                  </a:tr>
                  <a:tr h="218821">
                    <a:tc>
                      <a:txBody>
                        <a:bodyPr/>
                        <a:lstStyle/>
                        <a:p>
                          <a:r>
                            <a:rPr lang="es-CO" sz="2000" b="1" dirty="0">
                              <a:latin typeface="Roboto" panose="02000000000000000000" pitchFamily="2" charset="0"/>
                              <a:ea typeface="Roboto" panose="02000000000000000000" pitchFamily="2" charset="0"/>
                            </a:rPr>
                            <a:t>Implicación</a:t>
                          </a:r>
                        </a:p>
                      </a:txBody>
                      <a:tcPr>
                        <a:solidFill>
                          <a:schemeClr val="bg2"/>
                        </a:solidFill>
                      </a:tcPr>
                    </a:tc>
                    <a:tc gridSpan="2">
                      <a:txBody>
                        <a:bodyPr/>
                        <a:lstStyle/>
                        <a:p>
                          <a:pPr algn="ct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𝑄</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oMath>
                            </m:oMathPara>
                          </a14:m>
                          <a:endParaRPr lang="es-CO" sz="20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483938044"/>
                      </a:ext>
                    </a:extLst>
                  </a:tr>
                  <a:tr h="218821">
                    <a:tc>
                      <a:txBody>
                        <a:bodyPr/>
                        <a:lstStyle/>
                        <a:p>
                          <a:r>
                            <a:rPr lang="es-CO" sz="2000" b="1" dirty="0">
                              <a:latin typeface="Roboto" panose="02000000000000000000" pitchFamily="2" charset="0"/>
                              <a:ea typeface="Roboto" panose="02000000000000000000" pitchFamily="2" charset="0"/>
                            </a:rPr>
                            <a:t>Contrarrecíproco</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𝑄</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oMath>
                            </m:oMathPara>
                          </a14:m>
                          <a:endParaRPr lang="es-CO" sz="20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255506134"/>
                      </a:ext>
                    </a:extLst>
                  </a:tr>
                  <a:tr h="218821">
                    <a:tc>
                      <a:txBody>
                        <a:bodyPr/>
                        <a:lstStyle/>
                        <a:p>
                          <a:r>
                            <a:rPr lang="es-CO" sz="2000" b="1" dirty="0">
                              <a:latin typeface="Roboto" panose="02000000000000000000" pitchFamily="2" charset="0"/>
                              <a:ea typeface="Roboto" panose="02000000000000000000" pitchFamily="2" charset="0"/>
                            </a:rPr>
                            <a:t>Equivalencia</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𝑄</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𝑄</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e>
                                </m:d>
                              </m:oMath>
                            </m:oMathPara>
                          </a14:m>
                          <a:endParaRPr lang="es-CO" sz="20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40457137"/>
                      </a:ext>
                    </a:extLst>
                  </a:tr>
                </a:tbl>
              </a:graphicData>
            </a:graphic>
          </p:graphicFrame>
        </mc:Choice>
        <mc:Fallback>
          <p:graphicFrame>
            <p:nvGraphicFramePr>
              <p:cNvPr id="5" name="Tabla 3">
                <a:extLst>
                  <a:ext uri="{FF2B5EF4-FFF2-40B4-BE49-F238E27FC236}">
                    <a16:creationId xmlns:a16="http://schemas.microsoft.com/office/drawing/2014/main" id="{8B856B17-6589-4F1E-A049-8A5AF1216B97}"/>
                  </a:ext>
                </a:extLst>
              </p:cNvPr>
              <p:cNvGraphicFramePr>
                <a:graphicFrameLocks noGrp="1"/>
              </p:cNvGraphicFramePr>
              <p:nvPr>
                <p:extLst>
                  <p:ext uri="{D42A27DB-BD31-4B8C-83A1-F6EECF244321}">
                    <p14:modId xmlns:p14="http://schemas.microsoft.com/office/powerpoint/2010/main" val="2390397542"/>
                  </p:ext>
                </p:extLst>
              </p:nvPr>
            </p:nvGraphicFramePr>
            <p:xfrm>
              <a:off x="1149922" y="1070970"/>
              <a:ext cx="10335489" cy="5547360"/>
            </p:xfrm>
            <a:graphic>
              <a:graphicData uri="http://schemas.openxmlformats.org/drawingml/2006/table">
                <a:tbl>
                  <a:tblPr firstRow="1" bandRow="1"/>
                  <a:tblGrid>
                    <a:gridCol w="2506466">
                      <a:extLst>
                        <a:ext uri="{9D8B030D-6E8A-4147-A177-3AD203B41FA5}">
                          <a16:colId xmlns:a16="http://schemas.microsoft.com/office/drawing/2014/main" val="2419793140"/>
                        </a:ext>
                      </a:extLst>
                    </a:gridCol>
                    <a:gridCol w="4090493">
                      <a:extLst>
                        <a:ext uri="{9D8B030D-6E8A-4147-A177-3AD203B41FA5}">
                          <a16:colId xmlns:a16="http://schemas.microsoft.com/office/drawing/2014/main" val="2761119023"/>
                        </a:ext>
                      </a:extLst>
                    </a:gridCol>
                    <a:gridCol w="3738530">
                      <a:extLst>
                        <a:ext uri="{9D8B030D-6E8A-4147-A177-3AD203B41FA5}">
                          <a16:colId xmlns:a16="http://schemas.microsoft.com/office/drawing/2014/main" val="180266477"/>
                        </a:ext>
                      </a:extLst>
                    </a:gridCol>
                  </a:tblGrid>
                  <a:tr h="396240">
                    <a:tc>
                      <a:txBody>
                        <a:bodyPr/>
                        <a:lstStyle/>
                        <a:p>
                          <a:r>
                            <a:rPr lang="es-CO" sz="2000" b="1" dirty="0">
                              <a:latin typeface="Roboto" panose="02000000000000000000" pitchFamily="2" charset="0"/>
                              <a:ea typeface="Roboto" panose="02000000000000000000" pitchFamily="2" charset="0"/>
                            </a:rPr>
                            <a:t>Nombre</a:t>
                          </a:r>
                        </a:p>
                      </a:txBody>
                      <a:tcPr>
                        <a:solidFill>
                          <a:schemeClr val="bg2"/>
                        </a:solidFill>
                      </a:tcPr>
                    </a:tc>
                    <a:tc gridSpan="2">
                      <a:txBody>
                        <a:bodyPr/>
                        <a:lstStyle/>
                        <a:p>
                          <a:pPr algn="ctr"/>
                          <a:r>
                            <a:rPr lang="es-CO" sz="2000" b="1" dirty="0">
                              <a:latin typeface="Roboto" panose="02000000000000000000" pitchFamily="2" charset="0"/>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396240">
                    <a:tc>
                      <a:txBody>
                        <a:bodyPr/>
                        <a:lstStyle/>
                        <a:p>
                          <a:r>
                            <a:rPr lang="es-CO" sz="2000" b="1" dirty="0">
                              <a:latin typeface="Roboto" panose="02000000000000000000" pitchFamily="2" charset="0"/>
                              <a:ea typeface="Roboto" panose="02000000000000000000" pitchFamily="2" charset="0"/>
                            </a:rPr>
                            <a:t>Conmutatividad</a:t>
                          </a:r>
                        </a:p>
                      </a:txBody>
                      <a:tcPr>
                        <a:solidFill>
                          <a:schemeClr val="bg2"/>
                        </a:solidFill>
                      </a:tcPr>
                    </a:tc>
                    <a:tc>
                      <a:txBody>
                        <a:bodyPr/>
                        <a:lstStyle/>
                        <a:p>
                          <a:endParaRPr lang="es-CO"/>
                        </a:p>
                      </a:txBody>
                      <a:tcPr>
                        <a:blipFill>
                          <a:blip r:embed="rId2"/>
                          <a:stretch>
                            <a:fillRect l="-61550" t="-106154" r="-91803" b="-1230769"/>
                          </a:stretch>
                        </a:blipFill>
                      </a:tcPr>
                    </a:tc>
                    <a:tc>
                      <a:txBody>
                        <a:bodyPr/>
                        <a:lstStyle/>
                        <a:p>
                          <a:endParaRPr lang="es-CO"/>
                        </a:p>
                      </a:txBody>
                      <a:tcPr>
                        <a:blipFill>
                          <a:blip r:embed="rId2"/>
                          <a:stretch>
                            <a:fillRect l="-176547" t="-106154" r="-326" b="-1230769"/>
                          </a:stretch>
                        </a:blipFill>
                      </a:tcPr>
                    </a:tc>
                    <a:extLst>
                      <a:ext uri="{0D108BD9-81ED-4DB2-BD59-A6C34878D82A}">
                        <a16:rowId xmlns:a16="http://schemas.microsoft.com/office/drawing/2014/main" val="3154515760"/>
                      </a:ext>
                    </a:extLst>
                  </a:tr>
                  <a:tr h="396240">
                    <a:tc>
                      <a:txBody>
                        <a:bodyPr/>
                        <a:lstStyle/>
                        <a:p>
                          <a:r>
                            <a:rPr lang="es-CO" sz="2000" b="1" dirty="0">
                              <a:latin typeface="Roboto" panose="02000000000000000000" pitchFamily="2" charset="0"/>
                              <a:ea typeface="Roboto" panose="02000000000000000000" pitchFamily="2" charset="0"/>
                            </a:rPr>
                            <a:t>Asociatividad</a:t>
                          </a:r>
                        </a:p>
                      </a:txBody>
                      <a:tcPr>
                        <a:solidFill>
                          <a:schemeClr val="bg2"/>
                        </a:solidFill>
                      </a:tcPr>
                    </a:tc>
                    <a:tc>
                      <a:txBody>
                        <a:bodyPr/>
                        <a:lstStyle/>
                        <a:p>
                          <a:endParaRPr lang="es-CO"/>
                        </a:p>
                      </a:txBody>
                      <a:tcPr>
                        <a:blipFill>
                          <a:blip r:embed="rId2"/>
                          <a:stretch>
                            <a:fillRect l="-61550" t="-206154" r="-91803" b="-1130769"/>
                          </a:stretch>
                        </a:blipFill>
                      </a:tcPr>
                    </a:tc>
                    <a:tc>
                      <a:txBody>
                        <a:bodyPr/>
                        <a:lstStyle/>
                        <a:p>
                          <a:endParaRPr lang="es-CO"/>
                        </a:p>
                      </a:txBody>
                      <a:tcPr>
                        <a:blipFill>
                          <a:blip r:embed="rId2"/>
                          <a:stretch>
                            <a:fillRect l="-176547" t="-206154" r="-326" b="-1130769"/>
                          </a:stretch>
                        </a:blipFill>
                      </a:tcPr>
                    </a:tc>
                    <a:extLst>
                      <a:ext uri="{0D108BD9-81ED-4DB2-BD59-A6C34878D82A}">
                        <a16:rowId xmlns:a16="http://schemas.microsoft.com/office/drawing/2014/main" val="1913743916"/>
                      </a:ext>
                    </a:extLst>
                  </a:tr>
                  <a:tr h="396240">
                    <a:tc>
                      <a:txBody>
                        <a:bodyPr/>
                        <a:lstStyle/>
                        <a:p>
                          <a:r>
                            <a:rPr lang="es-CO" sz="2000" b="1" dirty="0">
                              <a:latin typeface="Roboto" panose="02000000000000000000" pitchFamily="2" charset="0"/>
                              <a:ea typeface="Roboto" panose="02000000000000000000" pitchFamily="2" charset="0"/>
                            </a:rPr>
                            <a:t>Distributividad</a:t>
                          </a:r>
                        </a:p>
                      </a:txBody>
                      <a:tcPr>
                        <a:solidFill>
                          <a:schemeClr val="bg2"/>
                        </a:solidFill>
                      </a:tcPr>
                    </a:tc>
                    <a:tc>
                      <a:txBody>
                        <a:bodyPr/>
                        <a:lstStyle/>
                        <a:p>
                          <a:endParaRPr lang="es-CO"/>
                        </a:p>
                      </a:txBody>
                      <a:tcPr>
                        <a:blipFill>
                          <a:blip r:embed="rId2"/>
                          <a:stretch>
                            <a:fillRect l="-61550" t="-306154" r="-91803" b="-1030769"/>
                          </a:stretch>
                        </a:blipFill>
                      </a:tcPr>
                    </a:tc>
                    <a:tc>
                      <a:txBody>
                        <a:bodyPr/>
                        <a:lstStyle/>
                        <a:p>
                          <a:endParaRPr lang="es-CO"/>
                        </a:p>
                      </a:txBody>
                      <a:tcPr>
                        <a:blipFill>
                          <a:blip r:embed="rId2"/>
                          <a:stretch>
                            <a:fillRect l="-176547" t="-306154" r="-326" b="-1030769"/>
                          </a:stretch>
                        </a:blipFill>
                      </a:tcPr>
                    </a:tc>
                    <a:extLst>
                      <a:ext uri="{0D108BD9-81ED-4DB2-BD59-A6C34878D82A}">
                        <a16:rowId xmlns:a16="http://schemas.microsoft.com/office/drawing/2014/main" val="717401643"/>
                      </a:ext>
                    </a:extLst>
                  </a:tr>
                  <a:tr h="396240">
                    <a:tc>
                      <a:txBody>
                        <a:bodyPr/>
                        <a:lstStyle/>
                        <a:p>
                          <a:r>
                            <a:rPr lang="es-CO" sz="2000" b="1" dirty="0">
                              <a:latin typeface="Roboto" panose="02000000000000000000" pitchFamily="2" charset="0"/>
                              <a:ea typeface="Roboto" panose="02000000000000000000" pitchFamily="2" charset="0"/>
                            </a:rPr>
                            <a:t>Idempotencia</a:t>
                          </a:r>
                        </a:p>
                      </a:txBody>
                      <a:tcPr>
                        <a:solidFill>
                          <a:schemeClr val="bg2"/>
                        </a:solidFill>
                      </a:tcPr>
                    </a:tc>
                    <a:tc>
                      <a:txBody>
                        <a:bodyPr/>
                        <a:lstStyle/>
                        <a:p>
                          <a:endParaRPr lang="es-CO"/>
                        </a:p>
                      </a:txBody>
                      <a:tcPr>
                        <a:blipFill>
                          <a:blip r:embed="rId2"/>
                          <a:stretch>
                            <a:fillRect l="-61550" t="-406154" r="-91803" b="-930769"/>
                          </a:stretch>
                        </a:blipFill>
                      </a:tcPr>
                    </a:tc>
                    <a:tc>
                      <a:txBody>
                        <a:bodyPr/>
                        <a:lstStyle/>
                        <a:p>
                          <a:endParaRPr lang="es-CO"/>
                        </a:p>
                      </a:txBody>
                      <a:tcPr>
                        <a:blipFill>
                          <a:blip r:embed="rId2"/>
                          <a:stretch>
                            <a:fillRect l="-176547" t="-406154" r="-326" b="-930769"/>
                          </a:stretch>
                        </a:blipFill>
                      </a:tcPr>
                    </a:tc>
                    <a:extLst>
                      <a:ext uri="{0D108BD9-81ED-4DB2-BD59-A6C34878D82A}">
                        <a16:rowId xmlns:a16="http://schemas.microsoft.com/office/drawing/2014/main" val="2246818852"/>
                      </a:ext>
                    </a:extLst>
                  </a:tr>
                  <a:tr h="396240">
                    <a:tc>
                      <a:txBody>
                        <a:bodyPr/>
                        <a:lstStyle/>
                        <a:p>
                          <a:r>
                            <a:rPr lang="es-CO" sz="2000" b="1" dirty="0">
                              <a:latin typeface="Roboto" panose="02000000000000000000" pitchFamily="2" charset="0"/>
                              <a:ea typeface="Roboto" panose="02000000000000000000" pitchFamily="2" charset="0"/>
                            </a:rPr>
                            <a:t>Doble negación</a:t>
                          </a:r>
                        </a:p>
                      </a:txBody>
                      <a:tcPr>
                        <a:solidFill>
                          <a:schemeClr val="bg2"/>
                        </a:solidFill>
                      </a:tcPr>
                    </a:tc>
                    <a:tc gridSpan="2">
                      <a:txBody>
                        <a:bodyPr/>
                        <a:lstStyle/>
                        <a:p>
                          <a:endParaRPr lang="es-CO"/>
                        </a:p>
                      </a:txBody>
                      <a:tcPr>
                        <a:blipFill>
                          <a:blip r:embed="rId2"/>
                          <a:stretch>
                            <a:fillRect l="-32140" t="-506154" r="-156" b="-830769"/>
                          </a:stretch>
                        </a:blipFill>
                      </a:tcPr>
                    </a:tc>
                    <a:tc hMerge="1">
                      <a:txBody>
                        <a:bodyPr/>
                        <a:lstStyle/>
                        <a:p>
                          <a:endParaRPr lang="es-CO"/>
                        </a:p>
                      </a:txBody>
                      <a:tcPr/>
                    </a:tc>
                    <a:extLst>
                      <a:ext uri="{0D108BD9-81ED-4DB2-BD59-A6C34878D82A}">
                        <a16:rowId xmlns:a16="http://schemas.microsoft.com/office/drawing/2014/main" val="88149062"/>
                      </a:ext>
                    </a:extLst>
                  </a:tr>
                  <a:tr h="396240">
                    <a:tc>
                      <a:txBody>
                        <a:bodyPr/>
                        <a:lstStyle/>
                        <a:p>
                          <a:r>
                            <a:rPr lang="es-CO" sz="2000" b="1" dirty="0">
                              <a:latin typeface="Roboto" panose="02000000000000000000" pitchFamily="2" charset="0"/>
                              <a:ea typeface="Roboto" panose="02000000000000000000" pitchFamily="2" charset="0"/>
                            </a:rPr>
                            <a:t>Leyes de Morgan</a:t>
                          </a:r>
                        </a:p>
                      </a:txBody>
                      <a:tcPr>
                        <a:solidFill>
                          <a:schemeClr val="bg2"/>
                        </a:solidFill>
                      </a:tcPr>
                    </a:tc>
                    <a:tc>
                      <a:txBody>
                        <a:bodyPr/>
                        <a:lstStyle/>
                        <a:p>
                          <a:endParaRPr lang="es-CO"/>
                        </a:p>
                      </a:txBody>
                      <a:tcPr>
                        <a:blipFill>
                          <a:blip r:embed="rId2"/>
                          <a:stretch>
                            <a:fillRect l="-61550" t="-596970" r="-91803" b="-718182"/>
                          </a:stretch>
                        </a:blipFill>
                      </a:tcPr>
                    </a:tc>
                    <a:tc>
                      <a:txBody>
                        <a:bodyPr/>
                        <a:lstStyle/>
                        <a:p>
                          <a:endParaRPr lang="es-CO"/>
                        </a:p>
                      </a:txBody>
                      <a:tcPr>
                        <a:blipFill>
                          <a:blip r:embed="rId2"/>
                          <a:stretch>
                            <a:fillRect l="-176547" t="-596970" r="-326" b="-718182"/>
                          </a:stretch>
                        </a:blipFill>
                      </a:tcPr>
                    </a:tc>
                    <a:extLst>
                      <a:ext uri="{0D108BD9-81ED-4DB2-BD59-A6C34878D82A}">
                        <a16:rowId xmlns:a16="http://schemas.microsoft.com/office/drawing/2014/main" val="2113060234"/>
                      </a:ext>
                    </a:extLst>
                  </a:tr>
                  <a:tr h="396240">
                    <a:tc>
                      <a:txBody>
                        <a:bodyPr/>
                        <a:lstStyle/>
                        <a:p>
                          <a:r>
                            <a:rPr lang="es-CO" sz="2000" b="1" dirty="0">
                              <a:latin typeface="Roboto" panose="02000000000000000000" pitchFamily="2" charset="0"/>
                              <a:ea typeface="Roboto" panose="02000000000000000000" pitchFamily="2" charset="0"/>
                            </a:rPr>
                            <a:t>Identidad</a:t>
                          </a:r>
                        </a:p>
                      </a:txBody>
                      <a:tcPr>
                        <a:solidFill>
                          <a:schemeClr val="bg2"/>
                        </a:solidFill>
                      </a:tcPr>
                    </a:tc>
                    <a:tc>
                      <a:txBody>
                        <a:bodyPr/>
                        <a:lstStyle/>
                        <a:p>
                          <a:endParaRPr lang="es-CO"/>
                        </a:p>
                      </a:txBody>
                      <a:tcPr>
                        <a:blipFill>
                          <a:blip r:embed="rId2"/>
                          <a:stretch>
                            <a:fillRect l="-61550" t="-707692" r="-91803" b="-629231"/>
                          </a:stretch>
                        </a:blipFill>
                      </a:tcPr>
                    </a:tc>
                    <a:tc>
                      <a:txBody>
                        <a:bodyPr/>
                        <a:lstStyle/>
                        <a:p>
                          <a:endParaRPr lang="es-CO"/>
                        </a:p>
                      </a:txBody>
                      <a:tcPr>
                        <a:blipFill>
                          <a:blip r:embed="rId2"/>
                          <a:stretch>
                            <a:fillRect l="-176547" t="-707692" r="-326" b="-629231"/>
                          </a:stretch>
                        </a:blipFill>
                      </a:tcPr>
                    </a:tc>
                    <a:extLst>
                      <a:ext uri="{0D108BD9-81ED-4DB2-BD59-A6C34878D82A}">
                        <a16:rowId xmlns:a16="http://schemas.microsoft.com/office/drawing/2014/main" val="2494965197"/>
                      </a:ext>
                    </a:extLst>
                  </a:tr>
                  <a:tr h="396240">
                    <a:tc>
                      <a:txBody>
                        <a:bodyPr/>
                        <a:lstStyle/>
                        <a:p>
                          <a:r>
                            <a:rPr lang="es-CO" sz="2000" b="1" dirty="0">
                              <a:latin typeface="Roboto" panose="02000000000000000000" pitchFamily="2" charset="0"/>
                              <a:ea typeface="Roboto" panose="02000000000000000000" pitchFamily="2" charset="0"/>
                            </a:rPr>
                            <a:t>Dominación</a:t>
                          </a:r>
                        </a:p>
                      </a:txBody>
                      <a:tcPr>
                        <a:solidFill>
                          <a:schemeClr val="bg2"/>
                        </a:solidFill>
                      </a:tcPr>
                    </a:tc>
                    <a:tc>
                      <a:txBody>
                        <a:bodyPr/>
                        <a:lstStyle/>
                        <a:p>
                          <a:endParaRPr lang="es-CO"/>
                        </a:p>
                      </a:txBody>
                      <a:tcPr>
                        <a:blipFill>
                          <a:blip r:embed="rId2"/>
                          <a:stretch>
                            <a:fillRect l="-61550" t="-807692" r="-91803" b="-529231"/>
                          </a:stretch>
                        </a:blipFill>
                      </a:tcPr>
                    </a:tc>
                    <a:tc>
                      <a:txBody>
                        <a:bodyPr/>
                        <a:lstStyle/>
                        <a:p>
                          <a:endParaRPr lang="es-CO"/>
                        </a:p>
                      </a:txBody>
                      <a:tcPr>
                        <a:blipFill>
                          <a:blip r:embed="rId2"/>
                          <a:stretch>
                            <a:fillRect l="-176547" t="-807692" r="-326" b="-529231"/>
                          </a:stretch>
                        </a:blipFill>
                      </a:tcPr>
                    </a:tc>
                    <a:extLst>
                      <a:ext uri="{0D108BD9-81ED-4DB2-BD59-A6C34878D82A}">
                        <a16:rowId xmlns:a16="http://schemas.microsoft.com/office/drawing/2014/main" val="707485840"/>
                      </a:ext>
                    </a:extLst>
                  </a:tr>
                  <a:tr h="396240">
                    <a:tc>
                      <a:txBody>
                        <a:bodyPr/>
                        <a:lstStyle/>
                        <a:p>
                          <a:r>
                            <a:rPr lang="es-CO" sz="2000" b="1" dirty="0">
                              <a:latin typeface="Roboto" panose="02000000000000000000" pitchFamily="2" charset="0"/>
                              <a:ea typeface="Roboto" panose="02000000000000000000" pitchFamily="2" charset="0"/>
                            </a:rPr>
                            <a:t>Absorción</a:t>
                          </a:r>
                        </a:p>
                      </a:txBody>
                      <a:tcPr>
                        <a:solidFill>
                          <a:schemeClr val="bg2"/>
                        </a:solidFill>
                      </a:tcPr>
                    </a:tc>
                    <a:tc>
                      <a:txBody>
                        <a:bodyPr/>
                        <a:lstStyle/>
                        <a:p>
                          <a:endParaRPr lang="es-CO"/>
                        </a:p>
                      </a:txBody>
                      <a:tcPr>
                        <a:blipFill>
                          <a:blip r:embed="rId2"/>
                          <a:stretch>
                            <a:fillRect l="-61550" t="-907692" r="-91803" b="-429231"/>
                          </a:stretch>
                        </a:blipFill>
                      </a:tcPr>
                    </a:tc>
                    <a:tc>
                      <a:txBody>
                        <a:bodyPr/>
                        <a:lstStyle/>
                        <a:p>
                          <a:endParaRPr lang="es-CO"/>
                        </a:p>
                      </a:txBody>
                      <a:tcPr>
                        <a:blipFill>
                          <a:blip r:embed="rId2"/>
                          <a:stretch>
                            <a:fillRect l="-176547" t="-907692" r="-326" b="-429231"/>
                          </a:stretch>
                        </a:blipFill>
                      </a:tcPr>
                    </a:tc>
                    <a:extLst>
                      <a:ext uri="{0D108BD9-81ED-4DB2-BD59-A6C34878D82A}">
                        <a16:rowId xmlns:a16="http://schemas.microsoft.com/office/drawing/2014/main" val="1232652958"/>
                      </a:ext>
                    </a:extLst>
                  </a:tr>
                  <a:tr h="396240">
                    <a:tc>
                      <a:txBody>
                        <a:bodyPr/>
                        <a:lstStyle/>
                        <a:p>
                          <a:r>
                            <a:rPr lang="es-CO" sz="2000" b="1" dirty="0">
                              <a:latin typeface="Roboto" panose="02000000000000000000" pitchFamily="2" charset="0"/>
                              <a:ea typeface="Roboto" panose="02000000000000000000" pitchFamily="2" charset="0"/>
                            </a:rPr>
                            <a:t>Complemento</a:t>
                          </a:r>
                        </a:p>
                      </a:txBody>
                      <a:tcPr>
                        <a:solidFill>
                          <a:schemeClr val="bg2"/>
                        </a:solidFill>
                      </a:tcPr>
                    </a:tc>
                    <a:tc>
                      <a:txBody>
                        <a:bodyPr/>
                        <a:lstStyle/>
                        <a:p>
                          <a:endParaRPr lang="es-CO"/>
                        </a:p>
                      </a:txBody>
                      <a:tcPr>
                        <a:blipFill>
                          <a:blip r:embed="rId2"/>
                          <a:stretch>
                            <a:fillRect l="-61550" t="-1007692" r="-91803" b="-329231"/>
                          </a:stretch>
                        </a:blipFill>
                      </a:tcPr>
                    </a:tc>
                    <a:tc>
                      <a:txBody>
                        <a:bodyPr/>
                        <a:lstStyle/>
                        <a:p>
                          <a:endParaRPr lang="es-CO"/>
                        </a:p>
                      </a:txBody>
                      <a:tcPr>
                        <a:blipFill>
                          <a:blip r:embed="rId2"/>
                          <a:stretch>
                            <a:fillRect l="-176547" t="-1007692" r="-326" b="-329231"/>
                          </a:stretch>
                        </a:blipFill>
                      </a:tcPr>
                    </a:tc>
                    <a:extLst>
                      <a:ext uri="{0D108BD9-81ED-4DB2-BD59-A6C34878D82A}">
                        <a16:rowId xmlns:a16="http://schemas.microsoft.com/office/drawing/2014/main" val="3770911309"/>
                      </a:ext>
                    </a:extLst>
                  </a:tr>
                  <a:tr h="396240">
                    <a:tc>
                      <a:txBody>
                        <a:bodyPr/>
                        <a:lstStyle/>
                        <a:p>
                          <a:r>
                            <a:rPr lang="es-CO" sz="2000" b="1" dirty="0">
                              <a:latin typeface="Roboto" panose="02000000000000000000" pitchFamily="2" charset="0"/>
                              <a:ea typeface="Roboto" panose="02000000000000000000" pitchFamily="2" charset="0"/>
                            </a:rPr>
                            <a:t>Implicación</a:t>
                          </a:r>
                        </a:p>
                      </a:txBody>
                      <a:tcPr>
                        <a:solidFill>
                          <a:schemeClr val="bg2"/>
                        </a:solidFill>
                      </a:tcPr>
                    </a:tc>
                    <a:tc gridSpan="2">
                      <a:txBody>
                        <a:bodyPr/>
                        <a:lstStyle/>
                        <a:p>
                          <a:endParaRPr lang="es-CO"/>
                        </a:p>
                      </a:txBody>
                      <a:tcPr>
                        <a:blipFill>
                          <a:blip r:embed="rId2"/>
                          <a:stretch>
                            <a:fillRect l="-32140" t="-1107692" r="-156" b="-229231"/>
                          </a:stretch>
                        </a:blipFill>
                      </a:tcPr>
                    </a:tc>
                    <a:tc hMerge="1">
                      <a:txBody>
                        <a:bodyPr/>
                        <a:lstStyle/>
                        <a:p>
                          <a:endParaRPr lang="es-CO"/>
                        </a:p>
                      </a:txBody>
                      <a:tcPr/>
                    </a:tc>
                    <a:extLst>
                      <a:ext uri="{0D108BD9-81ED-4DB2-BD59-A6C34878D82A}">
                        <a16:rowId xmlns:a16="http://schemas.microsoft.com/office/drawing/2014/main" val="3483938044"/>
                      </a:ext>
                    </a:extLst>
                  </a:tr>
                  <a:tr h="396240">
                    <a:tc>
                      <a:txBody>
                        <a:bodyPr/>
                        <a:lstStyle/>
                        <a:p>
                          <a:r>
                            <a:rPr lang="es-CO" sz="2000" b="1" dirty="0">
                              <a:latin typeface="Roboto" panose="02000000000000000000" pitchFamily="2" charset="0"/>
                              <a:ea typeface="Roboto" panose="02000000000000000000" pitchFamily="2" charset="0"/>
                            </a:rPr>
                            <a:t>Contrarrecíproco</a:t>
                          </a:r>
                        </a:p>
                      </a:txBody>
                      <a:tcPr>
                        <a:solidFill>
                          <a:schemeClr val="bg2"/>
                        </a:solidFill>
                      </a:tcPr>
                    </a:tc>
                    <a:tc gridSpan="2">
                      <a:txBody>
                        <a:bodyPr/>
                        <a:lstStyle/>
                        <a:p>
                          <a:endParaRPr lang="es-CO"/>
                        </a:p>
                      </a:txBody>
                      <a:tcPr>
                        <a:blipFill>
                          <a:blip r:embed="rId2"/>
                          <a:stretch>
                            <a:fillRect l="-32140" t="-1207692" r="-156" b="-129231"/>
                          </a:stretch>
                        </a:blipFill>
                      </a:tcPr>
                    </a:tc>
                    <a:tc hMerge="1">
                      <a:txBody>
                        <a:bodyPr/>
                        <a:lstStyle/>
                        <a:p>
                          <a:endParaRPr lang="es-CO"/>
                        </a:p>
                      </a:txBody>
                      <a:tcPr/>
                    </a:tc>
                    <a:extLst>
                      <a:ext uri="{0D108BD9-81ED-4DB2-BD59-A6C34878D82A}">
                        <a16:rowId xmlns:a16="http://schemas.microsoft.com/office/drawing/2014/main" val="3255506134"/>
                      </a:ext>
                    </a:extLst>
                  </a:tr>
                  <a:tr h="396240">
                    <a:tc>
                      <a:txBody>
                        <a:bodyPr/>
                        <a:lstStyle/>
                        <a:p>
                          <a:r>
                            <a:rPr lang="es-CO" sz="2000" b="1" dirty="0">
                              <a:latin typeface="Roboto" panose="02000000000000000000" pitchFamily="2" charset="0"/>
                              <a:ea typeface="Roboto" panose="02000000000000000000" pitchFamily="2" charset="0"/>
                            </a:rPr>
                            <a:t>Equivalencia</a:t>
                          </a:r>
                        </a:p>
                      </a:txBody>
                      <a:tcPr>
                        <a:solidFill>
                          <a:schemeClr val="bg2"/>
                        </a:solidFill>
                      </a:tcPr>
                    </a:tc>
                    <a:tc gridSpan="2">
                      <a:txBody>
                        <a:bodyPr/>
                        <a:lstStyle/>
                        <a:p>
                          <a:endParaRPr lang="es-CO"/>
                        </a:p>
                      </a:txBody>
                      <a:tcPr>
                        <a:blipFill>
                          <a:blip r:embed="rId2"/>
                          <a:stretch>
                            <a:fillRect l="-32140" t="-1307692" r="-156" b="-29231"/>
                          </a:stretch>
                        </a:blipFill>
                      </a:tcPr>
                    </a:tc>
                    <a:tc hMerge="1">
                      <a:txBody>
                        <a:bodyPr/>
                        <a:lstStyle/>
                        <a:p>
                          <a:endParaRPr lang="es-CO"/>
                        </a:p>
                      </a:txBody>
                      <a:tcPr/>
                    </a:tc>
                    <a:extLst>
                      <a:ext uri="{0D108BD9-81ED-4DB2-BD59-A6C34878D82A}">
                        <a16:rowId xmlns:a16="http://schemas.microsoft.com/office/drawing/2014/main" val="40457137"/>
                      </a:ext>
                    </a:extLst>
                  </a:tr>
                </a:tbl>
              </a:graphicData>
            </a:graphic>
          </p:graphicFrame>
        </mc:Fallback>
      </mc:AlternateContent>
    </p:spTree>
    <p:extLst>
      <p:ext uri="{BB962C8B-B14F-4D97-AF65-F5344CB8AC3E}">
        <p14:creationId xmlns:p14="http://schemas.microsoft.com/office/powerpoint/2010/main" val="4244717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360218" y="226581"/>
            <a:ext cx="10993581" cy="1015664"/>
          </a:xfrm>
        </p:spPr>
        <p:txBody>
          <a:bodyPr/>
          <a:lstStyle/>
          <a:p>
            <a:r>
              <a:rPr lang="es-CO" dirty="0"/>
              <a:t>Demostraciones</a:t>
            </a:r>
          </a:p>
        </p:txBody>
      </p:sp>
      <p:sp>
        <p:nvSpPr>
          <p:cNvPr id="8" name="CuadroTexto 7">
            <a:extLst>
              <a:ext uri="{FF2B5EF4-FFF2-40B4-BE49-F238E27FC236}">
                <a16:creationId xmlns:a16="http://schemas.microsoft.com/office/drawing/2014/main" id="{4AA62499-0A79-4DB4-96F0-1187366C5807}"/>
              </a:ext>
            </a:extLst>
          </p:cNvPr>
          <p:cNvSpPr txBox="1"/>
          <p:nvPr/>
        </p:nvSpPr>
        <p:spPr>
          <a:xfrm>
            <a:off x="360218" y="1122130"/>
            <a:ext cx="11305310" cy="1107996"/>
          </a:xfrm>
          <a:prstGeom prst="rect">
            <a:avLst/>
          </a:prstGeom>
          <a:noFill/>
        </p:spPr>
        <p:txBody>
          <a:bodyPr wrap="square" rtlCol="0">
            <a:spAutoFit/>
          </a:bodyPr>
          <a:lstStyle/>
          <a:p>
            <a:pPr marL="457200" indent="-457200">
              <a:buFont typeface="Arial" panose="020B0604020202020204" pitchFamily="34" charset="0"/>
              <a:buChar char="•"/>
            </a:pPr>
            <a:r>
              <a:rPr lang="es-MX" sz="2200" dirty="0">
                <a:ea typeface="Roboto" panose="02000000000000000000" pitchFamily="2" charset="0"/>
              </a:rPr>
              <a:t>Para nuestro caso, las cosas no cambian demasiado con respecto a lo que ya sabemos. Solo cambia el dominio y las reglas de ese dominio.</a:t>
            </a:r>
          </a:p>
          <a:p>
            <a:pPr marL="457200" indent="-457200">
              <a:buFont typeface="Arial" panose="020B0604020202020204" pitchFamily="34" charset="0"/>
              <a:buChar char="•"/>
            </a:pPr>
            <a:r>
              <a:rPr lang="es-MX" sz="2200" dirty="0">
                <a:ea typeface="Roboto" panose="02000000000000000000" pitchFamily="2" charset="0"/>
              </a:rPr>
              <a:t>Identidades lógicas (viene a ser el equivalente a nuestra carta magna)</a:t>
            </a:r>
          </a:p>
        </p:txBody>
      </p:sp>
      <p:sp>
        <p:nvSpPr>
          <p:cNvPr id="3" name="CuadroTexto 2">
            <a:extLst>
              <a:ext uri="{FF2B5EF4-FFF2-40B4-BE49-F238E27FC236}">
                <a16:creationId xmlns:a16="http://schemas.microsoft.com/office/drawing/2014/main" id="{BDDBE47A-9E26-4855-BFEC-780A96F342D5}"/>
              </a:ext>
            </a:extLst>
          </p:cNvPr>
          <p:cNvSpPr txBox="1"/>
          <p:nvPr/>
        </p:nvSpPr>
        <p:spPr>
          <a:xfrm>
            <a:off x="4738255" y="3990213"/>
            <a:ext cx="2978727" cy="646331"/>
          </a:xfrm>
          <a:prstGeom prst="rect">
            <a:avLst/>
          </a:prstGeom>
          <a:solidFill>
            <a:schemeClr val="accent5">
              <a:lumMod val="20000"/>
              <a:lumOff val="80000"/>
            </a:schemeClr>
          </a:solidFill>
          <a:ln>
            <a:solidFill>
              <a:schemeClr val="tx1"/>
            </a:solidFill>
          </a:ln>
        </p:spPr>
        <p:txBody>
          <a:bodyPr wrap="square" rtlCol="0">
            <a:spAutoFit/>
          </a:bodyPr>
          <a:lstStyle/>
          <a:p>
            <a:pPr algn="ctr"/>
            <a:r>
              <a:rPr lang="es-CO" sz="3600" b="1" dirty="0"/>
              <a:t>Demostración</a:t>
            </a:r>
          </a:p>
        </p:txBody>
      </p:sp>
      <p:sp>
        <p:nvSpPr>
          <p:cNvPr id="9" name="CuadroTexto 8">
            <a:extLst>
              <a:ext uri="{FF2B5EF4-FFF2-40B4-BE49-F238E27FC236}">
                <a16:creationId xmlns:a16="http://schemas.microsoft.com/office/drawing/2014/main" id="{2C0D18EE-C7E7-4E68-AB4F-6DDC19F3C333}"/>
              </a:ext>
            </a:extLst>
          </p:cNvPr>
          <p:cNvSpPr txBox="1"/>
          <p:nvPr/>
        </p:nvSpPr>
        <p:spPr>
          <a:xfrm>
            <a:off x="8998526" y="3089852"/>
            <a:ext cx="2667001" cy="430887"/>
          </a:xfrm>
          <a:prstGeom prst="rect">
            <a:avLst/>
          </a:prstGeom>
          <a:noFill/>
          <a:ln>
            <a:solidFill>
              <a:schemeClr val="tx1"/>
            </a:solidFill>
          </a:ln>
        </p:spPr>
        <p:txBody>
          <a:bodyPr wrap="square" rtlCol="0">
            <a:spAutoFit/>
          </a:bodyPr>
          <a:lstStyle/>
          <a:p>
            <a:pPr algn="ctr"/>
            <a:r>
              <a:rPr lang="es-CO" sz="2200" b="1" dirty="0"/>
              <a:t>Enfoque Axiomático</a:t>
            </a:r>
          </a:p>
        </p:txBody>
      </p:sp>
      <p:sp>
        <p:nvSpPr>
          <p:cNvPr id="10" name="CuadroTexto 9">
            <a:extLst>
              <a:ext uri="{FF2B5EF4-FFF2-40B4-BE49-F238E27FC236}">
                <a16:creationId xmlns:a16="http://schemas.microsoft.com/office/drawing/2014/main" id="{D56286FF-C217-4120-B681-AAAC4E7D2540}"/>
              </a:ext>
            </a:extLst>
          </p:cNvPr>
          <p:cNvSpPr txBox="1"/>
          <p:nvPr/>
        </p:nvSpPr>
        <p:spPr>
          <a:xfrm>
            <a:off x="8998527" y="4989032"/>
            <a:ext cx="2667000" cy="769441"/>
          </a:xfrm>
          <a:prstGeom prst="rect">
            <a:avLst/>
          </a:prstGeom>
          <a:noFill/>
          <a:ln>
            <a:solidFill>
              <a:schemeClr val="tx1"/>
            </a:solidFill>
          </a:ln>
        </p:spPr>
        <p:txBody>
          <a:bodyPr wrap="square" rtlCol="0">
            <a:spAutoFit/>
          </a:bodyPr>
          <a:lstStyle/>
          <a:p>
            <a:pPr algn="ctr"/>
            <a:r>
              <a:rPr lang="es-CO" sz="2200" b="1" dirty="0"/>
              <a:t>Enfoque Basado en modelos</a:t>
            </a:r>
          </a:p>
        </p:txBody>
      </p:sp>
      <p:sp>
        <p:nvSpPr>
          <p:cNvPr id="11" name="CuadroTexto 10">
            <a:extLst>
              <a:ext uri="{FF2B5EF4-FFF2-40B4-BE49-F238E27FC236}">
                <a16:creationId xmlns:a16="http://schemas.microsoft.com/office/drawing/2014/main" id="{C79E6209-1BA3-4576-8282-10C6B8E96120}"/>
              </a:ext>
            </a:extLst>
          </p:cNvPr>
          <p:cNvSpPr txBox="1"/>
          <p:nvPr/>
        </p:nvSpPr>
        <p:spPr>
          <a:xfrm>
            <a:off x="1724889" y="3028890"/>
            <a:ext cx="1901534" cy="430887"/>
          </a:xfrm>
          <a:prstGeom prst="rect">
            <a:avLst/>
          </a:prstGeom>
          <a:solidFill>
            <a:schemeClr val="accent6">
              <a:lumMod val="20000"/>
              <a:lumOff val="80000"/>
            </a:schemeClr>
          </a:solidFill>
          <a:ln>
            <a:solidFill>
              <a:schemeClr val="tx1"/>
            </a:solidFill>
          </a:ln>
        </p:spPr>
        <p:txBody>
          <a:bodyPr wrap="square" rtlCol="0">
            <a:spAutoFit/>
          </a:bodyPr>
          <a:lstStyle/>
          <a:p>
            <a:pPr algn="ctr"/>
            <a:r>
              <a:rPr lang="es-CO" sz="2200" b="1" dirty="0"/>
              <a:t>Equivalencia</a:t>
            </a:r>
          </a:p>
        </p:txBody>
      </p:sp>
      <p:sp>
        <p:nvSpPr>
          <p:cNvPr id="12" name="CuadroTexto 11">
            <a:extLst>
              <a:ext uri="{FF2B5EF4-FFF2-40B4-BE49-F238E27FC236}">
                <a16:creationId xmlns:a16="http://schemas.microsoft.com/office/drawing/2014/main" id="{D0650F18-5FD9-4A15-8269-5651D3AB4F84}"/>
              </a:ext>
            </a:extLst>
          </p:cNvPr>
          <p:cNvSpPr txBox="1"/>
          <p:nvPr/>
        </p:nvSpPr>
        <p:spPr>
          <a:xfrm>
            <a:off x="1724888" y="5119724"/>
            <a:ext cx="1901535" cy="430887"/>
          </a:xfrm>
          <a:prstGeom prst="rect">
            <a:avLst/>
          </a:prstGeom>
          <a:noFill/>
          <a:ln>
            <a:solidFill>
              <a:schemeClr val="tx1"/>
            </a:solidFill>
          </a:ln>
        </p:spPr>
        <p:txBody>
          <a:bodyPr wrap="square" rtlCol="0">
            <a:spAutoFit/>
          </a:bodyPr>
          <a:lstStyle/>
          <a:p>
            <a:pPr algn="ctr"/>
            <a:r>
              <a:rPr lang="es-CO" sz="2200" b="1" dirty="0"/>
              <a:t>Validez</a:t>
            </a:r>
          </a:p>
        </p:txBody>
      </p:sp>
      <p:cxnSp>
        <p:nvCxnSpPr>
          <p:cNvPr id="6" name="Conector: angular 5">
            <a:extLst>
              <a:ext uri="{FF2B5EF4-FFF2-40B4-BE49-F238E27FC236}">
                <a16:creationId xmlns:a16="http://schemas.microsoft.com/office/drawing/2014/main" id="{2CADB8DB-1EB0-4945-856A-F4E8E6AA4664}"/>
              </a:ext>
            </a:extLst>
          </p:cNvPr>
          <p:cNvCxnSpPr>
            <a:cxnSpLocks/>
            <a:stCxn id="3" idx="1"/>
            <a:endCxn id="12" idx="3"/>
          </p:cNvCxnSpPr>
          <p:nvPr/>
        </p:nvCxnSpPr>
        <p:spPr>
          <a:xfrm rot="10800000" flipV="1">
            <a:off x="3626423" y="4313378"/>
            <a:ext cx="1111832" cy="1021789"/>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angular 14">
            <a:extLst>
              <a:ext uri="{FF2B5EF4-FFF2-40B4-BE49-F238E27FC236}">
                <a16:creationId xmlns:a16="http://schemas.microsoft.com/office/drawing/2014/main" id="{2D4294A9-A916-441B-895B-92E69ABAAFC0}"/>
              </a:ext>
            </a:extLst>
          </p:cNvPr>
          <p:cNvCxnSpPr>
            <a:cxnSpLocks/>
            <a:stCxn id="3" idx="1"/>
            <a:endCxn id="11" idx="3"/>
          </p:cNvCxnSpPr>
          <p:nvPr/>
        </p:nvCxnSpPr>
        <p:spPr>
          <a:xfrm rot="10800000">
            <a:off x="3626423" y="3244335"/>
            <a:ext cx="1111832" cy="1069045"/>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angular 21">
            <a:extLst>
              <a:ext uri="{FF2B5EF4-FFF2-40B4-BE49-F238E27FC236}">
                <a16:creationId xmlns:a16="http://schemas.microsoft.com/office/drawing/2014/main" id="{E1E755EF-B95B-4F08-B265-1F1747DD8DD4}"/>
              </a:ext>
            </a:extLst>
          </p:cNvPr>
          <p:cNvCxnSpPr>
            <a:cxnSpLocks/>
            <a:stCxn id="3" idx="3"/>
            <a:endCxn id="9" idx="1"/>
          </p:cNvCxnSpPr>
          <p:nvPr/>
        </p:nvCxnSpPr>
        <p:spPr>
          <a:xfrm flipV="1">
            <a:off x="7716982" y="3305296"/>
            <a:ext cx="1281544" cy="1008083"/>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angular 24">
            <a:extLst>
              <a:ext uri="{FF2B5EF4-FFF2-40B4-BE49-F238E27FC236}">
                <a16:creationId xmlns:a16="http://schemas.microsoft.com/office/drawing/2014/main" id="{14E11DA7-C269-4A21-B228-5311BE906572}"/>
              </a:ext>
            </a:extLst>
          </p:cNvPr>
          <p:cNvCxnSpPr>
            <a:cxnSpLocks/>
            <a:stCxn id="3" idx="3"/>
            <a:endCxn id="10" idx="1"/>
          </p:cNvCxnSpPr>
          <p:nvPr/>
        </p:nvCxnSpPr>
        <p:spPr>
          <a:xfrm>
            <a:off x="7716982" y="4313379"/>
            <a:ext cx="1281545" cy="106037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DD43B1F2-E879-471E-87F0-782FC0ECA421}"/>
              </a:ext>
            </a:extLst>
          </p:cNvPr>
          <p:cNvSpPr txBox="1"/>
          <p:nvPr/>
        </p:nvSpPr>
        <p:spPr>
          <a:xfrm>
            <a:off x="9500056" y="5860073"/>
            <a:ext cx="1745221" cy="307777"/>
          </a:xfrm>
          <a:prstGeom prst="rect">
            <a:avLst/>
          </a:prstGeom>
          <a:noFill/>
        </p:spPr>
        <p:txBody>
          <a:bodyPr wrap="none" lIns="0" tIns="0" rIns="0" bIns="0" rtlCol="0">
            <a:spAutoFit/>
          </a:bodyPr>
          <a:lstStyle/>
          <a:p>
            <a:r>
              <a:rPr lang="es-CO" sz="2000" dirty="0"/>
              <a:t>Tablas de verdad</a:t>
            </a:r>
          </a:p>
        </p:txBody>
      </p:sp>
      <p:sp>
        <p:nvSpPr>
          <p:cNvPr id="34" name="CuadroTexto 33">
            <a:extLst>
              <a:ext uri="{FF2B5EF4-FFF2-40B4-BE49-F238E27FC236}">
                <a16:creationId xmlns:a16="http://schemas.microsoft.com/office/drawing/2014/main" id="{2CC61D66-EB50-4F13-BC33-AB41E5DC09AF}"/>
              </a:ext>
            </a:extLst>
          </p:cNvPr>
          <p:cNvSpPr txBox="1"/>
          <p:nvPr/>
        </p:nvSpPr>
        <p:spPr>
          <a:xfrm>
            <a:off x="8828815" y="3698419"/>
            <a:ext cx="3087705" cy="307777"/>
          </a:xfrm>
          <a:prstGeom prst="rect">
            <a:avLst/>
          </a:prstGeom>
          <a:noFill/>
        </p:spPr>
        <p:txBody>
          <a:bodyPr wrap="none" lIns="0" tIns="0" rIns="0" bIns="0" rtlCol="0">
            <a:spAutoFit/>
          </a:bodyPr>
          <a:lstStyle/>
          <a:p>
            <a:r>
              <a:rPr lang="es-CO" sz="2000" dirty="0"/>
              <a:t>Axiomas / Identidades lógicas</a:t>
            </a:r>
          </a:p>
        </p:txBody>
      </p:sp>
      <p:sp>
        <p:nvSpPr>
          <p:cNvPr id="31" name="CuadroTexto 30">
            <a:extLst>
              <a:ext uri="{FF2B5EF4-FFF2-40B4-BE49-F238E27FC236}">
                <a16:creationId xmlns:a16="http://schemas.microsoft.com/office/drawing/2014/main" id="{A3CF25C0-FBBE-4F4B-92F9-BDA70A7B0189}"/>
              </a:ext>
            </a:extLst>
          </p:cNvPr>
          <p:cNvSpPr txBox="1"/>
          <p:nvPr/>
        </p:nvSpPr>
        <p:spPr>
          <a:xfrm>
            <a:off x="4582392" y="3160187"/>
            <a:ext cx="2978727" cy="646331"/>
          </a:xfrm>
          <a:prstGeom prst="rect">
            <a:avLst/>
          </a:prstGeom>
          <a:noFill/>
        </p:spPr>
        <p:txBody>
          <a:bodyPr wrap="square">
            <a:spAutoFit/>
          </a:bodyPr>
          <a:lstStyle/>
          <a:p>
            <a:r>
              <a:rPr lang="es-MX" dirty="0"/>
              <a:t>Hoy trabajamos la rama de Equivalencia</a:t>
            </a:r>
            <a:endParaRPr lang="es-CO" dirty="0"/>
          </a:p>
        </p:txBody>
      </p:sp>
      <p:sp>
        <p:nvSpPr>
          <p:cNvPr id="28" name="Explosión: 14 puntos 27">
            <a:extLst>
              <a:ext uri="{FF2B5EF4-FFF2-40B4-BE49-F238E27FC236}">
                <a16:creationId xmlns:a16="http://schemas.microsoft.com/office/drawing/2014/main" id="{AB5EAC44-B102-4E3C-A4E1-20DB4E98FBCA}"/>
              </a:ext>
            </a:extLst>
          </p:cNvPr>
          <p:cNvSpPr/>
          <p:nvPr/>
        </p:nvSpPr>
        <p:spPr>
          <a:xfrm>
            <a:off x="151084" y="2230126"/>
            <a:ext cx="1639598" cy="1963798"/>
          </a:xfrm>
          <a:prstGeom prst="irregularSeal2">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rPr>
              <a:t>Clase de hoy</a:t>
            </a:r>
            <a:endParaRPr lang="es-CO" b="1" dirty="0">
              <a:solidFill>
                <a:schemeClr val="tx1"/>
              </a:solidFill>
            </a:endParaRPr>
          </a:p>
        </p:txBody>
      </p:sp>
    </p:spTree>
    <p:extLst>
      <p:ext uri="{BB962C8B-B14F-4D97-AF65-F5344CB8AC3E}">
        <p14:creationId xmlns:p14="http://schemas.microsoft.com/office/powerpoint/2010/main" val="11062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360217" y="217862"/>
            <a:ext cx="11471563" cy="1325563"/>
          </a:xfrm>
        </p:spPr>
        <p:txBody>
          <a:bodyPr/>
          <a:lstStyle/>
          <a:p>
            <a:r>
              <a:rPr lang="es-CO" dirty="0"/>
              <a:t>Demostración - </a:t>
            </a:r>
            <a:r>
              <a:rPr lang="es-CO" dirty="0">
                <a:solidFill>
                  <a:srgbClr val="C00000"/>
                </a:solidFill>
              </a:rPr>
              <a:t>Enfoque basado en modelos</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360217" y="1247841"/>
                <a:ext cx="11471563" cy="415202"/>
              </a:xfrm>
            </p:spPr>
            <p:txBody>
              <a:bodyPr>
                <a:normAutofit/>
              </a:bodyPr>
              <a:lstStyle/>
              <a:p>
                <a:pPr marL="0" indent="0">
                  <a:buNone/>
                </a:pPr>
                <a:r>
                  <a:rPr lang="es-MX" sz="2200" b="1" i="0" dirty="0">
                    <a:effectLst/>
                  </a:rPr>
                  <a:t>Repaso</a:t>
                </a:r>
                <a:r>
                  <a:rPr lang="es-MX" sz="2200" b="0" i="0" dirty="0">
                    <a:effectLst/>
                  </a:rPr>
                  <a:t>: Demostrar que </a:t>
                </a:r>
                <a14:m>
                  <m:oMath xmlns:m="http://schemas.openxmlformats.org/officeDocument/2006/math">
                    <m:r>
                      <a:rPr lang="es-MX" sz="2200" b="0" i="1" smtClean="0">
                        <a:effectLst/>
                        <a:latin typeface="Cambria Math" panose="02040503050406030204" pitchFamily="18" charset="0"/>
                      </a:rPr>
                      <m:t>𝑃</m:t>
                    </m:r>
                    <m:r>
                      <a:rPr lang="es-MX" sz="2200" b="0" i="1" smtClean="0">
                        <a:effectLst/>
                        <a:latin typeface="Cambria Math" panose="02040503050406030204" pitchFamily="18" charset="0"/>
                        <a:ea typeface="Cambria Math" panose="02040503050406030204" pitchFamily="18" charset="0"/>
                      </a:rPr>
                      <m:t>∧</m:t>
                    </m:r>
                    <m:d>
                      <m:dPr>
                        <m:ctrlPr>
                          <a:rPr lang="es-MX" sz="2200" b="0" i="1" smtClean="0">
                            <a:effectLst/>
                            <a:latin typeface="Cambria Math" panose="02040503050406030204" pitchFamily="18" charset="0"/>
                            <a:ea typeface="Cambria Math" panose="02040503050406030204" pitchFamily="18" charset="0"/>
                          </a:rPr>
                        </m:ctrlPr>
                      </m:dPr>
                      <m:e>
                        <m:r>
                          <a:rPr lang="es-MX" sz="2200" b="0" i="1" smtClean="0">
                            <a:effectLst/>
                            <a:latin typeface="Cambria Math" panose="02040503050406030204" pitchFamily="18" charset="0"/>
                            <a:ea typeface="Cambria Math" panose="02040503050406030204" pitchFamily="18" charset="0"/>
                          </a:rPr>
                          <m:t>𝑃</m:t>
                        </m:r>
                        <m:r>
                          <a:rPr lang="es-MX" sz="2200" b="0" i="1" smtClean="0">
                            <a:effectLst/>
                            <a:latin typeface="Cambria Math" panose="02040503050406030204" pitchFamily="18" charset="0"/>
                            <a:ea typeface="Cambria Math" panose="02040503050406030204" pitchFamily="18" charset="0"/>
                          </a:rPr>
                          <m:t>∨</m:t>
                        </m:r>
                        <m:r>
                          <a:rPr lang="es-MX" sz="2200" b="0" i="1" smtClean="0">
                            <a:effectLst/>
                            <a:latin typeface="Cambria Math" panose="02040503050406030204" pitchFamily="18" charset="0"/>
                            <a:ea typeface="Cambria Math" panose="02040503050406030204" pitchFamily="18" charset="0"/>
                          </a:rPr>
                          <m:t>𝑄</m:t>
                        </m:r>
                      </m:e>
                    </m:d>
                    <m:r>
                      <a:rPr lang="es-MX" sz="2200" b="0" i="1" smtClean="0">
                        <a:effectLst/>
                        <a:latin typeface="Cambria Math" panose="02040503050406030204" pitchFamily="18" charset="0"/>
                        <a:ea typeface="Cambria Math" panose="02040503050406030204" pitchFamily="18" charset="0"/>
                      </a:rPr>
                      <m:t>≡</m:t>
                    </m:r>
                    <m:r>
                      <a:rPr lang="es-MX" sz="2200" b="0" i="1" smtClean="0">
                        <a:effectLst/>
                        <a:latin typeface="Cambria Math" panose="02040503050406030204" pitchFamily="18" charset="0"/>
                        <a:ea typeface="Cambria Math" panose="02040503050406030204" pitchFamily="18" charset="0"/>
                      </a:rPr>
                      <m:t>𝑃</m:t>
                    </m:r>
                  </m:oMath>
                </a14:m>
                <a:endParaRPr lang="es-MX" sz="2200" b="0" i="0" dirty="0">
                  <a:effectLst/>
                </a:endParaRPr>
              </a:p>
            </p:txBody>
          </p:sp>
        </mc:Choice>
        <mc:Fallback>
          <p:sp>
            <p:nvSpPr>
              <p:cNvPr id="3" name="Marcador de contenido 2">
                <a:extLst>
                  <a:ext uri="{FF2B5EF4-FFF2-40B4-BE49-F238E27FC236}">
                    <a16:creationId xmlns:a16="http://schemas.microsoft.com/office/drawing/2014/main" id="{8C611C1C-AB20-4127-87E3-88401D8503D0}"/>
                  </a:ext>
                </a:extLst>
              </p:cNvPr>
              <p:cNvSpPr>
                <a:spLocks noGrp="1" noRot="1" noChangeAspect="1" noMove="1" noResize="1" noEditPoints="1" noAdjustHandles="1" noChangeArrowheads="1" noChangeShapeType="1" noTextEdit="1"/>
              </p:cNvSpPr>
              <p:nvPr>
                <p:ph idx="1"/>
              </p:nvPr>
            </p:nvSpPr>
            <p:spPr>
              <a:xfrm>
                <a:off x="360217" y="1247841"/>
                <a:ext cx="11471563" cy="415202"/>
              </a:xfrm>
              <a:blipFill>
                <a:blip r:embed="rId2"/>
                <a:stretch>
                  <a:fillRect l="-691" t="-17647" b="-250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7" name="Marcador de contenido 2">
                <a:extLst>
                  <a:ext uri="{FF2B5EF4-FFF2-40B4-BE49-F238E27FC236}">
                    <a16:creationId xmlns:a16="http://schemas.microsoft.com/office/drawing/2014/main" id="{2360356B-BEE7-4FE7-B045-24A9AEFB932E}"/>
                  </a:ext>
                </a:extLst>
              </p:cNvPr>
              <p:cNvSpPr txBox="1">
                <a:spLocks/>
              </p:cNvSpPr>
              <p:nvPr/>
            </p:nvSpPr>
            <p:spPr>
              <a:xfrm>
                <a:off x="360218" y="1652590"/>
                <a:ext cx="11471563" cy="11321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MX" sz="2000" b="1" dirty="0"/>
                  <a:t>Solución</a:t>
                </a:r>
                <a:r>
                  <a:rPr lang="es-MX" sz="2000" dirty="0"/>
                  <a:t>:</a:t>
                </a:r>
              </a:p>
              <a:p>
                <a:r>
                  <a:rPr lang="es-MX" sz="2000" b="1" dirty="0"/>
                  <a:t>Variables</a:t>
                </a:r>
                <a:r>
                  <a:rPr lang="es-MX" sz="2000" dirty="0"/>
                  <a:t>: </a:t>
                </a:r>
                <a14:m>
                  <m:oMath xmlns:m="http://schemas.openxmlformats.org/officeDocument/2006/math">
                    <m:r>
                      <a:rPr lang="es-MX" sz="2000" b="0" i="1" smtClean="0">
                        <a:effectLst/>
                        <a:latin typeface="Cambria Math" panose="02040503050406030204" pitchFamily="18" charset="0"/>
                      </a:rPr>
                      <m:t>𝑃</m:t>
                    </m:r>
                  </m:oMath>
                </a14:m>
                <a:r>
                  <a:rPr lang="es-MX" sz="2000" dirty="0"/>
                  <a:t>, </a:t>
                </a:r>
                <a14:m>
                  <m:oMath xmlns:m="http://schemas.openxmlformats.org/officeDocument/2006/math">
                    <m:r>
                      <a:rPr lang="es-MX" sz="2000" b="0" i="1" smtClean="0">
                        <a:latin typeface="Cambria Math" panose="02040503050406030204" pitchFamily="18" charset="0"/>
                      </a:rPr>
                      <m:t>𝑄</m:t>
                    </m:r>
                    <m:r>
                      <a:rPr lang="es-MX" sz="2000" b="0" i="0" smtClean="0">
                        <a:latin typeface="Cambria Math" panose="02040503050406030204" pitchFamily="18" charset="0"/>
                      </a:rPr>
                      <m:t>→</m:t>
                    </m:r>
                    <m:r>
                      <a:rPr lang="es-MX" sz="2000" b="0" i="1" smtClean="0">
                        <a:effectLst/>
                        <a:latin typeface="Cambria Math" panose="02040503050406030204" pitchFamily="18" charset="0"/>
                        <a:ea typeface="Cambria Math" panose="02040503050406030204" pitchFamily="18" charset="0"/>
                      </a:rPr>
                      <m:t>𝑛</m:t>
                    </m:r>
                    <m:r>
                      <a:rPr lang="es-MX" sz="2000" b="0" i="1" smtClean="0">
                        <a:effectLst/>
                        <a:latin typeface="Cambria Math" panose="02040503050406030204" pitchFamily="18" charset="0"/>
                        <a:ea typeface="Cambria Math" panose="02040503050406030204" pitchFamily="18" charset="0"/>
                      </a:rPr>
                      <m:t>=2</m:t>
                    </m:r>
                  </m:oMath>
                </a14:m>
                <a:endParaRPr lang="es-MX" sz="2000" dirty="0"/>
              </a:p>
              <a:p>
                <a:r>
                  <a:rPr lang="es-MX" sz="2000" b="1" dirty="0"/>
                  <a:t>Numero de filas</a:t>
                </a:r>
                <a:r>
                  <a:rPr lang="es-MX" sz="2000" dirty="0"/>
                  <a:t>:</a:t>
                </a:r>
                <a14:m>
                  <m:oMath xmlns:m="http://schemas.openxmlformats.org/officeDocument/2006/math">
                    <m:r>
                      <a:rPr lang="es-MX" sz="2000" b="0" i="0" smtClean="0">
                        <a:latin typeface="Cambria Math" panose="02040503050406030204" pitchFamily="18" charset="0"/>
                      </a:rPr>
                      <m:t> </m:t>
                    </m:r>
                    <m:r>
                      <a:rPr lang="es-MX" sz="2000" b="0" i="1" smtClean="0">
                        <a:latin typeface="Cambria Math" panose="02040503050406030204" pitchFamily="18" charset="0"/>
                      </a:rPr>
                      <m:t>𝐹</m:t>
                    </m:r>
                    <m:r>
                      <a:rPr lang="es-MX" sz="2000" b="0" i="1" smtClean="0">
                        <a:latin typeface="Cambria Math" panose="02040503050406030204" pitchFamily="18" charset="0"/>
                      </a:rPr>
                      <m:t>=</m:t>
                    </m:r>
                    <m:sSup>
                      <m:sSupPr>
                        <m:ctrlPr>
                          <a:rPr lang="es-MX" sz="2000" b="0" i="1" smtClean="0">
                            <a:latin typeface="Cambria Math" panose="02040503050406030204" pitchFamily="18" charset="0"/>
                          </a:rPr>
                        </m:ctrlPr>
                      </m:sSupPr>
                      <m:e>
                        <m:r>
                          <a:rPr lang="es-MX" sz="2000" b="0" i="1" smtClean="0">
                            <a:latin typeface="Cambria Math" panose="02040503050406030204" pitchFamily="18" charset="0"/>
                          </a:rPr>
                          <m:t>2</m:t>
                        </m:r>
                      </m:e>
                      <m:sup>
                        <m:r>
                          <a:rPr lang="es-MX" sz="2000" b="0" i="1" smtClean="0">
                            <a:latin typeface="Cambria Math" panose="02040503050406030204" pitchFamily="18" charset="0"/>
                          </a:rPr>
                          <m:t>2</m:t>
                        </m:r>
                      </m:sup>
                    </m:sSup>
                    <m:r>
                      <a:rPr lang="es-MX" sz="2000" b="0" i="1" smtClean="0">
                        <a:latin typeface="Cambria Math" panose="02040503050406030204" pitchFamily="18" charset="0"/>
                      </a:rPr>
                      <m:t>=4</m:t>
                    </m:r>
                  </m:oMath>
                </a14:m>
                <a:endParaRPr lang="es-MX" sz="2000" dirty="0"/>
              </a:p>
            </p:txBody>
          </p:sp>
        </mc:Choice>
        <mc:Fallback>
          <p:sp>
            <p:nvSpPr>
              <p:cNvPr id="7" name="Marcador de contenido 2">
                <a:extLst>
                  <a:ext uri="{FF2B5EF4-FFF2-40B4-BE49-F238E27FC236}">
                    <a16:creationId xmlns:a16="http://schemas.microsoft.com/office/drawing/2014/main" id="{2360356B-BEE7-4FE7-B045-24A9AEFB932E}"/>
                  </a:ext>
                </a:extLst>
              </p:cNvPr>
              <p:cNvSpPr txBox="1">
                <a:spLocks noRot="1" noChangeAspect="1" noMove="1" noResize="1" noEditPoints="1" noAdjustHandles="1" noChangeArrowheads="1" noChangeShapeType="1" noTextEdit="1"/>
              </p:cNvSpPr>
              <p:nvPr/>
            </p:nvSpPr>
            <p:spPr>
              <a:xfrm>
                <a:off x="360218" y="1652590"/>
                <a:ext cx="11471563" cy="1132174"/>
              </a:xfrm>
              <a:prstGeom prst="rect">
                <a:avLst/>
              </a:prstGeom>
              <a:blipFill>
                <a:blip r:embed="rId3"/>
                <a:stretch>
                  <a:fillRect l="-531" t="-5376" b="-12903"/>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8" name="Tabla 4">
                <a:extLst>
                  <a:ext uri="{FF2B5EF4-FFF2-40B4-BE49-F238E27FC236}">
                    <a16:creationId xmlns:a16="http://schemas.microsoft.com/office/drawing/2014/main" id="{A527C4A8-B9DF-4F2B-9959-665A86DB83F3}"/>
                  </a:ext>
                </a:extLst>
              </p:cNvPr>
              <p:cNvGraphicFramePr>
                <a:graphicFrameLocks noGrp="1"/>
              </p:cNvGraphicFramePr>
              <p:nvPr>
                <p:extLst>
                  <p:ext uri="{D42A27DB-BD31-4B8C-83A1-F6EECF244321}">
                    <p14:modId xmlns:p14="http://schemas.microsoft.com/office/powerpoint/2010/main" val="4150193497"/>
                  </p:ext>
                </p:extLst>
              </p:nvPr>
            </p:nvGraphicFramePr>
            <p:xfrm>
              <a:off x="1049480" y="3429000"/>
              <a:ext cx="3210793" cy="1981200"/>
            </p:xfrm>
            <a:graphic>
              <a:graphicData uri="http://schemas.openxmlformats.org/drawingml/2006/table">
                <a:tbl>
                  <a:tblPr firstRow="1" bandRow="1"/>
                  <a:tblGrid>
                    <a:gridCol w="535132">
                      <a:extLst>
                        <a:ext uri="{9D8B030D-6E8A-4147-A177-3AD203B41FA5}">
                          <a16:colId xmlns:a16="http://schemas.microsoft.com/office/drawing/2014/main" val="776375974"/>
                        </a:ext>
                      </a:extLst>
                    </a:gridCol>
                    <a:gridCol w="535132">
                      <a:extLst>
                        <a:ext uri="{9D8B030D-6E8A-4147-A177-3AD203B41FA5}">
                          <a16:colId xmlns:a16="http://schemas.microsoft.com/office/drawing/2014/main" val="384604534"/>
                        </a:ext>
                      </a:extLst>
                    </a:gridCol>
                    <a:gridCol w="2140529">
                      <a:extLst>
                        <a:ext uri="{9D8B030D-6E8A-4147-A177-3AD203B41FA5}">
                          <a16:colId xmlns:a16="http://schemas.microsoft.com/office/drawing/2014/main" val="1121803805"/>
                        </a:ext>
                      </a:extLst>
                    </a:gridCol>
                  </a:tblGrid>
                  <a:tr h="22643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𝑷</m:t>
                                </m:r>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𝑸</m:t>
                                </m:r>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effectLst/>
                                    <a:latin typeface="Cambria Math" panose="02040503050406030204" pitchFamily="18" charset="0"/>
                                  </a:rPr>
                                  <m:t>𝑷</m:t>
                                </m:r>
                                <m:r>
                                  <a:rPr lang="es-MX" sz="2000" b="1" i="1" smtClean="0">
                                    <a:effectLst/>
                                    <a:latin typeface="Cambria Math" panose="02040503050406030204" pitchFamily="18" charset="0"/>
                                    <a:ea typeface="Cambria Math" panose="02040503050406030204" pitchFamily="18" charset="0"/>
                                  </a:rPr>
                                  <m:t>∧</m:t>
                                </m:r>
                                <m:d>
                                  <m:dPr>
                                    <m:ctrlPr>
                                      <a:rPr lang="es-MX" sz="2000" b="1" i="1" smtClean="0">
                                        <a:effectLst/>
                                        <a:latin typeface="Cambria Math" panose="02040503050406030204" pitchFamily="18" charset="0"/>
                                        <a:ea typeface="Cambria Math" panose="02040503050406030204" pitchFamily="18" charset="0"/>
                                      </a:rPr>
                                    </m:ctrlPr>
                                  </m:dPr>
                                  <m:e>
                                    <m:r>
                                      <a:rPr lang="es-MX" sz="2000" b="1" i="1" smtClean="0">
                                        <a:effectLst/>
                                        <a:latin typeface="Cambria Math" panose="02040503050406030204" pitchFamily="18" charset="0"/>
                                        <a:ea typeface="Cambria Math" panose="02040503050406030204" pitchFamily="18" charset="0"/>
                                      </a:rPr>
                                      <m:t>𝑷</m:t>
                                    </m:r>
                                    <m:r>
                                      <a:rPr lang="es-MX" sz="2000" b="1" i="1" smtClean="0">
                                        <a:effectLst/>
                                        <a:latin typeface="Cambria Math" panose="02040503050406030204" pitchFamily="18" charset="0"/>
                                        <a:ea typeface="Cambria Math" panose="02040503050406030204" pitchFamily="18" charset="0"/>
                                      </a:rPr>
                                      <m:t>∨</m:t>
                                    </m:r>
                                    <m:r>
                                      <a:rPr lang="es-MX" sz="2000" b="1" i="1" smtClean="0">
                                        <a:effectLst/>
                                        <a:latin typeface="Cambria Math" panose="02040503050406030204" pitchFamily="18" charset="0"/>
                                        <a:ea typeface="Cambria Math" panose="02040503050406030204" pitchFamily="18" charset="0"/>
                                      </a:rPr>
                                      <m:t>𝑸</m:t>
                                    </m:r>
                                  </m:e>
                                </m:d>
                                <m:r>
                                  <a:rPr lang="es-MX" sz="2000" b="1" i="1" smtClean="0">
                                    <a:effectLst/>
                                    <a:latin typeface="Cambria Math" panose="02040503050406030204" pitchFamily="18" charset="0"/>
                                    <a:ea typeface="Cambria Math" panose="02040503050406030204" pitchFamily="18" charset="0"/>
                                  </a:rPr>
                                  <m:t>↔</m:t>
                                </m:r>
                                <m:r>
                                  <a:rPr lang="es-MX" sz="2000" b="1" i="1" smtClean="0">
                                    <a:effectLst/>
                                    <a:latin typeface="Cambria Math" panose="02040503050406030204" pitchFamily="18" charset="0"/>
                                    <a:ea typeface="Cambria Math" panose="02040503050406030204" pitchFamily="18" charset="0"/>
                                  </a:rPr>
                                  <m:t>𝑷</m:t>
                                </m:r>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extLst>
                      <a:ext uri="{0D108BD9-81ED-4DB2-BD59-A6C34878D82A}">
                        <a16:rowId xmlns:a16="http://schemas.microsoft.com/office/drawing/2014/main" val="113670299"/>
                      </a:ext>
                    </a:extLst>
                  </a:tr>
                  <a:tr h="22643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805549228"/>
                      </a:ext>
                    </a:extLst>
                  </a:tr>
                  <a:tr h="226435">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353127006"/>
                      </a:ext>
                    </a:extLst>
                  </a:tr>
                  <a:tr h="22643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651764017"/>
                      </a:ext>
                    </a:extLst>
                  </a:tr>
                  <a:tr h="226435">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841338906"/>
                      </a:ext>
                    </a:extLst>
                  </a:tr>
                </a:tbl>
              </a:graphicData>
            </a:graphic>
          </p:graphicFrame>
        </mc:Choice>
        <mc:Fallback>
          <p:graphicFrame>
            <p:nvGraphicFramePr>
              <p:cNvPr id="8" name="Tabla 4">
                <a:extLst>
                  <a:ext uri="{FF2B5EF4-FFF2-40B4-BE49-F238E27FC236}">
                    <a16:creationId xmlns:a16="http://schemas.microsoft.com/office/drawing/2014/main" id="{A527C4A8-B9DF-4F2B-9959-665A86DB83F3}"/>
                  </a:ext>
                </a:extLst>
              </p:cNvPr>
              <p:cNvGraphicFramePr>
                <a:graphicFrameLocks noGrp="1"/>
              </p:cNvGraphicFramePr>
              <p:nvPr>
                <p:extLst>
                  <p:ext uri="{D42A27DB-BD31-4B8C-83A1-F6EECF244321}">
                    <p14:modId xmlns:p14="http://schemas.microsoft.com/office/powerpoint/2010/main" val="4150193497"/>
                  </p:ext>
                </p:extLst>
              </p:nvPr>
            </p:nvGraphicFramePr>
            <p:xfrm>
              <a:off x="1049480" y="3429000"/>
              <a:ext cx="3210793" cy="1981200"/>
            </p:xfrm>
            <a:graphic>
              <a:graphicData uri="http://schemas.openxmlformats.org/drawingml/2006/table">
                <a:tbl>
                  <a:tblPr firstRow="1" bandRow="1"/>
                  <a:tblGrid>
                    <a:gridCol w="535132">
                      <a:extLst>
                        <a:ext uri="{9D8B030D-6E8A-4147-A177-3AD203B41FA5}">
                          <a16:colId xmlns:a16="http://schemas.microsoft.com/office/drawing/2014/main" val="776375974"/>
                        </a:ext>
                      </a:extLst>
                    </a:gridCol>
                    <a:gridCol w="535132">
                      <a:extLst>
                        <a:ext uri="{9D8B030D-6E8A-4147-A177-3AD203B41FA5}">
                          <a16:colId xmlns:a16="http://schemas.microsoft.com/office/drawing/2014/main" val="384604534"/>
                        </a:ext>
                      </a:extLst>
                    </a:gridCol>
                    <a:gridCol w="2140529">
                      <a:extLst>
                        <a:ext uri="{9D8B030D-6E8A-4147-A177-3AD203B41FA5}">
                          <a16:colId xmlns:a16="http://schemas.microsoft.com/office/drawing/2014/main" val="1121803805"/>
                        </a:ext>
                      </a:extLst>
                    </a:gridCol>
                  </a:tblGrid>
                  <a:tr h="396240">
                    <a:tc>
                      <a:txBody>
                        <a:bodyPr/>
                        <a:lstStyle/>
                        <a:p>
                          <a:endParaRPr lang="es-CO"/>
                        </a:p>
                      </a:txBody>
                      <a:tcPr>
                        <a:blipFill>
                          <a:blip r:embed="rId4"/>
                          <a:stretch>
                            <a:fillRect l="-1136" t="-1538" r="-501136" b="-404615"/>
                          </a:stretch>
                        </a:blipFill>
                      </a:tcPr>
                    </a:tc>
                    <a:tc>
                      <a:txBody>
                        <a:bodyPr/>
                        <a:lstStyle/>
                        <a:p>
                          <a:endParaRPr lang="es-CO"/>
                        </a:p>
                      </a:txBody>
                      <a:tcPr>
                        <a:blipFill>
                          <a:blip r:embed="rId4"/>
                          <a:stretch>
                            <a:fillRect l="-101136" t="-1538" r="-401136" b="-404615"/>
                          </a:stretch>
                        </a:blipFill>
                      </a:tcPr>
                    </a:tc>
                    <a:tc>
                      <a:txBody>
                        <a:bodyPr/>
                        <a:lstStyle/>
                        <a:p>
                          <a:endParaRPr lang="es-CO"/>
                        </a:p>
                      </a:txBody>
                      <a:tcPr>
                        <a:blipFill>
                          <a:blip r:embed="rId4"/>
                          <a:stretch>
                            <a:fillRect l="-50427" t="-1538" r="-570" b="-404615"/>
                          </a:stretch>
                        </a:blipFill>
                      </a:tcPr>
                    </a:tc>
                    <a:extLst>
                      <a:ext uri="{0D108BD9-81ED-4DB2-BD59-A6C34878D82A}">
                        <a16:rowId xmlns:a16="http://schemas.microsoft.com/office/drawing/2014/main" val="113670299"/>
                      </a:ext>
                    </a:extLst>
                  </a:tr>
                  <a:tr h="396240">
                    <a:tc>
                      <a:txBody>
                        <a:bodyPr/>
                        <a:lstStyle/>
                        <a:p>
                          <a:endParaRPr lang="es-CO"/>
                        </a:p>
                      </a:txBody>
                      <a:tcPr>
                        <a:blipFill>
                          <a:blip r:embed="rId4"/>
                          <a:stretch>
                            <a:fillRect l="-1136" t="-101538" r="-501136" b="-304615"/>
                          </a:stretch>
                        </a:blipFill>
                      </a:tcPr>
                    </a:tc>
                    <a:tc>
                      <a:txBody>
                        <a:bodyPr/>
                        <a:lstStyle/>
                        <a:p>
                          <a:endParaRPr lang="es-CO"/>
                        </a:p>
                      </a:txBody>
                      <a:tcPr>
                        <a:blipFill>
                          <a:blip r:embed="rId4"/>
                          <a:stretch>
                            <a:fillRect l="-101136" t="-101538" r="-401136" b="-304615"/>
                          </a:stretch>
                        </a:blipFill>
                      </a:tcPr>
                    </a:tc>
                    <a:tc>
                      <a:txBody>
                        <a:bodyPr/>
                        <a:lstStyle/>
                        <a:p>
                          <a:endParaRPr lang="es-CO"/>
                        </a:p>
                      </a:txBody>
                      <a:tcPr>
                        <a:blipFill>
                          <a:blip r:embed="rId4"/>
                          <a:stretch>
                            <a:fillRect l="-50427" t="-101538" r="-570" b="-304615"/>
                          </a:stretch>
                        </a:blipFill>
                      </a:tcPr>
                    </a:tc>
                    <a:extLst>
                      <a:ext uri="{0D108BD9-81ED-4DB2-BD59-A6C34878D82A}">
                        <a16:rowId xmlns:a16="http://schemas.microsoft.com/office/drawing/2014/main" val="1805549228"/>
                      </a:ext>
                    </a:extLst>
                  </a:tr>
                  <a:tr h="396240">
                    <a:tc>
                      <a:txBody>
                        <a:bodyPr/>
                        <a:lstStyle/>
                        <a:p>
                          <a:endParaRPr lang="es-CO"/>
                        </a:p>
                      </a:txBody>
                      <a:tcPr>
                        <a:blipFill>
                          <a:blip r:embed="rId4"/>
                          <a:stretch>
                            <a:fillRect l="-1136" t="-198485" r="-501136" b="-200000"/>
                          </a:stretch>
                        </a:blipFill>
                      </a:tcPr>
                    </a:tc>
                    <a:tc>
                      <a:txBody>
                        <a:bodyPr/>
                        <a:lstStyle/>
                        <a:p>
                          <a:endParaRPr lang="es-CO"/>
                        </a:p>
                      </a:txBody>
                      <a:tcPr>
                        <a:blipFill>
                          <a:blip r:embed="rId4"/>
                          <a:stretch>
                            <a:fillRect l="-101136" t="-198485" r="-401136" b="-200000"/>
                          </a:stretch>
                        </a:blipFill>
                      </a:tcPr>
                    </a:tc>
                    <a:tc>
                      <a:txBody>
                        <a:bodyPr/>
                        <a:lstStyle/>
                        <a:p>
                          <a:endParaRPr lang="es-CO"/>
                        </a:p>
                      </a:txBody>
                      <a:tcPr>
                        <a:blipFill>
                          <a:blip r:embed="rId4"/>
                          <a:stretch>
                            <a:fillRect l="-50427" t="-198485" r="-570" b="-200000"/>
                          </a:stretch>
                        </a:blipFill>
                      </a:tcPr>
                    </a:tc>
                    <a:extLst>
                      <a:ext uri="{0D108BD9-81ED-4DB2-BD59-A6C34878D82A}">
                        <a16:rowId xmlns:a16="http://schemas.microsoft.com/office/drawing/2014/main" val="2353127006"/>
                      </a:ext>
                    </a:extLst>
                  </a:tr>
                  <a:tr h="396240">
                    <a:tc>
                      <a:txBody>
                        <a:bodyPr/>
                        <a:lstStyle/>
                        <a:p>
                          <a:endParaRPr lang="es-CO"/>
                        </a:p>
                      </a:txBody>
                      <a:tcPr>
                        <a:blipFill>
                          <a:blip r:embed="rId4"/>
                          <a:stretch>
                            <a:fillRect l="-1136" t="-303077" r="-501136" b="-103077"/>
                          </a:stretch>
                        </a:blipFill>
                      </a:tcPr>
                    </a:tc>
                    <a:tc>
                      <a:txBody>
                        <a:bodyPr/>
                        <a:lstStyle/>
                        <a:p>
                          <a:endParaRPr lang="es-CO"/>
                        </a:p>
                      </a:txBody>
                      <a:tcPr>
                        <a:blipFill>
                          <a:blip r:embed="rId4"/>
                          <a:stretch>
                            <a:fillRect l="-101136" t="-303077" r="-401136" b="-103077"/>
                          </a:stretch>
                        </a:blipFill>
                      </a:tcPr>
                    </a:tc>
                    <a:tc>
                      <a:txBody>
                        <a:bodyPr/>
                        <a:lstStyle/>
                        <a:p>
                          <a:endParaRPr lang="es-CO"/>
                        </a:p>
                      </a:txBody>
                      <a:tcPr>
                        <a:blipFill>
                          <a:blip r:embed="rId4"/>
                          <a:stretch>
                            <a:fillRect l="-50427" t="-303077" r="-570" b="-103077"/>
                          </a:stretch>
                        </a:blipFill>
                      </a:tcPr>
                    </a:tc>
                    <a:extLst>
                      <a:ext uri="{0D108BD9-81ED-4DB2-BD59-A6C34878D82A}">
                        <a16:rowId xmlns:a16="http://schemas.microsoft.com/office/drawing/2014/main" val="3651764017"/>
                      </a:ext>
                    </a:extLst>
                  </a:tr>
                  <a:tr h="396240">
                    <a:tc>
                      <a:txBody>
                        <a:bodyPr/>
                        <a:lstStyle/>
                        <a:p>
                          <a:endParaRPr lang="es-CO"/>
                        </a:p>
                      </a:txBody>
                      <a:tcPr>
                        <a:blipFill>
                          <a:blip r:embed="rId4"/>
                          <a:stretch>
                            <a:fillRect l="-1136" t="-403077" r="-501136" b="-3077"/>
                          </a:stretch>
                        </a:blipFill>
                      </a:tcPr>
                    </a:tc>
                    <a:tc>
                      <a:txBody>
                        <a:bodyPr/>
                        <a:lstStyle/>
                        <a:p>
                          <a:endParaRPr lang="es-CO"/>
                        </a:p>
                      </a:txBody>
                      <a:tcPr>
                        <a:blipFill>
                          <a:blip r:embed="rId4"/>
                          <a:stretch>
                            <a:fillRect l="-101136" t="-403077" r="-401136" b="-3077"/>
                          </a:stretch>
                        </a:blipFill>
                      </a:tcPr>
                    </a:tc>
                    <a:tc>
                      <a:txBody>
                        <a:bodyPr/>
                        <a:lstStyle/>
                        <a:p>
                          <a:endParaRPr lang="es-CO"/>
                        </a:p>
                      </a:txBody>
                      <a:tcPr>
                        <a:blipFill>
                          <a:blip r:embed="rId4"/>
                          <a:stretch>
                            <a:fillRect l="-50427" t="-403077" r="-570" b="-3077"/>
                          </a:stretch>
                        </a:blipFill>
                      </a:tcPr>
                    </a:tc>
                    <a:extLst>
                      <a:ext uri="{0D108BD9-81ED-4DB2-BD59-A6C34878D82A}">
                        <a16:rowId xmlns:a16="http://schemas.microsoft.com/office/drawing/2014/main" val="284133890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Tabla 4">
                <a:extLst>
                  <a:ext uri="{FF2B5EF4-FFF2-40B4-BE49-F238E27FC236}">
                    <a16:creationId xmlns:a16="http://schemas.microsoft.com/office/drawing/2014/main" id="{98E1D196-E0BB-4743-B4D6-A67F7ACB96FB}"/>
                  </a:ext>
                </a:extLst>
              </p:cNvPr>
              <p:cNvGraphicFramePr>
                <a:graphicFrameLocks noGrp="1"/>
              </p:cNvGraphicFramePr>
              <p:nvPr>
                <p:extLst>
                  <p:ext uri="{D42A27DB-BD31-4B8C-83A1-F6EECF244321}">
                    <p14:modId xmlns:p14="http://schemas.microsoft.com/office/powerpoint/2010/main" val="2039904131"/>
                  </p:ext>
                </p:extLst>
              </p:nvPr>
            </p:nvGraphicFramePr>
            <p:xfrm>
              <a:off x="6033868" y="3455821"/>
              <a:ext cx="5797912" cy="1981200"/>
            </p:xfrm>
            <a:graphic>
              <a:graphicData uri="http://schemas.openxmlformats.org/drawingml/2006/table">
                <a:tbl>
                  <a:tblPr firstRow="1" bandRow="1"/>
                  <a:tblGrid>
                    <a:gridCol w="430983">
                      <a:extLst>
                        <a:ext uri="{9D8B030D-6E8A-4147-A177-3AD203B41FA5}">
                          <a16:colId xmlns:a16="http://schemas.microsoft.com/office/drawing/2014/main" val="776375974"/>
                        </a:ext>
                      </a:extLst>
                    </a:gridCol>
                    <a:gridCol w="430983">
                      <a:extLst>
                        <a:ext uri="{9D8B030D-6E8A-4147-A177-3AD203B41FA5}">
                          <a16:colId xmlns:a16="http://schemas.microsoft.com/office/drawing/2014/main" val="384604534"/>
                        </a:ext>
                      </a:extLst>
                    </a:gridCol>
                    <a:gridCol w="918345">
                      <a:extLst>
                        <a:ext uri="{9D8B030D-6E8A-4147-A177-3AD203B41FA5}">
                          <a16:colId xmlns:a16="http://schemas.microsoft.com/office/drawing/2014/main" val="3144753678"/>
                        </a:ext>
                      </a:extLst>
                    </a:gridCol>
                    <a:gridCol w="1516443">
                      <a:extLst>
                        <a:ext uri="{9D8B030D-6E8A-4147-A177-3AD203B41FA5}">
                          <a16:colId xmlns:a16="http://schemas.microsoft.com/office/drawing/2014/main" val="2593877112"/>
                        </a:ext>
                      </a:extLst>
                    </a:gridCol>
                    <a:gridCol w="2501158">
                      <a:extLst>
                        <a:ext uri="{9D8B030D-6E8A-4147-A177-3AD203B41FA5}">
                          <a16:colId xmlns:a16="http://schemas.microsoft.com/office/drawing/2014/main" val="1121803805"/>
                        </a:ext>
                      </a:extLst>
                    </a:gridCol>
                  </a:tblGrid>
                  <a:tr h="20075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𝑷</m:t>
                                </m:r>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𝑸</m:t>
                                </m:r>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𝑷</m:t>
                                </m:r>
                                <m:r>
                                  <a:rPr lang="es-MX" sz="2000" b="1" i="1" smtClean="0">
                                    <a:effectLst/>
                                    <a:latin typeface="Cambria Math" panose="02040503050406030204" pitchFamily="18" charset="0"/>
                                    <a:ea typeface="Cambria Math" panose="02040503050406030204" pitchFamily="18" charset="0"/>
                                  </a:rPr>
                                  <m:t>∨</m:t>
                                </m:r>
                                <m:r>
                                  <a:rPr lang="es-MX" sz="2000" b="1" i="1" smtClean="0">
                                    <a:effectLst/>
                                    <a:latin typeface="Cambria Math" panose="02040503050406030204" pitchFamily="18" charset="0"/>
                                    <a:ea typeface="Cambria Math" panose="02040503050406030204" pitchFamily="18" charset="0"/>
                                  </a:rPr>
                                  <m:t>𝑸</m:t>
                                </m:r>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2000" b="1" i="1" smtClean="0">
                                    <a:effectLst/>
                                    <a:latin typeface="Cambria Math" panose="02040503050406030204" pitchFamily="18" charset="0"/>
                                    <a:ea typeface="Cambria Math" panose="02040503050406030204" pitchFamily="18" charset="0"/>
                                  </a:rPr>
                                  <m:t>𝑷</m:t>
                                </m:r>
                                <m:r>
                                  <a:rPr lang="es-MX" sz="2000" b="1" i="1" smtClean="0">
                                    <a:effectLst/>
                                    <a:latin typeface="Cambria Math" panose="02040503050406030204" pitchFamily="18" charset="0"/>
                                    <a:ea typeface="Cambria Math" panose="02040503050406030204" pitchFamily="18" charset="0"/>
                                  </a:rPr>
                                  <m:t>∧</m:t>
                                </m:r>
                                <m:d>
                                  <m:dPr>
                                    <m:ctrlPr>
                                      <a:rPr lang="es-MX" sz="2000" b="1" i="1" smtClean="0">
                                        <a:latin typeface="Cambria Math" panose="02040503050406030204" pitchFamily="18" charset="0"/>
                                        <a:ea typeface="Roboto" panose="02000000000000000000" pitchFamily="2" charset="0"/>
                                      </a:rPr>
                                    </m:ctrlPr>
                                  </m:dPr>
                                  <m:e>
                                    <m:r>
                                      <a:rPr lang="es-MX" sz="2000" b="1" i="1" smtClean="0">
                                        <a:latin typeface="Cambria Math" panose="02040503050406030204" pitchFamily="18" charset="0"/>
                                        <a:ea typeface="Roboto" panose="02000000000000000000" pitchFamily="2" charset="0"/>
                                      </a:rPr>
                                      <m:t>𝑷</m:t>
                                    </m:r>
                                    <m:r>
                                      <a:rPr lang="es-MX" sz="2000" b="1" i="1" smtClean="0">
                                        <a:effectLst/>
                                        <a:latin typeface="Cambria Math" panose="02040503050406030204" pitchFamily="18" charset="0"/>
                                        <a:ea typeface="Cambria Math" panose="02040503050406030204" pitchFamily="18" charset="0"/>
                                      </a:rPr>
                                      <m:t>∨</m:t>
                                    </m:r>
                                    <m:r>
                                      <a:rPr lang="es-MX" sz="2000" b="1" i="1" smtClean="0">
                                        <a:effectLst/>
                                        <a:latin typeface="Cambria Math" panose="02040503050406030204" pitchFamily="18" charset="0"/>
                                        <a:ea typeface="Cambria Math" panose="02040503050406030204" pitchFamily="18" charset="0"/>
                                      </a:rPr>
                                      <m:t>𝑸</m:t>
                                    </m:r>
                                  </m:e>
                                </m:d>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effectLst/>
                                    <a:latin typeface="Cambria Math" panose="02040503050406030204" pitchFamily="18" charset="0"/>
                                  </a:rPr>
                                  <m:t>𝑷</m:t>
                                </m:r>
                                <m:r>
                                  <a:rPr lang="es-MX" sz="2000" b="1" i="1" smtClean="0">
                                    <a:effectLst/>
                                    <a:latin typeface="Cambria Math" panose="02040503050406030204" pitchFamily="18" charset="0"/>
                                    <a:ea typeface="Cambria Math" panose="02040503050406030204" pitchFamily="18" charset="0"/>
                                  </a:rPr>
                                  <m:t>∧</m:t>
                                </m:r>
                                <m:d>
                                  <m:dPr>
                                    <m:ctrlPr>
                                      <a:rPr lang="es-MX" sz="2000" b="1" i="1" smtClean="0">
                                        <a:effectLst/>
                                        <a:latin typeface="Cambria Math" panose="02040503050406030204" pitchFamily="18" charset="0"/>
                                        <a:ea typeface="Cambria Math" panose="02040503050406030204" pitchFamily="18" charset="0"/>
                                      </a:rPr>
                                    </m:ctrlPr>
                                  </m:dPr>
                                  <m:e>
                                    <m:r>
                                      <a:rPr lang="es-MX" sz="2000" b="1" i="1" smtClean="0">
                                        <a:effectLst/>
                                        <a:latin typeface="Cambria Math" panose="02040503050406030204" pitchFamily="18" charset="0"/>
                                        <a:ea typeface="Cambria Math" panose="02040503050406030204" pitchFamily="18" charset="0"/>
                                      </a:rPr>
                                      <m:t>𝑷</m:t>
                                    </m:r>
                                    <m:r>
                                      <a:rPr lang="es-MX" sz="2000" b="1" i="1" smtClean="0">
                                        <a:effectLst/>
                                        <a:latin typeface="Cambria Math" panose="02040503050406030204" pitchFamily="18" charset="0"/>
                                        <a:ea typeface="Cambria Math" panose="02040503050406030204" pitchFamily="18" charset="0"/>
                                      </a:rPr>
                                      <m:t>∨</m:t>
                                    </m:r>
                                    <m:r>
                                      <a:rPr lang="es-MX" sz="2000" b="1" i="1" smtClean="0">
                                        <a:effectLst/>
                                        <a:latin typeface="Cambria Math" panose="02040503050406030204" pitchFamily="18" charset="0"/>
                                        <a:ea typeface="Cambria Math" panose="02040503050406030204" pitchFamily="18" charset="0"/>
                                      </a:rPr>
                                      <m:t>𝑸</m:t>
                                    </m:r>
                                  </m:e>
                                </m:d>
                                <m:r>
                                  <a:rPr lang="es-MX" sz="2000" b="1" i="1" smtClean="0">
                                    <a:effectLst/>
                                    <a:latin typeface="Cambria Math" panose="02040503050406030204" pitchFamily="18" charset="0"/>
                                    <a:ea typeface="Cambria Math" panose="02040503050406030204" pitchFamily="18" charset="0"/>
                                  </a:rPr>
                                  <m:t>↔</m:t>
                                </m:r>
                                <m:r>
                                  <a:rPr lang="es-MX" sz="2000" b="1" i="1" smtClean="0">
                                    <a:effectLst/>
                                    <a:latin typeface="Cambria Math" panose="02040503050406030204" pitchFamily="18" charset="0"/>
                                    <a:ea typeface="Cambria Math" panose="02040503050406030204" pitchFamily="18" charset="0"/>
                                  </a:rPr>
                                  <m:t>𝑷</m:t>
                                </m:r>
                              </m:oMath>
                            </m:oMathPara>
                          </a14:m>
                          <a:endParaRPr lang="es-CO" sz="2000" b="1" dirty="0">
                            <a:latin typeface="Roboto" panose="02000000000000000000" pitchFamily="2" charset="0"/>
                            <a:ea typeface="Roboto" panose="02000000000000000000" pitchFamily="2" charset="0"/>
                          </a:endParaRPr>
                        </a:p>
                      </a:txBody>
                      <a:tcPr>
                        <a:solidFill>
                          <a:schemeClr val="bg1">
                            <a:lumMod val="95000"/>
                          </a:schemeClr>
                        </a:solidFill>
                      </a:tcPr>
                    </a:tc>
                    <a:extLst>
                      <a:ext uri="{0D108BD9-81ED-4DB2-BD59-A6C34878D82A}">
                        <a16:rowId xmlns:a16="http://schemas.microsoft.com/office/drawing/2014/main" val="113670299"/>
                      </a:ext>
                    </a:extLst>
                  </a:tr>
                  <a:tr h="29281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tx1"/>
                                    </a:solidFill>
                                    <a:latin typeface="Cambria Math" panose="02040503050406030204" pitchFamily="18" charset="0"/>
                                    <a:ea typeface="Roboto" panose="02000000000000000000" pitchFamily="2" charset="0"/>
                                  </a:rPr>
                                  <m:t>𝟏</m:t>
                                </m:r>
                              </m:oMath>
                            </m:oMathPara>
                          </a14:m>
                          <a:endParaRPr lang="es-CO" sz="2000" b="1" dirty="0">
                            <a:solidFill>
                              <a:schemeClr val="tx1"/>
                            </a:solidFill>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805549228"/>
                      </a:ext>
                    </a:extLst>
                  </a:tr>
                  <a:tr h="279855">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2000" b="1" i="1" smtClean="0">
                                    <a:solidFill>
                                      <a:schemeClr val="tx1"/>
                                    </a:solidFill>
                                    <a:latin typeface="Cambria Math" panose="02040503050406030204" pitchFamily="18" charset="0"/>
                                    <a:ea typeface="Roboto" panose="02000000000000000000" pitchFamily="2" charset="0"/>
                                  </a:rPr>
                                  <m:t>𝟏</m:t>
                                </m:r>
                              </m:oMath>
                            </m:oMathPara>
                          </a14:m>
                          <a:endParaRPr lang="es-CO" sz="2000" b="1" dirty="0">
                            <a:solidFill>
                              <a:schemeClr val="tx1"/>
                            </a:solidFill>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353127006"/>
                      </a:ext>
                    </a:extLst>
                  </a:tr>
                  <a:tr h="27985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2000" b="1" i="1" smtClean="0">
                                    <a:solidFill>
                                      <a:schemeClr val="tx1"/>
                                    </a:solidFill>
                                    <a:latin typeface="Cambria Math" panose="02040503050406030204" pitchFamily="18" charset="0"/>
                                    <a:ea typeface="Roboto" panose="02000000000000000000" pitchFamily="2" charset="0"/>
                                  </a:rPr>
                                  <m:t>𝟏</m:t>
                                </m:r>
                              </m:oMath>
                            </m:oMathPara>
                          </a14:m>
                          <a:endParaRPr lang="es-CO" sz="2000" b="1" dirty="0">
                            <a:solidFill>
                              <a:schemeClr val="tx1"/>
                            </a:solidFill>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651764017"/>
                      </a:ext>
                    </a:extLst>
                  </a:tr>
                  <a:tr h="279855">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2000" b="1" i="1" smtClean="0">
                                    <a:solidFill>
                                      <a:schemeClr val="tx1"/>
                                    </a:solidFill>
                                    <a:latin typeface="Cambria Math" panose="02040503050406030204" pitchFamily="18" charset="0"/>
                                    <a:ea typeface="Roboto" panose="02000000000000000000" pitchFamily="2" charset="0"/>
                                  </a:rPr>
                                  <m:t>𝟏</m:t>
                                </m:r>
                              </m:oMath>
                            </m:oMathPara>
                          </a14:m>
                          <a:endParaRPr lang="es-CO" sz="2000" b="1" dirty="0">
                            <a:solidFill>
                              <a:schemeClr val="tx1"/>
                            </a:solidFill>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841338906"/>
                      </a:ext>
                    </a:extLst>
                  </a:tr>
                </a:tbl>
              </a:graphicData>
            </a:graphic>
          </p:graphicFrame>
        </mc:Choice>
        <mc:Fallback>
          <p:graphicFrame>
            <p:nvGraphicFramePr>
              <p:cNvPr id="9" name="Tabla 4">
                <a:extLst>
                  <a:ext uri="{FF2B5EF4-FFF2-40B4-BE49-F238E27FC236}">
                    <a16:creationId xmlns:a16="http://schemas.microsoft.com/office/drawing/2014/main" id="{98E1D196-E0BB-4743-B4D6-A67F7ACB96FB}"/>
                  </a:ext>
                </a:extLst>
              </p:cNvPr>
              <p:cNvGraphicFramePr>
                <a:graphicFrameLocks noGrp="1"/>
              </p:cNvGraphicFramePr>
              <p:nvPr>
                <p:extLst>
                  <p:ext uri="{D42A27DB-BD31-4B8C-83A1-F6EECF244321}">
                    <p14:modId xmlns:p14="http://schemas.microsoft.com/office/powerpoint/2010/main" val="2039904131"/>
                  </p:ext>
                </p:extLst>
              </p:nvPr>
            </p:nvGraphicFramePr>
            <p:xfrm>
              <a:off x="6033868" y="3455821"/>
              <a:ext cx="5797912" cy="1981200"/>
            </p:xfrm>
            <a:graphic>
              <a:graphicData uri="http://schemas.openxmlformats.org/drawingml/2006/table">
                <a:tbl>
                  <a:tblPr firstRow="1" bandRow="1"/>
                  <a:tblGrid>
                    <a:gridCol w="430983">
                      <a:extLst>
                        <a:ext uri="{9D8B030D-6E8A-4147-A177-3AD203B41FA5}">
                          <a16:colId xmlns:a16="http://schemas.microsoft.com/office/drawing/2014/main" val="776375974"/>
                        </a:ext>
                      </a:extLst>
                    </a:gridCol>
                    <a:gridCol w="430983">
                      <a:extLst>
                        <a:ext uri="{9D8B030D-6E8A-4147-A177-3AD203B41FA5}">
                          <a16:colId xmlns:a16="http://schemas.microsoft.com/office/drawing/2014/main" val="384604534"/>
                        </a:ext>
                      </a:extLst>
                    </a:gridCol>
                    <a:gridCol w="918345">
                      <a:extLst>
                        <a:ext uri="{9D8B030D-6E8A-4147-A177-3AD203B41FA5}">
                          <a16:colId xmlns:a16="http://schemas.microsoft.com/office/drawing/2014/main" val="3144753678"/>
                        </a:ext>
                      </a:extLst>
                    </a:gridCol>
                    <a:gridCol w="1516443">
                      <a:extLst>
                        <a:ext uri="{9D8B030D-6E8A-4147-A177-3AD203B41FA5}">
                          <a16:colId xmlns:a16="http://schemas.microsoft.com/office/drawing/2014/main" val="2593877112"/>
                        </a:ext>
                      </a:extLst>
                    </a:gridCol>
                    <a:gridCol w="2501158">
                      <a:extLst>
                        <a:ext uri="{9D8B030D-6E8A-4147-A177-3AD203B41FA5}">
                          <a16:colId xmlns:a16="http://schemas.microsoft.com/office/drawing/2014/main" val="1121803805"/>
                        </a:ext>
                      </a:extLst>
                    </a:gridCol>
                  </a:tblGrid>
                  <a:tr h="396240">
                    <a:tc>
                      <a:txBody>
                        <a:bodyPr/>
                        <a:lstStyle/>
                        <a:p>
                          <a:endParaRPr lang="es-CO"/>
                        </a:p>
                      </a:txBody>
                      <a:tcPr>
                        <a:blipFill>
                          <a:blip r:embed="rId5"/>
                          <a:stretch>
                            <a:fillRect l="-1408" t="-1538" r="-1243662" b="-404615"/>
                          </a:stretch>
                        </a:blipFill>
                      </a:tcPr>
                    </a:tc>
                    <a:tc>
                      <a:txBody>
                        <a:bodyPr/>
                        <a:lstStyle/>
                        <a:p>
                          <a:endParaRPr lang="es-CO"/>
                        </a:p>
                      </a:txBody>
                      <a:tcPr>
                        <a:blipFill>
                          <a:blip r:embed="rId5"/>
                          <a:stretch>
                            <a:fillRect l="-101408" t="-1538" r="-1143662" b="-404615"/>
                          </a:stretch>
                        </a:blipFill>
                      </a:tcPr>
                    </a:tc>
                    <a:tc>
                      <a:txBody>
                        <a:bodyPr/>
                        <a:lstStyle/>
                        <a:p>
                          <a:endParaRPr lang="es-CO"/>
                        </a:p>
                      </a:txBody>
                      <a:tcPr>
                        <a:blipFill>
                          <a:blip r:embed="rId5"/>
                          <a:stretch>
                            <a:fillRect l="-95333" t="-1538" r="-441333" b="-404615"/>
                          </a:stretch>
                        </a:blipFill>
                      </a:tcPr>
                    </a:tc>
                    <a:tc>
                      <a:txBody>
                        <a:bodyPr/>
                        <a:lstStyle/>
                        <a:p>
                          <a:endParaRPr lang="es-CO"/>
                        </a:p>
                      </a:txBody>
                      <a:tcPr>
                        <a:blipFill>
                          <a:blip r:embed="rId5"/>
                          <a:stretch>
                            <a:fillRect l="-117671" t="-1538" r="-165863" b="-404615"/>
                          </a:stretch>
                        </a:blipFill>
                      </a:tcPr>
                    </a:tc>
                    <a:tc>
                      <a:txBody>
                        <a:bodyPr/>
                        <a:lstStyle/>
                        <a:p>
                          <a:endParaRPr lang="es-CO"/>
                        </a:p>
                      </a:txBody>
                      <a:tcPr>
                        <a:blipFill>
                          <a:blip r:embed="rId5"/>
                          <a:stretch>
                            <a:fillRect l="-131873" t="-1538" r="-487" b="-404615"/>
                          </a:stretch>
                        </a:blipFill>
                      </a:tcPr>
                    </a:tc>
                    <a:extLst>
                      <a:ext uri="{0D108BD9-81ED-4DB2-BD59-A6C34878D82A}">
                        <a16:rowId xmlns:a16="http://schemas.microsoft.com/office/drawing/2014/main" val="113670299"/>
                      </a:ext>
                    </a:extLst>
                  </a:tr>
                  <a:tr h="396240">
                    <a:tc>
                      <a:txBody>
                        <a:bodyPr/>
                        <a:lstStyle/>
                        <a:p>
                          <a:endParaRPr lang="es-CO"/>
                        </a:p>
                      </a:txBody>
                      <a:tcPr>
                        <a:blipFill>
                          <a:blip r:embed="rId5"/>
                          <a:stretch>
                            <a:fillRect l="-1408" t="-101538" r="-1243662" b="-304615"/>
                          </a:stretch>
                        </a:blipFill>
                      </a:tcPr>
                    </a:tc>
                    <a:tc>
                      <a:txBody>
                        <a:bodyPr/>
                        <a:lstStyle/>
                        <a:p>
                          <a:endParaRPr lang="es-CO"/>
                        </a:p>
                      </a:txBody>
                      <a:tcPr>
                        <a:blipFill>
                          <a:blip r:embed="rId5"/>
                          <a:stretch>
                            <a:fillRect l="-101408" t="-101538" r="-1143662" b="-304615"/>
                          </a:stretch>
                        </a:blipFill>
                      </a:tcPr>
                    </a:tc>
                    <a:tc>
                      <a:txBody>
                        <a:bodyPr/>
                        <a:lstStyle/>
                        <a:p>
                          <a:endParaRPr lang="es-CO"/>
                        </a:p>
                      </a:txBody>
                      <a:tcPr>
                        <a:blipFill>
                          <a:blip r:embed="rId5"/>
                          <a:stretch>
                            <a:fillRect l="-95333" t="-101538" r="-441333" b="-304615"/>
                          </a:stretch>
                        </a:blipFill>
                      </a:tcPr>
                    </a:tc>
                    <a:tc>
                      <a:txBody>
                        <a:bodyPr/>
                        <a:lstStyle/>
                        <a:p>
                          <a:endParaRPr lang="es-CO"/>
                        </a:p>
                      </a:txBody>
                      <a:tcPr>
                        <a:blipFill>
                          <a:blip r:embed="rId5"/>
                          <a:stretch>
                            <a:fillRect l="-117671" t="-101538" r="-165863" b="-304615"/>
                          </a:stretch>
                        </a:blipFill>
                      </a:tcPr>
                    </a:tc>
                    <a:tc>
                      <a:txBody>
                        <a:bodyPr/>
                        <a:lstStyle/>
                        <a:p>
                          <a:endParaRPr lang="es-CO"/>
                        </a:p>
                      </a:txBody>
                      <a:tcPr>
                        <a:blipFill>
                          <a:blip r:embed="rId5"/>
                          <a:stretch>
                            <a:fillRect l="-131873" t="-101538" r="-487" b="-304615"/>
                          </a:stretch>
                        </a:blipFill>
                      </a:tcPr>
                    </a:tc>
                    <a:extLst>
                      <a:ext uri="{0D108BD9-81ED-4DB2-BD59-A6C34878D82A}">
                        <a16:rowId xmlns:a16="http://schemas.microsoft.com/office/drawing/2014/main" val="1805549228"/>
                      </a:ext>
                    </a:extLst>
                  </a:tr>
                  <a:tr h="396240">
                    <a:tc>
                      <a:txBody>
                        <a:bodyPr/>
                        <a:lstStyle/>
                        <a:p>
                          <a:endParaRPr lang="es-CO"/>
                        </a:p>
                      </a:txBody>
                      <a:tcPr>
                        <a:blipFill>
                          <a:blip r:embed="rId5"/>
                          <a:stretch>
                            <a:fillRect l="-1408" t="-198485" r="-1243662" b="-200000"/>
                          </a:stretch>
                        </a:blipFill>
                      </a:tcPr>
                    </a:tc>
                    <a:tc>
                      <a:txBody>
                        <a:bodyPr/>
                        <a:lstStyle/>
                        <a:p>
                          <a:endParaRPr lang="es-CO"/>
                        </a:p>
                      </a:txBody>
                      <a:tcPr>
                        <a:blipFill>
                          <a:blip r:embed="rId5"/>
                          <a:stretch>
                            <a:fillRect l="-101408" t="-198485" r="-1143662" b="-200000"/>
                          </a:stretch>
                        </a:blipFill>
                      </a:tcPr>
                    </a:tc>
                    <a:tc>
                      <a:txBody>
                        <a:bodyPr/>
                        <a:lstStyle/>
                        <a:p>
                          <a:endParaRPr lang="es-CO"/>
                        </a:p>
                      </a:txBody>
                      <a:tcPr>
                        <a:blipFill>
                          <a:blip r:embed="rId5"/>
                          <a:stretch>
                            <a:fillRect l="-95333" t="-198485" r="-441333" b="-200000"/>
                          </a:stretch>
                        </a:blipFill>
                      </a:tcPr>
                    </a:tc>
                    <a:tc>
                      <a:txBody>
                        <a:bodyPr/>
                        <a:lstStyle/>
                        <a:p>
                          <a:endParaRPr lang="es-CO"/>
                        </a:p>
                      </a:txBody>
                      <a:tcPr>
                        <a:blipFill>
                          <a:blip r:embed="rId5"/>
                          <a:stretch>
                            <a:fillRect l="-117671" t="-198485" r="-165863" b="-200000"/>
                          </a:stretch>
                        </a:blipFill>
                      </a:tcPr>
                    </a:tc>
                    <a:tc>
                      <a:txBody>
                        <a:bodyPr/>
                        <a:lstStyle/>
                        <a:p>
                          <a:endParaRPr lang="es-CO"/>
                        </a:p>
                      </a:txBody>
                      <a:tcPr>
                        <a:blipFill>
                          <a:blip r:embed="rId5"/>
                          <a:stretch>
                            <a:fillRect l="-131873" t="-198485" r="-487" b="-200000"/>
                          </a:stretch>
                        </a:blipFill>
                      </a:tcPr>
                    </a:tc>
                    <a:extLst>
                      <a:ext uri="{0D108BD9-81ED-4DB2-BD59-A6C34878D82A}">
                        <a16:rowId xmlns:a16="http://schemas.microsoft.com/office/drawing/2014/main" val="2353127006"/>
                      </a:ext>
                    </a:extLst>
                  </a:tr>
                  <a:tr h="396240">
                    <a:tc>
                      <a:txBody>
                        <a:bodyPr/>
                        <a:lstStyle/>
                        <a:p>
                          <a:endParaRPr lang="es-CO"/>
                        </a:p>
                      </a:txBody>
                      <a:tcPr>
                        <a:blipFill>
                          <a:blip r:embed="rId5"/>
                          <a:stretch>
                            <a:fillRect l="-1408" t="-303077" r="-1243662" b="-103077"/>
                          </a:stretch>
                        </a:blipFill>
                      </a:tcPr>
                    </a:tc>
                    <a:tc>
                      <a:txBody>
                        <a:bodyPr/>
                        <a:lstStyle/>
                        <a:p>
                          <a:endParaRPr lang="es-CO"/>
                        </a:p>
                      </a:txBody>
                      <a:tcPr>
                        <a:blipFill>
                          <a:blip r:embed="rId5"/>
                          <a:stretch>
                            <a:fillRect l="-101408" t="-303077" r="-1143662" b="-103077"/>
                          </a:stretch>
                        </a:blipFill>
                      </a:tcPr>
                    </a:tc>
                    <a:tc>
                      <a:txBody>
                        <a:bodyPr/>
                        <a:lstStyle/>
                        <a:p>
                          <a:endParaRPr lang="es-CO"/>
                        </a:p>
                      </a:txBody>
                      <a:tcPr>
                        <a:blipFill>
                          <a:blip r:embed="rId5"/>
                          <a:stretch>
                            <a:fillRect l="-95333" t="-303077" r="-441333" b="-103077"/>
                          </a:stretch>
                        </a:blipFill>
                      </a:tcPr>
                    </a:tc>
                    <a:tc>
                      <a:txBody>
                        <a:bodyPr/>
                        <a:lstStyle/>
                        <a:p>
                          <a:endParaRPr lang="es-CO"/>
                        </a:p>
                      </a:txBody>
                      <a:tcPr>
                        <a:blipFill>
                          <a:blip r:embed="rId5"/>
                          <a:stretch>
                            <a:fillRect l="-117671" t="-303077" r="-165863" b="-103077"/>
                          </a:stretch>
                        </a:blipFill>
                      </a:tcPr>
                    </a:tc>
                    <a:tc>
                      <a:txBody>
                        <a:bodyPr/>
                        <a:lstStyle/>
                        <a:p>
                          <a:endParaRPr lang="es-CO"/>
                        </a:p>
                      </a:txBody>
                      <a:tcPr>
                        <a:blipFill>
                          <a:blip r:embed="rId5"/>
                          <a:stretch>
                            <a:fillRect l="-131873" t="-303077" r="-487" b="-103077"/>
                          </a:stretch>
                        </a:blipFill>
                      </a:tcPr>
                    </a:tc>
                    <a:extLst>
                      <a:ext uri="{0D108BD9-81ED-4DB2-BD59-A6C34878D82A}">
                        <a16:rowId xmlns:a16="http://schemas.microsoft.com/office/drawing/2014/main" val="3651764017"/>
                      </a:ext>
                    </a:extLst>
                  </a:tr>
                  <a:tr h="396240">
                    <a:tc>
                      <a:txBody>
                        <a:bodyPr/>
                        <a:lstStyle/>
                        <a:p>
                          <a:endParaRPr lang="es-CO"/>
                        </a:p>
                      </a:txBody>
                      <a:tcPr>
                        <a:blipFill>
                          <a:blip r:embed="rId5"/>
                          <a:stretch>
                            <a:fillRect l="-1408" t="-403077" r="-1243662" b="-3077"/>
                          </a:stretch>
                        </a:blipFill>
                      </a:tcPr>
                    </a:tc>
                    <a:tc>
                      <a:txBody>
                        <a:bodyPr/>
                        <a:lstStyle/>
                        <a:p>
                          <a:endParaRPr lang="es-CO"/>
                        </a:p>
                      </a:txBody>
                      <a:tcPr>
                        <a:blipFill>
                          <a:blip r:embed="rId5"/>
                          <a:stretch>
                            <a:fillRect l="-101408" t="-403077" r="-1143662" b="-3077"/>
                          </a:stretch>
                        </a:blipFill>
                      </a:tcPr>
                    </a:tc>
                    <a:tc>
                      <a:txBody>
                        <a:bodyPr/>
                        <a:lstStyle/>
                        <a:p>
                          <a:endParaRPr lang="es-CO"/>
                        </a:p>
                      </a:txBody>
                      <a:tcPr>
                        <a:blipFill>
                          <a:blip r:embed="rId5"/>
                          <a:stretch>
                            <a:fillRect l="-95333" t="-403077" r="-441333" b="-3077"/>
                          </a:stretch>
                        </a:blipFill>
                      </a:tcPr>
                    </a:tc>
                    <a:tc>
                      <a:txBody>
                        <a:bodyPr/>
                        <a:lstStyle/>
                        <a:p>
                          <a:endParaRPr lang="es-CO"/>
                        </a:p>
                      </a:txBody>
                      <a:tcPr>
                        <a:blipFill>
                          <a:blip r:embed="rId5"/>
                          <a:stretch>
                            <a:fillRect l="-117671" t="-403077" r="-165863" b="-3077"/>
                          </a:stretch>
                        </a:blipFill>
                      </a:tcPr>
                    </a:tc>
                    <a:tc>
                      <a:txBody>
                        <a:bodyPr/>
                        <a:lstStyle/>
                        <a:p>
                          <a:endParaRPr lang="es-CO"/>
                        </a:p>
                      </a:txBody>
                      <a:tcPr>
                        <a:blipFill>
                          <a:blip r:embed="rId5"/>
                          <a:stretch>
                            <a:fillRect l="-131873" t="-403077" r="-487" b="-3077"/>
                          </a:stretch>
                        </a:blipFill>
                      </a:tcPr>
                    </a:tc>
                    <a:extLst>
                      <a:ext uri="{0D108BD9-81ED-4DB2-BD59-A6C34878D82A}">
                        <a16:rowId xmlns:a16="http://schemas.microsoft.com/office/drawing/2014/main" val="2841338906"/>
                      </a:ext>
                    </a:extLst>
                  </a:tr>
                </a:tbl>
              </a:graphicData>
            </a:graphic>
          </p:graphicFrame>
        </mc:Fallback>
      </mc:AlternateContent>
      <p:sp>
        <p:nvSpPr>
          <p:cNvPr id="10" name="Flecha: a la derecha 9">
            <a:extLst>
              <a:ext uri="{FF2B5EF4-FFF2-40B4-BE49-F238E27FC236}">
                <a16:creationId xmlns:a16="http://schemas.microsoft.com/office/drawing/2014/main" id="{61D7FD3B-C991-4EAD-95CE-68193207EEFC}"/>
              </a:ext>
            </a:extLst>
          </p:cNvPr>
          <p:cNvSpPr/>
          <p:nvPr/>
        </p:nvSpPr>
        <p:spPr>
          <a:xfrm>
            <a:off x="4814454" y="4328657"/>
            <a:ext cx="782782" cy="271051"/>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697583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838199" y="44797"/>
            <a:ext cx="10515600" cy="1254186"/>
          </a:xfrm>
        </p:spPr>
        <p:txBody>
          <a:bodyPr/>
          <a:lstStyle/>
          <a:p>
            <a:r>
              <a:rPr lang="es-CO" dirty="0"/>
              <a:t>Demostración - </a:t>
            </a:r>
            <a:r>
              <a:rPr lang="es-CO" dirty="0">
                <a:solidFill>
                  <a:srgbClr val="C00000"/>
                </a:solidFill>
              </a:rPr>
              <a:t>Enfoque Axiomático</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238165" y="1042912"/>
                <a:ext cx="11715667" cy="2253336"/>
              </a:xfrm>
            </p:spPr>
            <p:txBody>
              <a:bodyPr>
                <a:normAutofit/>
              </a:bodyPr>
              <a:lstStyle/>
              <a:p>
                <a:pPr marL="0" indent="0">
                  <a:buNone/>
                </a:pPr>
                <a:r>
                  <a:rPr lang="es-MX" sz="2200" i="0" dirty="0">
                    <a:effectLst/>
                  </a:rPr>
                  <a:t>El objetivo consiste en demostrar la equivalencia mediante un proceso deductivo que hace uso de Axiomas (Identidades lógicas) (</a:t>
                </a:r>
                <a14:m>
                  <m:oMath xmlns:m="http://schemas.openxmlformats.org/officeDocument/2006/math">
                    <m:r>
                      <a:rPr lang="es-MX" sz="2200" b="1" i="1" smtClean="0">
                        <a:effectLst/>
                        <a:latin typeface="Cambria Math" panose="02040503050406030204" pitchFamily="18" charset="0"/>
                      </a:rPr>
                      <m:t>𝑨</m:t>
                    </m:r>
                    <m:r>
                      <a:rPr lang="es-MX" sz="2200" b="1" i="1" smtClean="0">
                        <a:effectLst/>
                        <a:latin typeface="Cambria Math" panose="02040503050406030204" pitchFamily="18" charset="0"/>
                      </a:rPr>
                      <m:t>≡</m:t>
                    </m:r>
                    <m:r>
                      <a:rPr lang="es-MX" sz="2200" b="1" i="1" smtClean="0">
                        <a:effectLst/>
                        <a:latin typeface="Cambria Math" panose="02040503050406030204" pitchFamily="18" charset="0"/>
                      </a:rPr>
                      <m:t>𝑩</m:t>
                    </m:r>
                  </m:oMath>
                </a14:m>
                <a:r>
                  <a:rPr lang="es-MX" sz="2200" i="0" dirty="0">
                    <a:effectLst/>
                  </a:rPr>
                  <a:t>).</a:t>
                </a:r>
              </a:p>
              <a:p>
                <a:r>
                  <a:rPr lang="es-MX" sz="2000" b="0" i="0" dirty="0">
                    <a:effectLst/>
                  </a:rPr>
                  <a:t>Se parte de un lado de la expresión lógica inicial (ya sea </a:t>
                </a:r>
                <a14:m>
                  <m:oMath xmlns:m="http://schemas.openxmlformats.org/officeDocument/2006/math">
                    <m:r>
                      <a:rPr lang="es-MX" sz="2000" b="1" i="1" smtClean="0">
                        <a:effectLst/>
                        <a:latin typeface="Cambria Math" panose="02040503050406030204" pitchFamily="18" charset="0"/>
                      </a:rPr>
                      <m:t>𝑨</m:t>
                    </m:r>
                  </m:oMath>
                </a14:m>
                <a:r>
                  <a:rPr lang="es-MX" sz="2000" b="0" i="0" dirty="0">
                    <a:effectLst/>
                  </a:rPr>
                  <a:t> o </a:t>
                </a:r>
                <a14:m>
                  <m:oMath xmlns:m="http://schemas.openxmlformats.org/officeDocument/2006/math">
                    <m:r>
                      <a:rPr lang="es-MX" sz="2000" b="1" i="1" smtClean="0">
                        <a:latin typeface="Cambria Math" panose="02040503050406030204" pitchFamily="18" charset="0"/>
                      </a:rPr>
                      <m:t>𝑩</m:t>
                    </m:r>
                  </m:oMath>
                </a14:m>
                <a:r>
                  <a:rPr lang="es-MX" sz="2000" b="0" i="0" dirty="0">
                    <a:effectLst/>
                  </a:rPr>
                  <a:t>)</a:t>
                </a:r>
              </a:p>
              <a:p>
                <a:r>
                  <a:rPr lang="es-MX" sz="2000" dirty="0"/>
                  <a:t>Mediante el uso de identidades lógicas se transforma la expresión inicial en expresiones equivalentes hasta llegar a la expresión del lado opuesto (</a:t>
                </a:r>
                <a14:m>
                  <m:oMath xmlns:m="http://schemas.openxmlformats.org/officeDocument/2006/math">
                    <m:r>
                      <a:rPr lang="es-MX" sz="2000" b="1" i="1" smtClean="0">
                        <a:effectLst/>
                        <a:latin typeface="Cambria Math" panose="02040503050406030204" pitchFamily="18" charset="0"/>
                      </a:rPr>
                      <m:t>𝑨</m:t>
                    </m:r>
                    <m:r>
                      <a:rPr lang="es-MX" sz="2000" b="1" i="1">
                        <a:latin typeface="Cambria Math" panose="02040503050406030204" pitchFamily="18" charset="0"/>
                      </a:rPr>
                      <m:t>≡</m:t>
                    </m:r>
                    <m:sSub>
                      <m:sSubPr>
                        <m:ctrlPr>
                          <a:rPr lang="es-MX" sz="2000" b="1" i="1" smtClean="0">
                            <a:solidFill>
                              <a:srgbClr val="002060"/>
                            </a:solidFill>
                            <a:effectLst/>
                            <a:latin typeface="Cambria Math" panose="02040503050406030204" pitchFamily="18" charset="0"/>
                          </a:rPr>
                        </m:ctrlPr>
                      </m:sSubPr>
                      <m:e>
                        <m:r>
                          <a:rPr lang="es-MX" sz="2000" b="1" i="1" smtClean="0">
                            <a:solidFill>
                              <a:srgbClr val="002060"/>
                            </a:solidFill>
                            <a:effectLst/>
                            <a:latin typeface="Cambria Math" panose="02040503050406030204" pitchFamily="18" charset="0"/>
                          </a:rPr>
                          <m:t>𝑨</m:t>
                        </m:r>
                      </m:e>
                      <m:sub>
                        <m:r>
                          <a:rPr lang="es-MX" sz="2000" b="1" i="1" smtClean="0">
                            <a:solidFill>
                              <a:srgbClr val="002060"/>
                            </a:solidFill>
                            <a:effectLst/>
                            <a:latin typeface="Cambria Math" panose="02040503050406030204" pitchFamily="18" charset="0"/>
                          </a:rPr>
                          <m:t>𝟏</m:t>
                        </m:r>
                      </m:sub>
                    </m:sSub>
                    <m:r>
                      <a:rPr lang="es-MX" sz="2000" b="1" i="1">
                        <a:solidFill>
                          <a:srgbClr val="002060"/>
                        </a:solidFill>
                        <a:latin typeface="Cambria Math" panose="02040503050406030204" pitchFamily="18" charset="0"/>
                      </a:rPr>
                      <m:t>≡</m:t>
                    </m:r>
                    <m:sSub>
                      <m:sSubPr>
                        <m:ctrlPr>
                          <a:rPr lang="es-MX" sz="2000" b="1" i="1" smtClean="0">
                            <a:solidFill>
                              <a:srgbClr val="002060"/>
                            </a:solidFill>
                            <a:effectLst/>
                            <a:latin typeface="Cambria Math" panose="02040503050406030204" pitchFamily="18" charset="0"/>
                          </a:rPr>
                        </m:ctrlPr>
                      </m:sSubPr>
                      <m:e>
                        <m:r>
                          <a:rPr lang="es-MX" sz="2000" b="1" i="1" smtClean="0">
                            <a:solidFill>
                              <a:srgbClr val="002060"/>
                            </a:solidFill>
                            <a:effectLst/>
                            <a:latin typeface="Cambria Math" panose="02040503050406030204" pitchFamily="18" charset="0"/>
                          </a:rPr>
                          <m:t>𝑨</m:t>
                        </m:r>
                      </m:e>
                      <m:sub>
                        <m:r>
                          <a:rPr lang="es-MX" sz="2000" b="1" i="1" smtClean="0">
                            <a:solidFill>
                              <a:srgbClr val="002060"/>
                            </a:solidFill>
                            <a:effectLst/>
                            <a:latin typeface="Cambria Math" panose="02040503050406030204" pitchFamily="18" charset="0"/>
                          </a:rPr>
                          <m:t>𝟐</m:t>
                        </m:r>
                      </m:sub>
                    </m:sSub>
                    <m:r>
                      <a:rPr lang="es-MX" sz="2000" b="1" i="1">
                        <a:solidFill>
                          <a:srgbClr val="002060"/>
                        </a:solidFill>
                        <a:latin typeface="Cambria Math" panose="02040503050406030204" pitchFamily="18" charset="0"/>
                      </a:rPr>
                      <m:t>≡</m:t>
                    </m:r>
                    <m:r>
                      <a:rPr lang="es-MX" sz="2000" b="1" i="1" smtClean="0">
                        <a:solidFill>
                          <a:srgbClr val="002060"/>
                        </a:solidFill>
                        <a:effectLst/>
                        <a:latin typeface="Cambria Math" panose="02040503050406030204" pitchFamily="18" charset="0"/>
                      </a:rPr>
                      <m:t>…</m:t>
                    </m:r>
                    <m:r>
                      <a:rPr lang="es-MX" sz="2000" b="1" i="1">
                        <a:solidFill>
                          <a:srgbClr val="002060"/>
                        </a:solidFill>
                        <a:latin typeface="Cambria Math" panose="02040503050406030204" pitchFamily="18" charset="0"/>
                      </a:rPr>
                      <m:t>≡</m:t>
                    </m:r>
                    <m:sSub>
                      <m:sSubPr>
                        <m:ctrlPr>
                          <a:rPr lang="es-MX" sz="2000" b="1" i="1" smtClean="0">
                            <a:solidFill>
                              <a:srgbClr val="002060"/>
                            </a:solidFill>
                            <a:effectLst/>
                            <a:latin typeface="Cambria Math" panose="02040503050406030204" pitchFamily="18" charset="0"/>
                          </a:rPr>
                        </m:ctrlPr>
                      </m:sSubPr>
                      <m:e>
                        <m:r>
                          <a:rPr lang="es-MX" sz="2000" b="1" i="1" smtClean="0">
                            <a:solidFill>
                              <a:srgbClr val="002060"/>
                            </a:solidFill>
                            <a:effectLst/>
                            <a:latin typeface="Cambria Math" panose="02040503050406030204" pitchFamily="18" charset="0"/>
                          </a:rPr>
                          <m:t>𝑨</m:t>
                        </m:r>
                      </m:e>
                      <m:sub>
                        <m:r>
                          <a:rPr lang="es-MX" sz="2000" b="1" i="1" smtClean="0">
                            <a:solidFill>
                              <a:srgbClr val="002060"/>
                            </a:solidFill>
                            <a:effectLst/>
                            <a:latin typeface="Cambria Math" panose="02040503050406030204" pitchFamily="18" charset="0"/>
                          </a:rPr>
                          <m:t>𝒏</m:t>
                        </m:r>
                      </m:sub>
                    </m:sSub>
                    <m:r>
                      <a:rPr lang="es-MX" sz="2000" b="1" i="1">
                        <a:latin typeface="Cambria Math" panose="02040503050406030204" pitchFamily="18" charset="0"/>
                      </a:rPr>
                      <m:t>≡</m:t>
                    </m:r>
                    <m:r>
                      <a:rPr lang="es-MX" sz="2000" b="1" i="1" smtClean="0">
                        <a:latin typeface="Cambria Math" panose="02040503050406030204" pitchFamily="18" charset="0"/>
                      </a:rPr>
                      <m:t>𝑩</m:t>
                    </m:r>
                  </m:oMath>
                </a14:m>
                <a:r>
                  <a:rPr lang="es-MX" sz="2000" dirty="0"/>
                  <a:t>) </a:t>
                </a:r>
              </a:p>
              <a:p>
                <a:r>
                  <a:rPr lang="es-MX" sz="2000" b="0" i="0" dirty="0">
                    <a:effectLst/>
                  </a:rPr>
                  <a:t>Cuando se llega a la expresión del otro lado se ha logrado demostrar que </a:t>
                </a:r>
                <a14:m>
                  <m:oMath xmlns:m="http://schemas.openxmlformats.org/officeDocument/2006/math">
                    <m:r>
                      <a:rPr lang="es-MX" sz="2000" b="1" i="1" smtClean="0">
                        <a:effectLst/>
                        <a:latin typeface="Cambria Math" panose="02040503050406030204" pitchFamily="18" charset="0"/>
                      </a:rPr>
                      <m:t>𝑨</m:t>
                    </m:r>
                    <m:r>
                      <a:rPr lang="es-MX" sz="2000" b="1" i="1" smtClean="0">
                        <a:effectLst/>
                        <a:latin typeface="Cambria Math" panose="02040503050406030204" pitchFamily="18" charset="0"/>
                      </a:rPr>
                      <m:t>≡</m:t>
                    </m:r>
                    <m:r>
                      <a:rPr lang="es-MX" sz="2000" b="1" i="1" smtClean="0">
                        <a:effectLst/>
                        <a:latin typeface="Cambria Math" panose="02040503050406030204" pitchFamily="18" charset="0"/>
                      </a:rPr>
                      <m:t>𝑩</m:t>
                    </m:r>
                  </m:oMath>
                </a14:m>
                <a:r>
                  <a:rPr lang="es-MX" sz="2000" b="0" i="0" dirty="0">
                    <a:effectLst/>
                  </a:rPr>
                  <a:t> y por tanto el proceso acaba</a:t>
                </a:r>
              </a:p>
            </p:txBody>
          </p:sp>
        </mc:Choice>
        <mc:Fallback>
          <p:sp>
            <p:nvSpPr>
              <p:cNvPr id="3" name="Marcador de contenido 2">
                <a:extLst>
                  <a:ext uri="{FF2B5EF4-FFF2-40B4-BE49-F238E27FC236}">
                    <a16:creationId xmlns:a16="http://schemas.microsoft.com/office/drawing/2014/main" id="{8C611C1C-AB20-4127-87E3-88401D8503D0}"/>
                  </a:ext>
                </a:extLst>
              </p:cNvPr>
              <p:cNvSpPr>
                <a:spLocks noGrp="1" noRot="1" noChangeAspect="1" noMove="1" noResize="1" noEditPoints="1" noAdjustHandles="1" noChangeArrowheads="1" noChangeShapeType="1" noTextEdit="1"/>
              </p:cNvSpPr>
              <p:nvPr>
                <p:ph idx="1"/>
              </p:nvPr>
            </p:nvSpPr>
            <p:spPr>
              <a:xfrm>
                <a:off x="238165" y="1042912"/>
                <a:ext cx="11715667" cy="2253336"/>
              </a:xfrm>
              <a:blipFill>
                <a:blip r:embed="rId2"/>
                <a:stretch>
                  <a:fillRect l="-676" t="-3514" b="-1351"/>
                </a:stretch>
              </a:blipFill>
            </p:spPr>
            <p:txBody>
              <a:bodyPr/>
              <a:lstStyle/>
              <a:p>
                <a:r>
                  <a:rPr lang="es-CO">
                    <a:noFill/>
                  </a:rPr>
                  <a:t> </a:t>
                </a:r>
              </a:p>
            </p:txBody>
          </p:sp>
        </mc:Fallback>
      </mc:AlternateContent>
      <p:grpSp>
        <p:nvGrpSpPr>
          <p:cNvPr id="16" name="Grupo 15">
            <a:extLst>
              <a:ext uri="{FF2B5EF4-FFF2-40B4-BE49-F238E27FC236}">
                <a16:creationId xmlns:a16="http://schemas.microsoft.com/office/drawing/2014/main" id="{C02F86B9-91A5-4D08-92A0-59FE33D98514}"/>
              </a:ext>
            </a:extLst>
          </p:cNvPr>
          <p:cNvGrpSpPr/>
          <p:nvPr/>
        </p:nvGrpSpPr>
        <p:grpSpPr>
          <a:xfrm>
            <a:off x="4183908" y="3561753"/>
            <a:ext cx="4556826" cy="2308324"/>
            <a:chOff x="838199" y="4060762"/>
            <a:chExt cx="4556826" cy="2308324"/>
          </a:xfrm>
        </p:grpSpPr>
        <p:grpSp>
          <p:nvGrpSpPr>
            <p:cNvPr id="10" name="Grupo 9">
              <a:extLst>
                <a:ext uri="{FF2B5EF4-FFF2-40B4-BE49-F238E27FC236}">
                  <a16:creationId xmlns:a16="http://schemas.microsoft.com/office/drawing/2014/main" id="{BBBCB054-BC53-4610-B73B-441346BACC40}"/>
                </a:ext>
              </a:extLst>
            </p:cNvPr>
            <p:cNvGrpSpPr/>
            <p:nvPr/>
          </p:nvGrpSpPr>
          <p:grpSpPr>
            <a:xfrm>
              <a:off x="838199" y="4060762"/>
              <a:ext cx="1132114" cy="2308324"/>
              <a:chOff x="1059544" y="4002705"/>
              <a:chExt cx="1132114" cy="2308324"/>
            </a:xfrm>
          </p:grpSpPr>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ED20F18C-E455-426E-A83B-217DBCC463B3}"/>
                      </a:ext>
                    </a:extLst>
                  </p:cNvPr>
                  <p:cNvSpPr txBox="1"/>
                  <p:nvPr/>
                </p:nvSpPr>
                <p:spPr>
                  <a:xfrm>
                    <a:off x="1059544" y="4002705"/>
                    <a:ext cx="1132114" cy="2308324"/>
                  </a:xfrm>
                  <a:prstGeom prst="rect">
                    <a:avLst/>
                  </a:prstGeom>
                  <a:noFill/>
                </p:spPr>
                <p:txBody>
                  <a:bodyPr wrap="square">
                    <a:spAutoFit/>
                  </a:bodyPr>
                  <a:lstStyle/>
                  <a:p>
                    <a14:m>
                      <m:oMath xmlns:m="http://schemas.openxmlformats.org/officeDocument/2006/math">
                        <m:r>
                          <a:rPr lang="es-MX" sz="2400" b="0" i="1" smtClean="0">
                            <a:effectLst/>
                            <a:latin typeface="Cambria Math" panose="02040503050406030204" pitchFamily="18" charset="0"/>
                          </a:rPr>
                          <m:t>𝐴</m:t>
                        </m:r>
                        <m:r>
                          <a:rPr lang="es-MX" sz="2400" b="0" i="1" smtClean="0">
                            <a:effectLst/>
                            <a:latin typeface="Cambria Math" panose="02040503050406030204" pitchFamily="18" charset="0"/>
                          </a:rPr>
                          <m:t>≡</m:t>
                        </m:r>
                        <m:sSub>
                          <m:sSubPr>
                            <m:ctrlPr>
                              <a:rPr lang="es-MX" sz="2400" b="0" i="1" smtClean="0">
                                <a:solidFill>
                                  <a:srgbClr val="002060"/>
                                </a:solidFill>
                                <a:effectLst/>
                                <a:latin typeface="Cambria Math" panose="02040503050406030204" pitchFamily="18" charset="0"/>
                              </a:rPr>
                            </m:ctrlPr>
                          </m:sSubPr>
                          <m:e>
                            <m:r>
                              <a:rPr lang="es-MX" sz="2400" b="0" i="1" smtClean="0">
                                <a:solidFill>
                                  <a:srgbClr val="002060"/>
                                </a:solidFill>
                                <a:effectLst/>
                                <a:latin typeface="Cambria Math" panose="02040503050406030204" pitchFamily="18" charset="0"/>
                              </a:rPr>
                              <m:t>𝐴</m:t>
                            </m:r>
                          </m:e>
                          <m:sub>
                            <m:r>
                              <a:rPr lang="es-MX" sz="2400" b="0" i="1" smtClean="0">
                                <a:solidFill>
                                  <a:srgbClr val="002060"/>
                                </a:solidFill>
                                <a:effectLst/>
                                <a:latin typeface="Cambria Math" panose="02040503050406030204" pitchFamily="18" charset="0"/>
                              </a:rPr>
                              <m:t>1</m:t>
                            </m:r>
                          </m:sub>
                        </m:sSub>
                      </m:oMath>
                    </a14:m>
                    <a:r>
                      <a:rPr lang="es-MX" sz="2400" b="0" i="0" dirty="0">
                        <a:effectLst/>
                      </a:rPr>
                      <a:t> </a:t>
                    </a:r>
                    <a:endParaRPr lang="es-MX" sz="2400" i="1" dirty="0">
                      <a:latin typeface="Cambria Math" panose="02040503050406030204" pitchFamily="18" charset="0"/>
                    </a:endParaRPr>
                  </a:p>
                  <a:p>
                    <a:r>
                      <a:rPr lang="es-MX" sz="2400" dirty="0"/>
                      <a:t>    </a:t>
                    </a:r>
                    <a14:m>
                      <m:oMath xmlns:m="http://schemas.openxmlformats.org/officeDocument/2006/math">
                        <m:r>
                          <a:rPr lang="es-MX" sz="2400" i="1">
                            <a:latin typeface="Cambria Math" panose="02040503050406030204" pitchFamily="18" charset="0"/>
                          </a:rPr>
                          <m:t>≡</m:t>
                        </m:r>
                        <m:sSub>
                          <m:sSubPr>
                            <m:ctrlPr>
                              <a:rPr lang="es-MX" sz="2400" i="1" smtClean="0">
                                <a:solidFill>
                                  <a:srgbClr val="002060"/>
                                </a:solidFill>
                                <a:latin typeface="Cambria Math" panose="02040503050406030204" pitchFamily="18" charset="0"/>
                              </a:rPr>
                            </m:ctrlPr>
                          </m:sSubPr>
                          <m:e>
                            <m:r>
                              <a:rPr lang="es-MX" sz="2400" b="0" i="1" smtClean="0">
                                <a:solidFill>
                                  <a:srgbClr val="002060"/>
                                </a:solidFill>
                                <a:latin typeface="Cambria Math" panose="02040503050406030204" pitchFamily="18" charset="0"/>
                              </a:rPr>
                              <m:t>𝐴</m:t>
                            </m:r>
                          </m:e>
                          <m:sub>
                            <m:r>
                              <a:rPr lang="es-MX" sz="2400" b="0" i="1" smtClean="0">
                                <a:solidFill>
                                  <a:srgbClr val="002060"/>
                                </a:solidFill>
                                <a:latin typeface="Cambria Math" panose="02040503050406030204" pitchFamily="18" charset="0"/>
                              </a:rPr>
                              <m:t>2</m:t>
                            </m:r>
                          </m:sub>
                        </m:sSub>
                      </m:oMath>
                    </a14:m>
                    <a:endParaRPr lang="es-MX" sz="2400" dirty="0"/>
                  </a:p>
                  <a:p>
                    <a:pPr/>
                    <a14:m>
                      <m:oMathPara xmlns:m="http://schemas.openxmlformats.org/officeDocument/2006/math">
                        <m:oMathParaPr>
                          <m:jc m:val="left"/>
                        </m:oMathParaPr>
                        <m:oMath xmlns:m="http://schemas.openxmlformats.org/officeDocument/2006/math">
                          <m:r>
                            <a:rPr lang="es-MX" sz="2400" b="0" i="1" smtClean="0">
                              <a:effectLst/>
                              <a:latin typeface="Cambria Math" panose="02040503050406030204" pitchFamily="18" charset="0"/>
                              <a:ea typeface="Cambria Math" panose="02040503050406030204" pitchFamily="18" charset="0"/>
                            </a:rPr>
                            <m:t>     ⋮</m:t>
                          </m:r>
                        </m:oMath>
                      </m:oMathPara>
                    </a14:m>
                    <a:endParaRPr lang="es-MX" sz="2400" dirty="0"/>
                  </a:p>
                  <a:p>
                    <a:r>
                      <a:rPr lang="es-MX" sz="2400" b="0" dirty="0">
                        <a:effectLst/>
                      </a:rPr>
                      <a:t>    </a:t>
                    </a:r>
                    <a14:m>
                      <m:oMath xmlns:m="http://schemas.openxmlformats.org/officeDocument/2006/math">
                        <m:r>
                          <a:rPr lang="es-MX" sz="2400" b="0" i="1" smtClean="0">
                            <a:effectLst/>
                            <a:latin typeface="Cambria Math" panose="02040503050406030204" pitchFamily="18" charset="0"/>
                          </a:rPr>
                          <m:t>≡</m:t>
                        </m:r>
                        <m:sSub>
                          <m:sSubPr>
                            <m:ctrlPr>
                              <a:rPr lang="es-MX" sz="2400" b="0" i="1" smtClean="0">
                                <a:solidFill>
                                  <a:srgbClr val="002060"/>
                                </a:solidFill>
                                <a:effectLst/>
                                <a:latin typeface="Cambria Math" panose="02040503050406030204" pitchFamily="18" charset="0"/>
                              </a:rPr>
                            </m:ctrlPr>
                          </m:sSubPr>
                          <m:e>
                            <m:r>
                              <a:rPr lang="es-MX" sz="2400" b="0" i="1" smtClean="0">
                                <a:solidFill>
                                  <a:srgbClr val="002060"/>
                                </a:solidFill>
                                <a:effectLst/>
                                <a:latin typeface="Cambria Math" panose="02040503050406030204" pitchFamily="18" charset="0"/>
                              </a:rPr>
                              <m:t>𝐴</m:t>
                            </m:r>
                          </m:e>
                          <m:sub>
                            <m:r>
                              <a:rPr lang="es-MX" sz="2400" b="0" i="1" smtClean="0">
                                <a:solidFill>
                                  <a:srgbClr val="002060"/>
                                </a:solidFill>
                                <a:effectLst/>
                                <a:latin typeface="Cambria Math" panose="02040503050406030204" pitchFamily="18" charset="0"/>
                              </a:rPr>
                              <m:t>𝑛</m:t>
                            </m:r>
                          </m:sub>
                        </m:sSub>
                      </m:oMath>
                    </a14:m>
                    <a:endParaRPr lang="es-MX" sz="2400" b="0" i="0" dirty="0">
                      <a:effectLst/>
                    </a:endParaRPr>
                  </a:p>
                  <a:p>
                    <a:r>
                      <a:rPr lang="es-MX" sz="2400" b="0" dirty="0">
                        <a:effectLst/>
                      </a:rPr>
                      <a:t>    </a:t>
                    </a:r>
                    <a14:m>
                      <m:oMath xmlns:m="http://schemas.openxmlformats.org/officeDocument/2006/math">
                        <m:r>
                          <a:rPr lang="es-MX" sz="2400" b="0" i="1" smtClean="0">
                            <a:effectLst/>
                            <a:latin typeface="Cambria Math" panose="02040503050406030204" pitchFamily="18" charset="0"/>
                          </a:rPr>
                          <m:t>≡</m:t>
                        </m:r>
                        <m:r>
                          <a:rPr lang="es-MX" sz="2400" b="0" i="1" smtClean="0">
                            <a:effectLst/>
                            <a:latin typeface="Cambria Math" panose="02040503050406030204" pitchFamily="18" charset="0"/>
                          </a:rPr>
                          <m:t>𝐵</m:t>
                        </m:r>
                      </m:oMath>
                    </a14:m>
                    <a:endParaRPr lang="es-MX" sz="2400" b="0" i="1" dirty="0">
                      <a:effectLst/>
                      <a:latin typeface="Cambria Math" panose="02040503050406030204" pitchFamily="18" charset="0"/>
                    </a:endParaRPr>
                  </a:p>
                  <a:p>
                    <a14:m>
                      <m:oMath xmlns:m="http://schemas.openxmlformats.org/officeDocument/2006/math">
                        <m:r>
                          <a:rPr lang="es-MX" sz="2400" b="0" i="1" smtClean="0">
                            <a:effectLst/>
                            <a:latin typeface="Cambria Math" panose="02040503050406030204" pitchFamily="18" charset="0"/>
                          </a:rPr>
                          <m:t>𝐴</m:t>
                        </m:r>
                        <m:r>
                          <a:rPr lang="es-MX" sz="2400" b="0" i="1" smtClean="0">
                            <a:effectLst/>
                            <a:latin typeface="Cambria Math" panose="02040503050406030204" pitchFamily="18" charset="0"/>
                          </a:rPr>
                          <m:t>≡</m:t>
                        </m:r>
                        <m:r>
                          <a:rPr lang="es-MX" sz="2400" b="0" i="1" smtClean="0">
                            <a:effectLst/>
                            <a:latin typeface="Cambria Math" panose="02040503050406030204" pitchFamily="18" charset="0"/>
                          </a:rPr>
                          <m:t>𝐵</m:t>
                        </m:r>
                      </m:oMath>
                    </a14:m>
                    <a:r>
                      <a:rPr lang="es-MX" sz="2400" b="0" i="0" dirty="0">
                        <a:effectLst/>
                      </a:rPr>
                      <a:t> </a:t>
                    </a:r>
                    <a:endParaRPr lang="es-CO" sz="2400" dirty="0"/>
                  </a:p>
                </p:txBody>
              </p:sp>
            </mc:Choice>
            <mc:Fallback>
              <p:sp>
                <p:nvSpPr>
                  <p:cNvPr id="6" name="CuadroTexto 5">
                    <a:extLst>
                      <a:ext uri="{FF2B5EF4-FFF2-40B4-BE49-F238E27FC236}">
                        <a16:creationId xmlns:a16="http://schemas.microsoft.com/office/drawing/2014/main" id="{ED20F18C-E455-426E-A83B-217DBCC463B3}"/>
                      </a:ext>
                    </a:extLst>
                  </p:cNvPr>
                  <p:cNvSpPr txBox="1">
                    <a:spLocks noRot="1" noChangeAspect="1" noMove="1" noResize="1" noEditPoints="1" noAdjustHandles="1" noChangeArrowheads="1" noChangeShapeType="1" noTextEdit="1"/>
                  </p:cNvSpPr>
                  <p:nvPr/>
                </p:nvSpPr>
                <p:spPr>
                  <a:xfrm>
                    <a:off x="1059544" y="4002705"/>
                    <a:ext cx="1132114" cy="2308324"/>
                  </a:xfrm>
                  <a:prstGeom prst="rect">
                    <a:avLst/>
                  </a:prstGeom>
                  <a:blipFill>
                    <a:blip r:embed="rId3"/>
                    <a:stretch>
                      <a:fillRect l="-1075"/>
                    </a:stretch>
                  </a:blipFill>
                </p:spPr>
                <p:txBody>
                  <a:bodyPr/>
                  <a:lstStyle/>
                  <a:p>
                    <a:r>
                      <a:rPr lang="es-CO">
                        <a:noFill/>
                      </a:rPr>
                      <a:t> </a:t>
                    </a:r>
                  </a:p>
                </p:txBody>
              </p:sp>
            </mc:Fallback>
          </mc:AlternateContent>
          <p:cxnSp>
            <p:nvCxnSpPr>
              <p:cNvPr id="8" name="Conector recto 7">
                <a:extLst>
                  <a:ext uri="{FF2B5EF4-FFF2-40B4-BE49-F238E27FC236}">
                    <a16:creationId xmlns:a16="http://schemas.microsoft.com/office/drawing/2014/main" id="{9BB073AF-3508-4461-A0ED-B84C793D8A2E}"/>
                  </a:ext>
                </a:extLst>
              </p:cNvPr>
              <p:cNvCxnSpPr>
                <a:cxnSpLocks/>
              </p:cNvCxnSpPr>
              <p:nvPr/>
            </p:nvCxnSpPr>
            <p:spPr>
              <a:xfrm>
                <a:off x="1059544" y="5871037"/>
                <a:ext cx="113211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Conector recto de flecha 11">
              <a:extLst>
                <a:ext uri="{FF2B5EF4-FFF2-40B4-BE49-F238E27FC236}">
                  <a16:creationId xmlns:a16="http://schemas.microsoft.com/office/drawing/2014/main" id="{95FA1C46-198A-44F1-9454-0256D6DF2DB9}"/>
                </a:ext>
              </a:extLst>
            </p:cNvPr>
            <p:cNvCxnSpPr>
              <a:cxnSpLocks/>
            </p:cNvCxnSpPr>
            <p:nvPr/>
          </p:nvCxnSpPr>
          <p:spPr>
            <a:xfrm>
              <a:off x="2190339" y="4227393"/>
              <a:ext cx="0" cy="1847273"/>
            </a:xfrm>
            <a:prstGeom prst="straightConnector1">
              <a:avLst/>
            </a:prstGeom>
            <a:ln w="28575">
              <a:solidFill>
                <a:srgbClr val="002060"/>
              </a:solidFill>
              <a:tailEnd type="triangle"/>
            </a:ln>
          </p:spPr>
          <p:style>
            <a:lnRef idx="1">
              <a:schemeClr val="accent2"/>
            </a:lnRef>
            <a:fillRef idx="0">
              <a:schemeClr val="accent2"/>
            </a:fillRef>
            <a:effectRef idx="0">
              <a:schemeClr val="accent2"/>
            </a:effectRef>
            <a:fontRef idx="minor">
              <a:schemeClr val="tx1"/>
            </a:fontRef>
          </p:style>
        </p:cxnSp>
        <p:sp>
          <p:nvSpPr>
            <p:cNvPr id="15" name="CuadroTexto 14">
              <a:extLst>
                <a:ext uri="{FF2B5EF4-FFF2-40B4-BE49-F238E27FC236}">
                  <a16:creationId xmlns:a16="http://schemas.microsoft.com/office/drawing/2014/main" id="{BC21B85B-6A52-40A7-9B04-B980352980AF}"/>
                </a:ext>
              </a:extLst>
            </p:cNvPr>
            <p:cNvSpPr txBox="1"/>
            <p:nvPr/>
          </p:nvSpPr>
          <p:spPr>
            <a:xfrm>
              <a:off x="2281379" y="4622415"/>
              <a:ext cx="3113646" cy="1015663"/>
            </a:xfrm>
            <a:prstGeom prst="rect">
              <a:avLst/>
            </a:prstGeom>
            <a:noFill/>
          </p:spPr>
          <p:txBody>
            <a:bodyPr wrap="square" rtlCol="0">
              <a:spAutoFit/>
            </a:bodyPr>
            <a:lstStyle/>
            <a:p>
              <a:r>
                <a:rPr lang="es-CO" sz="2000" b="1" dirty="0">
                  <a:solidFill>
                    <a:srgbClr val="002060"/>
                  </a:solidFill>
                </a:rPr>
                <a:t>Transformaciones usando axiomas (Identidades Lógicas)</a:t>
              </a:r>
            </a:p>
          </p:txBody>
        </p:sp>
      </p:grpSp>
    </p:spTree>
    <p:extLst>
      <p:ext uri="{BB962C8B-B14F-4D97-AF65-F5344CB8AC3E}">
        <p14:creationId xmlns:p14="http://schemas.microsoft.com/office/powerpoint/2010/main" val="2937695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238166" y="44797"/>
            <a:ext cx="11115633" cy="882304"/>
          </a:xfrm>
        </p:spPr>
        <p:txBody>
          <a:bodyPr/>
          <a:lstStyle/>
          <a:p>
            <a:r>
              <a:rPr lang="es-CO" dirty="0"/>
              <a:t>Demostración – Escritura de demostraciones</a:t>
            </a:r>
          </a:p>
        </p:txBody>
      </p:sp>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238166" y="984855"/>
            <a:ext cx="6340434" cy="4760989"/>
          </a:xfrm>
        </p:spPr>
        <p:txBody>
          <a:bodyPr>
            <a:normAutofit/>
          </a:bodyPr>
          <a:lstStyle/>
          <a:p>
            <a:pPr marL="0" indent="0">
              <a:buNone/>
            </a:pPr>
            <a:r>
              <a:rPr lang="es-MX" sz="2400" i="0" dirty="0">
                <a:effectLst/>
              </a:rPr>
              <a:t>Existen dos formas de escribir demostraciones:</a:t>
            </a:r>
          </a:p>
          <a:p>
            <a:pPr marL="457200" indent="-457200">
              <a:buFont typeface="+mj-lt"/>
              <a:buAutoNum type="arabicPeriod"/>
            </a:pPr>
            <a:r>
              <a:rPr lang="es-MX" sz="2000" b="1" i="0" dirty="0">
                <a:effectLst/>
              </a:rPr>
              <a:t>Demostración en prosa / narrativa (Paragraph Proof</a:t>
            </a:r>
            <a:r>
              <a:rPr lang="es-MX" sz="2000" b="1" dirty="0"/>
              <a:t>)</a:t>
            </a:r>
            <a:endParaRPr lang="es-MX" sz="2000" b="1" i="0" dirty="0">
              <a:effectLst/>
            </a:endParaRPr>
          </a:p>
          <a:p>
            <a:pPr lvl="1"/>
            <a:r>
              <a:rPr lang="es-MX" sz="2000" b="0" i="0" dirty="0">
                <a:effectLst/>
              </a:rPr>
              <a:t>Se escribe en párrafos continuos.</a:t>
            </a:r>
          </a:p>
          <a:p>
            <a:pPr lvl="1"/>
            <a:r>
              <a:rPr lang="es-MX" sz="2000" b="0" i="0" dirty="0">
                <a:effectLst/>
              </a:rPr>
              <a:t>Es la forma estándar en libros universitarios.</a:t>
            </a:r>
          </a:p>
          <a:p>
            <a:pPr lvl="1"/>
            <a:r>
              <a:rPr lang="es-MX" sz="2000" b="0" i="0" dirty="0">
                <a:effectLst/>
              </a:rPr>
              <a:t>Requiere mayor claridad conceptual.</a:t>
            </a:r>
          </a:p>
          <a:p>
            <a:pPr lvl="1"/>
            <a:endParaRPr lang="es-MX" sz="2000" dirty="0"/>
          </a:p>
          <a:p>
            <a:pPr lvl="1"/>
            <a:endParaRPr lang="es-MX" sz="2000" b="0" i="0" dirty="0">
              <a:effectLst/>
            </a:endParaRPr>
          </a:p>
          <a:p>
            <a:pPr lvl="1"/>
            <a:endParaRPr lang="es-MX" sz="2000" dirty="0"/>
          </a:p>
          <a:p>
            <a:pPr lvl="1"/>
            <a:endParaRPr lang="es-MX" sz="2000" b="0" i="0" dirty="0">
              <a:effectLst/>
            </a:endParaRPr>
          </a:p>
          <a:p>
            <a:pPr marL="457200" indent="-457200">
              <a:buFont typeface="+mj-lt"/>
              <a:buAutoNum type="arabicPeriod"/>
            </a:pPr>
            <a:r>
              <a:rPr lang="es-MX" sz="2000" b="0" i="0" dirty="0">
                <a:effectLst/>
              </a:rPr>
              <a:t> </a:t>
            </a:r>
            <a:r>
              <a:rPr lang="es-MX" sz="2000" b="1" i="0" dirty="0">
                <a:effectLst/>
              </a:rPr>
              <a:t>Afirmación–Razón (Two-Column Proof)</a:t>
            </a:r>
          </a:p>
          <a:p>
            <a:pPr lvl="1"/>
            <a:r>
              <a:rPr lang="es-MX" sz="2000" b="0" i="0" dirty="0">
                <a:effectLst/>
              </a:rPr>
              <a:t>Cada paso va numerado.</a:t>
            </a:r>
          </a:p>
          <a:p>
            <a:pPr lvl="1"/>
            <a:r>
              <a:rPr lang="es-MX" sz="2000" b="0" i="0" dirty="0">
                <a:effectLst/>
              </a:rPr>
              <a:t>Se indica explícitamente la regla usada.</a:t>
            </a:r>
          </a:p>
          <a:p>
            <a:pPr lvl="1"/>
            <a:r>
              <a:rPr lang="es-MX" sz="2000" b="0" i="0" dirty="0">
                <a:effectLst/>
              </a:rPr>
              <a:t>Muy común en cursos introductorios de lógica.</a:t>
            </a:r>
          </a:p>
        </p:txBody>
      </p:sp>
      <p:pic>
        <p:nvPicPr>
          <p:cNvPr id="5" name="Imagen 4">
            <a:extLst>
              <a:ext uri="{FF2B5EF4-FFF2-40B4-BE49-F238E27FC236}">
                <a16:creationId xmlns:a16="http://schemas.microsoft.com/office/drawing/2014/main" id="{86BF4A58-784C-4B0D-94B2-2BC1D7463A55}"/>
              </a:ext>
            </a:extLst>
          </p:cNvPr>
          <p:cNvPicPr>
            <a:picLocks noChangeAspect="1"/>
          </p:cNvPicPr>
          <p:nvPr/>
        </p:nvPicPr>
        <p:blipFill>
          <a:blip r:embed="rId2"/>
          <a:stretch>
            <a:fillRect/>
          </a:stretch>
        </p:blipFill>
        <p:spPr>
          <a:xfrm>
            <a:off x="6578600" y="898073"/>
            <a:ext cx="5375234" cy="2527162"/>
          </a:xfrm>
          <a:prstGeom prst="rect">
            <a:avLst/>
          </a:prstGeom>
        </p:spPr>
      </p:pic>
      <p:pic>
        <p:nvPicPr>
          <p:cNvPr id="9" name="Imagen 8">
            <a:extLst>
              <a:ext uri="{FF2B5EF4-FFF2-40B4-BE49-F238E27FC236}">
                <a16:creationId xmlns:a16="http://schemas.microsoft.com/office/drawing/2014/main" id="{B3253576-8DF2-44B1-8975-6909D6F7B30A}"/>
              </a:ext>
            </a:extLst>
          </p:cNvPr>
          <p:cNvPicPr>
            <a:picLocks noChangeAspect="1"/>
          </p:cNvPicPr>
          <p:nvPr/>
        </p:nvPicPr>
        <p:blipFill>
          <a:blip r:embed="rId3"/>
          <a:stretch>
            <a:fillRect/>
          </a:stretch>
        </p:blipFill>
        <p:spPr>
          <a:xfrm>
            <a:off x="6756492" y="3570073"/>
            <a:ext cx="5019449" cy="3243130"/>
          </a:xfrm>
          <a:prstGeom prst="rect">
            <a:avLst/>
          </a:prstGeom>
        </p:spPr>
      </p:pic>
      <p:sp>
        <p:nvSpPr>
          <p:cNvPr id="7" name="CuadroTexto 6">
            <a:extLst>
              <a:ext uri="{FF2B5EF4-FFF2-40B4-BE49-F238E27FC236}">
                <a16:creationId xmlns:a16="http://schemas.microsoft.com/office/drawing/2014/main" id="{5328C916-0D1B-4CA8-B826-BF7E9619DD98}"/>
              </a:ext>
            </a:extLst>
          </p:cNvPr>
          <p:cNvSpPr txBox="1"/>
          <p:nvPr/>
        </p:nvSpPr>
        <p:spPr>
          <a:xfrm>
            <a:off x="122053" y="6486972"/>
            <a:ext cx="6103256" cy="307777"/>
          </a:xfrm>
          <a:prstGeom prst="rect">
            <a:avLst/>
          </a:prstGeom>
          <a:noFill/>
        </p:spPr>
        <p:txBody>
          <a:bodyPr wrap="square">
            <a:spAutoFit/>
          </a:bodyPr>
          <a:lstStyle/>
          <a:p>
            <a:r>
              <a:rPr lang="en-US" sz="1400" b="1" dirty="0"/>
              <a:t>Imagenes</a:t>
            </a:r>
            <a:r>
              <a:rPr lang="en-US" sz="1400" dirty="0"/>
              <a:t>: Libro </a:t>
            </a:r>
            <a:r>
              <a:rPr lang="en-US" sz="1400" b="1" i="1" dirty="0"/>
              <a:t>How to Read and Do Proofs</a:t>
            </a:r>
            <a:r>
              <a:rPr lang="en-US" sz="1400" dirty="0"/>
              <a:t> (Solow, D.).</a:t>
            </a:r>
            <a:endParaRPr lang="es-CO" sz="1400" dirty="0"/>
          </a:p>
        </p:txBody>
      </p:sp>
    </p:spTree>
    <p:extLst>
      <p:ext uri="{BB962C8B-B14F-4D97-AF65-F5344CB8AC3E}">
        <p14:creationId xmlns:p14="http://schemas.microsoft.com/office/powerpoint/2010/main" val="3682600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360217" y="241828"/>
            <a:ext cx="10515600" cy="903614"/>
          </a:xfrm>
        </p:spPr>
        <p:txBody>
          <a:bodyPr/>
          <a:lstStyle/>
          <a:p>
            <a:r>
              <a:rPr lang="es-CO" dirty="0"/>
              <a:t>Demostración (Afirmación-Razón)</a:t>
            </a:r>
          </a:p>
        </p:txBody>
      </p:sp>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360218" y="1071363"/>
            <a:ext cx="5982526" cy="439051"/>
          </a:xfrm>
        </p:spPr>
        <p:txBody>
          <a:bodyPr>
            <a:normAutofit/>
          </a:bodyPr>
          <a:lstStyle/>
          <a:p>
            <a:pPr marL="0" indent="0">
              <a:buNone/>
            </a:pPr>
            <a:r>
              <a:rPr lang="es-MX" sz="2200" b="1" i="0" dirty="0">
                <a:effectLst/>
              </a:rPr>
              <a:t>Plantilla para realizar las demostraciones</a:t>
            </a:r>
            <a:endParaRPr lang="es-MX" sz="2200" b="1" dirty="0"/>
          </a:p>
        </p:txBody>
      </p:sp>
      <p:grpSp>
        <p:nvGrpSpPr>
          <p:cNvPr id="13" name="Grupo 12">
            <a:extLst>
              <a:ext uri="{FF2B5EF4-FFF2-40B4-BE49-F238E27FC236}">
                <a16:creationId xmlns:a16="http://schemas.microsoft.com/office/drawing/2014/main" id="{F85860F7-4D68-4E1D-9323-2E9A32B28AB2}"/>
              </a:ext>
            </a:extLst>
          </p:cNvPr>
          <p:cNvGrpSpPr/>
          <p:nvPr/>
        </p:nvGrpSpPr>
        <p:grpSpPr>
          <a:xfrm>
            <a:off x="7105617" y="1318639"/>
            <a:ext cx="4099412" cy="1938992"/>
            <a:chOff x="838199" y="4060762"/>
            <a:chExt cx="3614055" cy="1938992"/>
          </a:xfrm>
        </p:grpSpPr>
        <p:grpSp>
          <p:nvGrpSpPr>
            <p:cNvPr id="14" name="Grupo 13">
              <a:extLst>
                <a:ext uri="{FF2B5EF4-FFF2-40B4-BE49-F238E27FC236}">
                  <a16:creationId xmlns:a16="http://schemas.microsoft.com/office/drawing/2014/main" id="{361D0F37-DC68-447F-AC1D-9464BAE46184}"/>
                </a:ext>
              </a:extLst>
            </p:cNvPr>
            <p:cNvGrpSpPr/>
            <p:nvPr/>
          </p:nvGrpSpPr>
          <p:grpSpPr>
            <a:xfrm>
              <a:off x="838199" y="4060762"/>
              <a:ext cx="1132114" cy="1938992"/>
              <a:chOff x="1059544" y="4002705"/>
              <a:chExt cx="1132114" cy="1938992"/>
            </a:xfrm>
          </p:grpSpPr>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535D76EA-CE64-491A-94BA-BC3A26626D24}"/>
                      </a:ext>
                    </a:extLst>
                  </p:cNvPr>
                  <p:cNvSpPr txBox="1"/>
                  <p:nvPr/>
                </p:nvSpPr>
                <p:spPr>
                  <a:xfrm>
                    <a:off x="1059544" y="4002705"/>
                    <a:ext cx="1132114" cy="1938992"/>
                  </a:xfrm>
                  <a:prstGeom prst="rect">
                    <a:avLst/>
                  </a:prstGeom>
                  <a:noFill/>
                </p:spPr>
                <p:txBody>
                  <a:bodyPr wrap="square">
                    <a:spAutoFit/>
                  </a:bodyPr>
                  <a:lstStyle/>
                  <a:p>
                    <a14:m>
                      <m:oMath xmlns:m="http://schemas.openxmlformats.org/officeDocument/2006/math">
                        <m:r>
                          <a:rPr lang="es-MX" sz="2000" b="0" i="1" smtClean="0">
                            <a:effectLst/>
                            <a:latin typeface="Cambria Math" panose="02040503050406030204" pitchFamily="18" charset="0"/>
                          </a:rPr>
                          <m:t>𝐴</m:t>
                        </m:r>
                        <m:r>
                          <a:rPr lang="es-MX" sz="2000" b="0" i="1" smtClean="0">
                            <a:effectLst/>
                            <a:latin typeface="Cambria Math" panose="02040503050406030204" pitchFamily="18" charset="0"/>
                          </a:rPr>
                          <m:t>≡</m:t>
                        </m:r>
                        <m:sSub>
                          <m:sSubPr>
                            <m:ctrlPr>
                              <a:rPr lang="es-MX" sz="2000" b="0" i="1" smtClean="0">
                                <a:solidFill>
                                  <a:srgbClr val="002060"/>
                                </a:solidFill>
                                <a:effectLst/>
                                <a:latin typeface="Cambria Math" panose="02040503050406030204" pitchFamily="18" charset="0"/>
                              </a:rPr>
                            </m:ctrlPr>
                          </m:sSubPr>
                          <m:e>
                            <m:r>
                              <a:rPr lang="es-MX" sz="2000" b="0" i="1" smtClean="0">
                                <a:solidFill>
                                  <a:srgbClr val="002060"/>
                                </a:solidFill>
                                <a:effectLst/>
                                <a:latin typeface="Cambria Math" panose="02040503050406030204" pitchFamily="18" charset="0"/>
                              </a:rPr>
                              <m:t>𝐴</m:t>
                            </m:r>
                          </m:e>
                          <m:sub>
                            <m:r>
                              <a:rPr lang="es-MX" sz="2000" b="0" i="1" smtClean="0">
                                <a:solidFill>
                                  <a:srgbClr val="002060"/>
                                </a:solidFill>
                                <a:effectLst/>
                                <a:latin typeface="Cambria Math" panose="02040503050406030204" pitchFamily="18" charset="0"/>
                              </a:rPr>
                              <m:t>1</m:t>
                            </m:r>
                          </m:sub>
                        </m:sSub>
                      </m:oMath>
                    </a14:m>
                    <a:r>
                      <a:rPr lang="es-MX" sz="2000" b="0" i="0" dirty="0">
                        <a:effectLst/>
                      </a:rPr>
                      <a:t> </a:t>
                    </a:r>
                    <a:endParaRPr lang="es-MX" sz="2000" i="1" dirty="0">
                      <a:latin typeface="Cambria Math" panose="02040503050406030204" pitchFamily="18" charset="0"/>
                    </a:endParaRPr>
                  </a:p>
                  <a:p>
                    <a:r>
                      <a:rPr lang="es-MX" sz="2000" dirty="0"/>
                      <a:t>    </a:t>
                    </a:r>
                    <a14:m>
                      <m:oMath xmlns:m="http://schemas.openxmlformats.org/officeDocument/2006/math">
                        <m:r>
                          <a:rPr lang="es-MX" sz="2000" i="1">
                            <a:latin typeface="Cambria Math" panose="02040503050406030204" pitchFamily="18" charset="0"/>
                          </a:rPr>
                          <m:t>≡</m:t>
                        </m:r>
                        <m:sSub>
                          <m:sSubPr>
                            <m:ctrlPr>
                              <a:rPr lang="es-MX" sz="2000" i="1" smtClean="0">
                                <a:solidFill>
                                  <a:srgbClr val="002060"/>
                                </a:solidFill>
                                <a:latin typeface="Cambria Math" panose="02040503050406030204" pitchFamily="18" charset="0"/>
                              </a:rPr>
                            </m:ctrlPr>
                          </m:sSubPr>
                          <m:e>
                            <m:r>
                              <a:rPr lang="es-MX" sz="2000" b="0" i="1" smtClean="0">
                                <a:solidFill>
                                  <a:srgbClr val="002060"/>
                                </a:solidFill>
                                <a:latin typeface="Cambria Math" panose="02040503050406030204" pitchFamily="18" charset="0"/>
                              </a:rPr>
                              <m:t>𝐴</m:t>
                            </m:r>
                          </m:e>
                          <m:sub>
                            <m:r>
                              <a:rPr lang="es-MX" sz="2000" b="0" i="1" smtClean="0">
                                <a:solidFill>
                                  <a:srgbClr val="002060"/>
                                </a:solidFill>
                                <a:latin typeface="Cambria Math" panose="02040503050406030204" pitchFamily="18" charset="0"/>
                              </a:rPr>
                              <m:t>2</m:t>
                            </m:r>
                          </m:sub>
                        </m:sSub>
                      </m:oMath>
                    </a14:m>
                    <a:endParaRPr lang="es-MX" sz="2000" dirty="0"/>
                  </a:p>
                  <a:p>
                    <a:pPr/>
                    <a14:m>
                      <m:oMathPara xmlns:m="http://schemas.openxmlformats.org/officeDocument/2006/math">
                        <m:oMathParaPr>
                          <m:jc m:val="left"/>
                        </m:oMathParaPr>
                        <m:oMath xmlns:m="http://schemas.openxmlformats.org/officeDocument/2006/math">
                          <m:r>
                            <a:rPr lang="es-MX" sz="2000" b="0" i="1" smtClean="0">
                              <a:effectLst/>
                              <a:latin typeface="Cambria Math" panose="02040503050406030204" pitchFamily="18" charset="0"/>
                              <a:ea typeface="Cambria Math" panose="02040503050406030204" pitchFamily="18" charset="0"/>
                            </a:rPr>
                            <m:t>     ⋮</m:t>
                          </m:r>
                        </m:oMath>
                      </m:oMathPara>
                    </a14:m>
                    <a:endParaRPr lang="es-MX" sz="2000" dirty="0"/>
                  </a:p>
                  <a:p>
                    <a:r>
                      <a:rPr lang="es-MX" sz="2000" b="0" dirty="0">
                        <a:effectLst/>
                      </a:rPr>
                      <a:t>    </a:t>
                    </a:r>
                    <a14:m>
                      <m:oMath xmlns:m="http://schemas.openxmlformats.org/officeDocument/2006/math">
                        <m:r>
                          <a:rPr lang="es-MX" sz="2000" b="0" i="1" smtClean="0">
                            <a:effectLst/>
                            <a:latin typeface="Cambria Math" panose="02040503050406030204" pitchFamily="18" charset="0"/>
                          </a:rPr>
                          <m:t>≡</m:t>
                        </m:r>
                        <m:sSub>
                          <m:sSubPr>
                            <m:ctrlPr>
                              <a:rPr lang="es-MX" sz="2000" b="0" i="1" smtClean="0">
                                <a:solidFill>
                                  <a:srgbClr val="002060"/>
                                </a:solidFill>
                                <a:effectLst/>
                                <a:latin typeface="Cambria Math" panose="02040503050406030204" pitchFamily="18" charset="0"/>
                              </a:rPr>
                            </m:ctrlPr>
                          </m:sSubPr>
                          <m:e>
                            <m:r>
                              <a:rPr lang="es-MX" sz="2000" b="0" i="1" smtClean="0">
                                <a:solidFill>
                                  <a:srgbClr val="002060"/>
                                </a:solidFill>
                                <a:effectLst/>
                                <a:latin typeface="Cambria Math" panose="02040503050406030204" pitchFamily="18" charset="0"/>
                              </a:rPr>
                              <m:t>𝐴</m:t>
                            </m:r>
                          </m:e>
                          <m:sub>
                            <m:r>
                              <a:rPr lang="es-MX" sz="2000" b="0" i="1" smtClean="0">
                                <a:solidFill>
                                  <a:srgbClr val="002060"/>
                                </a:solidFill>
                                <a:effectLst/>
                                <a:latin typeface="Cambria Math" panose="02040503050406030204" pitchFamily="18" charset="0"/>
                              </a:rPr>
                              <m:t>𝑛</m:t>
                            </m:r>
                          </m:sub>
                        </m:sSub>
                      </m:oMath>
                    </a14:m>
                    <a:endParaRPr lang="es-MX" sz="2000" b="0" i="0" dirty="0">
                      <a:effectLst/>
                    </a:endParaRPr>
                  </a:p>
                  <a:p>
                    <a:r>
                      <a:rPr lang="es-MX" sz="2000" b="0" dirty="0">
                        <a:effectLst/>
                      </a:rPr>
                      <a:t>    </a:t>
                    </a:r>
                    <a14:m>
                      <m:oMath xmlns:m="http://schemas.openxmlformats.org/officeDocument/2006/math">
                        <m:r>
                          <a:rPr lang="es-MX" sz="2000" b="0" i="1" smtClean="0">
                            <a:effectLst/>
                            <a:latin typeface="Cambria Math" panose="02040503050406030204" pitchFamily="18" charset="0"/>
                          </a:rPr>
                          <m:t>≡</m:t>
                        </m:r>
                        <m:r>
                          <a:rPr lang="es-MX" sz="2000" b="0" i="1" smtClean="0">
                            <a:effectLst/>
                            <a:latin typeface="Cambria Math" panose="02040503050406030204" pitchFamily="18" charset="0"/>
                          </a:rPr>
                          <m:t>𝐵</m:t>
                        </m:r>
                      </m:oMath>
                    </a14:m>
                    <a:endParaRPr lang="es-MX" sz="2000" b="0" i="1" dirty="0">
                      <a:effectLst/>
                      <a:latin typeface="Cambria Math" panose="02040503050406030204" pitchFamily="18" charset="0"/>
                    </a:endParaRPr>
                  </a:p>
                  <a:p>
                    <a14:m>
                      <m:oMath xmlns:m="http://schemas.openxmlformats.org/officeDocument/2006/math">
                        <m:r>
                          <a:rPr lang="es-MX" sz="2000" b="0" i="1" smtClean="0">
                            <a:effectLst/>
                            <a:latin typeface="Cambria Math" panose="02040503050406030204" pitchFamily="18" charset="0"/>
                          </a:rPr>
                          <m:t>𝐴</m:t>
                        </m:r>
                        <m:r>
                          <a:rPr lang="es-MX" sz="2000" b="0" i="1" smtClean="0">
                            <a:effectLst/>
                            <a:latin typeface="Cambria Math" panose="02040503050406030204" pitchFamily="18" charset="0"/>
                          </a:rPr>
                          <m:t>≡</m:t>
                        </m:r>
                        <m:r>
                          <a:rPr lang="es-MX" sz="2000" b="0" i="1" smtClean="0">
                            <a:effectLst/>
                            <a:latin typeface="Cambria Math" panose="02040503050406030204" pitchFamily="18" charset="0"/>
                          </a:rPr>
                          <m:t>𝐵</m:t>
                        </m:r>
                      </m:oMath>
                    </a14:m>
                    <a:r>
                      <a:rPr lang="es-MX" sz="2000" b="0" i="0" dirty="0">
                        <a:effectLst/>
                      </a:rPr>
                      <a:t> </a:t>
                    </a:r>
                    <a:endParaRPr lang="es-CO" sz="2000" dirty="0"/>
                  </a:p>
                </p:txBody>
              </p:sp>
            </mc:Choice>
            <mc:Fallback>
              <p:sp>
                <p:nvSpPr>
                  <p:cNvPr id="20" name="CuadroTexto 19">
                    <a:extLst>
                      <a:ext uri="{FF2B5EF4-FFF2-40B4-BE49-F238E27FC236}">
                        <a16:creationId xmlns:a16="http://schemas.microsoft.com/office/drawing/2014/main" id="{535D76EA-CE64-491A-94BA-BC3A26626D24}"/>
                      </a:ext>
                    </a:extLst>
                  </p:cNvPr>
                  <p:cNvSpPr txBox="1">
                    <a:spLocks noRot="1" noChangeAspect="1" noMove="1" noResize="1" noEditPoints="1" noAdjustHandles="1" noChangeArrowheads="1" noChangeShapeType="1" noTextEdit="1"/>
                  </p:cNvSpPr>
                  <p:nvPr/>
                </p:nvSpPr>
                <p:spPr>
                  <a:xfrm>
                    <a:off x="1059544" y="4002705"/>
                    <a:ext cx="1132114" cy="1938992"/>
                  </a:xfrm>
                  <a:prstGeom prst="rect">
                    <a:avLst/>
                  </a:prstGeom>
                  <a:blipFill>
                    <a:blip r:embed="rId2"/>
                    <a:stretch>
                      <a:fillRect/>
                    </a:stretch>
                  </a:blipFill>
                </p:spPr>
                <p:txBody>
                  <a:bodyPr/>
                  <a:lstStyle/>
                  <a:p>
                    <a:r>
                      <a:rPr lang="es-CO">
                        <a:noFill/>
                      </a:rPr>
                      <a:t> </a:t>
                    </a:r>
                  </a:p>
                </p:txBody>
              </p:sp>
            </mc:Fallback>
          </mc:AlternateContent>
          <p:cxnSp>
            <p:nvCxnSpPr>
              <p:cNvPr id="21" name="Conector recto 20">
                <a:extLst>
                  <a:ext uri="{FF2B5EF4-FFF2-40B4-BE49-F238E27FC236}">
                    <a16:creationId xmlns:a16="http://schemas.microsoft.com/office/drawing/2014/main" id="{0E2775BB-DEEF-4473-B6DE-ACCA52E00443}"/>
                  </a:ext>
                </a:extLst>
              </p:cNvPr>
              <p:cNvCxnSpPr>
                <a:cxnSpLocks/>
              </p:cNvCxnSpPr>
              <p:nvPr/>
            </p:nvCxnSpPr>
            <p:spPr>
              <a:xfrm>
                <a:off x="1059544" y="5573486"/>
                <a:ext cx="113211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Conector recto de flecha 16">
              <a:extLst>
                <a:ext uri="{FF2B5EF4-FFF2-40B4-BE49-F238E27FC236}">
                  <a16:creationId xmlns:a16="http://schemas.microsoft.com/office/drawing/2014/main" id="{6CF16F2B-85DE-4361-94E6-555D1C68DE71}"/>
                </a:ext>
              </a:extLst>
            </p:cNvPr>
            <p:cNvCxnSpPr>
              <a:cxnSpLocks/>
            </p:cNvCxnSpPr>
            <p:nvPr/>
          </p:nvCxnSpPr>
          <p:spPr>
            <a:xfrm>
              <a:off x="2182871" y="4359363"/>
              <a:ext cx="0" cy="1074058"/>
            </a:xfrm>
            <a:prstGeom prst="straightConnector1">
              <a:avLst/>
            </a:prstGeom>
            <a:ln w="28575">
              <a:solidFill>
                <a:srgbClr val="002060"/>
              </a:solidFill>
              <a:tailEnd type="triangle"/>
            </a:ln>
          </p:spPr>
          <p:style>
            <a:lnRef idx="1">
              <a:schemeClr val="accent2"/>
            </a:lnRef>
            <a:fillRef idx="0">
              <a:schemeClr val="accent2"/>
            </a:fillRef>
            <a:effectRef idx="0">
              <a:schemeClr val="accent2"/>
            </a:effectRef>
            <a:fontRef idx="minor">
              <a:schemeClr val="tx1"/>
            </a:fontRef>
          </p:style>
        </p:cxnSp>
        <p:sp>
          <p:nvSpPr>
            <p:cNvPr id="19" name="CuadroTexto 18">
              <a:extLst>
                <a:ext uri="{FF2B5EF4-FFF2-40B4-BE49-F238E27FC236}">
                  <a16:creationId xmlns:a16="http://schemas.microsoft.com/office/drawing/2014/main" id="{40E74F81-BCFD-4A8D-973C-B8B4C16A780E}"/>
                </a:ext>
              </a:extLst>
            </p:cNvPr>
            <p:cNvSpPr txBox="1"/>
            <p:nvPr/>
          </p:nvSpPr>
          <p:spPr>
            <a:xfrm>
              <a:off x="2318654" y="4417758"/>
              <a:ext cx="2133600" cy="1015663"/>
            </a:xfrm>
            <a:prstGeom prst="rect">
              <a:avLst/>
            </a:prstGeom>
            <a:noFill/>
          </p:spPr>
          <p:txBody>
            <a:bodyPr wrap="square" rtlCol="0">
              <a:spAutoFit/>
            </a:bodyPr>
            <a:lstStyle/>
            <a:p>
              <a:r>
                <a:rPr lang="es-CO" sz="2000" b="1" dirty="0">
                  <a:solidFill>
                    <a:srgbClr val="002060"/>
                  </a:solidFill>
                </a:rPr>
                <a:t>Transformaciones usando axiomas (Identidades Lógicas)</a:t>
              </a:r>
            </a:p>
          </p:txBody>
        </p:sp>
      </p:grpSp>
      <p:graphicFrame>
        <p:nvGraphicFramePr>
          <p:cNvPr id="5" name="Tabla 6">
            <a:extLst>
              <a:ext uri="{FF2B5EF4-FFF2-40B4-BE49-F238E27FC236}">
                <a16:creationId xmlns:a16="http://schemas.microsoft.com/office/drawing/2014/main" id="{170FF77A-5384-4F93-A1C8-B6276A7D0706}"/>
              </a:ext>
            </a:extLst>
          </p:cNvPr>
          <p:cNvGraphicFramePr>
            <a:graphicFrameLocks noGrp="1"/>
          </p:cNvGraphicFramePr>
          <p:nvPr>
            <p:extLst>
              <p:ext uri="{D42A27DB-BD31-4B8C-83A1-F6EECF244321}">
                <p14:modId xmlns:p14="http://schemas.microsoft.com/office/powerpoint/2010/main" val="1912210276"/>
              </p:ext>
            </p:extLst>
          </p:nvPr>
        </p:nvGraphicFramePr>
        <p:xfrm>
          <a:off x="6096000" y="3655673"/>
          <a:ext cx="5633290" cy="2956560"/>
        </p:xfrm>
        <a:graphic>
          <a:graphicData uri="http://schemas.openxmlformats.org/drawingml/2006/table">
            <a:tbl>
              <a:tblPr firstRow="1" bandRow="1">
                <a:tableStyleId>{5940675A-B579-460E-94D1-54222C63F5DA}</a:tableStyleId>
              </a:tblPr>
              <a:tblGrid>
                <a:gridCol w="578523">
                  <a:extLst>
                    <a:ext uri="{9D8B030D-6E8A-4147-A177-3AD203B41FA5}">
                      <a16:colId xmlns:a16="http://schemas.microsoft.com/office/drawing/2014/main" val="2268520492"/>
                    </a:ext>
                  </a:extLst>
                </a:gridCol>
                <a:gridCol w="2185532">
                  <a:extLst>
                    <a:ext uri="{9D8B030D-6E8A-4147-A177-3AD203B41FA5}">
                      <a16:colId xmlns:a16="http://schemas.microsoft.com/office/drawing/2014/main" val="2295907465"/>
                    </a:ext>
                  </a:extLst>
                </a:gridCol>
                <a:gridCol w="2869235">
                  <a:extLst>
                    <a:ext uri="{9D8B030D-6E8A-4147-A177-3AD203B41FA5}">
                      <a16:colId xmlns:a16="http://schemas.microsoft.com/office/drawing/2014/main" val="1814483346"/>
                    </a:ext>
                  </a:extLst>
                </a:gridCol>
              </a:tblGrid>
              <a:tr h="370840">
                <a:tc>
                  <a:txBody>
                    <a:bodyPr/>
                    <a:lstStyle/>
                    <a:p>
                      <a:r>
                        <a:rPr lang="es-CO" sz="2000" b="1" dirty="0"/>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2000" b="1" dirty="0"/>
                        <a:t>Afirmación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2000" b="1" dirty="0"/>
                        <a:t>Razón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6992406"/>
                  </a:ext>
                </a:extLst>
              </a:tr>
              <a:tr h="370840">
                <a:tc>
                  <a:txBody>
                    <a:bodyPr/>
                    <a:lstStyle/>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29773306"/>
                  </a:ext>
                </a:extLst>
              </a:tr>
            </a:tbl>
          </a:graphicData>
        </a:graphic>
      </p:graphicFrame>
      <mc:AlternateContent xmlns:mc="http://schemas.openxmlformats.org/markup-compatibility/2006">
        <mc:Choice xmlns:a14="http://schemas.microsoft.com/office/drawing/2010/main" Requires="a14">
          <p:graphicFrame>
            <p:nvGraphicFramePr>
              <p:cNvPr id="12" name="Tabla 3">
                <a:extLst>
                  <a:ext uri="{FF2B5EF4-FFF2-40B4-BE49-F238E27FC236}">
                    <a16:creationId xmlns:a16="http://schemas.microsoft.com/office/drawing/2014/main" id="{AF489F14-573B-4A76-9D39-06EAF51F672C}"/>
                  </a:ext>
                </a:extLst>
              </p:cNvPr>
              <p:cNvGraphicFramePr>
                <a:graphicFrameLocks noGrp="1"/>
              </p:cNvGraphicFramePr>
              <p:nvPr>
                <p:extLst>
                  <p:ext uri="{D42A27DB-BD31-4B8C-83A1-F6EECF244321}">
                    <p14:modId xmlns:p14="http://schemas.microsoft.com/office/powerpoint/2010/main" val="1208503934"/>
                  </p:ext>
                </p:extLst>
              </p:nvPr>
            </p:nvGraphicFramePr>
            <p:xfrm>
              <a:off x="390470" y="1842113"/>
              <a:ext cx="5464426" cy="3627120"/>
            </p:xfrm>
            <a:graphic>
              <a:graphicData uri="http://schemas.openxmlformats.org/drawingml/2006/table">
                <a:tbl>
                  <a:tblPr firstRow="1" bandRow="1"/>
                  <a:tblGrid>
                    <a:gridCol w="1197226">
                      <a:extLst>
                        <a:ext uri="{9D8B030D-6E8A-4147-A177-3AD203B41FA5}">
                          <a16:colId xmlns:a16="http://schemas.microsoft.com/office/drawing/2014/main" val="2419793140"/>
                        </a:ext>
                      </a:extLst>
                    </a:gridCol>
                    <a:gridCol w="2120581">
                      <a:extLst>
                        <a:ext uri="{9D8B030D-6E8A-4147-A177-3AD203B41FA5}">
                          <a16:colId xmlns:a16="http://schemas.microsoft.com/office/drawing/2014/main" val="2761119023"/>
                        </a:ext>
                      </a:extLst>
                    </a:gridCol>
                    <a:gridCol w="2146619">
                      <a:extLst>
                        <a:ext uri="{9D8B030D-6E8A-4147-A177-3AD203B41FA5}">
                          <a16:colId xmlns:a16="http://schemas.microsoft.com/office/drawing/2014/main" val="180266477"/>
                        </a:ext>
                      </a:extLst>
                    </a:gridCol>
                  </a:tblGrid>
                  <a:tr h="208781">
                    <a:tc>
                      <a:txBody>
                        <a:bodyPr/>
                        <a:lstStyle/>
                        <a:p>
                          <a:r>
                            <a:rPr lang="es-CO" sz="1100" b="1" dirty="0">
                              <a:latin typeface="+mn-lt"/>
                              <a:ea typeface="Roboto" panose="02000000000000000000" pitchFamily="2" charset="0"/>
                            </a:rPr>
                            <a:t>Nombre</a:t>
                          </a:r>
                        </a:p>
                      </a:txBody>
                      <a:tcPr>
                        <a:solidFill>
                          <a:schemeClr val="bg2"/>
                        </a:solidFill>
                      </a:tcPr>
                    </a:tc>
                    <a:tc gridSpan="2">
                      <a:txBody>
                        <a:bodyPr/>
                        <a:lstStyle/>
                        <a:p>
                          <a:pPr algn="ctr"/>
                          <a:r>
                            <a:rPr lang="es-CO" sz="110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222047">
                    <a:tc>
                      <a:txBody>
                        <a:bodyPr/>
                        <a:lstStyle/>
                        <a:p>
                          <a:r>
                            <a:rPr lang="es-CO" sz="1100" b="1" dirty="0">
                              <a:latin typeface="+mn-lt"/>
                              <a:ea typeface="Roboto" panose="02000000000000000000" pitchFamily="2" charset="0"/>
                            </a:rPr>
                            <a:t>Conmutatividad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𝑄</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Roboto" panose="02000000000000000000" pitchFamily="2" charset="0"/>
                                  </a:rPr>
                                  <m:t>𝑄</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oMath>
                            </m:oMathPara>
                          </a14:m>
                          <a:endParaRPr lang="es-CO" sz="11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𝑄</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Roboto" panose="02000000000000000000" pitchFamily="2" charset="0"/>
                                  </a:rPr>
                                  <m:t>𝑄</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oMath>
                            </m:oMathPara>
                          </a14:m>
                          <a:endParaRPr lang="es-CO" sz="11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54515760"/>
                      </a:ext>
                    </a:extLst>
                  </a:tr>
                  <a:tr h="222047">
                    <a:tc>
                      <a:txBody>
                        <a:bodyPr/>
                        <a:lstStyle/>
                        <a:p>
                          <a:r>
                            <a:rPr lang="es-CO" sz="1100" b="1" dirty="0">
                              <a:latin typeface="+mn-lt"/>
                              <a:ea typeface="Roboto" panose="02000000000000000000" pitchFamily="2" charset="0"/>
                            </a:rPr>
                            <a:t>Asociatividad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d>
                                  <m:dPr>
                                    <m:ctrlPr>
                                      <a:rPr lang="es-MX" sz="1100" b="0" i="1" smtClean="0">
                                        <a:latin typeface="Cambria Math" panose="02040503050406030204" pitchFamily="18" charset="0"/>
                                        <a:ea typeface="Cambria Math" panose="02040503050406030204" pitchFamily="18" charset="0"/>
                                      </a:rPr>
                                    </m:ctrlPr>
                                  </m:dPr>
                                  <m:e>
                                    <m:r>
                                      <a:rPr lang="es-MX" sz="1100" b="0" i="1" smtClean="0">
                                        <a:latin typeface="Cambria Math" panose="02040503050406030204" pitchFamily="18" charset="0"/>
                                        <a:ea typeface="Cambria Math" panose="02040503050406030204" pitchFamily="18" charset="0"/>
                                      </a:rPr>
                                      <m:t>𝑄</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𝑅</m:t>
                                    </m:r>
                                  </m:e>
                                </m:d>
                                <m:r>
                                  <a:rPr lang="es-MX" sz="1100" b="0" i="1" smtClean="0">
                                    <a:latin typeface="Cambria Math" panose="02040503050406030204" pitchFamily="18" charset="0"/>
                                    <a:ea typeface="Cambria Math" panose="02040503050406030204" pitchFamily="18" charset="0"/>
                                  </a:rPr>
                                  <m:t>≡</m:t>
                                </m:r>
                                <m:d>
                                  <m:dPr>
                                    <m:ctrlPr>
                                      <a:rPr lang="es-MX" sz="1100" b="0" i="1" smtClean="0">
                                        <a:latin typeface="Cambria Math" panose="02040503050406030204" pitchFamily="18" charset="0"/>
                                        <a:ea typeface="Cambria Math" panose="02040503050406030204" pitchFamily="18" charset="0"/>
                                      </a:rPr>
                                    </m:ctrlPr>
                                  </m:dPr>
                                  <m:e>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𝑄</m:t>
                                    </m:r>
                                  </m:e>
                                </m:d>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𝑅</m:t>
                                </m:r>
                              </m:oMath>
                            </m:oMathPara>
                          </a14:m>
                          <a:endParaRPr lang="es-CO" sz="11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d>
                                  <m:dPr>
                                    <m:ctrlPr>
                                      <a:rPr lang="es-MX" sz="1100" b="0" i="1" smtClean="0">
                                        <a:latin typeface="Cambria Math" panose="02040503050406030204" pitchFamily="18" charset="0"/>
                                        <a:ea typeface="Cambria Math" panose="02040503050406030204" pitchFamily="18" charset="0"/>
                                      </a:rPr>
                                    </m:ctrlPr>
                                  </m:dPr>
                                  <m:e>
                                    <m:r>
                                      <a:rPr lang="es-MX" sz="1100" b="0" i="1" smtClean="0">
                                        <a:latin typeface="Cambria Math" panose="02040503050406030204" pitchFamily="18" charset="0"/>
                                        <a:ea typeface="Cambria Math" panose="02040503050406030204" pitchFamily="18" charset="0"/>
                                      </a:rPr>
                                      <m:t>𝑄</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𝑅</m:t>
                                    </m:r>
                                  </m:e>
                                </m:d>
                                <m:r>
                                  <a:rPr lang="es-MX" sz="1100" b="0" i="1" smtClean="0">
                                    <a:latin typeface="Cambria Math" panose="02040503050406030204" pitchFamily="18" charset="0"/>
                                    <a:ea typeface="Cambria Math" panose="02040503050406030204" pitchFamily="18" charset="0"/>
                                  </a:rPr>
                                  <m:t>≡</m:t>
                                </m:r>
                                <m:d>
                                  <m:dPr>
                                    <m:ctrlPr>
                                      <a:rPr lang="es-MX" sz="1100" b="0" i="1" smtClean="0">
                                        <a:latin typeface="Cambria Math" panose="02040503050406030204" pitchFamily="18" charset="0"/>
                                        <a:ea typeface="Cambria Math" panose="02040503050406030204" pitchFamily="18" charset="0"/>
                                      </a:rPr>
                                    </m:ctrlPr>
                                  </m:dPr>
                                  <m:e>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𝑄</m:t>
                                    </m:r>
                                  </m:e>
                                </m:d>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𝑅</m:t>
                                </m:r>
                              </m:oMath>
                            </m:oMathPara>
                          </a14:m>
                          <a:endParaRPr lang="es-CO" sz="11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913743916"/>
                      </a:ext>
                    </a:extLst>
                  </a:tr>
                  <a:tr h="222047">
                    <a:tc>
                      <a:txBody>
                        <a:bodyPr/>
                        <a:lstStyle/>
                        <a:p>
                          <a:r>
                            <a:rPr lang="es-CO" sz="1100" b="1" dirty="0">
                              <a:latin typeface="+mn-lt"/>
                              <a:ea typeface="Roboto" panose="02000000000000000000" pitchFamily="2" charset="0"/>
                            </a:rPr>
                            <a:t>Distributividad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d>
                                  <m:dPr>
                                    <m:ctrlPr>
                                      <a:rPr lang="es-MX" sz="1100" b="0" i="1" smtClean="0">
                                        <a:latin typeface="Cambria Math" panose="02040503050406030204" pitchFamily="18" charset="0"/>
                                        <a:ea typeface="Cambria Math" panose="02040503050406030204" pitchFamily="18" charset="0"/>
                                      </a:rPr>
                                    </m:ctrlPr>
                                  </m:dPr>
                                  <m:e>
                                    <m:r>
                                      <a:rPr lang="es-MX" sz="1100" b="0" i="1" smtClean="0">
                                        <a:latin typeface="Cambria Math" panose="02040503050406030204" pitchFamily="18" charset="0"/>
                                        <a:ea typeface="Cambria Math" panose="02040503050406030204" pitchFamily="18" charset="0"/>
                                      </a:rPr>
                                      <m:t>𝑄</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𝑅</m:t>
                                    </m:r>
                                  </m:e>
                                </m:d>
                                <m:r>
                                  <a:rPr lang="es-MX" sz="1100" b="0" i="1" smtClean="0">
                                    <a:latin typeface="Cambria Math" panose="02040503050406030204" pitchFamily="18" charset="0"/>
                                    <a:ea typeface="Cambria Math" panose="02040503050406030204" pitchFamily="18" charset="0"/>
                                  </a:rPr>
                                  <m:t>≡</m:t>
                                </m:r>
                                <m:d>
                                  <m:dPr>
                                    <m:ctrlPr>
                                      <a:rPr lang="es-MX" sz="1100" b="0" i="1" smtClean="0">
                                        <a:latin typeface="Cambria Math" panose="02040503050406030204" pitchFamily="18" charset="0"/>
                                        <a:ea typeface="Cambria Math" panose="02040503050406030204" pitchFamily="18" charset="0"/>
                                      </a:rPr>
                                    </m:ctrlPr>
                                  </m:dPr>
                                  <m:e>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𝑄</m:t>
                                    </m:r>
                                  </m:e>
                                </m:d>
                                <m:r>
                                  <a:rPr lang="es-MX" sz="1100" b="0" i="1" smtClean="0">
                                    <a:latin typeface="Cambria Math" panose="02040503050406030204" pitchFamily="18" charset="0"/>
                                    <a:ea typeface="Cambria Math" panose="02040503050406030204" pitchFamily="18" charset="0"/>
                                  </a:rPr>
                                  <m:t>∨</m:t>
                                </m:r>
                                <m:d>
                                  <m:dPr>
                                    <m:ctrlPr>
                                      <a:rPr lang="es-MX" sz="1100" b="0" i="1" smtClean="0">
                                        <a:latin typeface="Cambria Math" panose="02040503050406030204" pitchFamily="18" charset="0"/>
                                        <a:ea typeface="Cambria Math" panose="02040503050406030204" pitchFamily="18" charset="0"/>
                                      </a:rPr>
                                    </m:ctrlPr>
                                  </m:dPr>
                                  <m:e>
                                    <m:r>
                                      <a:rPr lang="es-MX" sz="1100" b="0" i="1" smtClean="0">
                                        <a:latin typeface="Cambria Math" panose="02040503050406030204" pitchFamily="18" charset="0"/>
                                        <a:ea typeface="Cambria Math" panose="02040503050406030204" pitchFamily="18"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𝑅</m:t>
                                    </m:r>
                                  </m:e>
                                </m:d>
                              </m:oMath>
                            </m:oMathPara>
                          </a14:m>
                          <a:endParaRPr lang="es-CO" sz="11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d>
                                  <m:dPr>
                                    <m:ctrlPr>
                                      <a:rPr lang="es-MX" sz="1100" b="0" i="1" smtClean="0">
                                        <a:latin typeface="Cambria Math" panose="02040503050406030204" pitchFamily="18" charset="0"/>
                                        <a:ea typeface="Cambria Math" panose="02040503050406030204" pitchFamily="18" charset="0"/>
                                      </a:rPr>
                                    </m:ctrlPr>
                                  </m:dPr>
                                  <m:e>
                                    <m:r>
                                      <a:rPr lang="es-MX" sz="1100" b="0" i="1" smtClean="0">
                                        <a:latin typeface="Cambria Math" panose="02040503050406030204" pitchFamily="18" charset="0"/>
                                        <a:ea typeface="Cambria Math" panose="02040503050406030204" pitchFamily="18" charset="0"/>
                                      </a:rPr>
                                      <m:t>𝑄</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𝑅</m:t>
                                    </m:r>
                                  </m:e>
                                </m:d>
                                <m:r>
                                  <a:rPr lang="es-MX" sz="1100" b="0" i="1" smtClean="0">
                                    <a:latin typeface="Cambria Math" panose="02040503050406030204" pitchFamily="18" charset="0"/>
                                    <a:ea typeface="Cambria Math" panose="02040503050406030204" pitchFamily="18" charset="0"/>
                                  </a:rPr>
                                  <m:t>≡</m:t>
                                </m:r>
                                <m:d>
                                  <m:dPr>
                                    <m:ctrlPr>
                                      <a:rPr lang="es-MX" sz="1100" b="0" i="1" smtClean="0">
                                        <a:latin typeface="Cambria Math" panose="02040503050406030204" pitchFamily="18" charset="0"/>
                                        <a:ea typeface="Cambria Math" panose="02040503050406030204" pitchFamily="18" charset="0"/>
                                      </a:rPr>
                                    </m:ctrlPr>
                                  </m:dPr>
                                  <m:e>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𝑄</m:t>
                                    </m:r>
                                  </m:e>
                                </m:d>
                                <m:r>
                                  <a:rPr lang="es-MX" sz="1100" b="0" i="1" smtClean="0">
                                    <a:latin typeface="Cambria Math" panose="02040503050406030204" pitchFamily="18" charset="0"/>
                                    <a:ea typeface="Cambria Math" panose="02040503050406030204" pitchFamily="18" charset="0"/>
                                  </a:rPr>
                                  <m:t>∧</m:t>
                                </m:r>
                                <m:d>
                                  <m:dPr>
                                    <m:ctrlPr>
                                      <a:rPr lang="es-MX" sz="1100" b="0" i="1" smtClean="0">
                                        <a:latin typeface="Cambria Math" panose="02040503050406030204" pitchFamily="18" charset="0"/>
                                        <a:ea typeface="Cambria Math" panose="02040503050406030204" pitchFamily="18" charset="0"/>
                                      </a:rPr>
                                    </m:ctrlPr>
                                  </m:dPr>
                                  <m:e>
                                    <m:r>
                                      <a:rPr lang="es-MX" sz="1100" b="0" i="1" smtClean="0">
                                        <a:latin typeface="Cambria Math" panose="02040503050406030204" pitchFamily="18" charset="0"/>
                                        <a:ea typeface="Cambria Math" panose="02040503050406030204" pitchFamily="18"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𝑅</m:t>
                                    </m:r>
                                  </m:e>
                                </m:d>
                              </m:oMath>
                            </m:oMathPara>
                          </a14:m>
                          <a:endParaRPr lang="es-CO" sz="11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17401643"/>
                      </a:ext>
                    </a:extLst>
                  </a:tr>
                  <a:tr h="222047">
                    <a:tc>
                      <a:txBody>
                        <a:bodyPr/>
                        <a:lstStyle/>
                        <a:p>
                          <a:r>
                            <a:rPr lang="es-CO" sz="1100" b="1" dirty="0">
                              <a:latin typeface="+mn-lt"/>
                              <a:ea typeface="Roboto" panose="02000000000000000000" pitchFamily="2" charset="0"/>
                            </a:rPr>
                            <a:t>Idempotencia</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oMath>
                            </m:oMathPara>
                          </a14:m>
                          <a:endParaRPr lang="es-CO" sz="11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oMath>
                            </m:oMathPara>
                          </a14:m>
                          <a:endParaRPr lang="es-CO" sz="11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46818852"/>
                      </a:ext>
                    </a:extLst>
                  </a:tr>
                  <a:tr h="222047">
                    <a:tc>
                      <a:txBody>
                        <a:bodyPr/>
                        <a:lstStyle/>
                        <a:p>
                          <a:r>
                            <a:rPr lang="es-CO" sz="1100" b="1" dirty="0">
                              <a:latin typeface="+mn-lt"/>
                              <a:ea typeface="Roboto" panose="02000000000000000000" pitchFamily="2" charset="0"/>
                            </a:rPr>
                            <a:t>Doble negación</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Cambria Math" panose="02040503050406030204" pitchFamily="18" charset="0"/>
                                  </a:rPr>
                                  <m:t>¬</m:t>
                                </m:r>
                                <m:d>
                                  <m:dPr>
                                    <m:ctrlPr>
                                      <a:rPr lang="es-MX" sz="1100" b="0" i="1" smtClean="0">
                                        <a:latin typeface="Cambria Math" panose="02040503050406030204" pitchFamily="18" charset="0"/>
                                        <a:ea typeface="Cambria Math" panose="02040503050406030204" pitchFamily="18" charset="0"/>
                                      </a:rPr>
                                    </m:ctrlPr>
                                  </m:dPr>
                                  <m:e>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e>
                                </m:d>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oMath>
                            </m:oMathPara>
                          </a14:m>
                          <a:endParaRPr lang="es-CO" sz="11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88149062"/>
                      </a:ext>
                    </a:extLst>
                  </a:tr>
                  <a:tr h="222047">
                    <a:tc>
                      <a:txBody>
                        <a:bodyPr/>
                        <a:lstStyle/>
                        <a:p>
                          <a:r>
                            <a:rPr lang="es-CO" sz="1100" b="1" dirty="0">
                              <a:latin typeface="+mn-lt"/>
                              <a:ea typeface="Roboto" panose="02000000000000000000" pitchFamily="2" charset="0"/>
                            </a:rPr>
                            <a:t>Leyes de Morgan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Cambria Math" panose="02040503050406030204" pitchFamily="18" charset="0"/>
                                  </a:rPr>
                                  <m:t>¬</m:t>
                                </m:r>
                                <m:d>
                                  <m:dPr>
                                    <m:ctrlPr>
                                      <a:rPr lang="es-MX" sz="1100" b="0" i="1" smtClean="0">
                                        <a:latin typeface="Cambria Math" panose="02040503050406030204" pitchFamily="18" charset="0"/>
                                        <a:ea typeface="Cambria Math" panose="02040503050406030204" pitchFamily="18" charset="0"/>
                                      </a:rPr>
                                    </m:ctrlPr>
                                  </m:dPr>
                                  <m:e>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𝑄</m:t>
                                    </m:r>
                                  </m:e>
                                </m:d>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𝑄</m:t>
                                </m:r>
                              </m:oMath>
                            </m:oMathPara>
                          </a14:m>
                          <a:endParaRPr lang="es-CO" sz="11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Cambria Math" panose="02040503050406030204" pitchFamily="18" charset="0"/>
                                  </a:rPr>
                                  <m:t>¬</m:t>
                                </m:r>
                                <m:d>
                                  <m:dPr>
                                    <m:ctrlPr>
                                      <a:rPr lang="es-MX" sz="1100" b="0" i="1" smtClean="0">
                                        <a:latin typeface="Cambria Math" panose="02040503050406030204" pitchFamily="18" charset="0"/>
                                        <a:ea typeface="Cambria Math" panose="02040503050406030204" pitchFamily="18" charset="0"/>
                                      </a:rPr>
                                    </m:ctrlPr>
                                  </m:dPr>
                                  <m:e>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𝑄</m:t>
                                    </m:r>
                                  </m:e>
                                </m:d>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𝑄</m:t>
                                </m:r>
                              </m:oMath>
                            </m:oMathPara>
                          </a14:m>
                          <a:endParaRPr lang="es-CO" sz="11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13060234"/>
                      </a:ext>
                    </a:extLst>
                  </a:tr>
                  <a:tr h="222047">
                    <a:tc>
                      <a:txBody>
                        <a:bodyPr/>
                        <a:lstStyle/>
                        <a:p>
                          <a:r>
                            <a:rPr lang="es-CO" sz="1100" b="1" dirty="0">
                              <a:latin typeface="+mn-lt"/>
                              <a:ea typeface="Roboto" panose="02000000000000000000" pitchFamily="2" charset="0"/>
                            </a:rPr>
                            <a:t>Identidad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1" i="1" smtClean="0">
                                    <a:latin typeface="Cambria Math" panose="02040503050406030204" pitchFamily="18" charset="0"/>
                                    <a:ea typeface="Cambria Math" panose="02040503050406030204" pitchFamily="18" charset="0"/>
                                  </a:rPr>
                                  <m:t>𝑽</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oMath>
                            </m:oMathPara>
                          </a14:m>
                          <a:endParaRPr lang="es-CO" sz="11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1" i="1" smtClean="0">
                                    <a:latin typeface="Cambria Math" panose="02040503050406030204" pitchFamily="18" charset="0"/>
                                    <a:ea typeface="Cambria Math" panose="02040503050406030204" pitchFamily="18" charset="0"/>
                                  </a:rPr>
                                  <m:t>𝑭</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oMath>
                            </m:oMathPara>
                          </a14:m>
                          <a:endParaRPr lang="es-CO" sz="11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494965197"/>
                      </a:ext>
                    </a:extLst>
                  </a:tr>
                  <a:tr h="222047">
                    <a:tc>
                      <a:txBody>
                        <a:bodyPr/>
                        <a:lstStyle/>
                        <a:p>
                          <a:r>
                            <a:rPr lang="es-CO" sz="1100" b="1" dirty="0">
                              <a:latin typeface="+mn-lt"/>
                              <a:ea typeface="Roboto" panose="02000000000000000000" pitchFamily="2" charset="0"/>
                            </a:rPr>
                            <a:t>Dominación</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1" i="1" smtClean="0">
                                    <a:latin typeface="Cambria Math" panose="02040503050406030204" pitchFamily="18" charset="0"/>
                                    <a:ea typeface="Cambria Math" panose="02040503050406030204" pitchFamily="18" charset="0"/>
                                  </a:rPr>
                                  <m:t>𝑭</m:t>
                                </m:r>
                                <m:r>
                                  <a:rPr lang="es-MX" sz="1100" b="0" i="1" smtClean="0">
                                    <a:latin typeface="Cambria Math" panose="02040503050406030204" pitchFamily="18" charset="0"/>
                                    <a:ea typeface="Cambria Math" panose="02040503050406030204" pitchFamily="18" charset="0"/>
                                  </a:rPr>
                                  <m:t>≡</m:t>
                                </m:r>
                                <m:r>
                                  <a:rPr lang="es-MX" sz="1100" b="1" i="1" smtClean="0">
                                    <a:latin typeface="Cambria Math" panose="02040503050406030204" pitchFamily="18" charset="0"/>
                                    <a:ea typeface="Cambria Math" panose="02040503050406030204" pitchFamily="18" charset="0"/>
                                  </a:rPr>
                                  <m:t>𝑭</m:t>
                                </m:r>
                              </m:oMath>
                            </m:oMathPara>
                          </a14:m>
                          <a:endParaRPr lang="es-CO" sz="11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1" i="1" smtClean="0">
                                    <a:latin typeface="Cambria Math" panose="02040503050406030204" pitchFamily="18" charset="0"/>
                                    <a:ea typeface="Cambria Math" panose="02040503050406030204" pitchFamily="18" charset="0"/>
                                  </a:rPr>
                                  <m:t>𝑽</m:t>
                                </m:r>
                                <m:r>
                                  <a:rPr lang="es-MX" sz="1100" b="0" i="1" smtClean="0">
                                    <a:latin typeface="Cambria Math" panose="02040503050406030204" pitchFamily="18" charset="0"/>
                                    <a:ea typeface="Cambria Math" panose="02040503050406030204" pitchFamily="18" charset="0"/>
                                  </a:rPr>
                                  <m:t>≡</m:t>
                                </m:r>
                                <m:r>
                                  <a:rPr lang="es-MX" sz="1100" b="1" i="1" smtClean="0">
                                    <a:latin typeface="Cambria Math" panose="02040503050406030204" pitchFamily="18" charset="0"/>
                                    <a:ea typeface="Cambria Math" panose="02040503050406030204" pitchFamily="18" charset="0"/>
                                  </a:rPr>
                                  <m:t>𝑽</m:t>
                                </m:r>
                              </m:oMath>
                            </m:oMathPara>
                          </a14:m>
                          <a:endParaRPr lang="es-CO" sz="11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07485840"/>
                      </a:ext>
                    </a:extLst>
                  </a:tr>
                  <a:tr h="222047">
                    <a:tc>
                      <a:txBody>
                        <a:bodyPr/>
                        <a:lstStyle/>
                        <a:p>
                          <a:r>
                            <a:rPr lang="es-CO" sz="1100" b="1" dirty="0">
                              <a:latin typeface="+mn-lt"/>
                              <a:ea typeface="Roboto" panose="02000000000000000000" pitchFamily="2" charset="0"/>
                            </a:rPr>
                            <a:t>Absorción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d>
                                  <m:dPr>
                                    <m:ctrlPr>
                                      <a:rPr lang="es-MX" sz="1100" b="0" i="1" smtClean="0">
                                        <a:latin typeface="Cambria Math" panose="02040503050406030204" pitchFamily="18" charset="0"/>
                                        <a:ea typeface="Cambria Math" panose="02040503050406030204" pitchFamily="18" charset="0"/>
                                      </a:rPr>
                                    </m:ctrlPr>
                                  </m:dPr>
                                  <m:e>
                                    <m:r>
                                      <a:rPr lang="es-MX" sz="1100" b="0" i="1" smtClean="0">
                                        <a:latin typeface="Cambria Math" panose="02040503050406030204" pitchFamily="18" charset="0"/>
                                        <a:ea typeface="Cambria Math" panose="02040503050406030204" pitchFamily="18"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𝑄</m:t>
                                    </m:r>
                                  </m:e>
                                </m:d>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oMath>
                            </m:oMathPara>
                          </a14:m>
                          <a:endParaRPr lang="es-CO" sz="11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d>
                                  <m:dPr>
                                    <m:ctrlPr>
                                      <a:rPr lang="es-MX" sz="1100" b="0" i="1" smtClean="0">
                                        <a:latin typeface="Cambria Math" panose="02040503050406030204" pitchFamily="18" charset="0"/>
                                        <a:ea typeface="Cambria Math" panose="02040503050406030204" pitchFamily="18" charset="0"/>
                                      </a:rPr>
                                    </m:ctrlPr>
                                  </m:dPr>
                                  <m:e>
                                    <m:r>
                                      <a:rPr lang="es-MX" sz="1100" b="0" i="1" smtClean="0">
                                        <a:latin typeface="Cambria Math" panose="02040503050406030204" pitchFamily="18" charset="0"/>
                                        <a:ea typeface="Cambria Math" panose="02040503050406030204" pitchFamily="18"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𝑄</m:t>
                                    </m:r>
                                  </m:e>
                                </m:d>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oMath>
                            </m:oMathPara>
                          </a14:m>
                          <a:endParaRPr lang="es-CO" sz="11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232652958"/>
                      </a:ext>
                    </a:extLst>
                  </a:tr>
                  <a:tr h="222047">
                    <a:tc>
                      <a:txBody>
                        <a:bodyPr/>
                        <a:lstStyle/>
                        <a:p>
                          <a:r>
                            <a:rPr lang="es-CO" sz="1100" b="1" dirty="0">
                              <a:latin typeface="+mn-lt"/>
                              <a:ea typeface="Roboto" panose="02000000000000000000" pitchFamily="2" charset="0"/>
                            </a:rPr>
                            <a:t>Complemento</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r>
                                  <a:rPr lang="es-MX" sz="1100" b="0" i="1" smtClean="0">
                                    <a:latin typeface="Cambria Math" panose="02040503050406030204" pitchFamily="18" charset="0"/>
                                    <a:ea typeface="Cambria Math" panose="02040503050406030204" pitchFamily="18" charset="0"/>
                                  </a:rPr>
                                  <m:t>≡</m:t>
                                </m:r>
                                <m:r>
                                  <a:rPr lang="es-MX" sz="1100" b="1" i="1" smtClean="0">
                                    <a:latin typeface="Cambria Math" panose="02040503050406030204" pitchFamily="18" charset="0"/>
                                    <a:ea typeface="Cambria Math" panose="02040503050406030204" pitchFamily="18" charset="0"/>
                                  </a:rPr>
                                  <m:t>𝑭</m:t>
                                </m:r>
                              </m:oMath>
                            </m:oMathPara>
                          </a14:m>
                          <a:endParaRPr lang="es-CO" sz="1100" b="1"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r>
                                  <a:rPr lang="es-MX" sz="1100" b="0" i="1" smtClean="0">
                                    <a:latin typeface="Cambria Math" panose="02040503050406030204" pitchFamily="18" charset="0"/>
                                    <a:ea typeface="Cambria Math" panose="02040503050406030204" pitchFamily="18" charset="0"/>
                                  </a:rPr>
                                  <m:t>≡</m:t>
                                </m:r>
                                <m:r>
                                  <a:rPr lang="es-MX" sz="1100" b="1" i="1" smtClean="0">
                                    <a:latin typeface="Cambria Math" panose="02040503050406030204" pitchFamily="18" charset="0"/>
                                    <a:ea typeface="Cambria Math" panose="02040503050406030204" pitchFamily="18" charset="0"/>
                                  </a:rPr>
                                  <m:t>𝑽</m:t>
                                </m:r>
                              </m:oMath>
                            </m:oMathPara>
                          </a14:m>
                          <a:endParaRPr lang="es-CO" sz="11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70911309"/>
                      </a:ext>
                    </a:extLst>
                  </a:tr>
                  <a:tr h="222047">
                    <a:tc>
                      <a:txBody>
                        <a:bodyPr/>
                        <a:lstStyle/>
                        <a:p>
                          <a:r>
                            <a:rPr lang="es-CO" sz="1100" b="1" dirty="0">
                              <a:latin typeface="+mn-lt"/>
                              <a:ea typeface="Roboto" panose="02000000000000000000" pitchFamily="2" charset="0"/>
                            </a:rPr>
                            <a:t>Implicación</a:t>
                          </a:r>
                        </a:p>
                      </a:txBody>
                      <a:tcPr>
                        <a:solidFill>
                          <a:schemeClr val="bg2"/>
                        </a:solidFill>
                      </a:tcPr>
                    </a:tc>
                    <a:tc gridSpan="2">
                      <a:txBody>
                        <a:bodyPr/>
                        <a:lstStyle/>
                        <a:p>
                          <a:pPr algn="ct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Roboto" panose="02000000000000000000" pitchFamily="2" charset="0"/>
                                  </a:rPr>
                                  <m:t>→</m:t>
                                </m:r>
                                <m:r>
                                  <a:rPr lang="es-MX" sz="1100" b="0" i="1" smtClean="0">
                                    <a:latin typeface="Cambria Math" panose="02040503050406030204" pitchFamily="18" charset="0"/>
                                    <a:ea typeface="Roboto" panose="02000000000000000000" pitchFamily="2" charset="0"/>
                                  </a:rPr>
                                  <m:t>𝑄</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𝑄</m:t>
                                </m:r>
                              </m:oMath>
                            </m:oMathPara>
                          </a14:m>
                          <a:endParaRPr lang="es-CO" sz="11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483938044"/>
                      </a:ext>
                    </a:extLst>
                  </a:tr>
                  <a:tr h="222047">
                    <a:tc>
                      <a:txBody>
                        <a:bodyPr/>
                        <a:lstStyle/>
                        <a:p>
                          <a:r>
                            <a:rPr lang="es-CO" sz="1100" b="1" dirty="0">
                              <a:latin typeface="+mn-lt"/>
                              <a:ea typeface="Roboto" panose="02000000000000000000" pitchFamily="2" charset="0"/>
                            </a:rPr>
                            <a:t>Contrarrecíproco</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Roboto" panose="02000000000000000000" pitchFamily="2" charset="0"/>
                                  </a:rPr>
                                  <m:t>→</m:t>
                                </m:r>
                                <m:r>
                                  <a:rPr lang="es-MX" sz="1100" b="0" i="1" smtClean="0">
                                    <a:latin typeface="Cambria Math" panose="02040503050406030204" pitchFamily="18" charset="0"/>
                                    <a:ea typeface="Roboto" panose="02000000000000000000" pitchFamily="2" charset="0"/>
                                  </a:rPr>
                                  <m:t>𝑄</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𝑄</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oMath>
                            </m:oMathPara>
                          </a14:m>
                          <a:endParaRPr lang="es-CO" sz="11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255506134"/>
                      </a:ext>
                    </a:extLst>
                  </a:tr>
                  <a:tr h="222047">
                    <a:tc>
                      <a:txBody>
                        <a:bodyPr/>
                        <a:lstStyle/>
                        <a:p>
                          <a:r>
                            <a:rPr lang="es-CO" sz="1100" b="1" dirty="0">
                              <a:latin typeface="+mn-lt"/>
                              <a:ea typeface="Roboto" panose="02000000000000000000" pitchFamily="2" charset="0"/>
                            </a:rPr>
                            <a:t>Equivalencia</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100" b="0" i="1" smtClean="0">
                                    <a:latin typeface="Cambria Math" panose="02040503050406030204" pitchFamily="18" charset="0"/>
                                    <a:ea typeface="Roboto" panose="02000000000000000000" pitchFamily="2"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Roboto" panose="02000000000000000000" pitchFamily="2" charset="0"/>
                                  </a:rPr>
                                  <m:t>𝑄</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𝑄</m:t>
                                </m:r>
                                <m:r>
                                  <a:rPr lang="es-MX" sz="1100" b="0" i="1" smtClean="0">
                                    <a:latin typeface="Cambria Math" panose="02040503050406030204" pitchFamily="18" charset="0"/>
                                    <a:ea typeface="Cambria Math" panose="02040503050406030204" pitchFamily="18" charset="0"/>
                                  </a:rPr>
                                  <m:t>)∧</m:t>
                                </m:r>
                                <m:d>
                                  <m:dPr>
                                    <m:ctrlPr>
                                      <a:rPr lang="es-MX" sz="1100" b="0" i="1" smtClean="0">
                                        <a:latin typeface="Cambria Math" panose="02040503050406030204" pitchFamily="18" charset="0"/>
                                        <a:ea typeface="Cambria Math" panose="02040503050406030204" pitchFamily="18" charset="0"/>
                                      </a:rPr>
                                    </m:ctrlPr>
                                  </m:dPr>
                                  <m:e>
                                    <m:r>
                                      <a:rPr lang="es-MX" sz="1100" b="0" i="1" smtClean="0">
                                        <a:latin typeface="Cambria Math" panose="02040503050406030204" pitchFamily="18" charset="0"/>
                                        <a:ea typeface="Cambria Math" panose="02040503050406030204" pitchFamily="18" charset="0"/>
                                      </a:rPr>
                                      <m:t>𝑄</m:t>
                                    </m:r>
                                    <m:r>
                                      <a:rPr lang="es-MX" sz="1100" b="0" i="1" smtClean="0">
                                        <a:latin typeface="Cambria Math" panose="02040503050406030204" pitchFamily="18" charset="0"/>
                                        <a:ea typeface="Cambria Math" panose="02040503050406030204" pitchFamily="18" charset="0"/>
                                      </a:rPr>
                                      <m:t>→</m:t>
                                    </m:r>
                                    <m:r>
                                      <a:rPr lang="es-MX" sz="1100" b="0" i="1" smtClean="0">
                                        <a:latin typeface="Cambria Math" panose="02040503050406030204" pitchFamily="18" charset="0"/>
                                        <a:ea typeface="Cambria Math" panose="02040503050406030204" pitchFamily="18" charset="0"/>
                                      </a:rPr>
                                      <m:t>𝑃</m:t>
                                    </m:r>
                                  </m:e>
                                </m:d>
                              </m:oMath>
                            </m:oMathPara>
                          </a14:m>
                          <a:endParaRPr lang="es-CO" sz="11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40457137"/>
                      </a:ext>
                    </a:extLst>
                  </a:tr>
                </a:tbl>
              </a:graphicData>
            </a:graphic>
          </p:graphicFrame>
        </mc:Choice>
        <mc:Fallback>
          <p:graphicFrame>
            <p:nvGraphicFramePr>
              <p:cNvPr id="12" name="Tabla 3">
                <a:extLst>
                  <a:ext uri="{FF2B5EF4-FFF2-40B4-BE49-F238E27FC236}">
                    <a16:creationId xmlns:a16="http://schemas.microsoft.com/office/drawing/2014/main" id="{AF489F14-573B-4A76-9D39-06EAF51F672C}"/>
                  </a:ext>
                </a:extLst>
              </p:cNvPr>
              <p:cNvGraphicFramePr>
                <a:graphicFrameLocks noGrp="1"/>
              </p:cNvGraphicFramePr>
              <p:nvPr>
                <p:extLst>
                  <p:ext uri="{D42A27DB-BD31-4B8C-83A1-F6EECF244321}">
                    <p14:modId xmlns:p14="http://schemas.microsoft.com/office/powerpoint/2010/main" val="1208503934"/>
                  </p:ext>
                </p:extLst>
              </p:nvPr>
            </p:nvGraphicFramePr>
            <p:xfrm>
              <a:off x="390470" y="1842113"/>
              <a:ext cx="5464426" cy="3627120"/>
            </p:xfrm>
            <a:graphic>
              <a:graphicData uri="http://schemas.openxmlformats.org/drawingml/2006/table">
                <a:tbl>
                  <a:tblPr firstRow="1" bandRow="1"/>
                  <a:tblGrid>
                    <a:gridCol w="1197226">
                      <a:extLst>
                        <a:ext uri="{9D8B030D-6E8A-4147-A177-3AD203B41FA5}">
                          <a16:colId xmlns:a16="http://schemas.microsoft.com/office/drawing/2014/main" val="2419793140"/>
                        </a:ext>
                      </a:extLst>
                    </a:gridCol>
                    <a:gridCol w="2120581">
                      <a:extLst>
                        <a:ext uri="{9D8B030D-6E8A-4147-A177-3AD203B41FA5}">
                          <a16:colId xmlns:a16="http://schemas.microsoft.com/office/drawing/2014/main" val="2761119023"/>
                        </a:ext>
                      </a:extLst>
                    </a:gridCol>
                    <a:gridCol w="2146619">
                      <a:extLst>
                        <a:ext uri="{9D8B030D-6E8A-4147-A177-3AD203B41FA5}">
                          <a16:colId xmlns:a16="http://schemas.microsoft.com/office/drawing/2014/main" val="180266477"/>
                        </a:ext>
                      </a:extLst>
                    </a:gridCol>
                  </a:tblGrid>
                  <a:tr h="259080">
                    <a:tc>
                      <a:txBody>
                        <a:bodyPr/>
                        <a:lstStyle/>
                        <a:p>
                          <a:r>
                            <a:rPr lang="es-CO" sz="1100" b="1" dirty="0">
                              <a:latin typeface="+mn-lt"/>
                              <a:ea typeface="Roboto" panose="02000000000000000000" pitchFamily="2" charset="0"/>
                            </a:rPr>
                            <a:t>Nombre</a:t>
                          </a:r>
                        </a:p>
                      </a:txBody>
                      <a:tcPr>
                        <a:solidFill>
                          <a:schemeClr val="bg2"/>
                        </a:solidFill>
                      </a:tcPr>
                    </a:tc>
                    <a:tc gridSpan="2">
                      <a:txBody>
                        <a:bodyPr/>
                        <a:lstStyle/>
                        <a:p>
                          <a:pPr algn="ctr"/>
                          <a:r>
                            <a:rPr lang="es-CO" sz="110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259080">
                    <a:tc>
                      <a:txBody>
                        <a:bodyPr/>
                        <a:lstStyle/>
                        <a:p>
                          <a:r>
                            <a:rPr lang="es-CO" sz="1100" b="1" dirty="0">
                              <a:latin typeface="+mn-lt"/>
                              <a:ea typeface="Roboto" panose="02000000000000000000" pitchFamily="2" charset="0"/>
                            </a:rPr>
                            <a:t>Conmutatividad</a:t>
                          </a:r>
                        </a:p>
                      </a:txBody>
                      <a:tcPr>
                        <a:solidFill>
                          <a:schemeClr val="bg2"/>
                        </a:solidFill>
                      </a:tcPr>
                    </a:tc>
                    <a:tc>
                      <a:txBody>
                        <a:bodyPr/>
                        <a:lstStyle/>
                        <a:p>
                          <a:endParaRPr lang="es-CO"/>
                        </a:p>
                      </a:txBody>
                      <a:tcPr>
                        <a:blipFill>
                          <a:blip r:embed="rId3"/>
                          <a:stretch>
                            <a:fillRect l="-56897" t="-104762" r="-101724" b="-1230952"/>
                          </a:stretch>
                        </a:blipFill>
                      </a:tcPr>
                    </a:tc>
                    <a:tc>
                      <a:txBody>
                        <a:bodyPr/>
                        <a:lstStyle/>
                        <a:p>
                          <a:endParaRPr lang="es-CO"/>
                        </a:p>
                      </a:txBody>
                      <a:tcPr>
                        <a:blipFill>
                          <a:blip r:embed="rId3"/>
                          <a:stretch>
                            <a:fillRect l="-155114" t="-104762" r="-568" b="-1230952"/>
                          </a:stretch>
                        </a:blipFill>
                      </a:tcPr>
                    </a:tc>
                    <a:extLst>
                      <a:ext uri="{0D108BD9-81ED-4DB2-BD59-A6C34878D82A}">
                        <a16:rowId xmlns:a16="http://schemas.microsoft.com/office/drawing/2014/main" val="3154515760"/>
                      </a:ext>
                    </a:extLst>
                  </a:tr>
                  <a:tr h="259080">
                    <a:tc>
                      <a:txBody>
                        <a:bodyPr/>
                        <a:lstStyle/>
                        <a:p>
                          <a:r>
                            <a:rPr lang="es-CO" sz="1100" b="1" dirty="0">
                              <a:latin typeface="+mn-lt"/>
                              <a:ea typeface="Roboto" panose="02000000000000000000" pitchFamily="2" charset="0"/>
                            </a:rPr>
                            <a:t>Asociatividad</a:t>
                          </a:r>
                        </a:p>
                      </a:txBody>
                      <a:tcPr>
                        <a:solidFill>
                          <a:schemeClr val="bg2"/>
                        </a:solidFill>
                      </a:tcPr>
                    </a:tc>
                    <a:tc>
                      <a:txBody>
                        <a:bodyPr/>
                        <a:lstStyle/>
                        <a:p>
                          <a:endParaRPr lang="es-CO"/>
                        </a:p>
                      </a:txBody>
                      <a:tcPr>
                        <a:blipFill>
                          <a:blip r:embed="rId3"/>
                          <a:stretch>
                            <a:fillRect l="-56897" t="-200000" r="-101724" b="-1102326"/>
                          </a:stretch>
                        </a:blipFill>
                      </a:tcPr>
                    </a:tc>
                    <a:tc>
                      <a:txBody>
                        <a:bodyPr/>
                        <a:lstStyle/>
                        <a:p>
                          <a:endParaRPr lang="es-CO"/>
                        </a:p>
                      </a:txBody>
                      <a:tcPr>
                        <a:blipFill>
                          <a:blip r:embed="rId3"/>
                          <a:stretch>
                            <a:fillRect l="-155114" t="-200000" r="-568" b="-1102326"/>
                          </a:stretch>
                        </a:blipFill>
                      </a:tcPr>
                    </a:tc>
                    <a:extLst>
                      <a:ext uri="{0D108BD9-81ED-4DB2-BD59-A6C34878D82A}">
                        <a16:rowId xmlns:a16="http://schemas.microsoft.com/office/drawing/2014/main" val="1913743916"/>
                      </a:ext>
                    </a:extLst>
                  </a:tr>
                  <a:tr h="259080">
                    <a:tc>
                      <a:txBody>
                        <a:bodyPr/>
                        <a:lstStyle/>
                        <a:p>
                          <a:r>
                            <a:rPr lang="es-CO" sz="1100" b="1" dirty="0">
                              <a:latin typeface="+mn-lt"/>
                              <a:ea typeface="Roboto" panose="02000000000000000000" pitchFamily="2" charset="0"/>
                            </a:rPr>
                            <a:t>Distributividad</a:t>
                          </a:r>
                        </a:p>
                      </a:txBody>
                      <a:tcPr>
                        <a:solidFill>
                          <a:schemeClr val="bg2"/>
                        </a:solidFill>
                      </a:tcPr>
                    </a:tc>
                    <a:tc>
                      <a:txBody>
                        <a:bodyPr/>
                        <a:lstStyle/>
                        <a:p>
                          <a:endParaRPr lang="es-CO"/>
                        </a:p>
                      </a:txBody>
                      <a:tcPr>
                        <a:blipFill>
                          <a:blip r:embed="rId3"/>
                          <a:stretch>
                            <a:fillRect l="-56897" t="-307143" r="-101724" b="-1028571"/>
                          </a:stretch>
                        </a:blipFill>
                      </a:tcPr>
                    </a:tc>
                    <a:tc>
                      <a:txBody>
                        <a:bodyPr/>
                        <a:lstStyle/>
                        <a:p>
                          <a:endParaRPr lang="es-CO"/>
                        </a:p>
                      </a:txBody>
                      <a:tcPr>
                        <a:blipFill>
                          <a:blip r:embed="rId3"/>
                          <a:stretch>
                            <a:fillRect l="-155114" t="-307143" r="-568" b="-1028571"/>
                          </a:stretch>
                        </a:blipFill>
                      </a:tcPr>
                    </a:tc>
                    <a:extLst>
                      <a:ext uri="{0D108BD9-81ED-4DB2-BD59-A6C34878D82A}">
                        <a16:rowId xmlns:a16="http://schemas.microsoft.com/office/drawing/2014/main" val="717401643"/>
                      </a:ext>
                    </a:extLst>
                  </a:tr>
                  <a:tr h="259080">
                    <a:tc>
                      <a:txBody>
                        <a:bodyPr/>
                        <a:lstStyle/>
                        <a:p>
                          <a:r>
                            <a:rPr lang="es-CO" sz="1100" b="1" dirty="0">
                              <a:latin typeface="+mn-lt"/>
                              <a:ea typeface="Roboto" panose="02000000000000000000" pitchFamily="2" charset="0"/>
                            </a:rPr>
                            <a:t>Idempotencia</a:t>
                          </a:r>
                        </a:p>
                      </a:txBody>
                      <a:tcPr>
                        <a:solidFill>
                          <a:schemeClr val="bg2"/>
                        </a:solidFill>
                      </a:tcPr>
                    </a:tc>
                    <a:tc>
                      <a:txBody>
                        <a:bodyPr/>
                        <a:lstStyle/>
                        <a:p>
                          <a:endParaRPr lang="es-CO"/>
                        </a:p>
                      </a:txBody>
                      <a:tcPr>
                        <a:blipFill>
                          <a:blip r:embed="rId3"/>
                          <a:stretch>
                            <a:fillRect l="-56897" t="-397674" r="-101724" b="-904651"/>
                          </a:stretch>
                        </a:blipFill>
                      </a:tcPr>
                    </a:tc>
                    <a:tc>
                      <a:txBody>
                        <a:bodyPr/>
                        <a:lstStyle/>
                        <a:p>
                          <a:endParaRPr lang="es-CO"/>
                        </a:p>
                      </a:txBody>
                      <a:tcPr>
                        <a:blipFill>
                          <a:blip r:embed="rId3"/>
                          <a:stretch>
                            <a:fillRect l="-155114" t="-397674" r="-568" b="-904651"/>
                          </a:stretch>
                        </a:blipFill>
                      </a:tcPr>
                    </a:tc>
                    <a:extLst>
                      <a:ext uri="{0D108BD9-81ED-4DB2-BD59-A6C34878D82A}">
                        <a16:rowId xmlns:a16="http://schemas.microsoft.com/office/drawing/2014/main" val="2246818852"/>
                      </a:ext>
                    </a:extLst>
                  </a:tr>
                  <a:tr h="259080">
                    <a:tc>
                      <a:txBody>
                        <a:bodyPr/>
                        <a:lstStyle/>
                        <a:p>
                          <a:r>
                            <a:rPr lang="es-CO" sz="1100" b="1" dirty="0">
                              <a:latin typeface="+mn-lt"/>
                              <a:ea typeface="Roboto" panose="02000000000000000000" pitchFamily="2" charset="0"/>
                            </a:rPr>
                            <a:t>Doble negación</a:t>
                          </a:r>
                        </a:p>
                      </a:txBody>
                      <a:tcPr>
                        <a:solidFill>
                          <a:schemeClr val="bg2"/>
                        </a:solidFill>
                      </a:tcPr>
                    </a:tc>
                    <a:tc gridSpan="2">
                      <a:txBody>
                        <a:bodyPr/>
                        <a:lstStyle/>
                        <a:p>
                          <a:endParaRPr lang="es-CO"/>
                        </a:p>
                      </a:txBody>
                      <a:tcPr>
                        <a:blipFill>
                          <a:blip r:embed="rId3"/>
                          <a:stretch>
                            <a:fillRect l="-28286" t="-509524" r="-286" b="-826190"/>
                          </a:stretch>
                        </a:blipFill>
                      </a:tcPr>
                    </a:tc>
                    <a:tc hMerge="1">
                      <a:txBody>
                        <a:bodyPr/>
                        <a:lstStyle/>
                        <a:p>
                          <a:endParaRPr lang="es-CO"/>
                        </a:p>
                      </a:txBody>
                      <a:tcPr/>
                    </a:tc>
                    <a:extLst>
                      <a:ext uri="{0D108BD9-81ED-4DB2-BD59-A6C34878D82A}">
                        <a16:rowId xmlns:a16="http://schemas.microsoft.com/office/drawing/2014/main" val="88149062"/>
                      </a:ext>
                    </a:extLst>
                  </a:tr>
                  <a:tr h="259080">
                    <a:tc>
                      <a:txBody>
                        <a:bodyPr/>
                        <a:lstStyle/>
                        <a:p>
                          <a:r>
                            <a:rPr lang="es-CO" sz="1100" b="1" dirty="0">
                              <a:latin typeface="+mn-lt"/>
                              <a:ea typeface="Roboto" panose="02000000000000000000" pitchFamily="2" charset="0"/>
                            </a:rPr>
                            <a:t>Leyes de Morgan</a:t>
                          </a:r>
                        </a:p>
                      </a:txBody>
                      <a:tcPr>
                        <a:solidFill>
                          <a:schemeClr val="bg2"/>
                        </a:solidFill>
                      </a:tcPr>
                    </a:tc>
                    <a:tc>
                      <a:txBody>
                        <a:bodyPr/>
                        <a:lstStyle/>
                        <a:p>
                          <a:endParaRPr lang="es-CO"/>
                        </a:p>
                      </a:txBody>
                      <a:tcPr>
                        <a:blipFill>
                          <a:blip r:embed="rId3"/>
                          <a:stretch>
                            <a:fillRect l="-56897" t="-595349" r="-101724" b="-706977"/>
                          </a:stretch>
                        </a:blipFill>
                      </a:tcPr>
                    </a:tc>
                    <a:tc>
                      <a:txBody>
                        <a:bodyPr/>
                        <a:lstStyle/>
                        <a:p>
                          <a:endParaRPr lang="es-CO"/>
                        </a:p>
                      </a:txBody>
                      <a:tcPr>
                        <a:blipFill>
                          <a:blip r:embed="rId3"/>
                          <a:stretch>
                            <a:fillRect l="-155114" t="-595349" r="-568" b="-706977"/>
                          </a:stretch>
                        </a:blipFill>
                      </a:tcPr>
                    </a:tc>
                    <a:extLst>
                      <a:ext uri="{0D108BD9-81ED-4DB2-BD59-A6C34878D82A}">
                        <a16:rowId xmlns:a16="http://schemas.microsoft.com/office/drawing/2014/main" val="2113060234"/>
                      </a:ext>
                    </a:extLst>
                  </a:tr>
                  <a:tr h="259080">
                    <a:tc>
                      <a:txBody>
                        <a:bodyPr/>
                        <a:lstStyle/>
                        <a:p>
                          <a:r>
                            <a:rPr lang="es-CO" sz="1100" b="1" dirty="0">
                              <a:latin typeface="+mn-lt"/>
                              <a:ea typeface="Roboto" panose="02000000000000000000" pitchFamily="2" charset="0"/>
                            </a:rPr>
                            <a:t>Identidad</a:t>
                          </a:r>
                        </a:p>
                      </a:txBody>
                      <a:tcPr>
                        <a:solidFill>
                          <a:schemeClr val="bg2"/>
                        </a:solidFill>
                      </a:tcPr>
                    </a:tc>
                    <a:tc>
                      <a:txBody>
                        <a:bodyPr/>
                        <a:lstStyle/>
                        <a:p>
                          <a:endParaRPr lang="es-CO"/>
                        </a:p>
                      </a:txBody>
                      <a:tcPr>
                        <a:blipFill>
                          <a:blip r:embed="rId3"/>
                          <a:stretch>
                            <a:fillRect l="-56897" t="-695349" r="-101724" b="-606977"/>
                          </a:stretch>
                        </a:blipFill>
                      </a:tcPr>
                    </a:tc>
                    <a:tc>
                      <a:txBody>
                        <a:bodyPr/>
                        <a:lstStyle/>
                        <a:p>
                          <a:endParaRPr lang="es-CO"/>
                        </a:p>
                      </a:txBody>
                      <a:tcPr>
                        <a:blipFill>
                          <a:blip r:embed="rId3"/>
                          <a:stretch>
                            <a:fillRect l="-155114" t="-695349" r="-568" b="-606977"/>
                          </a:stretch>
                        </a:blipFill>
                      </a:tcPr>
                    </a:tc>
                    <a:extLst>
                      <a:ext uri="{0D108BD9-81ED-4DB2-BD59-A6C34878D82A}">
                        <a16:rowId xmlns:a16="http://schemas.microsoft.com/office/drawing/2014/main" val="2494965197"/>
                      </a:ext>
                    </a:extLst>
                  </a:tr>
                  <a:tr h="259080">
                    <a:tc>
                      <a:txBody>
                        <a:bodyPr/>
                        <a:lstStyle/>
                        <a:p>
                          <a:r>
                            <a:rPr lang="es-CO" sz="1100" b="1" dirty="0">
                              <a:latin typeface="+mn-lt"/>
                              <a:ea typeface="Roboto" panose="02000000000000000000" pitchFamily="2" charset="0"/>
                            </a:rPr>
                            <a:t>Dominación</a:t>
                          </a:r>
                        </a:p>
                      </a:txBody>
                      <a:tcPr>
                        <a:solidFill>
                          <a:schemeClr val="bg2"/>
                        </a:solidFill>
                      </a:tcPr>
                    </a:tc>
                    <a:tc>
                      <a:txBody>
                        <a:bodyPr/>
                        <a:lstStyle/>
                        <a:p>
                          <a:endParaRPr lang="es-CO"/>
                        </a:p>
                      </a:txBody>
                      <a:tcPr>
                        <a:blipFill>
                          <a:blip r:embed="rId3"/>
                          <a:stretch>
                            <a:fillRect l="-56897" t="-814286" r="-101724" b="-521429"/>
                          </a:stretch>
                        </a:blipFill>
                      </a:tcPr>
                    </a:tc>
                    <a:tc>
                      <a:txBody>
                        <a:bodyPr/>
                        <a:lstStyle/>
                        <a:p>
                          <a:endParaRPr lang="es-CO"/>
                        </a:p>
                      </a:txBody>
                      <a:tcPr>
                        <a:blipFill>
                          <a:blip r:embed="rId3"/>
                          <a:stretch>
                            <a:fillRect l="-155114" t="-814286" r="-568" b="-521429"/>
                          </a:stretch>
                        </a:blipFill>
                      </a:tcPr>
                    </a:tc>
                    <a:extLst>
                      <a:ext uri="{0D108BD9-81ED-4DB2-BD59-A6C34878D82A}">
                        <a16:rowId xmlns:a16="http://schemas.microsoft.com/office/drawing/2014/main" val="707485840"/>
                      </a:ext>
                    </a:extLst>
                  </a:tr>
                  <a:tr h="259080">
                    <a:tc>
                      <a:txBody>
                        <a:bodyPr/>
                        <a:lstStyle/>
                        <a:p>
                          <a:r>
                            <a:rPr lang="es-CO" sz="1100" b="1" dirty="0">
                              <a:latin typeface="+mn-lt"/>
                              <a:ea typeface="Roboto" panose="02000000000000000000" pitchFamily="2" charset="0"/>
                            </a:rPr>
                            <a:t>Absorción</a:t>
                          </a:r>
                        </a:p>
                      </a:txBody>
                      <a:tcPr>
                        <a:solidFill>
                          <a:schemeClr val="bg2"/>
                        </a:solidFill>
                      </a:tcPr>
                    </a:tc>
                    <a:tc>
                      <a:txBody>
                        <a:bodyPr/>
                        <a:lstStyle/>
                        <a:p>
                          <a:endParaRPr lang="es-CO"/>
                        </a:p>
                      </a:txBody>
                      <a:tcPr>
                        <a:blipFill>
                          <a:blip r:embed="rId3"/>
                          <a:stretch>
                            <a:fillRect l="-56897" t="-893023" r="-101724" b="-409302"/>
                          </a:stretch>
                        </a:blipFill>
                      </a:tcPr>
                    </a:tc>
                    <a:tc>
                      <a:txBody>
                        <a:bodyPr/>
                        <a:lstStyle/>
                        <a:p>
                          <a:endParaRPr lang="es-CO"/>
                        </a:p>
                      </a:txBody>
                      <a:tcPr>
                        <a:blipFill>
                          <a:blip r:embed="rId3"/>
                          <a:stretch>
                            <a:fillRect l="-155114" t="-893023" r="-568" b="-409302"/>
                          </a:stretch>
                        </a:blipFill>
                      </a:tcPr>
                    </a:tc>
                    <a:extLst>
                      <a:ext uri="{0D108BD9-81ED-4DB2-BD59-A6C34878D82A}">
                        <a16:rowId xmlns:a16="http://schemas.microsoft.com/office/drawing/2014/main" val="1232652958"/>
                      </a:ext>
                    </a:extLst>
                  </a:tr>
                  <a:tr h="259080">
                    <a:tc>
                      <a:txBody>
                        <a:bodyPr/>
                        <a:lstStyle/>
                        <a:p>
                          <a:r>
                            <a:rPr lang="es-CO" sz="1100" b="1" dirty="0">
                              <a:latin typeface="+mn-lt"/>
                              <a:ea typeface="Roboto" panose="02000000000000000000" pitchFamily="2" charset="0"/>
                            </a:rPr>
                            <a:t>Complemento</a:t>
                          </a:r>
                        </a:p>
                      </a:txBody>
                      <a:tcPr>
                        <a:solidFill>
                          <a:schemeClr val="bg2"/>
                        </a:solidFill>
                      </a:tcPr>
                    </a:tc>
                    <a:tc>
                      <a:txBody>
                        <a:bodyPr/>
                        <a:lstStyle/>
                        <a:p>
                          <a:endParaRPr lang="es-CO"/>
                        </a:p>
                      </a:txBody>
                      <a:tcPr>
                        <a:blipFill>
                          <a:blip r:embed="rId3"/>
                          <a:stretch>
                            <a:fillRect l="-56897" t="-1016667" r="-101724" b="-319048"/>
                          </a:stretch>
                        </a:blipFill>
                      </a:tcPr>
                    </a:tc>
                    <a:tc>
                      <a:txBody>
                        <a:bodyPr/>
                        <a:lstStyle/>
                        <a:p>
                          <a:endParaRPr lang="es-CO"/>
                        </a:p>
                      </a:txBody>
                      <a:tcPr>
                        <a:blipFill>
                          <a:blip r:embed="rId3"/>
                          <a:stretch>
                            <a:fillRect l="-155114" t="-1016667" r="-568" b="-319048"/>
                          </a:stretch>
                        </a:blipFill>
                      </a:tcPr>
                    </a:tc>
                    <a:extLst>
                      <a:ext uri="{0D108BD9-81ED-4DB2-BD59-A6C34878D82A}">
                        <a16:rowId xmlns:a16="http://schemas.microsoft.com/office/drawing/2014/main" val="3770911309"/>
                      </a:ext>
                    </a:extLst>
                  </a:tr>
                  <a:tr h="259080">
                    <a:tc>
                      <a:txBody>
                        <a:bodyPr/>
                        <a:lstStyle/>
                        <a:p>
                          <a:r>
                            <a:rPr lang="es-CO" sz="1100" b="1" dirty="0">
                              <a:latin typeface="+mn-lt"/>
                              <a:ea typeface="Roboto" panose="02000000000000000000" pitchFamily="2" charset="0"/>
                            </a:rPr>
                            <a:t>Implicación</a:t>
                          </a:r>
                        </a:p>
                      </a:txBody>
                      <a:tcPr>
                        <a:solidFill>
                          <a:schemeClr val="bg2"/>
                        </a:solidFill>
                      </a:tcPr>
                    </a:tc>
                    <a:tc gridSpan="2">
                      <a:txBody>
                        <a:bodyPr/>
                        <a:lstStyle/>
                        <a:p>
                          <a:endParaRPr lang="es-CO"/>
                        </a:p>
                      </a:txBody>
                      <a:tcPr>
                        <a:blipFill>
                          <a:blip r:embed="rId3"/>
                          <a:stretch>
                            <a:fillRect l="-28286" t="-1090698" r="-286" b="-211628"/>
                          </a:stretch>
                        </a:blipFill>
                      </a:tcPr>
                    </a:tc>
                    <a:tc hMerge="1">
                      <a:txBody>
                        <a:bodyPr/>
                        <a:lstStyle/>
                        <a:p>
                          <a:endParaRPr lang="es-CO"/>
                        </a:p>
                      </a:txBody>
                      <a:tcPr/>
                    </a:tc>
                    <a:extLst>
                      <a:ext uri="{0D108BD9-81ED-4DB2-BD59-A6C34878D82A}">
                        <a16:rowId xmlns:a16="http://schemas.microsoft.com/office/drawing/2014/main" val="3483938044"/>
                      </a:ext>
                    </a:extLst>
                  </a:tr>
                  <a:tr h="259080">
                    <a:tc>
                      <a:txBody>
                        <a:bodyPr/>
                        <a:lstStyle/>
                        <a:p>
                          <a:r>
                            <a:rPr lang="es-CO" sz="1100" b="1" dirty="0">
                              <a:latin typeface="+mn-lt"/>
                              <a:ea typeface="Roboto" panose="02000000000000000000" pitchFamily="2" charset="0"/>
                            </a:rPr>
                            <a:t>Contrarrecíproco</a:t>
                          </a:r>
                        </a:p>
                      </a:txBody>
                      <a:tcPr>
                        <a:solidFill>
                          <a:schemeClr val="bg2"/>
                        </a:solidFill>
                      </a:tcPr>
                    </a:tc>
                    <a:tc gridSpan="2">
                      <a:txBody>
                        <a:bodyPr/>
                        <a:lstStyle/>
                        <a:p>
                          <a:endParaRPr lang="es-CO"/>
                        </a:p>
                      </a:txBody>
                      <a:tcPr>
                        <a:blipFill>
                          <a:blip r:embed="rId3"/>
                          <a:stretch>
                            <a:fillRect l="-28286" t="-1219048" r="-286" b="-116667"/>
                          </a:stretch>
                        </a:blipFill>
                      </a:tcPr>
                    </a:tc>
                    <a:tc hMerge="1">
                      <a:txBody>
                        <a:bodyPr/>
                        <a:lstStyle/>
                        <a:p>
                          <a:endParaRPr lang="es-CO"/>
                        </a:p>
                      </a:txBody>
                      <a:tcPr/>
                    </a:tc>
                    <a:extLst>
                      <a:ext uri="{0D108BD9-81ED-4DB2-BD59-A6C34878D82A}">
                        <a16:rowId xmlns:a16="http://schemas.microsoft.com/office/drawing/2014/main" val="3255506134"/>
                      </a:ext>
                    </a:extLst>
                  </a:tr>
                  <a:tr h="259080">
                    <a:tc>
                      <a:txBody>
                        <a:bodyPr/>
                        <a:lstStyle/>
                        <a:p>
                          <a:r>
                            <a:rPr lang="es-CO" sz="1100" b="1" dirty="0">
                              <a:latin typeface="+mn-lt"/>
                              <a:ea typeface="Roboto" panose="02000000000000000000" pitchFamily="2" charset="0"/>
                            </a:rPr>
                            <a:t>Equivalencia</a:t>
                          </a:r>
                        </a:p>
                      </a:txBody>
                      <a:tcPr>
                        <a:solidFill>
                          <a:schemeClr val="bg2"/>
                        </a:solidFill>
                      </a:tcPr>
                    </a:tc>
                    <a:tc gridSpan="2">
                      <a:txBody>
                        <a:bodyPr/>
                        <a:lstStyle/>
                        <a:p>
                          <a:endParaRPr lang="es-CO"/>
                        </a:p>
                      </a:txBody>
                      <a:tcPr>
                        <a:blipFill>
                          <a:blip r:embed="rId3"/>
                          <a:stretch>
                            <a:fillRect l="-28286" t="-1288372" r="-286" b="-13953"/>
                          </a:stretch>
                        </a:blipFill>
                      </a:tcPr>
                    </a:tc>
                    <a:tc hMerge="1">
                      <a:txBody>
                        <a:bodyPr/>
                        <a:lstStyle/>
                        <a:p>
                          <a:endParaRPr lang="es-CO"/>
                        </a:p>
                      </a:txBody>
                      <a:tcPr/>
                    </a:tc>
                    <a:extLst>
                      <a:ext uri="{0D108BD9-81ED-4DB2-BD59-A6C34878D82A}">
                        <a16:rowId xmlns:a16="http://schemas.microsoft.com/office/drawing/2014/main" val="40457137"/>
                      </a:ext>
                    </a:extLst>
                  </a:tr>
                </a:tbl>
              </a:graphicData>
            </a:graphic>
          </p:graphicFrame>
        </mc:Fallback>
      </mc:AlternateContent>
    </p:spTree>
    <p:extLst>
      <p:ext uri="{BB962C8B-B14F-4D97-AF65-F5344CB8AC3E}">
        <p14:creationId xmlns:p14="http://schemas.microsoft.com/office/powerpoint/2010/main" val="1916128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360217" y="226580"/>
            <a:ext cx="10993582" cy="731363"/>
          </a:xfrm>
        </p:spPr>
        <p:txBody>
          <a:bodyPr/>
          <a:lstStyle/>
          <a:p>
            <a:r>
              <a:rPr lang="es-CO" dirty="0"/>
              <a:t>Demostración (Afirmación-Razón)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360217" y="1069107"/>
                <a:ext cx="11469233" cy="751814"/>
              </a:xfrm>
            </p:spPr>
            <p:txBody>
              <a:bodyPr>
                <a:normAutofit/>
              </a:bodyPr>
              <a:lstStyle/>
              <a:p>
                <a:pPr marL="0" indent="0">
                  <a:buNone/>
                </a:pPr>
                <a:r>
                  <a:rPr lang="es-MX" sz="2000" b="1" i="0" dirty="0">
                    <a:effectLst/>
                  </a:rPr>
                  <a:t>Repaso</a:t>
                </a:r>
                <a:r>
                  <a:rPr lang="es-MX" sz="2000" b="0" i="0" dirty="0">
                    <a:effectLst/>
                  </a:rPr>
                  <a:t>: Demostrar que </a:t>
                </a:r>
                <a14:m>
                  <m:oMath xmlns:m="http://schemas.openxmlformats.org/officeDocument/2006/math">
                    <m:r>
                      <a:rPr lang="es-MX" sz="2000" b="0" i="1" smtClean="0">
                        <a:effectLst/>
                        <a:latin typeface="Cambria Math" panose="02040503050406030204" pitchFamily="18" charset="0"/>
                      </a:rPr>
                      <m:t>𝑃</m:t>
                    </m:r>
                    <m:r>
                      <a:rPr lang="es-MX" sz="2000" b="0" i="1" smtClean="0">
                        <a:effectLst/>
                        <a:latin typeface="Cambria Math" panose="02040503050406030204" pitchFamily="18" charset="0"/>
                        <a:ea typeface="Cambria Math" panose="02040503050406030204" pitchFamily="18" charset="0"/>
                      </a:rPr>
                      <m:t>∧</m:t>
                    </m:r>
                    <m:d>
                      <m:dPr>
                        <m:ctrlPr>
                          <a:rPr lang="es-MX" sz="2000" b="0" i="1" smtClean="0">
                            <a:effectLst/>
                            <a:latin typeface="Cambria Math" panose="02040503050406030204" pitchFamily="18" charset="0"/>
                            <a:ea typeface="Cambria Math" panose="02040503050406030204" pitchFamily="18" charset="0"/>
                          </a:rPr>
                        </m:ctrlPr>
                      </m:dPr>
                      <m:e>
                        <m:r>
                          <a:rPr lang="es-MX" sz="2000" b="0" i="1" smtClean="0">
                            <a:effectLst/>
                            <a:latin typeface="Cambria Math" panose="02040503050406030204" pitchFamily="18" charset="0"/>
                            <a:ea typeface="Cambria Math" panose="02040503050406030204" pitchFamily="18" charset="0"/>
                          </a:rPr>
                          <m:t>𝑃</m:t>
                        </m:r>
                        <m:r>
                          <a:rPr lang="es-MX" sz="2000" b="0" i="1" smtClean="0">
                            <a:effectLst/>
                            <a:latin typeface="Cambria Math" panose="02040503050406030204" pitchFamily="18" charset="0"/>
                            <a:ea typeface="Cambria Math" panose="02040503050406030204" pitchFamily="18" charset="0"/>
                          </a:rPr>
                          <m:t>∨</m:t>
                        </m:r>
                        <m:r>
                          <a:rPr lang="es-MX" sz="2000" b="0" i="1" smtClean="0">
                            <a:effectLst/>
                            <a:latin typeface="Cambria Math" panose="02040503050406030204" pitchFamily="18" charset="0"/>
                            <a:ea typeface="Cambria Math" panose="02040503050406030204" pitchFamily="18" charset="0"/>
                          </a:rPr>
                          <m:t>𝑄</m:t>
                        </m:r>
                      </m:e>
                    </m:d>
                    <m:r>
                      <a:rPr lang="es-MX" sz="2000" b="0" i="1" smtClean="0">
                        <a:effectLst/>
                        <a:latin typeface="Cambria Math" panose="02040503050406030204" pitchFamily="18" charset="0"/>
                        <a:ea typeface="Cambria Math" panose="02040503050406030204" pitchFamily="18" charset="0"/>
                      </a:rPr>
                      <m:t>≡</m:t>
                    </m:r>
                    <m:r>
                      <a:rPr lang="es-MX" sz="2000" b="0" i="1" smtClean="0">
                        <a:effectLst/>
                        <a:latin typeface="Cambria Math" panose="02040503050406030204" pitchFamily="18" charset="0"/>
                        <a:ea typeface="Cambria Math" panose="02040503050406030204" pitchFamily="18" charset="0"/>
                      </a:rPr>
                      <m:t>𝑃</m:t>
                    </m:r>
                  </m:oMath>
                </a14:m>
                <a:r>
                  <a:rPr lang="es-MX" sz="2000" dirty="0"/>
                  <a:t> haciendo uso de </a:t>
                </a:r>
                <a:r>
                  <a:rPr lang="es-MX" sz="2000" b="0" i="0" dirty="0">
                    <a:effectLst/>
                  </a:rPr>
                  <a:t>la tabla de identidades lógicas </a:t>
                </a:r>
                <a:r>
                  <a:rPr lang="es-MX" sz="2000" dirty="0"/>
                  <a:t>(enfoque axiomático</a:t>
                </a:r>
                <a:r>
                  <a:rPr lang="es-MX" sz="2000" b="0" i="0" dirty="0">
                    <a:effectLst/>
                  </a:rPr>
                  <a:t>)</a:t>
                </a:r>
              </a:p>
            </p:txBody>
          </p:sp>
        </mc:Choice>
        <mc:Fallback>
          <p:sp>
            <p:nvSpPr>
              <p:cNvPr id="3" name="Marcador de contenido 2">
                <a:extLst>
                  <a:ext uri="{FF2B5EF4-FFF2-40B4-BE49-F238E27FC236}">
                    <a16:creationId xmlns:a16="http://schemas.microsoft.com/office/drawing/2014/main" id="{8C611C1C-AB20-4127-87E3-88401D8503D0}"/>
                  </a:ext>
                </a:extLst>
              </p:cNvPr>
              <p:cNvSpPr>
                <a:spLocks noGrp="1" noRot="1" noChangeAspect="1" noMove="1" noResize="1" noEditPoints="1" noAdjustHandles="1" noChangeArrowheads="1" noChangeShapeType="1" noTextEdit="1"/>
              </p:cNvSpPr>
              <p:nvPr>
                <p:ph idx="1"/>
              </p:nvPr>
            </p:nvSpPr>
            <p:spPr>
              <a:xfrm>
                <a:off x="360217" y="1069107"/>
                <a:ext cx="11469233" cy="751814"/>
              </a:xfrm>
              <a:blipFill>
                <a:blip r:embed="rId2"/>
                <a:stretch>
                  <a:fillRect l="-531" t="-8065"/>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6" name="Tabla 2">
                <a:extLst>
                  <a:ext uri="{FF2B5EF4-FFF2-40B4-BE49-F238E27FC236}">
                    <a16:creationId xmlns:a16="http://schemas.microsoft.com/office/drawing/2014/main" id="{64D73A5B-76AD-4CDF-A10A-475C5F166D6D}"/>
                  </a:ext>
                </a:extLst>
              </p:cNvPr>
              <p:cNvGraphicFramePr>
                <a:graphicFrameLocks noGrp="1"/>
              </p:cNvGraphicFramePr>
              <p:nvPr>
                <p:extLst>
                  <p:ext uri="{D42A27DB-BD31-4B8C-83A1-F6EECF244321}">
                    <p14:modId xmlns:p14="http://schemas.microsoft.com/office/powerpoint/2010/main" val="1808154860"/>
                  </p:ext>
                </p:extLst>
              </p:nvPr>
            </p:nvGraphicFramePr>
            <p:xfrm>
              <a:off x="5590767" y="2700226"/>
              <a:ext cx="6386156" cy="3474720"/>
            </p:xfrm>
            <a:graphic>
              <a:graphicData uri="http://schemas.openxmlformats.org/drawingml/2006/table">
                <a:tbl>
                  <a:tblPr firstRow="1" bandRow="1"/>
                  <a:tblGrid>
                    <a:gridCol w="599084">
                      <a:extLst>
                        <a:ext uri="{9D8B030D-6E8A-4147-A177-3AD203B41FA5}">
                          <a16:colId xmlns:a16="http://schemas.microsoft.com/office/drawing/2014/main" val="847383059"/>
                        </a:ext>
                      </a:extLst>
                    </a:gridCol>
                    <a:gridCol w="2097806">
                      <a:extLst>
                        <a:ext uri="{9D8B030D-6E8A-4147-A177-3AD203B41FA5}">
                          <a16:colId xmlns:a16="http://schemas.microsoft.com/office/drawing/2014/main" val="2194526293"/>
                        </a:ext>
                      </a:extLst>
                    </a:gridCol>
                    <a:gridCol w="3689266">
                      <a:extLst>
                        <a:ext uri="{9D8B030D-6E8A-4147-A177-3AD203B41FA5}">
                          <a16:colId xmlns:a16="http://schemas.microsoft.com/office/drawing/2014/main" val="4281859008"/>
                        </a:ext>
                      </a:extLst>
                    </a:gridCol>
                  </a:tblGrid>
                  <a:tr h="336320">
                    <a:tc>
                      <a:txBody>
                        <a:bodyPr/>
                        <a:lstStyle/>
                        <a:p>
                          <a:pPr algn="ct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3788432"/>
                      </a:ext>
                    </a:extLst>
                  </a:tr>
                  <a:tr h="370840">
                    <a:tc>
                      <a:txBody>
                        <a:bodyPr/>
                        <a:lstStyle/>
                        <a:p>
                          <a:pPr algn="ctr"/>
                          <a:r>
                            <a:rPr lang="es-CO" sz="2000" dirty="0"/>
                            <a:t>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r>
                                  <a:rPr lang="es-MX" sz="2000" b="0" i="1" smtClean="0">
                                    <a:latin typeface="Cambria Math" panose="02040503050406030204" pitchFamily="18" charset="0"/>
                                    <a:ea typeface="Cambria Math" panose="02040503050406030204" pitchFamily="18" charset="0"/>
                                  </a:rPr>
                                  <m:t>)</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s-CO" sz="2000" b="0" dirty="0">
                              <a:latin typeface="+mn-lt"/>
                              <a:ea typeface="Roboto" panose="02000000000000000000" pitchFamily="2" charset="0"/>
                            </a:rPr>
                            <a:t>Hipótesis</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343470127"/>
                      </a:ext>
                    </a:extLst>
                  </a:tr>
                  <a:tr h="370840">
                    <a:tc>
                      <a:txBody>
                        <a:bodyPr/>
                        <a:lstStyle/>
                        <a:p>
                          <a:pPr algn="ctr"/>
                          <a:r>
                            <a:rPr lang="es-CO" sz="2000" dirty="0"/>
                            <a:t>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r>
                                  <a:rPr lang="es-MX" sz="2000" b="0" i="1" smtClean="0">
                                    <a:latin typeface="Cambria Math" panose="02040503050406030204" pitchFamily="18" charset="0"/>
                                    <a:ea typeface="Cambria Math" panose="02040503050406030204" pitchFamily="18" charset="0"/>
                                  </a:rPr>
                                  <m:t>)</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mn-lt"/>
                              <a:ea typeface="Roboto" panose="02000000000000000000" pitchFamily="2" charset="0"/>
                            </a:rPr>
                            <a:t>Distributividad para el </a:t>
                          </a:r>
                          <a:r>
                            <a:rPr lang="es-CO" sz="2000" b="1" dirty="0">
                              <a:latin typeface="+mn-lt"/>
                              <a:ea typeface="Roboto" panose="02000000000000000000" pitchFamily="2" charset="0"/>
                            </a:rPr>
                            <a:t>Y </a:t>
                          </a:r>
                          <a:r>
                            <a:rPr lang="es-CO" sz="2000" b="0" dirty="0">
                              <a:latin typeface="+mn-lt"/>
                              <a:ea typeface="Roboto" panose="02000000000000000000" pitchFamily="2" charset="0"/>
                            </a:rPr>
                            <a:t>en </a:t>
                          </a:r>
                          <a:r>
                            <a:rPr lang="es-CO" sz="2000" b="1" dirty="0">
                              <a:latin typeface="+mn-lt"/>
                              <a:ea typeface="Roboto" panose="02000000000000000000" pitchFamily="2" charset="0"/>
                            </a:rPr>
                            <a:t>(1)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221669650"/>
                      </a:ext>
                    </a:extLst>
                  </a:tr>
                  <a:tr h="370840">
                    <a:tc>
                      <a:txBody>
                        <a:bodyPr/>
                        <a:lstStyle/>
                        <a:p>
                          <a:pPr algn="ctr"/>
                          <a:r>
                            <a:rPr lang="es-CO" sz="2000" dirty="0"/>
                            <a:t>3</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r>
                                  <a:rPr lang="es-MX" sz="2000" b="0" i="1" smtClean="0">
                                    <a:latin typeface="Cambria Math" panose="02040503050406030204" pitchFamily="18" charset="0"/>
                                    <a:ea typeface="Cambria Math" panose="02040503050406030204" pitchFamily="18" charset="0"/>
                                  </a:rPr>
                                  <m:t>)</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mn-lt"/>
                              <a:ea typeface="Roboto" panose="02000000000000000000" pitchFamily="2" charset="0"/>
                            </a:rPr>
                            <a:t>Idempotencia para el </a:t>
                          </a:r>
                          <a:r>
                            <a:rPr lang="es-CO" sz="2000" b="1" dirty="0">
                              <a:latin typeface="+mn-lt"/>
                              <a:ea typeface="Roboto" panose="02000000000000000000" pitchFamily="2" charset="0"/>
                            </a:rPr>
                            <a:t>Y </a:t>
                          </a:r>
                          <a:r>
                            <a:rPr lang="es-CO" sz="2000" b="0" dirty="0">
                              <a:latin typeface="+mn-lt"/>
                              <a:ea typeface="Roboto" panose="02000000000000000000" pitchFamily="2" charset="0"/>
                            </a:rPr>
                            <a:t>en </a:t>
                          </a:r>
                          <a:r>
                            <a:rPr lang="es-CO" sz="2000" b="1" dirty="0">
                              <a:latin typeface="+mn-lt"/>
                              <a:ea typeface="Roboto" panose="02000000000000000000" pitchFamily="2" charset="0"/>
                            </a:rPr>
                            <a:t>(2)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17809005"/>
                      </a:ext>
                    </a:extLst>
                  </a:tr>
                  <a:tr h="370840">
                    <a:tc>
                      <a:txBody>
                        <a:bodyPr/>
                        <a:lstStyle/>
                        <a:p>
                          <a:pPr algn="ctr"/>
                          <a:r>
                            <a:rPr lang="es-CO" sz="2000" dirty="0"/>
                            <a:t>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𝑽</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r>
                                  <a:rPr lang="es-MX" sz="2000" b="0" i="1" smtClean="0">
                                    <a:latin typeface="Cambria Math" panose="02040503050406030204" pitchFamily="18" charset="0"/>
                                    <a:ea typeface="Cambria Math" panose="02040503050406030204" pitchFamily="18" charset="0"/>
                                  </a:rPr>
                                  <m:t>)</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2000" dirty="0">
                              <a:latin typeface="+mn-lt"/>
                              <a:ea typeface="Roboto" panose="02000000000000000000" pitchFamily="2" charset="0"/>
                            </a:rPr>
                            <a:t>Identidad para el </a:t>
                          </a:r>
                          <a:r>
                            <a:rPr lang="es-CO" sz="2000" b="1" dirty="0">
                              <a:latin typeface="+mn-lt"/>
                              <a:ea typeface="Roboto" panose="02000000000000000000" pitchFamily="2" charset="0"/>
                            </a:rPr>
                            <a:t>Y </a:t>
                          </a:r>
                          <a:r>
                            <a:rPr lang="es-CO" sz="2000" b="0" dirty="0">
                              <a:latin typeface="+mn-lt"/>
                              <a:ea typeface="Roboto" panose="02000000000000000000" pitchFamily="2" charset="0"/>
                            </a:rPr>
                            <a:t>en </a:t>
                          </a:r>
                          <a:r>
                            <a:rPr lang="es-CO" sz="2000" b="1" dirty="0">
                              <a:latin typeface="+mn-lt"/>
                              <a:ea typeface="Roboto" panose="02000000000000000000" pitchFamily="2" charset="0"/>
                            </a:rPr>
                            <a:t>(3)</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74396960"/>
                      </a:ext>
                    </a:extLst>
                  </a:tr>
                  <a:tr h="370840">
                    <a:tc>
                      <a:txBody>
                        <a:bodyPr/>
                        <a:lstStyle/>
                        <a:p>
                          <a:pPr algn="ctr"/>
                          <a:r>
                            <a:rPr lang="es-CO" sz="2000" dirty="0"/>
                            <a:t>5</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1" i="1" smtClean="0">
                                        <a:latin typeface="Cambria Math" panose="02040503050406030204" pitchFamily="18" charset="0"/>
                                        <a:ea typeface="Cambria Math" panose="02040503050406030204" pitchFamily="18" charset="0"/>
                                      </a:rPr>
                                      <m:t>𝑽</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mn-lt"/>
                              <a:ea typeface="Roboto" panose="02000000000000000000" pitchFamily="2" charset="0"/>
                            </a:rPr>
                            <a:t>Distributividad para el </a:t>
                          </a:r>
                          <a:r>
                            <a:rPr lang="es-CO" sz="2000" b="1" dirty="0">
                              <a:latin typeface="+mn-lt"/>
                              <a:ea typeface="Roboto" panose="02000000000000000000" pitchFamily="2" charset="0"/>
                            </a:rPr>
                            <a:t>Y </a:t>
                          </a:r>
                          <a:r>
                            <a:rPr lang="es-CO" sz="2000" b="0" dirty="0">
                              <a:latin typeface="+mn-lt"/>
                              <a:ea typeface="Roboto" panose="02000000000000000000" pitchFamily="2" charset="0"/>
                            </a:rPr>
                            <a:t>(sentido</a:t>
                          </a:r>
                          <a:r>
                            <a:rPr lang="es-CO" sz="2000" b="0" baseline="0" dirty="0">
                              <a:latin typeface="+mn-lt"/>
                              <a:ea typeface="Roboto" panose="02000000000000000000" pitchFamily="2" charset="0"/>
                            </a:rPr>
                            <a:t> </a:t>
                          </a:r>
                          <a14:m>
                            <m:oMath xmlns:m="http://schemas.openxmlformats.org/officeDocument/2006/math">
                              <m:r>
                                <a:rPr lang="es-MX" sz="2000" b="0" i="1" smtClean="0">
                                  <a:latin typeface="Cambria Math" panose="02040503050406030204" pitchFamily="18" charset="0"/>
                                  <a:ea typeface="Roboto" panose="02000000000000000000" pitchFamily="2" charset="0"/>
                                </a:rPr>
                                <m:t>𝐼</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𝐷</m:t>
                              </m:r>
                            </m:oMath>
                          </a14:m>
                          <a:r>
                            <a:rPr lang="es-CO" sz="2000" b="0" dirty="0">
                              <a:latin typeface="+mn-lt"/>
                              <a:ea typeface="Roboto" panose="02000000000000000000" pitchFamily="2" charset="0"/>
                            </a:rPr>
                            <a:t>) en </a:t>
                          </a:r>
                          <a:r>
                            <a:rPr lang="es-CO" sz="2000" b="1" dirty="0">
                              <a:latin typeface="+mn-lt"/>
                              <a:ea typeface="Roboto" panose="02000000000000000000" pitchFamily="2" charset="0"/>
                            </a:rPr>
                            <a:t>(4)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887912512"/>
                      </a:ext>
                    </a:extLst>
                  </a:tr>
                  <a:tr h="370840">
                    <a:tc>
                      <a:txBody>
                        <a:bodyPr/>
                        <a:lstStyle/>
                        <a:p>
                          <a:pPr algn="ctr"/>
                          <a:r>
                            <a:rPr lang="es-CO" sz="2000" dirty="0"/>
                            <a:t>6</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1" i="1" smtClean="0">
                                        <a:latin typeface="Cambria Math" panose="02040503050406030204" pitchFamily="18" charset="0"/>
                                        <a:ea typeface="Cambria Math" panose="02040503050406030204" pitchFamily="18" charset="0"/>
                                      </a:rPr>
                                      <m:t>𝑽</m:t>
                                    </m:r>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s-MX" sz="2000" dirty="0">
                              <a:latin typeface="+mn-lt"/>
                              <a:ea typeface="Roboto" panose="02000000000000000000" pitchFamily="2" charset="0"/>
                            </a:rPr>
                            <a:t>Dominación para el </a:t>
                          </a:r>
                          <a:r>
                            <a:rPr lang="es-MX" sz="2000" b="1" dirty="0">
                              <a:latin typeface="+mn-lt"/>
                              <a:ea typeface="Roboto" panose="02000000000000000000" pitchFamily="2" charset="0"/>
                            </a:rPr>
                            <a:t>O </a:t>
                          </a:r>
                          <a:r>
                            <a:rPr lang="es-CO" sz="2000" b="0" dirty="0">
                              <a:latin typeface="+mn-lt"/>
                              <a:ea typeface="Roboto" panose="02000000000000000000" pitchFamily="2" charset="0"/>
                            </a:rPr>
                            <a:t>en </a:t>
                          </a:r>
                          <a:r>
                            <a:rPr lang="es-CO" sz="2000" b="1" dirty="0">
                              <a:latin typeface="+mn-lt"/>
                              <a:ea typeface="Roboto" panose="02000000000000000000" pitchFamily="2" charset="0"/>
                            </a:rPr>
                            <a:t>(5)</a:t>
                          </a:r>
                          <a:endParaRPr lang="es-CO" sz="2000" b="1" i="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49006229"/>
                      </a:ext>
                    </a:extLst>
                  </a:tr>
                  <a:tr h="370840">
                    <a:tc>
                      <a:txBody>
                        <a:bodyPr/>
                        <a:lstStyle/>
                        <a:p>
                          <a:pPr algn="ctr"/>
                          <a:r>
                            <a:rPr lang="es-CO" sz="2000" dirty="0"/>
                            <a:t>7</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𝑃</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s-CO" sz="2000" dirty="0">
                              <a:latin typeface="+mn-lt"/>
                              <a:ea typeface="Roboto" panose="02000000000000000000" pitchFamily="2" charset="0"/>
                            </a:rPr>
                            <a:t>Identidad para el </a:t>
                          </a:r>
                          <a:r>
                            <a:rPr lang="es-CO" sz="2000" b="1" dirty="0">
                              <a:latin typeface="+mn-lt"/>
                              <a:ea typeface="Roboto" panose="02000000000000000000" pitchFamily="2" charset="0"/>
                            </a:rPr>
                            <a:t>Y </a:t>
                          </a:r>
                          <a:r>
                            <a:rPr lang="es-CO" sz="2000" b="0" dirty="0">
                              <a:latin typeface="+mn-lt"/>
                              <a:ea typeface="Roboto" panose="02000000000000000000" pitchFamily="2" charset="0"/>
                            </a:rPr>
                            <a:t>en </a:t>
                          </a:r>
                          <a:r>
                            <a:rPr lang="es-CO" sz="2000" b="1" dirty="0">
                              <a:latin typeface="+mn-lt"/>
                              <a:ea typeface="Roboto" panose="02000000000000000000" pitchFamily="2" charset="0"/>
                            </a:rPr>
                            <a:t>(6)</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50261066"/>
                      </a:ext>
                    </a:extLst>
                  </a:tr>
                </a:tbl>
              </a:graphicData>
            </a:graphic>
          </p:graphicFrame>
        </mc:Choice>
        <mc:Fallback>
          <p:graphicFrame>
            <p:nvGraphicFramePr>
              <p:cNvPr id="6" name="Tabla 2">
                <a:extLst>
                  <a:ext uri="{FF2B5EF4-FFF2-40B4-BE49-F238E27FC236}">
                    <a16:creationId xmlns:a16="http://schemas.microsoft.com/office/drawing/2014/main" id="{64D73A5B-76AD-4CDF-A10A-475C5F166D6D}"/>
                  </a:ext>
                </a:extLst>
              </p:cNvPr>
              <p:cNvGraphicFramePr>
                <a:graphicFrameLocks noGrp="1"/>
              </p:cNvGraphicFramePr>
              <p:nvPr>
                <p:extLst>
                  <p:ext uri="{D42A27DB-BD31-4B8C-83A1-F6EECF244321}">
                    <p14:modId xmlns:p14="http://schemas.microsoft.com/office/powerpoint/2010/main" val="1808154860"/>
                  </p:ext>
                </p:extLst>
              </p:nvPr>
            </p:nvGraphicFramePr>
            <p:xfrm>
              <a:off x="5590767" y="2700226"/>
              <a:ext cx="6386156" cy="3474720"/>
            </p:xfrm>
            <a:graphic>
              <a:graphicData uri="http://schemas.openxmlformats.org/drawingml/2006/table">
                <a:tbl>
                  <a:tblPr firstRow="1" bandRow="1"/>
                  <a:tblGrid>
                    <a:gridCol w="599084">
                      <a:extLst>
                        <a:ext uri="{9D8B030D-6E8A-4147-A177-3AD203B41FA5}">
                          <a16:colId xmlns:a16="http://schemas.microsoft.com/office/drawing/2014/main" val="847383059"/>
                        </a:ext>
                      </a:extLst>
                    </a:gridCol>
                    <a:gridCol w="2097806">
                      <a:extLst>
                        <a:ext uri="{9D8B030D-6E8A-4147-A177-3AD203B41FA5}">
                          <a16:colId xmlns:a16="http://schemas.microsoft.com/office/drawing/2014/main" val="2194526293"/>
                        </a:ext>
                      </a:extLst>
                    </a:gridCol>
                    <a:gridCol w="3689266">
                      <a:extLst>
                        <a:ext uri="{9D8B030D-6E8A-4147-A177-3AD203B41FA5}">
                          <a16:colId xmlns:a16="http://schemas.microsoft.com/office/drawing/2014/main" val="4281859008"/>
                        </a:ext>
                      </a:extLst>
                    </a:gridCol>
                  </a:tblGrid>
                  <a:tr h="396240">
                    <a:tc>
                      <a:txBody>
                        <a:bodyPr/>
                        <a:lstStyle/>
                        <a:p>
                          <a:pPr algn="ct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3788432"/>
                      </a:ext>
                    </a:extLst>
                  </a:tr>
                  <a:tr h="396240">
                    <a:tc>
                      <a:txBody>
                        <a:bodyPr/>
                        <a:lstStyle/>
                        <a:p>
                          <a:pPr algn="ctr"/>
                          <a:r>
                            <a:rPr lang="es-CO" sz="2000" dirty="0"/>
                            <a:t>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l="-28406" t="-107692" r="-175652" b="-706154"/>
                          </a:stretch>
                        </a:blipFill>
                      </a:tcPr>
                    </a:tc>
                    <a:tc>
                      <a:txBody>
                        <a:bodyPr/>
                        <a:lstStyle/>
                        <a:p>
                          <a:r>
                            <a:rPr lang="es-CO" sz="2000" b="0" dirty="0">
                              <a:latin typeface="+mn-lt"/>
                              <a:ea typeface="Roboto" panose="02000000000000000000" pitchFamily="2" charset="0"/>
                            </a:rPr>
                            <a:t>Hipótesis</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343470127"/>
                      </a:ext>
                    </a:extLst>
                  </a:tr>
                  <a:tr h="396240">
                    <a:tc>
                      <a:txBody>
                        <a:bodyPr/>
                        <a:lstStyle/>
                        <a:p>
                          <a:pPr algn="ctr"/>
                          <a:r>
                            <a:rPr lang="es-CO" sz="2000" dirty="0"/>
                            <a:t>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l="-28406" t="-207692" r="-175652" b="-606154"/>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mn-lt"/>
                              <a:ea typeface="Roboto" panose="02000000000000000000" pitchFamily="2" charset="0"/>
                            </a:rPr>
                            <a:t>Distributividad para el </a:t>
                          </a:r>
                          <a:r>
                            <a:rPr lang="es-CO" sz="2000" b="1" dirty="0">
                              <a:latin typeface="+mn-lt"/>
                              <a:ea typeface="Roboto" panose="02000000000000000000" pitchFamily="2" charset="0"/>
                            </a:rPr>
                            <a:t>Y </a:t>
                          </a:r>
                          <a:r>
                            <a:rPr lang="es-CO" sz="2000" b="0" dirty="0">
                              <a:latin typeface="+mn-lt"/>
                              <a:ea typeface="Roboto" panose="02000000000000000000" pitchFamily="2" charset="0"/>
                            </a:rPr>
                            <a:t>en </a:t>
                          </a:r>
                          <a:r>
                            <a:rPr lang="es-CO" sz="2000" b="1" dirty="0">
                              <a:latin typeface="+mn-lt"/>
                              <a:ea typeface="Roboto" panose="02000000000000000000" pitchFamily="2" charset="0"/>
                            </a:rPr>
                            <a:t>(1)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221669650"/>
                      </a:ext>
                    </a:extLst>
                  </a:tr>
                  <a:tr h="396240">
                    <a:tc>
                      <a:txBody>
                        <a:bodyPr/>
                        <a:lstStyle/>
                        <a:p>
                          <a:pPr algn="ctr"/>
                          <a:r>
                            <a:rPr lang="es-CO" sz="2000" dirty="0"/>
                            <a:t>3</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l="-28406" t="-307692" r="-175652" b="-506154"/>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mn-lt"/>
                              <a:ea typeface="Roboto" panose="02000000000000000000" pitchFamily="2" charset="0"/>
                            </a:rPr>
                            <a:t>Idempotencia para el </a:t>
                          </a:r>
                          <a:r>
                            <a:rPr lang="es-CO" sz="2000" b="1" dirty="0">
                              <a:latin typeface="+mn-lt"/>
                              <a:ea typeface="Roboto" panose="02000000000000000000" pitchFamily="2" charset="0"/>
                            </a:rPr>
                            <a:t>Y </a:t>
                          </a:r>
                          <a:r>
                            <a:rPr lang="es-CO" sz="2000" b="0" dirty="0">
                              <a:latin typeface="+mn-lt"/>
                              <a:ea typeface="Roboto" panose="02000000000000000000" pitchFamily="2" charset="0"/>
                            </a:rPr>
                            <a:t>en </a:t>
                          </a:r>
                          <a:r>
                            <a:rPr lang="es-CO" sz="2000" b="1" dirty="0">
                              <a:latin typeface="+mn-lt"/>
                              <a:ea typeface="Roboto" panose="02000000000000000000" pitchFamily="2" charset="0"/>
                            </a:rPr>
                            <a:t>(2)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17809005"/>
                      </a:ext>
                    </a:extLst>
                  </a:tr>
                  <a:tr h="396240">
                    <a:tc>
                      <a:txBody>
                        <a:bodyPr/>
                        <a:lstStyle/>
                        <a:p>
                          <a:pPr algn="ctr"/>
                          <a:r>
                            <a:rPr lang="es-CO" sz="2000" dirty="0"/>
                            <a:t>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l="-28406" t="-401515" r="-175652" b="-398485"/>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2000" dirty="0">
                              <a:latin typeface="+mn-lt"/>
                              <a:ea typeface="Roboto" panose="02000000000000000000" pitchFamily="2" charset="0"/>
                            </a:rPr>
                            <a:t>Identidad para el </a:t>
                          </a:r>
                          <a:r>
                            <a:rPr lang="es-CO" sz="2000" b="1" dirty="0">
                              <a:latin typeface="+mn-lt"/>
                              <a:ea typeface="Roboto" panose="02000000000000000000" pitchFamily="2" charset="0"/>
                            </a:rPr>
                            <a:t>Y </a:t>
                          </a:r>
                          <a:r>
                            <a:rPr lang="es-CO" sz="2000" b="0" dirty="0">
                              <a:latin typeface="+mn-lt"/>
                              <a:ea typeface="Roboto" panose="02000000000000000000" pitchFamily="2" charset="0"/>
                            </a:rPr>
                            <a:t>en </a:t>
                          </a:r>
                          <a:r>
                            <a:rPr lang="es-CO" sz="2000" b="1" dirty="0">
                              <a:latin typeface="+mn-lt"/>
                              <a:ea typeface="Roboto" panose="02000000000000000000" pitchFamily="2" charset="0"/>
                            </a:rPr>
                            <a:t>(3)</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74396960"/>
                      </a:ext>
                    </a:extLst>
                  </a:tr>
                  <a:tr h="701040">
                    <a:tc>
                      <a:txBody>
                        <a:bodyPr/>
                        <a:lstStyle/>
                        <a:p>
                          <a:pPr algn="ctr"/>
                          <a:r>
                            <a:rPr lang="es-CO" sz="2000" dirty="0"/>
                            <a:t>5</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l="-28406" t="-287826" r="-175652" b="-128696"/>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l="-73223" t="-287826" r="-165" b="-128696"/>
                          </a:stretch>
                        </a:blipFill>
                      </a:tcPr>
                    </a:tc>
                    <a:extLst>
                      <a:ext uri="{0D108BD9-81ED-4DB2-BD59-A6C34878D82A}">
                        <a16:rowId xmlns:a16="http://schemas.microsoft.com/office/drawing/2014/main" val="2887912512"/>
                      </a:ext>
                    </a:extLst>
                  </a:tr>
                  <a:tr h="396240">
                    <a:tc>
                      <a:txBody>
                        <a:bodyPr/>
                        <a:lstStyle/>
                        <a:p>
                          <a:pPr algn="ctr"/>
                          <a:r>
                            <a:rPr lang="es-CO" sz="2000" dirty="0"/>
                            <a:t>6</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l="-28406" t="-686154" r="-175652" b="-127692"/>
                          </a:stretch>
                        </a:blipFill>
                      </a:tcPr>
                    </a:tc>
                    <a:tc>
                      <a:txBody>
                        <a:bodyPr/>
                        <a:lstStyle/>
                        <a:p>
                          <a:r>
                            <a:rPr lang="es-MX" sz="2000" dirty="0">
                              <a:latin typeface="+mn-lt"/>
                              <a:ea typeface="Roboto" panose="02000000000000000000" pitchFamily="2" charset="0"/>
                            </a:rPr>
                            <a:t>Dominación para el </a:t>
                          </a:r>
                          <a:r>
                            <a:rPr lang="es-MX" sz="2000" b="1" dirty="0">
                              <a:latin typeface="+mn-lt"/>
                              <a:ea typeface="Roboto" panose="02000000000000000000" pitchFamily="2" charset="0"/>
                            </a:rPr>
                            <a:t>O </a:t>
                          </a:r>
                          <a:r>
                            <a:rPr lang="es-CO" sz="2000" b="0" dirty="0">
                              <a:latin typeface="+mn-lt"/>
                              <a:ea typeface="Roboto" panose="02000000000000000000" pitchFamily="2" charset="0"/>
                            </a:rPr>
                            <a:t>en </a:t>
                          </a:r>
                          <a:r>
                            <a:rPr lang="es-CO" sz="2000" b="1" dirty="0">
                              <a:latin typeface="+mn-lt"/>
                              <a:ea typeface="Roboto" panose="02000000000000000000" pitchFamily="2" charset="0"/>
                            </a:rPr>
                            <a:t>(5)</a:t>
                          </a:r>
                          <a:endParaRPr lang="es-CO" sz="2000" b="1" i="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49006229"/>
                      </a:ext>
                    </a:extLst>
                  </a:tr>
                  <a:tr h="396240">
                    <a:tc>
                      <a:txBody>
                        <a:bodyPr/>
                        <a:lstStyle/>
                        <a:p>
                          <a:pPr algn="ctr"/>
                          <a:r>
                            <a:rPr lang="es-CO" sz="2000" dirty="0"/>
                            <a:t>7</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l="-28406" t="-786154" r="-175652" b="-27692"/>
                          </a:stretch>
                        </a:blipFill>
                      </a:tcPr>
                    </a:tc>
                    <a:tc>
                      <a:txBody>
                        <a:bodyPr/>
                        <a:lstStyle/>
                        <a:p>
                          <a:r>
                            <a:rPr lang="es-CO" sz="2000" dirty="0">
                              <a:latin typeface="+mn-lt"/>
                              <a:ea typeface="Roboto" panose="02000000000000000000" pitchFamily="2" charset="0"/>
                            </a:rPr>
                            <a:t>Identidad para el </a:t>
                          </a:r>
                          <a:r>
                            <a:rPr lang="es-CO" sz="2000" b="1" dirty="0">
                              <a:latin typeface="+mn-lt"/>
                              <a:ea typeface="Roboto" panose="02000000000000000000" pitchFamily="2" charset="0"/>
                            </a:rPr>
                            <a:t>Y </a:t>
                          </a:r>
                          <a:r>
                            <a:rPr lang="es-CO" sz="2000" b="0" dirty="0">
                              <a:latin typeface="+mn-lt"/>
                              <a:ea typeface="Roboto" panose="02000000000000000000" pitchFamily="2" charset="0"/>
                            </a:rPr>
                            <a:t>en </a:t>
                          </a:r>
                          <a:r>
                            <a:rPr lang="es-CO" sz="2000" b="1" dirty="0">
                              <a:latin typeface="+mn-lt"/>
                              <a:ea typeface="Roboto" panose="02000000000000000000" pitchFamily="2" charset="0"/>
                            </a:rPr>
                            <a:t>(6)</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50261066"/>
                      </a:ext>
                    </a:extLst>
                  </a:tr>
                </a:tbl>
              </a:graphicData>
            </a:graphic>
          </p:graphicFrame>
        </mc:Fallback>
      </mc:AlternateContent>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532860F1-8328-4456-A6EA-2EF84699E940}"/>
                  </a:ext>
                </a:extLst>
              </p:cNvPr>
              <p:cNvSpPr txBox="1"/>
              <p:nvPr/>
            </p:nvSpPr>
            <p:spPr>
              <a:xfrm>
                <a:off x="5189649" y="1874458"/>
                <a:ext cx="1810367" cy="307777"/>
              </a:xfrm>
              <a:prstGeom prst="rect">
                <a:avLst/>
              </a:prstGeom>
              <a:solidFill>
                <a:schemeClr val="bg1">
                  <a:lumMod val="95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000" i="1">
                          <a:latin typeface="Cambria Math" panose="02040503050406030204" pitchFamily="18" charset="0"/>
                        </a:rPr>
                        <m:t>𝑃</m:t>
                      </m:r>
                      <m:r>
                        <a:rPr lang="es-MX" sz="2000" i="1">
                          <a:latin typeface="Cambria Math" panose="02040503050406030204" pitchFamily="18" charset="0"/>
                          <a:ea typeface="Cambria Math" panose="02040503050406030204" pitchFamily="18" charset="0"/>
                        </a:rPr>
                        <m:t>∧</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𝑃</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𝑄</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𝑃</m:t>
                      </m:r>
                    </m:oMath>
                  </m:oMathPara>
                </a14:m>
                <a:endParaRPr lang="es-CO" sz="2000" dirty="0"/>
              </a:p>
            </p:txBody>
          </p:sp>
        </mc:Choice>
        <mc:Fallback>
          <p:sp>
            <p:nvSpPr>
              <p:cNvPr id="7" name="CuadroTexto 6">
                <a:extLst>
                  <a:ext uri="{FF2B5EF4-FFF2-40B4-BE49-F238E27FC236}">
                    <a16:creationId xmlns:a16="http://schemas.microsoft.com/office/drawing/2014/main" id="{532860F1-8328-4456-A6EA-2EF84699E940}"/>
                  </a:ext>
                </a:extLst>
              </p:cNvPr>
              <p:cNvSpPr txBox="1">
                <a:spLocks noRot="1" noChangeAspect="1" noMove="1" noResize="1" noEditPoints="1" noAdjustHandles="1" noChangeArrowheads="1" noChangeShapeType="1" noTextEdit="1"/>
              </p:cNvSpPr>
              <p:nvPr/>
            </p:nvSpPr>
            <p:spPr>
              <a:xfrm>
                <a:off x="5189649" y="1874458"/>
                <a:ext cx="1810367" cy="307777"/>
              </a:xfrm>
              <a:prstGeom prst="rect">
                <a:avLst/>
              </a:prstGeom>
              <a:blipFill>
                <a:blip r:embed="rId4"/>
                <a:stretch>
                  <a:fillRect l="-2694" r="-2694" b="-2549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8" name="Tabla 3">
                <a:extLst>
                  <a:ext uri="{FF2B5EF4-FFF2-40B4-BE49-F238E27FC236}">
                    <a16:creationId xmlns:a16="http://schemas.microsoft.com/office/drawing/2014/main" id="{99DB4FF7-0E11-4B78-A969-515541746483}"/>
                  </a:ext>
                </a:extLst>
              </p:cNvPr>
              <p:cNvGraphicFramePr>
                <a:graphicFrameLocks noGrp="1"/>
              </p:cNvGraphicFramePr>
              <p:nvPr>
                <p:extLst>
                  <p:ext uri="{D42A27DB-BD31-4B8C-83A1-F6EECF244321}">
                    <p14:modId xmlns:p14="http://schemas.microsoft.com/office/powerpoint/2010/main" val="2654091334"/>
                  </p:ext>
                </p:extLst>
              </p:nvPr>
            </p:nvGraphicFramePr>
            <p:xfrm>
              <a:off x="215077" y="2758282"/>
              <a:ext cx="5198754" cy="3520440"/>
            </p:xfrm>
            <a:graphic>
              <a:graphicData uri="http://schemas.openxmlformats.org/drawingml/2006/table">
                <a:tbl>
                  <a:tblPr firstRow="1" bandRow="1"/>
                  <a:tblGrid>
                    <a:gridCol w="1132612">
                      <a:extLst>
                        <a:ext uri="{9D8B030D-6E8A-4147-A177-3AD203B41FA5}">
                          <a16:colId xmlns:a16="http://schemas.microsoft.com/office/drawing/2014/main" val="2419793140"/>
                        </a:ext>
                      </a:extLst>
                    </a:gridCol>
                    <a:gridCol w="2020666">
                      <a:extLst>
                        <a:ext uri="{9D8B030D-6E8A-4147-A177-3AD203B41FA5}">
                          <a16:colId xmlns:a16="http://schemas.microsoft.com/office/drawing/2014/main" val="2761119023"/>
                        </a:ext>
                      </a:extLst>
                    </a:gridCol>
                    <a:gridCol w="2045476">
                      <a:extLst>
                        <a:ext uri="{9D8B030D-6E8A-4147-A177-3AD203B41FA5}">
                          <a16:colId xmlns:a16="http://schemas.microsoft.com/office/drawing/2014/main" val="180266477"/>
                        </a:ext>
                      </a:extLst>
                    </a:gridCol>
                  </a:tblGrid>
                  <a:tr h="0">
                    <a:tc>
                      <a:txBody>
                        <a:bodyPr/>
                        <a:lstStyle/>
                        <a:p>
                          <a:r>
                            <a:rPr lang="es-CO" sz="1050" b="1" dirty="0">
                              <a:latin typeface="+mn-lt"/>
                              <a:ea typeface="Roboto" panose="02000000000000000000" pitchFamily="2" charset="0"/>
                            </a:rPr>
                            <a:t>Nombre</a:t>
                          </a:r>
                        </a:p>
                      </a:txBody>
                      <a:tcPr>
                        <a:solidFill>
                          <a:schemeClr val="bg2"/>
                        </a:solidFill>
                      </a:tcPr>
                    </a:tc>
                    <a:tc gridSpan="2">
                      <a:txBody>
                        <a:bodyPr/>
                        <a:lstStyle/>
                        <a:p>
                          <a:pPr algn="ctr"/>
                          <a:r>
                            <a:rPr lang="es-CO" sz="105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133681">
                    <a:tc>
                      <a:txBody>
                        <a:bodyPr/>
                        <a:lstStyle/>
                        <a:p>
                          <a:r>
                            <a:rPr lang="es-CO" sz="1050" b="1" dirty="0">
                              <a:latin typeface="+mn-lt"/>
                              <a:ea typeface="Roboto" panose="02000000000000000000" pitchFamily="2" charset="0"/>
                            </a:rPr>
                            <a:t>Conmutatividad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54515760"/>
                      </a:ext>
                    </a:extLst>
                  </a:tr>
                  <a:tr h="133681">
                    <a:tc>
                      <a:txBody>
                        <a:bodyPr/>
                        <a:lstStyle/>
                        <a:p>
                          <a:r>
                            <a:rPr lang="es-CO" sz="1050" b="1" dirty="0">
                              <a:latin typeface="+mn-lt"/>
                              <a:ea typeface="Roboto" panose="02000000000000000000" pitchFamily="2" charset="0"/>
                            </a:rPr>
                            <a:t>Asociatividad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913743916"/>
                      </a:ext>
                    </a:extLst>
                  </a:tr>
                  <a:tr h="133681">
                    <a:tc>
                      <a:txBody>
                        <a:bodyPr/>
                        <a:lstStyle/>
                        <a:p>
                          <a:r>
                            <a:rPr lang="es-CO" sz="1050" b="1" dirty="0">
                              <a:latin typeface="+mn-lt"/>
                              <a:ea typeface="Roboto" panose="02000000000000000000" pitchFamily="2" charset="0"/>
                            </a:rPr>
                            <a:t>Distributividad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17401643"/>
                      </a:ext>
                    </a:extLst>
                  </a:tr>
                  <a:tr h="133681">
                    <a:tc>
                      <a:txBody>
                        <a:bodyPr/>
                        <a:lstStyle/>
                        <a:p>
                          <a:r>
                            <a:rPr lang="es-CO" sz="1050" b="1" dirty="0">
                              <a:latin typeface="+mn-lt"/>
                              <a:ea typeface="Roboto" panose="02000000000000000000" pitchFamily="2" charset="0"/>
                            </a:rPr>
                            <a:t>Idempotencia</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46818852"/>
                      </a:ext>
                    </a:extLst>
                  </a:tr>
                  <a:tr h="133681">
                    <a:tc>
                      <a:txBody>
                        <a:bodyPr/>
                        <a:lstStyle/>
                        <a:p>
                          <a:r>
                            <a:rPr lang="es-CO" sz="1050" b="1" dirty="0">
                              <a:latin typeface="+mn-lt"/>
                              <a:ea typeface="Roboto" panose="02000000000000000000" pitchFamily="2" charset="0"/>
                            </a:rPr>
                            <a:t>Doble negación</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88149062"/>
                      </a:ext>
                    </a:extLst>
                  </a:tr>
                  <a:tr h="133681">
                    <a:tc>
                      <a:txBody>
                        <a:bodyPr/>
                        <a:lstStyle/>
                        <a:p>
                          <a:r>
                            <a:rPr lang="es-CO" sz="1050" b="1" dirty="0">
                              <a:latin typeface="+mn-lt"/>
                              <a:ea typeface="Roboto" panose="02000000000000000000" pitchFamily="2" charset="0"/>
                            </a:rPr>
                            <a:t>Leyes de Morgan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13060234"/>
                      </a:ext>
                    </a:extLst>
                  </a:tr>
                  <a:tr h="133681">
                    <a:tc>
                      <a:txBody>
                        <a:bodyPr/>
                        <a:lstStyle/>
                        <a:p>
                          <a:r>
                            <a:rPr lang="es-CO" sz="1050" b="1" dirty="0">
                              <a:latin typeface="+mn-lt"/>
                              <a:ea typeface="Roboto" panose="02000000000000000000" pitchFamily="2" charset="0"/>
                            </a:rPr>
                            <a:t>Identidad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494965197"/>
                      </a:ext>
                    </a:extLst>
                  </a:tr>
                  <a:tr h="133681">
                    <a:tc>
                      <a:txBody>
                        <a:bodyPr/>
                        <a:lstStyle/>
                        <a:p>
                          <a:r>
                            <a:rPr lang="es-CO" sz="1050" b="1" dirty="0">
                              <a:latin typeface="+mn-lt"/>
                              <a:ea typeface="Roboto" panose="02000000000000000000" pitchFamily="2" charset="0"/>
                            </a:rPr>
                            <a:t>Dominación</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07485840"/>
                      </a:ext>
                    </a:extLst>
                  </a:tr>
                  <a:tr h="133681">
                    <a:tc>
                      <a:txBody>
                        <a:bodyPr/>
                        <a:lstStyle/>
                        <a:p>
                          <a:r>
                            <a:rPr lang="es-CO" sz="1050" b="1" dirty="0">
                              <a:latin typeface="+mn-lt"/>
                              <a:ea typeface="Roboto" panose="02000000000000000000" pitchFamily="2" charset="0"/>
                            </a:rPr>
                            <a:t>Absorción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232652958"/>
                      </a:ext>
                    </a:extLst>
                  </a:tr>
                  <a:tr h="133681">
                    <a:tc>
                      <a:txBody>
                        <a:bodyPr/>
                        <a:lstStyle/>
                        <a:p>
                          <a:r>
                            <a:rPr lang="es-CO" sz="1050" b="1" dirty="0">
                              <a:latin typeface="+mn-lt"/>
                              <a:ea typeface="Roboto" panose="02000000000000000000" pitchFamily="2" charset="0"/>
                            </a:rPr>
                            <a:t>Complemento</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oMath>
                            </m:oMathPara>
                          </a14:m>
                          <a:endParaRPr lang="es-CO" sz="1050" b="1"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oMath>
                            </m:oMathPara>
                          </a14:m>
                          <a:endParaRPr lang="es-CO" sz="105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70911309"/>
                      </a:ext>
                    </a:extLst>
                  </a:tr>
                  <a:tr h="133681">
                    <a:tc>
                      <a:txBody>
                        <a:bodyPr/>
                        <a:lstStyle/>
                        <a:p>
                          <a:r>
                            <a:rPr lang="es-CO" sz="1050" b="1" dirty="0">
                              <a:latin typeface="+mn-lt"/>
                              <a:ea typeface="Roboto" panose="02000000000000000000" pitchFamily="2" charset="0"/>
                            </a:rPr>
                            <a:t>Implicación</a:t>
                          </a:r>
                        </a:p>
                      </a:txBody>
                      <a:tcPr>
                        <a:solidFill>
                          <a:schemeClr val="bg2"/>
                        </a:solidFill>
                      </a:tcPr>
                    </a:tc>
                    <a:tc gridSpan="2">
                      <a:txBody>
                        <a:bodyPr/>
                        <a:lstStyle/>
                        <a:p>
                          <a:pPr algn="ct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Roboto" panose="02000000000000000000" pitchFamily="2"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483938044"/>
                      </a:ext>
                    </a:extLst>
                  </a:tr>
                  <a:tr h="133681">
                    <a:tc>
                      <a:txBody>
                        <a:bodyPr/>
                        <a:lstStyle/>
                        <a:p>
                          <a:r>
                            <a:rPr lang="es-CO" sz="1050" b="1" dirty="0">
                              <a:latin typeface="+mn-lt"/>
                              <a:ea typeface="Roboto" panose="02000000000000000000" pitchFamily="2" charset="0"/>
                            </a:rPr>
                            <a:t>Contrarrecíproco</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Roboto" panose="02000000000000000000" pitchFamily="2"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255506134"/>
                      </a:ext>
                    </a:extLst>
                  </a:tr>
                  <a:tr h="133681">
                    <a:tc>
                      <a:txBody>
                        <a:bodyPr/>
                        <a:lstStyle/>
                        <a:p>
                          <a:r>
                            <a:rPr lang="es-CO" sz="1050" b="1" dirty="0">
                              <a:latin typeface="+mn-lt"/>
                              <a:ea typeface="Roboto" panose="02000000000000000000" pitchFamily="2" charset="0"/>
                            </a:rPr>
                            <a:t>Equivalencia</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e>
                                </m:d>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40457137"/>
                      </a:ext>
                    </a:extLst>
                  </a:tr>
                </a:tbl>
              </a:graphicData>
            </a:graphic>
          </p:graphicFrame>
        </mc:Choice>
        <mc:Fallback>
          <p:graphicFrame>
            <p:nvGraphicFramePr>
              <p:cNvPr id="8" name="Tabla 3">
                <a:extLst>
                  <a:ext uri="{FF2B5EF4-FFF2-40B4-BE49-F238E27FC236}">
                    <a16:creationId xmlns:a16="http://schemas.microsoft.com/office/drawing/2014/main" id="{99DB4FF7-0E11-4B78-A969-515541746483}"/>
                  </a:ext>
                </a:extLst>
              </p:cNvPr>
              <p:cNvGraphicFramePr>
                <a:graphicFrameLocks noGrp="1"/>
              </p:cNvGraphicFramePr>
              <p:nvPr>
                <p:extLst>
                  <p:ext uri="{D42A27DB-BD31-4B8C-83A1-F6EECF244321}">
                    <p14:modId xmlns:p14="http://schemas.microsoft.com/office/powerpoint/2010/main" val="2654091334"/>
                  </p:ext>
                </p:extLst>
              </p:nvPr>
            </p:nvGraphicFramePr>
            <p:xfrm>
              <a:off x="215077" y="2758282"/>
              <a:ext cx="5198754" cy="3520440"/>
            </p:xfrm>
            <a:graphic>
              <a:graphicData uri="http://schemas.openxmlformats.org/drawingml/2006/table">
                <a:tbl>
                  <a:tblPr firstRow="1" bandRow="1"/>
                  <a:tblGrid>
                    <a:gridCol w="1132612">
                      <a:extLst>
                        <a:ext uri="{9D8B030D-6E8A-4147-A177-3AD203B41FA5}">
                          <a16:colId xmlns:a16="http://schemas.microsoft.com/office/drawing/2014/main" val="2419793140"/>
                        </a:ext>
                      </a:extLst>
                    </a:gridCol>
                    <a:gridCol w="2020666">
                      <a:extLst>
                        <a:ext uri="{9D8B030D-6E8A-4147-A177-3AD203B41FA5}">
                          <a16:colId xmlns:a16="http://schemas.microsoft.com/office/drawing/2014/main" val="2761119023"/>
                        </a:ext>
                      </a:extLst>
                    </a:gridCol>
                    <a:gridCol w="2045476">
                      <a:extLst>
                        <a:ext uri="{9D8B030D-6E8A-4147-A177-3AD203B41FA5}">
                          <a16:colId xmlns:a16="http://schemas.microsoft.com/office/drawing/2014/main" val="180266477"/>
                        </a:ext>
                      </a:extLst>
                    </a:gridCol>
                  </a:tblGrid>
                  <a:tr h="251460">
                    <a:tc>
                      <a:txBody>
                        <a:bodyPr/>
                        <a:lstStyle/>
                        <a:p>
                          <a:r>
                            <a:rPr lang="es-CO" sz="1050" b="1" dirty="0">
                              <a:latin typeface="+mn-lt"/>
                              <a:ea typeface="Roboto" panose="02000000000000000000" pitchFamily="2" charset="0"/>
                            </a:rPr>
                            <a:t>Nombre</a:t>
                          </a:r>
                        </a:p>
                      </a:txBody>
                      <a:tcPr>
                        <a:solidFill>
                          <a:schemeClr val="bg2"/>
                        </a:solidFill>
                      </a:tcPr>
                    </a:tc>
                    <a:tc gridSpan="2">
                      <a:txBody>
                        <a:bodyPr/>
                        <a:lstStyle/>
                        <a:p>
                          <a:pPr algn="ctr"/>
                          <a:r>
                            <a:rPr lang="es-CO" sz="105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251460">
                    <a:tc>
                      <a:txBody>
                        <a:bodyPr/>
                        <a:lstStyle/>
                        <a:p>
                          <a:r>
                            <a:rPr lang="es-CO" sz="1050" b="1" dirty="0">
                              <a:latin typeface="+mn-lt"/>
                              <a:ea typeface="Roboto" panose="02000000000000000000" pitchFamily="2" charset="0"/>
                            </a:rPr>
                            <a:t>Conmutatividad</a:t>
                          </a:r>
                        </a:p>
                      </a:txBody>
                      <a:tcPr>
                        <a:solidFill>
                          <a:schemeClr val="bg2"/>
                        </a:solidFill>
                      </a:tcPr>
                    </a:tc>
                    <a:tc>
                      <a:txBody>
                        <a:bodyPr/>
                        <a:lstStyle/>
                        <a:p>
                          <a:endParaRPr lang="es-CO"/>
                        </a:p>
                      </a:txBody>
                      <a:tcPr>
                        <a:blipFill>
                          <a:blip r:embed="rId5"/>
                          <a:stretch>
                            <a:fillRect l="-56325" t="-100000" r="-101807" b="-1192857"/>
                          </a:stretch>
                        </a:blipFill>
                      </a:tcPr>
                    </a:tc>
                    <a:tc>
                      <a:txBody>
                        <a:bodyPr/>
                        <a:lstStyle/>
                        <a:p>
                          <a:endParaRPr lang="es-CO"/>
                        </a:p>
                      </a:txBody>
                      <a:tcPr>
                        <a:blipFill>
                          <a:blip r:embed="rId5"/>
                          <a:stretch>
                            <a:fillRect l="-154464" t="-100000" r="-595" b="-1192857"/>
                          </a:stretch>
                        </a:blipFill>
                      </a:tcPr>
                    </a:tc>
                    <a:extLst>
                      <a:ext uri="{0D108BD9-81ED-4DB2-BD59-A6C34878D82A}">
                        <a16:rowId xmlns:a16="http://schemas.microsoft.com/office/drawing/2014/main" val="3154515760"/>
                      </a:ext>
                    </a:extLst>
                  </a:tr>
                  <a:tr h="251460">
                    <a:tc>
                      <a:txBody>
                        <a:bodyPr/>
                        <a:lstStyle/>
                        <a:p>
                          <a:r>
                            <a:rPr lang="es-CO" sz="1050" b="1" dirty="0">
                              <a:latin typeface="+mn-lt"/>
                              <a:ea typeface="Roboto" panose="02000000000000000000" pitchFamily="2" charset="0"/>
                            </a:rPr>
                            <a:t>Asociatividad</a:t>
                          </a:r>
                        </a:p>
                      </a:txBody>
                      <a:tcPr>
                        <a:solidFill>
                          <a:schemeClr val="bg2"/>
                        </a:solidFill>
                      </a:tcPr>
                    </a:tc>
                    <a:tc>
                      <a:txBody>
                        <a:bodyPr/>
                        <a:lstStyle/>
                        <a:p>
                          <a:endParaRPr lang="es-CO"/>
                        </a:p>
                      </a:txBody>
                      <a:tcPr>
                        <a:blipFill>
                          <a:blip r:embed="rId5"/>
                          <a:stretch>
                            <a:fillRect l="-56325" t="-204878" r="-101807" b="-1121951"/>
                          </a:stretch>
                        </a:blipFill>
                      </a:tcPr>
                    </a:tc>
                    <a:tc>
                      <a:txBody>
                        <a:bodyPr/>
                        <a:lstStyle/>
                        <a:p>
                          <a:endParaRPr lang="es-CO"/>
                        </a:p>
                      </a:txBody>
                      <a:tcPr>
                        <a:blipFill>
                          <a:blip r:embed="rId5"/>
                          <a:stretch>
                            <a:fillRect l="-154464" t="-204878" r="-595" b="-1121951"/>
                          </a:stretch>
                        </a:blipFill>
                      </a:tcPr>
                    </a:tc>
                    <a:extLst>
                      <a:ext uri="{0D108BD9-81ED-4DB2-BD59-A6C34878D82A}">
                        <a16:rowId xmlns:a16="http://schemas.microsoft.com/office/drawing/2014/main" val="1913743916"/>
                      </a:ext>
                    </a:extLst>
                  </a:tr>
                  <a:tr h="251460">
                    <a:tc>
                      <a:txBody>
                        <a:bodyPr/>
                        <a:lstStyle/>
                        <a:p>
                          <a:r>
                            <a:rPr lang="es-CO" sz="1050" b="1" dirty="0">
                              <a:latin typeface="+mn-lt"/>
                              <a:ea typeface="Roboto" panose="02000000000000000000" pitchFamily="2" charset="0"/>
                            </a:rPr>
                            <a:t>Distributividad</a:t>
                          </a:r>
                        </a:p>
                      </a:txBody>
                      <a:tcPr>
                        <a:solidFill>
                          <a:schemeClr val="bg2"/>
                        </a:solidFill>
                      </a:tcPr>
                    </a:tc>
                    <a:tc>
                      <a:txBody>
                        <a:bodyPr/>
                        <a:lstStyle/>
                        <a:p>
                          <a:endParaRPr lang="es-CO"/>
                        </a:p>
                      </a:txBody>
                      <a:tcPr>
                        <a:blipFill>
                          <a:blip r:embed="rId5"/>
                          <a:stretch>
                            <a:fillRect l="-56325" t="-304878" r="-101807" b="-1021951"/>
                          </a:stretch>
                        </a:blipFill>
                      </a:tcPr>
                    </a:tc>
                    <a:tc>
                      <a:txBody>
                        <a:bodyPr/>
                        <a:lstStyle/>
                        <a:p>
                          <a:endParaRPr lang="es-CO"/>
                        </a:p>
                      </a:txBody>
                      <a:tcPr>
                        <a:blipFill>
                          <a:blip r:embed="rId5"/>
                          <a:stretch>
                            <a:fillRect l="-154464" t="-304878" r="-595" b="-1021951"/>
                          </a:stretch>
                        </a:blipFill>
                      </a:tcPr>
                    </a:tc>
                    <a:extLst>
                      <a:ext uri="{0D108BD9-81ED-4DB2-BD59-A6C34878D82A}">
                        <a16:rowId xmlns:a16="http://schemas.microsoft.com/office/drawing/2014/main" val="717401643"/>
                      </a:ext>
                    </a:extLst>
                  </a:tr>
                  <a:tr h="251460">
                    <a:tc>
                      <a:txBody>
                        <a:bodyPr/>
                        <a:lstStyle/>
                        <a:p>
                          <a:r>
                            <a:rPr lang="es-CO" sz="1050" b="1" dirty="0">
                              <a:latin typeface="+mn-lt"/>
                              <a:ea typeface="Roboto" panose="02000000000000000000" pitchFamily="2" charset="0"/>
                            </a:rPr>
                            <a:t>Idempotencia</a:t>
                          </a:r>
                        </a:p>
                      </a:txBody>
                      <a:tcPr>
                        <a:solidFill>
                          <a:schemeClr val="bg2"/>
                        </a:solidFill>
                      </a:tcPr>
                    </a:tc>
                    <a:tc>
                      <a:txBody>
                        <a:bodyPr/>
                        <a:lstStyle/>
                        <a:p>
                          <a:endParaRPr lang="es-CO"/>
                        </a:p>
                      </a:txBody>
                      <a:tcPr>
                        <a:blipFill>
                          <a:blip r:embed="rId5"/>
                          <a:stretch>
                            <a:fillRect l="-56325" t="-404878" r="-101807" b="-921951"/>
                          </a:stretch>
                        </a:blipFill>
                      </a:tcPr>
                    </a:tc>
                    <a:tc>
                      <a:txBody>
                        <a:bodyPr/>
                        <a:lstStyle/>
                        <a:p>
                          <a:endParaRPr lang="es-CO"/>
                        </a:p>
                      </a:txBody>
                      <a:tcPr>
                        <a:blipFill>
                          <a:blip r:embed="rId5"/>
                          <a:stretch>
                            <a:fillRect l="-154464" t="-404878" r="-595" b="-921951"/>
                          </a:stretch>
                        </a:blipFill>
                      </a:tcPr>
                    </a:tc>
                    <a:extLst>
                      <a:ext uri="{0D108BD9-81ED-4DB2-BD59-A6C34878D82A}">
                        <a16:rowId xmlns:a16="http://schemas.microsoft.com/office/drawing/2014/main" val="2246818852"/>
                      </a:ext>
                    </a:extLst>
                  </a:tr>
                  <a:tr h="251460">
                    <a:tc>
                      <a:txBody>
                        <a:bodyPr/>
                        <a:lstStyle/>
                        <a:p>
                          <a:r>
                            <a:rPr lang="es-CO" sz="1050" b="1" dirty="0">
                              <a:latin typeface="+mn-lt"/>
                              <a:ea typeface="Roboto" panose="02000000000000000000" pitchFamily="2" charset="0"/>
                            </a:rPr>
                            <a:t>Doble negación</a:t>
                          </a:r>
                        </a:p>
                      </a:txBody>
                      <a:tcPr>
                        <a:solidFill>
                          <a:schemeClr val="bg2"/>
                        </a:solidFill>
                      </a:tcPr>
                    </a:tc>
                    <a:tc gridSpan="2">
                      <a:txBody>
                        <a:bodyPr/>
                        <a:lstStyle/>
                        <a:p>
                          <a:endParaRPr lang="es-CO"/>
                        </a:p>
                      </a:txBody>
                      <a:tcPr>
                        <a:blipFill>
                          <a:blip r:embed="rId5"/>
                          <a:stretch>
                            <a:fillRect l="-27994" t="-492857" r="-299" b="-800000"/>
                          </a:stretch>
                        </a:blipFill>
                      </a:tcPr>
                    </a:tc>
                    <a:tc hMerge="1">
                      <a:txBody>
                        <a:bodyPr/>
                        <a:lstStyle/>
                        <a:p>
                          <a:endParaRPr lang="es-CO"/>
                        </a:p>
                      </a:txBody>
                      <a:tcPr/>
                    </a:tc>
                    <a:extLst>
                      <a:ext uri="{0D108BD9-81ED-4DB2-BD59-A6C34878D82A}">
                        <a16:rowId xmlns:a16="http://schemas.microsoft.com/office/drawing/2014/main" val="88149062"/>
                      </a:ext>
                    </a:extLst>
                  </a:tr>
                  <a:tr h="251460">
                    <a:tc>
                      <a:txBody>
                        <a:bodyPr/>
                        <a:lstStyle/>
                        <a:p>
                          <a:r>
                            <a:rPr lang="es-CO" sz="1050" b="1" dirty="0">
                              <a:latin typeface="+mn-lt"/>
                              <a:ea typeface="Roboto" panose="02000000000000000000" pitchFamily="2" charset="0"/>
                            </a:rPr>
                            <a:t>Leyes de Morgan</a:t>
                          </a:r>
                        </a:p>
                      </a:txBody>
                      <a:tcPr>
                        <a:solidFill>
                          <a:schemeClr val="bg2"/>
                        </a:solidFill>
                      </a:tcPr>
                    </a:tc>
                    <a:tc>
                      <a:txBody>
                        <a:bodyPr/>
                        <a:lstStyle/>
                        <a:p>
                          <a:endParaRPr lang="es-CO"/>
                        </a:p>
                      </a:txBody>
                      <a:tcPr>
                        <a:blipFill>
                          <a:blip r:embed="rId5"/>
                          <a:stretch>
                            <a:fillRect l="-56325" t="-607317" r="-101807" b="-719512"/>
                          </a:stretch>
                        </a:blipFill>
                      </a:tcPr>
                    </a:tc>
                    <a:tc>
                      <a:txBody>
                        <a:bodyPr/>
                        <a:lstStyle/>
                        <a:p>
                          <a:endParaRPr lang="es-CO"/>
                        </a:p>
                      </a:txBody>
                      <a:tcPr>
                        <a:blipFill>
                          <a:blip r:embed="rId5"/>
                          <a:stretch>
                            <a:fillRect l="-154464" t="-607317" r="-595" b="-719512"/>
                          </a:stretch>
                        </a:blipFill>
                      </a:tcPr>
                    </a:tc>
                    <a:extLst>
                      <a:ext uri="{0D108BD9-81ED-4DB2-BD59-A6C34878D82A}">
                        <a16:rowId xmlns:a16="http://schemas.microsoft.com/office/drawing/2014/main" val="2113060234"/>
                      </a:ext>
                    </a:extLst>
                  </a:tr>
                  <a:tr h="251460">
                    <a:tc>
                      <a:txBody>
                        <a:bodyPr/>
                        <a:lstStyle/>
                        <a:p>
                          <a:r>
                            <a:rPr lang="es-CO" sz="1050" b="1" dirty="0">
                              <a:latin typeface="+mn-lt"/>
                              <a:ea typeface="Roboto" panose="02000000000000000000" pitchFamily="2" charset="0"/>
                            </a:rPr>
                            <a:t>Identidad</a:t>
                          </a:r>
                        </a:p>
                      </a:txBody>
                      <a:tcPr>
                        <a:solidFill>
                          <a:schemeClr val="bg2"/>
                        </a:solidFill>
                      </a:tcPr>
                    </a:tc>
                    <a:tc>
                      <a:txBody>
                        <a:bodyPr/>
                        <a:lstStyle/>
                        <a:p>
                          <a:endParaRPr lang="es-CO"/>
                        </a:p>
                      </a:txBody>
                      <a:tcPr>
                        <a:blipFill>
                          <a:blip r:embed="rId5"/>
                          <a:stretch>
                            <a:fillRect l="-56325" t="-707317" r="-101807" b="-619512"/>
                          </a:stretch>
                        </a:blipFill>
                      </a:tcPr>
                    </a:tc>
                    <a:tc>
                      <a:txBody>
                        <a:bodyPr/>
                        <a:lstStyle/>
                        <a:p>
                          <a:endParaRPr lang="es-CO"/>
                        </a:p>
                      </a:txBody>
                      <a:tcPr>
                        <a:blipFill>
                          <a:blip r:embed="rId5"/>
                          <a:stretch>
                            <a:fillRect l="-154464" t="-707317" r="-595" b="-619512"/>
                          </a:stretch>
                        </a:blipFill>
                      </a:tcPr>
                    </a:tc>
                    <a:extLst>
                      <a:ext uri="{0D108BD9-81ED-4DB2-BD59-A6C34878D82A}">
                        <a16:rowId xmlns:a16="http://schemas.microsoft.com/office/drawing/2014/main" val="2494965197"/>
                      </a:ext>
                    </a:extLst>
                  </a:tr>
                  <a:tr h="251460">
                    <a:tc>
                      <a:txBody>
                        <a:bodyPr/>
                        <a:lstStyle/>
                        <a:p>
                          <a:r>
                            <a:rPr lang="es-CO" sz="1050" b="1" dirty="0">
                              <a:latin typeface="+mn-lt"/>
                              <a:ea typeface="Roboto" panose="02000000000000000000" pitchFamily="2" charset="0"/>
                            </a:rPr>
                            <a:t>Dominación</a:t>
                          </a:r>
                        </a:p>
                      </a:txBody>
                      <a:tcPr>
                        <a:solidFill>
                          <a:schemeClr val="bg2"/>
                        </a:solidFill>
                      </a:tcPr>
                    </a:tc>
                    <a:tc>
                      <a:txBody>
                        <a:bodyPr/>
                        <a:lstStyle/>
                        <a:p>
                          <a:endParaRPr lang="es-CO"/>
                        </a:p>
                      </a:txBody>
                      <a:tcPr>
                        <a:blipFill>
                          <a:blip r:embed="rId5"/>
                          <a:stretch>
                            <a:fillRect l="-56325" t="-788095" r="-101807" b="-504762"/>
                          </a:stretch>
                        </a:blipFill>
                      </a:tcPr>
                    </a:tc>
                    <a:tc>
                      <a:txBody>
                        <a:bodyPr/>
                        <a:lstStyle/>
                        <a:p>
                          <a:endParaRPr lang="es-CO"/>
                        </a:p>
                      </a:txBody>
                      <a:tcPr>
                        <a:blipFill>
                          <a:blip r:embed="rId5"/>
                          <a:stretch>
                            <a:fillRect l="-154464" t="-788095" r="-595" b="-504762"/>
                          </a:stretch>
                        </a:blipFill>
                      </a:tcPr>
                    </a:tc>
                    <a:extLst>
                      <a:ext uri="{0D108BD9-81ED-4DB2-BD59-A6C34878D82A}">
                        <a16:rowId xmlns:a16="http://schemas.microsoft.com/office/drawing/2014/main" val="707485840"/>
                      </a:ext>
                    </a:extLst>
                  </a:tr>
                  <a:tr h="251460">
                    <a:tc>
                      <a:txBody>
                        <a:bodyPr/>
                        <a:lstStyle/>
                        <a:p>
                          <a:r>
                            <a:rPr lang="es-CO" sz="1050" b="1" dirty="0">
                              <a:latin typeface="+mn-lt"/>
                              <a:ea typeface="Roboto" panose="02000000000000000000" pitchFamily="2" charset="0"/>
                            </a:rPr>
                            <a:t>Absorción</a:t>
                          </a:r>
                        </a:p>
                      </a:txBody>
                      <a:tcPr>
                        <a:solidFill>
                          <a:schemeClr val="bg2"/>
                        </a:solidFill>
                      </a:tcPr>
                    </a:tc>
                    <a:tc>
                      <a:txBody>
                        <a:bodyPr/>
                        <a:lstStyle/>
                        <a:p>
                          <a:endParaRPr lang="es-CO"/>
                        </a:p>
                      </a:txBody>
                      <a:tcPr>
                        <a:blipFill>
                          <a:blip r:embed="rId5"/>
                          <a:stretch>
                            <a:fillRect l="-56325" t="-909756" r="-101807" b="-417073"/>
                          </a:stretch>
                        </a:blipFill>
                      </a:tcPr>
                    </a:tc>
                    <a:tc>
                      <a:txBody>
                        <a:bodyPr/>
                        <a:lstStyle/>
                        <a:p>
                          <a:endParaRPr lang="es-CO"/>
                        </a:p>
                      </a:txBody>
                      <a:tcPr>
                        <a:blipFill>
                          <a:blip r:embed="rId5"/>
                          <a:stretch>
                            <a:fillRect l="-154464" t="-909756" r="-595" b="-417073"/>
                          </a:stretch>
                        </a:blipFill>
                      </a:tcPr>
                    </a:tc>
                    <a:extLst>
                      <a:ext uri="{0D108BD9-81ED-4DB2-BD59-A6C34878D82A}">
                        <a16:rowId xmlns:a16="http://schemas.microsoft.com/office/drawing/2014/main" val="1232652958"/>
                      </a:ext>
                    </a:extLst>
                  </a:tr>
                  <a:tr h="251460">
                    <a:tc>
                      <a:txBody>
                        <a:bodyPr/>
                        <a:lstStyle/>
                        <a:p>
                          <a:r>
                            <a:rPr lang="es-CO" sz="1050" b="1" dirty="0">
                              <a:latin typeface="+mn-lt"/>
                              <a:ea typeface="Roboto" panose="02000000000000000000" pitchFamily="2" charset="0"/>
                            </a:rPr>
                            <a:t>Complemento</a:t>
                          </a:r>
                        </a:p>
                      </a:txBody>
                      <a:tcPr>
                        <a:solidFill>
                          <a:schemeClr val="bg2"/>
                        </a:solidFill>
                      </a:tcPr>
                    </a:tc>
                    <a:tc>
                      <a:txBody>
                        <a:bodyPr/>
                        <a:lstStyle/>
                        <a:p>
                          <a:endParaRPr lang="es-CO"/>
                        </a:p>
                      </a:txBody>
                      <a:tcPr>
                        <a:blipFill>
                          <a:blip r:embed="rId5"/>
                          <a:stretch>
                            <a:fillRect l="-56325" t="-1009756" r="-101807" b="-317073"/>
                          </a:stretch>
                        </a:blipFill>
                      </a:tcPr>
                    </a:tc>
                    <a:tc>
                      <a:txBody>
                        <a:bodyPr/>
                        <a:lstStyle/>
                        <a:p>
                          <a:endParaRPr lang="es-CO"/>
                        </a:p>
                      </a:txBody>
                      <a:tcPr>
                        <a:blipFill>
                          <a:blip r:embed="rId5"/>
                          <a:stretch>
                            <a:fillRect l="-154464" t="-1009756" r="-595" b="-317073"/>
                          </a:stretch>
                        </a:blipFill>
                      </a:tcPr>
                    </a:tc>
                    <a:extLst>
                      <a:ext uri="{0D108BD9-81ED-4DB2-BD59-A6C34878D82A}">
                        <a16:rowId xmlns:a16="http://schemas.microsoft.com/office/drawing/2014/main" val="3770911309"/>
                      </a:ext>
                    </a:extLst>
                  </a:tr>
                  <a:tr h="251460">
                    <a:tc>
                      <a:txBody>
                        <a:bodyPr/>
                        <a:lstStyle/>
                        <a:p>
                          <a:r>
                            <a:rPr lang="es-CO" sz="1050" b="1" dirty="0">
                              <a:latin typeface="+mn-lt"/>
                              <a:ea typeface="Roboto" panose="02000000000000000000" pitchFamily="2" charset="0"/>
                            </a:rPr>
                            <a:t>Implicación</a:t>
                          </a:r>
                        </a:p>
                      </a:txBody>
                      <a:tcPr>
                        <a:solidFill>
                          <a:schemeClr val="bg2"/>
                        </a:solidFill>
                      </a:tcPr>
                    </a:tc>
                    <a:tc gridSpan="2">
                      <a:txBody>
                        <a:bodyPr/>
                        <a:lstStyle/>
                        <a:p>
                          <a:endParaRPr lang="es-CO"/>
                        </a:p>
                      </a:txBody>
                      <a:tcPr>
                        <a:blipFill>
                          <a:blip r:embed="rId5"/>
                          <a:stretch>
                            <a:fillRect l="-27994" t="-1109756" r="-299" b="-217073"/>
                          </a:stretch>
                        </a:blipFill>
                      </a:tcPr>
                    </a:tc>
                    <a:tc hMerge="1">
                      <a:txBody>
                        <a:bodyPr/>
                        <a:lstStyle/>
                        <a:p>
                          <a:endParaRPr lang="es-CO"/>
                        </a:p>
                      </a:txBody>
                      <a:tcPr/>
                    </a:tc>
                    <a:extLst>
                      <a:ext uri="{0D108BD9-81ED-4DB2-BD59-A6C34878D82A}">
                        <a16:rowId xmlns:a16="http://schemas.microsoft.com/office/drawing/2014/main" val="3483938044"/>
                      </a:ext>
                    </a:extLst>
                  </a:tr>
                  <a:tr h="251460">
                    <a:tc>
                      <a:txBody>
                        <a:bodyPr/>
                        <a:lstStyle/>
                        <a:p>
                          <a:r>
                            <a:rPr lang="es-CO" sz="1050" b="1" dirty="0">
                              <a:latin typeface="+mn-lt"/>
                              <a:ea typeface="Roboto" panose="02000000000000000000" pitchFamily="2" charset="0"/>
                            </a:rPr>
                            <a:t>Contrarrecíproco</a:t>
                          </a:r>
                        </a:p>
                      </a:txBody>
                      <a:tcPr>
                        <a:solidFill>
                          <a:schemeClr val="bg2"/>
                        </a:solidFill>
                      </a:tcPr>
                    </a:tc>
                    <a:tc gridSpan="2">
                      <a:txBody>
                        <a:bodyPr/>
                        <a:lstStyle/>
                        <a:p>
                          <a:endParaRPr lang="es-CO"/>
                        </a:p>
                      </a:txBody>
                      <a:tcPr>
                        <a:blipFill>
                          <a:blip r:embed="rId5"/>
                          <a:stretch>
                            <a:fillRect l="-27994" t="-1180952" r="-299" b="-111905"/>
                          </a:stretch>
                        </a:blipFill>
                      </a:tcPr>
                    </a:tc>
                    <a:tc hMerge="1">
                      <a:txBody>
                        <a:bodyPr/>
                        <a:lstStyle/>
                        <a:p>
                          <a:endParaRPr lang="es-CO"/>
                        </a:p>
                      </a:txBody>
                      <a:tcPr/>
                    </a:tc>
                    <a:extLst>
                      <a:ext uri="{0D108BD9-81ED-4DB2-BD59-A6C34878D82A}">
                        <a16:rowId xmlns:a16="http://schemas.microsoft.com/office/drawing/2014/main" val="3255506134"/>
                      </a:ext>
                    </a:extLst>
                  </a:tr>
                  <a:tr h="251460">
                    <a:tc>
                      <a:txBody>
                        <a:bodyPr/>
                        <a:lstStyle/>
                        <a:p>
                          <a:r>
                            <a:rPr lang="es-CO" sz="1050" b="1" dirty="0">
                              <a:latin typeface="+mn-lt"/>
                              <a:ea typeface="Roboto" panose="02000000000000000000" pitchFamily="2" charset="0"/>
                            </a:rPr>
                            <a:t>Equivalencia</a:t>
                          </a:r>
                        </a:p>
                      </a:txBody>
                      <a:tcPr>
                        <a:solidFill>
                          <a:schemeClr val="bg2"/>
                        </a:solidFill>
                      </a:tcPr>
                    </a:tc>
                    <a:tc gridSpan="2">
                      <a:txBody>
                        <a:bodyPr/>
                        <a:lstStyle/>
                        <a:p>
                          <a:endParaRPr lang="es-CO"/>
                        </a:p>
                      </a:txBody>
                      <a:tcPr>
                        <a:blipFill>
                          <a:blip r:embed="rId5"/>
                          <a:stretch>
                            <a:fillRect l="-27994" t="-1312195" r="-299" b="-14634"/>
                          </a:stretch>
                        </a:blipFill>
                      </a:tcPr>
                    </a:tc>
                    <a:tc hMerge="1">
                      <a:txBody>
                        <a:bodyPr/>
                        <a:lstStyle/>
                        <a:p>
                          <a:endParaRPr lang="es-CO"/>
                        </a:p>
                      </a:txBody>
                      <a:tcPr/>
                    </a:tc>
                    <a:extLst>
                      <a:ext uri="{0D108BD9-81ED-4DB2-BD59-A6C34878D82A}">
                        <a16:rowId xmlns:a16="http://schemas.microsoft.com/office/drawing/2014/main" val="40457137"/>
                      </a:ext>
                    </a:extLst>
                  </a:tr>
                </a:tbl>
              </a:graphicData>
            </a:graphic>
          </p:graphicFrame>
        </mc:Fallback>
      </mc:AlternateContent>
    </p:spTree>
    <p:extLst>
      <p:ext uri="{BB962C8B-B14F-4D97-AF65-F5344CB8AC3E}">
        <p14:creationId xmlns:p14="http://schemas.microsoft.com/office/powerpoint/2010/main" val="789416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838199" y="226580"/>
            <a:ext cx="10515600" cy="1325563"/>
          </a:xfrm>
        </p:spPr>
        <p:txBody>
          <a:bodyPr/>
          <a:lstStyle/>
          <a:p>
            <a:r>
              <a:rPr lang="es-CO" dirty="0"/>
              <a:t>Ejemplos de repaso - Demostraciones</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360218" y="1375234"/>
                <a:ext cx="11471563" cy="4923965"/>
              </a:xfrm>
            </p:spPr>
            <p:txBody>
              <a:bodyPr>
                <a:normAutofit/>
              </a:bodyPr>
              <a:lstStyle/>
              <a:p>
                <a:pPr marL="457200" indent="-457200">
                  <a:buFont typeface="+mj-lt"/>
                  <a:buAutoNum type="arabicPeriod"/>
                </a:pPr>
                <a:r>
                  <a:rPr lang="es-MX" sz="2200" i="0" dirty="0">
                    <a:effectLst/>
                    <a:latin typeface="Google Sans Text"/>
                    <a:ea typeface="Cambria Math" panose="02040503050406030204" pitchFamily="18" charset="0"/>
                  </a:rPr>
                  <a:t>Demuestre que </a:t>
                </a:r>
                <a14:m>
                  <m:oMath xmlns:m="http://schemas.openxmlformats.org/officeDocument/2006/math">
                    <m:r>
                      <a:rPr lang="es-MX" sz="2200" b="0" i="1" smtClean="0">
                        <a:effectLst/>
                        <a:latin typeface="Cambria Math" panose="02040503050406030204" pitchFamily="18" charset="0"/>
                      </a:rPr>
                      <m:t>¬</m:t>
                    </m:r>
                    <m:d>
                      <m:dPr>
                        <m:ctrlPr>
                          <a:rPr lang="es-MX" sz="2200" b="0" i="1" smtClean="0">
                            <a:effectLst/>
                            <a:latin typeface="Cambria Math" panose="02040503050406030204" pitchFamily="18" charset="0"/>
                          </a:rPr>
                        </m:ctrlPr>
                      </m:dPr>
                      <m:e>
                        <m:d>
                          <m:dPr>
                            <m:ctrlPr>
                              <a:rPr lang="es-MX" sz="2200" b="0" i="1" smtClean="0">
                                <a:effectLst/>
                                <a:latin typeface="Cambria Math" panose="02040503050406030204" pitchFamily="18" charset="0"/>
                              </a:rPr>
                            </m:ctrlPr>
                          </m:dPr>
                          <m:e>
                            <m:r>
                              <a:rPr lang="es-MX" sz="2200" b="0" i="1" smtClean="0">
                                <a:effectLst/>
                                <a:latin typeface="Cambria Math" panose="02040503050406030204" pitchFamily="18" charset="0"/>
                              </a:rPr>
                              <m:t>¬</m:t>
                            </m:r>
                            <m:r>
                              <a:rPr lang="es-MX" sz="2200" b="0" i="1" smtClean="0">
                                <a:effectLst/>
                                <a:latin typeface="Cambria Math" panose="02040503050406030204" pitchFamily="18" charset="0"/>
                              </a:rPr>
                              <m:t>𝑝</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𝑞</m:t>
                            </m:r>
                          </m:e>
                        </m:d>
                        <m:r>
                          <a:rPr lang="es-MX" sz="2200" i="1">
                            <a:latin typeface="Cambria Math" panose="02040503050406030204" pitchFamily="18" charset="0"/>
                            <a:ea typeface="Cambria Math" panose="02040503050406030204" pitchFamily="18" charset="0"/>
                          </a:rPr>
                          <m:t>∨</m:t>
                        </m:r>
                        <m:r>
                          <a:rPr lang="es-MX" sz="2200" b="0" i="1" smtClean="0">
                            <a:effectLst/>
                            <a:latin typeface="Cambria Math" panose="02040503050406030204" pitchFamily="18" charset="0"/>
                            <a:ea typeface="Cambria Math" panose="02040503050406030204" pitchFamily="18" charset="0"/>
                          </a:rPr>
                          <m:t>¬</m:t>
                        </m:r>
                        <m:r>
                          <a:rPr lang="es-MX" sz="2200" b="0" i="1" smtClean="0">
                            <a:effectLst/>
                            <a:latin typeface="Cambria Math" panose="02040503050406030204" pitchFamily="18" charset="0"/>
                            <a:ea typeface="Cambria Math" panose="02040503050406030204" pitchFamily="18" charset="0"/>
                          </a:rPr>
                          <m:t>𝑞</m:t>
                        </m:r>
                      </m:e>
                    </m:d>
                  </m:oMath>
                </a14:m>
                <a:r>
                  <a:rPr lang="es-MX" sz="2200" dirty="0">
                    <a:ea typeface="Cambria Math" panose="02040503050406030204" pitchFamily="18" charset="0"/>
                  </a:rPr>
                  <a:t> es lógicamente equivalente a </a:t>
                </a:r>
                <a14:m>
                  <m:oMath xmlns:m="http://schemas.openxmlformats.org/officeDocument/2006/math">
                    <m:r>
                      <a:rPr lang="es-MX" sz="2200" i="1">
                        <a:latin typeface="Cambria Math" panose="02040503050406030204" pitchFamily="18" charset="0"/>
                        <a:ea typeface="Cambria Math" panose="02040503050406030204" pitchFamily="18" charset="0"/>
                      </a:rPr>
                      <m:t>𝑝</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𝑞</m:t>
                    </m:r>
                  </m:oMath>
                </a14:m>
                <a:endParaRPr lang="es-MX" sz="2200" dirty="0">
                  <a:ea typeface="Cambria Math" panose="02040503050406030204" pitchFamily="18" charset="0"/>
                </a:endParaRPr>
              </a:p>
              <a:p>
                <a:pPr marL="457200" indent="-457200">
                  <a:buFont typeface="+mj-lt"/>
                  <a:buAutoNum type="arabicPeriod"/>
                </a:pPr>
                <a:r>
                  <a:rPr lang="es-MX" sz="2200" dirty="0">
                    <a:ea typeface="Cambria Math" panose="02040503050406030204" pitchFamily="18" charset="0"/>
                  </a:rPr>
                  <a:t>Simplifique la siguiente expresión lógica: </a:t>
                </a:r>
                <a14:m>
                  <m:oMath xmlns:m="http://schemas.openxmlformats.org/officeDocument/2006/math">
                    <m:r>
                      <a:rPr lang="es-MX" sz="2200" b="0" i="0" smtClean="0">
                        <a:effectLst/>
                        <a:latin typeface="Cambria Math" panose="02040503050406030204" pitchFamily="18" charset="0"/>
                      </a:rPr>
                      <m:t>(</m:t>
                    </m:r>
                    <m:r>
                      <a:rPr lang="es-MX" sz="2200" b="0" i="1" smtClean="0">
                        <a:effectLst/>
                        <a:latin typeface="Cambria Math" panose="02040503050406030204" pitchFamily="18" charset="0"/>
                      </a:rPr>
                      <m:t>𝑝</m:t>
                    </m:r>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𝑞</m:t>
                    </m:r>
                    <m:r>
                      <a:rPr lang="es-MX" sz="2200" b="0" i="1" smtClean="0">
                        <a:effectLst/>
                        <a:latin typeface="Cambria Math" panose="02040503050406030204" pitchFamily="18" charset="0"/>
                      </a:rPr>
                      <m:t>)</m:t>
                    </m:r>
                    <m:r>
                      <a:rPr lang="es-MX" sz="2200" i="1" smtClean="0">
                        <a:latin typeface="Cambria Math" panose="02040503050406030204" pitchFamily="18" charset="0"/>
                        <a:ea typeface="Cambria Math" panose="02040503050406030204" pitchFamily="18" charset="0"/>
                      </a:rPr>
                      <m:t> </m:t>
                    </m:r>
                    <m:r>
                      <a:rPr lang="es-MX" sz="2200" i="1">
                        <a:latin typeface="Cambria Math" panose="02040503050406030204" pitchFamily="18" charset="0"/>
                        <a:ea typeface="Cambria Math" panose="02040503050406030204" pitchFamily="18" charset="0"/>
                      </a:rPr>
                      <m:t>∧</m:t>
                    </m:r>
                    <m:d>
                      <m:dPr>
                        <m:ctrlPr>
                          <a:rPr lang="es-MX" sz="2200" b="0" i="1" smtClean="0">
                            <a:effectLst/>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𝑝</m:t>
                        </m:r>
                        <m:r>
                          <a:rPr lang="es-MX" sz="2200" i="1">
                            <a:latin typeface="Cambria Math" panose="02040503050406030204" pitchFamily="18" charset="0"/>
                            <a:ea typeface="Cambria Math" panose="02040503050406030204" pitchFamily="18" charset="0"/>
                          </a:rPr>
                          <m:t>∨¬</m:t>
                        </m:r>
                        <m:r>
                          <a:rPr lang="es-MX" sz="2200" b="0" i="1" smtClean="0">
                            <a:effectLst/>
                            <a:latin typeface="Cambria Math" panose="02040503050406030204" pitchFamily="18" charset="0"/>
                            <a:ea typeface="Cambria Math" panose="02040503050406030204" pitchFamily="18" charset="0"/>
                          </a:rPr>
                          <m:t>𝑞</m:t>
                        </m:r>
                      </m:e>
                    </m:d>
                  </m:oMath>
                </a14:m>
                <a:r>
                  <a:rPr lang="es-MX" sz="2200" dirty="0">
                    <a:ea typeface="Cambria Math" panose="02040503050406030204" pitchFamily="18" charset="0"/>
                  </a:rPr>
                  <a:t> </a:t>
                </a:r>
              </a:p>
              <a:p>
                <a:pPr marL="457200" indent="-457200">
                  <a:buFont typeface="+mj-lt"/>
                  <a:buAutoNum type="arabicPeriod"/>
                </a:pPr>
                <a:r>
                  <a:rPr lang="es-MX" sz="2200" dirty="0">
                    <a:ea typeface="Cambria Math" panose="02040503050406030204" pitchFamily="18" charset="0"/>
                  </a:rPr>
                  <a:t>Demostrar que </a:t>
                </a:r>
                <a14:m>
                  <m:oMath xmlns:m="http://schemas.openxmlformats.org/officeDocument/2006/math">
                    <m:r>
                      <a:rPr lang="es-MX" sz="2200" b="0" i="1" smtClean="0">
                        <a:effectLst/>
                        <a:latin typeface="Cambria Math" panose="02040503050406030204" pitchFamily="18" charset="0"/>
                        <a:ea typeface="Cambria Math" panose="02040503050406030204" pitchFamily="18" charset="0"/>
                      </a:rPr>
                      <m:t>𝑝</m:t>
                    </m:r>
                    <m:r>
                      <a:rPr lang="es-MX" sz="2200" b="0" i="0" smtClean="0">
                        <a:effectLst/>
                        <a:latin typeface="Cambria Math" panose="02040503050406030204" pitchFamily="18" charset="0"/>
                        <a:ea typeface="Cambria Math" panose="02040503050406030204" pitchFamily="18" charset="0"/>
                      </a:rPr>
                      <m:t>→</m:t>
                    </m:r>
                    <m:d>
                      <m:dPr>
                        <m:ctrlPr>
                          <a:rPr lang="es-MX" sz="2200" b="0" i="1" smtClean="0">
                            <a:effectLst/>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Cambria Math" panose="02040503050406030204" pitchFamily="18" charset="0"/>
                          </a:rPr>
                          <m:t>𝑞</m:t>
                        </m:r>
                        <m:r>
                          <a:rPr lang="es-MX" sz="2200" b="0" i="1" smtClean="0">
                            <a:latin typeface="Cambria Math" panose="02040503050406030204" pitchFamily="18" charset="0"/>
                            <a:ea typeface="Cambria Math" panose="02040503050406030204" pitchFamily="18" charset="0"/>
                          </a:rPr>
                          <m:t>→</m:t>
                        </m:r>
                        <m:r>
                          <a:rPr lang="es-MX" sz="2200" b="0" i="1" smtClean="0">
                            <a:effectLst/>
                            <a:latin typeface="Cambria Math" panose="02040503050406030204" pitchFamily="18" charset="0"/>
                            <a:ea typeface="Cambria Math" panose="02040503050406030204" pitchFamily="18" charset="0"/>
                          </a:rPr>
                          <m:t>𝑟</m:t>
                        </m:r>
                      </m:e>
                    </m:d>
                    <m:r>
                      <a:rPr lang="es-MX" sz="2200" b="0" i="1" smtClean="0">
                        <a:effectLst/>
                        <a:latin typeface="Cambria Math" panose="02040503050406030204" pitchFamily="18" charset="0"/>
                        <a:ea typeface="Cambria Math" panose="02040503050406030204" pitchFamily="18" charset="0"/>
                      </a:rPr>
                      <m:t>≡</m:t>
                    </m:r>
                    <m:d>
                      <m:dPr>
                        <m:ctrlPr>
                          <a:rPr lang="es-MX" sz="2200" b="0" i="1" smtClean="0">
                            <a:effectLst/>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𝑝</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𝑞</m:t>
                        </m:r>
                      </m:e>
                    </m:d>
                    <m:r>
                      <a:rPr lang="es-MX" sz="2200" b="0" i="1" smtClean="0">
                        <a:effectLst/>
                        <a:latin typeface="Cambria Math" panose="02040503050406030204" pitchFamily="18" charset="0"/>
                        <a:ea typeface="Cambria Math" panose="02040503050406030204" pitchFamily="18" charset="0"/>
                      </a:rPr>
                      <m:t>→</m:t>
                    </m:r>
                    <m:r>
                      <a:rPr lang="es-MX" sz="2200" b="0" i="1" smtClean="0">
                        <a:effectLst/>
                        <a:latin typeface="Cambria Math" panose="02040503050406030204" pitchFamily="18" charset="0"/>
                        <a:ea typeface="Cambria Math" panose="02040503050406030204" pitchFamily="18" charset="0"/>
                      </a:rPr>
                      <m:t>𝑟</m:t>
                    </m:r>
                  </m:oMath>
                </a14:m>
                <a:endParaRPr lang="es-MX" sz="2200" dirty="0">
                  <a:ea typeface="Cambria Math" panose="02040503050406030204" pitchFamily="18" charset="0"/>
                </a:endParaRPr>
              </a:p>
              <a:p>
                <a:pPr marL="457200" indent="-457200">
                  <a:buFont typeface="+mj-lt"/>
                  <a:buAutoNum type="arabicPeriod"/>
                </a:pPr>
                <a:r>
                  <a:rPr lang="es-MX" sz="2200" dirty="0">
                    <a:ea typeface="Cambria Math" panose="02040503050406030204" pitchFamily="18" charset="0"/>
                  </a:rPr>
                  <a:t>Demostrar que </a:t>
                </a:r>
                <a14:m>
                  <m:oMath xmlns:m="http://schemas.openxmlformats.org/officeDocument/2006/math">
                    <m:d>
                      <m:dPr>
                        <m:begChr m:val="["/>
                        <m:endChr m:val="]"/>
                        <m:ctrlPr>
                          <a:rPr lang="es-MX" sz="2200" b="0" i="0" smtClean="0">
                            <a:effectLst/>
                            <a:latin typeface="Cambria Math" panose="02040503050406030204" pitchFamily="18" charset="0"/>
                            <a:ea typeface="Cambria Math" panose="02040503050406030204" pitchFamily="18" charset="0"/>
                          </a:rPr>
                        </m:ctrlPr>
                      </m:dPr>
                      <m:e>
                        <m:d>
                          <m:dPr>
                            <m:ctrlPr>
                              <a:rPr lang="es-MX" sz="2200" b="0" i="1" smtClean="0">
                                <a:effectLst/>
                                <a:latin typeface="Cambria Math" panose="02040503050406030204" pitchFamily="18" charset="0"/>
                                <a:ea typeface="Cambria Math" panose="02040503050406030204" pitchFamily="18" charset="0"/>
                              </a:rPr>
                            </m:ctrlPr>
                          </m:dPr>
                          <m:e>
                            <m:r>
                              <a:rPr lang="es-MX" sz="2200" b="0" i="1" smtClean="0">
                                <a:effectLst/>
                                <a:latin typeface="Cambria Math" panose="02040503050406030204" pitchFamily="18" charset="0"/>
                                <a:ea typeface="Cambria Math" panose="02040503050406030204" pitchFamily="18" charset="0"/>
                              </a:rPr>
                              <m:t>𝑝</m:t>
                            </m:r>
                            <m:r>
                              <a:rPr lang="es-MX" sz="2200" b="0" i="1" smtClean="0">
                                <a:effectLst/>
                                <a:latin typeface="Cambria Math" panose="02040503050406030204" pitchFamily="18" charset="0"/>
                                <a:ea typeface="Cambria Math" panose="02040503050406030204" pitchFamily="18" charset="0"/>
                              </a:rPr>
                              <m:t>→</m:t>
                            </m:r>
                            <m:r>
                              <a:rPr lang="es-MX" sz="2200" b="0" i="1" smtClean="0">
                                <a:effectLst/>
                                <a:latin typeface="Cambria Math" panose="02040503050406030204" pitchFamily="18" charset="0"/>
                                <a:ea typeface="Cambria Math" panose="02040503050406030204" pitchFamily="18" charset="0"/>
                              </a:rPr>
                              <m:t>𝑞</m:t>
                            </m:r>
                          </m:e>
                        </m:d>
                        <m:r>
                          <a:rPr lang="es-MX" sz="2200" i="1">
                            <a:latin typeface="Cambria Math" panose="02040503050406030204" pitchFamily="18" charset="0"/>
                            <a:ea typeface="Cambria Math" panose="02040503050406030204" pitchFamily="18" charset="0"/>
                          </a:rPr>
                          <m:t>∧</m:t>
                        </m:r>
                        <m:d>
                          <m:dPr>
                            <m:ctrlPr>
                              <a:rPr lang="es-MX" sz="2200" b="0" i="1" smtClean="0">
                                <a:latin typeface="Cambria Math" panose="02040503050406030204" pitchFamily="18" charset="0"/>
                                <a:ea typeface="Cambria Math" panose="02040503050406030204" pitchFamily="18" charset="0"/>
                              </a:rPr>
                            </m:ctrlPr>
                          </m:dPr>
                          <m:e>
                            <m:r>
                              <a:rPr lang="es-MX" sz="2200" b="0" i="1" smtClean="0">
                                <a:latin typeface="Cambria Math" panose="02040503050406030204" pitchFamily="18" charset="0"/>
                                <a:ea typeface="Cambria Math" panose="02040503050406030204" pitchFamily="18" charset="0"/>
                              </a:rPr>
                              <m:t>𝑞</m:t>
                            </m:r>
                            <m:r>
                              <a:rPr lang="es-MX" sz="2200" b="0" i="1" smtClean="0">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𝑟</m:t>
                            </m:r>
                          </m:e>
                        </m:d>
                      </m:e>
                    </m:d>
                    <m:r>
                      <a:rPr lang="es-MX" sz="2200" b="0" i="1" smtClean="0">
                        <a:effectLst/>
                        <a:latin typeface="Cambria Math" panose="02040503050406030204" pitchFamily="18" charset="0"/>
                        <a:ea typeface="Cambria Math" panose="02040503050406030204" pitchFamily="18" charset="0"/>
                      </a:rPr>
                      <m:t>→(</m:t>
                    </m:r>
                    <m:r>
                      <a:rPr lang="es-MX" sz="2200" b="0" i="1" smtClean="0">
                        <a:effectLst/>
                        <a:latin typeface="Cambria Math" panose="02040503050406030204" pitchFamily="18" charset="0"/>
                        <a:ea typeface="Cambria Math" panose="02040503050406030204" pitchFamily="18" charset="0"/>
                      </a:rPr>
                      <m:t>𝑝</m:t>
                    </m:r>
                    <m:r>
                      <a:rPr lang="es-MX" sz="2200" b="0" i="1" smtClean="0">
                        <a:effectLst/>
                        <a:latin typeface="Cambria Math" panose="02040503050406030204" pitchFamily="18" charset="0"/>
                        <a:ea typeface="Cambria Math" panose="02040503050406030204" pitchFamily="18" charset="0"/>
                      </a:rPr>
                      <m:t>→</m:t>
                    </m:r>
                    <m:r>
                      <a:rPr lang="es-MX" sz="2200" b="0" i="1" smtClean="0">
                        <a:effectLst/>
                        <a:latin typeface="Cambria Math" panose="02040503050406030204" pitchFamily="18" charset="0"/>
                        <a:ea typeface="Cambria Math" panose="02040503050406030204" pitchFamily="18" charset="0"/>
                      </a:rPr>
                      <m:t>𝑟</m:t>
                    </m:r>
                    <m:r>
                      <a:rPr lang="es-MX" sz="2200" b="0" i="1" smtClean="0">
                        <a:effectLst/>
                        <a:latin typeface="Cambria Math" panose="02040503050406030204" pitchFamily="18" charset="0"/>
                        <a:ea typeface="Cambria Math" panose="02040503050406030204" pitchFamily="18" charset="0"/>
                      </a:rPr>
                      <m:t>)</m:t>
                    </m:r>
                  </m:oMath>
                </a14:m>
                <a:r>
                  <a:rPr lang="es-MX" sz="2200" b="0" dirty="0">
                    <a:effectLst/>
                    <a:ea typeface="Cambria Math" panose="02040503050406030204" pitchFamily="18" charset="0"/>
                  </a:rPr>
                  <a:t> es una tautología.</a:t>
                </a:r>
              </a:p>
              <a:p>
                <a:pPr marL="457200" indent="-457200">
                  <a:buFont typeface="+mj-lt"/>
                  <a:buAutoNum type="arabicPeriod"/>
                </a:pPr>
                <a:r>
                  <a:rPr lang="es-MX" sz="2200" dirty="0">
                    <a:ea typeface="Cambria Math" panose="02040503050406030204" pitchFamily="18" charset="0"/>
                  </a:rPr>
                  <a:t>Demuestre que </a:t>
                </a:r>
                <a14:m>
                  <m:oMath xmlns:m="http://schemas.openxmlformats.org/officeDocument/2006/math">
                    <m:d>
                      <m:dPr>
                        <m:ctrlPr>
                          <a:rPr lang="es-MX" sz="2200" b="0" i="1" smtClean="0">
                            <a:effectLst/>
                            <a:latin typeface="Cambria Math" panose="02040503050406030204" pitchFamily="18" charset="0"/>
                            <a:ea typeface="Cambria Math" panose="02040503050406030204" pitchFamily="18" charset="0"/>
                          </a:rPr>
                        </m:ctrlPr>
                      </m:dPr>
                      <m:e>
                        <m:d>
                          <m:dPr>
                            <m:ctrlPr>
                              <a:rPr lang="es-MX" sz="2200" b="0" i="1" smtClean="0">
                                <a:effectLst/>
                                <a:latin typeface="Cambria Math" panose="02040503050406030204" pitchFamily="18" charset="0"/>
                                <a:ea typeface="Cambria Math" panose="02040503050406030204" pitchFamily="18" charset="0"/>
                              </a:rPr>
                            </m:ctrlPr>
                          </m:dPr>
                          <m:e>
                            <m:r>
                              <a:rPr lang="es-MX" sz="2200" b="0" i="1" smtClean="0">
                                <a:effectLst/>
                                <a:latin typeface="Cambria Math" panose="02040503050406030204" pitchFamily="18" charset="0"/>
                                <a:ea typeface="Cambria Math" panose="02040503050406030204" pitchFamily="18" charset="0"/>
                              </a:rPr>
                              <m:t>𝑝</m:t>
                            </m:r>
                            <m:r>
                              <a:rPr lang="es-MX" sz="2200" b="0" i="1" smtClean="0">
                                <a:effectLst/>
                                <a:latin typeface="Cambria Math" panose="02040503050406030204" pitchFamily="18" charset="0"/>
                                <a:ea typeface="Cambria Math" panose="02040503050406030204" pitchFamily="18" charset="0"/>
                              </a:rPr>
                              <m:t>→</m:t>
                            </m:r>
                            <m:r>
                              <a:rPr lang="es-MX" sz="2200" b="0" i="1" smtClean="0">
                                <a:effectLst/>
                                <a:latin typeface="Cambria Math" panose="02040503050406030204" pitchFamily="18" charset="0"/>
                                <a:ea typeface="Cambria Math" panose="02040503050406030204" pitchFamily="18" charset="0"/>
                              </a:rPr>
                              <m:t>𝑞</m:t>
                            </m:r>
                          </m:e>
                        </m:d>
                        <m:r>
                          <a:rPr lang="es-MX" sz="2200" i="1">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𝑞</m:t>
                        </m:r>
                      </m:e>
                    </m:d>
                    <m:r>
                      <a:rPr lang="es-MX" sz="2200" b="0" i="1" smtClean="0">
                        <a:effectLst/>
                        <a:latin typeface="Cambria Math" panose="02040503050406030204" pitchFamily="18" charset="0"/>
                        <a:ea typeface="Cambria Math" panose="02040503050406030204" pitchFamily="18" charset="0"/>
                      </a:rPr>
                      <m:t>→</m:t>
                    </m:r>
                    <m:r>
                      <a:rPr lang="es-MX" sz="2200" b="0" i="1" smtClean="0">
                        <a:effectLst/>
                        <a:latin typeface="Cambria Math" panose="02040503050406030204" pitchFamily="18" charset="0"/>
                        <a:ea typeface="Cambria Math" panose="02040503050406030204" pitchFamily="18" charset="0"/>
                      </a:rPr>
                      <m:t>¬</m:t>
                    </m:r>
                    <m:r>
                      <a:rPr lang="es-MX" sz="2200" b="0" i="1" smtClean="0">
                        <a:effectLst/>
                        <a:latin typeface="Cambria Math" panose="02040503050406030204" pitchFamily="18" charset="0"/>
                        <a:ea typeface="Cambria Math" panose="02040503050406030204" pitchFamily="18" charset="0"/>
                      </a:rPr>
                      <m:t>𝑝</m:t>
                    </m:r>
                  </m:oMath>
                </a14:m>
                <a:r>
                  <a:rPr lang="es-MX" sz="2200" dirty="0">
                    <a:ea typeface="Cambria Math" panose="02040503050406030204" pitchFamily="18" charset="0"/>
                  </a:rPr>
                  <a:t> es una tautología.</a:t>
                </a:r>
              </a:p>
              <a:p>
                <a:pPr marL="457200" indent="-457200">
                  <a:buFont typeface="+mj-lt"/>
                  <a:buAutoNum type="arabicPeriod"/>
                </a:pPr>
                <a:r>
                  <a:rPr lang="es-MX" sz="2200" b="1" dirty="0">
                    <a:ea typeface="Cambria Math" panose="02040503050406030204" pitchFamily="18" charset="0"/>
                  </a:rPr>
                  <a:t>Verdadero o falso</a:t>
                </a:r>
                <a:r>
                  <a:rPr lang="es-MX" sz="2200" dirty="0">
                    <a:ea typeface="Cambria Math" panose="02040503050406030204" pitchFamily="18" charset="0"/>
                  </a:rPr>
                  <a:t>: La negación de “Si Susana es la madre de Luis, entonces, Ali es su primo” es “Si Ali no es primo de Luis, entonces, Susana no es la madre de Luis”.</a:t>
                </a:r>
              </a:p>
              <a:p>
                <a:pPr marL="457200" indent="-457200">
                  <a:buFont typeface="+mj-lt"/>
                  <a:buAutoNum type="arabicPeriod"/>
                </a:pPr>
                <a:endParaRPr lang="es-MX" sz="2200" dirty="0">
                  <a:ea typeface="Cambria Math" panose="02040503050406030204" pitchFamily="18" charset="0"/>
                </a:endParaRPr>
              </a:p>
              <a:p>
                <a:pPr marL="457200" indent="-457200">
                  <a:buFont typeface="+mj-lt"/>
                  <a:buAutoNum type="arabicPeriod"/>
                </a:pPr>
                <a:endParaRPr lang="es-MX" sz="2200" dirty="0">
                  <a:ea typeface="Cambria Math" panose="02040503050406030204" pitchFamily="18" charset="0"/>
                </a:endParaRPr>
              </a:p>
              <a:p>
                <a:pPr lvl="1"/>
                <a:endParaRPr lang="es-MX" sz="2200" b="0" i="0" dirty="0">
                  <a:solidFill>
                    <a:srgbClr val="131314"/>
                  </a:solidFill>
                  <a:effectLst/>
                  <a:latin typeface="Google Sans Text"/>
                </a:endParaRPr>
              </a:p>
              <a:p>
                <a:pPr marL="0" indent="0">
                  <a:buNone/>
                </a:pPr>
                <a:endParaRPr lang="es-MX" sz="2200" dirty="0"/>
              </a:p>
            </p:txBody>
          </p:sp>
        </mc:Choice>
        <mc:Fallback>
          <p:sp>
            <p:nvSpPr>
              <p:cNvPr id="3" name="Marcador de contenido 2">
                <a:extLst>
                  <a:ext uri="{FF2B5EF4-FFF2-40B4-BE49-F238E27FC236}">
                    <a16:creationId xmlns:a16="http://schemas.microsoft.com/office/drawing/2014/main" id="{8C611C1C-AB20-4127-87E3-88401D8503D0}"/>
                  </a:ext>
                </a:extLst>
              </p:cNvPr>
              <p:cNvSpPr>
                <a:spLocks noGrp="1" noRot="1" noChangeAspect="1" noMove="1" noResize="1" noEditPoints="1" noAdjustHandles="1" noChangeArrowheads="1" noChangeShapeType="1" noTextEdit="1"/>
              </p:cNvSpPr>
              <p:nvPr>
                <p:ph idx="1"/>
              </p:nvPr>
            </p:nvSpPr>
            <p:spPr>
              <a:xfrm>
                <a:off x="360218" y="1375234"/>
                <a:ext cx="11471563" cy="4923965"/>
              </a:xfrm>
              <a:blipFill>
                <a:blip r:embed="rId2"/>
                <a:stretch>
                  <a:fillRect l="-691" t="-1115" r="-213"/>
                </a:stretch>
              </a:blipFill>
            </p:spPr>
            <p:txBody>
              <a:bodyPr/>
              <a:lstStyle/>
              <a:p>
                <a:r>
                  <a:rPr lang="es-CO">
                    <a:noFill/>
                  </a:rPr>
                  <a:t> </a:t>
                </a:r>
              </a:p>
            </p:txBody>
          </p:sp>
        </mc:Fallback>
      </mc:AlternateContent>
    </p:spTree>
    <p:extLst>
      <p:ext uri="{BB962C8B-B14F-4D97-AF65-F5344CB8AC3E}">
        <p14:creationId xmlns:p14="http://schemas.microsoft.com/office/powerpoint/2010/main" val="152652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838199" y="226580"/>
            <a:ext cx="10515600" cy="1325563"/>
          </a:xfrm>
        </p:spPr>
        <p:txBody>
          <a:bodyPr/>
          <a:lstStyle/>
          <a:p>
            <a:r>
              <a:rPr lang="es-CO" dirty="0"/>
              <a:t>Ejemplos de repaso - Demostraciones</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360218" y="1375234"/>
                <a:ext cx="11471563" cy="395509"/>
              </a:xfrm>
            </p:spPr>
            <p:txBody>
              <a:bodyPr>
                <a:noAutofit/>
              </a:bodyPr>
              <a:lstStyle/>
              <a:p>
                <a:pPr marL="457200" indent="-457200">
                  <a:buFont typeface="+mj-lt"/>
                  <a:buAutoNum type="arabicPeriod"/>
                </a:pPr>
                <a:r>
                  <a:rPr lang="es-MX" sz="2200" dirty="0">
                    <a:latin typeface="Google Sans Text"/>
                    <a:ea typeface="Cambria Math" panose="02040503050406030204" pitchFamily="18" charset="0"/>
                  </a:rPr>
                  <a:t>Demuestre que </a:t>
                </a:r>
                <a14:m>
                  <m:oMath xmlns:m="http://schemas.openxmlformats.org/officeDocument/2006/math">
                    <m:r>
                      <a:rPr lang="es-MX" sz="2200" i="1">
                        <a:latin typeface="Cambria Math" panose="02040503050406030204" pitchFamily="18" charset="0"/>
                      </a:rPr>
                      <m:t>¬</m:t>
                    </m:r>
                    <m:d>
                      <m:dPr>
                        <m:ctrlPr>
                          <a:rPr lang="es-MX" sz="2200" i="1">
                            <a:latin typeface="Cambria Math" panose="02040503050406030204" pitchFamily="18" charset="0"/>
                          </a:rPr>
                        </m:ctrlPr>
                      </m:dPr>
                      <m:e>
                        <m:d>
                          <m:dPr>
                            <m:ctrlPr>
                              <a:rPr lang="es-MX" sz="2200" i="1">
                                <a:latin typeface="Cambria Math" panose="02040503050406030204" pitchFamily="18" charset="0"/>
                              </a:rPr>
                            </m:ctrlPr>
                          </m:dPr>
                          <m:e>
                            <m:r>
                              <a:rPr lang="es-MX" sz="2200" i="1">
                                <a:latin typeface="Cambria Math" panose="02040503050406030204" pitchFamily="18" charset="0"/>
                              </a:rPr>
                              <m:t>¬</m:t>
                            </m:r>
                            <m:r>
                              <a:rPr lang="es-MX" sz="2200" i="1">
                                <a:latin typeface="Cambria Math" panose="02040503050406030204" pitchFamily="18" charset="0"/>
                              </a:rPr>
                              <m:t>𝑝</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𝑞</m:t>
                            </m:r>
                          </m:e>
                        </m:d>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𝑞</m:t>
                        </m:r>
                      </m:e>
                    </m:d>
                  </m:oMath>
                </a14:m>
                <a:r>
                  <a:rPr lang="es-MX" sz="2200" dirty="0">
                    <a:ea typeface="Cambria Math" panose="02040503050406030204" pitchFamily="18" charset="0"/>
                  </a:rPr>
                  <a:t> es lógicamente equivalente a </a:t>
                </a:r>
                <a14:m>
                  <m:oMath xmlns:m="http://schemas.openxmlformats.org/officeDocument/2006/math">
                    <m:r>
                      <a:rPr lang="es-MX" sz="2200" i="1">
                        <a:latin typeface="Cambria Math" panose="02040503050406030204" pitchFamily="18" charset="0"/>
                        <a:ea typeface="Cambria Math" panose="02040503050406030204" pitchFamily="18" charset="0"/>
                      </a:rPr>
                      <m:t>𝑝</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𝑞</m:t>
                    </m:r>
                  </m:oMath>
                </a14:m>
                <a:endParaRPr lang="es-MX" sz="2200" dirty="0">
                  <a:ea typeface="Cambria Math" panose="02040503050406030204" pitchFamily="18" charset="0"/>
                </a:endParaRPr>
              </a:p>
            </p:txBody>
          </p:sp>
        </mc:Choice>
        <mc:Fallback>
          <p:sp>
            <p:nvSpPr>
              <p:cNvPr id="3" name="Marcador de contenido 2">
                <a:extLst>
                  <a:ext uri="{FF2B5EF4-FFF2-40B4-BE49-F238E27FC236}">
                    <a16:creationId xmlns:a16="http://schemas.microsoft.com/office/drawing/2014/main" id="{8C611C1C-AB20-4127-87E3-88401D8503D0}"/>
                  </a:ext>
                </a:extLst>
              </p:cNvPr>
              <p:cNvSpPr>
                <a:spLocks noGrp="1" noRot="1" noChangeAspect="1" noMove="1" noResize="1" noEditPoints="1" noAdjustHandles="1" noChangeArrowheads="1" noChangeShapeType="1" noTextEdit="1"/>
              </p:cNvSpPr>
              <p:nvPr>
                <p:ph idx="1"/>
              </p:nvPr>
            </p:nvSpPr>
            <p:spPr>
              <a:xfrm>
                <a:off x="360218" y="1375234"/>
                <a:ext cx="11471563" cy="395509"/>
              </a:xfrm>
              <a:blipFill>
                <a:blip r:embed="rId2"/>
                <a:stretch>
                  <a:fillRect l="-691" t="-14063" b="-40625"/>
                </a:stretch>
              </a:blipFill>
            </p:spPr>
            <p:txBody>
              <a:bodyPr/>
              <a:lstStyle/>
              <a:p>
                <a:r>
                  <a:rPr lang="es-CO">
                    <a:noFill/>
                  </a:rPr>
                  <a:t> </a:t>
                </a:r>
              </a:p>
            </p:txBody>
          </p:sp>
        </mc:Fallback>
      </mc:AlternateContent>
      <p:sp>
        <p:nvSpPr>
          <p:cNvPr id="4" name="CuadroTexto 3">
            <a:extLst>
              <a:ext uri="{FF2B5EF4-FFF2-40B4-BE49-F238E27FC236}">
                <a16:creationId xmlns:a16="http://schemas.microsoft.com/office/drawing/2014/main" id="{1D3912C2-3697-471A-82B3-BAD9EDE84B34}"/>
              </a:ext>
            </a:extLst>
          </p:cNvPr>
          <p:cNvSpPr txBox="1"/>
          <p:nvPr/>
        </p:nvSpPr>
        <p:spPr>
          <a:xfrm>
            <a:off x="360218" y="1889194"/>
            <a:ext cx="1628239" cy="430887"/>
          </a:xfrm>
          <a:prstGeom prst="rect">
            <a:avLst/>
          </a:prstGeom>
          <a:noFill/>
        </p:spPr>
        <p:txBody>
          <a:bodyPr wrap="square" rtlCol="0">
            <a:spAutoFit/>
          </a:bodyPr>
          <a:lstStyle/>
          <a:p>
            <a:r>
              <a:rPr lang="es-CO" sz="2200" b="1" dirty="0"/>
              <a:t>Solución</a:t>
            </a:r>
          </a:p>
        </p:txBody>
      </p:sp>
      <p:graphicFrame>
        <p:nvGraphicFramePr>
          <p:cNvPr id="5" name="Tabla 2">
            <a:extLst>
              <a:ext uri="{FF2B5EF4-FFF2-40B4-BE49-F238E27FC236}">
                <a16:creationId xmlns:a16="http://schemas.microsoft.com/office/drawing/2014/main" id="{BDC7B22B-D7CC-45D7-94CD-69736AA79293}"/>
              </a:ext>
            </a:extLst>
          </p:cNvPr>
          <p:cNvGraphicFramePr>
            <a:graphicFrameLocks noGrp="1"/>
          </p:cNvGraphicFramePr>
          <p:nvPr>
            <p:extLst>
              <p:ext uri="{D42A27DB-BD31-4B8C-83A1-F6EECF244321}">
                <p14:modId xmlns:p14="http://schemas.microsoft.com/office/powerpoint/2010/main" val="2314369394"/>
              </p:ext>
            </p:extLst>
          </p:nvPr>
        </p:nvGraphicFramePr>
        <p:xfrm>
          <a:off x="5762171" y="2170853"/>
          <a:ext cx="6069609" cy="4145280"/>
        </p:xfrm>
        <a:graphic>
          <a:graphicData uri="http://schemas.openxmlformats.org/drawingml/2006/table">
            <a:tbl>
              <a:tblPr firstRow="1" bandRow="1"/>
              <a:tblGrid>
                <a:gridCol w="593633">
                  <a:extLst>
                    <a:ext uri="{9D8B030D-6E8A-4147-A177-3AD203B41FA5}">
                      <a16:colId xmlns:a16="http://schemas.microsoft.com/office/drawing/2014/main" val="847383059"/>
                    </a:ext>
                  </a:extLst>
                </a:gridCol>
                <a:gridCol w="1611294">
                  <a:extLst>
                    <a:ext uri="{9D8B030D-6E8A-4147-A177-3AD203B41FA5}">
                      <a16:colId xmlns:a16="http://schemas.microsoft.com/office/drawing/2014/main" val="2194526293"/>
                    </a:ext>
                  </a:extLst>
                </a:gridCol>
                <a:gridCol w="3864682">
                  <a:extLst>
                    <a:ext uri="{9D8B030D-6E8A-4147-A177-3AD203B41FA5}">
                      <a16:colId xmlns:a16="http://schemas.microsoft.com/office/drawing/2014/main" val="4281859008"/>
                    </a:ext>
                  </a:extLst>
                </a:gridCol>
              </a:tblGrid>
              <a:tr h="336320">
                <a:tc>
                  <a:txBody>
                    <a:bodyPr/>
                    <a:lstStyle/>
                    <a:p>
                      <a:pPr algn="ct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3788432"/>
                  </a:ext>
                </a:extLst>
              </a:tr>
              <a:tr h="370840">
                <a:tc>
                  <a:txBody>
                    <a:bodyPr/>
                    <a:lstStyle/>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s-CO" sz="16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343470127"/>
                  </a:ext>
                </a:extLst>
              </a:tr>
            </a:tbl>
          </a:graphicData>
        </a:graphic>
      </p:graphicFrame>
      <mc:AlternateContent xmlns:mc="http://schemas.openxmlformats.org/markup-compatibility/2006">
        <mc:Choice xmlns:a14="http://schemas.microsoft.com/office/drawing/2010/main" Requires="a14">
          <p:graphicFrame>
            <p:nvGraphicFramePr>
              <p:cNvPr id="7" name="Tabla 3">
                <a:extLst>
                  <a:ext uri="{FF2B5EF4-FFF2-40B4-BE49-F238E27FC236}">
                    <a16:creationId xmlns:a16="http://schemas.microsoft.com/office/drawing/2014/main" id="{14FCBA57-D9A8-434D-9021-0776BD9A6548}"/>
                  </a:ext>
                </a:extLst>
              </p:cNvPr>
              <p:cNvGraphicFramePr>
                <a:graphicFrameLocks noGrp="1"/>
              </p:cNvGraphicFramePr>
              <p:nvPr>
                <p:extLst>
                  <p:ext uri="{D42A27DB-BD31-4B8C-83A1-F6EECF244321}">
                    <p14:modId xmlns:p14="http://schemas.microsoft.com/office/powerpoint/2010/main" val="3845450045"/>
                  </p:ext>
                </p:extLst>
              </p:nvPr>
            </p:nvGraphicFramePr>
            <p:xfrm>
              <a:off x="360218" y="2483273"/>
              <a:ext cx="5198754" cy="3520440"/>
            </p:xfrm>
            <a:graphic>
              <a:graphicData uri="http://schemas.openxmlformats.org/drawingml/2006/table">
                <a:tbl>
                  <a:tblPr firstRow="1" bandRow="1"/>
                  <a:tblGrid>
                    <a:gridCol w="1132612">
                      <a:extLst>
                        <a:ext uri="{9D8B030D-6E8A-4147-A177-3AD203B41FA5}">
                          <a16:colId xmlns:a16="http://schemas.microsoft.com/office/drawing/2014/main" val="2419793140"/>
                        </a:ext>
                      </a:extLst>
                    </a:gridCol>
                    <a:gridCol w="2020666">
                      <a:extLst>
                        <a:ext uri="{9D8B030D-6E8A-4147-A177-3AD203B41FA5}">
                          <a16:colId xmlns:a16="http://schemas.microsoft.com/office/drawing/2014/main" val="2761119023"/>
                        </a:ext>
                      </a:extLst>
                    </a:gridCol>
                    <a:gridCol w="2045476">
                      <a:extLst>
                        <a:ext uri="{9D8B030D-6E8A-4147-A177-3AD203B41FA5}">
                          <a16:colId xmlns:a16="http://schemas.microsoft.com/office/drawing/2014/main" val="180266477"/>
                        </a:ext>
                      </a:extLst>
                    </a:gridCol>
                  </a:tblGrid>
                  <a:tr h="0">
                    <a:tc>
                      <a:txBody>
                        <a:bodyPr/>
                        <a:lstStyle/>
                        <a:p>
                          <a:r>
                            <a:rPr lang="es-CO" sz="1050" b="1" dirty="0">
                              <a:latin typeface="+mn-lt"/>
                              <a:ea typeface="Roboto" panose="02000000000000000000" pitchFamily="2" charset="0"/>
                            </a:rPr>
                            <a:t>Nombre</a:t>
                          </a:r>
                        </a:p>
                      </a:txBody>
                      <a:tcPr>
                        <a:solidFill>
                          <a:schemeClr val="bg2"/>
                        </a:solidFill>
                      </a:tcPr>
                    </a:tc>
                    <a:tc gridSpan="2">
                      <a:txBody>
                        <a:bodyPr/>
                        <a:lstStyle/>
                        <a:p>
                          <a:pPr algn="ctr"/>
                          <a:r>
                            <a:rPr lang="es-CO" sz="105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133681">
                    <a:tc>
                      <a:txBody>
                        <a:bodyPr/>
                        <a:lstStyle/>
                        <a:p>
                          <a:r>
                            <a:rPr lang="es-CO" sz="1050" b="1" dirty="0">
                              <a:latin typeface="+mn-lt"/>
                              <a:ea typeface="Roboto" panose="02000000000000000000" pitchFamily="2" charset="0"/>
                            </a:rPr>
                            <a:t>Conmutatividad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54515760"/>
                      </a:ext>
                    </a:extLst>
                  </a:tr>
                  <a:tr h="133681">
                    <a:tc>
                      <a:txBody>
                        <a:bodyPr/>
                        <a:lstStyle/>
                        <a:p>
                          <a:r>
                            <a:rPr lang="es-CO" sz="1050" b="1" dirty="0">
                              <a:latin typeface="+mn-lt"/>
                              <a:ea typeface="Roboto" panose="02000000000000000000" pitchFamily="2" charset="0"/>
                            </a:rPr>
                            <a:t>Asociatividad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913743916"/>
                      </a:ext>
                    </a:extLst>
                  </a:tr>
                  <a:tr h="133681">
                    <a:tc>
                      <a:txBody>
                        <a:bodyPr/>
                        <a:lstStyle/>
                        <a:p>
                          <a:r>
                            <a:rPr lang="es-CO" sz="1050" b="1" dirty="0">
                              <a:latin typeface="+mn-lt"/>
                              <a:ea typeface="Roboto" panose="02000000000000000000" pitchFamily="2" charset="0"/>
                            </a:rPr>
                            <a:t>Distributividad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17401643"/>
                      </a:ext>
                    </a:extLst>
                  </a:tr>
                  <a:tr h="133681">
                    <a:tc>
                      <a:txBody>
                        <a:bodyPr/>
                        <a:lstStyle/>
                        <a:p>
                          <a:r>
                            <a:rPr lang="es-CO" sz="1050" b="1" dirty="0">
                              <a:latin typeface="+mn-lt"/>
                              <a:ea typeface="Roboto" panose="02000000000000000000" pitchFamily="2" charset="0"/>
                            </a:rPr>
                            <a:t>Idempotencia</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46818852"/>
                      </a:ext>
                    </a:extLst>
                  </a:tr>
                  <a:tr h="133681">
                    <a:tc>
                      <a:txBody>
                        <a:bodyPr/>
                        <a:lstStyle/>
                        <a:p>
                          <a:r>
                            <a:rPr lang="es-CO" sz="1050" b="1" dirty="0">
                              <a:latin typeface="+mn-lt"/>
                              <a:ea typeface="Roboto" panose="02000000000000000000" pitchFamily="2" charset="0"/>
                            </a:rPr>
                            <a:t>Doble negación</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88149062"/>
                      </a:ext>
                    </a:extLst>
                  </a:tr>
                  <a:tr h="133681">
                    <a:tc>
                      <a:txBody>
                        <a:bodyPr/>
                        <a:lstStyle/>
                        <a:p>
                          <a:r>
                            <a:rPr lang="es-CO" sz="1050" b="1" dirty="0">
                              <a:latin typeface="+mn-lt"/>
                              <a:ea typeface="Roboto" panose="02000000000000000000" pitchFamily="2" charset="0"/>
                            </a:rPr>
                            <a:t>Leyes de Morgan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13060234"/>
                      </a:ext>
                    </a:extLst>
                  </a:tr>
                  <a:tr h="133681">
                    <a:tc>
                      <a:txBody>
                        <a:bodyPr/>
                        <a:lstStyle/>
                        <a:p>
                          <a:r>
                            <a:rPr lang="es-CO" sz="1050" b="1" dirty="0">
                              <a:latin typeface="+mn-lt"/>
                              <a:ea typeface="Roboto" panose="02000000000000000000" pitchFamily="2" charset="0"/>
                            </a:rPr>
                            <a:t>Identidad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494965197"/>
                      </a:ext>
                    </a:extLst>
                  </a:tr>
                  <a:tr h="133681">
                    <a:tc>
                      <a:txBody>
                        <a:bodyPr/>
                        <a:lstStyle/>
                        <a:p>
                          <a:r>
                            <a:rPr lang="es-CO" sz="1050" b="1" dirty="0">
                              <a:latin typeface="+mn-lt"/>
                              <a:ea typeface="Roboto" panose="02000000000000000000" pitchFamily="2" charset="0"/>
                            </a:rPr>
                            <a:t>Dominación</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07485840"/>
                      </a:ext>
                    </a:extLst>
                  </a:tr>
                  <a:tr h="133681">
                    <a:tc>
                      <a:txBody>
                        <a:bodyPr/>
                        <a:lstStyle/>
                        <a:p>
                          <a:r>
                            <a:rPr lang="es-CO" sz="1050" b="1" dirty="0">
                              <a:latin typeface="+mn-lt"/>
                              <a:ea typeface="Roboto" panose="02000000000000000000" pitchFamily="2" charset="0"/>
                            </a:rPr>
                            <a:t>Absorción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232652958"/>
                      </a:ext>
                    </a:extLst>
                  </a:tr>
                  <a:tr h="133681">
                    <a:tc>
                      <a:txBody>
                        <a:bodyPr/>
                        <a:lstStyle/>
                        <a:p>
                          <a:r>
                            <a:rPr lang="es-CO" sz="1050" b="1" dirty="0">
                              <a:latin typeface="+mn-lt"/>
                              <a:ea typeface="Roboto" panose="02000000000000000000" pitchFamily="2" charset="0"/>
                            </a:rPr>
                            <a:t>Complemento</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oMath>
                            </m:oMathPara>
                          </a14:m>
                          <a:endParaRPr lang="es-CO" sz="1050" b="1"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oMath>
                            </m:oMathPara>
                          </a14:m>
                          <a:endParaRPr lang="es-CO" sz="105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70911309"/>
                      </a:ext>
                    </a:extLst>
                  </a:tr>
                  <a:tr h="133681">
                    <a:tc>
                      <a:txBody>
                        <a:bodyPr/>
                        <a:lstStyle/>
                        <a:p>
                          <a:r>
                            <a:rPr lang="es-CO" sz="1050" b="1" dirty="0">
                              <a:latin typeface="+mn-lt"/>
                              <a:ea typeface="Roboto" panose="02000000000000000000" pitchFamily="2" charset="0"/>
                            </a:rPr>
                            <a:t>Implicación</a:t>
                          </a:r>
                        </a:p>
                      </a:txBody>
                      <a:tcPr>
                        <a:solidFill>
                          <a:schemeClr val="bg2"/>
                        </a:solidFill>
                      </a:tcPr>
                    </a:tc>
                    <a:tc gridSpan="2">
                      <a:txBody>
                        <a:bodyPr/>
                        <a:lstStyle/>
                        <a:p>
                          <a:pPr algn="ct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Roboto" panose="02000000000000000000" pitchFamily="2"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483938044"/>
                      </a:ext>
                    </a:extLst>
                  </a:tr>
                  <a:tr h="133681">
                    <a:tc>
                      <a:txBody>
                        <a:bodyPr/>
                        <a:lstStyle/>
                        <a:p>
                          <a:r>
                            <a:rPr lang="es-CO" sz="1050" b="1" dirty="0">
                              <a:latin typeface="+mn-lt"/>
                              <a:ea typeface="Roboto" panose="02000000000000000000" pitchFamily="2" charset="0"/>
                            </a:rPr>
                            <a:t>Contrarrecíproco</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Roboto" panose="02000000000000000000" pitchFamily="2"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255506134"/>
                      </a:ext>
                    </a:extLst>
                  </a:tr>
                  <a:tr h="133681">
                    <a:tc>
                      <a:txBody>
                        <a:bodyPr/>
                        <a:lstStyle/>
                        <a:p>
                          <a:r>
                            <a:rPr lang="es-CO" sz="1050" b="1" dirty="0">
                              <a:latin typeface="+mn-lt"/>
                              <a:ea typeface="Roboto" panose="02000000000000000000" pitchFamily="2" charset="0"/>
                            </a:rPr>
                            <a:t>Equivalencia</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e>
                                </m:d>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40457137"/>
                      </a:ext>
                    </a:extLst>
                  </a:tr>
                </a:tbl>
              </a:graphicData>
            </a:graphic>
          </p:graphicFrame>
        </mc:Choice>
        <mc:Fallback>
          <p:graphicFrame>
            <p:nvGraphicFramePr>
              <p:cNvPr id="7" name="Tabla 3">
                <a:extLst>
                  <a:ext uri="{FF2B5EF4-FFF2-40B4-BE49-F238E27FC236}">
                    <a16:creationId xmlns:a16="http://schemas.microsoft.com/office/drawing/2014/main" id="{14FCBA57-D9A8-434D-9021-0776BD9A6548}"/>
                  </a:ext>
                </a:extLst>
              </p:cNvPr>
              <p:cNvGraphicFramePr>
                <a:graphicFrameLocks noGrp="1"/>
              </p:cNvGraphicFramePr>
              <p:nvPr>
                <p:extLst>
                  <p:ext uri="{D42A27DB-BD31-4B8C-83A1-F6EECF244321}">
                    <p14:modId xmlns:p14="http://schemas.microsoft.com/office/powerpoint/2010/main" val="3845450045"/>
                  </p:ext>
                </p:extLst>
              </p:nvPr>
            </p:nvGraphicFramePr>
            <p:xfrm>
              <a:off x="360218" y="2483273"/>
              <a:ext cx="5198754" cy="3520440"/>
            </p:xfrm>
            <a:graphic>
              <a:graphicData uri="http://schemas.openxmlformats.org/drawingml/2006/table">
                <a:tbl>
                  <a:tblPr firstRow="1" bandRow="1"/>
                  <a:tblGrid>
                    <a:gridCol w="1132612">
                      <a:extLst>
                        <a:ext uri="{9D8B030D-6E8A-4147-A177-3AD203B41FA5}">
                          <a16:colId xmlns:a16="http://schemas.microsoft.com/office/drawing/2014/main" val="2419793140"/>
                        </a:ext>
                      </a:extLst>
                    </a:gridCol>
                    <a:gridCol w="2020666">
                      <a:extLst>
                        <a:ext uri="{9D8B030D-6E8A-4147-A177-3AD203B41FA5}">
                          <a16:colId xmlns:a16="http://schemas.microsoft.com/office/drawing/2014/main" val="2761119023"/>
                        </a:ext>
                      </a:extLst>
                    </a:gridCol>
                    <a:gridCol w="2045476">
                      <a:extLst>
                        <a:ext uri="{9D8B030D-6E8A-4147-A177-3AD203B41FA5}">
                          <a16:colId xmlns:a16="http://schemas.microsoft.com/office/drawing/2014/main" val="180266477"/>
                        </a:ext>
                      </a:extLst>
                    </a:gridCol>
                  </a:tblGrid>
                  <a:tr h="251460">
                    <a:tc>
                      <a:txBody>
                        <a:bodyPr/>
                        <a:lstStyle/>
                        <a:p>
                          <a:r>
                            <a:rPr lang="es-CO" sz="1050" b="1" dirty="0">
                              <a:latin typeface="+mn-lt"/>
                              <a:ea typeface="Roboto" panose="02000000000000000000" pitchFamily="2" charset="0"/>
                            </a:rPr>
                            <a:t>Nombre</a:t>
                          </a:r>
                        </a:p>
                      </a:txBody>
                      <a:tcPr>
                        <a:solidFill>
                          <a:schemeClr val="bg2"/>
                        </a:solidFill>
                      </a:tcPr>
                    </a:tc>
                    <a:tc gridSpan="2">
                      <a:txBody>
                        <a:bodyPr/>
                        <a:lstStyle/>
                        <a:p>
                          <a:pPr algn="ctr"/>
                          <a:r>
                            <a:rPr lang="es-CO" sz="105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251460">
                    <a:tc>
                      <a:txBody>
                        <a:bodyPr/>
                        <a:lstStyle/>
                        <a:p>
                          <a:r>
                            <a:rPr lang="es-CO" sz="1050" b="1" dirty="0">
                              <a:latin typeface="+mn-lt"/>
                              <a:ea typeface="Roboto" panose="02000000000000000000" pitchFamily="2" charset="0"/>
                            </a:rPr>
                            <a:t>Conmutatividad</a:t>
                          </a:r>
                        </a:p>
                      </a:txBody>
                      <a:tcPr>
                        <a:solidFill>
                          <a:schemeClr val="bg2"/>
                        </a:solidFill>
                      </a:tcPr>
                    </a:tc>
                    <a:tc>
                      <a:txBody>
                        <a:bodyPr/>
                        <a:lstStyle/>
                        <a:p>
                          <a:endParaRPr lang="es-CO"/>
                        </a:p>
                      </a:txBody>
                      <a:tcPr>
                        <a:blipFill>
                          <a:blip r:embed="rId3"/>
                          <a:stretch>
                            <a:fillRect l="-56495" t="-100000" r="-102115" b="-1192857"/>
                          </a:stretch>
                        </a:blipFill>
                      </a:tcPr>
                    </a:tc>
                    <a:tc>
                      <a:txBody>
                        <a:bodyPr/>
                        <a:lstStyle/>
                        <a:p>
                          <a:endParaRPr lang="es-CO"/>
                        </a:p>
                      </a:txBody>
                      <a:tcPr>
                        <a:blipFill>
                          <a:blip r:embed="rId3"/>
                          <a:stretch>
                            <a:fillRect l="-154167" t="-100000" r="-595" b="-1192857"/>
                          </a:stretch>
                        </a:blipFill>
                      </a:tcPr>
                    </a:tc>
                    <a:extLst>
                      <a:ext uri="{0D108BD9-81ED-4DB2-BD59-A6C34878D82A}">
                        <a16:rowId xmlns:a16="http://schemas.microsoft.com/office/drawing/2014/main" val="3154515760"/>
                      </a:ext>
                    </a:extLst>
                  </a:tr>
                  <a:tr h="251460">
                    <a:tc>
                      <a:txBody>
                        <a:bodyPr/>
                        <a:lstStyle/>
                        <a:p>
                          <a:r>
                            <a:rPr lang="es-CO" sz="1050" b="1" dirty="0">
                              <a:latin typeface="+mn-lt"/>
                              <a:ea typeface="Roboto" panose="02000000000000000000" pitchFamily="2" charset="0"/>
                            </a:rPr>
                            <a:t>Asociatividad</a:t>
                          </a:r>
                        </a:p>
                      </a:txBody>
                      <a:tcPr>
                        <a:solidFill>
                          <a:schemeClr val="bg2"/>
                        </a:solidFill>
                      </a:tcPr>
                    </a:tc>
                    <a:tc>
                      <a:txBody>
                        <a:bodyPr/>
                        <a:lstStyle/>
                        <a:p>
                          <a:endParaRPr lang="es-CO"/>
                        </a:p>
                      </a:txBody>
                      <a:tcPr>
                        <a:blipFill>
                          <a:blip r:embed="rId3"/>
                          <a:stretch>
                            <a:fillRect l="-56495" t="-204878" r="-102115" b="-1121951"/>
                          </a:stretch>
                        </a:blipFill>
                      </a:tcPr>
                    </a:tc>
                    <a:tc>
                      <a:txBody>
                        <a:bodyPr/>
                        <a:lstStyle/>
                        <a:p>
                          <a:endParaRPr lang="es-CO"/>
                        </a:p>
                      </a:txBody>
                      <a:tcPr>
                        <a:blipFill>
                          <a:blip r:embed="rId3"/>
                          <a:stretch>
                            <a:fillRect l="-154167" t="-204878" r="-595" b="-1121951"/>
                          </a:stretch>
                        </a:blipFill>
                      </a:tcPr>
                    </a:tc>
                    <a:extLst>
                      <a:ext uri="{0D108BD9-81ED-4DB2-BD59-A6C34878D82A}">
                        <a16:rowId xmlns:a16="http://schemas.microsoft.com/office/drawing/2014/main" val="1913743916"/>
                      </a:ext>
                    </a:extLst>
                  </a:tr>
                  <a:tr h="251460">
                    <a:tc>
                      <a:txBody>
                        <a:bodyPr/>
                        <a:lstStyle/>
                        <a:p>
                          <a:r>
                            <a:rPr lang="es-CO" sz="1050" b="1" dirty="0">
                              <a:latin typeface="+mn-lt"/>
                              <a:ea typeface="Roboto" panose="02000000000000000000" pitchFamily="2" charset="0"/>
                            </a:rPr>
                            <a:t>Distributividad</a:t>
                          </a:r>
                        </a:p>
                      </a:txBody>
                      <a:tcPr>
                        <a:solidFill>
                          <a:schemeClr val="bg2"/>
                        </a:solidFill>
                      </a:tcPr>
                    </a:tc>
                    <a:tc>
                      <a:txBody>
                        <a:bodyPr/>
                        <a:lstStyle/>
                        <a:p>
                          <a:endParaRPr lang="es-CO"/>
                        </a:p>
                      </a:txBody>
                      <a:tcPr>
                        <a:blipFill>
                          <a:blip r:embed="rId3"/>
                          <a:stretch>
                            <a:fillRect l="-56495" t="-304878" r="-102115" b="-1021951"/>
                          </a:stretch>
                        </a:blipFill>
                      </a:tcPr>
                    </a:tc>
                    <a:tc>
                      <a:txBody>
                        <a:bodyPr/>
                        <a:lstStyle/>
                        <a:p>
                          <a:endParaRPr lang="es-CO"/>
                        </a:p>
                      </a:txBody>
                      <a:tcPr>
                        <a:blipFill>
                          <a:blip r:embed="rId3"/>
                          <a:stretch>
                            <a:fillRect l="-154167" t="-304878" r="-595" b="-1021951"/>
                          </a:stretch>
                        </a:blipFill>
                      </a:tcPr>
                    </a:tc>
                    <a:extLst>
                      <a:ext uri="{0D108BD9-81ED-4DB2-BD59-A6C34878D82A}">
                        <a16:rowId xmlns:a16="http://schemas.microsoft.com/office/drawing/2014/main" val="717401643"/>
                      </a:ext>
                    </a:extLst>
                  </a:tr>
                  <a:tr h="251460">
                    <a:tc>
                      <a:txBody>
                        <a:bodyPr/>
                        <a:lstStyle/>
                        <a:p>
                          <a:r>
                            <a:rPr lang="es-CO" sz="1050" b="1" dirty="0">
                              <a:latin typeface="+mn-lt"/>
                              <a:ea typeface="Roboto" panose="02000000000000000000" pitchFamily="2" charset="0"/>
                            </a:rPr>
                            <a:t>Idempotencia</a:t>
                          </a:r>
                        </a:p>
                      </a:txBody>
                      <a:tcPr>
                        <a:solidFill>
                          <a:schemeClr val="bg2"/>
                        </a:solidFill>
                      </a:tcPr>
                    </a:tc>
                    <a:tc>
                      <a:txBody>
                        <a:bodyPr/>
                        <a:lstStyle/>
                        <a:p>
                          <a:endParaRPr lang="es-CO"/>
                        </a:p>
                      </a:txBody>
                      <a:tcPr>
                        <a:blipFill>
                          <a:blip r:embed="rId3"/>
                          <a:stretch>
                            <a:fillRect l="-56495" t="-404878" r="-102115" b="-921951"/>
                          </a:stretch>
                        </a:blipFill>
                      </a:tcPr>
                    </a:tc>
                    <a:tc>
                      <a:txBody>
                        <a:bodyPr/>
                        <a:lstStyle/>
                        <a:p>
                          <a:endParaRPr lang="es-CO"/>
                        </a:p>
                      </a:txBody>
                      <a:tcPr>
                        <a:blipFill>
                          <a:blip r:embed="rId3"/>
                          <a:stretch>
                            <a:fillRect l="-154167" t="-404878" r="-595" b="-921951"/>
                          </a:stretch>
                        </a:blipFill>
                      </a:tcPr>
                    </a:tc>
                    <a:extLst>
                      <a:ext uri="{0D108BD9-81ED-4DB2-BD59-A6C34878D82A}">
                        <a16:rowId xmlns:a16="http://schemas.microsoft.com/office/drawing/2014/main" val="2246818852"/>
                      </a:ext>
                    </a:extLst>
                  </a:tr>
                  <a:tr h="251460">
                    <a:tc>
                      <a:txBody>
                        <a:bodyPr/>
                        <a:lstStyle/>
                        <a:p>
                          <a:r>
                            <a:rPr lang="es-CO" sz="1050" b="1" dirty="0">
                              <a:latin typeface="+mn-lt"/>
                              <a:ea typeface="Roboto" panose="02000000000000000000" pitchFamily="2" charset="0"/>
                            </a:rPr>
                            <a:t>Doble negación</a:t>
                          </a:r>
                        </a:p>
                      </a:txBody>
                      <a:tcPr>
                        <a:solidFill>
                          <a:schemeClr val="bg2"/>
                        </a:solidFill>
                      </a:tcPr>
                    </a:tc>
                    <a:tc gridSpan="2">
                      <a:txBody>
                        <a:bodyPr/>
                        <a:lstStyle/>
                        <a:p>
                          <a:endParaRPr lang="es-CO"/>
                        </a:p>
                      </a:txBody>
                      <a:tcPr>
                        <a:blipFill>
                          <a:blip r:embed="rId3"/>
                          <a:stretch>
                            <a:fillRect l="-28036" t="-492857" r="-300" b="-800000"/>
                          </a:stretch>
                        </a:blipFill>
                      </a:tcPr>
                    </a:tc>
                    <a:tc hMerge="1">
                      <a:txBody>
                        <a:bodyPr/>
                        <a:lstStyle/>
                        <a:p>
                          <a:endParaRPr lang="es-CO"/>
                        </a:p>
                      </a:txBody>
                      <a:tcPr/>
                    </a:tc>
                    <a:extLst>
                      <a:ext uri="{0D108BD9-81ED-4DB2-BD59-A6C34878D82A}">
                        <a16:rowId xmlns:a16="http://schemas.microsoft.com/office/drawing/2014/main" val="88149062"/>
                      </a:ext>
                    </a:extLst>
                  </a:tr>
                  <a:tr h="251460">
                    <a:tc>
                      <a:txBody>
                        <a:bodyPr/>
                        <a:lstStyle/>
                        <a:p>
                          <a:r>
                            <a:rPr lang="es-CO" sz="1050" b="1" dirty="0">
                              <a:latin typeface="+mn-lt"/>
                              <a:ea typeface="Roboto" panose="02000000000000000000" pitchFamily="2" charset="0"/>
                            </a:rPr>
                            <a:t>Leyes de Morgan</a:t>
                          </a:r>
                        </a:p>
                      </a:txBody>
                      <a:tcPr>
                        <a:solidFill>
                          <a:schemeClr val="bg2"/>
                        </a:solidFill>
                      </a:tcPr>
                    </a:tc>
                    <a:tc>
                      <a:txBody>
                        <a:bodyPr/>
                        <a:lstStyle/>
                        <a:p>
                          <a:endParaRPr lang="es-CO"/>
                        </a:p>
                      </a:txBody>
                      <a:tcPr>
                        <a:blipFill>
                          <a:blip r:embed="rId3"/>
                          <a:stretch>
                            <a:fillRect l="-56495" t="-607317" r="-102115" b="-719512"/>
                          </a:stretch>
                        </a:blipFill>
                      </a:tcPr>
                    </a:tc>
                    <a:tc>
                      <a:txBody>
                        <a:bodyPr/>
                        <a:lstStyle/>
                        <a:p>
                          <a:endParaRPr lang="es-CO"/>
                        </a:p>
                      </a:txBody>
                      <a:tcPr>
                        <a:blipFill>
                          <a:blip r:embed="rId3"/>
                          <a:stretch>
                            <a:fillRect l="-154167" t="-607317" r="-595" b="-719512"/>
                          </a:stretch>
                        </a:blipFill>
                      </a:tcPr>
                    </a:tc>
                    <a:extLst>
                      <a:ext uri="{0D108BD9-81ED-4DB2-BD59-A6C34878D82A}">
                        <a16:rowId xmlns:a16="http://schemas.microsoft.com/office/drawing/2014/main" val="2113060234"/>
                      </a:ext>
                    </a:extLst>
                  </a:tr>
                  <a:tr h="251460">
                    <a:tc>
                      <a:txBody>
                        <a:bodyPr/>
                        <a:lstStyle/>
                        <a:p>
                          <a:r>
                            <a:rPr lang="es-CO" sz="1050" b="1" dirty="0">
                              <a:latin typeface="+mn-lt"/>
                              <a:ea typeface="Roboto" panose="02000000000000000000" pitchFamily="2" charset="0"/>
                            </a:rPr>
                            <a:t>Identidad</a:t>
                          </a:r>
                        </a:p>
                      </a:txBody>
                      <a:tcPr>
                        <a:solidFill>
                          <a:schemeClr val="bg2"/>
                        </a:solidFill>
                      </a:tcPr>
                    </a:tc>
                    <a:tc>
                      <a:txBody>
                        <a:bodyPr/>
                        <a:lstStyle/>
                        <a:p>
                          <a:endParaRPr lang="es-CO"/>
                        </a:p>
                      </a:txBody>
                      <a:tcPr>
                        <a:blipFill>
                          <a:blip r:embed="rId3"/>
                          <a:stretch>
                            <a:fillRect l="-56495" t="-707317" r="-102115" b="-619512"/>
                          </a:stretch>
                        </a:blipFill>
                      </a:tcPr>
                    </a:tc>
                    <a:tc>
                      <a:txBody>
                        <a:bodyPr/>
                        <a:lstStyle/>
                        <a:p>
                          <a:endParaRPr lang="es-CO"/>
                        </a:p>
                      </a:txBody>
                      <a:tcPr>
                        <a:blipFill>
                          <a:blip r:embed="rId3"/>
                          <a:stretch>
                            <a:fillRect l="-154167" t="-707317" r="-595" b="-619512"/>
                          </a:stretch>
                        </a:blipFill>
                      </a:tcPr>
                    </a:tc>
                    <a:extLst>
                      <a:ext uri="{0D108BD9-81ED-4DB2-BD59-A6C34878D82A}">
                        <a16:rowId xmlns:a16="http://schemas.microsoft.com/office/drawing/2014/main" val="2494965197"/>
                      </a:ext>
                    </a:extLst>
                  </a:tr>
                  <a:tr h="251460">
                    <a:tc>
                      <a:txBody>
                        <a:bodyPr/>
                        <a:lstStyle/>
                        <a:p>
                          <a:r>
                            <a:rPr lang="es-CO" sz="1050" b="1" dirty="0">
                              <a:latin typeface="+mn-lt"/>
                              <a:ea typeface="Roboto" panose="02000000000000000000" pitchFamily="2" charset="0"/>
                            </a:rPr>
                            <a:t>Dominación</a:t>
                          </a:r>
                        </a:p>
                      </a:txBody>
                      <a:tcPr>
                        <a:solidFill>
                          <a:schemeClr val="bg2"/>
                        </a:solidFill>
                      </a:tcPr>
                    </a:tc>
                    <a:tc>
                      <a:txBody>
                        <a:bodyPr/>
                        <a:lstStyle/>
                        <a:p>
                          <a:endParaRPr lang="es-CO"/>
                        </a:p>
                      </a:txBody>
                      <a:tcPr>
                        <a:blipFill>
                          <a:blip r:embed="rId3"/>
                          <a:stretch>
                            <a:fillRect l="-56495" t="-788095" r="-102115" b="-504762"/>
                          </a:stretch>
                        </a:blipFill>
                      </a:tcPr>
                    </a:tc>
                    <a:tc>
                      <a:txBody>
                        <a:bodyPr/>
                        <a:lstStyle/>
                        <a:p>
                          <a:endParaRPr lang="es-CO"/>
                        </a:p>
                      </a:txBody>
                      <a:tcPr>
                        <a:blipFill>
                          <a:blip r:embed="rId3"/>
                          <a:stretch>
                            <a:fillRect l="-154167" t="-788095" r="-595" b="-504762"/>
                          </a:stretch>
                        </a:blipFill>
                      </a:tcPr>
                    </a:tc>
                    <a:extLst>
                      <a:ext uri="{0D108BD9-81ED-4DB2-BD59-A6C34878D82A}">
                        <a16:rowId xmlns:a16="http://schemas.microsoft.com/office/drawing/2014/main" val="707485840"/>
                      </a:ext>
                    </a:extLst>
                  </a:tr>
                  <a:tr h="251460">
                    <a:tc>
                      <a:txBody>
                        <a:bodyPr/>
                        <a:lstStyle/>
                        <a:p>
                          <a:r>
                            <a:rPr lang="es-CO" sz="1050" b="1" dirty="0">
                              <a:latin typeface="+mn-lt"/>
                              <a:ea typeface="Roboto" panose="02000000000000000000" pitchFamily="2" charset="0"/>
                            </a:rPr>
                            <a:t>Absorción</a:t>
                          </a:r>
                        </a:p>
                      </a:txBody>
                      <a:tcPr>
                        <a:solidFill>
                          <a:schemeClr val="bg2"/>
                        </a:solidFill>
                      </a:tcPr>
                    </a:tc>
                    <a:tc>
                      <a:txBody>
                        <a:bodyPr/>
                        <a:lstStyle/>
                        <a:p>
                          <a:endParaRPr lang="es-CO"/>
                        </a:p>
                      </a:txBody>
                      <a:tcPr>
                        <a:blipFill>
                          <a:blip r:embed="rId3"/>
                          <a:stretch>
                            <a:fillRect l="-56495" t="-909756" r="-102115" b="-417073"/>
                          </a:stretch>
                        </a:blipFill>
                      </a:tcPr>
                    </a:tc>
                    <a:tc>
                      <a:txBody>
                        <a:bodyPr/>
                        <a:lstStyle/>
                        <a:p>
                          <a:endParaRPr lang="es-CO"/>
                        </a:p>
                      </a:txBody>
                      <a:tcPr>
                        <a:blipFill>
                          <a:blip r:embed="rId3"/>
                          <a:stretch>
                            <a:fillRect l="-154167" t="-909756" r="-595" b="-417073"/>
                          </a:stretch>
                        </a:blipFill>
                      </a:tcPr>
                    </a:tc>
                    <a:extLst>
                      <a:ext uri="{0D108BD9-81ED-4DB2-BD59-A6C34878D82A}">
                        <a16:rowId xmlns:a16="http://schemas.microsoft.com/office/drawing/2014/main" val="1232652958"/>
                      </a:ext>
                    </a:extLst>
                  </a:tr>
                  <a:tr h="251460">
                    <a:tc>
                      <a:txBody>
                        <a:bodyPr/>
                        <a:lstStyle/>
                        <a:p>
                          <a:r>
                            <a:rPr lang="es-CO" sz="1050" b="1" dirty="0">
                              <a:latin typeface="+mn-lt"/>
                              <a:ea typeface="Roboto" panose="02000000000000000000" pitchFamily="2" charset="0"/>
                            </a:rPr>
                            <a:t>Complemento</a:t>
                          </a:r>
                        </a:p>
                      </a:txBody>
                      <a:tcPr>
                        <a:solidFill>
                          <a:schemeClr val="bg2"/>
                        </a:solidFill>
                      </a:tcPr>
                    </a:tc>
                    <a:tc>
                      <a:txBody>
                        <a:bodyPr/>
                        <a:lstStyle/>
                        <a:p>
                          <a:endParaRPr lang="es-CO"/>
                        </a:p>
                      </a:txBody>
                      <a:tcPr>
                        <a:blipFill>
                          <a:blip r:embed="rId3"/>
                          <a:stretch>
                            <a:fillRect l="-56495" t="-1009756" r="-102115" b="-317073"/>
                          </a:stretch>
                        </a:blipFill>
                      </a:tcPr>
                    </a:tc>
                    <a:tc>
                      <a:txBody>
                        <a:bodyPr/>
                        <a:lstStyle/>
                        <a:p>
                          <a:endParaRPr lang="es-CO"/>
                        </a:p>
                      </a:txBody>
                      <a:tcPr>
                        <a:blipFill>
                          <a:blip r:embed="rId3"/>
                          <a:stretch>
                            <a:fillRect l="-154167" t="-1009756" r="-595" b="-317073"/>
                          </a:stretch>
                        </a:blipFill>
                      </a:tcPr>
                    </a:tc>
                    <a:extLst>
                      <a:ext uri="{0D108BD9-81ED-4DB2-BD59-A6C34878D82A}">
                        <a16:rowId xmlns:a16="http://schemas.microsoft.com/office/drawing/2014/main" val="3770911309"/>
                      </a:ext>
                    </a:extLst>
                  </a:tr>
                  <a:tr h="251460">
                    <a:tc>
                      <a:txBody>
                        <a:bodyPr/>
                        <a:lstStyle/>
                        <a:p>
                          <a:r>
                            <a:rPr lang="es-CO" sz="1050" b="1" dirty="0">
                              <a:latin typeface="+mn-lt"/>
                              <a:ea typeface="Roboto" panose="02000000000000000000" pitchFamily="2" charset="0"/>
                            </a:rPr>
                            <a:t>Implicación</a:t>
                          </a:r>
                        </a:p>
                      </a:txBody>
                      <a:tcPr>
                        <a:solidFill>
                          <a:schemeClr val="bg2"/>
                        </a:solidFill>
                      </a:tcPr>
                    </a:tc>
                    <a:tc gridSpan="2">
                      <a:txBody>
                        <a:bodyPr/>
                        <a:lstStyle/>
                        <a:p>
                          <a:endParaRPr lang="es-CO"/>
                        </a:p>
                      </a:txBody>
                      <a:tcPr>
                        <a:blipFill>
                          <a:blip r:embed="rId3"/>
                          <a:stretch>
                            <a:fillRect l="-28036" t="-1109756" r="-300" b="-217073"/>
                          </a:stretch>
                        </a:blipFill>
                      </a:tcPr>
                    </a:tc>
                    <a:tc hMerge="1">
                      <a:txBody>
                        <a:bodyPr/>
                        <a:lstStyle/>
                        <a:p>
                          <a:endParaRPr lang="es-CO"/>
                        </a:p>
                      </a:txBody>
                      <a:tcPr/>
                    </a:tc>
                    <a:extLst>
                      <a:ext uri="{0D108BD9-81ED-4DB2-BD59-A6C34878D82A}">
                        <a16:rowId xmlns:a16="http://schemas.microsoft.com/office/drawing/2014/main" val="3483938044"/>
                      </a:ext>
                    </a:extLst>
                  </a:tr>
                  <a:tr h="251460">
                    <a:tc>
                      <a:txBody>
                        <a:bodyPr/>
                        <a:lstStyle/>
                        <a:p>
                          <a:r>
                            <a:rPr lang="es-CO" sz="1050" b="1" dirty="0">
                              <a:latin typeface="+mn-lt"/>
                              <a:ea typeface="Roboto" panose="02000000000000000000" pitchFamily="2" charset="0"/>
                            </a:rPr>
                            <a:t>Contrarrecíproco</a:t>
                          </a:r>
                        </a:p>
                      </a:txBody>
                      <a:tcPr>
                        <a:solidFill>
                          <a:schemeClr val="bg2"/>
                        </a:solidFill>
                      </a:tcPr>
                    </a:tc>
                    <a:tc gridSpan="2">
                      <a:txBody>
                        <a:bodyPr/>
                        <a:lstStyle/>
                        <a:p>
                          <a:endParaRPr lang="es-CO"/>
                        </a:p>
                      </a:txBody>
                      <a:tcPr>
                        <a:blipFill>
                          <a:blip r:embed="rId3"/>
                          <a:stretch>
                            <a:fillRect l="-28036" t="-1180952" r="-300" b="-111905"/>
                          </a:stretch>
                        </a:blipFill>
                      </a:tcPr>
                    </a:tc>
                    <a:tc hMerge="1">
                      <a:txBody>
                        <a:bodyPr/>
                        <a:lstStyle/>
                        <a:p>
                          <a:endParaRPr lang="es-CO"/>
                        </a:p>
                      </a:txBody>
                      <a:tcPr/>
                    </a:tc>
                    <a:extLst>
                      <a:ext uri="{0D108BD9-81ED-4DB2-BD59-A6C34878D82A}">
                        <a16:rowId xmlns:a16="http://schemas.microsoft.com/office/drawing/2014/main" val="3255506134"/>
                      </a:ext>
                    </a:extLst>
                  </a:tr>
                  <a:tr h="251460">
                    <a:tc>
                      <a:txBody>
                        <a:bodyPr/>
                        <a:lstStyle/>
                        <a:p>
                          <a:r>
                            <a:rPr lang="es-CO" sz="1050" b="1" dirty="0">
                              <a:latin typeface="+mn-lt"/>
                              <a:ea typeface="Roboto" panose="02000000000000000000" pitchFamily="2" charset="0"/>
                            </a:rPr>
                            <a:t>Equivalencia</a:t>
                          </a:r>
                        </a:p>
                      </a:txBody>
                      <a:tcPr>
                        <a:solidFill>
                          <a:schemeClr val="bg2"/>
                        </a:solidFill>
                      </a:tcPr>
                    </a:tc>
                    <a:tc gridSpan="2">
                      <a:txBody>
                        <a:bodyPr/>
                        <a:lstStyle/>
                        <a:p>
                          <a:endParaRPr lang="es-CO"/>
                        </a:p>
                      </a:txBody>
                      <a:tcPr>
                        <a:blipFill>
                          <a:blip r:embed="rId3"/>
                          <a:stretch>
                            <a:fillRect l="-28036" t="-1312195" r="-300" b="-14634"/>
                          </a:stretch>
                        </a:blipFill>
                      </a:tcPr>
                    </a:tc>
                    <a:tc hMerge="1">
                      <a:txBody>
                        <a:bodyPr/>
                        <a:lstStyle/>
                        <a:p>
                          <a:endParaRPr lang="es-CO"/>
                        </a:p>
                      </a:txBody>
                      <a:tcPr/>
                    </a:tc>
                    <a:extLst>
                      <a:ext uri="{0D108BD9-81ED-4DB2-BD59-A6C34878D82A}">
                        <a16:rowId xmlns:a16="http://schemas.microsoft.com/office/drawing/2014/main" val="40457137"/>
                      </a:ext>
                    </a:extLst>
                  </a:tr>
                </a:tbl>
              </a:graphicData>
            </a:graphic>
          </p:graphicFrame>
        </mc:Fallback>
      </mc:AlternateContent>
    </p:spTree>
    <p:extLst>
      <p:ext uri="{BB962C8B-B14F-4D97-AF65-F5344CB8AC3E}">
        <p14:creationId xmlns:p14="http://schemas.microsoft.com/office/powerpoint/2010/main" val="24595176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838199" y="226580"/>
            <a:ext cx="10515600" cy="1325563"/>
          </a:xfrm>
        </p:spPr>
        <p:txBody>
          <a:bodyPr/>
          <a:lstStyle/>
          <a:p>
            <a:r>
              <a:rPr lang="es-CO" dirty="0"/>
              <a:t>Ejemplos de repaso - Demostraciones</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360218" y="1375234"/>
                <a:ext cx="11471563" cy="395509"/>
              </a:xfrm>
            </p:spPr>
            <p:txBody>
              <a:bodyPr>
                <a:normAutofit/>
              </a:bodyPr>
              <a:lstStyle/>
              <a:p>
                <a:pPr marL="457200" indent="-457200">
                  <a:buFont typeface="+mj-lt"/>
                  <a:buAutoNum type="arabicPeriod" startAt="2"/>
                </a:pPr>
                <a:r>
                  <a:rPr lang="es-MX" sz="2200" dirty="0">
                    <a:ea typeface="Cambria Math" panose="02040503050406030204" pitchFamily="18" charset="0"/>
                  </a:rPr>
                  <a:t>Simplifique la siguiente expresión lógica: </a:t>
                </a:r>
                <a14:m>
                  <m:oMath xmlns:m="http://schemas.openxmlformats.org/officeDocument/2006/math">
                    <m:r>
                      <a:rPr lang="es-MX" sz="2200">
                        <a:latin typeface="Cambria Math" panose="02040503050406030204" pitchFamily="18" charset="0"/>
                      </a:rPr>
                      <m:t>(</m:t>
                    </m:r>
                    <m:r>
                      <a:rPr lang="es-MX" sz="2200" i="1">
                        <a:latin typeface="Cambria Math" panose="02040503050406030204" pitchFamily="18" charset="0"/>
                      </a:rPr>
                      <m:t>𝑝</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𝑞</m:t>
                    </m:r>
                    <m:r>
                      <a:rPr lang="es-MX" sz="2200" i="1">
                        <a:latin typeface="Cambria Math" panose="02040503050406030204" pitchFamily="18" charset="0"/>
                      </a:rPr>
                      <m:t>)</m:t>
                    </m:r>
                    <m:r>
                      <a:rPr lang="es-MX" sz="2200" i="1">
                        <a:latin typeface="Cambria Math" panose="02040503050406030204" pitchFamily="18" charset="0"/>
                        <a:ea typeface="Cambria Math" panose="02040503050406030204" pitchFamily="18" charset="0"/>
                      </a:rPr>
                      <m:t> </m:t>
                    </m:r>
                    <m:r>
                      <a:rPr lang="es-MX" sz="2200" i="1">
                        <a:latin typeface="Cambria Math" panose="02040503050406030204" pitchFamily="18" charset="0"/>
                        <a:ea typeface="Cambria Math" panose="02040503050406030204" pitchFamily="18" charset="0"/>
                      </a:rPr>
                      <m:t>∧</m:t>
                    </m:r>
                    <m:d>
                      <m:dPr>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𝑝</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𝑞</m:t>
                        </m:r>
                      </m:e>
                    </m:d>
                  </m:oMath>
                </a14:m>
                <a:r>
                  <a:rPr lang="es-MX" sz="2200" dirty="0">
                    <a:ea typeface="Cambria Math" panose="02040503050406030204" pitchFamily="18" charset="0"/>
                  </a:rPr>
                  <a:t> </a:t>
                </a:r>
              </a:p>
            </p:txBody>
          </p:sp>
        </mc:Choice>
        <mc:Fallback>
          <p:sp>
            <p:nvSpPr>
              <p:cNvPr id="3" name="Marcador de contenido 2">
                <a:extLst>
                  <a:ext uri="{FF2B5EF4-FFF2-40B4-BE49-F238E27FC236}">
                    <a16:creationId xmlns:a16="http://schemas.microsoft.com/office/drawing/2014/main" id="{8C611C1C-AB20-4127-87E3-88401D8503D0}"/>
                  </a:ext>
                </a:extLst>
              </p:cNvPr>
              <p:cNvSpPr>
                <a:spLocks noGrp="1" noRot="1" noChangeAspect="1" noMove="1" noResize="1" noEditPoints="1" noAdjustHandles="1" noChangeArrowheads="1" noChangeShapeType="1" noTextEdit="1"/>
              </p:cNvSpPr>
              <p:nvPr>
                <p:ph idx="1"/>
              </p:nvPr>
            </p:nvSpPr>
            <p:spPr>
              <a:xfrm>
                <a:off x="360218" y="1375234"/>
                <a:ext cx="11471563" cy="395509"/>
              </a:xfrm>
              <a:blipFill>
                <a:blip r:embed="rId2"/>
                <a:stretch>
                  <a:fillRect l="-691" t="-20313" b="-34375"/>
                </a:stretch>
              </a:blipFill>
            </p:spPr>
            <p:txBody>
              <a:bodyPr/>
              <a:lstStyle/>
              <a:p>
                <a:r>
                  <a:rPr lang="es-CO">
                    <a:noFill/>
                  </a:rPr>
                  <a:t> </a:t>
                </a:r>
              </a:p>
            </p:txBody>
          </p:sp>
        </mc:Fallback>
      </mc:AlternateContent>
      <p:graphicFrame>
        <p:nvGraphicFramePr>
          <p:cNvPr id="7" name="Tabla 2">
            <a:extLst>
              <a:ext uri="{FF2B5EF4-FFF2-40B4-BE49-F238E27FC236}">
                <a16:creationId xmlns:a16="http://schemas.microsoft.com/office/drawing/2014/main" id="{DA76E516-DABE-4F6E-90AD-48A3772D3520}"/>
              </a:ext>
            </a:extLst>
          </p:cNvPr>
          <p:cNvGraphicFramePr>
            <a:graphicFrameLocks noGrp="1"/>
          </p:cNvGraphicFramePr>
          <p:nvPr>
            <p:extLst>
              <p:ext uri="{D42A27DB-BD31-4B8C-83A1-F6EECF244321}">
                <p14:modId xmlns:p14="http://schemas.microsoft.com/office/powerpoint/2010/main" val="4282849841"/>
              </p:ext>
            </p:extLst>
          </p:nvPr>
        </p:nvGraphicFramePr>
        <p:xfrm>
          <a:off x="5762171" y="2170853"/>
          <a:ext cx="6069609" cy="4145280"/>
        </p:xfrm>
        <a:graphic>
          <a:graphicData uri="http://schemas.openxmlformats.org/drawingml/2006/table">
            <a:tbl>
              <a:tblPr firstRow="1" bandRow="1"/>
              <a:tblGrid>
                <a:gridCol w="593633">
                  <a:extLst>
                    <a:ext uri="{9D8B030D-6E8A-4147-A177-3AD203B41FA5}">
                      <a16:colId xmlns:a16="http://schemas.microsoft.com/office/drawing/2014/main" val="847383059"/>
                    </a:ext>
                  </a:extLst>
                </a:gridCol>
                <a:gridCol w="1611294">
                  <a:extLst>
                    <a:ext uri="{9D8B030D-6E8A-4147-A177-3AD203B41FA5}">
                      <a16:colId xmlns:a16="http://schemas.microsoft.com/office/drawing/2014/main" val="2194526293"/>
                    </a:ext>
                  </a:extLst>
                </a:gridCol>
                <a:gridCol w="3864682">
                  <a:extLst>
                    <a:ext uri="{9D8B030D-6E8A-4147-A177-3AD203B41FA5}">
                      <a16:colId xmlns:a16="http://schemas.microsoft.com/office/drawing/2014/main" val="4281859008"/>
                    </a:ext>
                  </a:extLst>
                </a:gridCol>
              </a:tblGrid>
              <a:tr h="336320">
                <a:tc>
                  <a:txBody>
                    <a:bodyPr/>
                    <a:lstStyle/>
                    <a:p>
                      <a:pPr algn="ct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3788432"/>
                  </a:ext>
                </a:extLst>
              </a:tr>
              <a:tr h="370840">
                <a:tc>
                  <a:txBody>
                    <a:bodyPr/>
                    <a:lstStyle/>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s-CO" sz="16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343470127"/>
                  </a:ext>
                </a:extLst>
              </a:tr>
            </a:tbl>
          </a:graphicData>
        </a:graphic>
      </p:graphicFrame>
      <mc:AlternateContent xmlns:mc="http://schemas.openxmlformats.org/markup-compatibility/2006">
        <mc:Choice xmlns:a14="http://schemas.microsoft.com/office/drawing/2010/main" Requires="a14">
          <p:graphicFrame>
            <p:nvGraphicFramePr>
              <p:cNvPr id="8" name="Tabla 3">
                <a:extLst>
                  <a:ext uri="{FF2B5EF4-FFF2-40B4-BE49-F238E27FC236}">
                    <a16:creationId xmlns:a16="http://schemas.microsoft.com/office/drawing/2014/main" id="{ABDEDDFC-1DB8-42E9-B10C-52D5AB0D6ED5}"/>
                  </a:ext>
                </a:extLst>
              </p:cNvPr>
              <p:cNvGraphicFramePr>
                <a:graphicFrameLocks noGrp="1"/>
              </p:cNvGraphicFramePr>
              <p:nvPr>
                <p:extLst>
                  <p:ext uri="{D42A27DB-BD31-4B8C-83A1-F6EECF244321}">
                    <p14:modId xmlns:p14="http://schemas.microsoft.com/office/powerpoint/2010/main" val="2805190840"/>
                  </p:ext>
                </p:extLst>
              </p:nvPr>
            </p:nvGraphicFramePr>
            <p:xfrm>
              <a:off x="360218" y="2483273"/>
              <a:ext cx="5198754" cy="3520440"/>
            </p:xfrm>
            <a:graphic>
              <a:graphicData uri="http://schemas.openxmlformats.org/drawingml/2006/table">
                <a:tbl>
                  <a:tblPr firstRow="1" bandRow="1"/>
                  <a:tblGrid>
                    <a:gridCol w="1132612">
                      <a:extLst>
                        <a:ext uri="{9D8B030D-6E8A-4147-A177-3AD203B41FA5}">
                          <a16:colId xmlns:a16="http://schemas.microsoft.com/office/drawing/2014/main" val="2419793140"/>
                        </a:ext>
                      </a:extLst>
                    </a:gridCol>
                    <a:gridCol w="2020666">
                      <a:extLst>
                        <a:ext uri="{9D8B030D-6E8A-4147-A177-3AD203B41FA5}">
                          <a16:colId xmlns:a16="http://schemas.microsoft.com/office/drawing/2014/main" val="2761119023"/>
                        </a:ext>
                      </a:extLst>
                    </a:gridCol>
                    <a:gridCol w="2045476">
                      <a:extLst>
                        <a:ext uri="{9D8B030D-6E8A-4147-A177-3AD203B41FA5}">
                          <a16:colId xmlns:a16="http://schemas.microsoft.com/office/drawing/2014/main" val="180266477"/>
                        </a:ext>
                      </a:extLst>
                    </a:gridCol>
                  </a:tblGrid>
                  <a:tr h="0">
                    <a:tc>
                      <a:txBody>
                        <a:bodyPr/>
                        <a:lstStyle/>
                        <a:p>
                          <a:r>
                            <a:rPr lang="es-CO" sz="1050" b="1" dirty="0">
                              <a:latin typeface="+mn-lt"/>
                              <a:ea typeface="Roboto" panose="02000000000000000000" pitchFamily="2" charset="0"/>
                            </a:rPr>
                            <a:t>Nombre</a:t>
                          </a:r>
                        </a:p>
                      </a:txBody>
                      <a:tcPr>
                        <a:solidFill>
                          <a:schemeClr val="bg2"/>
                        </a:solidFill>
                      </a:tcPr>
                    </a:tc>
                    <a:tc gridSpan="2">
                      <a:txBody>
                        <a:bodyPr/>
                        <a:lstStyle/>
                        <a:p>
                          <a:pPr algn="ctr"/>
                          <a:r>
                            <a:rPr lang="es-CO" sz="105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133681">
                    <a:tc>
                      <a:txBody>
                        <a:bodyPr/>
                        <a:lstStyle/>
                        <a:p>
                          <a:r>
                            <a:rPr lang="es-CO" sz="1050" b="1" dirty="0">
                              <a:latin typeface="+mn-lt"/>
                              <a:ea typeface="Roboto" panose="02000000000000000000" pitchFamily="2" charset="0"/>
                            </a:rPr>
                            <a:t>Conmutatividad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54515760"/>
                      </a:ext>
                    </a:extLst>
                  </a:tr>
                  <a:tr h="133681">
                    <a:tc>
                      <a:txBody>
                        <a:bodyPr/>
                        <a:lstStyle/>
                        <a:p>
                          <a:r>
                            <a:rPr lang="es-CO" sz="1050" b="1" dirty="0">
                              <a:latin typeface="+mn-lt"/>
                              <a:ea typeface="Roboto" panose="02000000000000000000" pitchFamily="2" charset="0"/>
                            </a:rPr>
                            <a:t>Asociatividad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913743916"/>
                      </a:ext>
                    </a:extLst>
                  </a:tr>
                  <a:tr h="133681">
                    <a:tc>
                      <a:txBody>
                        <a:bodyPr/>
                        <a:lstStyle/>
                        <a:p>
                          <a:r>
                            <a:rPr lang="es-CO" sz="1050" b="1" dirty="0">
                              <a:latin typeface="+mn-lt"/>
                              <a:ea typeface="Roboto" panose="02000000000000000000" pitchFamily="2" charset="0"/>
                            </a:rPr>
                            <a:t>Distributividad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17401643"/>
                      </a:ext>
                    </a:extLst>
                  </a:tr>
                  <a:tr h="133681">
                    <a:tc>
                      <a:txBody>
                        <a:bodyPr/>
                        <a:lstStyle/>
                        <a:p>
                          <a:r>
                            <a:rPr lang="es-CO" sz="1050" b="1" dirty="0">
                              <a:latin typeface="+mn-lt"/>
                              <a:ea typeface="Roboto" panose="02000000000000000000" pitchFamily="2" charset="0"/>
                            </a:rPr>
                            <a:t>Idempotencia</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46818852"/>
                      </a:ext>
                    </a:extLst>
                  </a:tr>
                  <a:tr h="133681">
                    <a:tc>
                      <a:txBody>
                        <a:bodyPr/>
                        <a:lstStyle/>
                        <a:p>
                          <a:r>
                            <a:rPr lang="es-CO" sz="1050" b="1" dirty="0">
                              <a:latin typeface="+mn-lt"/>
                              <a:ea typeface="Roboto" panose="02000000000000000000" pitchFamily="2" charset="0"/>
                            </a:rPr>
                            <a:t>Doble negación</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88149062"/>
                      </a:ext>
                    </a:extLst>
                  </a:tr>
                  <a:tr h="133681">
                    <a:tc>
                      <a:txBody>
                        <a:bodyPr/>
                        <a:lstStyle/>
                        <a:p>
                          <a:r>
                            <a:rPr lang="es-CO" sz="1050" b="1" dirty="0">
                              <a:latin typeface="+mn-lt"/>
                              <a:ea typeface="Roboto" panose="02000000000000000000" pitchFamily="2" charset="0"/>
                            </a:rPr>
                            <a:t>Leyes de Morgan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13060234"/>
                      </a:ext>
                    </a:extLst>
                  </a:tr>
                  <a:tr h="133681">
                    <a:tc>
                      <a:txBody>
                        <a:bodyPr/>
                        <a:lstStyle/>
                        <a:p>
                          <a:r>
                            <a:rPr lang="es-CO" sz="1050" b="1" dirty="0">
                              <a:latin typeface="+mn-lt"/>
                              <a:ea typeface="Roboto" panose="02000000000000000000" pitchFamily="2" charset="0"/>
                            </a:rPr>
                            <a:t>Identidad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494965197"/>
                      </a:ext>
                    </a:extLst>
                  </a:tr>
                  <a:tr h="133681">
                    <a:tc>
                      <a:txBody>
                        <a:bodyPr/>
                        <a:lstStyle/>
                        <a:p>
                          <a:r>
                            <a:rPr lang="es-CO" sz="1050" b="1" dirty="0">
                              <a:latin typeface="+mn-lt"/>
                              <a:ea typeface="Roboto" panose="02000000000000000000" pitchFamily="2" charset="0"/>
                            </a:rPr>
                            <a:t>Dominación</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07485840"/>
                      </a:ext>
                    </a:extLst>
                  </a:tr>
                  <a:tr h="133681">
                    <a:tc>
                      <a:txBody>
                        <a:bodyPr/>
                        <a:lstStyle/>
                        <a:p>
                          <a:r>
                            <a:rPr lang="es-CO" sz="1050" b="1" dirty="0">
                              <a:latin typeface="+mn-lt"/>
                              <a:ea typeface="Roboto" panose="02000000000000000000" pitchFamily="2" charset="0"/>
                            </a:rPr>
                            <a:t>Absorción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232652958"/>
                      </a:ext>
                    </a:extLst>
                  </a:tr>
                  <a:tr h="133681">
                    <a:tc>
                      <a:txBody>
                        <a:bodyPr/>
                        <a:lstStyle/>
                        <a:p>
                          <a:r>
                            <a:rPr lang="es-CO" sz="1050" b="1" dirty="0">
                              <a:latin typeface="+mn-lt"/>
                              <a:ea typeface="Roboto" panose="02000000000000000000" pitchFamily="2" charset="0"/>
                            </a:rPr>
                            <a:t>Complemento</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oMath>
                            </m:oMathPara>
                          </a14:m>
                          <a:endParaRPr lang="es-CO" sz="1050" b="1"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oMath>
                            </m:oMathPara>
                          </a14:m>
                          <a:endParaRPr lang="es-CO" sz="105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70911309"/>
                      </a:ext>
                    </a:extLst>
                  </a:tr>
                  <a:tr h="133681">
                    <a:tc>
                      <a:txBody>
                        <a:bodyPr/>
                        <a:lstStyle/>
                        <a:p>
                          <a:r>
                            <a:rPr lang="es-CO" sz="1050" b="1" dirty="0">
                              <a:latin typeface="+mn-lt"/>
                              <a:ea typeface="Roboto" panose="02000000000000000000" pitchFamily="2" charset="0"/>
                            </a:rPr>
                            <a:t>Implicación</a:t>
                          </a:r>
                        </a:p>
                      </a:txBody>
                      <a:tcPr>
                        <a:solidFill>
                          <a:schemeClr val="bg2"/>
                        </a:solidFill>
                      </a:tcPr>
                    </a:tc>
                    <a:tc gridSpan="2">
                      <a:txBody>
                        <a:bodyPr/>
                        <a:lstStyle/>
                        <a:p>
                          <a:pPr algn="ct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Roboto" panose="02000000000000000000" pitchFamily="2"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483938044"/>
                      </a:ext>
                    </a:extLst>
                  </a:tr>
                  <a:tr h="133681">
                    <a:tc>
                      <a:txBody>
                        <a:bodyPr/>
                        <a:lstStyle/>
                        <a:p>
                          <a:r>
                            <a:rPr lang="es-CO" sz="1050" b="1" dirty="0">
                              <a:latin typeface="+mn-lt"/>
                              <a:ea typeface="Roboto" panose="02000000000000000000" pitchFamily="2" charset="0"/>
                            </a:rPr>
                            <a:t>Contrarrecíproco</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Roboto" panose="02000000000000000000" pitchFamily="2"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255506134"/>
                      </a:ext>
                    </a:extLst>
                  </a:tr>
                  <a:tr h="133681">
                    <a:tc>
                      <a:txBody>
                        <a:bodyPr/>
                        <a:lstStyle/>
                        <a:p>
                          <a:r>
                            <a:rPr lang="es-CO" sz="1050" b="1" dirty="0">
                              <a:latin typeface="+mn-lt"/>
                              <a:ea typeface="Roboto" panose="02000000000000000000" pitchFamily="2" charset="0"/>
                            </a:rPr>
                            <a:t>Equivalencia</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e>
                                </m:d>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40457137"/>
                      </a:ext>
                    </a:extLst>
                  </a:tr>
                </a:tbl>
              </a:graphicData>
            </a:graphic>
          </p:graphicFrame>
        </mc:Choice>
        <mc:Fallback>
          <p:graphicFrame>
            <p:nvGraphicFramePr>
              <p:cNvPr id="8" name="Tabla 3">
                <a:extLst>
                  <a:ext uri="{FF2B5EF4-FFF2-40B4-BE49-F238E27FC236}">
                    <a16:creationId xmlns:a16="http://schemas.microsoft.com/office/drawing/2014/main" id="{ABDEDDFC-1DB8-42E9-B10C-52D5AB0D6ED5}"/>
                  </a:ext>
                </a:extLst>
              </p:cNvPr>
              <p:cNvGraphicFramePr>
                <a:graphicFrameLocks noGrp="1"/>
              </p:cNvGraphicFramePr>
              <p:nvPr>
                <p:extLst>
                  <p:ext uri="{D42A27DB-BD31-4B8C-83A1-F6EECF244321}">
                    <p14:modId xmlns:p14="http://schemas.microsoft.com/office/powerpoint/2010/main" val="2805190840"/>
                  </p:ext>
                </p:extLst>
              </p:nvPr>
            </p:nvGraphicFramePr>
            <p:xfrm>
              <a:off x="360218" y="2483273"/>
              <a:ext cx="5198754" cy="3520440"/>
            </p:xfrm>
            <a:graphic>
              <a:graphicData uri="http://schemas.openxmlformats.org/drawingml/2006/table">
                <a:tbl>
                  <a:tblPr firstRow="1" bandRow="1"/>
                  <a:tblGrid>
                    <a:gridCol w="1132612">
                      <a:extLst>
                        <a:ext uri="{9D8B030D-6E8A-4147-A177-3AD203B41FA5}">
                          <a16:colId xmlns:a16="http://schemas.microsoft.com/office/drawing/2014/main" val="2419793140"/>
                        </a:ext>
                      </a:extLst>
                    </a:gridCol>
                    <a:gridCol w="2020666">
                      <a:extLst>
                        <a:ext uri="{9D8B030D-6E8A-4147-A177-3AD203B41FA5}">
                          <a16:colId xmlns:a16="http://schemas.microsoft.com/office/drawing/2014/main" val="2761119023"/>
                        </a:ext>
                      </a:extLst>
                    </a:gridCol>
                    <a:gridCol w="2045476">
                      <a:extLst>
                        <a:ext uri="{9D8B030D-6E8A-4147-A177-3AD203B41FA5}">
                          <a16:colId xmlns:a16="http://schemas.microsoft.com/office/drawing/2014/main" val="180266477"/>
                        </a:ext>
                      </a:extLst>
                    </a:gridCol>
                  </a:tblGrid>
                  <a:tr h="251460">
                    <a:tc>
                      <a:txBody>
                        <a:bodyPr/>
                        <a:lstStyle/>
                        <a:p>
                          <a:r>
                            <a:rPr lang="es-CO" sz="1050" b="1" dirty="0">
                              <a:latin typeface="+mn-lt"/>
                              <a:ea typeface="Roboto" panose="02000000000000000000" pitchFamily="2" charset="0"/>
                            </a:rPr>
                            <a:t>Nombre</a:t>
                          </a:r>
                        </a:p>
                      </a:txBody>
                      <a:tcPr>
                        <a:solidFill>
                          <a:schemeClr val="bg2"/>
                        </a:solidFill>
                      </a:tcPr>
                    </a:tc>
                    <a:tc gridSpan="2">
                      <a:txBody>
                        <a:bodyPr/>
                        <a:lstStyle/>
                        <a:p>
                          <a:pPr algn="ctr"/>
                          <a:r>
                            <a:rPr lang="es-CO" sz="105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251460">
                    <a:tc>
                      <a:txBody>
                        <a:bodyPr/>
                        <a:lstStyle/>
                        <a:p>
                          <a:r>
                            <a:rPr lang="es-CO" sz="1050" b="1" dirty="0">
                              <a:latin typeface="+mn-lt"/>
                              <a:ea typeface="Roboto" panose="02000000000000000000" pitchFamily="2" charset="0"/>
                            </a:rPr>
                            <a:t>Conmutatividad</a:t>
                          </a:r>
                        </a:p>
                      </a:txBody>
                      <a:tcPr>
                        <a:solidFill>
                          <a:schemeClr val="bg2"/>
                        </a:solidFill>
                      </a:tcPr>
                    </a:tc>
                    <a:tc>
                      <a:txBody>
                        <a:bodyPr/>
                        <a:lstStyle/>
                        <a:p>
                          <a:endParaRPr lang="es-CO"/>
                        </a:p>
                      </a:txBody>
                      <a:tcPr>
                        <a:blipFill>
                          <a:blip r:embed="rId3"/>
                          <a:stretch>
                            <a:fillRect l="-56495" t="-100000" r="-102115" b="-1192857"/>
                          </a:stretch>
                        </a:blipFill>
                      </a:tcPr>
                    </a:tc>
                    <a:tc>
                      <a:txBody>
                        <a:bodyPr/>
                        <a:lstStyle/>
                        <a:p>
                          <a:endParaRPr lang="es-CO"/>
                        </a:p>
                      </a:txBody>
                      <a:tcPr>
                        <a:blipFill>
                          <a:blip r:embed="rId3"/>
                          <a:stretch>
                            <a:fillRect l="-154167" t="-100000" r="-595" b="-1192857"/>
                          </a:stretch>
                        </a:blipFill>
                      </a:tcPr>
                    </a:tc>
                    <a:extLst>
                      <a:ext uri="{0D108BD9-81ED-4DB2-BD59-A6C34878D82A}">
                        <a16:rowId xmlns:a16="http://schemas.microsoft.com/office/drawing/2014/main" val="3154515760"/>
                      </a:ext>
                    </a:extLst>
                  </a:tr>
                  <a:tr h="251460">
                    <a:tc>
                      <a:txBody>
                        <a:bodyPr/>
                        <a:lstStyle/>
                        <a:p>
                          <a:r>
                            <a:rPr lang="es-CO" sz="1050" b="1" dirty="0">
                              <a:latin typeface="+mn-lt"/>
                              <a:ea typeface="Roboto" panose="02000000000000000000" pitchFamily="2" charset="0"/>
                            </a:rPr>
                            <a:t>Asociatividad</a:t>
                          </a:r>
                        </a:p>
                      </a:txBody>
                      <a:tcPr>
                        <a:solidFill>
                          <a:schemeClr val="bg2"/>
                        </a:solidFill>
                      </a:tcPr>
                    </a:tc>
                    <a:tc>
                      <a:txBody>
                        <a:bodyPr/>
                        <a:lstStyle/>
                        <a:p>
                          <a:endParaRPr lang="es-CO"/>
                        </a:p>
                      </a:txBody>
                      <a:tcPr>
                        <a:blipFill>
                          <a:blip r:embed="rId3"/>
                          <a:stretch>
                            <a:fillRect l="-56495" t="-204878" r="-102115" b="-1121951"/>
                          </a:stretch>
                        </a:blipFill>
                      </a:tcPr>
                    </a:tc>
                    <a:tc>
                      <a:txBody>
                        <a:bodyPr/>
                        <a:lstStyle/>
                        <a:p>
                          <a:endParaRPr lang="es-CO"/>
                        </a:p>
                      </a:txBody>
                      <a:tcPr>
                        <a:blipFill>
                          <a:blip r:embed="rId3"/>
                          <a:stretch>
                            <a:fillRect l="-154167" t="-204878" r="-595" b="-1121951"/>
                          </a:stretch>
                        </a:blipFill>
                      </a:tcPr>
                    </a:tc>
                    <a:extLst>
                      <a:ext uri="{0D108BD9-81ED-4DB2-BD59-A6C34878D82A}">
                        <a16:rowId xmlns:a16="http://schemas.microsoft.com/office/drawing/2014/main" val="1913743916"/>
                      </a:ext>
                    </a:extLst>
                  </a:tr>
                  <a:tr h="251460">
                    <a:tc>
                      <a:txBody>
                        <a:bodyPr/>
                        <a:lstStyle/>
                        <a:p>
                          <a:r>
                            <a:rPr lang="es-CO" sz="1050" b="1" dirty="0">
                              <a:latin typeface="+mn-lt"/>
                              <a:ea typeface="Roboto" panose="02000000000000000000" pitchFamily="2" charset="0"/>
                            </a:rPr>
                            <a:t>Distributividad</a:t>
                          </a:r>
                        </a:p>
                      </a:txBody>
                      <a:tcPr>
                        <a:solidFill>
                          <a:schemeClr val="bg2"/>
                        </a:solidFill>
                      </a:tcPr>
                    </a:tc>
                    <a:tc>
                      <a:txBody>
                        <a:bodyPr/>
                        <a:lstStyle/>
                        <a:p>
                          <a:endParaRPr lang="es-CO"/>
                        </a:p>
                      </a:txBody>
                      <a:tcPr>
                        <a:blipFill>
                          <a:blip r:embed="rId3"/>
                          <a:stretch>
                            <a:fillRect l="-56495" t="-304878" r="-102115" b="-1021951"/>
                          </a:stretch>
                        </a:blipFill>
                      </a:tcPr>
                    </a:tc>
                    <a:tc>
                      <a:txBody>
                        <a:bodyPr/>
                        <a:lstStyle/>
                        <a:p>
                          <a:endParaRPr lang="es-CO"/>
                        </a:p>
                      </a:txBody>
                      <a:tcPr>
                        <a:blipFill>
                          <a:blip r:embed="rId3"/>
                          <a:stretch>
                            <a:fillRect l="-154167" t="-304878" r="-595" b="-1021951"/>
                          </a:stretch>
                        </a:blipFill>
                      </a:tcPr>
                    </a:tc>
                    <a:extLst>
                      <a:ext uri="{0D108BD9-81ED-4DB2-BD59-A6C34878D82A}">
                        <a16:rowId xmlns:a16="http://schemas.microsoft.com/office/drawing/2014/main" val="717401643"/>
                      </a:ext>
                    </a:extLst>
                  </a:tr>
                  <a:tr h="251460">
                    <a:tc>
                      <a:txBody>
                        <a:bodyPr/>
                        <a:lstStyle/>
                        <a:p>
                          <a:r>
                            <a:rPr lang="es-CO" sz="1050" b="1" dirty="0">
                              <a:latin typeface="+mn-lt"/>
                              <a:ea typeface="Roboto" panose="02000000000000000000" pitchFamily="2" charset="0"/>
                            </a:rPr>
                            <a:t>Idempotencia</a:t>
                          </a:r>
                        </a:p>
                      </a:txBody>
                      <a:tcPr>
                        <a:solidFill>
                          <a:schemeClr val="bg2"/>
                        </a:solidFill>
                      </a:tcPr>
                    </a:tc>
                    <a:tc>
                      <a:txBody>
                        <a:bodyPr/>
                        <a:lstStyle/>
                        <a:p>
                          <a:endParaRPr lang="es-CO"/>
                        </a:p>
                      </a:txBody>
                      <a:tcPr>
                        <a:blipFill>
                          <a:blip r:embed="rId3"/>
                          <a:stretch>
                            <a:fillRect l="-56495" t="-404878" r="-102115" b="-921951"/>
                          </a:stretch>
                        </a:blipFill>
                      </a:tcPr>
                    </a:tc>
                    <a:tc>
                      <a:txBody>
                        <a:bodyPr/>
                        <a:lstStyle/>
                        <a:p>
                          <a:endParaRPr lang="es-CO"/>
                        </a:p>
                      </a:txBody>
                      <a:tcPr>
                        <a:blipFill>
                          <a:blip r:embed="rId3"/>
                          <a:stretch>
                            <a:fillRect l="-154167" t="-404878" r="-595" b="-921951"/>
                          </a:stretch>
                        </a:blipFill>
                      </a:tcPr>
                    </a:tc>
                    <a:extLst>
                      <a:ext uri="{0D108BD9-81ED-4DB2-BD59-A6C34878D82A}">
                        <a16:rowId xmlns:a16="http://schemas.microsoft.com/office/drawing/2014/main" val="2246818852"/>
                      </a:ext>
                    </a:extLst>
                  </a:tr>
                  <a:tr h="251460">
                    <a:tc>
                      <a:txBody>
                        <a:bodyPr/>
                        <a:lstStyle/>
                        <a:p>
                          <a:r>
                            <a:rPr lang="es-CO" sz="1050" b="1" dirty="0">
                              <a:latin typeface="+mn-lt"/>
                              <a:ea typeface="Roboto" panose="02000000000000000000" pitchFamily="2" charset="0"/>
                            </a:rPr>
                            <a:t>Doble negación</a:t>
                          </a:r>
                        </a:p>
                      </a:txBody>
                      <a:tcPr>
                        <a:solidFill>
                          <a:schemeClr val="bg2"/>
                        </a:solidFill>
                      </a:tcPr>
                    </a:tc>
                    <a:tc gridSpan="2">
                      <a:txBody>
                        <a:bodyPr/>
                        <a:lstStyle/>
                        <a:p>
                          <a:endParaRPr lang="es-CO"/>
                        </a:p>
                      </a:txBody>
                      <a:tcPr>
                        <a:blipFill>
                          <a:blip r:embed="rId3"/>
                          <a:stretch>
                            <a:fillRect l="-28036" t="-492857" r="-300" b="-800000"/>
                          </a:stretch>
                        </a:blipFill>
                      </a:tcPr>
                    </a:tc>
                    <a:tc hMerge="1">
                      <a:txBody>
                        <a:bodyPr/>
                        <a:lstStyle/>
                        <a:p>
                          <a:endParaRPr lang="es-CO"/>
                        </a:p>
                      </a:txBody>
                      <a:tcPr/>
                    </a:tc>
                    <a:extLst>
                      <a:ext uri="{0D108BD9-81ED-4DB2-BD59-A6C34878D82A}">
                        <a16:rowId xmlns:a16="http://schemas.microsoft.com/office/drawing/2014/main" val="88149062"/>
                      </a:ext>
                    </a:extLst>
                  </a:tr>
                  <a:tr h="251460">
                    <a:tc>
                      <a:txBody>
                        <a:bodyPr/>
                        <a:lstStyle/>
                        <a:p>
                          <a:r>
                            <a:rPr lang="es-CO" sz="1050" b="1" dirty="0">
                              <a:latin typeface="+mn-lt"/>
                              <a:ea typeface="Roboto" panose="02000000000000000000" pitchFamily="2" charset="0"/>
                            </a:rPr>
                            <a:t>Leyes de Morgan</a:t>
                          </a:r>
                        </a:p>
                      </a:txBody>
                      <a:tcPr>
                        <a:solidFill>
                          <a:schemeClr val="bg2"/>
                        </a:solidFill>
                      </a:tcPr>
                    </a:tc>
                    <a:tc>
                      <a:txBody>
                        <a:bodyPr/>
                        <a:lstStyle/>
                        <a:p>
                          <a:endParaRPr lang="es-CO"/>
                        </a:p>
                      </a:txBody>
                      <a:tcPr>
                        <a:blipFill>
                          <a:blip r:embed="rId3"/>
                          <a:stretch>
                            <a:fillRect l="-56495" t="-607317" r="-102115" b="-719512"/>
                          </a:stretch>
                        </a:blipFill>
                      </a:tcPr>
                    </a:tc>
                    <a:tc>
                      <a:txBody>
                        <a:bodyPr/>
                        <a:lstStyle/>
                        <a:p>
                          <a:endParaRPr lang="es-CO"/>
                        </a:p>
                      </a:txBody>
                      <a:tcPr>
                        <a:blipFill>
                          <a:blip r:embed="rId3"/>
                          <a:stretch>
                            <a:fillRect l="-154167" t="-607317" r="-595" b="-719512"/>
                          </a:stretch>
                        </a:blipFill>
                      </a:tcPr>
                    </a:tc>
                    <a:extLst>
                      <a:ext uri="{0D108BD9-81ED-4DB2-BD59-A6C34878D82A}">
                        <a16:rowId xmlns:a16="http://schemas.microsoft.com/office/drawing/2014/main" val="2113060234"/>
                      </a:ext>
                    </a:extLst>
                  </a:tr>
                  <a:tr h="251460">
                    <a:tc>
                      <a:txBody>
                        <a:bodyPr/>
                        <a:lstStyle/>
                        <a:p>
                          <a:r>
                            <a:rPr lang="es-CO" sz="1050" b="1" dirty="0">
                              <a:latin typeface="+mn-lt"/>
                              <a:ea typeface="Roboto" panose="02000000000000000000" pitchFamily="2" charset="0"/>
                            </a:rPr>
                            <a:t>Identidad</a:t>
                          </a:r>
                        </a:p>
                      </a:txBody>
                      <a:tcPr>
                        <a:solidFill>
                          <a:schemeClr val="bg2"/>
                        </a:solidFill>
                      </a:tcPr>
                    </a:tc>
                    <a:tc>
                      <a:txBody>
                        <a:bodyPr/>
                        <a:lstStyle/>
                        <a:p>
                          <a:endParaRPr lang="es-CO"/>
                        </a:p>
                      </a:txBody>
                      <a:tcPr>
                        <a:blipFill>
                          <a:blip r:embed="rId3"/>
                          <a:stretch>
                            <a:fillRect l="-56495" t="-707317" r="-102115" b="-619512"/>
                          </a:stretch>
                        </a:blipFill>
                      </a:tcPr>
                    </a:tc>
                    <a:tc>
                      <a:txBody>
                        <a:bodyPr/>
                        <a:lstStyle/>
                        <a:p>
                          <a:endParaRPr lang="es-CO"/>
                        </a:p>
                      </a:txBody>
                      <a:tcPr>
                        <a:blipFill>
                          <a:blip r:embed="rId3"/>
                          <a:stretch>
                            <a:fillRect l="-154167" t="-707317" r="-595" b="-619512"/>
                          </a:stretch>
                        </a:blipFill>
                      </a:tcPr>
                    </a:tc>
                    <a:extLst>
                      <a:ext uri="{0D108BD9-81ED-4DB2-BD59-A6C34878D82A}">
                        <a16:rowId xmlns:a16="http://schemas.microsoft.com/office/drawing/2014/main" val="2494965197"/>
                      </a:ext>
                    </a:extLst>
                  </a:tr>
                  <a:tr h="251460">
                    <a:tc>
                      <a:txBody>
                        <a:bodyPr/>
                        <a:lstStyle/>
                        <a:p>
                          <a:r>
                            <a:rPr lang="es-CO" sz="1050" b="1" dirty="0">
                              <a:latin typeface="+mn-lt"/>
                              <a:ea typeface="Roboto" panose="02000000000000000000" pitchFamily="2" charset="0"/>
                            </a:rPr>
                            <a:t>Dominación</a:t>
                          </a:r>
                        </a:p>
                      </a:txBody>
                      <a:tcPr>
                        <a:solidFill>
                          <a:schemeClr val="bg2"/>
                        </a:solidFill>
                      </a:tcPr>
                    </a:tc>
                    <a:tc>
                      <a:txBody>
                        <a:bodyPr/>
                        <a:lstStyle/>
                        <a:p>
                          <a:endParaRPr lang="es-CO"/>
                        </a:p>
                      </a:txBody>
                      <a:tcPr>
                        <a:blipFill>
                          <a:blip r:embed="rId3"/>
                          <a:stretch>
                            <a:fillRect l="-56495" t="-788095" r="-102115" b="-504762"/>
                          </a:stretch>
                        </a:blipFill>
                      </a:tcPr>
                    </a:tc>
                    <a:tc>
                      <a:txBody>
                        <a:bodyPr/>
                        <a:lstStyle/>
                        <a:p>
                          <a:endParaRPr lang="es-CO"/>
                        </a:p>
                      </a:txBody>
                      <a:tcPr>
                        <a:blipFill>
                          <a:blip r:embed="rId3"/>
                          <a:stretch>
                            <a:fillRect l="-154167" t="-788095" r="-595" b="-504762"/>
                          </a:stretch>
                        </a:blipFill>
                      </a:tcPr>
                    </a:tc>
                    <a:extLst>
                      <a:ext uri="{0D108BD9-81ED-4DB2-BD59-A6C34878D82A}">
                        <a16:rowId xmlns:a16="http://schemas.microsoft.com/office/drawing/2014/main" val="707485840"/>
                      </a:ext>
                    </a:extLst>
                  </a:tr>
                  <a:tr h="251460">
                    <a:tc>
                      <a:txBody>
                        <a:bodyPr/>
                        <a:lstStyle/>
                        <a:p>
                          <a:r>
                            <a:rPr lang="es-CO" sz="1050" b="1" dirty="0">
                              <a:latin typeface="+mn-lt"/>
                              <a:ea typeface="Roboto" panose="02000000000000000000" pitchFamily="2" charset="0"/>
                            </a:rPr>
                            <a:t>Absorción</a:t>
                          </a:r>
                        </a:p>
                      </a:txBody>
                      <a:tcPr>
                        <a:solidFill>
                          <a:schemeClr val="bg2"/>
                        </a:solidFill>
                      </a:tcPr>
                    </a:tc>
                    <a:tc>
                      <a:txBody>
                        <a:bodyPr/>
                        <a:lstStyle/>
                        <a:p>
                          <a:endParaRPr lang="es-CO"/>
                        </a:p>
                      </a:txBody>
                      <a:tcPr>
                        <a:blipFill>
                          <a:blip r:embed="rId3"/>
                          <a:stretch>
                            <a:fillRect l="-56495" t="-909756" r="-102115" b="-417073"/>
                          </a:stretch>
                        </a:blipFill>
                      </a:tcPr>
                    </a:tc>
                    <a:tc>
                      <a:txBody>
                        <a:bodyPr/>
                        <a:lstStyle/>
                        <a:p>
                          <a:endParaRPr lang="es-CO"/>
                        </a:p>
                      </a:txBody>
                      <a:tcPr>
                        <a:blipFill>
                          <a:blip r:embed="rId3"/>
                          <a:stretch>
                            <a:fillRect l="-154167" t="-909756" r="-595" b="-417073"/>
                          </a:stretch>
                        </a:blipFill>
                      </a:tcPr>
                    </a:tc>
                    <a:extLst>
                      <a:ext uri="{0D108BD9-81ED-4DB2-BD59-A6C34878D82A}">
                        <a16:rowId xmlns:a16="http://schemas.microsoft.com/office/drawing/2014/main" val="1232652958"/>
                      </a:ext>
                    </a:extLst>
                  </a:tr>
                  <a:tr h="251460">
                    <a:tc>
                      <a:txBody>
                        <a:bodyPr/>
                        <a:lstStyle/>
                        <a:p>
                          <a:r>
                            <a:rPr lang="es-CO" sz="1050" b="1" dirty="0">
                              <a:latin typeface="+mn-lt"/>
                              <a:ea typeface="Roboto" panose="02000000000000000000" pitchFamily="2" charset="0"/>
                            </a:rPr>
                            <a:t>Complemento</a:t>
                          </a:r>
                        </a:p>
                      </a:txBody>
                      <a:tcPr>
                        <a:solidFill>
                          <a:schemeClr val="bg2"/>
                        </a:solidFill>
                      </a:tcPr>
                    </a:tc>
                    <a:tc>
                      <a:txBody>
                        <a:bodyPr/>
                        <a:lstStyle/>
                        <a:p>
                          <a:endParaRPr lang="es-CO"/>
                        </a:p>
                      </a:txBody>
                      <a:tcPr>
                        <a:blipFill>
                          <a:blip r:embed="rId3"/>
                          <a:stretch>
                            <a:fillRect l="-56495" t="-1009756" r="-102115" b="-317073"/>
                          </a:stretch>
                        </a:blipFill>
                      </a:tcPr>
                    </a:tc>
                    <a:tc>
                      <a:txBody>
                        <a:bodyPr/>
                        <a:lstStyle/>
                        <a:p>
                          <a:endParaRPr lang="es-CO"/>
                        </a:p>
                      </a:txBody>
                      <a:tcPr>
                        <a:blipFill>
                          <a:blip r:embed="rId3"/>
                          <a:stretch>
                            <a:fillRect l="-154167" t="-1009756" r="-595" b="-317073"/>
                          </a:stretch>
                        </a:blipFill>
                      </a:tcPr>
                    </a:tc>
                    <a:extLst>
                      <a:ext uri="{0D108BD9-81ED-4DB2-BD59-A6C34878D82A}">
                        <a16:rowId xmlns:a16="http://schemas.microsoft.com/office/drawing/2014/main" val="3770911309"/>
                      </a:ext>
                    </a:extLst>
                  </a:tr>
                  <a:tr h="251460">
                    <a:tc>
                      <a:txBody>
                        <a:bodyPr/>
                        <a:lstStyle/>
                        <a:p>
                          <a:r>
                            <a:rPr lang="es-CO" sz="1050" b="1" dirty="0">
                              <a:latin typeface="+mn-lt"/>
                              <a:ea typeface="Roboto" panose="02000000000000000000" pitchFamily="2" charset="0"/>
                            </a:rPr>
                            <a:t>Implicación</a:t>
                          </a:r>
                        </a:p>
                      </a:txBody>
                      <a:tcPr>
                        <a:solidFill>
                          <a:schemeClr val="bg2"/>
                        </a:solidFill>
                      </a:tcPr>
                    </a:tc>
                    <a:tc gridSpan="2">
                      <a:txBody>
                        <a:bodyPr/>
                        <a:lstStyle/>
                        <a:p>
                          <a:endParaRPr lang="es-CO"/>
                        </a:p>
                      </a:txBody>
                      <a:tcPr>
                        <a:blipFill>
                          <a:blip r:embed="rId3"/>
                          <a:stretch>
                            <a:fillRect l="-28036" t="-1109756" r="-300" b="-217073"/>
                          </a:stretch>
                        </a:blipFill>
                      </a:tcPr>
                    </a:tc>
                    <a:tc hMerge="1">
                      <a:txBody>
                        <a:bodyPr/>
                        <a:lstStyle/>
                        <a:p>
                          <a:endParaRPr lang="es-CO"/>
                        </a:p>
                      </a:txBody>
                      <a:tcPr/>
                    </a:tc>
                    <a:extLst>
                      <a:ext uri="{0D108BD9-81ED-4DB2-BD59-A6C34878D82A}">
                        <a16:rowId xmlns:a16="http://schemas.microsoft.com/office/drawing/2014/main" val="3483938044"/>
                      </a:ext>
                    </a:extLst>
                  </a:tr>
                  <a:tr h="251460">
                    <a:tc>
                      <a:txBody>
                        <a:bodyPr/>
                        <a:lstStyle/>
                        <a:p>
                          <a:r>
                            <a:rPr lang="es-CO" sz="1050" b="1" dirty="0">
                              <a:latin typeface="+mn-lt"/>
                              <a:ea typeface="Roboto" panose="02000000000000000000" pitchFamily="2" charset="0"/>
                            </a:rPr>
                            <a:t>Contrarrecíproco</a:t>
                          </a:r>
                        </a:p>
                      </a:txBody>
                      <a:tcPr>
                        <a:solidFill>
                          <a:schemeClr val="bg2"/>
                        </a:solidFill>
                      </a:tcPr>
                    </a:tc>
                    <a:tc gridSpan="2">
                      <a:txBody>
                        <a:bodyPr/>
                        <a:lstStyle/>
                        <a:p>
                          <a:endParaRPr lang="es-CO"/>
                        </a:p>
                      </a:txBody>
                      <a:tcPr>
                        <a:blipFill>
                          <a:blip r:embed="rId3"/>
                          <a:stretch>
                            <a:fillRect l="-28036" t="-1180952" r="-300" b="-111905"/>
                          </a:stretch>
                        </a:blipFill>
                      </a:tcPr>
                    </a:tc>
                    <a:tc hMerge="1">
                      <a:txBody>
                        <a:bodyPr/>
                        <a:lstStyle/>
                        <a:p>
                          <a:endParaRPr lang="es-CO"/>
                        </a:p>
                      </a:txBody>
                      <a:tcPr/>
                    </a:tc>
                    <a:extLst>
                      <a:ext uri="{0D108BD9-81ED-4DB2-BD59-A6C34878D82A}">
                        <a16:rowId xmlns:a16="http://schemas.microsoft.com/office/drawing/2014/main" val="3255506134"/>
                      </a:ext>
                    </a:extLst>
                  </a:tr>
                  <a:tr h="251460">
                    <a:tc>
                      <a:txBody>
                        <a:bodyPr/>
                        <a:lstStyle/>
                        <a:p>
                          <a:r>
                            <a:rPr lang="es-CO" sz="1050" b="1" dirty="0">
                              <a:latin typeface="+mn-lt"/>
                              <a:ea typeface="Roboto" panose="02000000000000000000" pitchFamily="2" charset="0"/>
                            </a:rPr>
                            <a:t>Equivalencia</a:t>
                          </a:r>
                        </a:p>
                      </a:txBody>
                      <a:tcPr>
                        <a:solidFill>
                          <a:schemeClr val="bg2"/>
                        </a:solidFill>
                      </a:tcPr>
                    </a:tc>
                    <a:tc gridSpan="2">
                      <a:txBody>
                        <a:bodyPr/>
                        <a:lstStyle/>
                        <a:p>
                          <a:endParaRPr lang="es-CO"/>
                        </a:p>
                      </a:txBody>
                      <a:tcPr>
                        <a:blipFill>
                          <a:blip r:embed="rId3"/>
                          <a:stretch>
                            <a:fillRect l="-28036" t="-1312195" r="-300" b="-14634"/>
                          </a:stretch>
                        </a:blipFill>
                      </a:tcPr>
                    </a:tc>
                    <a:tc hMerge="1">
                      <a:txBody>
                        <a:bodyPr/>
                        <a:lstStyle/>
                        <a:p>
                          <a:endParaRPr lang="es-CO"/>
                        </a:p>
                      </a:txBody>
                      <a:tcPr/>
                    </a:tc>
                    <a:extLst>
                      <a:ext uri="{0D108BD9-81ED-4DB2-BD59-A6C34878D82A}">
                        <a16:rowId xmlns:a16="http://schemas.microsoft.com/office/drawing/2014/main" val="40457137"/>
                      </a:ext>
                    </a:extLst>
                  </a:tr>
                </a:tbl>
              </a:graphicData>
            </a:graphic>
          </p:graphicFrame>
        </mc:Fallback>
      </mc:AlternateContent>
      <p:sp>
        <p:nvSpPr>
          <p:cNvPr id="9" name="CuadroTexto 8">
            <a:extLst>
              <a:ext uri="{FF2B5EF4-FFF2-40B4-BE49-F238E27FC236}">
                <a16:creationId xmlns:a16="http://schemas.microsoft.com/office/drawing/2014/main" id="{2E0BB4C8-65B5-4FD7-BDB8-0F597C3FA76B}"/>
              </a:ext>
            </a:extLst>
          </p:cNvPr>
          <p:cNvSpPr txBox="1"/>
          <p:nvPr/>
        </p:nvSpPr>
        <p:spPr>
          <a:xfrm>
            <a:off x="360218" y="1889194"/>
            <a:ext cx="1628239" cy="430887"/>
          </a:xfrm>
          <a:prstGeom prst="rect">
            <a:avLst/>
          </a:prstGeom>
          <a:noFill/>
        </p:spPr>
        <p:txBody>
          <a:bodyPr wrap="square" rtlCol="0">
            <a:spAutoFit/>
          </a:bodyPr>
          <a:lstStyle/>
          <a:p>
            <a:r>
              <a:rPr lang="es-CO" sz="2200" b="1" dirty="0"/>
              <a:t>Solución</a:t>
            </a:r>
          </a:p>
        </p:txBody>
      </p:sp>
    </p:spTree>
    <p:extLst>
      <p:ext uri="{BB962C8B-B14F-4D97-AF65-F5344CB8AC3E}">
        <p14:creationId xmlns:p14="http://schemas.microsoft.com/office/powerpoint/2010/main" val="9832770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838199" y="226580"/>
            <a:ext cx="10515600" cy="1325563"/>
          </a:xfrm>
        </p:spPr>
        <p:txBody>
          <a:bodyPr/>
          <a:lstStyle/>
          <a:p>
            <a:r>
              <a:rPr lang="es-CO" dirty="0"/>
              <a:t>Ejemplos de repaso - Demostraciones</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360218" y="1375234"/>
                <a:ext cx="11471563" cy="395509"/>
              </a:xfrm>
            </p:spPr>
            <p:txBody>
              <a:bodyPr>
                <a:normAutofit/>
              </a:bodyPr>
              <a:lstStyle/>
              <a:p>
                <a:pPr marL="457200" indent="-457200">
                  <a:buFont typeface="+mj-lt"/>
                  <a:buAutoNum type="arabicPeriod" startAt="3"/>
                </a:pPr>
                <a:r>
                  <a:rPr lang="es-MX" sz="2200" dirty="0">
                    <a:ea typeface="Cambria Math" panose="02040503050406030204" pitchFamily="18" charset="0"/>
                  </a:rPr>
                  <a:t>Demostrar que </a:t>
                </a:r>
                <a14:m>
                  <m:oMath xmlns:m="http://schemas.openxmlformats.org/officeDocument/2006/math">
                    <m:r>
                      <a:rPr lang="es-MX" sz="2200" i="1">
                        <a:latin typeface="Cambria Math" panose="02040503050406030204" pitchFamily="18" charset="0"/>
                        <a:ea typeface="Cambria Math" panose="02040503050406030204" pitchFamily="18" charset="0"/>
                      </a:rPr>
                      <m:t>𝑝</m:t>
                    </m:r>
                    <m:r>
                      <a:rPr lang="es-MX" sz="2200">
                        <a:latin typeface="Cambria Math" panose="02040503050406030204" pitchFamily="18" charset="0"/>
                        <a:ea typeface="Cambria Math" panose="02040503050406030204" pitchFamily="18" charset="0"/>
                      </a:rPr>
                      <m:t>→</m:t>
                    </m:r>
                    <m:d>
                      <m:dPr>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𝑞</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𝑟</m:t>
                        </m:r>
                      </m:e>
                    </m:d>
                    <m:r>
                      <a:rPr lang="es-MX" sz="2200" i="1">
                        <a:latin typeface="Cambria Math" panose="02040503050406030204" pitchFamily="18" charset="0"/>
                        <a:ea typeface="Cambria Math" panose="02040503050406030204" pitchFamily="18" charset="0"/>
                      </a:rPr>
                      <m:t>≡</m:t>
                    </m:r>
                    <m:d>
                      <m:dPr>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𝑝</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𝑞</m:t>
                        </m:r>
                      </m:e>
                    </m:d>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𝑟</m:t>
                    </m:r>
                  </m:oMath>
                </a14:m>
                <a:endParaRPr lang="es-MX" sz="2200" dirty="0">
                  <a:ea typeface="Cambria Math" panose="02040503050406030204" pitchFamily="18" charset="0"/>
                </a:endParaRPr>
              </a:p>
            </p:txBody>
          </p:sp>
        </mc:Choice>
        <mc:Fallback>
          <p:sp>
            <p:nvSpPr>
              <p:cNvPr id="3" name="Marcador de contenido 2">
                <a:extLst>
                  <a:ext uri="{FF2B5EF4-FFF2-40B4-BE49-F238E27FC236}">
                    <a16:creationId xmlns:a16="http://schemas.microsoft.com/office/drawing/2014/main" id="{8C611C1C-AB20-4127-87E3-88401D8503D0}"/>
                  </a:ext>
                </a:extLst>
              </p:cNvPr>
              <p:cNvSpPr>
                <a:spLocks noGrp="1" noRot="1" noChangeAspect="1" noMove="1" noResize="1" noEditPoints="1" noAdjustHandles="1" noChangeArrowheads="1" noChangeShapeType="1" noTextEdit="1"/>
              </p:cNvSpPr>
              <p:nvPr>
                <p:ph idx="1"/>
              </p:nvPr>
            </p:nvSpPr>
            <p:spPr>
              <a:xfrm>
                <a:off x="360218" y="1375234"/>
                <a:ext cx="11471563" cy="395509"/>
              </a:xfrm>
              <a:blipFill>
                <a:blip r:embed="rId2"/>
                <a:stretch>
                  <a:fillRect l="-691" t="-20313" b="-34375"/>
                </a:stretch>
              </a:blipFill>
            </p:spPr>
            <p:txBody>
              <a:bodyPr/>
              <a:lstStyle/>
              <a:p>
                <a:r>
                  <a:rPr lang="es-CO">
                    <a:noFill/>
                  </a:rPr>
                  <a:t> </a:t>
                </a:r>
              </a:p>
            </p:txBody>
          </p:sp>
        </mc:Fallback>
      </mc:AlternateContent>
      <p:graphicFrame>
        <p:nvGraphicFramePr>
          <p:cNvPr id="7" name="Tabla 2">
            <a:extLst>
              <a:ext uri="{FF2B5EF4-FFF2-40B4-BE49-F238E27FC236}">
                <a16:creationId xmlns:a16="http://schemas.microsoft.com/office/drawing/2014/main" id="{BDB58A0B-68D9-45B1-85BD-A83B3D7FB4D7}"/>
              </a:ext>
            </a:extLst>
          </p:cNvPr>
          <p:cNvGraphicFramePr>
            <a:graphicFrameLocks noGrp="1"/>
          </p:cNvGraphicFramePr>
          <p:nvPr>
            <p:extLst>
              <p:ext uri="{D42A27DB-BD31-4B8C-83A1-F6EECF244321}">
                <p14:modId xmlns:p14="http://schemas.microsoft.com/office/powerpoint/2010/main" val="4282849841"/>
              </p:ext>
            </p:extLst>
          </p:nvPr>
        </p:nvGraphicFramePr>
        <p:xfrm>
          <a:off x="5762171" y="2170853"/>
          <a:ext cx="6069609" cy="4145280"/>
        </p:xfrm>
        <a:graphic>
          <a:graphicData uri="http://schemas.openxmlformats.org/drawingml/2006/table">
            <a:tbl>
              <a:tblPr firstRow="1" bandRow="1"/>
              <a:tblGrid>
                <a:gridCol w="593633">
                  <a:extLst>
                    <a:ext uri="{9D8B030D-6E8A-4147-A177-3AD203B41FA5}">
                      <a16:colId xmlns:a16="http://schemas.microsoft.com/office/drawing/2014/main" val="847383059"/>
                    </a:ext>
                  </a:extLst>
                </a:gridCol>
                <a:gridCol w="1611294">
                  <a:extLst>
                    <a:ext uri="{9D8B030D-6E8A-4147-A177-3AD203B41FA5}">
                      <a16:colId xmlns:a16="http://schemas.microsoft.com/office/drawing/2014/main" val="2194526293"/>
                    </a:ext>
                  </a:extLst>
                </a:gridCol>
                <a:gridCol w="3864682">
                  <a:extLst>
                    <a:ext uri="{9D8B030D-6E8A-4147-A177-3AD203B41FA5}">
                      <a16:colId xmlns:a16="http://schemas.microsoft.com/office/drawing/2014/main" val="4281859008"/>
                    </a:ext>
                  </a:extLst>
                </a:gridCol>
              </a:tblGrid>
              <a:tr h="336320">
                <a:tc>
                  <a:txBody>
                    <a:bodyPr/>
                    <a:lstStyle/>
                    <a:p>
                      <a:pPr algn="ct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3788432"/>
                  </a:ext>
                </a:extLst>
              </a:tr>
              <a:tr h="370840">
                <a:tc>
                  <a:txBody>
                    <a:bodyPr/>
                    <a:lstStyle/>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s-CO" sz="16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343470127"/>
                  </a:ext>
                </a:extLst>
              </a:tr>
            </a:tbl>
          </a:graphicData>
        </a:graphic>
      </p:graphicFrame>
      <mc:AlternateContent xmlns:mc="http://schemas.openxmlformats.org/markup-compatibility/2006">
        <mc:Choice xmlns:a14="http://schemas.microsoft.com/office/drawing/2010/main" Requires="a14">
          <p:graphicFrame>
            <p:nvGraphicFramePr>
              <p:cNvPr id="8" name="Tabla 3">
                <a:extLst>
                  <a:ext uri="{FF2B5EF4-FFF2-40B4-BE49-F238E27FC236}">
                    <a16:creationId xmlns:a16="http://schemas.microsoft.com/office/drawing/2014/main" id="{17DC3B6A-D2D8-42DD-A0E3-F8230D5B2D70}"/>
                  </a:ext>
                </a:extLst>
              </p:cNvPr>
              <p:cNvGraphicFramePr>
                <a:graphicFrameLocks noGrp="1"/>
              </p:cNvGraphicFramePr>
              <p:nvPr>
                <p:extLst>
                  <p:ext uri="{D42A27DB-BD31-4B8C-83A1-F6EECF244321}">
                    <p14:modId xmlns:p14="http://schemas.microsoft.com/office/powerpoint/2010/main" val="2805190840"/>
                  </p:ext>
                </p:extLst>
              </p:nvPr>
            </p:nvGraphicFramePr>
            <p:xfrm>
              <a:off x="360218" y="2483273"/>
              <a:ext cx="5198754" cy="3520440"/>
            </p:xfrm>
            <a:graphic>
              <a:graphicData uri="http://schemas.openxmlformats.org/drawingml/2006/table">
                <a:tbl>
                  <a:tblPr firstRow="1" bandRow="1"/>
                  <a:tblGrid>
                    <a:gridCol w="1132612">
                      <a:extLst>
                        <a:ext uri="{9D8B030D-6E8A-4147-A177-3AD203B41FA5}">
                          <a16:colId xmlns:a16="http://schemas.microsoft.com/office/drawing/2014/main" val="2419793140"/>
                        </a:ext>
                      </a:extLst>
                    </a:gridCol>
                    <a:gridCol w="2020666">
                      <a:extLst>
                        <a:ext uri="{9D8B030D-6E8A-4147-A177-3AD203B41FA5}">
                          <a16:colId xmlns:a16="http://schemas.microsoft.com/office/drawing/2014/main" val="2761119023"/>
                        </a:ext>
                      </a:extLst>
                    </a:gridCol>
                    <a:gridCol w="2045476">
                      <a:extLst>
                        <a:ext uri="{9D8B030D-6E8A-4147-A177-3AD203B41FA5}">
                          <a16:colId xmlns:a16="http://schemas.microsoft.com/office/drawing/2014/main" val="180266477"/>
                        </a:ext>
                      </a:extLst>
                    </a:gridCol>
                  </a:tblGrid>
                  <a:tr h="0">
                    <a:tc>
                      <a:txBody>
                        <a:bodyPr/>
                        <a:lstStyle/>
                        <a:p>
                          <a:r>
                            <a:rPr lang="es-CO" sz="1050" b="1" dirty="0">
                              <a:latin typeface="+mn-lt"/>
                              <a:ea typeface="Roboto" panose="02000000000000000000" pitchFamily="2" charset="0"/>
                            </a:rPr>
                            <a:t>Nombre</a:t>
                          </a:r>
                        </a:p>
                      </a:txBody>
                      <a:tcPr>
                        <a:solidFill>
                          <a:schemeClr val="bg2"/>
                        </a:solidFill>
                      </a:tcPr>
                    </a:tc>
                    <a:tc gridSpan="2">
                      <a:txBody>
                        <a:bodyPr/>
                        <a:lstStyle/>
                        <a:p>
                          <a:pPr algn="ctr"/>
                          <a:r>
                            <a:rPr lang="es-CO" sz="105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133681">
                    <a:tc>
                      <a:txBody>
                        <a:bodyPr/>
                        <a:lstStyle/>
                        <a:p>
                          <a:r>
                            <a:rPr lang="es-CO" sz="1050" b="1" dirty="0">
                              <a:latin typeface="+mn-lt"/>
                              <a:ea typeface="Roboto" panose="02000000000000000000" pitchFamily="2" charset="0"/>
                            </a:rPr>
                            <a:t>Conmutatividad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54515760"/>
                      </a:ext>
                    </a:extLst>
                  </a:tr>
                  <a:tr h="133681">
                    <a:tc>
                      <a:txBody>
                        <a:bodyPr/>
                        <a:lstStyle/>
                        <a:p>
                          <a:r>
                            <a:rPr lang="es-CO" sz="1050" b="1" dirty="0">
                              <a:latin typeface="+mn-lt"/>
                              <a:ea typeface="Roboto" panose="02000000000000000000" pitchFamily="2" charset="0"/>
                            </a:rPr>
                            <a:t>Asociatividad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913743916"/>
                      </a:ext>
                    </a:extLst>
                  </a:tr>
                  <a:tr h="133681">
                    <a:tc>
                      <a:txBody>
                        <a:bodyPr/>
                        <a:lstStyle/>
                        <a:p>
                          <a:r>
                            <a:rPr lang="es-CO" sz="1050" b="1" dirty="0">
                              <a:latin typeface="+mn-lt"/>
                              <a:ea typeface="Roboto" panose="02000000000000000000" pitchFamily="2" charset="0"/>
                            </a:rPr>
                            <a:t>Distributividad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17401643"/>
                      </a:ext>
                    </a:extLst>
                  </a:tr>
                  <a:tr h="133681">
                    <a:tc>
                      <a:txBody>
                        <a:bodyPr/>
                        <a:lstStyle/>
                        <a:p>
                          <a:r>
                            <a:rPr lang="es-CO" sz="1050" b="1" dirty="0">
                              <a:latin typeface="+mn-lt"/>
                              <a:ea typeface="Roboto" panose="02000000000000000000" pitchFamily="2" charset="0"/>
                            </a:rPr>
                            <a:t>Idempotencia</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46818852"/>
                      </a:ext>
                    </a:extLst>
                  </a:tr>
                  <a:tr h="133681">
                    <a:tc>
                      <a:txBody>
                        <a:bodyPr/>
                        <a:lstStyle/>
                        <a:p>
                          <a:r>
                            <a:rPr lang="es-CO" sz="1050" b="1" dirty="0">
                              <a:latin typeface="+mn-lt"/>
                              <a:ea typeface="Roboto" panose="02000000000000000000" pitchFamily="2" charset="0"/>
                            </a:rPr>
                            <a:t>Doble negación</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88149062"/>
                      </a:ext>
                    </a:extLst>
                  </a:tr>
                  <a:tr h="133681">
                    <a:tc>
                      <a:txBody>
                        <a:bodyPr/>
                        <a:lstStyle/>
                        <a:p>
                          <a:r>
                            <a:rPr lang="es-CO" sz="1050" b="1" dirty="0">
                              <a:latin typeface="+mn-lt"/>
                              <a:ea typeface="Roboto" panose="02000000000000000000" pitchFamily="2" charset="0"/>
                            </a:rPr>
                            <a:t>Leyes de Morgan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13060234"/>
                      </a:ext>
                    </a:extLst>
                  </a:tr>
                  <a:tr h="133681">
                    <a:tc>
                      <a:txBody>
                        <a:bodyPr/>
                        <a:lstStyle/>
                        <a:p>
                          <a:r>
                            <a:rPr lang="es-CO" sz="1050" b="1" dirty="0">
                              <a:latin typeface="+mn-lt"/>
                              <a:ea typeface="Roboto" panose="02000000000000000000" pitchFamily="2" charset="0"/>
                            </a:rPr>
                            <a:t>Identidad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494965197"/>
                      </a:ext>
                    </a:extLst>
                  </a:tr>
                  <a:tr h="133681">
                    <a:tc>
                      <a:txBody>
                        <a:bodyPr/>
                        <a:lstStyle/>
                        <a:p>
                          <a:r>
                            <a:rPr lang="es-CO" sz="1050" b="1" dirty="0">
                              <a:latin typeface="+mn-lt"/>
                              <a:ea typeface="Roboto" panose="02000000000000000000" pitchFamily="2" charset="0"/>
                            </a:rPr>
                            <a:t>Dominación</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07485840"/>
                      </a:ext>
                    </a:extLst>
                  </a:tr>
                  <a:tr h="133681">
                    <a:tc>
                      <a:txBody>
                        <a:bodyPr/>
                        <a:lstStyle/>
                        <a:p>
                          <a:r>
                            <a:rPr lang="es-CO" sz="1050" b="1" dirty="0">
                              <a:latin typeface="+mn-lt"/>
                              <a:ea typeface="Roboto" panose="02000000000000000000" pitchFamily="2" charset="0"/>
                            </a:rPr>
                            <a:t>Absorción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232652958"/>
                      </a:ext>
                    </a:extLst>
                  </a:tr>
                  <a:tr h="133681">
                    <a:tc>
                      <a:txBody>
                        <a:bodyPr/>
                        <a:lstStyle/>
                        <a:p>
                          <a:r>
                            <a:rPr lang="es-CO" sz="1050" b="1" dirty="0">
                              <a:latin typeface="+mn-lt"/>
                              <a:ea typeface="Roboto" panose="02000000000000000000" pitchFamily="2" charset="0"/>
                            </a:rPr>
                            <a:t>Complemento</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oMath>
                            </m:oMathPara>
                          </a14:m>
                          <a:endParaRPr lang="es-CO" sz="1050" b="1"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oMath>
                            </m:oMathPara>
                          </a14:m>
                          <a:endParaRPr lang="es-CO" sz="105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70911309"/>
                      </a:ext>
                    </a:extLst>
                  </a:tr>
                  <a:tr h="133681">
                    <a:tc>
                      <a:txBody>
                        <a:bodyPr/>
                        <a:lstStyle/>
                        <a:p>
                          <a:r>
                            <a:rPr lang="es-CO" sz="1050" b="1" dirty="0">
                              <a:latin typeface="+mn-lt"/>
                              <a:ea typeface="Roboto" panose="02000000000000000000" pitchFamily="2" charset="0"/>
                            </a:rPr>
                            <a:t>Implicación</a:t>
                          </a:r>
                        </a:p>
                      </a:txBody>
                      <a:tcPr>
                        <a:solidFill>
                          <a:schemeClr val="bg2"/>
                        </a:solidFill>
                      </a:tcPr>
                    </a:tc>
                    <a:tc gridSpan="2">
                      <a:txBody>
                        <a:bodyPr/>
                        <a:lstStyle/>
                        <a:p>
                          <a:pPr algn="ct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Roboto" panose="02000000000000000000" pitchFamily="2"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483938044"/>
                      </a:ext>
                    </a:extLst>
                  </a:tr>
                  <a:tr h="133681">
                    <a:tc>
                      <a:txBody>
                        <a:bodyPr/>
                        <a:lstStyle/>
                        <a:p>
                          <a:r>
                            <a:rPr lang="es-CO" sz="1050" b="1" dirty="0">
                              <a:latin typeface="+mn-lt"/>
                              <a:ea typeface="Roboto" panose="02000000000000000000" pitchFamily="2" charset="0"/>
                            </a:rPr>
                            <a:t>Contrarrecíproco</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Roboto" panose="02000000000000000000" pitchFamily="2"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255506134"/>
                      </a:ext>
                    </a:extLst>
                  </a:tr>
                  <a:tr h="133681">
                    <a:tc>
                      <a:txBody>
                        <a:bodyPr/>
                        <a:lstStyle/>
                        <a:p>
                          <a:r>
                            <a:rPr lang="es-CO" sz="1050" b="1" dirty="0">
                              <a:latin typeface="+mn-lt"/>
                              <a:ea typeface="Roboto" panose="02000000000000000000" pitchFamily="2" charset="0"/>
                            </a:rPr>
                            <a:t>Equivalencia</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e>
                                </m:d>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40457137"/>
                      </a:ext>
                    </a:extLst>
                  </a:tr>
                </a:tbl>
              </a:graphicData>
            </a:graphic>
          </p:graphicFrame>
        </mc:Choice>
        <mc:Fallback>
          <p:graphicFrame>
            <p:nvGraphicFramePr>
              <p:cNvPr id="8" name="Tabla 3">
                <a:extLst>
                  <a:ext uri="{FF2B5EF4-FFF2-40B4-BE49-F238E27FC236}">
                    <a16:creationId xmlns:a16="http://schemas.microsoft.com/office/drawing/2014/main" id="{17DC3B6A-D2D8-42DD-A0E3-F8230D5B2D70}"/>
                  </a:ext>
                </a:extLst>
              </p:cNvPr>
              <p:cNvGraphicFramePr>
                <a:graphicFrameLocks noGrp="1"/>
              </p:cNvGraphicFramePr>
              <p:nvPr>
                <p:extLst>
                  <p:ext uri="{D42A27DB-BD31-4B8C-83A1-F6EECF244321}">
                    <p14:modId xmlns:p14="http://schemas.microsoft.com/office/powerpoint/2010/main" val="2805190840"/>
                  </p:ext>
                </p:extLst>
              </p:nvPr>
            </p:nvGraphicFramePr>
            <p:xfrm>
              <a:off x="360218" y="2483273"/>
              <a:ext cx="5198754" cy="3520440"/>
            </p:xfrm>
            <a:graphic>
              <a:graphicData uri="http://schemas.openxmlformats.org/drawingml/2006/table">
                <a:tbl>
                  <a:tblPr firstRow="1" bandRow="1"/>
                  <a:tblGrid>
                    <a:gridCol w="1132612">
                      <a:extLst>
                        <a:ext uri="{9D8B030D-6E8A-4147-A177-3AD203B41FA5}">
                          <a16:colId xmlns:a16="http://schemas.microsoft.com/office/drawing/2014/main" val="2419793140"/>
                        </a:ext>
                      </a:extLst>
                    </a:gridCol>
                    <a:gridCol w="2020666">
                      <a:extLst>
                        <a:ext uri="{9D8B030D-6E8A-4147-A177-3AD203B41FA5}">
                          <a16:colId xmlns:a16="http://schemas.microsoft.com/office/drawing/2014/main" val="2761119023"/>
                        </a:ext>
                      </a:extLst>
                    </a:gridCol>
                    <a:gridCol w="2045476">
                      <a:extLst>
                        <a:ext uri="{9D8B030D-6E8A-4147-A177-3AD203B41FA5}">
                          <a16:colId xmlns:a16="http://schemas.microsoft.com/office/drawing/2014/main" val="180266477"/>
                        </a:ext>
                      </a:extLst>
                    </a:gridCol>
                  </a:tblGrid>
                  <a:tr h="251460">
                    <a:tc>
                      <a:txBody>
                        <a:bodyPr/>
                        <a:lstStyle/>
                        <a:p>
                          <a:r>
                            <a:rPr lang="es-CO" sz="1050" b="1" dirty="0">
                              <a:latin typeface="+mn-lt"/>
                              <a:ea typeface="Roboto" panose="02000000000000000000" pitchFamily="2" charset="0"/>
                            </a:rPr>
                            <a:t>Nombre</a:t>
                          </a:r>
                        </a:p>
                      </a:txBody>
                      <a:tcPr>
                        <a:solidFill>
                          <a:schemeClr val="bg2"/>
                        </a:solidFill>
                      </a:tcPr>
                    </a:tc>
                    <a:tc gridSpan="2">
                      <a:txBody>
                        <a:bodyPr/>
                        <a:lstStyle/>
                        <a:p>
                          <a:pPr algn="ctr"/>
                          <a:r>
                            <a:rPr lang="es-CO" sz="105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251460">
                    <a:tc>
                      <a:txBody>
                        <a:bodyPr/>
                        <a:lstStyle/>
                        <a:p>
                          <a:r>
                            <a:rPr lang="es-CO" sz="1050" b="1" dirty="0">
                              <a:latin typeface="+mn-lt"/>
                              <a:ea typeface="Roboto" panose="02000000000000000000" pitchFamily="2" charset="0"/>
                            </a:rPr>
                            <a:t>Conmutatividad</a:t>
                          </a:r>
                        </a:p>
                      </a:txBody>
                      <a:tcPr>
                        <a:solidFill>
                          <a:schemeClr val="bg2"/>
                        </a:solidFill>
                      </a:tcPr>
                    </a:tc>
                    <a:tc>
                      <a:txBody>
                        <a:bodyPr/>
                        <a:lstStyle/>
                        <a:p>
                          <a:endParaRPr lang="es-CO"/>
                        </a:p>
                      </a:txBody>
                      <a:tcPr>
                        <a:blipFill>
                          <a:blip r:embed="rId3"/>
                          <a:stretch>
                            <a:fillRect l="-56495" t="-100000" r="-102115" b="-1192857"/>
                          </a:stretch>
                        </a:blipFill>
                      </a:tcPr>
                    </a:tc>
                    <a:tc>
                      <a:txBody>
                        <a:bodyPr/>
                        <a:lstStyle/>
                        <a:p>
                          <a:endParaRPr lang="es-CO"/>
                        </a:p>
                      </a:txBody>
                      <a:tcPr>
                        <a:blipFill>
                          <a:blip r:embed="rId3"/>
                          <a:stretch>
                            <a:fillRect l="-154167" t="-100000" r="-595" b="-1192857"/>
                          </a:stretch>
                        </a:blipFill>
                      </a:tcPr>
                    </a:tc>
                    <a:extLst>
                      <a:ext uri="{0D108BD9-81ED-4DB2-BD59-A6C34878D82A}">
                        <a16:rowId xmlns:a16="http://schemas.microsoft.com/office/drawing/2014/main" val="3154515760"/>
                      </a:ext>
                    </a:extLst>
                  </a:tr>
                  <a:tr h="251460">
                    <a:tc>
                      <a:txBody>
                        <a:bodyPr/>
                        <a:lstStyle/>
                        <a:p>
                          <a:r>
                            <a:rPr lang="es-CO" sz="1050" b="1" dirty="0">
                              <a:latin typeface="+mn-lt"/>
                              <a:ea typeface="Roboto" panose="02000000000000000000" pitchFamily="2" charset="0"/>
                            </a:rPr>
                            <a:t>Asociatividad</a:t>
                          </a:r>
                        </a:p>
                      </a:txBody>
                      <a:tcPr>
                        <a:solidFill>
                          <a:schemeClr val="bg2"/>
                        </a:solidFill>
                      </a:tcPr>
                    </a:tc>
                    <a:tc>
                      <a:txBody>
                        <a:bodyPr/>
                        <a:lstStyle/>
                        <a:p>
                          <a:endParaRPr lang="es-CO"/>
                        </a:p>
                      </a:txBody>
                      <a:tcPr>
                        <a:blipFill>
                          <a:blip r:embed="rId3"/>
                          <a:stretch>
                            <a:fillRect l="-56495" t="-204878" r="-102115" b="-1121951"/>
                          </a:stretch>
                        </a:blipFill>
                      </a:tcPr>
                    </a:tc>
                    <a:tc>
                      <a:txBody>
                        <a:bodyPr/>
                        <a:lstStyle/>
                        <a:p>
                          <a:endParaRPr lang="es-CO"/>
                        </a:p>
                      </a:txBody>
                      <a:tcPr>
                        <a:blipFill>
                          <a:blip r:embed="rId3"/>
                          <a:stretch>
                            <a:fillRect l="-154167" t="-204878" r="-595" b="-1121951"/>
                          </a:stretch>
                        </a:blipFill>
                      </a:tcPr>
                    </a:tc>
                    <a:extLst>
                      <a:ext uri="{0D108BD9-81ED-4DB2-BD59-A6C34878D82A}">
                        <a16:rowId xmlns:a16="http://schemas.microsoft.com/office/drawing/2014/main" val="1913743916"/>
                      </a:ext>
                    </a:extLst>
                  </a:tr>
                  <a:tr h="251460">
                    <a:tc>
                      <a:txBody>
                        <a:bodyPr/>
                        <a:lstStyle/>
                        <a:p>
                          <a:r>
                            <a:rPr lang="es-CO" sz="1050" b="1" dirty="0">
                              <a:latin typeface="+mn-lt"/>
                              <a:ea typeface="Roboto" panose="02000000000000000000" pitchFamily="2" charset="0"/>
                            </a:rPr>
                            <a:t>Distributividad</a:t>
                          </a:r>
                        </a:p>
                      </a:txBody>
                      <a:tcPr>
                        <a:solidFill>
                          <a:schemeClr val="bg2"/>
                        </a:solidFill>
                      </a:tcPr>
                    </a:tc>
                    <a:tc>
                      <a:txBody>
                        <a:bodyPr/>
                        <a:lstStyle/>
                        <a:p>
                          <a:endParaRPr lang="es-CO"/>
                        </a:p>
                      </a:txBody>
                      <a:tcPr>
                        <a:blipFill>
                          <a:blip r:embed="rId3"/>
                          <a:stretch>
                            <a:fillRect l="-56495" t="-304878" r="-102115" b="-1021951"/>
                          </a:stretch>
                        </a:blipFill>
                      </a:tcPr>
                    </a:tc>
                    <a:tc>
                      <a:txBody>
                        <a:bodyPr/>
                        <a:lstStyle/>
                        <a:p>
                          <a:endParaRPr lang="es-CO"/>
                        </a:p>
                      </a:txBody>
                      <a:tcPr>
                        <a:blipFill>
                          <a:blip r:embed="rId3"/>
                          <a:stretch>
                            <a:fillRect l="-154167" t="-304878" r="-595" b="-1021951"/>
                          </a:stretch>
                        </a:blipFill>
                      </a:tcPr>
                    </a:tc>
                    <a:extLst>
                      <a:ext uri="{0D108BD9-81ED-4DB2-BD59-A6C34878D82A}">
                        <a16:rowId xmlns:a16="http://schemas.microsoft.com/office/drawing/2014/main" val="717401643"/>
                      </a:ext>
                    </a:extLst>
                  </a:tr>
                  <a:tr h="251460">
                    <a:tc>
                      <a:txBody>
                        <a:bodyPr/>
                        <a:lstStyle/>
                        <a:p>
                          <a:r>
                            <a:rPr lang="es-CO" sz="1050" b="1" dirty="0">
                              <a:latin typeface="+mn-lt"/>
                              <a:ea typeface="Roboto" panose="02000000000000000000" pitchFamily="2" charset="0"/>
                            </a:rPr>
                            <a:t>Idempotencia</a:t>
                          </a:r>
                        </a:p>
                      </a:txBody>
                      <a:tcPr>
                        <a:solidFill>
                          <a:schemeClr val="bg2"/>
                        </a:solidFill>
                      </a:tcPr>
                    </a:tc>
                    <a:tc>
                      <a:txBody>
                        <a:bodyPr/>
                        <a:lstStyle/>
                        <a:p>
                          <a:endParaRPr lang="es-CO"/>
                        </a:p>
                      </a:txBody>
                      <a:tcPr>
                        <a:blipFill>
                          <a:blip r:embed="rId3"/>
                          <a:stretch>
                            <a:fillRect l="-56495" t="-404878" r="-102115" b="-921951"/>
                          </a:stretch>
                        </a:blipFill>
                      </a:tcPr>
                    </a:tc>
                    <a:tc>
                      <a:txBody>
                        <a:bodyPr/>
                        <a:lstStyle/>
                        <a:p>
                          <a:endParaRPr lang="es-CO"/>
                        </a:p>
                      </a:txBody>
                      <a:tcPr>
                        <a:blipFill>
                          <a:blip r:embed="rId3"/>
                          <a:stretch>
                            <a:fillRect l="-154167" t="-404878" r="-595" b="-921951"/>
                          </a:stretch>
                        </a:blipFill>
                      </a:tcPr>
                    </a:tc>
                    <a:extLst>
                      <a:ext uri="{0D108BD9-81ED-4DB2-BD59-A6C34878D82A}">
                        <a16:rowId xmlns:a16="http://schemas.microsoft.com/office/drawing/2014/main" val="2246818852"/>
                      </a:ext>
                    </a:extLst>
                  </a:tr>
                  <a:tr h="251460">
                    <a:tc>
                      <a:txBody>
                        <a:bodyPr/>
                        <a:lstStyle/>
                        <a:p>
                          <a:r>
                            <a:rPr lang="es-CO" sz="1050" b="1" dirty="0">
                              <a:latin typeface="+mn-lt"/>
                              <a:ea typeface="Roboto" panose="02000000000000000000" pitchFamily="2" charset="0"/>
                            </a:rPr>
                            <a:t>Doble negación</a:t>
                          </a:r>
                        </a:p>
                      </a:txBody>
                      <a:tcPr>
                        <a:solidFill>
                          <a:schemeClr val="bg2"/>
                        </a:solidFill>
                      </a:tcPr>
                    </a:tc>
                    <a:tc gridSpan="2">
                      <a:txBody>
                        <a:bodyPr/>
                        <a:lstStyle/>
                        <a:p>
                          <a:endParaRPr lang="es-CO"/>
                        </a:p>
                      </a:txBody>
                      <a:tcPr>
                        <a:blipFill>
                          <a:blip r:embed="rId3"/>
                          <a:stretch>
                            <a:fillRect l="-28036" t="-492857" r="-300" b="-800000"/>
                          </a:stretch>
                        </a:blipFill>
                      </a:tcPr>
                    </a:tc>
                    <a:tc hMerge="1">
                      <a:txBody>
                        <a:bodyPr/>
                        <a:lstStyle/>
                        <a:p>
                          <a:endParaRPr lang="es-CO"/>
                        </a:p>
                      </a:txBody>
                      <a:tcPr/>
                    </a:tc>
                    <a:extLst>
                      <a:ext uri="{0D108BD9-81ED-4DB2-BD59-A6C34878D82A}">
                        <a16:rowId xmlns:a16="http://schemas.microsoft.com/office/drawing/2014/main" val="88149062"/>
                      </a:ext>
                    </a:extLst>
                  </a:tr>
                  <a:tr h="251460">
                    <a:tc>
                      <a:txBody>
                        <a:bodyPr/>
                        <a:lstStyle/>
                        <a:p>
                          <a:r>
                            <a:rPr lang="es-CO" sz="1050" b="1" dirty="0">
                              <a:latin typeface="+mn-lt"/>
                              <a:ea typeface="Roboto" panose="02000000000000000000" pitchFamily="2" charset="0"/>
                            </a:rPr>
                            <a:t>Leyes de Morgan</a:t>
                          </a:r>
                        </a:p>
                      </a:txBody>
                      <a:tcPr>
                        <a:solidFill>
                          <a:schemeClr val="bg2"/>
                        </a:solidFill>
                      </a:tcPr>
                    </a:tc>
                    <a:tc>
                      <a:txBody>
                        <a:bodyPr/>
                        <a:lstStyle/>
                        <a:p>
                          <a:endParaRPr lang="es-CO"/>
                        </a:p>
                      </a:txBody>
                      <a:tcPr>
                        <a:blipFill>
                          <a:blip r:embed="rId3"/>
                          <a:stretch>
                            <a:fillRect l="-56495" t="-607317" r="-102115" b="-719512"/>
                          </a:stretch>
                        </a:blipFill>
                      </a:tcPr>
                    </a:tc>
                    <a:tc>
                      <a:txBody>
                        <a:bodyPr/>
                        <a:lstStyle/>
                        <a:p>
                          <a:endParaRPr lang="es-CO"/>
                        </a:p>
                      </a:txBody>
                      <a:tcPr>
                        <a:blipFill>
                          <a:blip r:embed="rId3"/>
                          <a:stretch>
                            <a:fillRect l="-154167" t="-607317" r="-595" b="-719512"/>
                          </a:stretch>
                        </a:blipFill>
                      </a:tcPr>
                    </a:tc>
                    <a:extLst>
                      <a:ext uri="{0D108BD9-81ED-4DB2-BD59-A6C34878D82A}">
                        <a16:rowId xmlns:a16="http://schemas.microsoft.com/office/drawing/2014/main" val="2113060234"/>
                      </a:ext>
                    </a:extLst>
                  </a:tr>
                  <a:tr h="251460">
                    <a:tc>
                      <a:txBody>
                        <a:bodyPr/>
                        <a:lstStyle/>
                        <a:p>
                          <a:r>
                            <a:rPr lang="es-CO" sz="1050" b="1" dirty="0">
                              <a:latin typeface="+mn-lt"/>
                              <a:ea typeface="Roboto" panose="02000000000000000000" pitchFamily="2" charset="0"/>
                            </a:rPr>
                            <a:t>Identidad</a:t>
                          </a:r>
                        </a:p>
                      </a:txBody>
                      <a:tcPr>
                        <a:solidFill>
                          <a:schemeClr val="bg2"/>
                        </a:solidFill>
                      </a:tcPr>
                    </a:tc>
                    <a:tc>
                      <a:txBody>
                        <a:bodyPr/>
                        <a:lstStyle/>
                        <a:p>
                          <a:endParaRPr lang="es-CO"/>
                        </a:p>
                      </a:txBody>
                      <a:tcPr>
                        <a:blipFill>
                          <a:blip r:embed="rId3"/>
                          <a:stretch>
                            <a:fillRect l="-56495" t="-707317" r="-102115" b="-619512"/>
                          </a:stretch>
                        </a:blipFill>
                      </a:tcPr>
                    </a:tc>
                    <a:tc>
                      <a:txBody>
                        <a:bodyPr/>
                        <a:lstStyle/>
                        <a:p>
                          <a:endParaRPr lang="es-CO"/>
                        </a:p>
                      </a:txBody>
                      <a:tcPr>
                        <a:blipFill>
                          <a:blip r:embed="rId3"/>
                          <a:stretch>
                            <a:fillRect l="-154167" t="-707317" r="-595" b="-619512"/>
                          </a:stretch>
                        </a:blipFill>
                      </a:tcPr>
                    </a:tc>
                    <a:extLst>
                      <a:ext uri="{0D108BD9-81ED-4DB2-BD59-A6C34878D82A}">
                        <a16:rowId xmlns:a16="http://schemas.microsoft.com/office/drawing/2014/main" val="2494965197"/>
                      </a:ext>
                    </a:extLst>
                  </a:tr>
                  <a:tr h="251460">
                    <a:tc>
                      <a:txBody>
                        <a:bodyPr/>
                        <a:lstStyle/>
                        <a:p>
                          <a:r>
                            <a:rPr lang="es-CO" sz="1050" b="1" dirty="0">
                              <a:latin typeface="+mn-lt"/>
                              <a:ea typeface="Roboto" panose="02000000000000000000" pitchFamily="2" charset="0"/>
                            </a:rPr>
                            <a:t>Dominación</a:t>
                          </a:r>
                        </a:p>
                      </a:txBody>
                      <a:tcPr>
                        <a:solidFill>
                          <a:schemeClr val="bg2"/>
                        </a:solidFill>
                      </a:tcPr>
                    </a:tc>
                    <a:tc>
                      <a:txBody>
                        <a:bodyPr/>
                        <a:lstStyle/>
                        <a:p>
                          <a:endParaRPr lang="es-CO"/>
                        </a:p>
                      </a:txBody>
                      <a:tcPr>
                        <a:blipFill>
                          <a:blip r:embed="rId3"/>
                          <a:stretch>
                            <a:fillRect l="-56495" t="-788095" r="-102115" b="-504762"/>
                          </a:stretch>
                        </a:blipFill>
                      </a:tcPr>
                    </a:tc>
                    <a:tc>
                      <a:txBody>
                        <a:bodyPr/>
                        <a:lstStyle/>
                        <a:p>
                          <a:endParaRPr lang="es-CO"/>
                        </a:p>
                      </a:txBody>
                      <a:tcPr>
                        <a:blipFill>
                          <a:blip r:embed="rId3"/>
                          <a:stretch>
                            <a:fillRect l="-154167" t="-788095" r="-595" b="-504762"/>
                          </a:stretch>
                        </a:blipFill>
                      </a:tcPr>
                    </a:tc>
                    <a:extLst>
                      <a:ext uri="{0D108BD9-81ED-4DB2-BD59-A6C34878D82A}">
                        <a16:rowId xmlns:a16="http://schemas.microsoft.com/office/drawing/2014/main" val="707485840"/>
                      </a:ext>
                    </a:extLst>
                  </a:tr>
                  <a:tr h="251460">
                    <a:tc>
                      <a:txBody>
                        <a:bodyPr/>
                        <a:lstStyle/>
                        <a:p>
                          <a:r>
                            <a:rPr lang="es-CO" sz="1050" b="1" dirty="0">
                              <a:latin typeface="+mn-lt"/>
                              <a:ea typeface="Roboto" panose="02000000000000000000" pitchFamily="2" charset="0"/>
                            </a:rPr>
                            <a:t>Absorción</a:t>
                          </a:r>
                        </a:p>
                      </a:txBody>
                      <a:tcPr>
                        <a:solidFill>
                          <a:schemeClr val="bg2"/>
                        </a:solidFill>
                      </a:tcPr>
                    </a:tc>
                    <a:tc>
                      <a:txBody>
                        <a:bodyPr/>
                        <a:lstStyle/>
                        <a:p>
                          <a:endParaRPr lang="es-CO"/>
                        </a:p>
                      </a:txBody>
                      <a:tcPr>
                        <a:blipFill>
                          <a:blip r:embed="rId3"/>
                          <a:stretch>
                            <a:fillRect l="-56495" t="-909756" r="-102115" b="-417073"/>
                          </a:stretch>
                        </a:blipFill>
                      </a:tcPr>
                    </a:tc>
                    <a:tc>
                      <a:txBody>
                        <a:bodyPr/>
                        <a:lstStyle/>
                        <a:p>
                          <a:endParaRPr lang="es-CO"/>
                        </a:p>
                      </a:txBody>
                      <a:tcPr>
                        <a:blipFill>
                          <a:blip r:embed="rId3"/>
                          <a:stretch>
                            <a:fillRect l="-154167" t="-909756" r="-595" b="-417073"/>
                          </a:stretch>
                        </a:blipFill>
                      </a:tcPr>
                    </a:tc>
                    <a:extLst>
                      <a:ext uri="{0D108BD9-81ED-4DB2-BD59-A6C34878D82A}">
                        <a16:rowId xmlns:a16="http://schemas.microsoft.com/office/drawing/2014/main" val="1232652958"/>
                      </a:ext>
                    </a:extLst>
                  </a:tr>
                  <a:tr h="251460">
                    <a:tc>
                      <a:txBody>
                        <a:bodyPr/>
                        <a:lstStyle/>
                        <a:p>
                          <a:r>
                            <a:rPr lang="es-CO" sz="1050" b="1" dirty="0">
                              <a:latin typeface="+mn-lt"/>
                              <a:ea typeface="Roboto" panose="02000000000000000000" pitchFamily="2" charset="0"/>
                            </a:rPr>
                            <a:t>Complemento</a:t>
                          </a:r>
                        </a:p>
                      </a:txBody>
                      <a:tcPr>
                        <a:solidFill>
                          <a:schemeClr val="bg2"/>
                        </a:solidFill>
                      </a:tcPr>
                    </a:tc>
                    <a:tc>
                      <a:txBody>
                        <a:bodyPr/>
                        <a:lstStyle/>
                        <a:p>
                          <a:endParaRPr lang="es-CO"/>
                        </a:p>
                      </a:txBody>
                      <a:tcPr>
                        <a:blipFill>
                          <a:blip r:embed="rId3"/>
                          <a:stretch>
                            <a:fillRect l="-56495" t="-1009756" r="-102115" b="-317073"/>
                          </a:stretch>
                        </a:blipFill>
                      </a:tcPr>
                    </a:tc>
                    <a:tc>
                      <a:txBody>
                        <a:bodyPr/>
                        <a:lstStyle/>
                        <a:p>
                          <a:endParaRPr lang="es-CO"/>
                        </a:p>
                      </a:txBody>
                      <a:tcPr>
                        <a:blipFill>
                          <a:blip r:embed="rId3"/>
                          <a:stretch>
                            <a:fillRect l="-154167" t="-1009756" r="-595" b="-317073"/>
                          </a:stretch>
                        </a:blipFill>
                      </a:tcPr>
                    </a:tc>
                    <a:extLst>
                      <a:ext uri="{0D108BD9-81ED-4DB2-BD59-A6C34878D82A}">
                        <a16:rowId xmlns:a16="http://schemas.microsoft.com/office/drawing/2014/main" val="3770911309"/>
                      </a:ext>
                    </a:extLst>
                  </a:tr>
                  <a:tr h="251460">
                    <a:tc>
                      <a:txBody>
                        <a:bodyPr/>
                        <a:lstStyle/>
                        <a:p>
                          <a:r>
                            <a:rPr lang="es-CO" sz="1050" b="1" dirty="0">
                              <a:latin typeface="+mn-lt"/>
                              <a:ea typeface="Roboto" panose="02000000000000000000" pitchFamily="2" charset="0"/>
                            </a:rPr>
                            <a:t>Implicación</a:t>
                          </a:r>
                        </a:p>
                      </a:txBody>
                      <a:tcPr>
                        <a:solidFill>
                          <a:schemeClr val="bg2"/>
                        </a:solidFill>
                      </a:tcPr>
                    </a:tc>
                    <a:tc gridSpan="2">
                      <a:txBody>
                        <a:bodyPr/>
                        <a:lstStyle/>
                        <a:p>
                          <a:endParaRPr lang="es-CO"/>
                        </a:p>
                      </a:txBody>
                      <a:tcPr>
                        <a:blipFill>
                          <a:blip r:embed="rId3"/>
                          <a:stretch>
                            <a:fillRect l="-28036" t="-1109756" r="-300" b="-217073"/>
                          </a:stretch>
                        </a:blipFill>
                      </a:tcPr>
                    </a:tc>
                    <a:tc hMerge="1">
                      <a:txBody>
                        <a:bodyPr/>
                        <a:lstStyle/>
                        <a:p>
                          <a:endParaRPr lang="es-CO"/>
                        </a:p>
                      </a:txBody>
                      <a:tcPr/>
                    </a:tc>
                    <a:extLst>
                      <a:ext uri="{0D108BD9-81ED-4DB2-BD59-A6C34878D82A}">
                        <a16:rowId xmlns:a16="http://schemas.microsoft.com/office/drawing/2014/main" val="3483938044"/>
                      </a:ext>
                    </a:extLst>
                  </a:tr>
                  <a:tr h="251460">
                    <a:tc>
                      <a:txBody>
                        <a:bodyPr/>
                        <a:lstStyle/>
                        <a:p>
                          <a:r>
                            <a:rPr lang="es-CO" sz="1050" b="1" dirty="0">
                              <a:latin typeface="+mn-lt"/>
                              <a:ea typeface="Roboto" panose="02000000000000000000" pitchFamily="2" charset="0"/>
                            </a:rPr>
                            <a:t>Contrarrecíproco</a:t>
                          </a:r>
                        </a:p>
                      </a:txBody>
                      <a:tcPr>
                        <a:solidFill>
                          <a:schemeClr val="bg2"/>
                        </a:solidFill>
                      </a:tcPr>
                    </a:tc>
                    <a:tc gridSpan="2">
                      <a:txBody>
                        <a:bodyPr/>
                        <a:lstStyle/>
                        <a:p>
                          <a:endParaRPr lang="es-CO"/>
                        </a:p>
                      </a:txBody>
                      <a:tcPr>
                        <a:blipFill>
                          <a:blip r:embed="rId3"/>
                          <a:stretch>
                            <a:fillRect l="-28036" t="-1180952" r="-300" b="-111905"/>
                          </a:stretch>
                        </a:blipFill>
                      </a:tcPr>
                    </a:tc>
                    <a:tc hMerge="1">
                      <a:txBody>
                        <a:bodyPr/>
                        <a:lstStyle/>
                        <a:p>
                          <a:endParaRPr lang="es-CO"/>
                        </a:p>
                      </a:txBody>
                      <a:tcPr/>
                    </a:tc>
                    <a:extLst>
                      <a:ext uri="{0D108BD9-81ED-4DB2-BD59-A6C34878D82A}">
                        <a16:rowId xmlns:a16="http://schemas.microsoft.com/office/drawing/2014/main" val="3255506134"/>
                      </a:ext>
                    </a:extLst>
                  </a:tr>
                  <a:tr h="251460">
                    <a:tc>
                      <a:txBody>
                        <a:bodyPr/>
                        <a:lstStyle/>
                        <a:p>
                          <a:r>
                            <a:rPr lang="es-CO" sz="1050" b="1" dirty="0">
                              <a:latin typeface="+mn-lt"/>
                              <a:ea typeface="Roboto" panose="02000000000000000000" pitchFamily="2" charset="0"/>
                            </a:rPr>
                            <a:t>Equivalencia</a:t>
                          </a:r>
                        </a:p>
                      </a:txBody>
                      <a:tcPr>
                        <a:solidFill>
                          <a:schemeClr val="bg2"/>
                        </a:solidFill>
                      </a:tcPr>
                    </a:tc>
                    <a:tc gridSpan="2">
                      <a:txBody>
                        <a:bodyPr/>
                        <a:lstStyle/>
                        <a:p>
                          <a:endParaRPr lang="es-CO"/>
                        </a:p>
                      </a:txBody>
                      <a:tcPr>
                        <a:blipFill>
                          <a:blip r:embed="rId3"/>
                          <a:stretch>
                            <a:fillRect l="-28036" t="-1312195" r="-300" b="-14634"/>
                          </a:stretch>
                        </a:blipFill>
                      </a:tcPr>
                    </a:tc>
                    <a:tc hMerge="1">
                      <a:txBody>
                        <a:bodyPr/>
                        <a:lstStyle/>
                        <a:p>
                          <a:endParaRPr lang="es-CO"/>
                        </a:p>
                      </a:txBody>
                      <a:tcPr/>
                    </a:tc>
                    <a:extLst>
                      <a:ext uri="{0D108BD9-81ED-4DB2-BD59-A6C34878D82A}">
                        <a16:rowId xmlns:a16="http://schemas.microsoft.com/office/drawing/2014/main" val="40457137"/>
                      </a:ext>
                    </a:extLst>
                  </a:tr>
                </a:tbl>
              </a:graphicData>
            </a:graphic>
          </p:graphicFrame>
        </mc:Fallback>
      </mc:AlternateContent>
      <p:sp>
        <p:nvSpPr>
          <p:cNvPr id="9" name="CuadroTexto 8">
            <a:extLst>
              <a:ext uri="{FF2B5EF4-FFF2-40B4-BE49-F238E27FC236}">
                <a16:creationId xmlns:a16="http://schemas.microsoft.com/office/drawing/2014/main" id="{8003C42D-E965-4853-B73B-1281C574B6DA}"/>
              </a:ext>
            </a:extLst>
          </p:cNvPr>
          <p:cNvSpPr txBox="1"/>
          <p:nvPr/>
        </p:nvSpPr>
        <p:spPr>
          <a:xfrm>
            <a:off x="360218" y="1889194"/>
            <a:ext cx="1628239" cy="430887"/>
          </a:xfrm>
          <a:prstGeom prst="rect">
            <a:avLst/>
          </a:prstGeom>
          <a:noFill/>
        </p:spPr>
        <p:txBody>
          <a:bodyPr wrap="square" rtlCol="0">
            <a:spAutoFit/>
          </a:bodyPr>
          <a:lstStyle/>
          <a:p>
            <a:r>
              <a:rPr lang="es-CO" sz="2200" b="1" dirty="0"/>
              <a:t>Solución</a:t>
            </a:r>
          </a:p>
        </p:txBody>
      </p:sp>
    </p:spTree>
    <p:extLst>
      <p:ext uri="{BB962C8B-B14F-4D97-AF65-F5344CB8AC3E}">
        <p14:creationId xmlns:p14="http://schemas.microsoft.com/office/powerpoint/2010/main" val="8329282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838199" y="226580"/>
            <a:ext cx="10515600" cy="1325563"/>
          </a:xfrm>
        </p:spPr>
        <p:txBody>
          <a:bodyPr/>
          <a:lstStyle/>
          <a:p>
            <a:r>
              <a:rPr lang="es-CO" dirty="0"/>
              <a:t>Ejemplos de repaso - Demostraciones</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360218" y="1375234"/>
                <a:ext cx="11471563" cy="395509"/>
              </a:xfrm>
            </p:spPr>
            <p:txBody>
              <a:bodyPr>
                <a:normAutofit/>
              </a:bodyPr>
              <a:lstStyle/>
              <a:p>
                <a:pPr marL="457200" indent="-457200">
                  <a:buFont typeface="+mj-lt"/>
                  <a:buAutoNum type="arabicPeriod" startAt="4"/>
                </a:pPr>
                <a:r>
                  <a:rPr lang="es-MX" sz="2200" dirty="0">
                    <a:ea typeface="Cambria Math" panose="02040503050406030204" pitchFamily="18" charset="0"/>
                  </a:rPr>
                  <a:t>Demostrar que </a:t>
                </a:r>
                <a14:m>
                  <m:oMath xmlns:m="http://schemas.openxmlformats.org/officeDocument/2006/math">
                    <m:d>
                      <m:dPr>
                        <m:begChr m:val="["/>
                        <m:endChr m:val="]"/>
                        <m:ctrlPr>
                          <a:rPr lang="es-MX" sz="2200" i="1">
                            <a:latin typeface="Cambria Math" panose="02040503050406030204" pitchFamily="18" charset="0"/>
                            <a:ea typeface="Cambria Math" panose="02040503050406030204" pitchFamily="18" charset="0"/>
                          </a:rPr>
                        </m:ctrlPr>
                      </m:dPr>
                      <m:e>
                        <m:d>
                          <m:dPr>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𝑝</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𝑞</m:t>
                            </m:r>
                          </m:e>
                        </m:d>
                        <m:r>
                          <a:rPr lang="es-MX" sz="2200" i="1">
                            <a:latin typeface="Cambria Math" panose="02040503050406030204" pitchFamily="18" charset="0"/>
                            <a:ea typeface="Cambria Math" panose="02040503050406030204" pitchFamily="18" charset="0"/>
                          </a:rPr>
                          <m:t>∧</m:t>
                        </m:r>
                        <m:d>
                          <m:dPr>
                            <m:ctrlPr>
                              <a:rPr lang="es-MX" sz="2200" i="1">
                                <a:latin typeface="Cambria Math" panose="02040503050406030204" pitchFamily="18" charset="0"/>
                                <a:ea typeface="Cambria Math" panose="02040503050406030204" pitchFamily="18" charset="0"/>
                              </a:rPr>
                            </m:ctrlPr>
                          </m:dPr>
                          <m:e>
                            <m:r>
                              <a:rPr lang="es-MX" sz="2200" i="1">
                                <a:latin typeface="Cambria Math" panose="02040503050406030204" pitchFamily="18" charset="0"/>
                                <a:ea typeface="Cambria Math" panose="02040503050406030204" pitchFamily="18" charset="0"/>
                              </a:rPr>
                              <m:t>𝑞</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𝑟</m:t>
                            </m:r>
                          </m:e>
                        </m:d>
                      </m:e>
                    </m:d>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𝑝</m:t>
                    </m:r>
                    <m:r>
                      <a:rPr lang="es-MX" sz="2200" i="1">
                        <a:latin typeface="Cambria Math" panose="02040503050406030204" pitchFamily="18" charset="0"/>
                        <a:ea typeface="Cambria Math" panose="02040503050406030204" pitchFamily="18" charset="0"/>
                      </a:rPr>
                      <m:t>→</m:t>
                    </m:r>
                    <m:r>
                      <a:rPr lang="es-MX" sz="2200" i="1">
                        <a:latin typeface="Cambria Math" panose="02040503050406030204" pitchFamily="18" charset="0"/>
                        <a:ea typeface="Cambria Math" panose="02040503050406030204" pitchFamily="18" charset="0"/>
                      </a:rPr>
                      <m:t>𝑟</m:t>
                    </m:r>
                    <m:r>
                      <a:rPr lang="es-MX" sz="2200" i="1">
                        <a:latin typeface="Cambria Math" panose="02040503050406030204" pitchFamily="18" charset="0"/>
                        <a:ea typeface="Cambria Math" panose="02040503050406030204" pitchFamily="18" charset="0"/>
                      </a:rPr>
                      <m:t>)</m:t>
                    </m:r>
                  </m:oMath>
                </a14:m>
                <a:r>
                  <a:rPr lang="es-MX" sz="2200" dirty="0">
                    <a:ea typeface="Cambria Math" panose="02040503050406030204" pitchFamily="18" charset="0"/>
                  </a:rPr>
                  <a:t> es una tautología.</a:t>
                </a:r>
                <a:endParaRPr lang="es-MX" sz="2200" dirty="0">
                  <a:latin typeface="Google Sans Text"/>
                  <a:ea typeface="Cambria Math" panose="02040503050406030204" pitchFamily="18" charset="0"/>
                </a:endParaRPr>
              </a:p>
            </p:txBody>
          </p:sp>
        </mc:Choice>
        <mc:Fallback>
          <p:sp>
            <p:nvSpPr>
              <p:cNvPr id="3" name="Marcador de contenido 2">
                <a:extLst>
                  <a:ext uri="{FF2B5EF4-FFF2-40B4-BE49-F238E27FC236}">
                    <a16:creationId xmlns:a16="http://schemas.microsoft.com/office/drawing/2014/main" id="{8C611C1C-AB20-4127-87E3-88401D8503D0}"/>
                  </a:ext>
                </a:extLst>
              </p:cNvPr>
              <p:cNvSpPr>
                <a:spLocks noGrp="1" noRot="1" noChangeAspect="1" noMove="1" noResize="1" noEditPoints="1" noAdjustHandles="1" noChangeArrowheads="1" noChangeShapeType="1" noTextEdit="1"/>
              </p:cNvSpPr>
              <p:nvPr>
                <p:ph idx="1"/>
              </p:nvPr>
            </p:nvSpPr>
            <p:spPr>
              <a:xfrm>
                <a:off x="360218" y="1375234"/>
                <a:ext cx="11471563" cy="395509"/>
              </a:xfrm>
              <a:blipFill>
                <a:blip r:embed="rId2"/>
                <a:stretch>
                  <a:fillRect l="-691" t="-20313" b="-34375"/>
                </a:stretch>
              </a:blipFill>
            </p:spPr>
            <p:txBody>
              <a:bodyPr/>
              <a:lstStyle/>
              <a:p>
                <a:r>
                  <a:rPr lang="es-CO">
                    <a:noFill/>
                  </a:rPr>
                  <a:t> </a:t>
                </a:r>
              </a:p>
            </p:txBody>
          </p:sp>
        </mc:Fallback>
      </mc:AlternateContent>
      <p:graphicFrame>
        <p:nvGraphicFramePr>
          <p:cNvPr id="7" name="Tabla 2">
            <a:extLst>
              <a:ext uri="{FF2B5EF4-FFF2-40B4-BE49-F238E27FC236}">
                <a16:creationId xmlns:a16="http://schemas.microsoft.com/office/drawing/2014/main" id="{14ACD789-EA15-4838-ACEF-1C114440FD37}"/>
              </a:ext>
            </a:extLst>
          </p:cNvPr>
          <p:cNvGraphicFramePr>
            <a:graphicFrameLocks noGrp="1"/>
          </p:cNvGraphicFramePr>
          <p:nvPr>
            <p:extLst>
              <p:ext uri="{D42A27DB-BD31-4B8C-83A1-F6EECF244321}">
                <p14:modId xmlns:p14="http://schemas.microsoft.com/office/powerpoint/2010/main" val="4282849841"/>
              </p:ext>
            </p:extLst>
          </p:nvPr>
        </p:nvGraphicFramePr>
        <p:xfrm>
          <a:off x="5762171" y="2170853"/>
          <a:ext cx="6069609" cy="4145280"/>
        </p:xfrm>
        <a:graphic>
          <a:graphicData uri="http://schemas.openxmlformats.org/drawingml/2006/table">
            <a:tbl>
              <a:tblPr firstRow="1" bandRow="1"/>
              <a:tblGrid>
                <a:gridCol w="593633">
                  <a:extLst>
                    <a:ext uri="{9D8B030D-6E8A-4147-A177-3AD203B41FA5}">
                      <a16:colId xmlns:a16="http://schemas.microsoft.com/office/drawing/2014/main" val="847383059"/>
                    </a:ext>
                  </a:extLst>
                </a:gridCol>
                <a:gridCol w="1611294">
                  <a:extLst>
                    <a:ext uri="{9D8B030D-6E8A-4147-A177-3AD203B41FA5}">
                      <a16:colId xmlns:a16="http://schemas.microsoft.com/office/drawing/2014/main" val="2194526293"/>
                    </a:ext>
                  </a:extLst>
                </a:gridCol>
                <a:gridCol w="3864682">
                  <a:extLst>
                    <a:ext uri="{9D8B030D-6E8A-4147-A177-3AD203B41FA5}">
                      <a16:colId xmlns:a16="http://schemas.microsoft.com/office/drawing/2014/main" val="4281859008"/>
                    </a:ext>
                  </a:extLst>
                </a:gridCol>
              </a:tblGrid>
              <a:tr h="336320">
                <a:tc>
                  <a:txBody>
                    <a:bodyPr/>
                    <a:lstStyle/>
                    <a:p>
                      <a:pPr algn="ct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3788432"/>
                  </a:ext>
                </a:extLst>
              </a:tr>
              <a:tr h="370840">
                <a:tc>
                  <a:txBody>
                    <a:bodyPr/>
                    <a:lstStyle/>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s-CO" sz="16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343470127"/>
                  </a:ext>
                </a:extLst>
              </a:tr>
            </a:tbl>
          </a:graphicData>
        </a:graphic>
      </p:graphicFrame>
      <mc:AlternateContent xmlns:mc="http://schemas.openxmlformats.org/markup-compatibility/2006">
        <mc:Choice xmlns:a14="http://schemas.microsoft.com/office/drawing/2010/main" Requires="a14">
          <p:graphicFrame>
            <p:nvGraphicFramePr>
              <p:cNvPr id="8" name="Tabla 3">
                <a:extLst>
                  <a:ext uri="{FF2B5EF4-FFF2-40B4-BE49-F238E27FC236}">
                    <a16:creationId xmlns:a16="http://schemas.microsoft.com/office/drawing/2014/main" id="{6CB9EEA0-ED03-4E68-8CD9-25BE60C91BA6}"/>
                  </a:ext>
                </a:extLst>
              </p:cNvPr>
              <p:cNvGraphicFramePr>
                <a:graphicFrameLocks noGrp="1"/>
              </p:cNvGraphicFramePr>
              <p:nvPr>
                <p:extLst>
                  <p:ext uri="{D42A27DB-BD31-4B8C-83A1-F6EECF244321}">
                    <p14:modId xmlns:p14="http://schemas.microsoft.com/office/powerpoint/2010/main" val="2805190840"/>
                  </p:ext>
                </p:extLst>
              </p:nvPr>
            </p:nvGraphicFramePr>
            <p:xfrm>
              <a:off x="360218" y="2483273"/>
              <a:ext cx="5198754" cy="3520440"/>
            </p:xfrm>
            <a:graphic>
              <a:graphicData uri="http://schemas.openxmlformats.org/drawingml/2006/table">
                <a:tbl>
                  <a:tblPr firstRow="1" bandRow="1"/>
                  <a:tblGrid>
                    <a:gridCol w="1132612">
                      <a:extLst>
                        <a:ext uri="{9D8B030D-6E8A-4147-A177-3AD203B41FA5}">
                          <a16:colId xmlns:a16="http://schemas.microsoft.com/office/drawing/2014/main" val="2419793140"/>
                        </a:ext>
                      </a:extLst>
                    </a:gridCol>
                    <a:gridCol w="2020666">
                      <a:extLst>
                        <a:ext uri="{9D8B030D-6E8A-4147-A177-3AD203B41FA5}">
                          <a16:colId xmlns:a16="http://schemas.microsoft.com/office/drawing/2014/main" val="2761119023"/>
                        </a:ext>
                      </a:extLst>
                    </a:gridCol>
                    <a:gridCol w="2045476">
                      <a:extLst>
                        <a:ext uri="{9D8B030D-6E8A-4147-A177-3AD203B41FA5}">
                          <a16:colId xmlns:a16="http://schemas.microsoft.com/office/drawing/2014/main" val="180266477"/>
                        </a:ext>
                      </a:extLst>
                    </a:gridCol>
                  </a:tblGrid>
                  <a:tr h="0">
                    <a:tc>
                      <a:txBody>
                        <a:bodyPr/>
                        <a:lstStyle/>
                        <a:p>
                          <a:r>
                            <a:rPr lang="es-CO" sz="1050" b="1" dirty="0">
                              <a:latin typeface="+mn-lt"/>
                              <a:ea typeface="Roboto" panose="02000000000000000000" pitchFamily="2" charset="0"/>
                            </a:rPr>
                            <a:t>Nombre</a:t>
                          </a:r>
                        </a:p>
                      </a:txBody>
                      <a:tcPr>
                        <a:solidFill>
                          <a:schemeClr val="bg2"/>
                        </a:solidFill>
                      </a:tcPr>
                    </a:tc>
                    <a:tc gridSpan="2">
                      <a:txBody>
                        <a:bodyPr/>
                        <a:lstStyle/>
                        <a:p>
                          <a:pPr algn="ctr"/>
                          <a:r>
                            <a:rPr lang="es-CO" sz="105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133681">
                    <a:tc>
                      <a:txBody>
                        <a:bodyPr/>
                        <a:lstStyle/>
                        <a:p>
                          <a:r>
                            <a:rPr lang="es-CO" sz="1050" b="1" dirty="0">
                              <a:latin typeface="+mn-lt"/>
                              <a:ea typeface="Roboto" panose="02000000000000000000" pitchFamily="2" charset="0"/>
                            </a:rPr>
                            <a:t>Conmutatividad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54515760"/>
                      </a:ext>
                    </a:extLst>
                  </a:tr>
                  <a:tr h="133681">
                    <a:tc>
                      <a:txBody>
                        <a:bodyPr/>
                        <a:lstStyle/>
                        <a:p>
                          <a:r>
                            <a:rPr lang="es-CO" sz="1050" b="1" dirty="0">
                              <a:latin typeface="+mn-lt"/>
                              <a:ea typeface="Roboto" panose="02000000000000000000" pitchFamily="2" charset="0"/>
                            </a:rPr>
                            <a:t>Asociatividad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913743916"/>
                      </a:ext>
                    </a:extLst>
                  </a:tr>
                  <a:tr h="133681">
                    <a:tc>
                      <a:txBody>
                        <a:bodyPr/>
                        <a:lstStyle/>
                        <a:p>
                          <a:r>
                            <a:rPr lang="es-CO" sz="1050" b="1" dirty="0">
                              <a:latin typeface="+mn-lt"/>
                              <a:ea typeface="Roboto" panose="02000000000000000000" pitchFamily="2" charset="0"/>
                            </a:rPr>
                            <a:t>Distributividad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17401643"/>
                      </a:ext>
                    </a:extLst>
                  </a:tr>
                  <a:tr h="133681">
                    <a:tc>
                      <a:txBody>
                        <a:bodyPr/>
                        <a:lstStyle/>
                        <a:p>
                          <a:r>
                            <a:rPr lang="es-CO" sz="1050" b="1" dirty="0">
                              <a:latin typeface="+mn-lt"/>
                              <a:ea typeface="Roboto" panose="02000000000000000000" pitchFamily="2" charset="0"/>
                            </a:rPr>
                            <a:t>Idempotencia</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46818852"/>
                      </a:ext>
                    </a:extLst>
                  </a:tr>
                  <a:tr h="133681">
                    <a:tc>
                      <a:txBody>
                        <a:bodyPr/>
                        <a:lstStyle/>
                        <a:p>
                          <a:r>
                            <a:rPr lang="es-CO" sz="1050" b="1" dirty="0">
                              <a:latin typeface="+mn-lt"/>
                              <a:ea typeface="Roboto" panose="02000000000000000000" pitchFamily="2" charset="0"/>
                            </a:rPr>
                            <a:t>Doble negación</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88149062"/>
                      </a:ext>
                    </a:extLst>
                  </a:tr>
                  <a:tr h="133681">
                    <a:tc>
                      <a:txBody>
                        <a:bodyPr/>
                        <a:lstStyle/>
                        <a:p>
                          <a:r>
                            <a:rPr lang="es-CO" sz="1050" b="1" dirty="0">
                              <a:latin typeface="+mn-lt"/>
                              <a:ea typeface="Roboto" panose="02000000000000000000" pitchFamily="2" charset="0"/>
                            </a:rPr>
                            <a:t>Leyes de Morgan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13060234"/>
                      </a:ext>
                    </a:extLst>
                  </a:tr>
                  <a:tr h="133681">
                    <a:tc>
                      <a:txBody>
                        <a:bodyPr/>
                        <a:lstStyle/>
                        <a:p>
                          <a:r>
                            <a:rPr lang="es-CO" sz="1050" b="1" dirty="0">
                              <a:latin typeface="+mn-lt"/>
                              <a:ea typeface="Roboto" panose="02000000000000000000" pitchFamily="2" charset="0"/>
                            </a:rPr>
                            <a:t>Identidad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494965197"/>
                      </a:ext>
                    </a:extLst>
                  </a:tr>
                  <a:tr h="133681">
                    <a:tc>
                      <a:txBody>
                        <a:bodyPr/>
                        <a:lstStyle/>
                        <a:p>
                          <a:r>
                            <a:rPr lang="es-CO" sz="1050" b="1" dirty="0">
                              <a:latin typeface="+mn-lt"/>
                              <a:ea typeface="Roboto" panose="02000000000000000000" pitchFamily="2" charset="0"/>
                            </a:rPr>
                            <a:t>Dominación</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07485840"/>
                      </a:ext>
                    </a:extLst>
                  </a:tr>
                  <a:tr h="133681">
                    <a:tc>
                      <a:txBody>
                        <a:bodyPr/>
                        <a:lstStyle/>
                        <a:p>
                          <a:r>
                            <a:rPr lang="es-CO" sz="1050" b="1" dirty="0">
                              <a:latin typeface="+mn-lt"/>
                              <a:ea typeface="Roboto" panose="02000000000000000000" pitchFamily="2" charset="0"/>
                            </a:rPr>
                            <a:t>Absorción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232652958"/>
                      </a:ext>
                    </a:extLst>
                  </a:tr>
                  <a:tr h="133681">
                    <a:tc>
                      <a:txBody>
                        <a:bodyPr/>
                        <a:lstStyle/>
                        <a:p>
                          <a:r>
                            <a:rPr lang="es-CO" sz="1050" b="1" dirty="0">
                              <a:latin typeface="+mn-lt"/>
                              <a:ea typeface="Roboto" panose="02000000000000000000" pitchFamily="2" charset="0"/>
                            </a:rPr>
                            <a:t>Complemento</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oMath>
                            </m:oMathPara>
                          </a14:m>
                          <a:endParaRPr lang="es-CO" sz="1050" b="1"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oMath>
                            </m:oMathPara>
                          </a14:m>
                          <a:endParaRPr lang="es-CO" sz="105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70911309"/>
                      </a:ext>
                    </a:extLst>
                  </a:tr>
                  <a:tr h="133681">
                    <a:tc>
                      <a:txBody>
                        <a:bodyPr/>
                        <a:lstStyle/>
                        <a:p>
                          <a:r>
                            <a:rPr lang="es-CO" sz="1050" b="1" dirty="0">
                              <a:latin typeface="+mn-lt"/>
                              <a:ea typeface="Roboto" panose="02000000000000000000" pitchFamily="2" charset="0"/>
                            </a:rPr>
                            <a:t>Implicación</a:t>
                          </a:r>
                        </a:p>
                      </a:txBody>
                      <a:tcPr>
                        <a:solidFill>
                          <a:schemeClr val="bg2"/>
                        </a:solidFill>
                      </a:tcPr>
                    </a:tc>
                    <a:tc gridSpan="2">
                      <a:txBody>
                        <a:bodyPr/>
                        <a:lstStyle/>
                        <a:p>
                          <a:pPr algn="ct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Roboto" panose="02000000000000000000" pitchFamily="2"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483938044"/>
                      </a:ext>
                    </a:extLst>
                  </a:tr>
                  <a:tr h="133681">
                    <a:tc>
                      <a:txBody>
                        <a:bodyPr/>
                        <a:lstStyle/>
                        <a:p>
                          <a:r>
                            <a:rPr lang="es-CO" sz="1050" b="1" dirty="0">
                              <a:latin typeface="+mn-lt"/>
                              <a:ea typeface="Roboto" panose="02000000000000000000" pitchFamily="2" charset="0"/>
                            </a:rPr>
                            <a:t>Contrarrecíproco</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Roboto" panose="02000000000000000000" pitchFamily="2"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255506134"/>
                      </a:ext>
                    </a:extLst>
                  </a:tr>
                  <a:tr h="133681">
                    <a:tc>
                      <a:txBody>
                        <a:bodyPr/>
                        <a:lstStyle/>
                        <a:p>
                          <a:r>
                            <a:rPr lang="es-CO" sz="1050" b="1" dirty="0">
                              <a:latin typeface="+mn-lt"/>
                              <a:ea typeface="Roboto" panose="02000000000000000000" pitchFamily="2" charset="0"/>
                            </a:rPr>
                            <a:t>Equivalencia</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e>
                                </m:d>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40457137"/>
                      </a:ext>
                    </a:extLst>
                  </a:tr>
                </a:tbl>
              </a:graphicData>
            </a:graphic>
          </p:graphicFrame>
        </mc:Choice>
        <mc:Fallback>
          <p:graphicFrame>
            <p:nvGraphicFramePr>
              <p:cNvPr id="8" name="Tabla 3">
                <a:extLst>
                  <a:ext uri="{FF2B5EF4-FFF2-40B4-BE49-F238E27FC236}">
                    <a16:creationId xmlns:a16="http://schemas.microsoft.com/office/drawing/2014/main" id="{6CB9EEA0-ED03-4E68-8CD9-25BE60C91BA6}"/>
                  </a:ext>
                </a:extLst>
              </p:cNvPr>
              <p:cNvGraphicFramePr>
                <a:graphicFrameLocks noGrp="1"/>
              </p:cNvGraphicFramePr>
              <p:nvPr>
                <p:extLst>
                  <p:ext uri="{D42A27DB-BD31-4B8C-83A1-F6EECF244321}">
                    <p14:modId xmlns:p14="http://schemas.microsoft.com/office/powerpoint/2010/main" val="2805190840"/>
                  </p:ext>
                </p:extLst>
              </p:nvPr>
            </p:nvGraphicFramePr>
            <p:xfrm>
              <a:off x="360218" y="2483273"/>
              <a:ext cx="5198754" cy="3520440"/>
            </p:xfrm>
            <a:graphic>
              <a:graphicData uri="http://schemas.openxmlformats.org/drawingml/2006/table">
                <a:tbl>
                  <a:tblPr firstRow="1" bandRow="1"/>
                  <a:tblGrid>
                    <a:gridCol w="1132612">
                      <a:extLst>
                        <a:ext uri="{9D8B030D-6E8A-4147-A177-3AD203B41FA5}">
                          <a16:colId xmlns:a16="http://schemas.microsoft.com/office/drawing/2014/main" val="2419793140"/>
                        </a:ext>
                      </a:extLst>
                    </a:gridCol>
                    <a:gridCol w="2020666">
                      <a:extLst>
                        <a:ext uri="{9D8B030D-6E8A-4147-A177-3AD203B41FA5}">
                          <a16:colId xmlns:a16="http://schemas.microsoft.com/office/drawing/2014/main" val="2761119023"/>
                        </a:ext>
                      </a:extLst>
                    </a:gridCol>
                    <a:gridCol w="2045476">
                      <a:extLst>
                        <a:ext uri="{9D8B030D-6E8A-4147-A177-3AD203B41FA5}">
                          <a16:colId xmlns:a16="http://schemas.microsoft.com/office/drawing/2014/main" val="180266477"/>
                        </a:ext>
                      </a:extLst>
                    </a:gridCol>
                  </a:tblGrid>
                  <a:tr h="251460">
                    <a:tc>
                      <a:txBody>
                        <a:bodyPr/>
                        <a:lstStyle/>
                        <a:p>
                          <a:r>
                            <a:rPr lang="es-CO" sz="1050" b="1" dirty="0">
                              <a:latin typeface="+mn-lt"/>
                              <a:ea typeface="Roboto" panose="02000000000000000000" pitchFamily="2" charset="0"/>
                            </a:rPr>
                            <a:t>Nombre</a:t>
                          </a:r>
                        </a:p>
                      </a:txBody>
                      <a:tcPr>
                        <a:solidFill>
                          <a:schemeClr val="bg2"/>
                        </a:solidFill>
                      </a:tcPr>
                    </a:tc>
                    <a:tc gridSpan="2">
                      <a:txBody>
                        <a:bodyPr/>
                        <a:lstStyle/>
                        <a:p>
                          <a:pPr algn="ctr"/>
                          <a:r>
                            <a:rPr lang="es-CO" sz="105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251460">
                    <a:tc>
                      <a:txBody>
                        <a:bodyPr/>
                        <a:lstStyle/>
                        <a:p>
                          <a:r>
                            <a:rPr lang="es-CO" sz="1050" b="1" dirty="0">
                              <a:latin typeface="+mn-lt"/>
                              <a:ea typeface="Roboto" panose="02000000000000000000" pitchFamily="2" charset="0"/>
                            </a:rPr>
                            <a:t>Conmutatividad</a:t>
                          </a:r>
                        </a:p>
                      </a:txBody>
                      <a:tcPr>
                        <a:solidFill>
                          <a:schemeClr val="bg2"/>
                        </a:solidFill>
                      </a:tcPr>
                    </a:tc>
                    <a:tc>
                      <a:txBody>
                        <a:bodyPr/>
                        <a:lstStyle/>
                        <a:p>
                          <a:endParaRPr lang="es-CO"/>
                        </a:p>
                      </a:txBody>
                      <a:tcPr>
                        <a:blipFill>
                          <a:blip r:embed="rId3"/>
                          <a:stretch>
                            <a:fillRect l="-56495" t="-100000" r="-102115" b="-1192857"/>
                          </a:stretch>
                        </a:blipFill>
                      </a:tcPr>
                    </a:tc>
                    <a:tc>
                      <a:txBody>
                        <a:bodyPr/>
                        <a:lstStyle/>
                        <a:p>
                          <a:endParaRPr lang="es-CO"/>
                        </a:p>
                      </a:txBody>
                      <a:tcPr>
                        <a:blipFill>
                          <a:blip r:embed="rId3"/>
                          <a:stretch>
                            <a:fillRect l="-154167" t="-100000" r="-595" b="-1192857"/>
                          </a:stretch>
                        </a:blipFill>
                      </a:tcPr>
                    </a:tc>
                    <a:extLst>
                      <a:ext uri="{0D108BD9-81ED-4DB2-BD59-A6C34878D82A}">
                        <a16:rowId xmlns:a16="http://schemas.microsoft.com/office/drawing/2014/main" val="3154515760"/>
                      </a:ext>
                    </a:extLst>
                  </a:tr>
                  <a:tr h="251460">
                    <a:tc>
                      <a:txBody>
                        <a:bodyPr/>
                        <a:lstStyle/>
                        <a:p>
                          <a:r>
                            <a:rPr lang="es-CO" sz="1050" b="1" dirty="0">
                              <a:latin typeface="+mn-lt"/>
                              <a:ea typeface="Roboto" panose="02000000000000000000" pitchFamily="2" charset="0"/>
                            </a:rPr>
                            <a:t>Asociatividad</a:t>
                          </a:r>
                        </a:p>
                      </a:txBody>
                      <a:tcPr>
                        <a:solidFill>
                          <a:schemeClr val="bg2"/>
                        </a:solidFill>
                      </a:tcPr>
                    </a:tc>
                    <a:tc>
                      <a:txBody>
                        <a:bodyPr/>
                        <a:lstStyle/>
                        <a:p>
                          <a:endParaRPr lang="es-CO"/>
                        </a:p>
                      </a:txBody>
                      <a:tcPr>
                        <a:blipFill>
                          <a:blip r:embed="rId3"/>
                          <a:stretch>
                            <a:fillRect l="-56495" t="-204878" r="-102115" b="-1121951"/>
                          </a:stretch>
                        </a:blipFill>
                      </a:tcPr>
                    </a:tc>
                    <a:tc>
                      <a:txBody>
                        <a:bodyPr/>
                        <a:lstStyle/>
                        <a:p>
                          <a:endParaRPr lang="es-CO"/>
                        </a:p>
                      </a:txBody>
                      <a:tcPr>
                        <a:blipFill>
                          <a:blip r:embed="rId3"/>
                          <a:stretch>
                            <a:fillRect l="-154167" t="-204878" r="-595" b="-1121951"/>
                          </a:stretch>
                        </a:blipFill>
                      </a:tcPr>
                    </a:tc>
                    <a:extLst>
                      <a:ext uri="{0D108BD9-81ED-4DB2-BD59-A6C34878D82A}">
                        <a16:rowId xmlns:a16="http://schemas.microsoft.com/office/drawing/2014/main" val="1913743916"/>
                      </a:ext>
                    </a:extLst>
                  </a:tr>
                  <a:tr h="251460">
                    <a:tc>
                      <a:txBody>
                        <a:bodyPr/>
                        <a:lstStyle/>
                        <a:p>
                          <a:r>
                            <a:rPr lang="es-CO" sz="1050" b="1" dirty="0">
                              <a:latin typeface="+mn-lt"/>
                              <a:ea typeface="Roboto" panose="02000000000000000000" pitchFamily="2" charset="0"/>
                            </a:rPr>
                            <a:t>Distributividad</a:t>
                          </a:r>
                        </a:p>
                      </a:txBody>
                      <a:tcPr>
                        <a:solidFill>
                          <a:schemeClr val="bg2"/>
                        </a:solidFill>
                      </a:tcPr>
                    </a:tc>
                    <a:tc>
                      <a:txBody>
                        <a:bodyPr/>
                        <a:lstStyle/>
                        <a:p>
                          <a:endParaRPr lang="es-CO"/>
                        </a:p>
                      </a:txBody>
                      <a:tcPr>
                        <a:blipFill>
                          <a:blip r:embed="rId3"/>
                          <a:stretch>
                            <a:fillRect l="-56495" t="-304878" r="-102115" b="-1021951"/>
                          </a:stretch>
                        </a:blipFill>
                      </a:tcPr>
                    </a:tc>
                    <a:tc>
                      <a:txBody>
                        <a:bodyPr/>
                        <a:lstStyle/>
                        <a:p>
                          <a:endParaRPr lang="es-CO"/>
                        </a:p>
                      </a:txBody>
                      <a:tcPr>
                        <a:blipFill>
                          <a:blip r:embed="rId3"/>
                          <a:stretch>
                            <a:fillRect l="-154167" t="-304878" r="-595" b="-1021951"/>
                          </a:stretch>
                        </a:blipFill>
                      </a:tcPr>
                    </a:tc>
                    <a:extLst>
                      <a:ext uri="{0D108BD9-81ED-4DB2-BD59-A6C34878D82A}">
                        <a16:rowId xmlns:a16="http://schemas.microsoft.com/office/drawing/2014/main" val="717401643"/>
                      </a:ext>
                    </a:extLst>
                  </a:tr>
                  <a:tr h="251460">
                    <a:tc>
                      <a:txBody>
                        <a:bodyPr/>
                        <a:lstStyle/>
                        <a:p>
                          <a:r>
                            <a:rPr lang="es-CO" sz="1050" b="1" dirty="0">
                              <a:latin typeface="+mn-lt"/>
                              <a:ea typeface="Roboto" panose="02000000000000000000" pitchFamily="2" charset="0"/>
                            </a:rPr>
                            <a:t>Idempotencia</a:t>
                          </a:r>
                        </a:p>
                      </a:txBody>
                      <a:tcPr>
                        <a:solidFill>
                          <a:schemeClr val="bg2"/>
                        </a:solidFill>
                      </a:tcPr>
                    </a:tc>
                    <a:tc>
                      <a:txBody>
                        <a:bodyPr/>
                        <a:lstStyle/>
                        <a:p>
                          <a:endParaRPr lang="es-CO"/>
                        </a:p>
                      </a:txBody>
                      <a:tcPr>
                        <a:blipFill>
                          <a:blip r:embed="rId3"/>
                          <a:stretch>
                            <a:fillRect l="-56495" t="-404878" r="-102115" b="-921951"/>
                          </a:stretch>
                        </a:blipFill>
                      </a:tcPr>
                    </a:tc>
                    <a:tc>
                      <a:txBody>
                        <a:bodyPr/>
                        <a:lstStyle/>
                        <a:p>
                          <a:endParaRPr lang="es-CO"/>
                        </a:p>
                      </a:txBody>
                      <a:tcPr>
                        <a:blipFill>
                          <a:blip r:embed="rId3"/>
                          <a:stretch>
                            <a:fillRect l="-154167" t="-404878" r="-595" b="-921951"/>
                          </a:stretch>
                        </a:blipFill>
                      </a:tcPr>
                    </a:tc>
                    <a:extLst>
                      <a:ext uri="{0D108BD9-81ED-4DB2-BD59-A6C34878D82A}">
                        <a16:rowId xmlns:a16="http://schemas.microsoft.com/office/drawing/2014/main" val="2246818852"/>
                      </a:ext>
                    </a:extLst>
                  </a:tr>
                  <a:tr h="251460">
                    <a:tc>
                      <a:txBody>
                        <a:bodyPr/>
                        <a:lstStyle/>
                        <a:p>
                          <a:r>
                            <a:rPr lang="es-CO" sz="1050" b="1" dirty="0">
                              <a:latin typeface="+mn-lt"/>
                              <a:ea typeface="Roboto" panose="02000000000000000000" pitchFamily="2" charset="0"/>
                            </a:rPr>
                            <a:t>Doble negación</a:t>
                          </a:r>
                        </a:p>
                      </a:txBody>
                      <a:tcPr>
                        <a:solidFill>
                          <a:schemeClr val="bg2"/>
                        </a:solidFill>
                      </a:tcPr>
                    </a:tc>
                    <a:tc gridSpan="2">
                      <a:txBody>
                        <a:bodyPr/>
                        <a:lstStyle/>
                        <a:p>
                          <a:endParaRPr lang="es-CO"/>
                        </a:p>
                      </a:txBody>
                      <a:tcPr>
                        <a:blipFill>
                          <a:blip r:embed="rId3"/>
                          <a:stretch>
                            <a:fillRect l="-28036" t="-492857" r="-300" b="-800000"/>
                          </a:stretch>
                        </a:blipFill>
                      </a:tcPr>
                    </a:tc>
                    <a:tc hMerge="1">
                      <a:txBody>
                        <a:bodyPr/>
                        <a:lstStyle/>
                        <a:p>
                          <a:endParaRPr lang="es-CO"/>
                        </a:p>
                      </a:txBody>
                      <a:tcPr/>
                    </a:tc>
                    <a:extLst>
                      <a:ext uri="{0D108BD9-81ED-4DB2-BD59-A6C34878D82A}">
                        <a16:rowId xmlns:a16="http://schemas.microsoft.com/office/drawing/2014/main" val="88149062"/>
                      </a:ext>
                    </a:extLst>
                  </a:tr>
                  <a:tr h="251460">
                    <a:tc>
                      <a:txBody>
                        <a:bodyPr/>
                        <a:lstStyle/>
                        <a:p>
                          <a:r>
                            <a:rPr lang="es-CO" sz="1050" b="1" dirty="0">
                              <a:latin typeface="+mn-lt"/>
                              <a:ea typeface="Roboto" panose="02000000000000000000" pitchFamily="2" charset="0"/>
                            </a:rPr>
                            <a:t>Leyes de Morgan</a:t>
                          </a:r>
                        </a:p>
                      </a:txBody>
                      <a:tcPr>
                        <a:solidFill>
                          <a:schemeClr val="bg2"/>
                        </a:solidFill>
                      </a:tcPr>
                    </a:tc>
                    <a:tc>
                      <a:txBody>
                        <a:bodyPr/>
                        <a:lstStyle/>
                        <a:p>
                          <a:endParaRPr lang="es-CO"/>
                        </a:p>
                      </a:txBody>
                      <a:tcPr>
                        <a:blipFill>
                          <a:blip r:embed="rId3"/>
                          <a:stretch>
                            <a:fillRect l="-56495" t="-607317" r="-102115" b="-719512"/>
                          </a:stretch>
                        </a:blipFill>
                      </a:tcPr>
                    </a:tc>
                    <a:tc>
                      <a:txBody>
                        <a:bodyPr/>
                        <a:lstStyle/>
                        <a:p>
                          <a:endParaRPr lang="es-CO"/>
                        </a:p>
                      </a:txBody>
                      <a:tcPr>
                        <a:blipFill>
                          <a:blip r:embed="rId3"/>
                          <a:stretch>
                            <a:fillRect l="-154167" t="-607317" r="-595" b="-719512"/>
                          </a:stretch>
                        </a:blipFill>
                      </a:tcPr>
                    </a:tc>
                    <a:extLst>
                      <a:ext uri="{0D108BD9-81ED-4DB2-BD59-A6C34878D82A}">
                        <a16:rowId xmlns:a16="http://schemas.microsoft.com/office/drawing/2014/main" val="2113060234"/>
                      </a:ext>
                    </a:extLst>
                  </a:tr>
                  <a:tr h="251460">
                    <a:tc>
                      <a:txBody>
                        <a:bodyPr/>
                        <a:lstStyle/>
                        <a:p>
                          <a:r>
                            <a:rPr lang="es-CO" sz="1050" b="1" dirty="0">
                              <a:latin typeface="+mn-lt"/>
                              <a:ea typeface="Roboto" panose="02000000000000000000" pitchFamily="2" charset="0"/>
                            </a:rPr>
                            <a:t>Identidad</a:t>
                          </a:r>
                        </a:p>
                      </a:txBody>
                      <a:tcPr>
                        <a:solidFill>
                          <a:schemeClr val="bg2"/>
                        </a:solidFill>
                      </a:tcPr>
                    </a:tc>
                    <a:tc>
                      <a:txBody>
                        <a:bodyPr/>
                        <a:lstStyle/>
                        <a:p>
                          <a:endParaRPr lang="es-CO"/>
                        </a:p>
                      </a:txBody>
                      <a:tcPr>
                        <a:blipFill>
                          <a:blip r:embed="rId3"/>
                          <a:stretch>
                            <a:fillRect l="-56495" t="-707317" r="-102115" b="-619512"/>
                          </a:stretch>
                        </a:blipFill>
                      </a:tcPr>
                    </a:tc>
                    <a:tc>
                      <a:txBody>
                        <a:bodyPr/>
                        <a:lstStyle/>
                        <a:p>
                          <a:endParaRPr lang="es-CO"/>
                        </a:p>
                      </a:txBody>
                      <a:tcPr>
                        <a:blipFill>
                          <a:blip r:embed="rId3"/>
                          <a:stretch>
                            <a:fillRect l="-154167" t="-707317" r="-595" b="-619512"/>
                          </a:stretch>
                        </a:blipFill>
                      </a:tcPr>
                    </a:tc>
                    <a:extLst>
                      <a:ext uri="{0D108BD9-81ED-4DB2-BD59-A6C34878D82A}">
                        <a16:rowId xmlns:a16="http://schemas.microsoft.com/office/drawing/2014/main" val="2494965197"/>
                      </a:ext>
                    </a:extLst>
                  </a:tr>
                  <a:tr h="251460">
                    <a:tc>
                      <a:txBody>
                        <a:bodyPr/>
                        <a:lstStyle/>
                        <a:p>
                          <a:r>
                            <a:rPr lang="es-CO" sz="1050" b="1" dirty="0">
                              <a:latin typeface="+mn-lt"/>
                              <a:ea typeface="Roboto" panose="02000000000000000000" pitchFamily="2" charset="0"/>
                            </a:rPr>
                            <a:t>Dominación</a:t>
                          </a:r>
                        </a:p>
                      </a:txBody>
                      <a:tcPr>
                        <a:solidFill>
                          <a:schemeClr val="bg2"/>
                        </a:solidFill>
                      </a:tcPr>
                    </a:tc>
                    <a:tc>
                      <a:txBody>
                        <a:bodyPr/>
                        <a:lstStyle/>
                        <a:p>
                          <a:endParaRPr lang="es-CO"/>
                        </a:p>
                      </a:txBody>
                      <a:tcPr>
                        <a:blipFill>
                          <a:blip r:embed="rId3"/>
                          <a:stretch>
                            <a:fillRect l="-56495" t="-788095" r="-102115" b="-504762"/>
                          </a:stretch>
                        </a:blipFill>
                      </a:tcPr>
                    </a:tc>
                    <a:tc>
                      <a:txBody>
                        <a:bodyPr/>
                        <a:lstStyle/>
                        <a:p>
                          <a:endParaRPr lang="es-CO"/>
                        </a:p>
                      </a:txBody>
                      <a:tcPr>
                        <a:blipFill>
                          <a:blip r:embed="rId3"/>
                          <a:stretch>
                            <a:fillRect l="-154167" t="-788095" r="-595" b="-504762"/>
                          </a:stretch>
                        </a:blipFill>
                      </a:tcPr>
                    </a:tc>
                    <a:extLst>
                      <a:ext uri="{0D108BD9-81ED-4DB2-BD59-A6C34878D82A}">
                        <a16:rowId xmlns:a16="http://schemas.microsoft.com/office/drawing/2014/main" val="707485840"/>
                      </a:ext>
                    </a:extLst>
                  </a:tr>
                  <a:tr h="251460">
                    <a:tc>
                      <a:txBody>
                        <a:bodyPr/>
                        <a:lstStyle/>
                        <a:p>
                          <a:r>
                            <a:rPr lang="es-CO" sz="1050" b="1" dirty="0">
                              <a:latin typeface="+mn-lt"/>
                              <a:ea typeface="Roboto" panose="02000000000000000000" pitchFamily="2" charset="0"/>
                            </a:rPr>
                            <a:t>Absorción</a:t>
                          </a:r>
                        </a:p>
                      </a:txBody>
                      <a:tcPr>
                        <a:solidFill>
                          <a:schemeClr val="bg2"/>
                        </a:solidFill>
                      </a:tcPr>
                    </a:tc>
                    <a:tc>
                      <a:txBody>
                        <a:bodyPr/>
                        <a:lstStyle/>
                        <a:p>
                          <a:endParaRPr lang="es-CO"/>
                        </a:p>
                      </a:txBody>
                      <a:tcPr>
                        <a:blipFill>
                          <a:blip r:embed="rId3"/>
                          <a:stretch>
                            <a:fillRect l="-56495" t="-909756" r="-102115" b="-417073"/>
                          </a:stretch>
                        </a:blipFill>
                      </a:tcPr>
                    </a:tc>
                    <a:tc>
                      <a:txBody>
                        <a:bodyPr/>
                        <a:lstStyle/>
                        <a:p>
                          <a:endParaRPr lang="es-CO"/>
                        </a:p>
                      </a:txBody>
                      <a:tcPr>
                        <a:blipFill>
                          <a:blip r:embed="rId3"/>
                          <a:stretch>
                            <a:fillRect l="-154167" t="-909756" r="-595" b="-417073"/>
                          </a:stretch>
                        </a:blipFill>
                      </a:tcPr>
                    </a:tc>
                    <a:extLst>
                      <a:ext uri="{0D108BD9-81ED-4DB2-BD59-A6C34878D82A}">
                        <a16:rowId xmlns:a16="http://schemas.microsoft.com/office/drawing/2014/main" val="1232652958"/>
                      </a:ext>
                    </a:extLst>
                  </a:tr>
                  <a:tr h="251460">
                    <a:tc>
                      <a:txBody>
                        <a:bodyPr/>
                        <a:lstStyle/>
                        <a:p>
                          <a:r>
                            <a:rPr lang="es-CO" sz="1050" b="1" dirty="0">
                              <a:latin typeface="+mn-lt"/>
                              <a:ea typeface="Roboto" panose="02000000000000000000" pitchFamily="2" charset="0"/>
                            </a:rPr>
                            <a:t>Complemento</a:t>
                          </a:r>
                        </a:p>
                      </a:txBody>
                      <a:tcPr>
                        <a:solidFill>
                          <a:schemeClr val="bg2"/>
                        </a:solidFill>
                      </a:tcPr>
                    </a:tc>
                    <a:tc>
                      <a:txBody>
                        <a:bodyPr/>
                        <a:lstStyle/>
                        <a:p>
                          <a:endParaRPr lang="es-CO"/>
                        </a:p>
                      </a:txBody>
                      <a:tcPr>
                        <a:blipFill>
                          <a:blip r:embed="rId3"/>
                          <a:stretch>
                            <a:fillRect l="-56495" t="-1009756" r="-102115" b="-317073"/>
                          </a:stretch>
                        </a:blipFill>
                      </a:tcPr>
                    </a:tc>
                    <a:tc>
                      <a:txBody>
                        <a:bodyPr/>
                        <a:lstStyle/>
                        <a:p>
                          <a:endParaRPr lang="es-CO"/>
                        </a:p>
                      </a:txBody>
                      <a:tcPr>
                        <a:blipFill>
                          <a:blip r:embed="rId3"/>
                          <a:stretch>
                            <a:fillRect l="-154167" t="-1009756" r="-595" b="-317073"/>
                          </a:stretch>
                        </a:blipFill>
                      </a:tcPr>
                    </a:tc>
                    <a:extLst>
                      <a:ext uri="{0D108BD9-81ED-4DB2-BD59-A6C34878D82A}">
                        <a16:rowId xmlns:a16="http://schemas.microsoft.com/office/drawing/2014/main" val="3770911309"/>
                      </a:ext>
                    </a:extLst>
                  </a:tr>
                  <a:tr h="251460">
                    <a:tc>
                      <a:txBody>
                        <a:bodyPr/>
                        <a:lstStyle/>
                        <a:p>
                          <a:r>
                            <a:rPr lang="es-CO" sz="1050" b="1" dirty="0">
                              <a:latin typeface="+mn-lt"/>
                              <a:ea typeface="Roboto" panose="02000000000000000000" pitchFamily="2" charset="0"/>
                            </a:rPr>
                            <a:t>Implicación</a:t>
                          </a:r>
                        </a:p>
                      </a:txBody>
                      <a:tcPr>
                        <a:solidFill>
                          <a:schemeClr val="bg2"/>
                        </a:solidFill>
                      </a:tcPr>
                    </a:tc>
                    <a:tc gridSpan="2">
                      <a:txBody>
                        <a:bodyPr/>
                        <a:lstStyle/>
                        <a:p>
                          <a:endParaRPr lang="es-CO"/>
                        </a:p>
                      </a:txBody>
                      <a:tcPr>
                        <a:blipFill>
                          <a:blip r:embed="rId3"/>
                          <a:stretch>
                            <a:fillRect l="-28036" t="-1109756" r="-300" b="-217073"/>
                          </a:stretch>
                        </a:blipFill>
                      </a:tcPr>
                    </a:tc>
                    <a:tc hMerge="1">
                      <a:txBody>
                        <a:bodyPr/>
                        <a:lstStyle/>
                        <a:p>
                          <a:endParaRPr lang="es-CO"/>
                        </a:p>
                      </a:txBody>
                      <a:tcPr/>
                    </a:tc>
                    <a:extLst>
                      <a:ext uri="{0D108BD9-81ED-4DB2-BD59-A6C34878D82A}">
                        <a16:rowId xmlns:a16="http://schemas.microsoft.com/office/drawing/2014/main" val="3483938044"/>
                      </a:ext>
                    </a:extLst>
                  </a:tr>
                  <a:tr h="251460">
                    <a:tc>
                      <a:txBody>
                        <a:bodyPr/>
                        <a:lstStyle/>
                        <a:p>
                          <a:r>
                            <a:rPr lang="es-CO" sz="1050" b="1" dirty="0">
                              <a:latin typeface="+mn-lt"/>
                              <a:ea typeface="Roboto" panose="02000000000000000000" pitchFamily="2" charset="0"/>
                            </a:rPr>
                            <a:t>Contrarrecíproco</a:t>
                          </a:r>
                        </a:p>
                      </a:txBody>
                      <a:tcPr>
                        <a:solidFill>
                          <a:schemeClr val="bg2"/>
                        </a:solidFill>
                      </a:tcPr>
                    </a:tc>
                    <a:tc gridSpan="2">
                      <a:txBody>
                        <a:bodyPr/>
                        <a:lstStyle/>
                        <a:p>
                          <a:endParaRPr lang="es-CO"/>
                        </a:p>
                      </a:txBody>
                      <a:tcPr>
                        <a:blipFill>
                          <a:blip r:embed="rId3"/>
                          <a:stretch>
                            <a:fillRect l="-28036" t="-1180952" r="-300" b="-111905"/>
                          </a:stretch>
                        </a:blipFill>
                      </a:tcPr>
                    </a:tc>
                    <a:tc hMerge="1">
                      <a:txBody>
                        <a:bodyPr/>
                        <a:lstStyle/>
                        <a:p>
                          <a:endParaRPr lang="es-CO"/>
                        </a:p>
                      </a:txBody>
                      <a:tcPr/>
                    </a:tc>
                    <a:extLst>
                      <a:ext uri="{0D108BD9-81ED-4DB2-BD59-A6C34878D82A}">
                        <a16:rowId xmlns:a16="http://schemas.microsoft.com/office/drawing/2014/main" val="3255506134"/>
                      </a:ext>
                    </a:extLst>
                  </a:tr>
                  <a:tr h="251460">
                    <a:tc>
                      <a:txBody>
                        <a:bodyPr/>
                        <a:lstStyle/>
                        <a:p>
                          <a:r>
                            <a:rPr lang="es-CO" sz="1050" b="1" dirty="0">
                              <a:latin typeface="+mn-lt"/>
                              <a:ea typeface="Roboto" panose="02000000000000000000" pitchFamily="2" charset="0"/>
                            </a:rPr>
                            <a:t>Equivalencia</a:t>
                          </a:r>
                        </a:p>
                      </a:txBody>
                      <a:tcPr>
                        <a:solidFill>
                          <a:schemeClr val="bg2"/>
                        </a:solidFill>
                      </a:tcPr>
                    </a:tc>
                    <a:tc gridSpan="2">
                      <a:txBody>
                        <a:bodyPr/>
                        <a:lstStyle/>
                        <a:p>
                          <a:endParaRPr lang="es-CO"/>
                        </a:p>
                      </a:txBody>
                      <a:tcPr>
                        <a:blipFill>
                          <a:blip r:embed="rId3"/>
                          <a:stretch>
                            <a:fillRect l="-28036" t="-1312195" r="-300" b="-14634"/>
                          </a:stretch>
                        </a:blipFill>
                      </a:tcPr>
                    </a:tc>
                    <a:tc hMerge="1">
                      <a:txBody>
                        <a:bodyPr/>
                        <a:lstStyle/>
                        <a:p>
                          <a:endParaRPr lang="es-CO"/>
                        </a:p>
                      </a:txBody>
                      <a:tcPr/>
                    </a:tc>
                    <a:extLst>
                      <a:ext uri="{0D108BD9-81ED-4DB2-BD59-A6C34878D82A}">
                        <a16:rowId xmlns:a16="http://schemas.microsoft.com/office/drawing/2014/main" val="40457137"/>
                      </a:ext>
                    </a:extLst>
                  </a:tr>
                </a:tbl>
              </a:graphicData>
            </a:graphic>
          </p:graphicFrame>
        </mc:Fallback>
      </mc:AlternateContent>
      <p:sp>
        <p:nvSpPr>
          <p:cNvPr id="9" name="CuadroTexto 8">
            <a:extLst>
              <a:ext uri="{FF2B5EF4-FFF2-40B4-BE49-F238E27FC236}">
                <a16:creationId xmlns:a16="http://schemas.microsoft.com/office/drawing/2014/main" id="{7CD572D0-C6D9-4E9C-9D78-03167E38FE66}"/>
              </a:ext>
            </a:extLst>
          </p:cNvPr>
          <p:cNvSpPr txBox="1"/>
          <p:nvPr/>
        </p:nvSpPr>
        <p:spPr>
          <a:xfrm>
            <a:off x="360218" y="1889194"/>
            <a:ext cx="1628239" cy="430887"/>
          </a:xfrm>
          <a:prstGeom prst="rect">
            <a:avLst/>
          </a:prstGeom>
          <a:noFill/>
        </p:spPr>
        <p:txBody>
          <a:bodyPr wrap="square" rtlCol="0">
            <a:spAutoFit/>
          </a:bodyPr>
          <a:lstStyle/>
          <a:p>
            <a:r>
              <a:rPr lang="es-CO" sz="2200" b="1" dirty="0"/>
              <a:t>Solución</a:t>
            </a:r>
          </a:p>
        </p:txBody>
      </p:sp>
    </p:spTree>
    <p:extLst>
      <p:ext uri="{BB962C8B-B14F-4D97-AF65-F5344CB8AC3E}">
        <p14:creationId xmlns:p14="http://schemas.microsoft.com/office/powerpoint/2010/main" val="2890400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838199" y="226580"/>
            <a:ext cx="10515600" cy="1325563"/>
          </a:xfrm>
        </p:spPr>
        <p:txBody>
          <a:bodyPr/>
          <a:lstStyle/>
          <a:p>
            <a:r>
              <a:rPr lang="es-CO" dirty="0"/>
              <a:t>Ejemplos de repaso - Demostraciones</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360218" y="1375235"/>
                <a:ext cx="11471563" cy="482594"/>
              </a:xfrm>
            </p:spPr>
            <p:txBody>
              <a:bodyPr>
                <a:normAutofit/>
              </a:bodyPr>
              <a:lstStyle/>
              <a:p>
                <a:pPr marL="457200" indent="-457200">
                  <a:buFont typeface="+mj-lt"/>
                  <a:buAutoNum type="arabicPeriod" startAt="5"/>
                </a:pPr>
                <a:r>
                  <a:rPr lang="es-MX" sz="2200" dirty="0">
                    <a:ea typeface="Cambria Math" panose="02040503050406030204" pitchFamily="18" charset="0"/>
                  </a:rPr>
                  <a:t>Demuestre que </a:t>
                </a:r>
                <a14:m>
                  <m:oMath xmlns:m="http://schemas.openxmlformats.org/officeDocument/2006/math">
                    <m:d>
                      <m:dPr>
                        <m:ctrlPr>
                          <a:rPr lang="es-MX" sz="2200" b="0" i="1" smtClean="0">
                            <a:effectLst/>
                            <a:latin typeface="Cambria Math" panose="02040503050406030204" pitchFamily="18" charset="0"/>
                            <a:ea typeface="Cambria Math" panose="02040503050406030204" pitchFamily="18" charset="0"/>
                          </a:rPr>
                        </m:ctrlPr>
                      </m:dPr>
                      <m:e>
                        <m:r>
                          <a:rPr lang="es-MX" sz="2200" b="0" i="1" smtClean="0">
                            <a:effectLst/>
                            <a:latin typeface="Cambria Math" panose="02040503050406030204" pitchFamily="18" charset="0"/>
                            <a:ea typeface="Cambria Math" panose="02040503050406030204" pitchFamily="18" charset="0"/>
                          </a:rPr>
                          <m:t>¬</m:t>
                        </m:r>
                        <m:r>
                          <a:rPr lang="es-MX" sz="2200" b="0" i="1" smtClean="0">
                            <a:latin typeface="Cambria Math" panose="02040503050406030204" pitchFamily="18" charset="0"/>
                            <a:ea typeface="Cambria Math" panose="02040503050406030204" pitchFamily="18" charset="0"/>
                          </a:rPr>
                          <m:t>𝑝</m:t>
                        </m:r>
                        <m:r>
                          <a:rPr lang="es-MX" sz="2200" i="1">
                            <a:latin typeface="Cambria Math" panose="02040503050406030204" pitchFamily="18" charset="0"/>
                            <a:ea typeface="Cambria Math" panose="02040503050406030204" pitchFamily="18" charset="0"/>
                          </a:rPr>
                          <m:t>∧</m:t>
                        </m:r>
                        <m:d>
                          <m:dPr>
                            <m:ctrlPr>
                              <a:rPr lang="es-MX" sz="2200" b="0" i="1" smtClean="0">
                                <a:effectLst/>
                                <a:latin typeface="Cambria Math" panose="02040503050406030204" pitchFamily="18" charset="0"/>
                                <a:ea typeface="Cambria Math" panose="02040503050406030204" pitchFamily="18" charset="0"/>
                              </a:rPr>
                            </m:ctrlPr>
                          </m:dPr>
                          <m:e>
                            <m:r>
                              <a:rPr lang="es-MX" sz="2200" b="0" i="1" smtClean="0">
                                <a:effectLst/>
                                <a:latin typeface="Cambria Math" panose="02040503050406030204" pitchFamily="18" charset="0"/>
                                <a:ea typeface="Cambria Math" panose="02040503050406030204" pitchFamily="18" charset="0"/>
                              </a:rPr>
                              <m:t>𝑝</m:t>
                            </m:r>
                            <m:r>
                              <a:rPr lang="es-MX" sz="2200" b="0" i="1" smtClean="0">
                                <a:effectLst/>
                                <a:latin typeface="Cambria Math" panose="02040503050406030204" pitchFamily="18" charset="0"/>
                                <a:ea typeface="Cambria Math" panose="02040503050406030204" pitchFamily="18" charset="0"/>
                              </a:rPr>
                              <m:t>→</m:t>
                            </m:r>
                            <m:r>
                              <a:rPr lang="es-MX" sz="2200" b="0" i="1" smtClean="0">
                                <a:effectLst/>
                                <a:latin typeface="Cambria Math" panose="02040503050406030204" pitchFamily="18" charset="0"/>
                                <a:ea typeface="Cambria Math" panose="02040503050406030204" pitchFamily="18" charset="0"/>
                              </a:rPr>
                              <m:t>𝑞</m:t>
                            </m:r>
                          </m:e>
                        </m:d>
                      </m:e>
                    </m:d>
                    <m:r>
                      <a:rPr lang="es-MX" sz="2200" b="0" i="1" smtClean="0">
                        <a:effectLst/>
                        <a:latin typeface="Cambria Math" panose="02040503050406030204" pitchFamily="18" charset="0"/>
                        <a:ea typeface="Cambria Math" panose="02040503050406030204" pitchFamily="18" charset="0"/>
                      </a:rPr>
                      <m:t>→¬</m:t>
                    </m:r>
                    <m:r>
                      <a:rPr lang="es-MX" sz="2200" b="0" i="1" smtClean="0">
                        <a:effectLst/>
                        <a:latin typeface="Cambria Math" panose="02040503050406030204" pitchFamily="18" charset="0"/>
                        <a:ea typeface="Cambria Math" panose="02040503050406030204" pitchFamily="18" charset="0"/>
                      </a:rPr>
                      <m:t>𝑞</m:t>
                    </m:r>
                  </m:oMath>
                </a14:m>
                <a:r>
                  <a:rPr lang="es-MX" sz="2200" dirty="0">
                    <a:ea typeface="Cambria Math" panose="02040503050406030204" pitchFamily="18" charset="0"/>
                  </a:rPr>
                  <a:t> es una tautología.</a:t>
                </a:r>
              </a:p>
              <a:p>
                <a:pPr marL="457200" indent="-457200">
                  <a:buFont typeface="+mj-lt"/>
                  <a:buAutoNum type="arabicPeriod" startAt="5"/>
                </a:pPr>
                <a:endParaRPr lang="es-MX" sz="2000" dirty="0">
                  <a:latin typeface="Google Sans Text"/>
                  <a:ea typeface="Cambria Math" panose="02040503050406030204" pitchFamily="18" charset="0"/>
                </a:endParaRPr>
              </a:p>
              <a:p>
                <a:pPr lvl="1"/>
                <a:endParaRPr lang="es-MX" sz="2000" dirty="0">
                  <a:solidFill>
                    <a:srgbClr val="131314"/>
                  </a:solidFill>
                  <a:latin typeface="Google Sans Text"/>
                </a:endParaRPr>
              </a:p>
              <a:p>
                <a:pPr marL="0" indent="0">
                  <a:buNone/>
                </a:pPr>
                <a:endParaRPr lang="es-MX" sz="2000" dirty="0">
                  <a:ea typeface="Cambria Math" panose="02040503050406030204" pitchFamily="18" charset="0"/>
                </a:endParaRPr>
              </a:p>
            </p:txBody>
          </p:sp>
        </mc:Choice>
        <mc:Fallback>
          <p:sp>
            <p:nvSpPr>
              <p:cNvPr id="3" name="Marcador de contenido 2">
                <a:extLst>
                  <a:ext uri="{FF2B5EF4-FFF2-40B4-BE49-F238E27FC236}">
                    <a16:creationId xmlns:a16="http://schemas.microsoft.com/office/drawing/2014/main" id="{8C611C1C-AB20-4127-87E3-88401D8503D0}"/>
                  </a:ext>
                </a:extLst>
              </p:cNvPr>
              <p:cNvSpPr>
                <a:spLocks noGrp="1" noRot="1" noChangeAspect="1" noMove="1" noResize="1" noEditPoints="1" noAdjustHandles="1" noChangeArrowheads="1" noChangeShapeType="1" noTextEdit="1"/>
              </p:cNvSpPr>
              <p:nvPr>
                <p:ph idx="1"/>
              </p:nvPr>
            </p:nvSpPr>
            <p:spPr>
              <a:xfrm>
                <a:off x="360218" y="1375235"/>
                <a:ext cx="11471563" cy="482594"/>
              </a:xfrm>
              <a:blipFill>
                <a:blip r:embed="rId2"/>
                <a:stretch>
                  <a:fillRect l="-691" t="-11392" b="-13924"/>
                </a:stretch>
              </a:blipFill>
            </p:spPr>
            <p:txBody>
              <a:bodyPr/>
              <a:lstStyle/>
              <a:p>
                <a:r>
                  <a:rPr lang="es-CO">
                    <a:noFill/>
                  </a:rPr>
                  <a:t> </a:t>
                </a:r>
              </a:p>
            </p:txBody>
          </p:sp>
        </mc:Fallback>
      </mc:AlternateContent>
      <p:graphicFrame>
        <p:nvGraphicFramePr>
          <p:cNvPr id="6" name="Tabla 2">
            <a:extLst>
              <a:ext uri="{FF2B5EF4-FFF2-40B4-BE49-F238E27FC236}">
                <a16:creationId xmlns:a16="http://schemas.microsoft.com/office/drawing/2014/main" id="{B19F7DF3-C21A-457D-80EC-B38A523BF10F}"/>
              </a:ext>
            </a:extLst>
          </p:cNvPr>
          <p:cNvGraphicFramePr>
            <a:graphicFrameLocks noGrp="1"/>
          </p:cNvGraphicFramePr>
          <p:nvPr>
            <p:extLst>
              <p:ext uri="{D42A27DB-BD31-4B8C-83A1-F6EECF244321}">
                <p14:modId xmlns:p14="http://schemas.microsoft.com/office/powerpoint/2010/main" val="2338019363"/>
              </p:ext>
            </p:extLst>
          </p:nvPr>
        </p:nvGraphicFramePr>
        <p:xfrm>
          <a:off x="5762171" y="2170853"/>
          <a:ext cx="6069609" cy="4145280"/>
        </p:xfrm>
        <a:graphic>
          <a:graphicData uri="http://schemas.openxmlformats.org/drawingml/2006/table">
            <a:tbl>
              <a:tblPr firstRow="1" bandRow="1"/>
              <a:tblGrid>
                <a:gridCol w="593633">
                  <a:extLst>
                    <a:ext uri="{9D8B030D-6E8A-4147-A177-3AD203B41FA5}">
                      <a16:colId xmlns:a16="http://schemas.microsoft.com/office/drawing/2014/main" val="847383059"/>
                    </a:ext>
                  </a:extLst>
                </a:gridCol>
                <a:gridCol w="1611294">
                  <a:extLst>
                    <a:ext uri="{9D8B030D-6E8A-4147-A177-3AD203B41FA5}">
                      <a16:colId xmlns:a16="http://schemas.microsoft.com/office/drawing/2014/main" val="2194526293"/>
                    </a:ext>
                  </a:extLst>
                </a:gridCol>
                <a:gridCol w="3864682">
                  <a:extLst>
                    <a:ext uri="{9D8B030D-6E8A-4147-A177-3AD203B41FA5}">
                      <a16:colId xmlns:a16="http://schemas.microsoft.com/office/drawing/2014/main" val="4281859008"/>
                    </a:ext>
                  </a:extLst>
                </a:gridCol>
              </a:tblGrid>
              <a:tr h="336320">
                <a:tc>
                  <a:txBody>
                    <a:bodyPr/>
                    <a:lstStyle/>
                    <a:p>
                      <a:pPr algn="ct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3788432"/>
                  </a:ext>
                </a:extLst>
              </a:tr>
              <a:tr h="370840">
                <a:tc>
                  <a:txBody>
                    <a:bodyPr/>
                    <a:lstStyle/>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p>
                      <a:pPr algn="ct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s-CO" sz="1600" b="0"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343470127"/>
                  </a:ext>
                </a:extLst>
              </a:tr>
            </a:tbl>
          </a:graphicData>
        </a:graphic>
      </p:graphicFrame>
      <mc:AlternateContent xmlns:mc="http://schemas.openxmlformats.org/markup-compatibility/2006">
        <mc:Choice xmlns:a14="http://schemas.microsoft.com/office/drawing/2010/main" Requires="a14">
          <p:graphicFrame>
            <p:nvGraphicFramePr>
              <p:cNvPr id="7" name="Tabla 3">
                <a:extLst>
                  <a:ext uri="{FF2B5EF4-FFF2-40B4-BE49-F238E27FC236}">
                    <a16:creationId xmlns:a16="http://schemas.microsoft.com/office/drawing/2014/main" id="{CEA1E242-48CD-4D61-A057-7F9B41969E27}"/>
                  </a:ext>
                </a:extLst>
              </p:cNvPr>
              <p:cNvGraphicFramePr>
                <a:graphicFrameLocks noGrp="1"/>
              </p:cNvGraphicFramePr>
              <p:nvPr>
                <p:extLst>
                  <p:ext uri="{D42A27DB-BD31-4B8C-83A1-F6EECF244321}">
                    <p14:modId xmlns:p14="http://schemas.microsoft.com/office/powerpoint/2010/main" val="420091455"/>
                  </p:ext>
                </p:extLst>
              </p:nvPr>
            </p:nvGraphicFramePr>
            <p:xfrm>
              <a:off x="360218" y="2483273"/>
              <a:ext cx="5198754" cy="3520440"/>
            </p:xfrm>
            <a:graphic>
              <a:graphicData uri="http://schemas.openxmlformats.org/drawingml/2006/table">
                <a:tbl>
                  <a:tblPr firstRow="1" bandRow="1"/>
                  <a:tblGrid>
                    <a:gridCol w="1132612">
                      <a:extLst>
                        <a:ext uri="{9D8B030D-6E8A-4147-A177-3AD203B41FA5}">
                          <a16:colId xmlns:a16="http://schemas.microsoft.com/office/drawing/2014/main" val="2419793140"/>
                        </a:ext>
                      </a:extLst>
                    </a:gridCol>
                    <a:gridCol w="2020666">
                      <a:extLst>
                        <a:ext uri="{9D8B030D-6E8A-4147-A177-3AD203B41FA5}">
                          <a16:colId xmlns:a16="http://schemas.microsoft.com/office/drawing/2014/main" val="2761119023"/>
                        </a:ext>
                      </a:extLst>
                    </a:gridCol>
                    <a:gridCol w="2045476">
                      <a:extLst>
                        <a:ext uri="{9D8B030D-6E8A-4147-A177-3AD203B41FA5}">
                          <a16:colId xmlns:a16="http://schemas.microsoft.com/office/drawing/2014/main" val="180266477"/>
                        </a:ext>
                      </a:extLst>
                    </a:gridCol>
                  </a:tblGrid>
                  <a:tr h="0">
                    <a:tc>
                      <a:txBody>
                        <a:bodyPr/>
                        <a:lstStyle/>
                        <a:p>
                          <a:r>
                            <a:rPr lang="es-CO" sz="1050" b="1" dirty="0">
                              <a:latin typeface="+mn-lt"/>
                              <a:ea typeface="Roboto" panose="02000000000000000000" pitchFamily="2" charset="0"/>
                            </a:rPr>
                            <a:t>Nombre</a:t>
                          </a:r>
                        </a:p>
                      </a:txBody>
                      <a:tcPr>
                        <a:solidFill>
                          <a:schemeClr val="bg2"/>
                        </a:solidFill>
                      </a:tcPr>
                    </a:tc>
                    <a:tc gridSpan="2">
                      <a:txBody>
                        <a:bodyPr/>
                        <a:lstStyle/>
                        <a:p>
                          <a:pPr algn="ctr"/>
                          <a:r>
                            <a:rPr lang="es-CO" sz="105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133681">
                    <a:tc>
                      <a:txBody>
                        <a:bodyPr/>
                        <a:lstStyle/>
                        <a:p>
                          <a:r>
                            <a:rPr lang="es-CO" sz="1050" b="1" dirty="0">
                              <a:latin typeface="+mn-lt"/>
                              <a:ea typeface="Roboto" panose="02000000000000000000" pitchFamily="2" charset="0"/>
                            </a:rPr>
                            <a:t>Conmutatividad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54515760"/>
                      </a:ext>
                    </a:extLst>
                  </a:tr>
                  <a:tr h="133681">
                    <a:tc>
                      <a:txBody>
                        <a:bodyPr/>
                        <a:lstStyle/>
                        <a:p>
                          <a:r>
                            <a:rPr lang="es-CO" sz="1050" b="1" dirty="0">
                              <a:latin typeface="+mn-lt"/>
                              <a:ea typeface="Roboto" panose="02000000000000000000" pitchFamily="2" charset="0"/>
                            </a:rPr>
                            <a:t>Asociatividad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913743916"/>
                      </a:ext>
                    </a:extLst>
                  </a:tr>
                  <a:tr h="133681">
                    <a:tc>
                      <a:txBody>
                        <a:bodyPr/>
                        <a:lstStyle/>
                        <a:p>
                          <a:r>
                            <a:rPr lang="es-CO" sz="1050" b="1" dirty="0">
                              <a:latin typeface="+mn-lt"/>
                              <a:ea typeface="Roboto" panose="02000000000000000000" pitchFamily="2" charset="0"/>
                            </a:rPr>
                            <a:t>Distributividad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𝑅</m:t>
                                    </m:r>
                                  </m:e>
                                </m:d>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17401643"/>
                      </a:ext>
                    </a:extLst>
                  </a:tr>
                  <a:tr h="133681">
                    <a:tc>
                      <a:txBody>
                        <a:bodyPr/>
                        <a:lstStyle/>
                        <a:p>
                          <a:r>
                            <a:rPr lang="es-CO" sz="1050" b="1" dirty="0">
                              <a:latin typeface="+mn-lt"/>
                              <a:ea typeface="Roboto" panose="02000000000000000000" pitchFamily="2" charset="0"/>
                            </a:rPr>
                            <a:t>Idempotencia</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46818852"/>
                      </a:ext>
                    </a:extLst>
                  </a:tr>
                  <a:tr h="133681">
                    <a:tc>
                      <a:txBody>
                        <a:bodyPr/>
                        <a:lstStyle/>
                        <a:p>
                          <a:r>
                            <a:rPr lang="es-CO" sz="1050" b="1" dirty="0">
                              <a:latin typeface="+mn-lt"/>
                              <a:ea typeface="Roboto" panose="02000000000000000000" pitchFamily="2" charset="0"/>
                            </a:rPr>
                            <a:t>Doble negación</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88149062"/>
                      </a:ext>
                    </a:extLst>
                  </a:tr>
                  <a:tr h="133681">
                    <a:tc>
                      <a:txBody>
                        <a:bodyPr/>
                        <a:lstStyle/>
                        <a:p>
                          <a:r>
                            <a:rPr lang="es-CO" sz="1050" b="1" dirty="0">
                              <a:latin typeface="+mn-lt"/>
                              <a:ea typeface="Roboto" panose="02000000000000000000" pitchFamily="2" charset="0"/>
                            </a:rPr>
                            <a:t>Leyes de Morgan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13060234"/>
                      </a:ext>
                    </a:extLst>
                  </a:tr>
                  <a:tr h="133681">
                    <a:tc>
                      <a:txBody>
                        <a:bodyPr/>
                        <a:lstStyle/>
                        <a:p>
                          <a:r>
                            <a:rPr lang="es-CO" sz="1050" b="1" dirty="0">
                              <a:latin typeface="+mn-lt"/>
                              <a:ea typeface="Roboto" panose="02000000000000000000" pitchFamily="2" charset="0"/>
                            </a:rPr>
                            <a:t>Identidad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494965197"/>
                      </a:ext>
                    </a:extLst>
                  </a:tr>
                  <a:tr h="133681">
                    <a:tc>
                      <a:txBody>
                        <a:bodyPr/>
                        <a:lstStyle/>
                        <a:p>
                          <a:r>
                            <a:rPr lang="es-CO" sz="1050" b="1" dirty="0">
                              <a:latin typeface="+mn-lt"/>
                              <a:ea typeface="Roboto" panose="02000000000000000000" pitchFamily="2" charset="0"/>
                            </a:rPr>
                            <a:t>Dominación</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oMath>
                            </m:oMathPara>
                          </a14:m>
                          <a:endParaRPr lang="es-CO" sz="105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07485840"/>
                      </a:ext>
                    </a:extLst>
                  </a:tr>
                  <a:tr h="133681">
                    <a:tc>
                      <a:txBody>
                        <a:bodyPr/>
                        <a:lstStyle/>
                        <a:p>
                          <a:r>
                            <a:rPr lang="es-CO" sz="1050" b="1" dirty="0">
                              <a:latin typeface="+mn-lt"/>
                              <a:ea typeface="Roboto" panose="02000000000000000000" pitchFamily="2" charset="0"/>
                            </a:rPr>
                            <a:t>Absorción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e>
                                </m:d>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232652958"/>
                      </a:ext>
                    </a:extLst>
                  </a:tr>
                  <a:tr h="133681">
                    <a:tc>
                      <a:txBody>
                        <a:bodyPr/>
                        <a:lstStyle/>
                        <a:p>
                          <a:r>
                            <a:rPr lang="es-CO" sz="1050" b="1" dirty="0">
                              <a:latin typeface="+mn-lt"/>
                              <a:ea typeface="Roboto" panose="02000000000000000000" pitchFamily="2" charset="0"/>
                            </a:rPr>
                            <a:t>Complemento</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𝑭</m:t>
                                </m:r>
                              </m:oMath>
                            </m:oMathPara>
                          </a14:m>
                          <a:endParaRPr lang="es-CO" sz="1050" b="1"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1" i="1" smtClean="0">
                                    <a:latin typeface="Cambria Math" panose="02040503050406030204" pitchFamily="18" charset="0"/>
                                    <a:ea typeface="Cambria Math" panose="02040503050406030204" pitchFamily="18" charset="0"/>
                                  </a:rPr>
                                  <m:t>𝑽</m:t>
                                </m:r>
                              </m:oMath>
                            </m:oMathPara>
                          </a14:m>
                          <a:endParaRPr lang="es-CO" sz="105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70911309"/>
                      </a:ext>
                    </a:extLst>
                  </a:tr>
                  <a:tr h="133681">
                    <a:tc>
                      <a:txBody>
                        <a:bodyPr/>
                        <a:lstStyle/>
                        <a:p>
                          <a:r>
                            <a:rPr lang="es-CO" sz="1050" b="1" dirty="0">
                              <a:latin typeface="+mn-lt"/>
                              <a:ea typeface="Roboto" panose="02000000000000000000" pitchFamily="2" charset="0"/>
                            </a:rPr>
                            <a:t>Implicación</a:t>
                          </a:r>
                        </a:p>
                      </a:txBody>
                      <a:tcPr>
                        <a:solidFill>
                          <a:schemeClr val="bg2"/>
                        </a:solidFill>
                      </a:tcPr>
                    </a:tc>
                    <a:tc gridSpan="2">
                      <a:txBody>
                        <a:bodyPr/>
                        <a:lstStyle/>
                        <a:p>
                          <a:pPr algn="ct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Roboto" panose="02000000000000000000" pitchFamily="2"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483938044"/>
                      </a:ext>
                    </a:extLst>
                  </a:tr>
                  <a:tr h="133681">
                    <a:tc>
                      <a:txBody>
                        <a:bodyPr/>
                        <a:lstStyle/>
                        <a:p>
                          <a:r>
                            <a:rPr lang="es-CO" sz="1050" b="1" dirty="0">
                              <a:latin typeface="+mn-lt"/>
                              <a:ea typeface="Roboto" panose="02000000000000000000" pitchFamily="2" charset="0"/>
                            </a:rPr>
                            <a:t>Contrarrecíproco</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Roboto" panose="02000000000000000000" pitchFamily="2"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255506134"/>
                      </a:ext>
                    </a:extLst>
                  </a:tr>
                  <a:tr h="133681">
                    <a:tc>
                      <a:txBody>
                        <a:bodyPr/>
                        <a:lstStyle/>
                        <a:p>
                          <a:r>
                            <a:rPr lang="es-CO" sz="1050" b="1" dirty="0">
                              <a:latin typeface="+mn-lt"/>
                              <a:ea typeface="Roboto" panose="02000000000000000000" pitchFamily="2" charset="0"/>
                            </a:rPr>
                            <a:t>Equivalencia</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050" b="0" i="1" smtClean="0">
                                    <a:latin typeface="Cambria Math" panose="02040503050406030204" pitchFamily="18" charset="0"/>
                                    <a:ea typeface="Roboto" panose="02000000000000000000" pitchFamily="2"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Roboto" panose="02000000000000000000" pitchFamily="2"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d>
                                  <m:dPr>
                                    <m:ctrlPr>
                                      <a:rPr lang="es-MX" sz="1050" b="0" i="1" smtClean="0">
                                        <a:latin typeface="Cambria Math" panose="02040503050406030204" pitchFamily="18" charset="0"/>
                                        <a:ea typeface="Cambria Math" panose="02040503050406030204" pitchFamily="18" charset="0"/>
                                      </a:rPr>
                                    </m:ctrlPr>
                                  </m:dPr>
                                  <m:e>
                                    <m:r>
                                      <a:rPr lang="es-MX" sz="1050" b="0" i="1" smtClean="0">
                                        <a:latin typeface="Cambria Math" panose="02040503050406030204" pitchFamily="18" charset="0"/>
                                        <a:ea typeface="Cambria Math" panose="02040503050406030204" pitchFamily="18" charset="0"/>
                                      </a:rPr>
                                      <m:t>𝑄</m:t>
                                    </m:r>
                                    <m:r>
                                      <a:rPr lang="es-MX" sz="1050" b="0" i="1" smtClean="0">
                                        <a:latin typeface="Cambria Math" panose="02040503050406030204" pitchFamily="18" charset="0"/>
                                        <a:ea typeface="Cambria Math" panose="02040503050406030204" pitchFamily="18" charset="0"/>
                                      </a:rPr>
                                      <m:t>→</m:t>
                                    </m:r>
                                    <m:r>
                                      <a:rPr lang="es-MX" sz="1050" b="0" i="1" smtClean="0">
                                        <a:latin typeface="Cambria Math" panose="02040503050406030204" pitchFamily="18" charset="0"/>
                                        <a:ea typeface="Cambria Math" panose="02040503050406030204" pitchFamily="18" charset="0"/>
                                      </a:rPr>
                                      <m:t>𝑃</m:t>
                                    </m:r>
                                  </m:e>
                                </m:d>
                              </m:oMath>
                            </m:oMathPara>
                          </a14:m>
                          <a:endParaRPr lang="es-CO" sz="105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40457137"/>
                      </a:ext>
                    </a:extLst>
                  </a:tr>
                </a:tbl>
              </a:graphicData>
            </a:graphic>
          </p:graphicFrame>
        </mc:Choice>
        <mc:Fallback>
          <p:graphicFrame>
            <p:nvGraphicFramePr>
              <p:cNvPr id="7" name="Tabla 3">
                <a:extLst>
                  <a:ext uri="{FF2B5EF4-FFF2-40B4-BE49-F238E27FC236}">
                    <a16:creationId xmlns:a16="http://schemas.microsoft.com/office/drawing/2014/main" id="{CEA1E242-48CD-4D61-A057-7F9B41969E27}"/>
                  </a:ext>
                </a:extLst>
              </p:cNvPr>
              <p:cNvGraphicFramePr>
                <a:graphicFrameLocks noGrp="1"/>
              </p:cNvGraphicFramePr>
              <p:nvPr>
                <p:extLst>
                  <p:ext uri="{D42A27DB-BD31-4B8C-83A1-F6EECF244321}">
                    <p14:modId xmlns:p14="http://schemas.microsoft.com/office/powerpoint/2010/main" val="420091455"/>
                  </p:ext>
                </p:extLst>
              </p:nvPr>
            </p:nvGraphicFramePr>
            <p:xfrm>
              <a:off x="360218" y="2483273"/>
              <a:ext cx="5198754" cy="3520440"/>
            </p:xfrm>
            <a:graphic>
              <a:graphicData uri="http://schemas.openxmlformats.org/drawingml/2006/table">
                <a:tbl>
                  <a:tblPr firstRow="1" bandRow="1"/>
                  <a:tblGrid>
                    <a:gridCol w="1132612">
                      <a:extLst>
                        <a:ext uri="{9D8B030D-6E8A-4147-A177-3AD203B41FA5}">
                          <a16:colId xmlns:a16="http://schemas.microsoft.com/office/drawing/2014/main" val="2419793140"/>
                        </a:ext>
                      </a:extLst>
                    </a:gridCol>
                    <a:gridCol w="2020666">
                      <a:extLst>
                        <a:ext uri="{9D8B030D-6E8A-4147-A177-3AD203B41FA5}">
                          <a16:colId xmlns:a16="http://schemas.microsoft.com/office/drawing/2014/main" val="2761119023"/>
                        </a:ext>
                      </a:extLst>
                    </a:gridCol>
                    <a:gridCol w="2045476">
                      <a:extLst>
                        <a:ext uri="{9D8B030D-6E8A-4147-A177-3AD203B41FA5}">
                          <a16:colId xmlns:a16="http://schemas.microsoft.com/office/drawing/2014/main" val="180266477"/>
                        </a:ext>
                      </a:extLst>
                    </a:gridCol>
                  </a:tblGrid>
                  <a:tr h="251460">
                    <a:tc>
                      <a:txBody>
                        <a:bodyPr/>
                        <a:lstStyle/>
                        <a:p>
                          <a:r>
                            <a:rPr lang="es-CO" sz="1050" b="1" dirty="0">
                              <a:latin typeface="+mn-lt"/>
                              <a:ea typeface="Roboto" panose="02000000000000000000" pitchFamily="2" charset="0"/>
                            </a:rPr>
                            <a:t>Nombre</a:t>
                          </a:r>
                        </a:p>
                      </a:txBody>
                      <a:tcPr>
                        <a:solidFill>
                          <a:schemeClr val="bg2"/>
                        </a:solidFill>
                      </a:tcPr>
                    </a:tc>
                    <a:tc gridSpan="2">
                      <a:txBody>
                        <a:bodyPr/>
                        <a:lstStyle/>
                        <a:p>
                          <a:pPr algn="ctr"/>
                          <a:r>
                            <a:rPr lang="es-CO" sz="105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251460">
                    <a:tc>
                      <a:txBody>
                        <a:bodyPr/>
                        <a:lstStyle/>
                        <a:p>
                          <a:r>
                            <a:rPr lang="es-CO" sz="1050" b="1" dirty="0">
                              <a:latin typeface="+mn-lt"/>
                              <a:ea typeface="Roboto" panose="02000000000000000000" pitchFamily="2" charset="0"/>
                            </a:rPr>
                            <a:t>Conmutatividad</a:t>
                          </a:r>
                        </a:p>
                      </a:txBody>
                      <a:tcPr>
                        <a:solidFill>
                          <a:schemeClr val="bg2"/>
                        </a:solidFill>
                      </a:tcPr>
                    </a:tc>
                    <a:tc>
                      <a:txBody>
                        <a:bodyPr/>
                        <a:lstStyle/>
                        <a:p>
                          <a:endParaRPr lang="es-CO"/>
                        </a:p>
                      </a:txBody>
                      <a:tcPr>
                        <a:blipFill>
                          <a:blip r:embed="rId3"/>
                          <a:stretch>
                            <a:fillRect l="-56495" t="-100000" r="-102115" b="-1192857"/>
                          </a:stretch>
                        </a:blipFill>
                      </a:tcPr>
                    </a:tc>
                    <a:tc>
                      <a:txBody>
                        <a:bodyPr/>
                        <a:lstStyle/>
                        <a:p>
                          <a:endParaRPr lang="es-CO"/>
                        </a:p>
                      </a:txBody>
                      <a:tcPr>
                        <a:blipFill>
                          <a:blip r:embed="rId3"/>
                          <a:stretch>
                            <a:fillRect l="-154167" t="-100000" r="-595" b="-1192857"/>
                          </a:stretch>
                        </a:blipFill>
                      </a:tcPr>
                    </a:tc>
                    <a:extLst>
                      <a:ext uri="{0D108BD9-81ED-4DB2-BD59-A6C34878D82A}">
                        <a16:rowId xmlns:a16="http://schemas.microsoft.com/office/drawing/2014/main" val="3154515760"/>
                      </a:ext>
                    </a:extLst>
                  </a:tr>
                  <a:tr h="251460">
                    <a:tc>
                      <a:txBody>
                        <a:bodyPr/>
                        <a:lstStyle/>
                        <a:p>
                          <a:r>
                            <a:rPr lang="es-CO" sz="1050" b="1" dirty="0">
                              <a:latin typeface="+mn-lt"/>
                              <a:ea typeface="Roboto" panose="02000000000000000000" pitchFamily="2" charset="0"/>
                            </a:rPr>
                            <a:t>Asociatividad</a:t>
                          </a:r>
                        </a:p>
                      </a:txBody>
                      <a:tcPr>
                        <a:solidFill>
                          <a:schemeClr val="bg2"/>
                        </a:solidFill>
                      </a:tcPr>
                    </a:tc>
                    <a:tc>
                      <a:txBody>
                        <a:bodyPr/>
                        <a:lstStyle/>
                        <a:p>
                          <a:endParaRPr lang="es-CO"/>
                        </a:p>
                      </a:txBody>
                      <a:tcPr>
                        <a:blipFill>
                          <a:blip r:embed="rId3"/>
                          <a:stretch>
                            <a:fillRect l="-56495" t="-204878" r="-102115" b="-1121951"/>
                          </a:stretch>
                        </a:blipFill>
                      </a:tcPr>
                    </a:tc>
                    <a:tc>
                      <a:txBody>
                        <a:bodyPr/>
                        <a:lstStyle/>
                        <a:p>
                          <a:endParaRPr lang="es-CO"/>
                        </a:p>
                      </a:txBody>
                      <a:tcPr>
                        <a:blipFill>
                          <a:blip r:embed="rId3"/>
                          <a:stretch>
                            <a:fillRect l="-154167" t="-204878" r="-595" b="-1121951"/>
                          </a:stretch>
                        </a:blipFill>
                      </a:tcPr>
                    </a:tc>
                    <a:extLst>
                      <a:ext uri="{0D108BD9-81ED-4DB2-BD59-A6C34878D82A}">
                        <a16:rowId xmlns:a16="http://schemas.microsoft.com/office/drawing/2014/main" val="1913743916"/>
                      </a:ext>
                    </a:extLst>
                  </a:tr>
                  <a:tr h="251460">
                    <a:tc>
                      <a:txBody>
                        <a:bodyPr/>
                        <a:lstStyle/>
                        <a:p>
                          <a:r>
                            <a:rPr lang="es-CO" sz="1050" b="1" dirty="0">
                              <a:latin typeface="+mn-lt"/>
                              <a:ea typeface="Roboto" panose="02000000000000000000" pitchFamily="2" charset="0"/>
                            </a:rPr>
                            <a:t>Distributividad</a:t>
                          </a:r>
                        </a:p>
                      </a:txBody>
                      <a:tcPr>
                        <a:solidFill>
                          <a:schemeClr val="bg2"/>
                        </a:solidFill>
                      </a:tcPr>
                    </a:tc>
                    <a:tc>
                      <a:txBody>
                        <a:bodyPr/>
                        <a:lstStyle/>
                        <a:p>
                          <a:endParaRPr lang="es-CO"/>
                        </a:p>
                      </a:txBody>
                      <a:tcPr>
                        <a:blipFill>
                          <a:blip r:embed="rId3"/>
                          <a:stretch>
                            <a:fillRect l="-56495" t="-304878" r="-102115" b="-1021951"/>
                          </a:stretch>
                        </a:blipFill>
                      </a:tcPr>
                    </a:tc>
                    <a:tc>
                      <a:txBody>
                        <a:bodyPr/>
                        <a:lstStyle/>
                        <a:p>
                          <a:endParaRPr lang="es-CO"/>
                        </a:p>
                      </a:txBody>
                      <a:tcPr>
                        <a:blipFill>
                          <a:blip r:embed="rId3"/>
                          <a:stretch>
                            <a:fillRect l="-154167" t="-304878" r="-595" b="-1021951"/>
                          </a:stretch>
                        </a:blipFill>
                      </a:tcPr>
                    </a:tc>
                    <a:extLst>
                      <a:ext uri="{0D108BD9-81ED-4DB2-BD59-A6C34878D82A}">
                        <a16:rowId xmlns:a16="http://schemas.microsoft.com/office/drawing/2014/main" val="717401643"/>
                      </a:ext>
                    </a:extLst>
                  </a:tr>
                  <a:tr h="251460">
                    <a:tc>
                      <a:txBody>
                        <a:bodyPr/>
                        <a:lstStyle/>
                        <a:p>
                          <a:r>
                            <a:rPr lang="es-CO" sz="1050" b="1" dirty="0">
                              <a:latin typeface="+mn-lt"/>
                              <a:ea typeface="Roboto" panose="02000000000000000000" pitchFamily="2" charset="0"/>
                            </a:rPr>
                            <a:t>Idempotencia</a:t>
                          </a:r>
                        </a:p>
                      </a:txBody>
                      <a:tcPr>
                        <a:solidFill>
                          <a:schemeClr val="bg2"/>
                        </a:solidFill>
                      </a:tcPr>
                    </a:tc>
                    <a:tc>
                      <a:txBody>
                        <a:bodyPr/>
                        <a:lstStyle/>
                        <a:p>
                          <a:endParaRPr lang="es-CO"/>
                        </a:p>
                      </a:txBody>
                      <a:tcPr>
                        <a:blipFill>
                          <a:blip r:embed="rId3"/>
                          <a:stretch>
                            <a:fillRect l="-56495" t="-404878" r="-102115" b="-921951"/>
                          </a:stretch>
                        </a:blipFill>
                      </a:tcPr>
                    </a:tc>
                    <a:tc>
                      <a:txBody>
                        <a:bodyPr/>
                        <a:lstStyle/>
                        <a:p>
                          <a:endParaRPr lang="es-CO"/>
                        </a:p>
                      </a:txBody>
                      <a:tcPr>
                        <a:blipFill>
                          <a:blip r:embed="rId3"/>
                          <a:stretch>
                            <a:fillRect l="-154167" t="-404878" r="-595" b="-921951"/>
                          </a:stretch>
                        </a:blipFill>
                      </a:tcPr>
                    </a:tc>
                    <a:extLst>
                      <a:ext uri="{0D108BD9-81ED-4DB2-BD59-A6C34878D82A}">
                        <a16:rowId xmlns:a16="http://schemas.microsoft.com/office/drawing/2014/main" val="2246818852"/>
                      </a:ext>
                    </a:extLst>
                  </a:tr>
                  <a:tr h="251460">
                    <a:tc>
                      <a:txBody>
                        <a:bodyPr/>
                        <a:lstStyle/>
                        <a:p>
                          <a:r>
                            <a:rPr lang="es-CO" sz="1050" b="1" dirty="0">
                              <a:latin typeface="+mn-lt"/>
                              <a:ea typeface="Roboto" panose="02000000000000000000" pitchFamily="2" charset="0"/>
                            </a:rPr>
                            <a:t>Doble negación</a:t>
                          </a:r>
                        </a:p>
                      </a:txBody>
                      <a:tcPr>
                        <a:solidFill>
                          <a:schemeClr val="bg2"/>
                        </a:solidFill>
                      </a:tcPr>
                    </a:tc>
                    <a:tc gridSpan="2">
                      <a:txBody>
                        <a:bodyPr/>
                        <a:lstStyle/>
                        <a:p>
                          <a:endParaRPr lang="es-CO"/>
                        </a:p>
                      </a:txBody>
                      <a:tcPr>
                        <a:blipFill>
                          <a:blip r:embed="rId3"/>
                          <a:stretch>
                            <a:fillRect l="-28036" t="-492857" r="-300" b="-800000"/>
                          </a:stretch>
                        </a:blipFill>
                      </a:tcPr>
                    </a:tc>
                    <a:tc hMerge="1">
                      <a:txBody>
                        <a:bodyPr/>
                        <a:lstStyle/>
                        <a:p>
                          <a:endParaRPr lang="es-CO"/>
                        </a:p>
                      </a:txBody>
                      <a:tcPr/>
                    </a:tc>
                    <a:extLst>
                      <a:ext uri="{0D108BD9-81ED-4DB2-BD59-A6C34878D82A}">
                        <a16:rowId xmlns:a16="http://schemas.microsoft.com/office/drawing/2014/main" val="88149062"/>
                      </a:ext>
                    </a:extLst>
                  </a:tr>
                  <a:tr h="251460">
                    <a:tc>
                      <a:txBody>
                        <a:bodyPr/>
                        <a:lstStyle/>
                        <a:p>
                          <a:r>
                            <a:rPr lang="es-CO" sz="1050" b="1" dirty="0">
                              <a:latin typeface="+mn-lt"/>
                              <a:ea typeface="Roboto" panose="02000000000000000000" pitchFamily="2" charset="0"/>
                            </a:rPr>
                            <a:t>Leyes de Morgan</a:t>
                          </a:r>
                        </a:p>
                      </a:txBody>
                      <a:tcPr>
                        <a:solidFill>
                          <a:schemeClr val="bg2"/>
                        </a:solidFill>
                      </a:tcPr>
                    </a:tc>
                    <a:tc>
                      <a:txBody>
                        <a:bodyPr/>
                        <a:lstStyle/>
                        <a:p>
                          <a:endParaRPr lang="es-CO"/>
                        </a:p>
                      </a:txBody>
                      <a:tcPr>
                        <a:blipFill>
                          <a:blip r:embed="rId3"/>
                          <a:stretch>
                            <a:fillRect l="-56495" t="-607317" r="-102115" b="-719512"/>
                          </a:stretch>
                        </a:blipFill>
                      </a:tcPr>
                    </a:tc>
                    <a:tc>
                      <a:txBody>
                        <a:bodyPr/>
                        <a:lstStyle/>
                        <a:p>
                          <a:endParaRPr lang="es-CO"/>
                        </a:p>
                      </a:txBody>
                      <a:tcPr>
                        <a:blipFill>
                          <a:blip r:embed="rId3"/>
                          <a:stretch>
                            <a:fillRect l="-154167" t="-607317" r="-595" b="-719512"/>
                          </a:stretch>
                        </a:blipFill>
                      </a:tcPr>
                    </a:tc>
                    <a:extLst>
                      <a:ext uri="{0D108BD9-81ED-4DB2-BD59-A6C34878D82A}">
                        <a16:rowId xmlns:a16="http://schemas.microsoft.com/office/drawing/2014/main" val="2113060234"/>
                      </a:ext>
                    </a:extLst>
                  </a:tr>
                  <a:tr h="251460">
                    <a:tc>
                      <a:txBody>
                        <a:bodyPr/>
                        <a:lstStyle/>
                        <a:p>
                          <a:r>
                            <a:rPr lang="es-CO" sz="1050" b="1" dirty="0">
                              <a:latin typeface="+mn-lt"/>
                              <a:ea typeface="Roboto" panose="02000000000000000000" pitchFamily="2" charset="0"/>
                            </a:rPr>
                            <a:t>Identidad</a:t>
                          </a:r>
                        </a:p>
                      </a:txBody>
                      <a:tcPr>
                        <a:solidFill>
                          <a:schemeClr val="bg2"/>
                        </a:solidFill>
                      </a:tcPr>
                    </a:tc>
                    <a:tc>
                      <a:txBody>
                        <a:bodyPr/>
                        <a:lstStyle/>
                        <a:p>
                          <a:endParaRPr lang="es-CO"/>
                        </a:p>
                      </a:txBody>
                      <a:tcPr>
                        <a:blipFill>
                          <a:blip r:embed="rId3"/>
                          <a:stretch>
                            <a:fillRect l="-56495" t="-707317" r="-102115" b="-619512"/>
                          </a:stretch>
                        </a:blipFill>
                      </a:tcPr>
                    </a:tc>
                    <a:tc>
                      <a:txBody>
                        <a:bodyPr/>
                        <a:lstStyle/>
                        <a:p>
                          <a:endParaRPr lang="es-CO"/>
                        </a:p>
                      </a:txBody>
                      <a:tcPr>
                        <a:blipFill>
                          <a:blip r:embed="rId3"/>
                          <a:stretch>
                            <a:fillRect l="-154167" t="-707317" r="-595" b="-619512"/>
                          </a:stretch>
                        </a:blipFill>
                      </a:tcPr>
                    </a:tc>
                    <a:extLst>
                      <a:ext uri="{0D108BD9-81ED-4DB2-BD59-A6C34878D82A}">
                        <a16:rowId xmlns:a16="http://schemas.microsoft.com/office/drawing/2014/main" val="2494965197"/>
                      </a:ext>
                    </a:extLst>
                  </a:tr>
                  <a:tr h="251460">
                    <a:tc>
                      <a:txBody>
                        <a:bodyPr/>
                        <a:lstStyle/>
                        <a:p>
                          <a:r>
                            <a:rPr lang="es-CO" sz="1050" b="1" dirty="0">
                              <a:latin typeface="+mn-lt"/>
                              <a:ea typeface="Roboto" panose="02000000000000000000" pitchFamily="2" charset="0"/>
                            </a:rPr>
                            <a:t>Dominación</a:t>
                          </a:r>
                        </a:p>
                      </a:txBody>
                      <a:tcPr>
                        <a:solidFill>
                          <a:schemeClr val="bg2"/>
                        </a:solidFill>
                      </a:tcPr>
                    </a:tc>
                    <a:tc>
                      <a:txBody>
                        <a:bodyPr/>
                        <a:lstStyle/>
                        <a:p>
                          <a:endParaRPr lang="es-CO"/>
                        </a:p>
                      </a:txBody>
                      <a:tcPr>
                        <a:blipFill>
                          <a:blip r:embed="rId3"/>
                          <a:stretch>
                            <a:fillRect l="-56495" t="-788095" r="-102115" b="-504762"/>
                          </a:stretch>
                        </a:blipFill>
                      </a:tcPr>
                    </a:tc>
                    <a:tc>
                      <a:txBody>
                        <a:bodyPr/>
                        <a:lstStyle/>
                        <a:p>
                          <a:endParaRPr lang="es-CO"/>
                        </a:p>
                      </a:txBody>
                      <a:tcPr>
                        <a:blipFill>
                          <a:blip r:embed="rId3"/>
                          <a:stretch>
                            <a:fillRect l="-154167" t="-788095" r="-595" b="-504762"/>
                          </a:stretch>
                        </a:blipFill>
                      </a:tcPr>
                    </a:tc>
                    <a:extLst>
                      <a:ext uri="{0D108BD9-81ED-4DB2-BD59-A6C34878D82A}">
                        <a16:rowId xmlns:a16="http://schemas.microsoft.com/office/drawing/2014/main" val="707485840"/>
                      </a:ext>
                    </a:extLst>
                  </a:tr>
                  <a:tr h="251460">
                    <a:tc>
                      <a:txBody>
                        <a:bodyPr/>
                        <a:lstStyle/>
                        <a:p>
                          <a:r>
                            <a:rPr lang="es-CO" sz="1050" b="1" dirty="0">
                              <a:latin typeface="+mn-lt"/>
                              <a:ea typeface="Roboto" panose="02000000000000000000" pitchFamily="2" charset="0"/>
                            </a:rPr>
                            <a:t>Absorción</a:t>
                          </a:r>
                        </a:p>
                      </a:txBody>
                      <a:tcPr>
                        <a:solidFill>
                          <a:schemeClr val="bg2"/>
                        </a:solidFill>
                      </a:tcPr>
                    </a:tc>
                    <a:tc>
                      <a:txBody>
                        <a:bodyPr/>
                        <a:lstStyle/>
                        <a:p>
                          <a:endParaRPr lang="es-CO"/>
                        </a:p>
                      </a:txBody>
                      <a:tcPr>
                        <a:blipFill>
                          <a:blip r:embed="rId3"/>
                          <a:stretch>
                            <a:fillRect l="-56495" t="-909756" r="-102115" b="-417073"/>
                          </a:stretch>
                        </a:blipFill>
                      </a:tcPr>
                    </a:tc>
                    <a:tc>
                      <a:txBody>
                        <a:bodyPr/>
                        <a:lstStyle/>
                        <a:p>
                          <a:endParaRPr lang="es-CO"/>
                        </a:p>
                      </a:txBody>
                      <a:tcPr>
                        <a:blipFill>
                          <a:blip r:embed="rId3"/>
                          <a:stretch>
                            <a:fillRect l="-154167" t="-909756" r="-595" b="-417073"/>
                          </a:stretch>
                        </a:blipFill>
                      </a:tcPr>
                    </a:tc>
                    <a:extLst>
                      <a:ext uri="{0D108BD9-81ED-4DB2-BD59-A6C34878D82A}">
                        <a16:rowId xmlns:a16="http://schemas.microsoft.com/office/drawing/2014/main" val="1232652958"/>
                      </a:ext>
                    </a:extLst>
                  </a:tr>
                  <a:tr h="251460">
                    <a:tc>
                      <a:txBody>
                        <a:bodyPr/>
                        <a:lstStyle/>
                        <a:p>
                          <a:r>
                            <a:rPr lang="es-CO" sz="1050" b="1" dirty="0">
                              <a:latin typeface="+mn-lt"/>
                              <a:ea typeface="Roboto" panose="02000000000000000000" pitchFamily="2" charset="0"/>
                            </a:rPr>
                            <a:t>Complemento</a:t>
                          </a:r>
                        </a:p>
                      </a:txBody>
                      <a:tcPr>
                        <a:solidFill>
                          <a:schemeClr val="bg2"/>
                        </a:solidFill>
                      </a:tcPr>
                    </a:tc>
                    <a:tc>
                      <a:txBody>
                        <a:bodyPr/>
                        <a:lstStyle/>
                        <a:p>
                          <a:endParaRPr lang="es-CO"/>
                        </a:p>
                      </a:txBody>
                      <a:tcPr>
                        <a:blipFill>
                          <a:blip r:embed="rId3"/>
                          <a:stretch>
                            <a:fillRect l="-56495" t="-1009756" r="-102115" b="-317073"/>
                          </a:stretch>
                        </a:blipFill>
                      </a:tcPr>
                    </a:tc>
                    <a:tc>
                      <a:txBody>
                        <a:bodyPr/>
                        <a:lstStyle/>
                        <a:p>
                          <a:endParaRPr lang="es-CO"/>
                        </a:p>
                      </a:txBody>
                      <a:tcPr>
                        <a:blipFill>
                          <a:blip r:embed="rId3"/>
                          <a:stretch>
                            <a:fillRect l="-154167" t="-1009756" r="-595" b="-317073"/>
                          </a:stretch>
                        </a:blipFill>
                      </a:tcPr>
                    </a:tc>
                    <a:extLst>
                      <a:ext uri="{0D108BD9-81ED-4DB2-BD59-A6C34878D82A}">
                        <a16:rowId xmlns:a16="http://schemas.microsoft.com/office/drawing/2014/main" val="3770911309"/>
                      </a:ext>
                    </a:extLst>
                  </a:tr>
                  <a:tr h="251460">
                    <a:tc>
                      <a:txBody>
                        <a:bodyPr/>
                        <a:lstStyle/>
                        <a:p>
                          <a:r>
                            <a:rPr lang="es-CO" sz="1050" b="1" dirty="0">
                              <a:latin typeface="+mn-lt"/>
                              <a:ea typeface="Roboto" panose="02000000000000000000" pitchFamily="2" charset="0"/>
                            </a:rPr>
                            <a:t>Implicación</a:t>
                          </a:r>
                        </a:p>
                      </a:txBody>
                      <a:tcPr>
                        <a:solidFill>
                          <a:schemeClr val="bg2"/>
                        </a:solidFill>
                      </a:tcPr>
                    </a:tc>
                    <a:tc gridSpan="2">
                      <a:txBody>
                        <a:bodyPr/>
                        <a:lstStyle/>
                        <a:p>
                          <a:endParaRPr lang="es-CO"/>
                        </a:p>
                      </a:txBody>
                      <a:tcPr>
                        <a:blipFill>
                          <a:blip r:embed="rId3"/>
                          <a:stretch>
                            <a:fillRect l="-28036" t="-1109756" r="-300" b="-217073"/>
                          </a:stretch>
                        </a:blipFill>
                      </a:tcPr>
                    </a:tc>
                    <a:tc hMerge="1">
                      <a:txBody>
                        <a:bodyPr/>
                        <a:lstStyle/>
                        <a:p>
                          <a:endParaRPr lang="es-CO"/>
                        </a:p>
                      </a:txBody>
                      <a:tcPr/>
                    </a:tc>
                    <a:extLst>
                      <a:ext uri="{0D108BD9-81ED-4DB2-BD59-A6C34878D82A}">
                        <a16:rowId xmlns:a16="http://schemas.microsoft.com/office/drawing/2014/main" val="3483938044"/>
                      </a:ext>
                    </a:extLst>
                  </a:tr>
                  <a:tr h="251460">
                    <a:tc>
                      <a:txBody>
                        <a:bodyPr/>
                        <a:lstStyle/>
                        <a:p>
                          <a:r>
                            <a:rPr lang="es-CO" sz="1050" b="1" dirty="0">
                              <a:latin typeface="+mn-lt"/>
                              <a:ea typeface="Roboto" panose="02000000000000000000" pitchFamily="2" charset="0"/>
                            </a:rPr>
                            <a:t>Contrarrecíproco</a:t>
                          </a:r>
                        </a:p>
                      </a:txBody>
                      <a:tcPr>
                        <a:solidFill>
                          <a:schemeClr val="bg2"/>
                        </a:solidFill>
                      </a:tcPr>
                    </a:tc>
                    <a:tc gridSpan="2">
                      <a:txBody>
                        <a:bodyPr/>
                        <a:lstStyle/>
                        <a:p>
                          <a:endParaRPr lang="es-CO"/>
                        </a:p>
                      </a:txBody>
                      <a:tcPr>
                        <a:blipFill>
                          <a:blip r:embed="rId3"/>
                          <a:stretch>
                            <a:fillRect l="-28036" t="-1180952" r="-300" b="-111905"/>
                          </a:stretch>
                        </a:blipFill>
                      </a:tcPr>
                    </a:tc>
                    <a:tc hMerge="1">
                      <a:txBody>
                        <a:bodyPr/>
                        <a:lstStyle/>
                        <a:p>
                          <a:endParaRPr lang="es-CO"/>
                        </a:p>
                      </a:txBody>
                      <a:tcPr/>
                    </a:tc>
                    <a:extLst>
                      <a:ext uri="{0D108BD9-81ED-4DB2-BD59-A6C34878D82A}">
                        <a16:rowId xmlns:a16="http://schemas.microsoft.com/office/drawing/2014/main" val="3255506134"/>
                      </a:ext>
                    </a:extLst>
                  </a:tr>
                  <a:tr h="251460">
                    <a:tc>
                      <a:txBody>
                        <a:bodyPr/>
                        <a:lstStyle/>
                        <a:p>
                          <a:r>
                            <a:rPr lang="es-CO" sz="1050" b="1" dirty="0">
                              <a:latin typeface="+mn-lt"/>
                              <a:ea typeface="Roboto" panose="02000000000000000000" pitchFamily="2" charset="0"/>
                            </a:rPr>
                            <a:t>Equivalencia</a:t>
                          </a:r>
                        </a:p>
                      </a:txBody>
                      <a:tcPr>
                        <a:solidFill>
                          <a:schemeClr val="bg2"/>
                        </a:solidFill>
                      </a:tcPr>
                    </a:tc>
                    <a:tc gridSpan="2">
                      <a:txBody>
                        <a:bodyPr/>
                        <a:lstStyle/>
                        <a:p>
                          <a:endParaRPr lang="es-CO"/>
                        </a:p>
                      </a:txBody>
                      <a:tcPr>
                        <a:blipFill>
                          <a:blip r:embed="rId3"/>
                          <a:stretch>
                            <a:fillRect l="-28036" t="-1312195" r="-300" b="-14634"/>
                          </a:stretch>
                        </a:blipFill>
                      </a:tcPr>
                    </a:tc>
                    <a:tc hMerge="1">
                      <a:txBody>
                        <a:bodyPr/>
                        <a:lstStyle/>
                        <a:p>
                          <a:endParaRPr lang="es-CO"/>
                        </a:p>
                      </a:txBody>
                      <a:tcPr/>
                    </a:tc>
                    <a:extLst>
                      <a:ext uri="{0D108BD9-81ED-4DB2-BD59-A6C34878D82A}">
                        <a16:rowId xmlns:a16="http://schemas.microsoft.com/office/drawing/2014/main" val="40457137"/>
                      </a:ext>
                    </a:extLst>
                  </a:tr>
                </a:tbl>
              </a:graphicData>
            </a:graphic>
          </p:graphicFrame>
        </mc:Fallback>
      </mc:AlternateContent>
      <p:sp>
        <p:nvSpPr>
          <p:cNvPr id="8" name="CuadroTexto 7">
            <a:extLst>
              <a:ext uri="{FF2B5EF4-FFF2-40B4-BE49-F238E27FC236}">
                <a16:creationId xmlns:a16="http://schemas.microsoft.com/office/drawing/2014/main" id="{54F96990-1722-40F8-995C-99F9851490F8}"/>
              </a:ext>
            </a:extLst>
          </p:cNvPr>
          <p:cNvSpPr txBox="1"/>
          <p:nvPr/>
        </p:nvSpPr>
        <p:spPr>
          <a:xfrm>
            <a:off x="360218" y="1889194"/>
            <a:ext cx="1628239" cy="430887"/>
          </a:xfrm>
          <a:prstGeom prst="rect">
            <a:avLst/>
          </a:prstGeom>
          <a:noFill/>
        </p:spPr>
        <p:txBody>
          <a:bodyPr wrap="square" rtlCol="0">
            <a:spAutoFit/>
          </a:bodyPr>
          <a:lstStyle/>
          <a:p>
            <a:r>
              <a:rPr lang="es-CO" sz="2200" b="1" dirty="0"/>
              <a:t>Solución</a:t>
            </a:r>
          </a:p>
        </p:txBody>
      </p:sp>
    </p:spTree>
    <p:extLst>
      <p:ext uri="{BB962C8B-B14F-4D97-AF65-F5344CB8AC3E}">
        <p14:creationId xmlns:p14="http://schemas.microsoft.com/office/powerpoint/2010/main" val="1645723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838199" y="226580"/>
            <a:ext cx="10515600" cy="1325563"/>
          </a:xfrm>
        </p:spPr>
        <p:txBody>
          <a:bodyPr/>
          <a:lstStyle/>
          <a:p>
            <a:r>
              <a:rPr lang="es-CO" dirty="0"/>
              <a:t>Ejemplos de repaso - Demostraciones</a:t>
            </a:r>
          </a:p>
        </p:txBody>
      </p:sp>
      <p:sp>
        <p:nvSpPr>
          <p:cNvPr id="3" name="Marcador de contenido 2">
            <a:extLst>
              <a:ext uri="{FF2B5EF4-FFF2-40B4-BE49-F238E27FC236}">
                <a16:creationId xmlns:a16="http://schemas.microsoft.com/office/drawing/2014/main" id="{8C611C1C-AB20-4127-87E3-88401D8503D0}"/>
              </a:ext>
            </a:extLst>
          </p:cNvPr>
          <p:cNvSpPr>
            <a:spLocks noGrp="1"/>
          </p:cNvSpPr>
          <p:nvPr>
            <p:ph idx="1"/>
          </p:nvPr>
        </p:nvSpPr>
        <p:spPr>
          <a:xfrm>
            <a:off x="360218" y="1375235"/>
            <a:ext cx="11471563" cy="671280"/>
          </a:xfrm>
        </p:spPr>
        <p:txBody>
          <a:bodyPr>
            <a:normAutofit lnSpcReduction="10000"/>
          </a:bodyPr>
          <a:lstStyle/>
          <a:p>
            <a:pPr marL="457200" indent="-457200">
              <a:buFont typeface="+mj-lt"/>
              <a:buAutoNum type="arabicPeriod" startAt="6"/>
            </a:pPr>
            <a:r>
              <a:rPr lang="es-MX" sz="2200" b="1" dirty="0">
                <a:ea typeface="Cambria Math" panose="02040503050406030204" pitchFamily="18" charset="0"/>
              </a:rPr>
              <a:t>Verdadero o falso</a:t>
            </a:r>
            <a:r>
              <a:rPr lang="es-MX" sz="2200" dirty="0">
                <a:ea typeface="Cambria Math" panose="02040503050406030204" pitchFamily="18" charset="0"/>
              </a:rPr>
              <a:t>: La negación de “Si Susana es la madre de Luis, entonces, Ali es su primo” es “Si Ali no es primo de Luis, entonces, Susana no es la madre de Luis”.</a:t>
            </a:r>
          </a:p>
          <a:p>
            <a:pPr marL="457200" indent="-457200">
              <a:buFont typeface="+mj-lt"/>
              <a:buAutoNum type="arabicPeriod" startAt="6"/>
            </a:pPr>
            <a:endParaRPr lang="es-MX" sz="2200" dirty="0">
              <a:ea typeface="Cambria Math" panose="02040503050406030204" pitchFamily="18" charset="0"/>
            </a:endParaRPr>
          </a:p>
          <a:p>
            <a:pPr lvl="1"/>
            <a:endParaRPr lang="es-MX" sz="2000" dirty="0">
              <a:solidFill>
                <a:srgbClr val="131314"/>
              </a:solidFill>
              <a:latin typeface="Google Sans Text"/>
            </a:endParaRPr>
          </a:p>
          <a:p>
            <a:pPr marL="0" indent="0">
              <a:buNone/>
            </a:pPr>
            <a:endParaRPr lang="es-MX" sz="2000" dirty="0">
              <a:ea typeface="Cambria Math" panose="02040503050406030204" pitchFamily="18" charset="0"/>
            </a:endParaRPr>
          </a:p>
        </p:txBody>
      </p:sp>
      <p:sp>
        <p:nvSpPr>
          <p:cNvPr id="8" name="CuadroTexto 7">
            <a:extLst>
              <a:ext uri="{FF2B5EF4-FFF2-40B4-BE49-F238E27FC236}">
                <a16:creationId xmlns:a16="http://schemas.microsoft.com/office/drawing/2014/main" id="{1115C7B6-BEEE-4F7C-8A54-02EC937DEA4D}"/>
              </a:ext>
            </a:extLst>
          </p:cNvPr>
          <p:cNvSpPr txBox="1"/>
          <p:nvPr/>
        </p:nvSpPr>
        <p:spPr>
          <a:xfrm>
            <a:off x="360218" y="2048848"/>
            <a:ext cx="1628239" cy="430887"/>
          </a:xfrm>
          <a:prstGeom prst="rect">
            <a:avLst/>
          </a:prstGeom>
          <a:noFill/>
        </p:spPr>
        <p:txBody>
          <a:bodyPr wrap="square" rtlCol="0">
            <a:spAutoFit/>
          </a:bodyPr>
          <a:lstStyle/>
          <a:p>
            <a:r>
              <a:rPr lang="es-CO" sz="2200" b="1" dirty="0"/>
              <a:t>Solución</a:t>
            </a:r>
          </a:p>
        </p:txBody>
      </p:sp>
    </p:spTree>
    <p:extLst>
      <p:ext uri="{BB962C8B-B14F-4D97-AF65-F5344CB8AC3E}">
        <p14:creationId xmlns:p14="http://schemas.microsoft.com/office/powerpoint/2010/main" val="2177311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Descargar fondos de Looneytunes, Eso Es Todo Amigos. | Wallpapers.com">
            <a:extLst>
              <a:ext uri="{FF2B5EF4-FFF2-40B4-BE49-F238E27FC236}">
                <a16:creationId xmlns:a16="http://schemas.microsoft.com/office/drawing/2014/main" id="{80E56D42-6B08-45CB-A8AD-5B69CC1FD1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9189" y="1300595"/>
            <a:ext cx="8043676" cy="450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40941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1319</TotalTime>
  <Words>3080</Words>
  <Application>Microsoft Office PowerPoint</Application>
  <PresentationFormat>Panorámica</PresentationFormat>
  <Paragraphs>801</Paragraphs>
  <Slides>27</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27</vt:i4>
      </vt:variant>
    </vt:vector>
  </HeadingPairs>
  <TitlesOfParts>
    <vt:vector size="34" baseType="lpstr">
      <vt:lpstr>Arial</vt:lpstr>
      <vt:lpstr>Calibri</vt:lpstr>
      <vt:lpstr>Calibri Light</vt:lpstr>
      <vt:lpstr>Cambria Math</vt:lpstr>
      <vt:lpstr>Google Sans Text</vt:lpstr>
      <vt:lpstr>Roboto</vt:lpstr>
      <vt:lpstr>Tema de Office</vt:lpstr>
      <vt:lpstr>Matemáticas Discretas 1</vt:lpstr>
      <vt:lpstr>Recursos de esta clase</vt:lpstr>
      <vt:lpstr>Repaso</vt:lpstr>
      <vt:lpstr>Repaso</vt:lpstr>
      <vt:lpstr>Repaso</vt:lpstr>
      <vt:lpstr>Repaso</vt:lpstr>
      <vt:lpstr>Repaso</vt:lpstr>
      <vt:lpstr>Repaso</vt:lpstr>
      <vt:lpstr>Contexto</vt:lpstr>
      <vt:lpstr>Contexto</vt:lpstr>
      <vt:lpstr>Enfoque axiomático</vt:lpstr>
      <vt:lpstr>Enfoque axiomático</vt:lpstr>
      <vt:lpstr>Enfoque axiomático – Tabla de equivalencias lógicas</vt:lpstr>
      <vt:lpstr>Demostraciones</vt:lpstr>
      <vt:lpstr>Demostración - Enfoque basado en modelos</vt:lpstr>
      <vt:lpstr>Demostración - Enfoque Axiomático</vt:lpstr>
      <vt:lpstr>Demostración – Escritura de demostraciones</vt:lpstr>
      <vt:lpstr>Demostración (Afirmación-Razón)</vt:lpstr>
      <vt:lpstr>Demostración (Afirmación-Razón)</vt:lpstr>
      <vt:lpstr>Ejemplos de repaso - Demostraciones</vt:lpstr>
      <vt:lpstr>Ejemplos de repaso - Demostraciones</vt:lpstr>
      <vt:lpstr>Ejemplos de repaso - Demostraciones</vt:lpstr>
      <vt:lpstr>Ejemplos de repaso - Demostraciones</vt:lpstr>
      <vt:lpstr>Ejemplos de repaso - Demostraciones</vt:lpstr>
      <vt:lpstr>Ejemplos de repaso - Demostraciones</vt:lpstr>
      <vt:lpstr>Ejemplos de repaso - Demostraciones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Matemáticas Discretas 1</dc:title>
  <dc:creator>Henry Arcila</dc:creator>
  <cp:lastModifiedBy>HENRY ALBERTO ARCILA RAMIREZ</cp:lastModifiedBy>
  <cp:revision>48</cp:revision>
  <dcterms:created xsi:type="dcterms:W3CDTF">2026-02-16T23:39:43Z</dcterms:created>
  <dcterms:modified xsi:type="dcterms:W3CDTF">2026-08-20T02:43:47Z</dcterms:modified>
</cp:coreProperties>
</file>