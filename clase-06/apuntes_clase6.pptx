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5" r:id="rId1"/>
  </p:sldMasterIdLst>
  <p:notesMasterIdLst>
    <p:notesMasterId r:id="rId38"/>
  </p:notesMasterIdLst>
  <p:sldIdLst>
    <p:sldId id="256" r:id="rId2"/>
    <p:sldId id="372" r:id="rId3"/>
    <p:sldId id="402" r:id="rId4"/>
    <p:sldId id="309" r:id="rId5"/>
    <p:sldId id="265" r:id="rId6"/>
    <p:sldId id="476" r:id="rId7"/>
    <p:sldId id="392" r:id="rId8"/>
    <p:sldId id="477" r:id="rId9"/>
    <p:sldId id="410" r:id="rId10"/>
    <p:sldId id="393" r:id="rId11"/>
    <p:sldId id="396" r:id="rId12"/>
    <p:sldId id="411" r:id="rId13"/>
    <p:sldId id="478" r:id="rId14"/>
    <p:sldId id="479" r:id="rId15"/>
    <p:sldId id="417" r:id="rId16"/>
    <p:sldId id="412" r:id="rId17"/>
    <p:sldId id="414" r:id="rId18"/>
    <p:sldId id="480" r:id="rId19"/>
    <p:sldId id="415" r:id="rId20"/>
    <p:sldId id="443" r:id="rId21"/>
    <p:sldId id="468" r:id="rId22"/>
    <p:sldId id="469" r:id="rId23"/>
    <p:sldId id="397" r:id="rId24"/>
    <p:sldId id="318" r:id="rId25"/>
    <p:sldId id="317" r:id="rId26"/>
    <p:sldId id="437" r:id="rId27"/>
    <p:sldId id="438" r:id="rId28"/>
    <p:sldId id="470" r:id="rId29"/>
    <p:sldId id="445" r:id="rId30"/>
    <p:sldId id="446" r:id="rId31"/>
    <p:sldId id="447" r:id="rId32"/>
    <p:sldId id="471" r:id="rId33"/>
    <p:sldId id="472" r:id="rId34"/>
    <p:sldId id="473" r:id="rId35"/>
    <p:sldId id="474" r:id="rId36"/>
    <p:sldId id="475" r:id="rId37"/>
  </p:sldIdLst>
  <p:sldSz cx="12192000" cy="6858000"/>
  <p:notesSz cx="6858000" cy="9144000"/>
  <p:embeddedFontLst>
    <p:embeddedFont>
      <p:font typeface="Calibri" panose="020F0502020204030204" pitchFamily="34" charset="0"/>
      <p:regular r:id="rId39"/>
      <p:bold r:id="rId40"/>
      <p:italic r:id="rId41"/>
      <p:boldItalic r:id="rId42"/>
    </p:embeddedFont>
    <p:embeddedFont>
      <p:font typeface="Calibri Light" panose="020F0302020204030204" pitchFamily="34" charset="0"/>
      <p:regular r:id="rId43"/>
      <p:italic r:id="rId44"/>
    </p:embeddedFont>
    <p:embeddedFont>
      <p:font typeface="Cambria Math" panose="02040503050406030204" pitchFamily="18" charset="0"/>
      <p:regular r:id="rId45"/>
    </p:embeddedFont>
    <p:embeddedFont>
      <p:font typeface="Roboto" panose="02000000000000000000" pitchFamily="2" charset="0"/>
      <p:regular r:id="rId46"/>
      <p:bold r:id="rId47"/>
      <p:italic r:id="rId48"/>
      <p:boldItalic r:id="rId49"/>
    </p:embeddedFont>
    <p:embeddedFont>
      <p:font typeface="Roboto Slab" panose="020B0604020202020204" charset="0"/>
      <p:regular r:id="rId50"/>
      <p:bold r:id="rId51"/>
    </p:embeddedFont>
  </p:embeddedFontLst>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D6A3598-7CB8-4345-8D95-17CE05F158A0}">
  <a:tblStyle styleId="{AD6A3598-7CB8-4345-8D95-17CE05F158A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04" autoAdjust="0"/>
    <p:restoredTop sz="94291" autoAdjust="0"/>
  </p:normalViewPr>
  <p:slideViewPr>
    <p:cSldViewPr snapToGrid="0">
      <p:cViewPr varScale="1">
        <p:scale>
          <a:sx n="65" d="100"/>
          <a:sy n="65" d="100"/>
        </p:scale>
        <p:origin x="77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font" Target="fonts/font12.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6.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font" Target="fonts/font1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font" Target="fonts/font3.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78358aba08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78358aba08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083645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84579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dirty="0">
                <a:solidFill>
                  <a:schemeClr val="dk1"/>
                </a:solidFill>
                <a:latin typeface="Roboto"/>
                <a:ea typeface="Roboto"/>
                <a:cs typeface="Roboto"/>
                <a:sym typeface="Roboto"/>
              </a:rPr>
              <a:t>Librería </a:t>
            </a:r>
            <a:r>
              <a:rPr lang="es-ES" sz="2400" b="1" dirty="0" err="1">
                <a:solidFill>
                  <a:schemeClr val="dk1"/>
                </a:solidFill>
                <a:latin typeface="Roboto"/>
                <a:ea typeface="Roboto"/>
                <a:cs typeface="Roboto"/>
                <a:sym typeface="Roboto"/>
              </a:rPr>
              <a:t>pthreads</a:t>
            </a:r>
            <a:endParaRPr sz="2400" dirty="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dirty="0" err="1">
                <a:solidFill>
                  <a:srgbClr val="F8A02B"/>
                </a:solidFill>
                <a:latin typeface="Roboto"/>
                <a:ea typeface="Roboto"/>
                <a:cs typeface="Roboto"/>
                <a:sym typeface="Roboto"/>
              </a:rPr>
              <a:t>OpenMP</a:t>
            </a:r>
            <a:endParaRPr sz="2400" dirty="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dirty="0" err="1">
                <a:solidFill>
                  <a:schemeClr val="dk1"/>
                </a:solidFill>
                <a:latin typeface="Roboto"/>
                <a:ea typeface="Roboto"/>
                <a:cs typeface="Roboto"/>
                <a:sym typeface="Roboto"/>
              </a:rPr>
              <a:t>Cilk</a:t>
            </a:r>
            <a:r>
              <a:rPr lang="es-ES" sz="2400" dirty="0">
                <a:solidFill>
                  <a:schemeClr val="dk1"/>
                </a:solidFill>
                <a:latin typeface="Roboto"/>
                <a:ea typeface="Roboto"/>
                <a:cs typeface="Roboto"/>
                <a:sym typeface="Roboto"/>
              </a:rPr>
              <a:t>, TBB, ...</a:t>
            </a: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3324883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28307471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1030100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15365836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36284013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40525013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35584977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37424920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30604214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42271219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9126308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33783148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27491476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36761366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26479632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33845430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14085088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3835656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5296210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865259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06721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386034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310521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13172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564351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51563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4238200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2362979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652088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0982493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259316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6B46A9-6B94-4E57-901A-34ADDC285016}"/>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AB8713B8-166E-42C4-9C13-6D07F74965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D9E11454-4A4F-451B-9B0C-A0D76F90B3B2}"/>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0C86FDB2-9D03-42EA-82D2-58129C122757}"/>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80D32B32-46BF-42E7-9862-705E4D30182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368247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2FD11C-FE04-4257-93FD-BD0C4F2A898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34639A8-6347-4F21-BD31-07ABF51FADB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80315CC3-FA41-4B96-AFBA-5FEFF8E2742C}"/>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578E30B8-4DA7-4DFC-8981-621CB53375E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33B398CF-1C30-4883-B971-9E7E35FBD3C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44864007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BBEB54-339D-4543-93D0-CE00B4A28D93}"/>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41570E71-E9D7-44DB-9D66-C879C007E3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A2B7787-1A08-4DCB-9CF1-288F08D98B1D}"/>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0554A04D-F2F8-4ED0-9BE5-66139412C28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74CAF95-269B-41B6-99E1-3A46E45508D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25202455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549081-9FAC-4A27-86EB-95CABB65530B}"/>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CA9E52FE-0F7E-4C89-A436-A7C149AFD24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690E8AA7-D612-430D-A718-8962FF66AB3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08D91B47-F6E4-4E99-9FD2-73061B4D72FB}"/>
              </a:ext>
            </a:extLst>
          </p:cNvPr>
          <p:cNvSpPr>
            <a:spLocks noGrp="1"/>
          </p:cNvSpPr>
          <p:nvPr>
            <p:ph type="dt" sz="half" idx="10"/>
          </p:nvPr>
        </p:nvSpPr>
        <p:spPr/>
        <p:txBody>
          <a:bodyPr/>
          <a:lstStyle/>
          <a:p>
            <a:endParaRPr lang="es-CO"/>
          </a:p>
        </p:txBody>
      </p:sp>
      <p:sp>
        <p:nvSpPr>
          <p:cNvPr id="6" name="Marcador de pie de página 5">
            <a:extLst>
              <a:ext uri="{FF2B5EF4-FFF2-40B4-BE49-F238E27FC236}">
                <a16:creationId xmlns:a16="http://schemas.microsoft.com/office/drawing/2014/main" id="{F838E287-AEFC-4A28-988C-094E568185B3}"/>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7C5DEA95-F408-4E75-9305-01648393E0F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24496752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ABAB89-017E-4489-A248-DD8396A3C58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98E21048-0BA7-48B9-9F07-677CB5D589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1CF129B3-BDE4-45AA-BE80-5272A3B27A65}"/>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6D2B9542-4E93-4ACE-923B-85C87A32ED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F8C6B525-72BC-4AA8-ABBF-ED7CB6EC7FE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20E2A59D-4779-4C07-817A-1F74659411F6}"/>
              </a:ext>
            </a:extLst>
          </p:cNvPr>
          <p:cNvSpPr>
            <a:spLocks noGrp="1"/>
          </p:cNvSpPr>
          <p:nvPr>
            <p:ph type="dt" sz="half" idx="10"/>
          </p:nvPr>
        </p:nvSpPr>
        <p:spPr/>
        <p:txBody>
          <a:bodyPr/>
          <a:lstStyle/>
          <a:p>
            <a:endParaRPr lang="es-CO"/>
          </a:p>
        </p:txBody>
      </p:sp>
      <p:sp>
        <p:nvSpPr>
          <p:cNvPr id="8" name="Marcador de pie de página 7">
            <a:extLst>
              <a:ext uri="{FF2B5EF4-FFF2-40B4-BE49-F238E27FC236}">
                <a16:creationId xmlns:a16="http://schemas.microsoft.com/office/drawing/2014/main" id="{0EB38D0E-7C19-4E2C-8502-AFD0DA55BE1C}"/>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DFD58342-1CC3-4CDF-AE1A-1651CC82058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54165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700361-348B-4EC3-9DCC-AD66FE49A9B1}"/>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95EE0556-7F17-4268-AA30-4EC05F80F69A}"/>
              </a:ext>
            </a:extLst>
          </p:cNvPr>
          <p:cNvSpPr>
            <a:spLocks noGrp="1"/>
          </p:cNvSpPr>
          <p:nvPr>
            <p:ph type="dt" sz="half" idx="10"/>
          </p:nvPr>
        </p:nvSpPr>
        <p:spPr/>
        <p:txBody>
          <a:bodyPr/>
          <a:lstStyle/>
          <a:p>
            <a:endParaRPr lang="es-CO"/>
          </a:p>
        </p:txBody>
      </p:sp>
      <p:sp>
        <p:nvSpPr>
          <p:cNvPr id="4" name="Marcador de pie de página 3">
            <a:extLst>
              <a:ext uri="{FF2B5EF4-FFF2-40B4-BE49-F238E27FC236}">
                <a16:creationId xmlns:a16="http://schemas.microsoft.com/office/drawing/2014/main" id="{E395C6DE-CEF5-49CE-81B7-C65322997E17}"/>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E655AEFA-E6DC-4C3A-8E1E-E39A28C6A7C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716497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C37ADD3-7F20-4483-968E-4108C3CA76D1}"/>
              </a:ext>
            </a:extLst>
          </p:cNvPr>
          <p:cNvSpPr>
            <a:spLocks noGrp="1"/>
          </p:cNvSpPr>
          <p:nvPr>
            <p:ph type="dt" sz="half" idx="10"/>
          </p:nvPr>
        </p:nvSpPr>
        <p:spPr/>
        <p:txBody>
          <a:bodyPr/>
          <a:lstStyle/>
          <a:p>
            <a:endParaRPr lang="es-CO"/>
          </a:p>
        </p:txBody>
      </p:sp>
      <p:sp>
        <p:nvSpPr>
          <p:cNvPr id="3" name="Marcador de pie de página 2">
            <a:extLst>
              <a:ext uri="{FF2B5EF4-FFF2-40B4-BE49-F238E27FC236}">
                <a16:creationId xmlns:a16="http://schemas.microsoft.com/office/drawing/2014/main" id="{9201F1DD-DE85-45C2-A23B-9BE9909BABD4}"/>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A532D5FD-CCBA-4D60-9F72-70B0547A8BA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789737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4CE757-1699-4D74-A9CE-BC11906BA49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77BAFAE8-50F1-4F41-8879-791C7FCE8D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07202F51-F14B-4489-A4C7-383A179B68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B2260C3-3136-4C10-AB81-407E441FFCEC}"/>
              </a:ext>
            </a:extLst>
          </p:cNvPr>
          <p:cNvSpPr>
            <a:spLocks noGrp="1"/>
          </p:cNvSpPr>
          <p:nvPr>
            <p:ph type="dt" sz="half" idx="10"/>
          </p:nvPr>
        </p:nvSpPr>
        <p:spPr/>
        <p:txBody>
          <a:bodyPr/>
          <a:lstStyle/>
          <a:p>
            <a:endParaRPr lang="es-CO"/>
          </a:p>
        </p:txBody>
      </p:sp>
      <p:sp>
        <p:nvSpPr>
          <p:cNvPr id="6" name="Marcador de pie de página 5">
            <a:extLst>
              <a:ext uri="{FF2B5EF4-FFF2-40B4-BE49-F238E27FC236}">
                <a16:creationId xmlns:a16="http://schemas.microsoft.com/office/drawing/2014/main" id="{6C72D528-0B37-4C52-B6B5-CE752A47E75A}"/>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1C99B042-F173-40F6-9BE4-748DE491568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030117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930899-EB14-4931-AFD7-CA7C7C87043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8C363F96-CA65-4B93-84A2-35550AE1A4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CE13531A-CAD8-4510-9808-CDFA87E498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DEEB4E5-C594-4DCA-8C77-ED040C36AEEE}"/>
              </a:ext>
            </a:extLst>
          </p:cNvPr>
          <p:cNvSpPr>
            <a:spLocks noGrp="1"/>
          </p:cNvSpPr>
          <p:nvPr>
            <p:ph type="dt" sz="half" idx="10"/>
          </p:nvPr>
        </p:nvSpPr>
        <p:spPr/>
        <p:txBody>
          <a:bodyPr/>
          <a:lstStyle/>
          <a:p>
            <a:endParaRPr lang="es-CO"/>
          </a:p>
        </p:txBody>
      </p:sp>
      <p:sp>
        <p:nvSpPr>
          <p:cNvPr id="6" name="Marcador de pie de página 5">
            <a:extLst>
              <a:ext uri="{FF2B5EF4-FFF2-40B4-BE49-F238E27FC236}">
                <a16:creationId xmlns:a16="http://schemas.microsoft.com/office/drawing/2014/main" id="{CE18B9AF-96D0-40AA-90D9-AB4F8807DD5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4E6E528F-B752-4F55-B742-D52488E4F7B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51135982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008B7C-4FC2-430A-8B47-6308316C724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0E5587E6-FE1B-41A0-8583-4992D5D9E254}"/>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DB6681C7-894A-417A-9D36-CF0C86DA85FB}"/>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39B5DF52-4FA8-41A7-A4B1-94BCAE5A27B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8B11FD7-B7C9-4B85-847E-1E0AEF5516F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8280326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DCAD3F36-B7B0-4CA0-AD27-EEC0B50843A7}"/>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009A267-D2C1-4055-BCC1-2DA58E4D0D50}"/>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5B720D23-2ADC-47B6-9197-3076755E97B2}"/>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36037D04-49C7-4B61-8B04-0FBD74F8EE3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6F3DAA9-8F18-4A47-A50F-95903658A69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6388410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UdeA-Nueva 1 1 1">
  <p:cSld name="UdeA-Nueva 1 1 1">
    <p:spTree>
      <p:nvGrpSpPr>
        <p:cNvPr id="1" name="Shape 48"/>
        <p:cNvGrpSpPr/>
        <p:nvPr/>
      </p:nvGrpSpPr>
      <p:grpSpPr>
        <a:xfrm>
          <a:off x="0" y="0"/>
          <a:ext cx="0" cy="0"/>
          <a:chOff x="0" y="0"/>
          <a:chExt cx="0" cy="0"/>
        </a:xfrm>
      </p:grpSpPr>
      <p:sp>
        <p:nvSpPr>
          <p:cNvPr id="49" name="Google Shape;49;p5"/>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lvl1pPr marL="0" marR="0" lvl="0" indent="0" algn="l" rtl="0">
              <a:lnSpc>
                <a:spcPct val="90000"/>
              </a:lnSpc>
              <a:spcBef>
                <a:spcPts val="0"/>
              </a:spcBef>
              <a:spcAft>
                <a:spcPts val="0"/>
              </a:spcAft>
              <a:buNone/>
              <a:defRPr b="1">
                <a:solidFill>
                  <a:srgbClr val="701E5C"/>
                </a:solidFill>
                <a:latin typeface="Roboto Slab"/>
                <a:ea typeface="Roboto Slab"/>
                <a:cs typeface="Roboto Slab"/>
                <a:sym typeface="Roboto Slab"/>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0" name="Google Shape;50;p5"/>
          <p:cNvSpPr txBox="1">
            <a:spLocks noGrp="1"/>
          </p:cNvSpPr>
          <p:nvPr>
            <p:ph type="body" idx="1"/>
          </p:nvPr>
        </p:nvSpPr>
        <p:spPr>
          <a:xfrm>
            <a:off x="838200" y="1318001"/>
            <a:ext cx="10515600" cy="48591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Font typeface="Roboto"/>
              <a:buChar char="●"/>
              <a:defRPr>
                <a:latin typeface="Roboto"/>
                <a:ea typeface="Roboto"/>
                <a:cs typeface="Roboto"/>
                <a:sym typeface="Roboto"/>
              </a:defRPr>
            </a:lvl1pPr>
            <a:lvl2pPr marL="914400" lvl="1"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2pPr>
            <a:lvl3pPr marL="1371600" lvl="2"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3pPr>
            <a:lvl4pPr marL="1828800" lvl="3"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4pPr>
            <a:lvl5pPr marL="2286000" lvl="4"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5pPr>
            <a:lvl6pPr marL="2743200" lvl="5"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6pPr>
            <a:lvl7pPr marL="3200400" lvl="6"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7pPr>
            <a:lvl8pPr marL="3657600" lvl="7"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8pPr>
            <a:lvl9pPr marL="4114800" lvl="8"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9pPr>
          </a:lstStyle>
          <a:p>
            <a:endParaRPr/>
          </a:p>
        </p:txBody>
      </p:sp>
      <p:sp>
        <p:nvSpPr>
          <p:cNvPr id="51" name="Google Shape;51;p5"/>
          <p:cNvSpPr txBox="1">
            <a:spLocks noGrp="1"/>
          </p:cNvSpPr>
          <p:nvPr>
            <p:ph type="dt" idx="10"/>
          </p:nvPr>
        </p:nvSpPr>
        <p:spPr>
          <a:xfrm>
            <a:off x="1264600" y="62801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2" name="Google Shape;52;p5"/>
          <p:cNvSpPr txBox="1">
            <a:spLocks noGrp="1"/>
          </p:cNvSpPr>
          <p:nvPr>
            <p:ph type="ftr" idx="11"/>
          </p:nvPr>
        </p:nvSpPr>
        <p:spPr>
          <a:xfrm>
            <a:off x="4755775" y="62801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3" name="Google Shape;53;p5"/>
          <p:cNvSpPr txBox="1">
            <a:spLocks noGrp="1"/>
          </p:cNvSpPr>
          <p:nvPr>
            <p:ph type="sldNum" idx="12"/>
          </p:nvPr>
        </p:nvSpPr>
        <p:spPr>
          <a:xfrm>
            <a:off x="9144000" y="62801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6645495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UdeA-Nueva 1 1">
  <p:cSld name="UdeA-Nueva 1 1">
    <p:spTree>
      <p:nvGrpSpPr>
        <p:cNvPr id="1" name="Shape 36"/>
        <p:cNvGrpSpPr/>
        <p:nvPr/>
      </p:nvGrpSpPr>
      <p:grpSpPr>
        <a:xfrm>
          <a:off x="0" y="0"/>
          <a:ext cx="0" cy="0"/>
          <a:chOff x="0" y="0"/>
          <a:chExt cx="0" cy="0"/>
        </a:xfrm>
      </p:grpSpPr>
      <p:sp>
        <p:nvSpPr>
          <p:cNvPr id="37" name="Google Shape;37;p4"/>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lvl1pPr marL="0" marR="0" lvl="0" indent="0" algn="l" rtl="0">
              <a:lnSpc>
                <a:spcPct val="90000"/>
              </a:lnSpc>
              <a:spcBef>
                <a:spcPts val="0"/>
              </a:spcBef>
              <a:spcAft>
                <a:spcPts val="0"/>
              </a:spcAft>
              <a:buNone/>
              <a:defRPr b="1">
                <a:solidFill>
                  <a:srgbClr val="8CC63E"/>
                </a:solidFill>
                <a:latin typeface="Roboto Slab"/>
                <a:ea typeface="Roboto Slab"/>
                <a:cs typeface="Roboto Slab"/>
                <a:sym typeface="Roboto Slab"/>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8" name="Google Shape;38;p4"/>
          <p:cNvSpPr txBox="1">
            <a:spLocks noGrp="1"/>
          </p:cNvSpPr>
          <p:nvPr>
            <p:ph type="body" idx="1"/>
          </p:nvPr>
        </p:nvSpPr>
        <p:spPr>
          <a:xfrm>
            <a:off x="838200" y="1318001"/>
            <a:ext cx="10515600" cy="48591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Font typeface="Roboto"/>
              <a:buChar char="●"/>
              <a:defRPr>
                <a:latin typeface="Roboto"/>
                <a:ea typeface="Roboto"/>
                <a:cs typeface="Roboto"/>
                <a:sym typeface="Roboto"/>
              </a:defRPr>
            </a:lvl1pPr>
            <a:lvl2pPr marL="914400" lvl="1"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2pPr>
            <a:lvl3pPr marL="1371600" lvl="2"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3pPr>
            <a:lvl4pPr marL="1828800" lvl="3"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4pPr>
            <a:lvl5pPr marL="2286000" lvl="4"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5pPr>
            <a:lvl6pPr marL="2743200" lvl="5"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6pPr>
            <a:lvl7pPr marL="3200400" lvl="6"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7pPr>
            <a:lvl8pPr marL="3657600" lvl="7"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8pPr>
            <a:lvl9pPr marL="4114800" lvl="8"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9pPr>
          </a:lstStyle>
          <a:p>
            <a:endParaRPr/>
          </a:p>
        </p:txBody>
      </p:sp>
      <p:sp>
        <p:nvSpPr>
          <p:cNvPr id="39" name="Google Shape;39;p4"/>
          <p:cNvSpPr txBox="1">
            <a:spLocks noGrp="1"/>
          </p:cNvSpPr>
          <p:nvPr>
            <p:ph type="dt" idx="10"/>
          </p:nvPr>
        </p:nvSpPr>
        <p:spPr>
          <a:xfrm>
            <a:off x="1264600" y="62801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4"/>
          <p:cNvSpPr txBox="1">
            <a:spLocks noGrp="1"/>
          </p:cNvSpPr>
          <p:nvPr>
            <p:ph type="ftr" idx="11"/>
          </p:nvPr>
        </p:nvSpPr>
        <p:spPr>
          <a:xfrm>
            <a:off x="4755775" y="62801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4"/>
          <p:cNvSpPr txBox="1">
            <a:spLocks noGrp="1"/>
          </p:cNvSpPr>
          <p:nvPr>
            <p:ph type="sldNum" idx="12"/>
          </p:nvPr>
        </p:nvSpPr>
        <p:spPr>
          <a:xfrm>
            <a:off x="9144000" y="62801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22812964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UdeA-Nueva 1">
  <p:cSld name="UdeA-Nueva 1">
    <p:spTree>
      <p:nvGrpSpPr>
        <p:cNvPr id="1" name="Shape 23"/>
        <p:cNvGrpSpPr/>
        <p:nvPr/>
      </p:nvGrpSpPr>
      <p:grpSpPr>
        <a:xfrm>
          <a:off x="0" y="0"/>
          <a:ext cx="0" cy="0"/>
          <a:chOff x="0" y="0"/>
          <a:chExt cx="0" cy="0"/>
        </a:xfrm>
      </p:grpSpPr>
      <p:sp>
        <p:nvSpPr>
          <p:cNvPr id="24" name="Google Shape;24;p3"/>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lvl1pPr marL="0" marR="0" lvl="0" indent="0" algn="l" rtl="0">
              <a:lnSpc>
                <a:spcPct val="90000"/>
              </a:lnSpc>
              <a:spcBef>
                <a:spcPts val="0"/>
              </a:spcBef>
              <a:spcAft>
                <a:spcPts val="0"/>
              </a:spcAft>
              <a:buNone/>
              <a:defRPr b="1">
                <a:solidFill>
                  <a:srgbClr val="F8A02B"/>
                </a:solidFill>
                <a:latin typeface="Roboto Slab"/>
                <a:ea typeface="Roboto Slab"/>
                <a:cs typeface="Roboto Slab"/>
                <a:sym typeface="Roboto Slab"/>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3"/>
          <p:cNvSpPr txBox="1">
            <a:spLocks noGrp="1"/>
          </p:cNvSpPr>
          <p:nvPr>
            <p:ph type="body" idx="1"/>
          </p:nvPr>
        </p:nvSpPr>
        <p:spPr>
          <a:xfrm>
            <a:off x="838200" y="1318001"/>
            <a:ext cx="10515600" cy="48591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Font typeface="Roboto"/>
              <a:buChar char="●"/>
              <a:defRPr>
                <a:latin typeface="Roboto"/>
                <a:ea typeface="Roboto"/>
                <a:cs typeface="Roboto"/>
                <a:sym typeface="Roboto"/>
              </a:defRPr>
            </a:lvl1pPr>
            <a:lvl2pPr marL="914400" lvl="1"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2pPr>
            <a:lvl3pPr marL="1371600" lvl="2"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3pPr>
            <a:lvl4pPr marL="1828800" lvl="3"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4pPr>
            <a:lvl5pPr marL="2286000" lvl="4"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5pPr>
            <a:lvl6pPr marL="2743200" lvl="5"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6pPr>
            <a:lvl7pPr marL="3200400" lvl="6"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7pPr>
            <a:lvl8pPr marL="3657600" lvl="7"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8pPr>
            <a:lvl9pPr marL="4114800" lvl="8"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9pPr>
          </a:lstStyle>
          <a:p>
            <a:endParaRPr/>
          </a:p>
        </p:txBody>
      </p:sp>
      <p:sp>
        <p:nvSpPr>
          <p:cNvPr id="26" name="Google Shape;26;p3"/>
          <p:cNvSpPr txBox="1">
            <a:spLocks noGrp="1"/>
          </p:cNvSpPr>
          <p:nvPr>
            <p:ph type="dt" idx="10"/>
          </p:nvPr>
        </p:nvSpPr>
        <p:spPr>
          <a:xfrm>
            <a:off x="1204075" y="62974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3"/>
          <p:cNvSpPr txBox="1">
            <a:spLocks noGrp="1"/>
          </p:cNvSpPr>
          <p:nvPr>
            <p:ph type="ftr" idx="11"/>
          </p:nvPr>
        </p:nvSpPr>
        <p:spPr>
          <a:xfrm>
            <a:off x="4861675" y="62801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3"/>
          <p:cNvSpPr txBox="1">
            <a:spLocks noGrp="1"/>
          </p:cNvSpPr>
          <p:nvPr>
            <p:ph type="sldNum" idx="12"/>
          </p:nvPr>
        </p:nvSpPr>
        <p:spPr>
          <a:xfrm>
            <a:off x="9144000" y="62801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31980333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1765D063-C8A6-4186-B9DF-AA2978A328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AC777A55-EDB8-46EB-BBF2-C26066229D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F09FE075-C225-4A47-BCE6-A76B6CE18E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CO"/>
          </a:p>
        </p:txBody>
      </p:sp>
      <p:sp>
        <p:nvSpPr>
          <p:cNvPr id="5" name="Marcador de pie de página 4">
            <a:extLst>
              <a:ext uri="{FF2B5EF4-FFF2-40B4-BE49-F238E27FC236}">
                <a16:creationId xmlns:a16="http://schemas.microsoft.com/office/drawing/2014/main" id="{8EFAA2FE-B7ED-4C88-9A71-07E2192A23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ED9B8E08-B7B7-49BB-854F-D09408E9F2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2590750013"/>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hyperlink" Target="https://www.facebook.com/gatoncomic/" TargetMode="External"/><Relationship Id="rId5" Type="http://schemas.openxmlformats.org/officeDocument/2006/relationships/image" Target="../media/image1.jpe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13.xml"/><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13.xml"/><Relationship Id="rId5" Type="http://schemas.openxmlformats.org/officeDocument/2006/relationships/image" Target="../media/image41.png"/><Relationship Id="rId4" Type="http://schemas.openxmlformats.org/officeDocument/2006/relationships/image" Target="../media/image40.png"/></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13.xml"/><Relationship Id="rId6" Type="http://schemas.openxmlformats.org/officeDocument/2006/relationships/image" Target="../media/image45.png"/><Relationship Id="rId5" Type="http://schemas.openxmlformats.org/officeDocument/2006/relationships/image" Target="../media/image46.png"/><Relationship Id="rId4" Type="http://schemas.openxmlformats.org/officeDocument/2006/relationships/image" Target="../media/image44.png"/></Relationships>
</file>

<file path=ppt/slides/_rels/slide2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52.png"/></Relationships>
</file>

<file path=ppt/slides/_rels/slide2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8.xml"/><Relationship Id="rId1" Type="http://schemas.openxmlformats.org/officeDocument/2006/relationships/slideLayout" Target="../slideLayouts/slideLayout12.xml"/><Relationship Id="rId5" Type="http://schemas.openxmlformats.org/officeDocument/2006/relationships/image" Target="../media/image56.png"/><Relationship Id="rId4" Type="http://schemas.openxmlformats.org/officeDocument/2006/relationships/image" Target="../media/image55.png"/></Relationships>
</file>

<file path=ppt/slides/_rels/slide3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53.png"/></Relationships>
</file>

<file path=ppt/slides/_rels/slide31.xml.rels><?xml version="1.0" encoding="UTF-8" standalone="yes"?>
<Relationships xmlns="http://schemas.openxmlformats.org/package/2006/relationships"><Relationship Id="rId3" Type="http://schemas.openxmlformats.org/officeDocument/2006/relationships/image" Target="../media/image540.png"/><Relationship Id="rId2" Type="http://schemas.openxmlformats.org/officeDocument/2006/relationships/notesSlide" Target="../notesSlides/notesSlide30.xml"/><Relationship Id="rId1" Type="http://schemas.openxmlformats.org/officeDocument/2006/relationships/slideLayout" Target="../slideLayouts/slideLayout12.xml"/><Relationship Id="rId4" Type="http://schemas.openxmlformats.org/officeDocument/2006/relationships/image" Target="../media/image55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2.xml"/><Relationship Id="rId1" Type="http://schemas.openxmlformats.org/officeDocument/2006/relationships/slideLayout" Target="../slideLayouts/slideLayout12.xml"/><Relationship Id="rId5" Type="http://schemas.openxmlformats.org/officeDocument/2006/relationships/image" Target="../media/image52.png"/><Relationship Id="rId4" Type="http://schemas.openxmlformats.org/officeDocument/2006/relationships/image" Target="../media/image47.png"/></Relationships>
</file>

<file path=ppt/slides/_rels/slide3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3.xml"/><Relationship Id="rId1" Type="http://schemas.openxmlformats.org/officeDocument/2006/relationships/slideLayout" Target="../slideLayouts/slideLayout12.xml"/><Relationship Id="rId5" Type="http://schemas.openxmlformats.org/officeDocument/2006/relationships/image" Target="../media/image52.png"/><Relationship Id="rId4" Type="http://schemas.openxmlformats.org/officeDocument/2006/relationships/image" Target="../media/image47.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7"/>
          <p:cNvSpPr txBox="1">
            <a:spLocks noGrp="1"/>
          </p:cNvSpPr>
          <p:nvPr>
            <p:ph type="ctrTitle"/>
          </p:nvPr>
        </p:nvSpPr>
        <p:spPr>
          <a:xfrm>
            <a:off x="408724" y="2964875"/>
            <a:ext cx="10873791" cy="922200"/>
          </a:xfrm>
          <a:prstGeom prst="rect">
            <a:avLst/>
          </a:prstGeom>
        </p:spPr>
        <p:txBody>
          <a:bodyPr spcFirstLastPara="1" wrap="square" lIns="91425" tIns="45700" rIns="91425" bIns="45700" anchor="b" anchorCtr="0">
            <a:noAutofit/>
          </a:bodyPr>
          <a:lstStyle/>
          <a:p>
            <a:pPr marL="0" lvl="0" indent="0" rtl="0">
              <a:spcBef>
                <a:spcPts val="0"/>
              </a:spcBef>
              <a:spcAft>
                <a:spcPts val="0"/>
              </a:spcAft>
              <a:buClr>
                <a:schemeClr val="lt1"/>
              </a:buClr>
              <a:buSzPts val="2800"/>
              <a:buFont typeface="Roboto Slab"/>
              <a:buNone/>
            </a:pPr>
            <a:r>
              <a:rPr lang="es-ES" b="1" dirty="0"/>
              <a:t>Matemáticas Discretas I</a:t>
            </a:r>
            <a:endParaRPr sz="3200" dirty="0"/>
          </a:p>
        </p:txBody>
      </p:sp>
      <p:sp>
        <p:nvSpPr>
          <p:cNvPr id="140" name="Google Shape;140;p17"/>
          <p:cNvSpPr txBox="1">
            <a:spLocks noGrp="1"/>
          </p:cNvSpPr>
          <p:nvPr>
            <p:ph type="subTitle" idx="1"/>
          </p:nvPr>
        </p:nvSpPr>
        <p:spPr>
          <a:xfrm>
            <a:off x="1524000" y="3602037"/>
            <a:ext cx="9144000" cy="2754517"/>
          </a:xfrm>
          <a:prstGeom prst="rect">
            <a:avLst/>
          </a:prstGeom>
        </p:spPr>
        <p:txBody>
          <a:bodyPr spcFirstLastPara="1" wrap="square" lIns="91425" tIns="45700" rIns="91425" bIns="45700" anchor="t" anchorCtr="0">
            <a:noAutofit/>
          </a:bodyPr>
          <a:lstStyle/>
          <a:p>
            <a:pPr marL="0" lvl="0" indent="0" algn="ctr" rtl="0">
              <a:spcBef>
                <a:spcPts val="1000"/>
              </a:spcBef>
              <a:spcAft>
                <a:spcPts val="0"/>
              </a:spcAft>
              <a:buNone/>
            </a:pPr>
            <a:r>
              <a:rPr lang="es-ES" sz="3600" b="1" dirty="0"/>
              <a:t>Clase 06 - Argumentación lógica</a:t>
            </a:r>
          </a:p>
          <a:p>
            <a:r>
              <a:rPr lang="es-CO" sz="2800" dirty="0"/>
              <a:t>Universidad de Antioquia</a:t>
            </a:r>
          </a:p>
          <a:p>
            <a:r>
              <a:rPr lang="es-CO" sz="2800" dirty="0"/>
              <a:t>Facultad de Ingeniería</a:t>
            </a:r>
          </a:p>
          <a:p>
            <a:r>
              <a:rPr lang="es-CO" sz="2800" dirty="0"/>
              <a:t>Ingeniería de Sistemas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p:txBody>
          <a:bodyPr/>
          <a:lstStyle/>
          <a:p>
            <a:r>
              <a:rPr lang="es-CO" dirty="0">
                <a:solidFill>
                  <a:schemeClr val="tx1"/>
                </a:solidFill>
                <a:latin typeface="+mj-lt"/>
              </a:rPr>
              <a:t>Repaso clase anterior</a:t>
            </a:r>
          </a:p>
        </p:txBody>
      </p:sp>
      <p:sp>
        <p:nvSpPr>
          <p:cNvPr id="19" name="CuadroTexto 18">
            <a:extLst>
              <a:ext uri="{FF2B5EF4-FFF2-40B4-BE49-F238E27FC236}">
                <a16:creationId xmlns:a16="http://schemas.microsoft.com/office/drawing/2014/main" id="{B265F3B2-A256-4C17-BA39-917174208C08}"/>
              </a:ext>
            </a:extLst>
          </p:cNvPr>
          <p:cNvSpPr txBox="1"/>
          <p:nvPr/>
        </p:nvSpPr>
        <p:spPr>
          <a:xfrm>
            <a:off x="769167" y="936115"/>
            <a:ext cx="3267423" cy="492443"/>
          </a:xfrm>
          <a:prstGeom prst="rect">
            <a:avLst/>
          </a:prstGeom>
          <a:noFill/>
        </p:spPr>
        <p:txBody>
          <a:bodyPr wrap="square" rtlCol="0">
            <a:spAutoFit/>
          </a:bodyPr>
          <a:lstStyle/>
          <a:p>
            <a:r>
              <a:rPr lang="es-MX" sz="2600" b="1" dirty="0">
                <a:ea typeface="Roboto" panose="02000000000000000000" pitchFamily="2" charset="0"/>
              </a:rPr>
              <a:t>Tablas de verdad</a:t>
            </a:r>
          </a:p>
        </p:txBody>
      </p:sp>
      <mc:AlternateContent xmlns:mc="http://schemas.openxmlformats.org/markup-compatibility/2006" xmlns:a14="http://schemas.microsoft.com/office/drawing/2010/main">
        <mc:Choice Requires="a14">
          <p:graphicFrame>
            <p:nvGraphicFramePr>
              <p:cNvPr id="5" name="Tabla 4">
                <a:extLst>
                  <a:ext uri="{FF2B5EF4-FFF2-40B4-BE49-F238E27FC236}">
                    <a16:creationId xmlns:a16="http://schemas.microsoft.com/office/drawing/2014/main" id="{E978B171-4FC4-41C8-AFE8-D368D596E852}"/>
                  </a:ext>
                </a:extLst>
              </p:cNvPr>
              <p:cNvGraphicFramePr>
                <a:graphicFrameLocks noGrp="1"/>
              </p:cNvGraphicFramePr>
              <p:nvPr>
                <p:extLst>
                  <p:ext uri="{D42A27DB-BD31-4B8C-83A1-F6EECF244321}">
                    <p14:modId xmlns:p14="http://schemas.microsoft.com/office/powerpoint/2010/main" val="2324198239"/>
                  </p:ext>
                </p:extLst>
              </p:nvPr>
            </p:nvGraphicFramePr>
            <p:xfrm>
              <a:off x="2132255" y="1723485"/>
              <a:ext cx="1135628" cy="1188720"/>
            </p:xfrm>
            <a:graphic>
              <a:graphicData uri="http://schemas.openxmlformats.org/drawingml/2006/table">
                <a:tbl>
                  <a:tblPr firstRow="1" bandRow="1">
                    <a:tableStyleId>{AD6A3598-7CB8-4345-8D95-17CE05F158A0}</a:tableStyleId>
                  </a:tblPr>
                  <a:tblGrid>
                    <a:gridCol w="567814">
                      <a:extLst>
                        <a:ext uri="{9D8B030D-6E8A-4147-A177-3AD203B41FA5}">
                          <a16:colId xmlns:a16="http://schemas.microsoft.com/office/drawing/2014/main" val="384604534"/>
                        </a:ext>
                      </a:extLst>
                    </a:gridCol>
                    <a:gridCol w="567814">
                      <a:extLst>
                        <a:ext uri="{9D8B030D-6E8A-4147-A177-3AD203B41FA5}">
                          <a16:colId xmlns:a16="http://schemas.microsoft.com/office/drawing/2014/main" val="79869298"/>
                        </a:ext>
                      </a:extLst>
                    </a:gridCol>
                  </a:tblGrid>
                  <a:tr h="352522">
                    <a:tc>
                      <a:txBody>
                        <a:bodyPr/>
                        <a:lstStyle/>
                        <a:p>
                          <a:pPr algn="ctr"/>
                          <a14:m>
                            <m:oMathPara xmlns:m="http://schemas.openxmlformats.org/officeDocument/2006/math">
                              <m:oMathParaPr>
                                <m:jc m:val="centerGroup"/>
                              </m:oMathParaPr>
                              <m:oMath xmlns:m="http://schemas.openxmlformats.org/officeDocument/2006/math">
                                <m:r>
                                  <a:rPr lang="es-MX" sz="2000" b="1" i="1" smtClean="0">
                                    <a:solidFill>
                                      <a:schemeClr val="bg1"/>
                                    </a:solidFill>
                                    <a:latin typeface="Cambria Math" panose="02040503050406030204" pitchFamily="18" charset="0"/>
                                    <a:ea typeface="Roboto" panose="02000000000000000000" pitchFamily="2" charset="0"/>
                                  </a:rPr>
                                  <m:t>𝒑</m:t>
                                </m:r>
                              </m:oMath>
                            </m:oMathPara>
                          </a14:m>
                          <a:endParaRPr lang="es-CO" sz="2000" b="1" dirty="0">
                            <a:solidFill>
                              <a:schemeClr val="bg1"/>
                            </a:solidFill>
                            <a:latin typeface="Roboto" panose="02000000000000000000" pitchFamily="2" charset="0"/>
                            <a:ea typeface="Roboto" panose="02000000000000000000" pitchFamily="2" charset="0"/>
                          </a:endParaRPr>
                        </a:p>
                      </a:txBody>
                      <a:tcPr>
                        <a:solidFill>
                          <a:schemeClr val="tx1"/>
                        </a:solidFill>
                      </a:tcPr>
                    </a:tc>
                    <a:tc>
                      <a:txBody>
                        <a:bodyPr/>
                        <a:lstStyle/>
                        <a:p>
                          <a:pPr algn="ctr"/>
                          <a14:m>
                            <m:oMathPara xmlns:m="http://schemas.openxmlformats.org/officeDocument/2006/math">
                              <m:oMathParaPr>
                                <m:jc m:val="centerGroup"/>
                              </m:oMathParaPr>
                              <m:oMath xmlns:m="http://schemas.openxmlformats.org/officeDocument/2006/math">
                                <m:r>
                                  <a:rPr lang="es-MX" sz="2000" b="1" i="1" smtClean="0">
                                    <a:solidFill>
                                      <a:schemeClr val="bg1"/>
                                    </a:solidFill>
                                    <a:latin typeface="Cambria Math" panose="02040503050406030204" pitchFamily="18" charset="0"/>
                                    <a:ea typeface="Roboto" panose="02000000000000000000" pitchFamily="2" charset="0"/>
                                  </a:rPr>
                                  <m:t>¬</m:t>
                                </m:r>
                                <m:r>
                                  <a:rPr lang="es-MX" sz="2000" b="1" i="1" smtClean="0">
                                    <a:solidFill>
                                      <a:schemeClr val="bg1"/>
                                    </a:solidFill>
                                    <a:latin typeface="Cambria Math" panose="02040503050406030204" pitchFamily="18" charset="0"/>
                                    <a:ea typeface="Roboto" panose="02000000000000000000" pitchFamily="2" charset="0"/>
                                  </a:rPr>
                                  <m:t>𝒑</m:t>
                                </m:r>
                              </m:oMath>
                            </m:oMathPara>
                          </a14:m>
                          <a:endParaRPr lang="es-CO" sz="2000" b="1" dirty="0">
                            <a:solidFill>
                              <a:schemeClr val="bg1"/>
                            </a:solidFill>
                            <a:latin typeface="Roboto" panose="02000000000000000000" pitchFamily="2" charset="0"/>
                            <a:ea typeface="Roboto" panose="02000000000000000000" pitchFamily="2" charset="0"/>
                          </a:endParaRPr>
                        </a:p>
                      </a:txBody>
                      <a:tcPr>
                        <a:solidFill>
                          <a:schemeClr val="tx1"/>
                        </a:solidFill>
                      </a:tcPr>
                    </a:tc>
                    <a:extLst>
                      <a:ext uri="{0D108BD9-81ED-4DB2-BD59-A6C34878D82A}">
                        <a16:rowId xmlns:a16="http://schemas.microsoft.com/office/drawing/2014/main" val="113670299"/>
                      </a:ext>
                    </a:extLst>
                  </a:tr>
                  <a:tr h="35252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𝐹</m:t>
                                </m:r>
                              </m:oMath>
                            </m:oMathPara>
                          </a14:m>
                          <a:endParaRPr lang="es-CO" sz="2000" dirty="0">
                            <a:latin typeface="Roboto" panose="02000000000000000000" pitchFamily="2" charset="0"/>
                            <a:ea typeface="Roboto" panose="02000000000000000000" pitchFamily="2" charset="0"/>
                          </a:endParaRPr>
                        </a:p>
                      </a:txBody>
                      <a:tcPr/>
                    </a:tc>
                    <a:tc>
                      <a:txBody>
                        <a:bodyPr/>
                        <a:lstStyle/>
                        <a:p>
                          <a:pPr algn="ct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805549228"/>
                      </a:ext>
                    </a:extLst>
                  </a:tr>
                  <a:tr h="352522">
                    <a:tc>
                      <a:txBody>
                        <a:bodyPr/>
                        <a:lstStyle/>
                        <a:p>
                          <a:pPr algn="ct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𝐹</m:t>
                                </m:r>
                              </m:oMath>
                            </m:oMathPara>
                          </a14:m>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353127006"/>
                      </a:ext>
                    </a:extLst>
                  </a:tr>
                </a:tbl>
              </a:graphicData>
            </a:graphic>
          </p:graphicFrame>
        </mc:Choice>
        <mc:Fallback xmlns="">
          <p:graphicFrame>
            <p:nvGraphicFramePr>
              <p:cNvPr id="5" name="Tabla 4">
                <a:extLst>
                  <a:ext uri="{FF2B5EF4-FFF2-40B4-BE49-F238E27FC236}">
                    <a16:creationId xmlns:a16="http://schemas.microsoft.com/office/drawing/2014/main" id="{E978B171-4FC4-41C8-AFE8-D368D596E852}"/>
                  </a:ext>
                </a:extLst>
              </p:cNvPr>
              <p:cNvGraphicFramePr>
                <a:graphicFrameLocks noGrp="1"/>
              </p:cNvGraphicFramePr>
              <p:nvPr>
                <p:extLst>
                  <p:ext uri="{D42A27DB-BD31-4B8C-83A1-F6EECF244321}">
                    <p14:modId xmlns:p14="http://schemas.microsoft.com/office/powerpoint/2010/main" val="2324198239"/>
                  </p:ext>
                </p:extLst>
              </p:nvPr>
            </p:nvGraphicFramePr>
            <p:xfrm>
              <a:off x="2132255" y="1723485"/>
              <a:ext cx="1135628" cy="1188720"/>
            </p:xfrm>
            <a:graphic>
              <a:graphicData uri="http://schemas.openxmlformats.org/drawingml/2006/table">
                <a:tbl>
                  <a:tblPr firstRow="1" bandRow="1">
                    <a:tableStyleId>{AD6A3598-7CB8-4345-8D95-17CE05F158A0}</a:tableStyleId>
                  </a:tblPr>
                  <a:tblGrid>
                    <a:gridCol w="567814">
                      <a:extLst>
                        <a:ext uri="{9D8B030D-6E8A-4147-A177-3AD203B41FA5}">
                          <a16:colId xmlns:a16="http://schemas.microsoft.com/office/drawing/2014/main" val="384604534"/>
                        </a:ext>
                      </a:extLst>
                    </a:gridCol>
                    <a:gridCol w="567814">
                      <a:extLst>
                        <a:ext uri="{9D8B030D-6E8A-4147-A177-3AD203B41FA5}">
                          <a16:colId xmlns:a16="http://schemas.microsoft.com/office/drawing/2014/main" val="79869298"/>
                        </a:ext>
                      </a:extLst>
                    </a:gridCol>
                  </a:tblGrid>
                  <a:tr h="396240">
                    <a:tc>
                      <a:txBody>
                        <a:bodyPr/>
                        <a:lstStyle/>
                        <a:p>
                          <a:endParaRPr lang="es-CO"/>
                        </a:p>
                      </a:txBody>
                      <a:tcPr>
                        <a:blipFill>
                          <a:blip r:embed="rId3"/>
                          <a:stretch>
                            <a:fillRect l="-1064" t="-1538" r="-101064" b="-204615"/>
                          </a:stretch>
                        </a:blipFill>
                      </a:tcPr>
                    </a:tc>
                    <a:tc>
                      <a:txBody>
                        <a:bodyPr/>
                        <a:lstStyle/>
                        <a:p>
                          <a:endParaRPr lang="es-CO"/>
                        </a:p>
                      </a:txBody>
                      <a:tcPr>
                        <a:blipFill>
                          <a:blip r:embed="rId3"/>
                          <a:stretch>
                            <a:fillRect l="-101064" t="-1538" r="-1064" b="-204615"/>
                          </a:stretch>
                        </a:blipFill>
                      </a:tcPr>
                    </a:tc>
                    <a:extLst>
                      <a:ext uri="{0D108BD9-81ED-4DB2-BD59-A6C34878D82A}">
                        <a16:rowId xmlns:a16="http://schemas.microsoft.com/office/drawing/2014/main" val="113670299"/>
                      </a:ext>
                    </a:extLst>
                  </a:tr>
                  <a:tr h="396240">
                    <a:tc>
                      <a:txBody>
                        <a:bodyPr/>
                        <a:lstStyle/>
                        <a:p>
                          <a:endParaRPr lang="es-CO"/>
                        </a:p>
                      </a:txBody>
                      <a:tcPr>
                        <a:blipFill>
                          <a:blip r:embed="rId3"/>
                          <a:stretch>
                            <a:fillRect l="-1064" t="-100000" r="-101064" b="-101515"/>
                          </a:stretch>
                        </a:blipFill>
                      </a:tcPr>
                    </a:tc>
                    <a:tc>
                      <a:txBody>
                        <a:bodyPr/>
                        <a:lstStyle/>
                        <a:p>
                          <a:endParaRPr lang="es-CO"/>
                        </a:p>
                      </a:txBody>
                      <a:tcPr>
                        <a:blipFill>
                          <a:blip r:embed="rId3"/>
                          <a:stretch>
                            <a:fillRect l="-101064" t="-100000" r="-1064" b="-101515"/>
                          </a:stretch>
                        </a:blipFill>
                      </a:tcPr>
                    </a:tc>
                    <a:extLst>
                      <a:ext uri="{0D108BD9-81ED-4DB2-BD59-A6C34878D82A}">
                        <a16:rowId xmlns:a16="http://schemas.microsoft.com/office/drawing/2014/main" val="1805549228"/>
                      </a:ext>
                    </a:extLst>
                  </a:tr>
                  <a:tr h="396240">
                    <a:tc>
                      <a:txBody>
                        <a:bodyPr/>
                        <a:lstStyle/>
                        <a:p>
                          <a:endParaRPr lang="es-CO"/>
                        </a:p>
                      </a:txBody>
                      <a:tcPr>
                        <a:blipFill>
                          <a:blip r:embed="rId3"/>
                          <a:stretch>
                            <a:fillRect l="-1064" t="-203077" r="-101064" b="-3077"/>
                          </a:stretch>
                        </a:blipFill>
                      </a:tcPr>
                    </a:tc>
                    <a:tc>
                      <a:txBody>
                        <a:bodyPr/>
                        <a:lstStyle/>
                        <a:p>
                          <a:endParaRPr lang="es-CO"/>
                        </a:p>
                      </a:txBody>
                      <a:tcPr>
                        <a:blipFill>
                          <a:blip r:embed="rId3"/>
                          <a:stretch>
                            <a:fillRect l="-101064" t="-203077" r="-1064" b="-3077"/>
                          </a:stretch>
                        </a:blipFill>
                      </a:tcPr>
                    </a:tc>
                    <a:extLst>
                      <a:ext uri="{0D108BD9-81ED-4DB2-BD59-A6C34878D82A}">
                        <a16:rowId xmlns:a16="http://schemas.microsoft.com/office/drawing/2014/main" val="235312700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6" name="Tabla 4">
                <a:extLst>
                  <a:ext uri="{FF2B5EF4-FFF2-40B4-BE49-F238E27FC236}">
                    <a16:creationId xmlns:a16="http://schemas.microsoft.com/office/drawing/2014/main" id="{D34D94B4-2DFA-4D64-803B-968A7536FFC3}"/>
                  </a:ext>
                </a:extLst>
              </p:cNvPr>
              <p:cNvGraphicFramePr>
                <a:graphicFrameLocks noGrp="1"/>
              </p:cNvGraphicFramePr>
              <p:nvPr>
                <p:extLst>
                  <p:ext uri="{D42A27DB-BD31-4B8C-83A1-F6EECF244321}">
                    <p14:modId xmlns:p14="http://schemas.microsoft.com/office/powerpoint/2010/main" val="3023227088"/>
                  </p:ext>
                </p:extLst>
              </p:nvPr>
            </p:nvGraphicFramePr>
            <p:xfrm>
              <a:off x="4287309" y="1306749"/>
              <a:ext cx="6261577" cy="1981200"/>
            </p:xfrm>
            <a:graphic>
              <a:graphicData uri="http://schemas.openxmlformats.org/drawingml/2006/table">
                <a:tbl>
                  <a:tblPr firstRow="1" bandRow="1">
                    <a:tableStyleId>{AD6A3598-7CB8-4345-8D95-17CE05F158A0}</a:tableStyleId>
                  </a:tblPr>
                  <a:tblGrid>
                    <a:gridCol w="544786">
                      <a:extLst>
                        <a:ext uri="{9D8B030D-6E8A-4147-A177-3AD203B41FA5}">
                          <a16:colId xmlns:a16="http://schemas.microsoft.com/office/drawing/2014/main" val="776375974"/>
                        </a:ext>
                      </a:extLst>
                    </a:gridCol>
                    <a:gridCol w="544786">
                      <a:extLst>
                        <a:ext uri="{9D8B030D-6E8A-4147-A177-3AD203B41FA5}">
                          <a16:colId xmlns:a16="http://schemas.microsoft.com/office/drawing/2014/main" val="384604534"/>
                        </a:ext>
                      </a:extLst>
                    </a:gridCol>
                    <a:gridCol w="1034401">
                      <a:extLst>
                        <a:ext uri="{9D8B030D-6E8A-4147-A177-3AD203B41FA5}">
                          <a16:colId xmlns:a16="http://schemas.microsoft.com/office/drawing/2014/main" val="79869298"/>
                        </a:ext>
                      </a:extLst>
                    </a:gridCol>
                    <a:gridCol w="1034401">
                      <a:extLst>
                        <a:ext uri="{9D8B030D-6E8A-4147-A177-3AD203B41FA5}">
                          <a16:colId xmlns:a16="http://schemas.microsoft.com/office/drawing/2014/main" val="3347906918"/>
                        </a:ext>
                      </a:extLst>
                    </a:gridCol>
                    <a:gridCol w="1034401">
                      <a:extLst>
                        <a:ext uri="{9D8B030D-6E8A-4147-A177-3AD203B41FA5}">
                          <a16:colId xmlns:a16="http://schemas.microsoft.com/office/drawing/2014/main" val="912474650"/>
                        </a:ext>
                      </a:extLst>
                    </a:gridCol>
                    <a:gridCol w="1034401">
                      <a:extLst>
                        <a:ext uri="{9D8B030D-6E8A-4147-A177-3AD203B41FA5}">
                          <a16:colId xmlns:a16="http://schemas.microsoft.com/office/drawing/2014/main" val="4025530010"/>
                        </a:ext>
                      </a:extLst>
                    </a:gridCol>
                    <a:gridCol w="1034401">
                      <a:extLst>
                        <a:ext uri="{9D8B030D-6E8A-4147-A177-3AD203B41FA5}">
                          <a16:colId xmlns:a16="http://schemas.microsoft.com/office/drawing/2014/main" val="2172254775"/>
                        </a:ext>
                      </a:extLst>
                    </a:gridCol>
                  </a:tblGrid>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solidFill>
                                      <a:schemeClr val="bg1"/>
                                    </a:solidFill>
                                    <a:latin typeface="Cambria Math" panose="02040503050406030204" pitchFamily="18" charset="0"/>
                                    <a:ea typeface="Roboto" panose="02000000000000000000" pitchFamily="2" charset="0"/>
                                  </a:rPr>
                                  <m:t>𝒑</m:t>
                                </m:r>
                              </m:oMath>
                            </m:oMathPara>
                          </a14:m>
                          <a:endParaRPr lang="es-CO" sz="2000" b="1" dirty="0">
                            <a:solidFill>
                              <a:schemeClr val="bg1"/>
                            </a:solidFill>
                            <a:latin typeface="Roboto" panose="02000000000000000000" pitchFamily="2" charset="0"/>
                            <a:ea typeface="Roboto" panose="02000000000000000000" pitchFamily="2" charset="0"/>
                          </a:endParaRPr>
                        </a:p>
                      </a:txBody>
                      <a:tcPr>
                        <a:solidFill>
                          <a:schemeClr val="tx1"/>
                        </a:solidFill>
                      </a:tcPr>
                    </a:tc>
                    <a:tc>
                      <a:txBody>
                        <a:bodyPr/>
                        <a:lstStyle/>
                        <a:p>
                          <a:pPr/>
                          <a14:m>
                            <m:oMathPara xmlns:m="http://schemas.openxmlformats.org/officeDocument/2006/math">
                              <m:oMathParaPr>
                                <m:jc m:val="centerGroup"/>
                              </m:oMathParaPr>
                              <m:oMath xmlns:m="http://schemas.openxmlformats.org/officeDocument/2006/math">
                                <m:r>
                                  <a:rPr lang="es-MX" sz="2000" b="1" i="1" smtClean="0">
                                    <a:solidFill>
                                      <a:schemeClr val="bg1"/>
                                    </a:solidFill>
                                    <a:latin typeface="Cambria Math" panose="02040503050406030204" pitchFamily="18" charset="0"/>
                                    <a:ea typeface="Roboto" panose="02000000000000000000" pitchFamily="2" charset="0"/>
                                  </a:rPr>
                                  <m:t>𝒒</m:t>
                                </m:r>
                              </m:oMath>
                            </m:oMathPara>
                          </a14:m>
                          <a:endParaRPr lang="es-CO" sz="2000" b="1" dirty="0">
                            <a:solidFill>
                              <a:schemeClr val="bg1"/>
                            </a:solidFill>
                            <a:latin typeface="Roboto" panose="02000000000000000000" pitchFamily="2" charset="0"/>
                            <a:ea typeface="Roboto" panose="02000000000000000000" pitchFamily="2" charset="0"/>
                          </a:endParaRPr>
                        </a:p>
                      </a:txBody>
                      <a:tcPr>
                        <a:solidFill>
                          <a:schemeClr val="tx1"/>
                        </a:solidFill>
                      </a:tcPr>
                    </a:tc>
                    <a:tc>
                      <a:txBody>
                        <a:bodyPr/>
                        <a:lstStyle/>
                        <a:p>
                          <a:pPr/>
                          <a14:m>
                            <m:oMathPara xmlns:m="http://schemas.openxmlformats.org/officeDocument/2006/math">
                              <m:oMathParaPr>
                                <m:jc m:val="centerGroup"/>
                              </m:oMathParaPr>
                              <m:oMath xmlns:m="http://schemas.openxmlformats.org/officeDocument/2006/math">
                                <m:r>
                                  <a:rPr lang="es-MX" sz="2000" b="1" i="1" smtClean="0">
                                    <a:solidFill>
                                      <a:schemeClr val="bg1"/>
                                    </a:solidFill>
                                    <a:latin typeface="Cambria Math" panose="02040503050406030204" pitchFamily="18" charset="0"/>
                                    <a:ea typeface="Roboto" panose="02000000000000000000" pitchFamily="2" charset="0"/>
                                  </a:rPr>
                                  <m:t>𝒑</m:t>
                                </m:r>
                                <m:r>
                                  <a:rPr lang="es-MX" sz="2000" b="1" i="1" smtClean="0">
                                    <a:solidFill>
                                      <a:schemeClr val="bg1"/>
                                    </a:solidFill>
                                    <a:latin typeface="Cambria Math" panose="02040503050406030204" pitchFamily="18" charset="0"/>
                                    <a:ea typeface="Cambria Math" panose="02040503050406030204" pitchFamily="18" charset="0"/>
                                  </a:rPr>
                                  <m:t>∧</m:t>
                                </m:r>
                                <m:r>
                                  <a:rPr lang="es-MX" sz="2000" b="1" i="1" smtClean="0">
                                    <a:solidFill>
                                      <a:schemeClr val="bg1"/>
                                    </a:solidFill>
                                    <a:latin typeface="Cambria Math" panose="02040503050406030204" pitchFamily="18" charset="0"/>
                                    <a:ea typeface="Cambria Math" panose="02040503050406030204" pitchFamily="18" charset="0"/>
                                  </a:rPr>
                                  <m:t>𝒒</m:t>
                                </m:r>
                              </m:oMath>
                            </m:oMathPara>
                          </a14:m>
                          <a:endParaRPr lang="es-CO" sz="2000" b="1" dirty="0">
                            <a:solidFill>
                              <a:schemeClr val="bg1"/>
                            </a:solidFill>
                            <a:latin typeface="Roboto" panose="02000000000000000000" pitchFamily="2" charset="0"/>
                            <a:ea typeface="Roboto" panose="02000000000000000000" pitchFamily="2" charset="0"/>
                          </a:endParaRPr>
                        </a:p>
                      </a:txBody>
                      <a:tcPr>
                        <a:solidFill>
                          <a:schemeClr val="tx1"/>
                        </a:solidFill>
                      </a:tcPr>
                    </a:tc>
                    <a:tc>
                      <a:txBody>
                        <a:bodyPr/>
                        <a:lstStyle/>
                        <a:p>
                          <a:pPr/>
                          <a14:m>
                            <m:oMathPara xmlns:m="http://schemas.openxmlformats.org/officeDocument/2006/math">
                              <m:oMathParaPr>
                                <m:jc m:val="centerGroup"/>
                              </m:oMathParaPr>
                              <m:oMath xmlns:m="http://schemas.openxmlformats.org/officeDocument/2006/math">
                                <m:r>
                                  <a:rPr lang="es-MX" sz="2000" b="1" i="1" smtClean="0">
                                    <a:solidFill>
                                      <a:schemeClr val="bg1"/>
                                    </a:solidFill>
                                    <a:latin typeface="Cambria Math" panose="02040503050406030204" pitchFamily="18" charset="0"/>
                                    <a:ea typeface="Roboto" panose="02000000000000000000" pitchFamily="2" charset="0"/>
                                  </a:rPr>
                                  <m:t>𝒑</m:t>
                                </m:r>
                                <m:r>
                                  <a:rPr lang="es-MX" sz="2000" b="1" i="1" smtClean="0">
                                    <a:solidFill>
                                      <a:schemeClr val="bg1"/>
                                    </a:solidFill>
                                    <a:latin typeface="Cambria Math" panose="02040503050406030204" pitchFamily="18" charset="0"/>
                                    <a:ea typeface="Cambria Math" panose="02040503050406030204" pitchFamily="18" charset="0"/>
                                  </a:rPr>
                                  <m:t>∨</m:t>
                                </m:r>
                                <m:r>
                                  <a:rPr lang="es-MX" sz="2000" b="1" i="1" smtClean="0">
                                    <a:solidFill>
                                      <a:schemeClr val="bg1"/>
                                    </a:solidFill>
                                    <a:latin typeface="Cambria Math" panose="02040503050406030204" pitchFamily="18" charset="0"/>
                                    <a:ea typeface="Cambria Math" panose="02040503050406030204" pitchFamily="18" charset="0"/>
                                  </a:rPr>
                                  <m:t>𝒒</m:t>
                                </m:r>
                              </m:oMath>
                            </m:oMathPara>
                          </a14:m>
                          <a:endParaRPr lang="es-CO" sz="2000" b="1" dirty="0">
                            <a:solidFill>
                              <a:schemeClr val="bg1"/>
                            </a:solidFill>
                            <a:latin typeface="Roboto" panose="02000000000000000000" pitchFamily="2" charset="0"/>
                            <a:ea typeface="Roboto" panose="02000000000000000000" pitchFamily="2" charset="0"/>
                          </a:endParaRPr>
                        </a:p>
                      </a:txBody>
                      <a:tcPr>
                        <a:solidFill>
                          <a:schemeClr val="tx1"/>
                        </a:solidFill>
                      </a:tcPr>
                    </a:tc>
                    <a:tc>
                      <a:txBody>
                        <a:bodyPr/>
                        <a:lstStyle/>
                        <a:p>
                          <a:pPr/>
                          <a14:m>
                            <m:oMathPara xmlns:m="http://schemas.openxmlformats.org/officeDocument/2006/math">
                              <m:oMathParaPr>
                                <m:jc m:val="centerGroup"/>
                              </m:oMathParaPr>
                              <m:oMath xmlns:m="http://schemas.openxmlformats.org/officeDocument/2006/math">
                                <m:r>
                                  <a:rPr lang="es-MX" sz="2000" b="1" i="1" smtClean="0">
                                    <a:solidFill>
                                      <a:schemeClr val="bg1"/>
                                    </a:solidFill>
                                    <a:latin typeface="Cambria Math" panose="02040503050406030204" pitchFamily="18" charset="0"/>
                                    <a:ea typeface="Roboto" panose="02000000000000000000" pitchFamily="2" charset="0"/>
                                  </a:rPr>
                                  <m:t>𝒑</m:t>
                                </m:r>
                                <m:r>
                                  <a:rPr lang="es-MX" sz="2000" b="1" i="1" smtClean="0">
                                    <a:solidFill>
                                      <a:schemeClr val="bg1"/>
                                    </a:solidFill>
                                    <a:latin typeface="Cambria Math" panose="02040503050406030204" pitchFamily="18" charset="0"/>
                                    <a:ea typeface="Cambria Math" panose="02040503050406030204" pitchFamily="18" charset="0"/>
                                  </a:rPr>
                                  <m:t>⊕</m:t>
                                </m:r>
                                <m:r>
                                  <a:rPr lang="es-MX" sz="2000" b="1" i="1" smtClean="0">
                                    <a:solidFill>
                                      <a:schemeClr val="bg1"/>
                                    </a:solidFill>
                                    <a:latin typeface="Cambria Math" panose="02040503050406030204" pitchFamily="18" charset="0"/>
                                    <a:ea typeface="Cambria Math" panose="02040503050406030204" pitchFamily="18" charset="0"/>
                                  </a:rPr>
                                  <m:t>𝒒</m:t>
                                </m:r>
                              </m:oMath>
                            </m:oMathPara>
                          </a14:m>
                          <a:endParaRPr lang="es-CO" sz="2000" b="1" dirty="0">
                            <a:solidFill>
                              <a:schemeClr val="bg1"/>
                            </a:solidFill>
                            <a:latin typeface="Roboto" panose="02000000000000000000" pitchFamily="2" charset="0"/>
                            <a:ea typeface="Roboto" panose="02000000000000000000" pitchFamily="2" charset="0"/>
                          </a:endParaRPr>
                        </a:p>
                      </a:txBody>
                      <a:tcPr>
                        <a:solidFill>
                          <a:schemeClr val="tx1"/>
                        </a:solidFill>
                      </a:tcPr>
                    </a:tc>
                    <a:tc>
                      <a:txBody>
                        <a:bodyPr/>
                        <a:lstStyle/>
                        <a:p>
                          <a:pPr/>
                          <a14:m>
                            <m:oMathPara xmlns:m="http://schemas.openxmlformats.org/officeDocument/2006/math">
                              <m:oMathParaPr>
                                <m:jc m:val="centerGroup"/>
                              </m:oMathParaPr>
                              <m:oMath xmlns:m="http://schemas.openxmlformats.org/officeDocument/2006/math">
                                <m:r>
                                  <a:rPr lang="es-MX" sz="2000" b="1" i="1" smtClean="0">
                                    <a:solidFill>
                                      <a:schemeClr val="bg1"/>
                                    </a:solidFill>
                                    <a:latin typeface="Cambria Math" panose="02040503050406030204" pitchFamily="18" charset="0"/>
                                    <a:ea typeface="Roboto" panose="02000000000000000000" pitchFamily="2" charset="0"/>
                                  </a:rPr>
                                  <m:t>𝒑</m:t>
                                </m:r>
                                <m:r>
                                  <a:rPr lang="es-MX" sz="2000" b="1" i="1" smtClean="0">
                                    <a:solidFill>
                                      <a:schemeClr val="bg1"/>
                                    </a:solidFill>
                                    <a:latin typeface="Cambria Math" panose="02040503050406030204" pitchFamily="18" charset="0"/>
                                    <a:ea typeface="Cambria Math" panose="02040503050406030204" pitchFamily="18" charset="0"/>
                                  </a:rPr>
                                  <m:t>→</m:t>
                                </m:r>
                                <m:r>
                                  <a:rPr lang="es-MX" sz="2000" b="1" i="1" smtClean="0">
                                    <a:solidFill>
                                      <a:schemeClr val="bg1"/>
                                    </a:solidFill>
                                    <a:latin typeface="Cambria Math" panose="02040503050406030204" pitchFamily="18" charset="0"/>
                                    <a:ea typeface="Cambria Math" panose="02040503050406030204" pitchFamily="18" charset="0"/>
                                  </a:rPr>
                                  <m:t>𝒒</m:t>
                                </m:r>
                              </m:oMath>
                            </m:oMathPara>
                          </a14:m>
                          <a:endParaRPr lang="es-CO" sz="2000" b="1" dirty="0">
                            <a:solidFill>
                              <a:schemeClr val="bg1"/>
                            </a:solidFill>
                            <a:latin typeface="Roboto" panose="02000000000000000000" pitchFamily="2" charset="0"/>
                            <a:ea typeface="Roboto" panose="02000000000000000000" pitchFamily="2" charset="0"/>
                          </a:endParaRPr>
                        </a:p>
                      </a:txBody>
                      <a:tcPr>
                        <a:solidFill>
                          <a:schemeClr val="tx1"/>
                        </a:solidFill>
                      </a:tcPr>
                    </a:tc>
                    <a:tc>
                      <a:txBody>
                        <a:bodyPr/>
                        <a:lstStyle/>
                        <a:p>
                          <a:pPr/>
                          <a14:m>
                            <m:oMathPara xmlns:m="http://schemas.openxmlformats.org/officeDocument/2006/math">
                              <m:oMathParaPr>
                                <m:jc m:val="centerGroup"/>
                              </m:oMathParaPr>
                              <m:oMath xmlns:m="http://schemas.openxmlformats.org/officeDocument/2006/math">
                                <m:r>
                                  <a:rPr lang="es-MX" sz="2000" b="1" i="1" smtClean="0">
                                    <a:solidFill>
                                      <a:schemeClr val="bg1"/>
                                    </a:solidFill>
                                    <a:latin typeface="Cambria Math" panose="02040503050406030204" pitchFamily="18" charset="0"/>
                                    <a:ea typeface="Roboto" panose="02000000000000000000" pitchFamily="2" charset="0"/>
                                  </a:rPr>
                                  <m:t>𝒑</m:t>
                                </m:r>
                                <m:r>
                                  <a:rPr lang="es-MX" sz="2000" b="1" i="1" smtClean="0">
                                    <a:solidFill>
                                      <a:schemeClr val="bg1"/>
                                    </a:solidFill>
                                    <a:latin typeface="Cambria Math" panose="02040503050406030204" pitchFamily="18" charset="0"/>
                                    <a:ea typeface="Cambria Math" panose="02040503050406030204" pitchFamily="18" charset="0"/>
                                  </a:rPr>
                                  <m:t>↔</m:t>
                                </m:r>
                                <m:r>
                                  <a:rPr lang="es-MX" sz="2000" b="1" i="1" smtClean="0">
                                    <a:solidFill>
                                      <a:schemeClr val="bg1"/>
                                    </a:solidFill>
                                    <a:latin typeface="Cambria Math" panose="02040503050406030204" pitchFamily="18" charset="0"/>
                                    <a:ea typeface="Cambria Math" panose="02040503050406030204" pitchFamily="18" charset="0"/>
                                  </a:rPr>
                                  <m:t>𝒒</m:t>
                                </m:r>
                              </m:oMath>
                            </m:oMathPara>
                          </a14:m>
                          <a:endParaRPr lang="es-CO" sz="2000" b="1" dirty="0">
                            <a:solidFill>
                              <a:schemeClr val="bg1"/>
                            </a:solidFill>
                            <a:latin typeface="Roboto" panose="02000000000000000000" pitchFamily="2" charset="0"/>
                            <a:ea typeface="Roboto" panose="02000000000000000000" pitchFamily="2" charset="0"/>
                          </a:endParaRPr>
                        </a:p>
                      </a:txBody>
                      <a:tcPr>
                        <a:solidFill>
                          <a:schemeClr val="tx1"/>
                        </a:solidFill>
                      </a:tcPr>
                    </a:tc>
                    <a:extLst>
                      <a:ext uri="{0D108BD9-81ED-4DB2-BD59-A6C34878D82A}">
                        <a16:rowId xmlns:a16="http://schemas.microsoft.com/office/drawing/2014/main" val="113670299"/>
                      </a:ext>
                    </a:extLst>
                  </a:tr>
                  <a:tr h="33480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𝐹</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𝐹</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𝐹</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𝐹</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𝐹</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805549228"/>
                      </a:ext>
                    </a:extLst>
                  </a:tr>
                  <a:tr h="334807">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𝐹</m:t>
                                </m:r>
                              </m:oMath>
                            </m:oMathPara>
                          </a14:m>
                          <a:endParaRPr lang="es-CO" sz="20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𝐹</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𝐹</m:t>
                                </m:r>
                              </m:oMath>
                            </m:oMathPara>
                          </a14:m>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353127006"/>
                      </a:ext>
                    </a:extLst>
                  </a:tr>
                  <a:tr h="33480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𝐹</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𝐹</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𝐹</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𝐹</m:t>
                                </m:r>
                              </m:oMath>
                            </m:oMathPara>
                          </a14:m>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4184868107"/>
                      </a:ext>
                    </a:extLst>
                  </a:tr>
                  <a:tr h="33480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𝐹</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889136403"/>
                      </a:ext>
                    </a:extLst>
                  </a:tr>
                </a:tbl>
              </a:graphicData>
            </a:graphic>
          </p:graphicFrame>
        </mc:Choice>
        <mc:Fallback xmlns="">
          <p:graphicFrame>
            <p:nvGraphicFramePr>
              <p:cNvPr id="6" name="Tabla 4">
                <a:extLst>
                  <a:ext uri="{FF2B5EF4-FFF2-40B4-BE49-F238E27FC236}">
                    <a16:creationId xmlns:a16="http://schemas.microsoft.com/office/drawing/2014/main" id="{D34D94B4-2DFA-4D64-803B-968A7536FFC3}"/>
                  </a:ext>
                </a:extLst>
              </p:cNvPr>
              <p:cNvGraphicFramePr>
                <a:graphicFrameLocks noGrp="1"/>
              </p:cNvGraphicFramePr>
              <p:nvPr>
                <p:extLst>
                  <p:ext uri="{D42A27DB-BD31-4B8C-83A1-F6EECF244321}">
                    <p14:modId xmlns:p14="http://schemas.microsoft.com/office/powerpoint/2010/main" val="3023227088"/>
                  </p:ext>
                </p:extLst>
              </p:nvPr>
            </p:nvGraphicFramePr>
            <p:xfrm>
              <a:off x="4287309" y="1306749"/>
              <a:ext cx="6261577" cy="1981200"/>
            </p:xfrm>
            <a:graphic>
              <a:graphicData uri="http://schemas.openxmlformats.org/drawingml/2006/table">
                <a:tbl>
                  <a:tblPr firstRow="1" bandRow="1">
                    <a:tableStyleId>{AD6A3598-7CB8-4345-8D95-17CE05F158A0}</a:tableStyleId>
                  </a:tblPr>
                  <a:tblGrid>
                    <a:gridCol w="544786">
                      <a:extLst>
                        <a:ext uri="{9D8B030D-6E8A-4147-A177-3AD203B41FA5}">
                          <a16:colId xmlns:a16="http://schemas.microsoft.com/office/drawing/2014/main" val="776375974"/>
                        </a:ext>
                      </a:extLst>
                    </a:gridCol>
                    <a:gridCol w="544786">
                      <a:extLst>
                        <a:ext uri="{9D8B030D-6E8A-4147-A177-3AD203B41FA5}">
                          <a16:colId xmlns:a16="http://schemas.microsoft.com/office/drawing/2014/main" val="384604534"/>
                        </a:ext>
                      </a:extLst>
                    </a:gridCol>
                    <a:gridCol w="1034401">
                      <a:extLst>
                        <a:ext uri="{9D8B030D-6E8A-4147-A177-3AD203B41FA5}">
                          <a16:colId xmlns:a16="http://schemas.microsoft.com/office/drawing/2014/main" val="79869298"/>
                        </a:ext>
                      </a:extLst>
                    </a:gridCol>
                    <a:gridCol w="1034401">
                      <a:extLst>
                        <a:ext uri="{9D8B030D-6E8A-4147-A177-3AD203B41FA5}">
                          <a16:colId xmlns:a16="http://schemas.microsoft.com/office/drawing/2014/main" val="3347906918"/>
                        </a:ext>
                      </a:extLst>
                    </a:gridCol>
                    <a:gridCol w="1034401">
                      <a:extLst>
                        <a:ext uri="{9D8B030D-6E8A-4147-A177-3AD203B41FA5}">
                          <a16:colId xmlns:a16="http://schemas.microsoft.com/office/drawing/2014/main" val="912474650"/>
                        </a:ext>
                      </a:extLst>
                    </a:gridCol>
                    <a:gridCol w="1034401">
                      <a:extLst>
                        <a:ext uri="{9D8B030D-6E8A-4147-A177-3AD203B41FA5}">
                          <a16:colId xmlns:a16="http://schemas.microsoft.com/office/drawing/2014/main" val="4025530010"/>
                        </a:ext>
                      </a:extLst>
                    </a:gridCol>
                    <a:gridCol w="1034401">
                      <a:extLst>
                        <a:ext uri="{9D8B030D-6E8A-4147-A177-3AD203B41FA5}">
                          <a16:colId xmlns:a16="http://schemas.microsoft.com/office/drawing/2014/main" val="2172254775"/>
                        </a:ext>
                      </a:extLst>
                    </a:gridCol>
                  </a:tblGrid>
                  <a:tr h="396240">
                    <a:tc>
                      <a:txBody>
                        <a:bodyPr/>
                        <a:lstStyle/>
                        <a:p>
                          <a:endParaRPr lang="es-CO"/>
                        </a:p>
                      </a:txBody>
                      <a:tcPr>
                        <a:blipFill>
                          <a:blip r:embed="rId4"/>
                          <a:stretch>
                            <a:fillRect l="-1124" t="-1538" r="-1057303" b="-403077"/>
                          </a:stretch>
                        </a:blipFill>
                      </a:tcPr>
                    </a:tc>
                    <a:tc>
                      <a:txBody>
                        <a:bodyPr/>
                        <a:lstStyle/>
                        <a:p>
                          <a:endParaRPr lang="es-CO"/>
                        </a:p>
                      </a:txBody>
                      <a:tcPr>
                        <a:blipFill>
                          <a:blip r:embed="rId4"/>
                          <a:stretch>
                            <a:fillRect l="-100000" t="-1538" r="-945556" b="-403077"/>
                          </a:stretch>
                        </a:blipFill>
                      </a:tcPr>
                    </a:tc>
                    <a:tc>
                      <a:txBody>
                        <a:bodyPr/>
                        <a:lstStyle/>
                        <a:p>
                          <a:endParaRPr lang="es-CO"/>
                        </a:p>
                      </a:txBody>
                      <a:tcPr>
                        <a:blipFill>
                          <a:blip r:embed="rId4"/>
                          <a:stretch>
                            <a:fillRect l="-105882" t="-1538" r="-400588" b="-403077"/>
                          </a:stretch>
                        </a:blipFill>
                      </a:tcPr>
                    </a:tc>
                    <a:tc>
                      <a:txBody>
                        <a:bodyPr/>
                        <a:lstStyle/>
                        <a:p>
                          <a:endParaRPr lang="es-CO"/>
                        </a:p>
                      </a:txBody>
                      <a:tcPr>
                        <a:blipFill>
                          <a:blip r:embed="rId4"/>
                          <a:stretch>
                            <a:fillRect l="-205882" t="-1538" r="-300588" b="-403077"/>
                          </a:stretch>
                        </a:blipFill>
                      </a:tcPr>
                    </a:tc>
                    <a:tc>
                      <a:txBody>
                        <a:bodyPr/>
                        <a:lstStyle/>
                        <a:p>
                          <a:endParaRPr lang="es-CO"/>
                        </a:p>
                      </a:txBody>
                      <a:tcPr>
                        <a:blipFill>
                          <a:blip r:embed="rId4"/>
                          <a:stretch>
                            <a:fillRect l="-307692" t="-1538" r="-202367" b="-403077"/>
                          </a:stretch>
                        </a:blipFill>
                      </a:tcPr>
                    </a:tc>
                    <a:tc>
                      <a:txBody>
                        <a:bodyPr/>
                        <a:lstStyle/>
                        <a:p>
                          <a:endParaRPr lang="es-CO"/>
                        </a:p>
                      </a:txBody>
                      <a:tcPr>
                        <a:blipFill>
                          <a:blip r:embed="rId4"/>
                          <a:stretch>
                            <a:fillRect l="-405294" t="-1538" r="-101176" b="-403077"/>
                          </a:stretch>
                        </a:blipFill>
                      </a:tcPr>
                    </a:tc>
                    <a:tc>
                      <a:txBody>
                        <a:bodyPr/>
                        <a:lstStyle/>
                        <a:p>
                          <a:endParaRPr lang="es-CO"/>
                        </a:p>
                      </a:txBody>
                      <a:tcPr>
                        <a:blipFill>
                          <a:blip r:embed="rId4"/>
                          <a:stretch>
                            <a:fillRect l="-505294" t="-1538" r="-1176" b="-403077"/>
                          </a:stretch>
                        </a:blipFill>
                      </a:tcPr>
                    </a:tc>
                    <a:extLst>
                      <a:ext uri="{0D108BD9-81ED-4DB2-BD59-A6C34878D82A}">
                        <a16:rowId xmlns:a16="http://schemas.microsoft.com/office/drawing/2014/main" val="113670299"/>
                      </a:ext>
                    </a:extLst>
                  </a:tr>
                  <a:tr h="396240">
                    <a:tc>
                      <a:txBody>
                        <a:bodyPr/>
                        <a:lstStyle/>
                        <a:p>
                          <a:endParaRPr lang="es-CO"/>
                        </a:p>
                      </a:txBody>
                      <a:tcPr>
                        <a:blipFill>
                          <a:blip r:embed="rId4"/>
                          <a:stretch>
                            <a:fillRect l="-1124" t="-101538" r="-1057303" b="-303077"/>
                          </a:stretch>
                        </a:blipFill>
                      </a:tcPr>
                    </a:tc>
                    <a:tc>
                      <a:txBody>
                        <a:bodyPr/>
                        <a:lstStyle/>
                        <a:p>
                          <a:endParaRPr lang="es-CO"/>
                        </a:p>
                      </a:txBody>
                      <a:tcPr>
                        <a:blipFill>
                          <a:blip r:embed="rId4"/>
                          <a:stretch>
                            <a:fillRect l="-100000" t="-101538" r="-945556" b="-303077"/>
                          </a:stretch>
                        </a:blipFill>
                      </a:tcPr>
                    </a:tc>
                    <a:tc>
                      <a:txBody>
                        <a:bodyPr/>
                        <a:lstStyle/>
                        <a:p>
                          <a:endParaRPr lang="es-CO"/>
                        </a:p>
                      </a:txBody>
                      <a:tcPr>
                        <a:blipFill>
                          <a:blip r:embed="rId4"/>
                          <a:stretch>
                            <a:fillRect l="-105882" t="-101538" r="-400588" b="-303077"/>
                          </a:stretch>
                        </a:blipFill>
                      </a:tcPr>
                    </a:tc>
                    <a:tc>
                      <a:txBody>
                        <a:bodyPr/>
                        <a:lstStyle/>
                        <a:p>
                          <a:endParaRPr lang="es-CO"/>
                        </a:p>
                      </a:txBody>
                      <a:tcPr>
                        <a:blipFill>
                          <a:blip r:embed="rId4"/>
                          <a:stretch>
                            <a:fillRect l="-205882" t="-101538" r="-300588" b="-303077"/>
                          </a:stretch>
                        </a:blipFill>
                      </a:tcPr>
                    </a:tc>
                    <a:tc>
                      <a:txBody>
                        <a:bodyPr/>
                        <a:lstStyle/>
                        <a:p>
                          <a:endParaRPr lang="es-CO"/>
                        </a:p>
                      </a:txBody>
                      <a:tcPr>
                        <a:blipFill>
                          <a:blip r:embed="rId4"/>
                          <a:stretch>
                            <a:fillRect l="-307692" t="-101538" r="-202367" b="-303077"/>
                          </a:stretch>
                        </a:blipFill>
                      </a:tcPr>
                    </a:tc>
                    <a:tc>
                      <a:txBody>
                        <a:bodyPr/>
                        <a:lstStyle/>
                        <a:p>
                          <a:endParaRPr lang="es-CO"/>
                        </a:p>
                      </a:txBody>
                      <a:tcPr>
                        <a:blipFill>
                          <a:blip r:embed="rId4"/>
                          <a:stretch>
                            <a:fillRect l="-405294" t="-101538" r="-101176" b="-303077"/>
                          </a:stretch>
                        </a:blipFill>
                      </a:tcPr>
                    </a:tc>
                    <a:tc>
                      <a:txBody>
                        <a:bodyPr/>
                        <a:lstStyle/>
                        <a:p>
                          <a:endParaRPr lang="es-CO"/>
                        </a:p>
                      </a:txBody>
                      <a:tcPr>
                        <a:blipFill>
                          <a:blip r:embed="rId4"/>
                          <a:stretch>
                            <a:fillRect l="-505294" t="-101538" r="-1176" b="-303077"/>
                          </a:stretch>
                        </a:blipFill>
                      </a:tcPr>
                    </a:tc>
                    <a:extLst>
                      <a:ext uri="{0D108BD9-81ED-4DB2-BD59-A6C34878D82A}">
                        <a16:rowId xmlns:a16="http://schemas.microsoft.com/office/drawing/2014/main" val="1805549228"/>
                      </a:ext>
                    </a:extLst>
                  </a:tr>
                  <a:tr h="396240">
                    <a:tc>
                      <a:txBody>
                        <a:bodyPr/>
                        <a:lstStyle/>
                        <a:p>
                          <a:endParaRPr lang="es-CO"/>
                        </a:p>
                      </a:txBody>
                      <a:tcPr>
                        <a:blipFill>
                          <a:blip r:embed="rId4"/>
                          <a:stretch>
                            <a:fillRect l="-1124" t="-198485" r="-1057303" b="-198485"/>
                          </a:stretch>
                        </a:blipFill>
                      </a:tcPr>
                    </a:tc>
                    <a:tc>
                      <a:txBody>
                        <a:bodyPr/>
                        <a:lstStyle/>
                        <a:p>
                          <a:endParaRPr lang="es-CO"/>
                        </a:p>
                      </a:txBody>
                      <a:tcPr>
                        <a:blipFill>
                          <a:blip r:embed="rId4"/>
                          <a:stretch>
                            <a:fillRect l="-100000" t="-198485" r="-945556" b="-198485"/>
                          </a:stretch>
                        </a:blipFill>
                      </a:tcPr>
                    </a:tc>
                    <a:tc>
                      <a:txBody>
                        <a:bodyPr/>
                        <a:lstStyle/>
                        <a:p>
                          <a:endParaRPr lang="es-CO"/>
                        </a:p>
                      </a:txBody>
                      <a:tcPr>
                        <a:blipFill>
                          <a:blip r:embed="rId4"/>
                          <a:stretch>
                            <a:fillRect l="-105882" t="-198485" r="-400588" b="-198485"/>
                          </a:stretch>
                        </a:blipFill>
                      </a:tcPr>
                    </a:tc>
                    <a:tc>
                      <a:txBody>
                        <a:bodyPr/>
                        <a:lstStyle/>
                        <a:p>
                          <a:endParaRPr lang="es-CO"/>
                        </a:p>
                      </a:txBody>
                      <a:tcPr>
                        <a:blipFill>
                          <a:blip r:embed="rId4"/>
                          <a:stretch>
                            <a:fillRect l="-205882" t="-198485" r="-300588" b="-198485"/>
                          </a:stretch>
                        </a:blipFill>
                      </a:tcPr>
                    </a:tc>
                    <a:tc>
                      <a:txBody>
                        <a:bodyPr/>
                        <a:lstStyle/>
                        <a:p>
                          <a:endParaRPr lang="es-CO"/>
                        </a:p>
                      </a:txBody>
                      <a:tcPr>
                        <a:blipFill>
                          <a:blip r:embed="rId4"/>
                          <a:stretch>
                            <a:fillRect l="-307692" t="-198485" r="-202367" b="-198485"/>
                          </a:stretch>
                        </a:blipFill>
                      </a:tcPr>
                    </a:tc>
                    <a:tc>
                      <a:txBody>
                        <a:bodyPr/>
                        <a:lstStyle/>
                        <a:p>
                          <a:endParaRPr lang="es-CO"/>
                        </a:p>
                      </a:txBody>
                      <a:tcPr>
                        <a:blipFill>
                          <a:blip r:embed="rId4"/>
                          <a:stretch>
                            <a:fillRect l="-405294" t="-198485" r="-101176" b="-198485"/>
                          </a:stretch>
                        </a:blipFill>
                      </a:tcPr>
                    </a:tc>
                    <a:tc>
                      <a:txBody>
                        <a:bodyPr/>
                        <a:lstStyle/>
                        <a:p>
                          <a:endParaRPr lang="es-CO"/>
                        </a:p>
                      </a:txBody>
                      <a:tcPr>
                        <a:blipFill>
                          <a:blip r:embed="rId4"/>
                          <a:stretch>
                            <a:fillRect l="-505294" t="-198485" r="-1176" b="-198485"/>
                          </a:stretch>
                        </a:blipFill>
                      </a:tcPr>
                    </a:tc>
                    <a:extLst>
                      <a:ext uri="{0D108BD9-81ED-4DB2-BD59-A6C34878D82A}">
                        <a16:rowId xmlns:a16="http://schemas.microsoft.com/office/drawing/2014/main" val="2353127006"/>
                      </a:ext>
                    </a:extLst>
                  </a:tr>
                  <a:tr h="396240">
                    <a:tc>
                      <a:txBody>
                        <a:bodyPr/>
                        <a:lstStyle/>
                        <a:p>
                          <a:endParaRPr lang="es-CO"/>
                        </a:p>
                      </a:txBody>
                      <a:tcPr>
                        <a:blipFill>
                          <a:blip r:embed="rId4"/>
                          <a:stretch>
                            <a:fillRect l="-1124" t="-303077" r="-1057303" b="-101538"/>
                          </a:stretch>
                        </a:blipFill>
                      </a:tcPr>
                    </a:tc>
                    <a:tc>
                      <a:txBody>
                        <a:bodyPr/>
                        <a:lstStyle/>
                        <a:p>
                          <a:endParaRPr lang="es-CO"/>
                        </a:p>
                      </a:txBody>
                      <a:tcPr>
                        <a:blipFill>
                          <a:blip r:embed="rId4"/>
                          <a:stretch>
                            <a:fillRect l="-100000" t="-303077" r="-945556" b="-101538"/>
                          </a:stretch>
                        </a:blipFill>
                      </a:tcPr>
                    </a:tc>
                    <a:tc>
                      <a:txBody>
                        <a:bodyPr/>
                        <a:lstStyle/>
                        <a:p>
                          <a:endParaRPr lang="es-CO"/>
                        </a:p>
                      </a:txBody>
                      <a:tcPr>
                        <a:blipFill>
                          <a:blip r:embed="rId4"/>
                          <a:stretch>
                            <a:fillRect l="-105882" t="-303077" r="-400588" b="-101538"/>
                          </a:stretch>
                        </a:blipFill>
                      </a:tcPr>
                    </a:tc>
                    <a:tc>
                      <a:txBody>
                        <a:bodyPr/>
                        <a:lstStyle/>
                        <a:p>
                          <a:endParaRPr lang="es-CO"/>
                        </a:p>
                      </a:txBody>
                      <a:tcPr>
                        <a:blipFill>
                          <a:blip r:embed="rId4"/>
                          <a:stretch>
                            <a:fillRect l="-205882" t="-303077" r="-300588" b="-101538"/>
                          </a:stretch>
                        </a:blipFill>
                      </a:tcPr>
                    </a:tc>
                    <a:tc>
                      <a:txBody>
                        <a:bodyPr/>
                        <a:lstStyle/>
                        <a:p>
                          <a:endParaRPr lang="es-CO"/>
                        </a:p>
                      </a:txBody>
                      <a:tcPr>
                        <a:blipFill>
                          <a:blip r:embed="rId4"/>
                          <a:stretch>
                            <a:fillRect l="-307692" t="-303077" r="-202367" b="-101538"/>
                          </a:stretch>
                        </a:blipFill>
                      </a:tcPr>
                    </a:tc>
                    <a:tc>
                      <a:txBody>
                        <a:bodyPr/>
                        <a:lstStyle/>
                        <a:p>
                          <a:endParaRPr lang="es-CO"/>
                        </a:p>
                      </a:txBody>
                      <a:tcPr>
                        <a:blipFill>
                          <a:blip r:embed="rId4"/>
                          <a:stretch>
                            <a:fillRect l="-405294" t="-303077" r="-101176" b="-101538"/>
                          </a:stretch>
                        </a:blipFill>
                      </a:tcPr>
                    </a:tc>
                    <a:tc>
                      <a:txBody>
                        <a:bodyPr/>
                        <a:lstStyle/>
                        <a:p>
                          <a:endParaRPr lang="es-CO"/>
                        </a:p>
                      </a:txBody>
                      <a:tcPr>
                        <a:blipFill>
                          <a:blip r:embed="rId4"/>
                          <a:stretch>
                            <a:fillRect l="-505294" t="-303077" r="-1176" b="-101538"/>
                          </a:stretch>
                        </a:blipFill>
                      </a:tcPr>
                    </a:tc>
                    <a:extLst>
                      <a:ext uri="{0D108BD9-81ED-4DB2-BD59-A6C34878D82A}">
                        <a16:rowId xmlns:a16="http://schemas.microsoft.com/office/drawing/2014/main" val="4184868107"/>
                      </a:ext>
                    </a:extLst>
                  </a:tr>
                  <a:tr h="396240">
                    <a:tc>
                      <a:txBody>
                        <a:bodyPr/>
                        <a:lstStyle/>
                        <a:p>
                          <a:endParaRPr lang="es-CO"/>
                        </a:p>
                      </a:txBody>
                      <a:tcPr>
                        <a:blipFill>
                          <a:blip r:embed="rId4"/>
                          <a:stretch>
                            <a:fillRect l="-1124" t="-403077" r="-1057303" b="-1538"/>
                          </a:stretch>
                        </a:blipFill>
                      </a:tcPr>
                    </a:tc>
                    <a:tc>
                      <a:txBody>
                        <a:bodyPr/>
                        <a:lstStyle/>
                        <a:p>
                          <a:endParaRPr lang="es-CO"/>
                        </a:p>
                      </a:txBody>
                      <a:tcPr>
                        <a:blipFill>
                          <a:blip r:embed="rId4"/>
                          <a:stretch>
                            <a:fillRect l="-100000" t="-403077" r="-945556" b="-1538"/>
                          </a:stretch>
                        </a:blipFill>
                      </a:tcPr>
                    </a:tc>
                    <a:tc>
                      <a:txBody>
                        <a:bodyPr/>
                        <a:lstStyle/>
                        <a:p>
                          <a:endParaRPr lang="es-CO"/>
                        </a:p>
                      </a:txBody>
                      <a:tcPr>
                        <a:blipFill>
                          <a:blip r:embed="rId4"/>
                          <a:stretch>
                            <a:fillRect l="-105882" t="-403077" r="-400588" b="-1538"/>
                          </a:stretch>
                        </a:blipFill>
                      </a:tcPr>
                    </a:tc>
                    <a:tc>
                      <a:txBody>
                        <a:bodyPr/>
                        <a:lstStyle/>
                        <a:p>
                          <a:endParaRPr lang="es-CO"/>
                        </a:p>
                      </a:txBody>
                      <a:tcPr>
                        <a:blipFill>
                          <a:blip r:embed="rId4"/>
                          <a:stretch>
                            <a:fillRect l="-205882" t="-403077" r="-300588" b="-1538"/>
                          </a:stretch>
                        </a:blipFill>
                      </a:tcPr>
                    </a:tc>
                    <a:tc>
                      <a:txBody>
                        <a:bodyPr/>
                        <a:lstStyle/>
                        <a:p>
                          <a:endParaRPr lang="es-CO"/>
                        </a:p>
                      </a:txBody>
                      <a:tcPr>
                        <a:blipFill>
                          <a:blip r:embed="rId4"/>
                          <a:stretch>
                            <a:fillRect l="-307692" t="-403077" r="-202367" b="-1538"/>
                          </a:stretch>
                        </a:blipFill>
                      </a:tcPr>
                    </a:tc>
                    <a:tc>
                      <a:txBody>
                        <a:bodyPr/>
                        <a:lstStyle/>
                        <a:p>
                          <a:endParaRPr lang="es-CO"/>
                        </a:p>
                      </a:txBody>
                      <a:tcPr>
                        <a:blipFill>
                          <a:blip r:embed="rId4"/>
                          <a:stretch>
                            <a:fillRect l="-405294" t="-403077" r="-101176" b="-1538"/>
                          </a:stretch>
                        </a:blipFill>
                      </a:tcPr>
                    </a:tc>
                    <a:tc>
                      <a:txBody>
                        <a:bodyPr/>
                        <a:lstStyle/>
                        <a:p>
                          <a:endParaRPr lang="es-CO"/>
                        </a:p>
                      </a:txBody>
                      <a:tcPr>
                        <a:blipFill>
                          <a:blip r:embed="rId4"/>
                          <a:stretch>
                            <a:fillRect l="-505294" t="-403077" r="-1176" b="-1538"/>
                          </a:stretch>
                        </a:blipFill>
                      </a:tcPr>
                    </a:tc>
                    <a:extLst>
                      <a:ext uri="{0D108BD9-81ED-4DB2-BD59-A6C34878D82A}">
                        <a16:rowId xmlns:a16="http://schemas.microsoft.com/office/drawing/2014/main" val="88913640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Tabla 2">
                <a:extLst>
                  <a:ext uri="{FF2B5EF4-FFF2-40B4-BE49-F238E27FC236}">
                    <a16:creationId xmlns:a16="http://schemas.microsoft.com/office/drawing/2014/main" id="{9E84B761-24BE-4D49-B136-64B8BC2CE9C1}"/>
                  </a:ext>
                </a:extLst>
              </p:cNvPr>
              <p:cNvGraphicFramePr>
                <a:graphicFrameLocks noGrp="1"/>
              </p:cNvGraphicFramePr>
              <p:nvPr>
                <p:extLst>
                  <p:ext uri="{D42A27DB-BD31-4B8C-83A1-F6EECF244321}">
                    <p14:modId xmlns:p14="http://schemas.microsoft.com/office/powerpoint/2010/main" val="2384869439"/>
                  </p:ext>
                </p:extLst>
              </p:nvPr>
            </p:nvGraphicFramePr>
            <p:xfrm>
              <a:off x="1772598" y="4111200"/>
              <a:ext cx="8646804" cy="2377440"/>
            </p:xfrm>
            <a:graphic>
              <a:graphicData uri="http://schemas.openxmlformats.org/drawingml/2006/table">
                <a:tbl>
                  <a:tblPr firstRow="1" bandRow="1">
                    <a:tableStyleId>{AD6A3598-7CB8-4345-8D95-17CE05F158A0}</a:tableStyleId>
                  </a:tblPr>
                  <a:tblGrid>
                    <a:gridCol w="1794054">
                      <a:extLst>
                        <a:ext uri="{9D8B030D-6E8A-4147-A177-3AD203B41FA5}">
                          <a16:colId xmlns:a16="http://schemas.microsoft.com/office/drawing/2014/main" val="2912375319"/>
                        </a:ext>
                      </a:extLst>
                    </a:gridCol>
                    <a:gridCol w="1794054">
                      <a:extLst>
                        <a:ext uri="{9D8B030D-6E8A-4147-A177-3AD203B41FA5}">
                          <a16:colId xmlns:a16="http://schemas.microsoft.com/office/drawing/2014/main" val="2830172176"/>
                        </a:ext>
                      </a:extLst>
                    </a:gridCol>
                    <a:gridCol w="5058696">
                      <a:extLst>
                        <a:ext uri="{9D8B030D-6E8A-4147-A177-3AD203B41FA5}">
                          <a16:colId xmlns:a16="http://schemas.microsoft.com/office/drawing/2014/main" val="761044912"/>
                        </a:ext>
                      </a:extLst>
                    </a:gridCol>
                  </a:tblGrid>
                  <a:tr h="366920">
                    <a:tc>
                      <a:txBody>
                        <a:bodyPr/>
                        <a:lstStyle/>
                        <a:p>
                          <a:pPr algn="ctr"/>
                          <a:r>
                            <a:rPr lang="es-CO" sz="2000" b="1" dirty="0">
                              <a:solidFill>
                                <a:schemeClr val="bg1"/>
                              </a:solidFill>
                              <a:latin typeface="Roboto" panose="02000000000000000000" pitchFamily="2" charset="0"/>
                              <a:ea typeface="Roboto" panose="02000000000000000000" pitchFamily="2" charset="0"/>
                            </a:rPr>
                            <a:t>Prioridad</a:t>
                          </a:r>
                        </a:p>
                      </a:txBody>
                      <a:tcPr>
                        <a:solidFill>
                          <a:schemeClr val="tx1"/>
                        </a:solidFill>
                      </a:tcPr>
                    </a:tc>
                    <a:tc>
                      <a:txBody>
                        <a:bodyPr/>
                        <a:lstStyle/>
                        <a:p>
                          <a:pPr algn="ctr"/>
                          <a:r>
                            <a:rPr lang="es-CO" sz="2000" b="1" dirty="0">
                              <a:solidFill>
                                <a:schemeClr val="bg1"/>
                              </a:solidFill>
                              <a:latin typeface="Roboto" panose="02000000000000000000" pitchFamily="2" charset="0"/>
                              <a:ea typeface="Roboto" panose="02000000000000000000" pitchFamily="2" charset="0"/>
                            </a:rPr>
                            <a:t>Operador</a:t>
                          </a:r>
                        </a:p>
                      </a:txBody>
                      <a:tcPr>
                        <a:solidFill>
                          <a:schemeClr val="tx1"/>
                        </a:solidFill>
                      </a:tcPr>
                    </a:tc>
                    <a:tc>
                      <a:txBody>
                        <a:bodyPr/>
                        <a:lstStyle/>
                        <a:p>
                          <a:pPr algn="ctr"/>
                          <a:r>
                            <a:rPr lang="es-CO" sz="2000" b="1" dirty="0">
                              <a:solidFill>
                                <a:schemeClr val="bg1"/>
                              </a:solidFill>
                              <a:latin typeface="Roboto" panose="02000000000000000000" pitchFamily="2" charset="0"/>
                              <a:ea typeface="Roboto" panose="02000000000000000000" pitchFamily="2" charset="0"/>
                            </a:rPr>
                            <a:t>Asociatividad</a:t>
                          </a:r>
                        </a:p>
                      </a:txBody>
                      <a:tcPr>
                        <a:solidFill>
                          <a:schemeClr val="tx1"/>
                        </a:solidFill>
                      </a:tcPr>
                    </a:tc>
                    <a:extLst>
                      <a:ext uri="{0D108BD9-81ED-4DB2-BD59-A6C34878D82A}">
                        <a16:rowId xmlns:a16="http://schemas.microsoft.com/office/drawing/2014/main" val="884271441"/>
                      </a:ext>
                    </a:extLst>
                  </a:tr>
                  <a:tr h="366920">
                    <a:tc>
                      <a:txBody>
                        <a:bodyPr/>
                        <a:lstStyle/>
                        <a:p>
                          <a:r>
                            <a:rPr lang="es-CO" sz="2000" dirty="0">
                              <a:latin typeface="Roboto" panose="02000000000000000000" pitchFamily="2" charset="0"/>
                              <a:ea typeface="Roboto" panose="02000000000000000000" pitchFamily="2" charset="0"/>
                            </a:rPr>
                            <a:t>1</a:t>
                          </a:r>
                        </a:p>
                      </a:txBody>
                      <a:tcPr/>
                    </a:tc>
                    <a:tc>
                      <a:txBody>
                        <a:bodyPr/>
                        <a:lstStyle/>
                        <a:p>
                          <a:pPr/>
                          <a14:m>
                            <m:oMathPara xmlns:m="http://schemas.openxmlformats.org/officeDocument/2006/math">
                              <m:oMathParaPr>
                                <m:jc m:val="centerGroup"/>
                              </m:oMathParaPr>
                              <m:oMath xmlns:m="http://schemas.openxmlformats.org/officeDocument/2006/math">
                                <m:d>
                                  <m:dPr>
                                    <m:ctrlPr>
                                      <a:rPr lang="es-MX" sz="2000" b="0" i="1" smtClean="0">
                                        <a:latin typeface="Cambria Math" panose="02040503050406030204" pitchFamily="18" charset="0"/>
                                        <a:ea typeface="Roboto" panose="02000000000000000000" pitchFamily="2" charset="0"/>
                                      </a:rPr>
                                    </m:ctrlPr>
                                  </m:dPr>
                                  <m:e/>
                                </m:d>
                              </m:oMath>
                            </m:oMathPara>
                          </a14:m>
                          <a:endParaRPr lang="es-CO" sz="2000" dirty="0">
                            <a:latin typeface="Roboto" panose="02000000000000000000" pitchFamily="2" charset="0"/>
                            <a:ea typeface="Roboto" panose="02000000000000000000" pitchFamily="2" charset="0"/>
                          </a:endParaRPr>
                        </a:p>
                      </a:txBody>
                      <a:tcPr/>
                    </a:tc>
                    <a:tc rowSpan="5">
                      <a:txBody>
                        <a:bodyPr/>
                        <a:lstStyle/>
                        <a:p>
                          <a:pPr marL="342900" indent="-342900">
                            <a:buFont typeface="Arial" panose="020B0604020202020204" pitchFamily="34" charset="0"/>
                            <a:buChar char="•"/>
                          </a:pPr>
                          <a:r>
                            <a:rPr lang="es-MX" sz="2000" dirty="0">
                              <a:latin typeface="Roboto" panose="02000000000000000000" pitchFamily="2" charset="0"/>
                              <a:ea typeface="Roboto" panose="02000000000000000000" pitchFamily="2" charset="0"/>
                            </a:rPr>
                            <a:t>Cuando se tienen varios operadores con la misma prioridad, la evaluación se hace de izquierda a derecha.</a:t>
                          </a:r>
                        </a:p>
                        <a:p>
                          <a:pPr marL="342900" indent="-342900">
                            <a:buFont typeface="Arial" panose="020B0604020202020204" pitchFamily="34" charset="0"/>
                            <a:buChar char="•"/>
                          </a:pPr>
                          <a:r>
                            <a:rPr lang="es-MX" sz="2000" dirty="0">
                              <a:latin typeface="Roboto" panose="02000000000000000000" pitchFamily="2" charset="0"/>
                              <a:ea typeface="Roboto" panose="02000000000000000000" pitchFamily="2" charset="0"/>
                            </a:rPr>
                            <a:t>Cuando hay paréntesis anidados se evalúan primero los mas internos.</a:t>
                          </a:r>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762419328"/>
                      </a:ext>
                    </a:extLst>
                  </a:tr>
                  <a:tr h="366920">
                    <a:tc>
                      <a:txBody>
                        <a:bodyPr/>
                        <a:lstStyle/>
                        <a:p>
                          <a:r>
                            <a:rPr lang="es-CO" sz="2000" dirty="0">
                              <a:latin typeface="Roboto" panose="02000000000000000000" pitchFamily="2" charset="0"/>
                              <a:ea typeface="Roboto" panose="02000000000000000000" pitchFamily="2" charset="0"/>
                            </a:rPr>
                            <a:t>2</a:t>
                          </a:r>
                        </a:p>
                      </a:txBody>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m:t>
                                </m:r>
                              </m:oMath>
                            </m:oMathPara>
                          </a14:m>
                          <a:endParaRPr lang="es-CO" sz="2000" dirty="0">
                            <a:latin typeface="Roboto" panose="02000000000000000000" pitchFamily="2" charset="0"/>
                            <a:ea typeface="Roboto" panose="02000000000000000000" pitchFamily="2" charset="0"/>
                          </a:endParaRPr>
                        </a:p>
                      </a:txBody>
                      <a:tcPr/>
                    </a:tc>
                    <a:tc vMerge="1">
                      <a:txBody>
                        <a:bodyPr/>
                        <a:lstStyle/>
                        <a:p>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162588756"/>
                      </a:ext>
                    </a:extLst>
                  </a:tr>
                  <a:tr h="366920">
                    <a:tc>
                      <a:txBody>
                        <a:bodyPr/>
                        <a:lstStyle/>
                        <a:p>
                          <a:r>
                            <a:rPr lang="es-CO" sz="2000" dirty="0">
                              <a:latin typeface="Roboto" panose="02000000000000000000" pitchFamily="2" charset="0"/>
                              <a:ea typeface="Roboto" panose="02000000000000000000" pitchFamily="2" charset="0"/>
                            </a:rPr>
                            <a:t>3</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m:t>
                                </m:r>
                              </m:oMath>
                            </m:oMathPara>
                          </a14:m>
                          <a:endParaRPr lang="es-CO" sz="2000" dirty="0">
                            <a:latin typeface="Roboto" panose="02000000000000000000" pitchFamily="2" charset="0"/>
                            <a:ea typeface="Roboto" panose="02000000000000000000" pitchFamily="2" charset="0"/>
                          </a:endParaRPr>
                        </a:p>
                      </a:txBody>
                      <a:tcPr/>
                    </a:tc>
                    <a:tc v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027133619"/>
                      </a:ext>
                    </a:extLst>
                  </a:tr>
                  <a:tr h="366920">
                    <a:tc>
                      <a:txBody>
                        <a:bodyPr/>
                        <a:lstStyle/>
                        <a:p>
                          <a:r>
                            <a:rPr lang="es-CO" sz="2000" dirty="0">
                              <a:latin typeface="Roboto" panose="02000000000000000000" pitchFamily="2" charset="0"/>
                              <a:ea typeface="Roboto" panose="02000000000000000000" pitchFamily="2" charset="0"/>
                            </a:rPr>
                            <a:t>4</a:t>
                          </a:r>
                        </a:p>
                      </a:txBody>
                      <a:tcPr/>
                    </a:tc>
                    <a:tc>
                      <a:txBody>
                        <a:bodyPr/>
                        <a:lstStyle/>
                        <a:p>
                          <a:pPr algn="ct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m:t>
                                </m:r>
                              </m:oMath>
                            </m:oMathPara>
                          </a14:m>
                          <a:endParaRPr lang="es-CO" sz="2000" dirty="0">
                            <a:latin typeface="Roboto" panose="02000000000000000000" pitchFamily="2" charset="0"/>
                            <a:ea typeface="Roboto" panose="02000000000000000000" pitchFamily="2" charset="0"/>
                          </a:endParaRPr>
                        </a:p>
                      </a:txBody>
                      <a:tcPr/>
                    </a:tc>
                    <a:tc vMerge="1">
                      <a:txBody>
                        <a:bodyPr/>
                        <a:lstStyle/>
                        <a:p>
                          <a:pPr algn="ctr"/>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163104284"/>
                      </a:ext>
                    </a:extLst>
                  </a:tr>
                  <a:tr h="366920">
                    <a:tc>
                      <a:txBody>
                        <a:bodyPr/>
                        <a:lstStyle/>
                        <a:p>
                          <a:r>
                            <a:rPr lang="es-CO" sz="2000" dirty="0">
                              <a:latin typeface="Roboto" panose="02000000000000000000" pitchFamily="2" charset="0"/>
                              <a:ea typeface="Roboto" panose="02000000000000000000" pitchFamily="2" charset="0"/>
                            </a:rPr>
                            <a:t>5</a:t>
                          </a:r>
                        </a:p>
                      </a:txBody>
                      <a:tcPr/>
                    </a:tc>
                    <a:tc>
                      <a:txBody>
                        <a:bodyPr/>
                        <a:lstStyle/>
                        <a:p>
                          <a:pPr algn="ctr"/>
                          <a14:m>
                            <m:oMath xmlns:m="http://schemas.openxmlformats.org/officeDocument/2006/math">
                              <m:r>
                                <a:rPr lang="es-MX" sz="2000" b="0" i="1" smtClean="0">
                                  <a:latin typeface="Cambria Math" panose="02040503050406030204" pitchFamily="18" charset="0"/>
                                  <a:ea typeface="Cambria Math" panose="02040503050406030204" pitchFamily="18" charset="0"/>
                                </a:rPr>
                                <m:t>→</m:t>
                              </m:r>
                            </m:oMath>
                          </a14:m>
                          <a:r>
                            <a:rPr lang="es-CO" sz="2000" dirty="0">
                              <a:latin typeface="Roboto" panose="02000000000000000000" pitchFamily="2" charset="0"/>
                              <a:ea typeface="Roboto" panose="02000000000000000000" pitchFamily="2" charset="0"/>
                            </a:rPr>
                            <a:t>  /  </a:t>
                          </a:r>
                          <a14:m>
                            <m:oMath xmlns:m="http://schemas.openxmlformats.org/officeDocument/2006/math">
                              <m:r>
                                <a:rPr lang="es-MX" sz="2000" b="0" i="1" smtClean="0">
                                  <a:latin typeface="Cambria Math" panose="02040503050406030204" pitchFamily="18" charset="0"/>
                                  <a:ea typeface="Cambria Math" panose="02040503050406030204" pitchFamily="18" charset="0"/>
                                </a:rPr>
                                <m:t>↔</m:t>
                              </m:r>
                            </m:oMath>
                          </a14:m>
                          <a:endParaRPr lang="es-CO" sz="2000" dirty="0">
                            <a:latin typeface="Roboto" panose="02000000000000000000" pitchFamily="2" charset="0"/>
                            <a:ea typeface="Roboto" panose="02000000000000000000" pitchFamily="2" charset="0"/>
                          </a:endParaRPr>
                        </a:p>
                      </a:txBody>
                      <a:tcPr/>
                    </a:tc>
                    <a:tc vMerge="1">
                      <a:txBody>
                        <a:bodyPr/>
                        <a:lstStyle/>
                        <a:p>
                          <a:pPr algn="ctr"/>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650495079"/>
                      </a:ext>
                    </a:extLst>
                  </a:tr>
                </a:tbl>
              </a:graphicData>
            </a:graphic>
          </p:graphicFrame>
        </mc:Choice>
        <mc:Fallback xmlns="">
          <p:graphicFrame>
            <p:nvGraphicFramePr>
              <p:cNvPr id="7" name="Tabla 2">
                <a:extLst>
                  <a:ext uri="{FF2B5EF4-FFF2-40B4-BE49-F238E27FC236}">
                    <a16:creationId xmlns:a16="http://schemas.microsoft.com/office/drawing/2014/main" id="{9E84B761-24BE-4D49-B136-64B8BC2CE9C1}"/>
                  </a:ext>
                </a:extLst>
              </p:cNvPr>
              <p:cNvGraphicFramePr>
                <a:graphicFrameLocks noGrp="1"/>
              </p:cNvGraphicFramePr>
              <p:nvPr>
                <p:extLst>
                  <p:ext uri="{D42A27DB-BD31-4B8C-83A1-F6EECF244321}">
                    <p14:modId xmlns:p14="http://schemas.microsoft.com/office/powerpoint/2010/main" val="2384869439"/>
                  </p:ext>
                </p:extLst>
              </p:nvPr>
            </p:nvGraphicFramePr>
            <p:xfrm>
              <a:off x="1772598" y="4111200"/>
              <a:ext cx="8646804" cy="2377440"/>
            </p:xfrm>
            <a:graphic>
              <a:graphicData uri="http://schemas.openxmlformats.org/drawingml/2006/table">
                <a:tbl>
                  <a:tblPr firstRow="1" bandRow="1">
                    <a:tableStyleId>{AD6A3598-7CB8-4345-8D95-17CE05F158A0}</a:tableStyleId>
                  </a:tblPr>
                  <a:tblGrid>
                    <a:gridCol w="1794054">
                      <a:extLst>
                        <a:ext uri="{9D8B030D-6E8A-4147-A177-3AD203B41FA5}">
                          <a16:colId xmlns:a16="http://schemas.microsoft.com/office/drawing/2014/main" val="2912375319"/>
                        </a:ext>
                      </a:extLst>
                    </a:gridCol>
                    <a:gridCol w="1794054">
                      <a:extLst>
                        <a:ext uri="{9D8B030D-6E8A-4147-A177-3AD203B41FA5}">
                          <a16:colId xmlns:a16="http://schemas.microsoft.com/office/drawing/2014/main" val="2830172176"/>
                        </a:ext>
                      </a:extLst>
                    </a:gridCol>
                    <a:gridCol w="5058696">
                      <a:extLst>
                        <a:ext uri="{9D8B030D-6E8A-4147-A177-3AD203B41FA5}">
                          <a16:colId xmlns:a16="http://schemas.microsoft.com/office/drawing/2014/main" val="761044912"/>
                        </a:ext>
                      </a:extLst>
                    </a:gridCol>
                  </a:tblGrid>
                  <a:tr h="396240">
                    <a:tc>
                      <a:txBody>
                        <a:bodyPr/>
                        <a:lstStyle/>
                        <a:p>
                          <a:pPr algn="ctr"/>
                          <a:r>
                            <a:rPr lang="es-CO" sz="2000" b="1" dirty="0">
                              <a:solidFill>
                                <a:schemeClr val="bg1"/>
                              </a:solidFill>
                              <a:latin typeface="Roboto" panose="02000000000000000000" pitchFamily="2" charset="0"/>
                              <a:ea typeface="Roboto" panose="02000000000000000000" pitchFamily="2" charset="0"/>
                            </a:rPr>
                            <a:t>Prioridad</a:t>
                          </a:r>
                        </a:p>
                      </a:txBody>
                      <a:tcPr>
                        <a:solidFill>
                          <a:schemeClr val="tx1"/>
                        </a:solidFill>
                      </a:tcPr>
                    </a:tc>
                    <a:tc>
                      <a:txBody>
                        <a:bodyPr/>
                        <a:lstStyle/>
                        <a:p>
                          <a:pPr algn="ctr"/>
                          <a:r>
                            <a:rPr lang="es-CO" sz="2000" b="1" dirty="0">
                              <a:solidFill>
                                <a:schemeClr val="bg1"/>
                              </a:solidFill>
                              <a:latin typeface="Roboto" panose="02000000000000000000" pitchFamily="2" charset="0"/>
                              <a:ea typeface="Roboto" panose="02000000000000000000" pitchFamily="2" charset="0"/>
                            </a:rPr>
                            <a:t>Operador</a:t>
                          </a:r>
                        </a:p>
                      </a:txBody>
                      <a:tcPr>
                        <a:solidFill>
                          <a:schemeClr val="tx1"/>
                        </a:solidFill>
                      </a:tcPr>
                    </a:tc>
                    <a:tc>
                      <a:txBody>
                        <a:bodyPr/>
                        <a:lstStyle/>
                        <a:p>
                          <a:pPr algn="ctr"/>
                          <a:r>
                            <a:rPr lang="es-CO" sz="2000" b="1" dirty="0">
                              <a:solidFill>
                                <a:schemeClr val="bg1"/>
                              </a:solidFill>
                              <a:latin typeface="Roboto" panose="02000000000000000000" pitchFamily="2" charset="0"/>
                              <a:ea typeface="Roboto" panose="02000000000000000000" pitchFamily="2" charset="0"/>
                            </a:rPr>
                            <a:t>Asociatividad</a:t>
                          </a:r>
                        </a:p>
                      </a:txBody>
                      <a:tcPr>
                        <a:solidFill>
                          <a:schemeClr val="tx1"/>
                        </a:solidFill>
                      </a:tcPr>
                    </a:tc>
                    <a:extLst>
                      <a:ext uri="{0D108BD9-81ED-4DB2-BD59-A6C34878D82A}">
                        <a16:rowId xmlns:a16="http://schemas.microsoft.com/office/drawing/2014/main" val="884271441"/>
                      </a:ext>
                    </a:extLst>
                  </a:tr>
                  <a:tr h="396240">
                    <a:tc>
                      <a:txBody>
                        <a:bodyPr/>
                        <a:lstStyle/>
                        <a:p>
                          <a:r>
                            <a:rPr lang="es-CO" sz="2000" dirty="0">
                              <a:latin typeface="Roboto" panose="02000000000000000000" pitchFamily="2" charset="0"/>
                              <a:ea typeface="Roboto" panose="02000000000000000000" pitchFamily="2" charset="0"/>
                            </a:rPr>
                            <a:t>1</a:t>
                          </a:r>
                        </a:p>
                      </a:txBody>
                      <a:tcPr/>
                    </a:tc>
                    <a:tc>
                      <a:txBody>
                        <a:bodyPr/>
                        <a:lstStyle/>
                        <a:p>
                          <a:endParaRPr lang="es-CO"/>
                        </a:p>
                      </a:txBody>
                      <a:tcPr>
                        <a:blipFill>
                          <a:blip r:embed="rId5"/>
                          <a:stretch>
                            <a:fillRect l="-100340" t="-106154" r="-282993" b="-429231"/>
                          </a:stretch>
                        </a:blipFill>
                      </a:tcPr>
                    </a:tc>
                    <a:tc rowSpan="5">
                      <a:txBody>
                        <a:bodyPr/>
                        <a:lstStyle/>
                        <a:p>
                          <a:pPr marL="342900" indent="-342900">
                            <a:buFont typeface="Arial" panose="020B0604020202020204" pitchFamily="34" charset="0"/>
                            <a:buChar char="•"/>
                          </a:pPr>
                          <a:r>
                            <a:rPr lang="es-MX" sz="2000" dirty="0">
                              <a:latin typeface="Roboto" panose="02000000000000000000" pitchFamily="2" charset="0"/>
                              <a:ea typeface="Roboto" panose="02000000000000000000" pitchFamily="2" charset="0"/>
                            </a:rPr>
                            <a:t>Cuando se tienen varios operadores con la misma prioridad, la evaluación se hace de izquierda a derecha.</a:t>
                          </a:r>
                        </a:p>
                        <a:p>
                          <a:pPr marL="342900" indent="-342900">
                            <a:buFont typeface="Arial" panose="020B0604020202020204" pitchFamily="34" charset="0"/>
                            <a:buChar char="•"/>
                          </a:pPr>
                          <a:r>
                            <a:rPr lang="es-MX" sz="2000" dirty="0">
                              <a:latin typeface="Roboto" panose="02000000000000000000" pitchFamily="2" charset="0"/>
                              <a:ea typeface="Roboto" panose="02000000000000000000" pitchFamily="2" charset="0"/>
                            </a:rPr>
                            <a:t>Cuando hay paréntesis anidados se evalúan primero los mas internos.</a:t>
                          </a:r>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762419328"/>
                      </a:ext>
                    </a:extLst>
                  </a:tr>
                  <a:tr h="396240">
                    <a:tc>
                      <a:txBody>
                        <a:bodyPr/>
                        <a:lstStyle/>
                        <a:p>
                          <a:r>
                            <a:rPr lang="es-CO" sz="2000" dirty="0">
                              <a:latin typeface="Roboto" panose="02000000000000000000" pitchFamily="2" charset="0"/>
                              <a:ea typeface="Roboto" panose="02000000000000000000" pitchFamily="2" charset="0"/>
                            </a:rPr>
                            <a:t>2</a:t>
                          </a:r>
                        </a:p>
                      </a:txBody>
                      <a:tcPr/>
                    </a:tc>
                    <a:tc>
                      <a:txBody>
                        <a:bodyPr/>
                        <a:lstStyle/>
                        <a:p>
                          <a:endParaRPr lang="es-CO"/>
                        </a:p>
                      </a:txBody>
                      <a:tcPr>
                        <a:blipFill>
                          <a:blip r:embed="rId5"/>
                          <a:stretch>
                            <a:fillRect l="-100340" t="-203030" r="-282993" b="-322727"/>
                          </a:stretch>
                        </a:blipFill>
                      </a:tcPr>
                    </a:tc>
                    <a:tc vMerge="1">
                      <a:txBody>
                        <a:bodyPr/>
                        <a:lstStyle/>
                        <a:p>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162588756"/>
                      </a:ext>
                    </a:extLst>
                  </a:tr>
                  <a:tr h="396240">
                    <a:tc>
                      <a:txBody>
                        <a:bodyPr/>
                        <a:lstStyle/>
                        <a:p>
                          <a:r>
                            <a:rPr lang="es-CO" sz="2000" dirty="0">
                              <a:latin typeface="Roboto" panose="02000000000000000000" pitchFamily="2" charset="0"/>
                              <a:ea typeface="Roboto" panose="02000000000000000000" pitchFamily="2" charset="0"/>
                            </a:rPr>
                            <a:t>3</a:t>
                          </a:r>
                        </a:p>
                      </a:txBody>
                      <a:tcPr/>
                    </a:tc>
                    <a:tc>
                      <a:txBody>
                        <a:bodyPr/>
                        <a:lstStyle/>
                        <a:p>
                          <a:endParaRPr lang="es-CO"/>
                        </a:p>
                      </a:txBody>
                      <a:tcPr>
                        <a:blipFill>
                          <a:blip r:embed="rId5"/>
                          <a:stretch>
                            <a:fillRect l="-100340" t="-307692" r="-282993" b="-227692"/>
                          </a:stretch>
                        </a:blipFill>
                      </a:tcPr>
                    </a:tc>
                    <a:tc v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027133619"/>
                      </a:ext>
                    </a:extLst>
                  </a:tr>
                  <a:tr h="396240">
                    <a:tc>
                      <a:txBody>
                        <a:bodyPr/>
                        <a:lstStyle/>
                        <a:p>
                          <a:r>
                            <a:rPr lang="es-CO" sz="2000" dirty="0">
                              <a:latin typeface="Roboto" panose="02000000000000000000" pitchFamily="2" charset="0"/>
                              <a:ea typeface="Roboto" panose="02000000000000000000" pitchFamily="2" charset="0"/>
                            </a:rPr>
                            <a:t>4</a:t>
                          </a:r>
                        </a:p>
                      </a:txBody>
                      <a:tcPr/>
                    </a:tc>
                    <a:tc>
                      <a:txBody>
                        <a:bodyPr/>
                        <a:lstStyle/>
                        <a:p>
                          <a:endParaRPr lang="es-CO"/>
                        </a:p>
                      </a:txBody>
                      <a:tcPr>
                        <a:blipFill>
                          <a:blip r:embed="rId5"/>
                          <a:stretch>
                            <a:fillRect l="-100340" t="-407692" r="-282993" b="-127692"/>
                          </a:stretch>
                        </a:blipFill>
                      </a:tcPr>
                    </a:tc>
                    <a:tc vMerge="1">
                      <a:txBody>
                        <a:bodyPr/>
                        <a:lstStyle/>
                        <a:p>
                          <a:pPr algn="ctr"/>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163104284"/>
                      </a:ext>
                    </a:extLst>
                  </a:tr>
                  <a:tr h="396240">
                    <a:tc>
                      <a:txBody>
                        <a:bodyPr/>
                        <a:lstStyle/>
                        <a:p>
                          <a:r>
                            <a:rPr lang="es-CO" sz="2000" dirty="0">
                              <a:latin typeface="Roboto" panose="02000000000000000000" pitchFamily="2" charset="0"/>
                              <a:ea typeface="Roboto" panose="02000000000000000000" pitchFamily="2" charset="0"/>
                            </a:rPr>
                            <a:t>5</a:t>
                          </a:r>
                        </a:p>
                      </a:txBody>
                      <a:tcPr/>
                    </a:tc>
                    <a:tc>
                      <a:txBody>
                        <a:bodyPr/>
                        <a:lstStyle/>
                        <a:p>
                          <a:endParaRPr lang="es-CO"/>
                        </a:p>
                      </a:txBody>
                      <a:tcPr>
                        <a:blipFill>
                          <a:blip r:embed="rId5"/>
                          <a:stretch>
                            <a:fillRect l="-100340" t="-507692" r="-282993" b="-27692"/>
                          </a:stretch>
                        </a:blipFill>
                      </a:tcPr>
                    </a:tc>
                    <a:tc vMerge="1">
                      <a:txBody>
                        <a:bodyPr/>
                        <a:lstStyle/>
                        <a:p>
                          <a:pPr algn="ctr"/>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650495079"/>
                      </a:ext>
                    </a:extLst>
                  </a:tr>
                </a:tbl>
              </a:graphicData>
            </a:graphic>
          </p:graphicFrame>
        </mc:Fallback>
      </mc:AlternateContent>
      <p:sp>
        <p:nvSpPr>
          <p:cNvPr id="8" name="CuadroTexto 7">
            <a:extLst>
              <a:ext uri="{FF2B5EF4-FFF2-40B4-BE49-F238E27FC236}">
                <a16:creationId xmlns:a16="http://schemas.microsoft.com/office/drawing/2014/main" id="{8579163D-AC79-4B98-B83C-8F6B7F68F8F6}"/>
              </a:ext>
            </a:extLst>
          </p:cNvPr>
          <p:cNvSpPr txBox="1"/>
          <p:nvPr/>
        </p:nvSpPr>
        <p:spPr>
          <a:xfrm>
            <a:off x="769166" y="3429000"/>
            <a:ext cx="3267423" cy="492443"/>
          </a:xfrm>
          <a:prstGeom prst="rect">
            <a:avLst/>
          </a:prstGeom>
          <a:noFill/>
        </p:spPr>
        <p:txBody>
          <a:bodyPr wrap="square" rtlCol="0">
            <a:spAutoFit/>
          </a:bodyPr>
          <a:lstStyle/>
          <a:p>
            <a:r>
              <a:rPr lang="es-MX" sz="2600" b="1" dirty="0">
                <a:ea typeface="Roboto" panose="02000000000000000000" pitchFamily="2" charset="0"/>
              </a:rPr>
              <a:t>Reglas de prioridad</a:t>
            </a:r>
          </a:p>
        </p:txBody>
      </p:sp>
    </p:spTree>
    <p:extLst>
      <p:ext uri="{BB962C8B-B14F-4D97-AF65-F5344CB8AC3E}">
        <p14:creationId xmlns:p14="http://schemas.microsoft.com/office/powerpoint/2010/main" val="31174043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573854" y="96038"/>
            <a:ext cx="8304000" cy="949500"/>
          </a:xfrm>
        </p:spPr>
        <p:txBody>
          <a:bodyPr/>
          <a:lstStyle/>
          <a:p>
            <a:r>
              <a:rPr lang="es-CO" dirty="0">
                <a:solidFill>
                  <a:schemeClr val="tx1"/>
                </a:solidFill>
                <a:latin typeface="+mj-lt"/>
              </a:rPr>
              <a:t>Repaso clase anterior</a:t>
            </a:r>
          </a:p>
        </p:txBody>
      </p:sp>
      <p:sp>
        <p:nvSpPr>
          <p:cNvPr id="10" name="CuadroTexto 9">
            <a:extLst>
              <a:ext uri="{FF2B5EF4-FFF2-40B4-BE49-F238E27FC236}">
                <a16:creationId xmlns:a16="http://schemas.microsoft.com/office/drawing/2014/main" id="{A19C6E9F-BCCF-4FD4-8EC3-574D66199786}"/>
              </a:ext>
            </a:extLst>
          </p:cNvPr>
          <p:cNvSpPr txBox="1"/>
          <p:nvPr/>
        </p:nvSpPr>
        <p:spPr>
          <a:xfrm>
            <a:off x="353962" y="1045538"/>
            <a:ext cx="3790336" cy="492443"/>
          </a:xfrm>
          <a:prstGeom prst="rect">
            <a:avLst/>
          </a:prstGeom>
          <a:noFill/>
        </p:spPr>
        <p:txBody>
          <a:bodyPr wrap="square" rtlCol="0">
            <a:spAutoFit/>
          </a:bodyPr>
          <a:lstStyle/>
          <a:p>
            <a:r>
              <a:rPr lang="es-MX" sz="2600" b="1" dirty="0">
                <a:ea typeface="Roboto" panose="02000000000000000000" pitchFamily="2" charset="0"/>
              </a:rPr>
              <a:t>Equivalencias lógicas</a:t>
            </a:r>
          </a:p>
        </p:txBody>
      </p:sp>
      <p:sp>
        <p:nvSpPr>
          <p:cNvPr id="18" name="CuadroTexto 17">
            <a:extLst>
              <a:ext uri="{FF2B5EF4-FFF2-40B4-BE49-F238E27FC236}">
                <a16:creationId xmlns:a16="http://schemas.microsoft.com/office/drawing/2014/main" id="{7075DC26-43EB-48D3-B1DF-367538A6AC44}"/>
              </a:ext>
            </a:extLst>
          </p:cNvPr>
          <p:cNvSpPr txBox="1"/>
          <p:nvPr/>
        </p:nvSpPr>
        <p:spPr>
          <a:xfrm>
            <a:off x="353962" y="3500081"/>
            <a:ext cx="3377380" cy="830997"/>
          </a:xfrm>
          <a:prstGeom prst="rect">
            <a:avLst/>
          </a:prstGeom>
          <a:noFill/>
        </p:spPr>
        <p:txBody>
          <a:bodyPr wrap="square">
            <a:spAutoFit/>
          </a:bodyPr>
          <a:lstStyle/>
          <a:p>
            <a:r>
              <a:rPr lang="es-MX" sz="2400" b="1" dirty="0">
                <a:ea typeface="Roboto" panose="02000000000000000000" pitchFamily="2" charset="0"/>
              </a:rPr>
              <a:t>Construcción de equivalencias lógicas</a:t>
            </a:r>
            <a:endParaRPr lang="es-CO" sz="2400" b="1" dirty="0"/>
          </a:p>
        </p:txBody>
      </p:sp>
      <p:sp>
        <p:nvSpPr>
          <p:cNvPr id="19" name="CuadroTexto 18">
            <a:extLst>
              <a:ext uri="{FF2B5EF4-FFF2-40B4-BE49-F238E27FC236}">
                <a16:creationId xmlns:a16="http://schemas.microsoft.com/office/drawing/2014/main" id="{C8137D60-1D77-4A06-87FE-EFA5D72FA8A8}"/>
              </a:ext>
            </a:extLst>
          </p:cNvPr>
          <p:cNvSpPr txBox="1"/>
          <p:nvPr/>
        </p:nvSpPr>
        <p:spPr>
          <a:xfrm>
            <a:off x="353962" y="1636747"/>
            <a:ext cx="2727094" cy="461665"/>
          </a:xfrm>
          <a:prstGeom prst="rect">
            <a:avLst/>
          </a:prstGeom>
          <a:noFill/>
        </p:spPr>
        <p:txBody>
          <a:bodyPr wrap="square">
            <a:spAutoFit/>
          </a:bodyPr>
          <a:lstStyle/>
          <a:p>
            <a:r>
              <a:rPr lang="es-MX" sz="2400" b="1" dirty="0">
                <a:ea typeface="Roboto" panose="02000000000000000000" pitchFamily="2" charset="0"/>
              </a:rPr>
              <a:t>Equivalencia lógica</a:t>
            </a:r>
            <a:endParaRPr lang="es-CO" sz="2400" b="1" dirty="0"/>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040C416C-830C-48D2-B138-A448E2A9E9C5}"/>
                  </a:ext>
                </a:extLst>
              </p:cNvPr>
              <p:cNvSpPr txBox="1"/>
              <p:nvPr/>
            </p:nvSpPr>
            <p:spPr>
              <a:xfrm>
                <a:off x="387018" y="2212132"/>
                <a:ext cx="3759823" cy="1015663"/>
              </a:xfrm>
              <a:prstGeom prst="rect">
                <a:avLst/>
              </a:prstGeom>
              <a:noFill/>
            </p:spPr>
            <p:txBody>
              <a:bodyPr wrap="square">
                <a:spAutoFit/>
              </a:bodyPr>
              <a:lstStyle/>
              <a:p>
                <a:r>
                  <a:rPr lang="es-MX" sz="2000" dirty="0">
                    <a:latin typeface="Roboto" panose="02000000000000000000" pitchFamily="2" charset="0"/>
                    <a:ea typeface="Roboto" panose="02000000000000000000" pitchFamily="2" charset="0"/>
                  </a:rPr>
                  <a:t>Dos proposiciones compuestas </a:t>
                </a:r>
                <a14:m>
                  <m:oMath xmlns:m="http://schemas.openxmlformats.org/officeDocument/2006/math">
                    <m:r>
                      <a:rPr lang="es-MX" sz="2000" b="1" i="1">
                        <a:latin typeface="Cambria Math" panose="02040503050406030204" pitchFamily="18" charset="0"/>
                        <a:ea typeface="Roboto" panose="02000000000000000000" pitchFamily="2" charset="0"/>
                      </a:rPr>
                      <m:t>𝒑</m:t>
                    </m:r>
                  </m:oMath>
                </a14:m>
                <a:r>
                  <a:rPr lang="es-MX" sz="2000" dirty="0">
                    <a:latin typeface="Roboto" panose="02000000000000000000" pitchFamily="2" charset="0"/>
                    <a:ea typeface="Roboto" panose="02000000000000000000" pitchFamily="2" charset="0"/>
                  </a:rPr>
                  <a:t> y </a:t>
                </a:r>
                <a14:m>
                  <m:oMath xmlns:m="http://schemas.openxmlformats.org/officeDocument/2006/math">
                    <m:r>
                      <a:rPr lang="es-MX" sz="2000" b="1" i="1">
                        <a:latin typeface="Cambria Math" panose="02040503050406030204" pitchFamily="18" charset="0"/>
                        <a:ea typeface="Roboto" panose="02000000000000000000" pitchFamily="2" charset="0"/>
                      </a:rPr>
                      <m:t>𝒒</m:t>
                    </m:r>
                  </m:oMath>
                </a14:m>
                <a:r>
                  <a:rPr lang="es-MX" sz="2000" dirty="0">
                    <a:latin typeface="Roboto" panose="02000000000000000000" pitchFamily="2" charset="0"/>
                    <a:ea typeface="Roboto" panose="02000000000000000000" pitchFamily="2" charset="0"/>
                  </a:rPr>
                  <a:t> son equivalentes si </a:t>
                </a:r>
                <a14:m>
                  <m:oMath xmlns:m="http://schemas.openxmlformats.org/officeDocument/2006/math">
                    <m:r>
                      <a:rPr lang="es-MX" sz="2000" b="1" i="1" smtClean="0">
                        <a:latin typeface="Cambria Math" panose="02040503050406030204" pitchFamily="18" charset="0"/>
                        <a:ea typeface="Roboto" panose="02000000000000000000" pitchFamily="2" charset="0"/>
                      </a:rPr>
                      <m:t>𝒑</m:t>
                    </m:r>
                    <m:r>
                      <a:rPr lang="es-MX" sz="2000" b="1"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𝒒</m:t>
                    </m:r>
                  </m:oMath>
                </a14:m>
                <a:r>
                  <a:rPr lang="es-MX" sz="2000" dirty="0">
                    <a:latin typeface="Roboto" panose="02000000000000000000" pitchFamily="2" charset="0"/>
                    <a:ea typeface="Roboto" panose="02000000000000000000" pitchFamily="2" charset="0"/>
                  </a:rPr>
                  <a:t> es una tautología.</a:t>
                </a:r>
                <a:endParaRPr lang="es-CO" sz="2000" dirty="0"/>
              </a:p>
            </p:txBody>
          </p:sp>
        </mc:Choice>
        <mc:Fallback xmlns="">
          <p:sp>
            <p:nvSpPr>
              <p:cNvPr id="20" name="CuadroTexto 19">
                <a:extLst>
                  <a:ext uri="{FF2B5EF4-FFF2-40B4-BE49-F238E27FC236}">
                    <a16:creationId xmlns:a16="http://schemas.microsoft.com/office/drawing/2014/main" id="{040C416C-830C-48D2-B138-A448E2A9E9C5}"/>
                  </a:ext>
                </a:extLst>
              </p:cNvPr>
              <p:cNvSpPr txBox="1">
                <a:spLocks noRot="1" noChangeAspect="1" noMove="1" noResize="1" noEditPoints="1" noAdjustHandles="1" noChangeArrowheads="1" noChangeShapeType="1" noTextEdit="1"/>
              </p:cNvSpPr>
              <p:nvPr/>
            </p:nvSpPr>
            <p:spPr>
              <a:xfrm>
                <a:off x="387018" y="2212132"/>
                <a:ext cx="3759823" cy="1015663"/>
              </a:xfrm>
              <a:prstGeom prst="rect">
                <a:avLst/>
              </a:prstGeom>
              <a:blipFill>
                <a:blip r:embed="rId3"/>
                <a:stretch>
                  <a:fillRect l="-1621" t="-3012" r="-2917" b="-10241"/>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graphicFrame>
            <p:nvGraphicFramePr>
              <p:cNvPr id="12" name="Tabla 3">
                <a:extLst>
                  <a:ext uri="{FF2B5EF4-FFF2-40B4-BE49-F238E27FC236}">
                    <a16:creationId xmlns:a16="http://schemas.microsoft.com/office/drawing/2014/main" id="{C596B25B-8353-4A20-AC46-6CF2D48EBE61}"/>
                  </a:ext>
                </a:extLst>
              </p:cNvPr>
              <p:cNvGraphicFramePr>
                <a:graphicFrameLocks noGrp="1"/>
              </p:cNvGraphicFramePr>
              <p:nvPr>
                <p:extLst>
                  <p:ext uri="{D42A27DB-BD31-4B8C-83A1-F6EECF244321}">
                    <p14:modId xmlns:p14="http://schemas.microsoft.com/office/powerpoint/2010/main" val="2692614869"/>
                  </p:ext>
                </p:extLst>
              </p:nvPr>
            </p:nvGraphicFramePr>
            <p:xfrm>
              <a:off x="4442653" y="1142678"/>
              <a:ext cx="7175492" cy="5328412"/>
            </p:xfrm>
            <a:graphic>
              <a:graphicData uri="http://schemas.openxmlformats.org/drawingml/2006/table">
                <a:tbl>
                  <a:tblPr firstRow="1" bandRow="1"/>
                  <a:tblGrid>
                    <a:gridCol w="1835341">
                      <a:extLst>
                        <a:ext uri="{9D8B030D-6E8A-4147-A177-3AD203B41FA5}">
                          <a16:colId xmlns:a16="http://schemas.microsoft.com/office/drawing/2014/main" val="2419793140"/>
                        </a:ext>
                      </a:extLst>
                    </a:gridCol>
                    <a:gridCol w="2610807">
                      <a:extLst>
                        <a:ext uri="{9D8B030D-6E8A-4147-A177-3AD203B41FA5}">
                          <a16:colId xmlns:a16="http://schemas.microsoft.com/office/drawing/2014/main" val="2761119023"/>
                        </a:ext>
                      </a:extLst>
                    </a:gridCol>
                    <a:gridCol w="2729344">
                      <a:extLst>
                        <a:ext uri="{9D8B030D-6E8A-4147-A177-3AD203B41FA5}">
                          <a16:colId xmlns:a16="http://schemas.microsoft.com/office/drawing/2014/main" val="180266477"/>
                        </a:ext>
                      </a:extLst>
                    </a:gridCol>
                  </a:tblGrid>
                  <a:tr h="298833">
                    <a:tc>
                      <a:txBody>
                        <a:bodyPr/>
                        <a:lstStyle/>
                        <a:p>
                          <a:r>
                            <a:rPr lang="es-CO" sz="1800" b="1" dirty="0">
                              <a:latin typeface="+mn-lt"/>
                              <a:ea typeface="Roboto" panose="02000000000000000000" pitchFamily="2" charset="0"/>
                            </a:rPr>
                            <a:t>Nombre</a:t>
                          </a:r>
                        </a:p>
                      </a:txBody>
                      <a:tcPr>
                        <a:solidFill>
                          <a:schemeClr val="bg2"/>
                        </a:solidFill>
                      </a:tcPr>
                    </a:tc>
                    <a:tc gridSpan="2">
                      <a:txBody>
                        <a:bodyPr/>
                        <a:lstStyle/>
                        <a:p>
                          <a:pPr algn="ctr"/>
                          <a:r>
                            <a:rPr lang="es-CO" sz="1800" b="1" dirty="0">
                              <a:latin typeface="+mn-lt"/>
                              <a:ea typeface="Roboto" panose="02000000000000000000" pitchFamily="2" charset="0"/>
                            </a:rPr>
                            <a:t>Equivalencia lógica</a:t>
                          </a:r>
                        </a:p>
                      </a:txBody>
                      <a:tcPr>
                        <a:solidFill>
                          <a:schemeClr val="bg2"/>
                        </a:solidFill>
                      </a:tcPr>
                    </a:tc>
                    <a:tc hMerge="1">
                      <a:txBody>
                        <a:bodyPr/>
                        <a:lstStyle/>
                        <a:p>
                          <a:endParaRPr lang="es-CO"/>
                        </a:p>
                      </a:txBody>
                      <a:tcPr/>
                    </a:tc>
                    <a:extLst>
                      <a:ext uri="{0D108BD9-81ED-4DB2-BD59-A6C34878D82A}">
                        <a16:rowId xmlns:a16="http://schemas.microsoft.com/office/drawing/2014/main" val="1624526593"/>
                      </a:ext>
                    </a:extLst>
                  </a:tr>
                  <a:tr h="273930">
                    <a:tc>
                      <a:txBody>
                        <a:bodyPr/>
                        <a:lstStyle/>
                        <a:p>
                          <a:r>
                            <a:rPr lang="es-CO" sz="1800" b="1" dirty="0">
                              <a:latin typeface="+mn-lt"/>
                              <a:ea typeface="Roboto" panose="02000000000000000000" pitchFamily="2" charset="0"/>
                            </a:rPr>
                            <a:t>Conmutatividad</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154515760"/>
                      </a:ext>
                    </a:extLst>
                  </a:tr>
                  <a:tr h="273930">
                    <a:tc>
                      <a:txBody>
                        <a:bodyPr/>
                        <a:lstStyle/>
                        <a:p>
                          <a:r>
                            <a:rPr lang="es-CO" sz="1800" b="1" dirty="0">
                              <a:latin typeface="+mn-lt"/>
                              <a:ea typeface="Roboto" panose="02000000000000000000" pitchFamily="2" charset="0"/>
                            </a:rPr>
                            <a:t>Asociatividad</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e>
                                </m:d>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oMath>
                            </m:oMathPara>
                          </a14:m>
                          <a:endParaRPr lang="es-CO" sz="16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e>
                                </m:d>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913743916"/>
                      </a:ext>
                    </a:extLst>
                  </a:tr>
                  <a:tr h="273930">
                    <a:tc>
                      <a:txBody>
                        <a:bodyPr/>
                        <a:lstStyle/>
                        <a:p>
                          <a:r>
                            <a:rPr lang="es-CO" sz="1800" b="1" dirty="0">
                              <a:latin typeface="+mn-lt"/>
                              <a:ea typeface="Roboto" panose="02000000000000000000" pitchFamily="2" charset="0"/>
                            </a:rPr>
                            <a:t>Distributividad</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e>
                                </m:d>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e>
                                </m:d>
                              </m:oMath>
                            </m:oMathPara>
                          </a14:m>
                          <a:endParaRPr lang="es-CO" sz="16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e>
                                </m:d>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e>
                                </m:d>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717401643"/>
                      </a:ext>
                    </a:extLst>
                  </a:tr>
                  <a:tr h="273930">
                    <a:tc>
                      <a:txBody>
                        <a:bodyPr/>
                        <a:lstStyle/>
                        <a:p>
                          <a:r>
                            <a:rPr lang="es-CO" sz="1800" b="1" dirty="0">
                              <a:latin typeface="+mn-lt"/>
                              <a:ea typeface="Roboto" panose="02000000000000000000" pitchFamily="2" charset="0"/>
                            </a:rPr>
                            <a:t>Idempotencia</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246818852"/>
                      </a:ext>
                    </a:extLst>
                  </a:tr>
                  <a:tr h="273930">
                    <a:tc>
                      <a:txBody>
                        <a:bodyPr/>
                        <a:lstStyle/>
                        <a:p>
                          <a:r>
                            <a:rPr lang="es-CO" sz="1800" b="1" dirty="0">
                              <a:latin typeface="+mn-lt"/>
                              <a:ea typeface="Roboto" panose="02000000000000000000" pitchFamily="2" charset="0"/>
                            </a:rPr>
                            <a:t>Doble negación</a:t>
                          </a:r>
                        </a:p>
                      </a:txBody>
                      <a:tcPr>
                        <a:solidFill>
                          <a:schemeClr val="bg2"/>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88149062"/>
                      </a:ext>
                    </a:extLst>
                  </a:tr>
                  <a:tr h="273930">
                    <a:tc>
                      <a:txBody>
                        <a:bodyPr/>
                        <a:lstStyle/>
                        <a:p>
                          <a:r>
                            <a:rPr lang="es-CO" sz="1800" b="1" dirty="0">
                              <a:latin typeface="+mn-lt"/>
                              <a:ea typeface="Roboto" panose="02000000000000000000" pitchFamily="2" charset="0"/>
                            </a:rPr>
                            <a:t>Leyes de Morgan</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oMath>
                            </m:oMathPara>
                          </a14:m>
                          <a:endParaRPr lang="es-CO" sz="16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113060234"/>
                      </a:ext>
                    </a:extLst>
                  </a:tr>
                  <a:tr h="273930">
                    <a:tc>
                      <a:txBody>
                        <a:bodyPr/>
                        <a:lstStyle/>
                        <a:p>
                          <a:r>
                            <a:rPr lang="es-CO" sz="1800" b="1" dirty="0">
                              <a:latin typeface="+mn-lt"/>
                              <a:ea typeface="Roboto" panose="02000000000000000000" pitchFamily="2" charset="0"/>
                            </a:rPr>
                            <a:t>Identidad</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𝑽</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𝑭</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494965197"/>
                      </a:ext>
                    </a:extLst>
                  </a:tr>
                  <a:tr h="273930">
                    <a:tc>
                      <a:txBody>
                        <a:bodyPr/>
                        <a:lstStyle/>
                        <a:p>
                          <a:r>
                            <a:rPr lang="es-CO" sz="1800" b="1" dirty="0">
                              <a:latin typeface="+mn-lt"/>
                              <a:ea typeface="Roboto" panose="02000000000000000000" pitchFamily="2" charset="0"/>
                            </a:rPr>
                            <a:t>Dominación</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𝑭</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𝑭</m:t>
                                </m:r>
                              </m:oMath>
                            </m:oMathPara>
                          </a14:m>
                          <a:endParaRPr lang="es-CO" sz="16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𝑽</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𝑽</m:t>
                                </m:r>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707485840"/>
                      </a:ext>
                    </a:extLst>
                  </a:tr>
                  <a:tr h="273930">
                    <a:tc>
                      <a:txBody>
                        <a:bodyPr/>
                        <a:lstStyle/>
                        <a:p>
                          <a:r>
                            <a:rPr lang="es-CO" sz="1800" b="1" dirty="0">
                              <a:latin typeface="+mn-lt"/>
                              <a:ea typeface="Roboto" panose="02000000000000000000" pitchFamily="2" charset="0"/>
                            </a:rPr>
                            <a:t>Absorción</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232652958"/>
                      </a:ext>
                    </a:extLst>
                  </a:tr>
                  <a:tr h="273930">
                    <a:tc>
                      <a:txBody>
                        <a:bodyPr/>
                        <a:lstStyle/>
                        <a:p>
                          <a:r>
                            <a:rPr lang="es-CO" sz="1800" b="1" dirty="0">
                              <a:latin typeface="+mn-lt"/>
                              <a:ea typeface="Roboto" panose="02000000000000000000" pitchFamily="2" charset="0"/>
                            </a:rPr>
                            <a:t>Complemento</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𝑭</m:t>
                                </m:r>
                              </m:oMath>
                            </m:oMathPara>
                          </a14:m>
                          <a:endParaRPr lang="es-CO" sz="1600" b="1"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𝑽</m:t>
                                </m:r>
                              </m:oMath>
                            </m:oMathPara>
                          </a14:m>
                          <a:endParaRPr lang="es-CO" sz="1600" b="1"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770911309"/>
                      </a:ext>
                    </a:extLst>
                  </a:tr>
                  <a:tr h="273930">
                    <a:tc>
                      <a:txBody>
                        <a:bodyPr/>
                        <a:lstStyle/>
                        <a:p>
                          <a:r>
                            <a:rPr lang="es-CO" sz="1800" b="1" dirty="0">
                              <a:latin typeface="+mn-lt"/>
                              <a:ea typeface="Roboto" panose="02000000000000000000" pitchFamily="2" charset="0"/>
                            </a:rPr>
                            <a:t>Implicación</a:t>
                          </a:r>
                        </a:p>
                      </a:txBody>
                      <a:tcPr>
                        <a:solidFill>
                          <a:schemeClr val="bg2"/>
                        </a:solidFill>
                      </a:tcPr>
                    </a:tc>
                    <a:tc gridSpan="2">
                      <a:txBody>
                        <a:bodyPr/>
                        <a:lstStyle/>
                        <a:p>
                          <a:pPr algn="ct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oMath>
                            </m:oMathPara>
                          </a14:m>
                          <a:endParaRPr lang="es-CO" sz="160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3483938044"/>
                      </a:ext>
                    </a:extLst>
                  </a:tr>
                  <a:tr h="273930">
                    <a:tc>
                      <a:txBody>
                        <a:bodyPr/>
                        <a:lstStyle/>
                        <a:p>
                          <a:r>
                            <a:rPr lang="es-CO" sz="1800" b="1" dirty="0">
                              <a:latin typeface="+mn-lt"/>
                              <a:ea typeface="Roboto" panose="02000000000000000000" pitchFamily="2" charset="0"/>
                            </a:rPr>
                            <a:t>Contrarrecíproco</a:t>
                          </a:r>
                        </a:p>
                      </a:txBody>
                      <a:tcPr>
                        <a:solidFill>
                          <a:schemeClr val="bg2"/>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3255506134"/>
                      </a:ext>
                    </a:extLst>
                  </a:tr>
                  <a:tr h="273930">
                    <a:tc>
                      <a:txBody>
                        <a:bodyPr/>
                        <a:lstStyle/>
                        <a:p>
                          <a:r>
                            <a:rPr lang="es-CO" sz="1800" b="1" dirty="0">
                              <a:latin typeface="+mn-lt"/>
                              <a:ea typeface="Roboto" panose="02000000000000000000" pitchFamily="2" charset="0"/>
                            </a:rPr>
                            <a:t>Equivalencia</a:t>
                          </a:r>
                        </a:p>
                      </a:txBody>
                      <a:tcPr>
                        <a:solidFill>
                          <a:schemeClr val="bg2"/>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e>
                                </m:d>
                              </m:oMath>
                            </m:oMathPara>
                          </a14:m>
                          <a:endParaRPr lang="es-CO" sz="160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40457137"/>
                      </a:ext>
                    </a:extLst>
                  </a:tr>
                </a:tbl>
              </a:graphicData>
            </a:graphic>
          </p:graphicFrame>
        </mc:Choice>
        <mc:Fallback xmlns="">
          <p:graphicFrame>
            <p:nvGraphicFramePr>
              <p:cNvPr id="12" name="Tabla 3">
                <a:extLst>
                  <a:ext uri="{FF2B5EF4-FFF2-40B4-BE49-F238E27FC236}">
                    <a16:creationId xmlns:a16="http://schemas.microsoft.com/office/drawing/2014/main" id="{C596B25B-8353-4A20-AC46-6CF2D48EBE61}"/>
                  </a:ext>
                </a:extLst>
              </p:cNvPr>
              <p:cNvGraphicFramePr>
                <a:graphicFrameLocks noGrp="1"/>
              </p:cNvGraphicFramePr>
              <p:nvPr>
                <p:extLst>
                  <p:ext uri="{D42A27DB-BD31-4B8C-83A1-F6EECF244321}">
                    <p14:modId xmlns:p14="http://schemas.microsoft.com/office/powerpoint/2010/main" val="2692614869"/>
                  </p:ext>
                </p:extLst>
              </p:nvPr>
            </p:nvGraphicFramePr>
            <p:xfrm>
              <a:off x="4442653" y="1142678"/>
              <a:ext cx="7175492" cy="5328412"/>
            </p:xfrm>
            <a:graphic>
              <a:graphicData uri="http://schemas.openxmlformats.org/drawingml/2006/table">
                <a:tbl>
                  <a:tblPr firstRow="1" bandRow="1"/>
                  <a:tblGrid>
                    <a:gridCol w="1835341">
                      <a:extLst>
                        <a:ext uri="{9D8B030D-6E8A-4147-A177-3AD203B41FA5}">
                          <a16:colId xmlns:a16="http://schemas.microsoft.com/office/drawing/2014/main" val="2419793140"/>
                        </a:ext>
                      </a:extLst>
                    </a:gridCol>
                    <a:gridCol w="2610807">
                      <a:extLst>
                        <a:ext uri="{9D8B030D-6E8A-4147-A177-3AD203B41FA5}">
                          <a16:colId xmlns:a16="http://schemas.microsoft.com/office/drawing/2014/main" val="2761119023"/>
                        </a:ext>
                      </a:extLst>
                    </a:gridCol>
                    <a:gridCol w="2729344">
                      <a:extLst>
                        <a:ext uri="{9D8B030D-6E8A-4147-A177-3AD203B41FA5}">
                          <a16:colId xmlns:a16="http://schemas.microsoft.com/office/drawing/2014/main" val="180266477"/>
                        </a:ext>
                      </a:extLst>
                    </a:gridCol>
                  </a:tblGrid>
                  <a:tr h="365760">
                    <a:tc>
                      <a:txBody>
                        <a:bodyPr/>
                        <a:lstStyle/>
                        <a:p>
                          <a:r>
                            <a:rPr lang="es-CO" sz="1800" b="1" dirty="0">
                              <a:latin typeface="+mn-lt"/>
                              <a:ea typeface="Roboto" panose="02000000000000000000" pitchFamily="2" charset="0"/>
                            </a:rPr>
                            <a:t>Nombre</a:t>
                          </a:r>
                        </a:p>
                      </a:txBody>
                      <a:tcPr>
                        <a:solidFill>
                          <a:schemeClr val="bg2"/>
                        </a:solidFill>
                      </a:tcPr>
                    </a:tc>
                    <a:tc gridSpan="2">
                      <a:txBody>
                        <a:bodyPr/>
                        <a:lstStyle/>
                        <a:p>
                          <a:pPr algn="ctr"/>
                          <a:r>
                            <a:rPr lang="es-CO" sz="1800" b="1" dirty="0">
                              <a:latin typeface="+mn-lt"/>
                              <a:ea typeface="Roboto" panose="02000000000000000000" pitchFamily="2" charset="0"/>
                            </a:rPr>
                            <a:t>Equivalencia lógica</a:t>
                          </a:r>
                        </a:p>
                      </a:txBody>
                      <a:tcPr>
                        <a:solidFill>
                          <a:schemeClr val="bg2"/>
                        </a:solidFill>
                      </a:tcPr>
                    </a:tc>
                    <a:tc hMerge="1">
                      <a:txBody>
                        <a:bodyPr/>
                        <a:lstStyle/>
                        <a:p>
                          <a:endParaRPr lang="es-CO"/>
                        </a:p>
                      </a:txBody>
                      <a:tcPr/>
                    </a:tc>
                    <a:extLst>
                      <a:ext uri="{0D108BD9-81ED-4DB2-BD59-A6C34878D82A}">
                        <a16:rowId xmlns:a16="http://schemas.microsoft.com/office/drawing/2014/main" val="1624526593"/>
                      </a:ext>
                    </a:extLst>
                  </a:tr>
                  <a:tr h="365760">
                    <a:tc>
                      <a:txBody>
                        <a:bodyPr/>
                        <a:lstStyle/>
                        <a:p>
                          <a:r>
                            <a:rPr lang="es-CO" sz="1800" b="1" dirty="0">
                              <a:latin typeface="+mn-lt"/>
                              <a:ea typeface="Roboto" panose="02000000000000000000" pitchFamily="2" charset="0"/>
                            </a:rPr>
                            <a:t>Conmutatividad</a:t>
                          </a:r>
                        </a:p>
                      </a:txBody>
                      <a:tcPr>
                        <a:solidFill>
                          <a:schemeClr val="bg2"/>
                        </a:solidFill>
                      </a:tcPr>
                    </a:tc>
                    <a:tc>
                      <a:txBody>
                        <a:bodyPr/>
                        <a:lstStyle/>
                        <a:p>
                          <a:endParaRPr lang="es-CO"/>
                        </a:p>
                      </a:txBody>
                      <a:tcPr>
                        <a:blipFill>
                          <a:blip r:embed="rId4"/>
                          <a:stretch>
                            <a:fillRect l="-70396" t="-108333" r="-104895" b="-1285000"/>
                          </a:stretch>
                        </a:blipFill>
                      </a:tcPr>
                    </a:tc>
                    <a:tc>
                      <a:txBody>
                        <a:bodyPr/>
                        <a:lstStyle/>
                        <a:p>
                          <a:endParaRPr lang="es-CO"/>
                        </a:p>
                      </a:txBody>
                      <a:tcPr>
                        <a:blipFill>
                          <a:blip r:embed="rId4"/>
                          <a:stretch>
                            <a:fillRect l="-163170" t="-108333" r="-446" b="-1285000"/>
                          </a:stretch>
                        </a:blipFill>
                      </a:tcPr>
                    </a:tc>
                    <a:extLst>
                      <a:ext uri="{0D108BD9-81ED-4DB2-BD59-A6C34878D82A}">
                        <a16:rowId xmlns:a16="http://schemas.microsoft.com/office/drawing/2014/main" val="3154515760"/>
                      </a:ext>
                    </a:extLst>
                  </a:tr>
                  <a:tr h="365760">
                    <a:tc>
                      <a:txBody>
                        <a:bodyPr/>
                        <a:lstStyle/>
                        <a:p>
                          <a:r>
                            <a:rPr lang="es-CO" sz="1800" b="1" dirty="0">
                              <a:latin typeface="+mn-lt"/>
                              <a:ea typeface="Roboto" panose="02000000000000000000" pitchFamily="2" charset="0"/>
                            </a:rPr>
                            <a:t>Asociatividad</a:t>
                          </a:r>
                        </a:p>
                      </a:txBody>
                      <a:tcPr>
                        <a:solidFill>
                          <a:schemeClr val="bg2"/>
                        </a:solidFill>
                      </a:tcPr>
                    </a:tc>
                    <a:tc>
                      <a:txBody>
                        <a:bodyPr/>
                        <a:lstStyle/>
                        <a:p>
                          <a:endParaRPr lang="es-CO"/>
                        </a:p>
                      </a:txBody>
                      <a:tcPr>
                        <a:blipFill>
                          <a:blip r:embed="rId4"/>
                          <a:stretch>
                            <a:fillRect l="-70396" t="-208333" r="-104895" b="-1185000"/>
                          </a:stretch>
                        </a:blipFill>
                      </a:tcPr>
                    </a:tc>
                    <a:tc>
                      <a:txBody>
                        <a:bodyPr/>
                        <a:lstStyle/>
                        <a:p>
                          <a:endParaRPr lang="es-CO"/>
                        </a:p>
                      </a:txBody>
                      <a:tcPr>
                        <a:blipFill>
                          <a:blip r:embed="rId4"/>
                          <a:stretch>
                            <a:fillRect l="-163170" t="-208333" r="-446" b="-1185000"/>
                          </a:stretch>
                        </a:blipFill>
                      </a:tcPr>
                    </a:tc>
                    <a:extLst>
                      <a:ext uri="{0D108BD9-81ED-4DB2-BD59-A6C34878D82A}">
                        <a16:rowId xmlns:a16="http://schemas.microsoft.com/office/drawing/2014/main" val="1913743916"/>
                      </a:ext>
                    </a:extLst>
                  </a:tr>
                  <a:tr h="573532">
                    <a:tc>
                      <a:txBody>
                        <a:bodyPr/>
                        <a:lstStyle/>
                        <a:p>
                          <a:r>
                            <a:rPr lang="es-CO" sz="1800" b="1" dirty="0">
                              <a:latin typeface="+mn-lt"/>
                              <a:ea typeface="Roboto" panose="02000000000000000000" pitchFamily="2" charset="0"/>
                            </a:rPr>
                            <a:t>Distributividad</a:t>
                          </a:r>
                        </a:p>
                      </a:txBody>
                      <a:tcPr>
                        <a:solidFill>
                          <a:schemeClr val="bg2"/>
                        </a:solidFill>
                      </a:tcPr>
                    </a:tc>
                    <a:tc>
                      <a:txBody>
                        <a:bodyPr/>
                        <a:lstStyle/>
                        <a:p>
                          <a:endParaRPr lang="es-CO"/>
                        </a:p>
                      </a:txBody>
                      <a:tcPr>
                        <a:blipFill>
                          <a:blip r:embed="rId4"/>
                          <a:stretch>
                            <a:fillRect l="-70396" t="-196809" r="-104895" b="-656383"/>
                          </a:stretch>
                        </a:blipFill>
                      </a:tcPr>
                    </a:tc>
                    <a:tc>
                      <a:txBody>
                        <a:bodyPr/>
                        <a:lstStyle/>
                        <a:p>
                          <a:endParaRPr lang="es-CO"/>
                        </a:p>
                      </a:txBody>
                      <a:tcPr>
                        <a:blipFill>
                          <a:blip r:embed="rId4"/>
                          <a:stretch>
                            <a:fillRect l="-163170" t="-196809" r="-446" b="-656383"/>
                          </a:stretch>
                        </a:blipFill>
                      </a:tcPr>
                    </a:tc>
                    <a:extLst>
                      <a:ext uri="{0D108BD9-81ED-4DB2-BD59-A6C34878D82A}">
                        <a16:rowId xmlns:a16="http://schemas.microsoft.com/office/drawing/2014/main" val="717401643"/>
                      </a:ext>
                    </a:extLst>
                  </a:tr>
                  <a:tr h="365760">
                    <a:tc>
                      <a:txBody>
                        <a:bodyPr/>
                        <a:lstStyle/>
                        <a:p>
                          <a:r>
                            <a:rPr lang="es-CO" sz="1800" b="1" dirty="0">
                              <a:latin typeface="+mn-lt"/>
                              <a:ea typeface="Roboto" panose="02000000000000000000" pitchFamily="2" charset="0"/>
                            </a:rPr>
                            <a:t>Idempotencia</a:t>
                          </a:r>
                        </a:p>
                      </a:txBody>
                      <a:tcPr>
                        <a:solidFill>
                          <a:schemeClr val="bg2"/>
                        </a:solidFill>
                      </a:tcPr>
                    </a:tc>
                    <a:tc>
                      <a:txBody>
                        <a:bodyPr/>
                        <a:lstStyle/>
                        <a:p>
                          <a:endParaRPr lang="es-CO"/>
                        </a:p>
                      </a:txBody>
                      <a:tcPr>
                        <a:blipFill>
                          <a:blip r:embed="rId4"/>
                          <a:stretch>
                            <a:fillRect l="-70396" t="-465000" r="-104895" b="-928333"/>
                          </a:stretch>
                        </a:blipFill>
                      </a:tcPr>
                    </a:tc>
                    <a:tc>
                      <a:txBody>
                        <a:bodyPr/>
                        <a:lstStyle/>
                        <a:p>
                          <a:endParaRPr lang="es-CO"/>
                        </a:p>
                      </a:txBody>
                      <a:tcPr>
                        <a:blipFill>
                          <a:blip r:embed="rId4"/>
                          <a:stretch>
                            <a:fillRect l="-163170" t="-465000" r="-446" b="-928333"/>
                          </a:stretch>
                        </a:blipFill>
                      </a:tcPr>
                    </a:tc>
                    <a:extLst>
                      <a:ext uri="{0D108BD9-81ED-4DB2-BD59-A6C34878D82A}">
                        <a16:rowId xmlns:a16="http://schemas.microsoft.com/office/drawing/2014/main" val="2246818852"/>
                      </a:ext>
                    </a:extLst>
                  </a:tr>
                  <a:tr h="365760">
                    <a:tc>
                      <a:txBody>
                        <a:bodyPr/>
                        <a:lstStyle/>
                        <a:p>
                          <a:r>
                            <a:rPr lang="es-CO" sz="1800" b="1" dirty="0">
                              <a:latin typeface="+mn-lt"/>
                              <a:ea typeface="Roboto" panose="02000000000000000000" pitchFamily="2" charset="0"/>
                            </a:rPr>
                            <a:t>Doble negación</a:t>
                          </a:r>
                        </a:p>
                      </a:txBody>
                      <a:tcPr>
                        <a:solidFill>
                          <a:schemeClr val="bg2"/>
                        </a:solidFill>
                      </a:tcPr>
                    </a:tc>
                    <a:tc gridSpan="2">
                      <a:txBody>
                        <a:bodyPr/>
                        <a:lstStyle/>
                        <a:p>
                          <a:endParaRPr lang="es-CO"/>
                        </a:p>
                      </a:txBody>
                      <a:tcPr>
                        <a:blipFill>
                          <a:blip r:embed="rId4"/>
                          <a:stretch>
                            <a:fillRect l="-34436" t="-565000" r="-228" b="-828333"/>
                          </a:stretch>
                        </a:blipFill>
                      </a:tcPr>
                    </a:tc>
                    <a:tc hMerge="1">
                      <a:txBody>
                        <a:bodyPr/>
                        <a:lstStyle/>
                        <a:p>
                          <a:endParaRPr lang="es-CO"/>
                        </a:p>
                      </a:txBody>
                      <a:tcPr/>
                    </a:tc>
                    <a:extLst>
                      <a:ext uri="{0D108BD9-81ED-4DB2-BD59-A6C34878D82A}">
                        <a16:rowId xmlns:a16="http://schemas.microsoft.com/office/drawing/2014/main" val="88149062"/>
                      </a:ext>
                    </a:extLst>
                  </a:tr>
                  <a:tr h="365760">
                    <a:tc>
                      <a:txBody>
                        <a:bodyPr/>
                        <a:lstStyle/>
                        <a:p>
                          <a:r>
                            <a:rPr lang="es-CO" sz="1800" b="1" dirty="0">
                              <a:latin typeface="+mn-lt"/>
                              <a:ea typeface="Roboto" panose="02000000000000000000" pitchFamily="2" charset="0"/>
                            </a:rPr>
                            <a:t>Leyes de Morgan</a:t>
                          </a:r>
                        </a:p>
                      </a:txBody>
                      <a:tcPr>
                        <a:solidFill>
                          <a:schemeClr val="bg2"/>
                        </a:solidFill>
                      </a:tcPr>
                    </a:tc>
                    <a:tc>
                      <a:txBody>
                        <a:bodyPr/>
                        <a:lstStyle/>
                        <a:p>
                          <a:endParaRPr lang="es-CO"/>
                        </a:p>
                      </a:txBody>
                      <a:tcPr>
                        <a:blipFill>
                          <a:blip r:embed="rId4"/>
                          <a:stretch>
                            <a:fillRect l="-70396" t="-654098" r="-104895" b="-714754"/>
                          </a:stretch>
                        </a:blipFill>
                      </a:tcPr>
                    </a:tc>
                    <a:tc>
                      <a:txBody>
                        <a:bodyPr/>
                        <a:lstStyle/>
                        <a:p>
                          <a:endParaRPr lang="es-CO"/>
                        </a:p>
                      </a:txBody>
                      <a:tcPr>
                        <a:blipFill>
                          <a:blip r:embed="rId4"/>
                          <a:stretch>
                            <a:fillRect l="-163170" t="-654098" r="-446" b="-714754"/>
                          </a:stretch>
                        </a:blipFill>
                      </a:tcPr>
                    </a:tc>
                    <a:extLst>
                      <a:ext uri="{0D108BD9-81ED-4DB2-BD59-A6C34878D82A}">
                        <a16:rowId xmlns:a16="http://schemas.microsoft.com/office/drawing/2014/main" val="2113060234"/>
                      </a:ext>
                    </a:extLst>
                  </a:tr>
                  <a:tr h="365760">
                    <a:tc>
                      <a:txBody>
                        <a:bodyPr/>
                        <a:lstStyle/>
                        <a:p>
                          <a:r>
                            <a:rPr lang="es-CO" sz="1800" b="1" dirty="0">
                              <a:latin typeface="+mn-lt"/>
                              <a:ea typeface="Roboto" panose="02000000000000000000" pitchFamily="2" charset="0"/>
                            </a:rPr>
                            <a:t>Identidad</a:t>
                          </a:r>
                        </a:p>
                      </a:txBody>
                      <a:tcPr>
                        <a:solidFill>
                          <a:schemeClr val="bg2"/>
                        </a:solidFill>
                      </a:tcPr>
                    </a:tc>
                    <a:tc>
                      <a:txBody>
                        <a:bodyPr/>
                        <a:lstStyle/>
                        <a:p>
                          <a:endParaRPr lang="es-CO"/>
                        </a:p>
                      </a:txBody>
                      <a:tcPr>
                        <a:blipFill>
                          <a:blip r:embed="rId4"/>
                          <a:stretch>
                            <a:fillRect l="-70396" t="-766667" r="-104895" b="-626667"/>
                          </a:stretch>
                        </a:blipFill>
                      </a:tcPr>
                    </a:tc>
                    <a:tc>
                      <a:txBody>
                        <a:bodyPr/>
                        <a:lstStyle/>
                        <a:p>
                          <a:endParaRPr lang="es-CO"/>
                        </a:p>
                      </a:txBody>
                      <a:tcPr>
                        <a:blipFill>
                          <a:blip r:embed="rId4"/>
                          <a:stretch>
                            <a:fillRect l="-163170" t="-766667" r="-446" b="-626667"/>
                          </a:stretch>
                        </a:blipFill>
                      </a:tcPr>
                    </a:tc>
                    <a:extLst>
                      <a:ext uri="{0D108BD9-81ED-4DB2-BD59-A6C34878D82A}">
                        <a16:rowId xmlns:a16="http://schemas.microsoft.com/office/drawing/2014/main" val="2494965197"/>
                      </a:ext>
                    </a:extLst>
                  </a:tr>
                  <a:tr h="365760">
                    <a:tc>
                      <a:txBody>
                        <a:bodyPr/>
                        <a:lstStyle/>
                        <a:p>
                          <a:r>
                            <a:rPr lang="es-CO" sz="1800" b="1" dirty="0">
                              <a:latin typeface="+mn-lt"/>
                              <a:ea typeface="Roboto" panose="02000000000000000000" pitchFamily="2" charset="0"/>
                            </a:rPr>
                            <a:t>Dominación</a:t>
                          </a:r>
                        </a:p>
                      </a:txBody>
                      <a:tcPr>
                        <a:solidFill>
                          <a:schemeClr val="bg2"/>
                        </a:solidFill>
                      </a:tcPr>
                    </a:tc>
                    <a:tc>
                      <a:txBody>
                        <a:bodyPr/>
                        <a:lstStyle/>
                        <a:p>
                          <a:endParaRPr lang="es-CO"/>
                        </a:p>
                      </a:txBody>
                      <a:tcPr>
                        <a:blipFill>
                          <a:blip r:embed="rId4"/>
                          <a:stretch>
                            <a:fillRect l="-70396" t="-866667" r="-104895" b="-526667"/>
                          </a:stretch>
                        </a:blipFill>
                      </a:tcPr>
                    </a:tc>
                    <a:tc>
                      <a:txBody>
                        <a:bodyPr/>
                        <a:lstStyle/>
                        <a:p>
                          <a:endParaRPr lang="es-CO"/>
                        </a:p>
                      </a:txBody>
                      <a:tcPr>
                        <a:blipFill>
                          <a:blip r:embed="rId4"/>
                          <a:stretch>
                            <a:fillRect l="-163170" t="-866667" r="-446" b="-526667"/>
                          </a:stretch>
                        </a:blipFill>
                      </a:tcPr>
                    </a:tc>
                    <a:extLst>
                      <a:ext uri="{0D108BD9-81ED-4DB2-BD59-A6C34878D82A}">
                        <a16:rowId xmlns:a16="http://schemas.microsoft.com/office/drawing/2014/main" val="707485840"/>
                      </a:ext>
                    </a:extLst>
                  </a:tr>
                  <a:tr h="365760">
                    <a:tc>
                      <a:txBody>
                        <a:bodyPr/>
                        <a:lstStyle/>
                        <a:p>
                          <a:r>
                            <a:rPr lang="es-CO" sz="1800" b="1" dirty="0">
                              <a:latin typeface="+mn-lt"/>
                              <a:ea typeface="Roboto" panose="02000000000000000000" pitchFamily="2" charset="0"/>
                            </a:rPr>
                            <a:t>Absorción</a:t>
                          </a:r>
                        </a:p>
                      </a:txBody>
                      <a:tcPr>
                        <a:solidFill>
                          <a:schemeClr val="bg2"/>
                        </a:solidFill>
                      </a:tcPr>
                    </a:tc>
                    <a:tc>
                      <a:txBody>
                        <a:bodyPr/>
                        <a:lstStyle/>
                        <a:p>
                          <a:endParaRPr lang="es-CO"/>
                        </a:p>
                      </a:txBody>
                      <a:tcPr>
                        <a:blipFill>
                          <a:blip r:embed="rId4"/>
                          <a:stretch>
                            <a:fillRect l="-70396" t="-966667" r="-104895" b="-426667"/>
                          </a:stretch>
                        </a:blipFill>
                      </a:tcPr>
                    </a:tc>
                    <a:tc>
                      <a:txBody>
                        <a:bodyPr/>
                        <a:lstStyle/>
                        <a:p>
                          <a:endParaRPr lang="es-CO"/>
                        </a:p>
                      </a:txBody>
                      <a:tcPr>
                        <a:blipFill>
                          <a:blip r:embed="rId4"/>
                          <a:stretch>
                            <a:fillRect l="-163170" t="-966667" r="-446" b="-426667"/>
                          </a:stretch>
                        </a:blipFill>
                      </a:tcPr>
                    </a:tc>
                    <a:extLst>
                      <a:ext uri="{0D108BD9-81ED-4DB2-BD59-A6C34878D82A}">
                        <a16:rowId xmlns:a16="http://schemas.microsoft.com/office/drawing/2014/main" val="1232652958"/>
                      </a:ext>
                    </a:extLst>
                  </a:tr>
                  <a:tr h="365760">
                    <a:tc>
                      <a:txBody>
                        <a:bodyPr/>
                        <a:lstStyle/>
                        <a:p>
                          <a:r>
                            <a:rPr lang="es-CO" sz="1800" b="1" dirty="0">
                              <a:latin typeface="+mn-lt"/>
                              <a:ea typeface="Roboto" panose="02000000000000000000" pitchFamily="2" charset="0"/>
                            </a:rPr>
                            <a:t>Complemento</a:t>
                          </a:r>
                        </a:p>
                      </a:txBody>
                      <a:tcPr>
                        <a:solidFill>
                          <a:schemeClr val="bg2"/>
                        </a:solidFill>
                      </a:tcPr>
                    </a:tc>
                    <a:tc>
                      <a:txBody>
                        <a:bodyPr/>
                        <a:lstStyle/>
                        <a:p>
                          <a:endParaRPr lang="es-CO"/>
                        </a:p>
                      </a:txBody>
                      <a:tcPr>
                        <a:blipFill>
                          <a:blip r:embed="rId4"/>
                          <a:stretch>
                            <a:fillRect l="-70396" t="-1066667" r="-104895" b="-326667"/>
                          </a:stretch>
                        </a:blipFill>
                      </a:tcPr>
                    </a:tc>
                    <a:tc>
                      <a:txBody>
                        <a:bodyPr/>
                        <a:lstStyle/>
                        <a:p>
                          <a:endParaRPr lang="es-CO"/>
                        </a:p>
                      </a:txBody>
                      <a:tcPr>
                        <a:blipFill>
                          <a:blip r:embed="rId4"/>
                          <a:stretch>
                            <a:fillRect l="-163170" t="-1066667" r="-446" b="-326667"/>
                          </a:stretch>
                        </a:blipFill>
                      </a:tcPr>
                    </a:tc>
                    <a:extLst>
                      <a:ext uri="{0D108BD9-81ED-4DB2-BD59-A6C34878D82A}">
                        <a16:rowId xmlns:a16="http://schemas.microsoft.com/office/drawing/2014/main" val="3770911309"/>
                      </a:ext>
                    </a:extLst>
                  </a:tr>
                  <a:tr h="365760">
                    <a:tc>
                      <a:txBody>
                        <a:bodyPr/>
                        <a:lstStyle/>
                        <a:p>
                          <a:r>
                            <a:rPr lang="es-CO" sz="1800" b="1" dirty="0">
                              <a:latin typeface="+mn-lt"/>
                              <a:ea typeface="Roboto" panose="02000000000000000000" pitchFamily="2" charset="0"/>
                            </a:rPr>
                            <a:t>Implicación</a:t>
                          </a:r>
                        </a:p>
                      </a:txBody>
                      <a:tcPr>
                        <a:solidFill>
                          <a:schemeClr val="bg2"/>
                        </a:solidFill>
                      </a:tcPr>
                    </a:tc>
                    <a:tc gridSpan="2">
                      <a:txBody>
                        <a:bodyPr/>
                        <a:lstStyle/>
                        <a:p>
                          <a:endParaRPr lang="es-CO"/>
                        </a:p>
                      </a:txBody>
                      <a:tcPr>
                        <a:blipFill>
                          <a:blip r:embed="rId4"/>
                          <a:stretch>
                            <a:fillRect l="-34436" t="-1166667" r="-228" b="-226667"/>
                          </a:stretch>
                        </a:blipFill>
                      </a:tcPr>
                    </a:tc>
                    <a:tc hMerge="1">
                      <a:txBody>
                        <a:bodyPr/>
                        <a:lstStyle/>
                        <a:p>
                          <a:endParaRPr lang="es-CO"/>
                        </a:p>
                      </a:txBody>
                      <a:tcPr/>
                    </a:tc>
                    <a:extLst>
                      <a:ext uri="{0D108BD9-81ED-4DB2-BD59-A6C34878D82A}">
                        <a16:rowId xmlns:a16="http://schemas.microsoft.com/office/drawing/2014/main" val="3483938044"/>
                      </a:ext>
                    </a:extLst>
                  </a:tr>
                  <a:tr h="365760">
                    <a:tc>
                      <a:txBody>
                        <a:bodyPr/>
                        <a:lstStyle/>
                        <a:p>
                          <a:r>
                            <a:rPr lang="es-CO" sz="1800" b="1" dirty="0">
                              <a:latin typeface="+mn-lt"/>
                              <a:ea typeface="Roboto" panose="02000000000000000000" pitchFamily="2" charset="0"/>
                            </a:rPr>
                            <a:t>Contrarrecíproco</a:t>
                          </a:r>
                        </a:p>
                      </a:txBody>
                      <a:tcPr>
                        <a:solidFill>
                          <a:schemeClr val="bg2"/>
                        </a:solidFill>
                      </a:tcPr>
                    </a:tc>
                    <a:tc gridSpan="2">
                      <a:txBody>
                        <a:bodyPr/>
                        <a:lstStyle/>
                        <a:p>
                          <a:endParaRPr lang="es-CO"/>
                        </a:p>
                      </a:txBody>
                      <a:tcPr>
                        <a:blipFill>
                          <a:blip r:embed="rId4"/>
                          <a:stretch>
                            <a:fillRect l="-34436" t="-1266667" r="-228" b="-126667"/>
                          </a:stretch>
                        </a:blipFill>
                      </a:tcPr>
                    </a:tc>
                    <a:tc hMerge="1">
                      <a:txBody>
                        <a:bodyPr/>
                        <a:lstStyle/>
                        <a:p>
                          <a:endParaRPr lang="es-CO"/>
                        </a:p>
                      </a:txBody>
                      <a:tcPr/>
                    </a:tc>
                    <a:extLst>
                      <a:ext uri="{0D108BD9-81ED-4DB2-BD59-A6C34878D82A}">
                        <a16:rowId xmlns:a16="http://schemas.microsoft.com/office/drawing/2014/main" val="3255506134"/>
                      </a:ext>
                    </a:extLst>
                  </a:tr>
                  <a:tr h="365760">
                    <a:tc>
                      <a:txBody>
                        <a:bodyPr/>
                        <a:lstStyle/>
                        <a:p>
                          <a:r>
                            <a:rPr lang="es-CO" sz="1800" b="1" dirty="0">
                              <a:latin typeface="+mn-lt"/>
                              <a:ea typeface="Roboto" panose="02000000000000000000" pitchFamily="2" charset="0"/>
                            </a:rPr>
                            <a:t>Equivalencia</a:t>
                          </a:r>
                        </a:p>
                      </a:txBody>
                      <a:tcPr>
                        <a:solidFill>
                          <a:schemeClr val="bg2"/>
                        </a:solidFill>
                      </a:tcPr>
                    </a:tc>
                    <a:tc gridSpan="2">
                      <a:txBody>
                        <a:bodyPr/>
                        <a:lstStyle/>
                        <a:p>
                          <a:endParaRPr lang="es-CO"/>
                        </a:p>
                      </a:txBody>
                      <a:tcPr>
                        <a:blipFill>
                          <a:blip r:embed="rId4"/>
                          <a:stretch>
                            <a:fillRect l="-34436" t="-1366667" r="-228" b="-26667"/>
                          </a:stretch>
                        </a:blipFill>
                      </a:tcPr>
                    </a:tc>
                    <a:tc hMerge="1">
                      <a:txBody>
                        <a:bodyPr/>
                        <a:lstStyle/>
                        <a:p>
                          <a:endParaRPr lang="es-CO"/>
                        </a:p>
                      </a:txBody>
                      <a:tcPr/>
                    </a:tc>
                    <a:extLst>
                      <a:ext uri="{0D108BD9-81ED-4DB2-BD59-A6C34878D82A}">
                        <a16:rowId xmlns:a16="http://schemas.microsoft.com/office/drawing/2014/main" val="40457137"/>
                      </a:ext>
                    </a:extLst>
                  </a:tr>
                </a:tbl>
              </a:graphicData>
            </a:graphic>
          </p:graphicFrame>
        </mc:Fallback>
      </mc:AlternateContent>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E74E54F4-403A-4326-992F-72044EAA308A}"/>
                  </a:ext>
                </a:extLst>
              </p:cNvPr>
              <p:cNvSpPr txBox="1"/>
              <p:nvPr/>
            </p:nvSpPr>
            <p:spPr>
              <a:xfrm>
                <a:off x="573854" y="4763662"/>
                <a:ext cx="986573" cy="153439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CO" i="1" smtClean="0">
                              <a:latin typeface="Cambria Math" panose="02040503050406030204" pitchFamily="18" charset="0"/>
                            </a:rPr>
                          </m:ctrlPr>
                        </m:fPr>
                        <m:num>
                          <m:m>
                            <m:mPr>
                              <m:mcs>
                                <m:mc>
                                  <m:mcPr>
                                    <m:count m:val="1"/>
                                    <m:mcJc m:val="center"/>
                                  </m:mcPr>
                                </m:mc>
                              </m:mcs>
                              <m:ctrlPr>
                                <a:rPr lang="es-MX" b="1" i="1">
                                  <a:latin typeface="Cambria Math" panose="02040503050406030204" pitchFamily="18" charset="0"/>
                                  <a:ea typeface="Cambria Math" panose="02040503050406030204" pitchFamily="18" charset="0"/>
                                </a:rPr>
                              </m:ctrlPr>
                            </m:mPr>
                            <m:mr>
                              <m:e>
                                <m:eqArr>
                                  <m:eqArrPr>
                                    <m:ctrlPr>
                                      <a:rPr lang="es-MX" b="1" i="1">
                                        <a:latin typeface="Cambria Math" panose="02040503050406030204" pitchFamily="18" charset="0"/>
                                      </a:rPr>
                                    </m:ctrlPr>
                                  </m:eqArrPr>
                                  <m:e>
                                    <m:r>
                                      <a:rPr lang="es-MX" b="1" i="1">
                                        <a:latin typeface="Cambria Math" panose="02040503050406030204" pitchFamily="18" charset="0"/>
                                      </a:rPr>
                                      <m:t>𝑨</m:t>
                                    </m:r>
                                    <m:r>
                                      <a:rPr lang="es-MX" b="1" i="1">
                                        <a:latin typeface="Cambria Math" panose="02040503050406030204" pitchFamily="18" charset="0"/>
                                      </a:rPr>
                                      <m:t> ≡</m:t>
                                    </m:r>
                                    <m:sSub>
                                      <m:sSubPr>
                                        <m:ctrlPr>
                                          <a:rPr lang="es-MX" b="1" i="1" smtClean="0">
                                            <a:solidFill>
                                              <a:srgbClr val="002060"/>
                                            </a:solidFill>
                                            <a:latin typeface="Cambria Math" panose="02040503050406030204" pitchFamily="18" charset="0"/>
                                            <a:ea typeface="Cambria Math" panose="02040503050406030204" pitchFamily="18" charset="0"/>
                                          </a:rPr>
                                        </m:ctrlPr>
                                      </m:sSubPr>
                                      <m:e>
                                        <m:r>
                                          <a:rPr lang="es-MX" b="1" i="1">
                                            <a:solidFill>
                                              <a:srgbClr val="002060"/>
                                            </a:solidFill>
                                            <a:latin typeface="Cambria Math" panose="02040503050406030204" pitchFamily="18" charset="0"/>
                                            <a:ea typeface="Cambria Math" panose="02040503050406030204" pitchFamily="18" charset="0"/>
                                          </a:rPr>
                                          <m:t>𝑨</m:t>
                                        </m:r>
                                      </m:e>
                                      <m:sub>
                                        <m:r>
                                          <a:rPr lang="es-MX" b="1" i="1">
                                            <a:solidFill>
                                              <a:srgbClr val="002060"/>
                                            </a:solidFill>
                                            <a:latin typeface="Cambria Math" panose="02040503050406030204" pitchFamily="18" charset="0"/>
                                            <a:ea typeface="Cambria Math" panose="02040503050406030204" pitchFamily="18" charset="0"/>
                                          </a:rPr>
                                          <m:t>𝟏</m:t>
                                        </m:r>
                                      </m:sub>
                                    </m:sSub>
                                  </m:e>
                                  <m:e>
                                    <m:r>
                                      <a:rPr lang="es-MX" b="1" i="1">
                                        <a:latin typeface="Cambria Math" panose="02040503050406030204" pitchFamily="18" charset="0"/>
                                      </a:rPr>
                                      <m:t>     </m:t>
                                    </m:r>
                                    <m:r>
                                      <a:rPr lang="es-MX" b="1" i="1">
                                        <a:latin typeface="Cambria Math" panose="02040503050406030204" pitchFamily="18" charset="0"/>
                                        <a:ea typeface="Cambria Math" panose="02040503050406030204" pitchFamily="18" charset="0"/>
                                      </a:rPr>
                                      <m:t>≡</m:t>
                                    </m:r>
                                    <m:sSub>
                                      <m:sSubPr>
                                        <m:ctrlPr>
                                          <a:rPr lang="es-MX" b="1" i="1" smtClean="0">
                                            <a:solidFill>
                                              <a:srgbClr val="002060"/>
                                            </a:solidFill>
                                            <a:latin typeface="Cambria Math" panose="02040503050406030204" pitchFamily="18" charset="0"/>
                                            <a:ea typeface="Cambria Math" panose="02040503050406030204" pitchFamily="18" charset="0"/>
                                          </a:rPr>
                                        </m:ctrlPr>
                                      </m:sSubPr>
                                      <m:e>
                                        <m:r>
                                          <a:rPr lang="es-MX" b="1" i="1">
                                            <a:solidFill>
                                              <a:srgbClr val="002060"/>
                                            </a:solidFill>
                                            <a:latin typeface="Cambria Math" panose="02040503050406030204" pitchFamily="18" charset="0"/>
                                            <a:ea typeface="Cambria Math" panose="02040503050406030204" pitchFamily="18" charset="0"/>
                                          </a:rPr>
                                          <m:t>𝑨</m:t>
                                        </m:r>
                                      </m:e>
                                      <m:sub>
                                        <m:r>
                                          <a:rPr lang="es-MX" b="1" i="1">
                                            <a:solidFill>
                                              <a:srgbClr val="002060"/>
                                            </a:solidFill>
                                            <a:latin typeface="Cambria Math" panose="02040503050406030204" pitchFamily="18" charset="0"/>
                                            <a:ea typeface="Cambria Math" panose="02040503050406030204" pitchFamily="18" charset="0"/>
                                          </a:rPr>
                                          <m:t>𝟐</m:t>
                                        </m:r>
                                      </m:sub>
                                    </m:sSub>
                                  </m:e>
                                </m:eqArr>
                              </m:e>
                            </m:mr>
                            <m:mr>
                              <m:e>
                                <m:eqArr>
                                  <m:eqArrPr>
                                    <m:ctrlPr>
                                      <a:rPr lang="es-MX" b="1" i="1">
                                        <a:solidFill>
                                          <a:schemeClr val="bg1">
                                            <a:lumMod val="50000"/>
                                          </a:schemeClr>
                                        </a:solidFill>
                                        <a:latin typeface="Cambria Math" panose="02040503050406030204" pitchFamily="18" charset="0"/>
                                        <a:ea typeface="Cambria Math" panose="02040503050406030204" pitchFamily="18" charset="0"/>
                                      </a:rPr>
                                    </m:ctrlPr>
                                  </m:eqArrPr>
                                  <m:e>
                                    <m:r>
                                      <a:rPr lang="es-MX" b="1" i="1">
                                        <a:solidFill>
                                          <a:schemeClr val="bg1">
                                            <a:lumMod val="50000"/>
                                          </a:schemeClr>
                                        </a:solidFill>
                                        <a:latin typeface="Cambria Math" panose="02040503050406030204" pitchFamily="18" charset="0"/>
                                        <a:ea typeface="Cambria Math" panose="02040503050406030204" pitchFamily="18" charset="0"/>
                                      </a:rPr>
                                      <m:t>⋮</m:t>
                                    </m:r>
                                    <m:r>
                                      <a:rPr lang="es-MX" b="1" i="1" smtClean="0">
                                        <a:solidFill>
                                          <a:schemeClr val="bg1">
                                            <a:lumMod val="50000"/>
                                          </a:schemeClr>
                                        </a:solidFill>
                                        <a:latin typeface="Cambria Math" panose="02040503050406030204" pitchFamily="18" charset="0"/>
                                        <a:ea typeface="Cambria Math" panose="02040503050406030204" pitchFamily="18" charset="0"/>
                                      </a:rPr>
                                      <m:t> </m:t>
                                    </m:r>
                                  </m:e>
                                  <m:e>
                                    <m:r>
                                      <a:rPr lang="es-MX" b="1" i="1" smtClean="0">
                                        <a:solidFill>
                                          <a:schemeClr val="bg1">
                                            <a:lumMod val="50000"/>
                                          </a:schemeClr>
                                        </a:solidFill>
                                        <a:latin typeface="Cambria Math" panose="02040503050406030204" pitchFamily="18" charset="0"/>
                                        <a:ea typeface="Cambria Math" panose="02040503050406030204" pitchFamily="18" charset="0"/>
                                      </a:rPr>
                                      <m:t>     </m:t>
                                    </m:r>
                                    <m:r>
                                      <a:rPr lang="es-MX" b="1" i="1">
                                        <a:latin typeface="Cambria Math" panose="02040503050406030204" pitchFamily="18" charset="0"/>
                                        <a:ea typeface="Cambria Math" panose="02040503050406030204" pitchFamily="18" charset="0"/>
                                      </a:rPr>
                                      <m:t>≡</m:t>
                                    </m:r>
                                    <m:sSub>
                                      <m:sSubPr>
                                        <m:ctrlPr>
                                          <a:rPr lang="es-MX" b="1" i="1" smtClean="0">
                                            <a:solidFill>
                                              <a:srgbClr val="002060"/>
                                            </a:solidFill>
                                            <a:latin typeface="Cambria Math" panose="02040503050406030204" pitchFamily="18" charset="0"/>
                                            <a:ea typeface="Cambria Math" panose="02040503050406030204" pitchFamily="18" charset="0"/>
                                          </a:rPr>
                                        </m:ctrlPr>
                                      </m:sSubPr>
                                      <m:e>
                                        <m:r>
                                          <a:rPr lang="es-MX" b="1" i="1">
                                            <a:solidFill>
                                              <a:srgbClr val="002060"/>
                                            </a:solidFill>
                                            <a:latin typeface="Cambria Math" panose="02040503050406030204" pitchFamily="18" charset="0"/>
                                            <a:ea typeface="Cambria Math" panose="02040503050406030204" pitchFamily="18" charset="0"/>
                                          </a:rPr>
                                          <m:t>𝑨</m:t>
                                        </m:r>
                                      </m:e>
                                      <m:sub>
                                        <m:r>
                                          <a:rPr lang="es-MX" b="1" i="1" smtClean="0">
                                            <a:solidFill>
                                              <a:srgbClr val="002060"/>
                                            </a:solidFill>
                                            <a:latin typeface="Cambria Math" panose="02040503050406030204" pitchFamily="18" charset="0"/>
                                            <a:ea typeface="Cambria Math" panose="02040503050406030204" pitchFamily="18" charset="0"/>
                                          </a:rPr>
                                          <m:t>𝒏</m:t>
                                        </m:r>
                                      </m:sub>
                                    </m:sSub>
                                  </m:e>
                                </m:eqArr>
                              </m:e>
                            </m:mr>
                            <m:mr>
                              <m:e>
                                <m:r>
                                  <a:rPr lang="es-MX" b="1" i="1">
                                    <a:solidFill>
                                      <a:schemeClr val="bg1">
                                        <a:lumMod val="50000"/>
                                      </a:schemeClr>
                                    </a:solidFill>
                                    <a:latin typeface="Cambria Math" panose="02040503050406030204" pitchFamily="18" charset="0"/>
                                    <a:ea typeface="Cambria Math" panose="02040503050406030204" pitchFamily="18" charset="0"/>
                                  </a:rPr>
                                  <m:t>   </m:t>
                                </m:r>
                                <m:r>
                                  <a:rPr lang="es-MX" b="1" i="1">
                                    <a:latin typeface="Cambria Math" panose="02040503050406030204" pitchFamily="18" charset="0"/>
                                    <a:ea typeface="Cambria Math" panose="02040503050406030204" pitchFamily="18" charset="0"/>
                                  </a:rPr>
                                  <m:t>≡</m:t>
                                </m:r>
                                <m:r>
                                  <a:rPr lang="es-MX" b="1" i="1">
                                    <a:latin typeface="Cambria Math" panose="02040503050406030204" pitchFamily="18" charset="0"/>
                                    <a:ea typeface="Cambria Math" panose="02040503050406030204" pitchFamily="18" charset="0"/>
                                  </a:rPr>
                                  <m:t>𝑩</m:t>
                                </m:r>
                              </m:e>
                            </m:mr>
                          </m:m>
                        </m:num>
                        <m:den>
                          <m:r>
                            <a:rPr lang="es-MX" b="1" i="1">
                              <a:latin typeface="Cambria Math" panose="02040503050406030204" pitchFamily="18" charset="0"/>
                            </a:rPr>
                            <m:t>𝑨</m:t>
                          </m:r>
                          <m:r>
                            <a:rPr lang="es-MX" b="1" i="1">
                              <a:latin typeface="Cambria Math" panose="02040503050406030204" pitchFamily="18" charset="0"/>
                              <a:ea typeface="Cambria Math" panose="02040503050406030204" pitchFamily="18" charset="0"/>
                            </a:rPr>
                            <m:t>≡</m:t>
                          </m:r>
                          <m:r>
                            <a:rPr lang="es-MX" b="1" i="1">
                              <a:latin typeface="Cambria Math" panose="02040503050406030204" pitchFamily="18" charset="0"/>
                              <a:ea typeface="Cambria Math" panose="02040503050406030204" pitchFamily="18" charset="0"/>
                            </a:rPr>
                            <m:t>𝑩</m:t>
                          </m:r>
                          <m:r>
                            <m:rPr>
                              <m:nor/>
                            </m:rPr>
                            <a:rPr lang="es-CO" dirty="0"/>
                            <m:t> </m:t>
                          </m:r>
                        </m:den>
                      </m:f>
                    </m:oMath>
                  </m:oMathPara>
                </a14:m>
                <a:endParaRPr lang="es-CO" dirty="0"/>
              </a:p>
            </p:txBody>
          </p:sp>
        </mc:Choice>
        <mc:Fallback xmlns="">
          <p:sp>
            <p:nvSpPr>
              <p:cNvPr id="2" name="CuadroTexto 1">
                <a:extLst>
                  <a:ext uri="{FF2B5EF4-FFF2-40B4-BE49-F238E27FC236}">
                    <a16:creationId xmlns:a16="http://schemas.microsoft.com/office/drawing/2014/main" id="{E74E54F4-403A-4326-992F-72044EAA308A}"/>
                  </a:ext>
                </a:extLst>
              </p:cNvPr>
              <p:cNvSpPr txBox="1">
                <a:spLocks noRot="1" noChangeAspect="1" noMove="1" noResize="1" noEditPoints="1" noAdjustHandles="1" noChangeArrowheads="1" noChangeShapeType="1" noTextEdit="1"/>
              </p:cNvSpPr>
              <p:nvPr/>
            </p:nvSpPr>
            <p:spPr>
              <a:xfrm>
                <a:off x="573854" y="4763662"/>
                <a:ext cx="986573" cy="1534394"/>
              </a:xfrm>
              <a:prstGeom prst="rect">
                <a:avLst/>
              </a:prstGeom>
              <a:blipFill>
                <a:blip r:embed="rId5"/>
                <a:stretch>
                  <a:fillRect/>
                </a:stretch>
              </a:blipFill>
            </p:spPr>
            <p:txBody>
              <a:bodyPr/>
              <a:lstStyle/>
              <a:p>
                <a:r>
                  <a:rPr lang="es-CO">
                    <a:noFill/>
                  </a:rPr>
                  <a:t> </a:t>
                </a:r>
              </a:p>
            </p:txBody>
          </p:sp>
        </mc:Fallback>
      </mc:AlternateContent>
      <p:cxnSp>
        <p:nvCxnSpPr>
          <p:cNvPr id="13" name="Conector recto de flecha 12">
            <a:extLst>
              <a:ext uri="{FF2B5EF4-FFF2-40B4-BE49-F238E27FC236}">
                <a16:creationId xmlns:a16="http://schemas.microsoft.com/office/drawing/2014/main" id="{63D045B4-76BC-4E95-8AB3-FD79017383CD}"/>
              </a:ext>
            </a:extLst>
          </p:cNvPr>
          <p:cNvCxnSpPr>
            <a:cxnSpLocks/>
          </p:cNvCxnSpPr>
          <p:nvPr/>
        </p:nvCxnSpPr>
        <p:spPr>
          <a:xfrm>
            <a:off x="1637454" y="4919240"/>
            <a:ext cx="0" cy="1074058"/>
          </a:xfrm>
          <a:prstGeom prst="straightConnector1">
            <a:avLst/>
          </a:prstGeom>
          <a:ln w="28575">
            <a:solidFill>
              <a:srgbClr val="002060"/>
            </a:solidFill>
            <a:tailEnd type="triangle"/>
          </a:ln>
        </p:spPr>
        <p:style>
          <a:lnRef idx="1">
            <a:schemeClr val="accent2"/>
          </a:lnRef>
          <a:fillRef idx="0">
            <a:schemeClr val="accent2"/>
          </a:fillRef>
          <a:effectRef idx="0">
            <a:schemeClr val="accent2"/>
          </a:effectRef>
          <a:fontRef idx="minor">
            <a:schemeClr val="tx1"/>
          </a:fontRef>
        </p:style>
      </p:cxnSp>
      <p:sp>
        <p:nvSpPr>
          <p:cNvPr id="14" name="CuadroTexto 13">
            <a:extLst>
              <a:ext uri="{FF2B5EF4-FFF2-40B4-BE49-F238E27FC236}">
                <a16:creationId xmlns:a16="http://schemas.microsoft.com/office/drawing/2014/main" id="{617111FF-1899-48D4-9B21-E308F50EEDE9}"/>
              </a:ext>
            </a:extLst>
          </p:cNvPr>
          <p:cNvSpPr txBox="1"/>
          <p:nvPr/>
        </p:nvSpPr>
        <p:spPr>
          <a:xfrm>
            <a:off x="1791472" y="4977635"/>
            <a:ext cx="2420136" cy="1015663"/>
          </a:xfrm>
          <a:prstGeom prst="rect">
            <a:avLst/>
          </a:prstGeom>
          <a:noFill/>
        </p:spPr>
        <p:txBody>
          <a:bodyPr wrap="square" rtlCol="0">
            <a:spAutoFit/>
          </a:bodyPr>
          <a:lstStyle/>
          <a:p>
            <a:r>
              <a:rPr lang="es-CO" sz="2000" b="1" dirty="0">
                <a:solidFill>
                  <a:srgbClr val="002060"/>
                </a:solidFill>
              </a:rPr>
              <a:t>Transformaciones usando axiomas (Identidades Lógicas)</a:t>
            </a:r>
          </a:p>
        </p:txBody>
      </p:sp>
    </p:spTree>
    <p:extLst>
      <p:ext uri="{BB962C8B-B14F-4D97-AF65-F5344CB8AC3E}">
        <p14:creationId xmlns:p14="http://schemas.microsoft.com/office/powerpoint/2010/main" val="18027501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3AF66F-7D38-4DEC-A157-5A496140F1BF}"/>
              </a:ext>
            </a:extLst>
          </p:cNvPr>
          <p:cNvSpPr>
            <a:spLocks noGrp="1"/>
          </p:cNvSpPr>
          <p:nvPr>
            <p:ph type="title"/>
          </p:nvPr>
        </p:nvSpPr>
        <p:spPr>
          <a:xfrm>
            <a:off x="360218" y="226581"/>
            <a:ext cx="10993581" cy="1015664"/>
          </a:xfrm>
        </p:spPr>
        <p:txBody>
          <a:bodyPr/>
          <a:lstStyle/>
          <a:p>
            <a:r>
              <a:rPr lang="es-CO" dirty="0"/>
              <a:t>Demostraciones</a:t>
            </a:r>
          </a:p>
        </p:txBody>
      </p:sp>
      <p:sp>
        <p:nvSpPr>
          <p:cNvPr id="8" name="CuadroTexto 7">
            <a:extLst>
              <a:ext uri="{FF2B5EF4-FFF2-40B4-BE49-F238E27FC236}">
                <a16:creationId xmlns:a16="http://schemas.microsoft.com/office/drawing/2014/main" id="{4AA62499-0A79-4DB4-96F0-1187366C5807}"/>
              </a:ext>
            </a:extLst>
          </p:cNvPr>
          <p:cNvSpPr txBox="1"/>
          <p:nvPr/>
        </p:nvSpPr>
        <p:spPr>
          <a:xfrm>
            <a:off x="360218" y="1122130"/>
            <a:ext cx="11305310" cy="1015663"/>
          </a:xfrm>
          <a:prstGeom prst="rect">
            <a:avLst/>
          </a:prstGeom>
          <a:noFill/>
        </p:spPr>
        <p:txBody>
          <a:bodyPr wrap="square" rtlCol="0">
            <a:spAutoFit/>
          </a:bodyPr>
          <a:lstStyle/>
          <a:p>
            <a:pPr marL="457200" indent="-457200">
              <a:buFont typeface="Arial" panose="020B0604020202020204" pitchFamily="34" charset="0"/>
              <a:buChar char="•"/>
            </a:pPr>
            <a:r>
              <a:rPr lang="es-MX" sz="2000" dirty="0">
                <a:ea typeface="Roboto" panose="02000000000000000000" pitchFamily="2" charset="0"/>
              </a:rPr>
              <a:t>Para nuestro caso, las cosas no cambian demasiado con respecto a lo que ya sabemos. Solo cambia el dominio y las reglas de ese dominio.</a:t>
            </a:r>
          </a:p>
          <a:p>
            <a:pPr marL="457200" indent="-457200">
              <a:buFont typeface="Arial" panose="020B0604020202020204" pitchFamily="34" charset="0"/>
              <a:buChar char="•"/>
            </a:pPr>
            <a:r>
              <a:rPr lang="es-MX" sz="2000" dirty="0">
                <a:ea typeface="Roboto" panose="02000000000000000000" pitchFamily="2" charset="0"/>
              </a:rPr>
              <a:t>Identidades lógicas (Viene a ser el equivalente a nuestra carta magna)</a:t>
            </a:r>
          </a:p>
        </p:txBody>
      </p:sp>
      <p:sp>
        <p:nvSpPr>
          <p:cNvPr id="16" name="CuadroTexto 15">
            <a:extLst>
              <a:ext uri="{FF2B5EF4-FFF2-40B4-BE49-F238E27FC236}">
                <a16:creationId xmlns:a16="http://schemas.microsoft.com/office/drawing/2014/main" id="{66F4D630-7B40-4693-9E17-6E83313FC59D}"/>
              </a:ext>
            </a:extLst>
          </p:cNvPr>
          <p:cNvSpPr txBox="1"/>
          <p:nvPr/>
        </p:nvSpPr>
        <p:spPr>
          <a:xfrm>
            <a:off x="4738255" y="3888613"/>
            <a:ext cx="2978727" cy="646331"/>
          </a:xfrm>
          <a:prstGeom prst="rect">
            <a:avLst/>
          </a:prstGeom>
          <a:solidFill>
            <a:schemeClr val="accent5">
              <a:lumMod val="20000"/>
              <a:lumOff val="80000"/>
            </a:schemeClr>
          </a:solidFill>
          <a:ln>
            <a:solidFill>
              <a:schemeClr val="tx1"/>
            </a:solidFill>
          </a:ln>
        </p:spPr>
        <p:txBody>
          <a:bodyPr wrap="square" rtlCol="0">
            <a:spAutoFit/>
          </a:bodyPr>
          <a:lstStyle/>
          <a:p>
            <a:pPr algn="ctr"/>
            <a:r>
              <a:rPr lang="es-CO" sz="3600" b="1" dirty="0"/>
              <a:t>Demostración</a:t>
            </a:r>
          </a:p>
        </p:txBody>
      </p:sp>
      <p:sp>
        <p:nvSpPr>
          <p:cNvPr id="17" name="CuadroTexto 16">
            <a:extLst>
              <a:ext uri="{FF2B5EF4-FFF2-40B4-BE49-F238E27FC236}">
                <a16:creationId xmlns:a16="http://schemas.microsoft.com/office/drawing/2014/main" id="{DD2746F4-4932-4C4C-A646-69A811BFAE00}"/>
              </a:ext>
            </a:extLst>
          </p:cNvPr>
          <p:cNvSpPr txBox="1"/>
          <p:nvPr/>
        </p:nvSpPr>
        <p:spPr>
          <a:xfrm>
            <a:off x="8998526" y="2988252"/>
            <a:ext cx="2667001" cy="430887"/>
          </a:xfrm>
          <a:prstGeom prst="rect">
            <a:avLst/>
          </a:prstGeom>
          <a:noFill/>
          <a:ln>
            <a:solidFill>
              <a:schemeClr val="tx1"/>
            </a:solidFill>
          </a:ln>
        </p:spPr>
        <p:txBody>
          <a:bodyPr wrap="square" rtlCol="0">
            <a:spAutoFit/>
          </a:bodyPr>
          <a:lstStyle/>
          <a:p>
            <a:pPr algn="ctr"/>
            <a:r>
              <a:rPr lang="es-CO" sz="2200" b="1" dirty="0"/>
              <a:t>Enfoque Axiomático</a:t>
            </a:r>
          </a:p>
        </p:txBody>
      </p:sp>
      <p:sp>
        <p:nvSpPr>
          <p:cNvPr id="18" name="CuadroTexto 17">
            <a:extLst>
              <a:ext uri="{FF2B5EF4-FFF2-40B4-BE49-F238E27FC236}">
                <a16:creationId xmlns:a16="http://schemas.microsoft.com/office/drawing/2014/main" id="{2D1A7AAA-45B9-427F-9E21-EC4078B7943D}"/>
              </a:ext>
            </a:extLst>
          </p:cNvPr>
          <p:cNvSpPr txBox="1"/>
          <p:nvPr/>
        </p:nvSpPr>
        <p:spPr>
          <a:xfrm>
            <a:off x="8998527" y="4887432"/>
            <a:ext cx="2667000" cy="769441"/>
          </a:xfrm>
          <a:prstGeom prst="rect">
            <a:avLst/>
          </a:prstGeom>
          <a:noFill/>
          <a:ln>
            <a:solidFill>
              <a:schemeClr val="tx1"/>
            </a:solidFill>
          </a:ln>
        </p:spPr>
        <p:txBody>
          <a:bodyPr wrap="square" rtlCol="0">
            <a:spAutoFit/>
          </a:bodyPr>
          <a:lstStyle/>
          <a:p>
            <a:pPr algn="ctr"/>
            <a:r>
              <a:rPr lang="es-CO" sz="2200" b="1" dirty="0"/>
              <a:t>Enfoque Basado en modelos</a:t>
            </a:r>
          </a:p>
        </p:txBody>
      </p:sp>
      <p:sp>
        <p:nvSpPr>
          <p:cNvPr id="19" name="CuadroTexto 18">
            <a:extLst>
              <a:ext uri="{FF2B5EF4-FFF2-40B4-BE49-F238E27FC236}">
                <a16:creationId xmlns:a16="http://schemas.microsoft.com/office/drawing/2014/main" id="{30F61763-2916-46EF-AB40-C4FC7ECDB6DF}"/>
              </a:ext>
            </a:extLst>
          </p:cNvPr>
          <p:cNvSpPr txBox="1"/>
          <p:nvPr/>
        </p:nvSpPr>
        <p:spPr>
          <a:xfrm>
            <a:off x="1724889" y="2927290"/>
            <a:ext cx="1901534" cy="430887"/>
          </a:xfrm>
          <a:prstGeom prst="rect">
            <a:avLst/>
          </a:prstGeom>
          <a:solidFill>
            <a:schemeClr val="accent6">
              <a:lumMod val="20000"/>
              <a:lumOff val="80000"/>
            </a:schemeClr>
          </a:solidFill>
          <a:ln>
            <a:solidFill>
              <a:schemeClr val="tx1"/>
            </a:solidFill>
          </a:ln>
        </p:spPr>
        <p:txBody>
          <a:bodyPr wrap="square" rtlCol="0">
            <a:spAutoFit/>
          </a:bodyPr>
          <a:lstStyle/>
          <a:p>
            <a:pPr algn="ctr"/>
            <a:r>
              <a:rPr lang="es-CO" sz="2200" b="1" dirty="0"/>
              <a:t>Equivalencia</a:t>
            </a:r>
          </a:p>
        </p:txBody>
      </p:sp>
      <p:sp>
        <p:nvSpPr>
          <p:cNvPr id="20" name="CuadroTexto 19">
            <a:extLst>
              <a:ext uri="{FF2B5EF4-FFF2-40B4-BE49-F238E27FC236}">
                <a16:creationId xmlns:a16="http://schemas.microsoft.com/office/drawing/2014/main" id="{64981F73-FF47-45B6-80FA-6E4BD7D3C2D0}"/>
              </a:ext>
            </a:extLst>
          </p:cNvPr>
          <p:cNvSpPr txBox="1"/>
          <p:nvPr/>
        </p:nvSpPr>
        <p:spPr>
          <a:xfrm>
            <a:off x="1724888" y="5018124"/>
            <a:ext cx="1901535" cy="430887"/>
          </a:xfrm>
          <a:prstGeom prst="rect">
            <a:avLst/>
          </a:prstGeom>
          <a:solidFill>
            <a:schemeClr val="accent6">
              <a:lumMod val="20000"/>
              <a:lumOff val="80000"/>
            </a:schemeClr>
          </a:solidFill>
          <a:ln>
            <a:solidFill>
              <a:schemeClr val="tx1"/>
            </a:solidFill>
          </a:ln>
        </p:spPr>
        <p:txBody>
          <a:bodyPr wrap="square" rtlCol="0">
            <a:spAutoFit/>
          </a:bodyPr>
          <a:lstStyle/>
          <a:p>
            <a:pPr algn="ctr"/>
            <a:r>
              <a:rPr lang="es-CO" sz="2200" b="1" dirty="0"/>
              <a:t>Validez</a:t>
            </a:r>
          </a:p>
        </p:txBody>
      </p:sp>
      <p:cxnSp>
        <p:nvCxnSpPr>
          <p:cNvPr id="21" name="Conector: angular 20">
            <a:extLst>
              <a:ext uri="{FF2B5EF4-FFF2-40B4-BE49-F238E27FC236}">
                <a16:creationId xmlns:a16="http://schemas.microsoft.com/office/drawing/2014/main" id="{0785B9CB-7F02-4228-84BC-3B66BAD9BD2E}"/>
              </a:ext>
            </a:extLst>
          </p:cNvPr>
          <p:cNvCxnSpPr>
            <a:cxnSpLocks/>
            <a:stCxn id="16" idx="1"/>
            <a:endCxn id="20" idx="3"/>
          </p:cNvCxnSpPr>
          <p:nvPr/>
        </p:nvCxnSpPr>
        <p:spPr>
          <a:xfrm rot="10800000" flipV="1">
            <a:off x="3626423" y="4211778"/>
            <a:ext cx="1111832" cy="1021789"/>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ector: angular 22">
            <a:extLst>
              <a:ext uri="{FF2B5EF4-FFF2-40B4-BE49-F238E27FC236}">
                <a16:creationId xmlns:a16="http://schemas.microsoft.com/office/drawing/2014/main" id="{79237641-F66F-46AA-B073-9D1DCE4AF05E}"/>
              </a:ext>
            </a:extLst>
          </p:cNvPr>
          <p:cNvCxnSpPr>
            <a:cxnSpLocks/>
            <a:stCxn id="16" idx="1"/>
            <a:endCxn id="19" idx="3"/>
          </p:cNvCxnSpPr>
          <p:nvPr/>
        </p:nvCxnSpPr>
        <p:spPr>
          <a:xfrm rot="10800000">
            <a:off x="3626423" y="3142735"/>
            <a:ext cx="1111832" cy="1069045"/>
          </a:xfrm>
          <a:prstGeom prst="bent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ector: angular 23">
            <a:extLst>
              <a:ext uri="{FF2B5EF4-FFF2-40B4-BE49-F238E27FC236}">
                <a16:creationId xmlns:a16="http://schemas.microsoft.com/office/drawing/2014/main" id="{3FE09B01-69E2-4B9A-8C59-121D8993E8A4}"/>
              </a:ext>
            </a:extLst>
          </p:cNvPr>
          <p:cNvCxnSpPr>
            <a:cxnSpLocks/>
            <a:stCxn id="16" idx="3"/>
            <a:endCxn id="17" idx="1"/>
          </p:cNvCxnSpPr>
          <p:nvPr/>
        </p:nvCxnSpPr>
        <p:spPr>
          <a:xfrm flipV="1">
            <a:off x="7716982" y="3203696"/>
            <a:ext cx="1281544" cy="1008083"/>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ector: angular 25">
            <a:extLst>
              <a:ext uri="{FF2B5EF4-FFF2-40B4-BE49-F238E27FC236}">
                <a16:creationId xmlns:a16="http://schemas.microsoft.com/office/drawing/2014/main" id="{07C61AB9-85A4-4345-8204-F3C9F8583CD0}"/>
              </a:ext>
            </a:extLst>
          </p:cNvPr>
          <p:cNvCxnSpPr>
            <a:cxnSpLocks/>
            <a:stCxn id="16" idx="3"/>
            <a:endCxn id="18" idx="1"/>
          </p:cNvCxnSpPr>
          <p:nvPr/>
        </p:nvCxnSpPr>
        <p:spPr>
          <a:xfrm>
            <a:off x="7716982" y="4211779"/>
            <a:ext cx="1281545" cy="1060374"/>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CuadroTexto 26">
            <a:extLst>
              <a:ext uri="{FF2B5EF4-FFF2-40B4-BE49-F238E27FC236}">
                <a16:creationId xmlns:a16="http://schemas.microsoft.com/office/drawing/2014/main" id="{74E0852B-BDC1-4736-820A-77C4D48A77D3}"/>
              </a:ext>
            </a:extLst>
          </p:cNvPr>
          <p:cNvSpPr txBox="1"/>
          <p:nvPr/>
        </p:nvSpPr>
        <p:spPr>
          <a:xfrm>
            <a:off x="9500056" y="5758473"/>
            <a:ext cx="1745221" cy="307777"/>
          </a:xfrm>
          <a:prstGeom prst="rect">
            <a:avLst/>
          </a:prstGeom>
          <a:noFill/>
        </p:spPr>
        <p:txBody>
          <a:bodyPr wrap="none" lIns="0" tIns="0" rIns="0" bIns="0" rtlCol="0">
            <a:spAutoFit/>
          </a:bodyPr>
          <a:lstStyle/>
          <a:p>
            <a:r>
              <a:rPr lang="es-CO" sz="2000" dirty="0"/>
              <a:t>Tablas de verdad</a:t>
            </a:r>
          </a:p>
        </p:txBody>
      </p:sp>
      <p:sp>
        <p:nvSpPr>
          <p:cNvPr id="28" name="CuadroTexto 27">
            <a:extLst>
              <a:ext uri="{FF2B5EF4-FFF2-40B4-BE49-F238E27FC236}">
                <a16:creationId xmlns:a16="http://schemas.microsoft.com/office/drawing/2014/main" id="{25A83356-9726-4DA4-AF2D-DF53289F1E9A}"/>
              </a:ext>
            </a:extLst>
          </p:cNvPr>
          <p:cNvSpPr txBox="1"/>
          <p:nvPr/>
        </p:nvSpPr>
        <p:spPr>
          <a:xfrm>
            <a:off x="8828815" y="3596819"/>
            <a:ext cx="3087705" cy="307777"/>
          </a:xfrm>
          <a:prstGeom prst="rect">
            <a:avLst/>
          </a:prstGeom>
          <a:noFill/>
        </p:spPr>
        <p:txBody>
          <a:bodyPr wrap="none" lIns="0" tIns="0" rIns="0" bIns="0" rtlCol="0">
            <a:spAutoFit/>
          </a:bodyPr>
          <a:lstStyle/>
          <a:p>
            <a:r>
              <a:rPr lang="es-CO" sz="2000" dirty="0"/>
              <a:t>Axiomas / Identidades lógicas</a:t>
            </a:r>
          </a:p>
        </p:txBody>
      </p:sp>
      <p:sp>
        <p:nvSpPr>
          <p:cNvPr id="29" name="CuadroTexto 28">
            <a:extLst>
              <a:ext uri="{FF2B5EF4-FFF2-40B4-BE49-F238E27FC236}">
                <a16:creationId xmlns:a16="http://schemas.microsoft.com/office/drawing/2014/main" id="{BEEEAE90-D87C-4951-AD02-C7EC829F2E41}"/>
              </a:ext>
            </a:extLst>
          </p:cNvPr>
          <p:cNvSpPr txBox="1"/>
          <p:nvPr/>
        </p:nvSpPr>
        <p:spPr>
          <a:xfrm>
            <a:off x="4653400" y="3026839"/>
            <a:ext cx="2978727" cy="646331"/>
          </a:xfrm>
          <a:prstGeom prst="rect">
            <a:avLst/>
          </a:prstGeom>
          <a:noFill/>
        </p:spPr>
        <p:txBody>
          <a:bodyPr wrap="square">
            <a:spAutoFit/>
          </a:bodyPr>
          <a:lstStyle/>
          <a:p>
            <a:r>
              <a:rPr lang="es-MX" dirty="0"/>
              <a:t>Hoy trabajamos la rama de Equivalencia</a:t>
            </a:r>
            <a:endParaRPr lang="es-CO" dirty="0"/>
          </a:p>
        </p:txBody>
      </p:sp>
      <p:sp>
        <p:nvSpPr>
          <p:cNvPr id="30" name="Explosión: 14 puntos 29">
            <a:extLst>
              <a:ext uri="{FF2B5EF4-FFF2-40B4-BE49-F238E27FC236}">
                <a16:creationId xmlns:a16="http://schemas.microsoft.com/office/drawing/2014/main" id="{FAA58ED7-F631-429D-9148-8E61118BAFA2}"/>
              </a:ext>
            </a:extLst>
          </p:cNvPr>
          <p:cNvSpPr/>
          <p:nvPr/>
        </p:nvSpPr>
        <p:spPr>
          <a:xfrm>
            <a:off x="85289" y="4137070"/>
            <a:ext cx="1639598" cy="1963798"/>
          </a:xfrm>
          <a:prstGeom prst="irregularSeal2">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b="1" dirty="0">
                <a:solidFill>
                  <a:schemeClr val="tx1"/>
                </a:solidFill>
              </a:rPr>
              <a:t>Clase de hoy</a:t>
            </a:r>
            <a:endParaRPr lang="es-CO" b="1" dirty="0">
              <a:solidFill>
                <a:schemeClr val="tx1"/>
              </a:solidFill>
            </a:endParaRPr>
          </a:p>
        </p:txBody>
      </p:sp>
    </p:spTree>
    <p:extLst>
      <p:ext uri="{BB962C8B-B14F-4D97-AF65-F5344CB8AC3E}">
        <p14:creationId xmlns:p14="http://schemas.microsoft.com/office/powerpoint/2010/main" val="11062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471948" y="211537"/>
            <a:ext cx="10515600" cy="785089"/>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Validación de argumentos</a:t>
            </a:r>
            <a:endParaRPr dirty="0"/>
          </a:p>
        </p:txBody>
      </p:sp>
      <p:sp>
        <p:nvSpPr>
          <p:cNvPr id="8" name="Google Shape;310;p34">
            <a:extLst>
              <a:ext uri="{FF2B5EF4-FFF2-40B4-BE49-F238E27FC236}">
                <a16:creationId xmlns:a16="http://schemas.microsoft.com/office/drawing/2014/main" id="{1CEC3261-5DE9-4F87-9327-23EF737056D6}"/>
              </a:ext>
            </a:extLst>
          </p:cNvPr>
          <p:cNvSpPr txBox="1">
            <a:spLocks/>
          </p:cNvSpPr>
          <p:nvPr/>
        </p:nvSpPr>
        <p:spPr>
          <a:xfrm>
            <a:off x="471948" y="955999"/>
            <a:ext cx="11326761" cy="569046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None/>
            </a:pPr>
            <a:r>
              <a:rPr lang="es-MX" sz="2400" b="1" dirty="0">
                <a:solidFill>
                  <a:srgbClr val="002060"/>
                </a:solidFill>
                <a:latin typeface="+mn-lt"/>
              </a:rPr>
              <a:t>Cuestiones importantes en Matemáticas (y prácticamente para cualquier cosa) </a:t>
            </a:r>
          </a:p>
          <a:p>
            <a:pPr indent="-457200">
              <a:buFont typeface="+mj-lt"/>
              <a:buAutoNum type="arabicPeriod"/>
            </a:pPr>
            <a:r>
              <a:rPr lang="es-MX" sz="2200" dirty="0">
                <a:latin typeface="+mn-lt"/>
              </a:rPr>
              <a:t>¿Cuándo un argumento Matemático es correcto?</a:t>
            </a:r>
          </a:p>
          <a:p>
            <a:pPr indent="-457200">
              <a:buFont typeface="+mj-lt"/>
              <a:buAutoNum type="arabicPeriod"/>
            </a:pPr>
            <a:endParaRPr lang="es-MX" sz="2200" dirty="0">
              <a:latin typeface="+mn-lt"/>
            </a:endParaRPr>
          </a:p>
          <a:p>
            <a:pPr indent="-457200">
              <a:buFont typeface="+mj-lt"/>
              <a:buAutoNum type="arabicPeriod"/>
            </a:pPr>
            <a:endParaRPr lang="es-MX" sz="2200" dirty="0">
              <a:latin typeface="+mn-lt"/>
            </a:endParaRPr>
          </a:p>
          <a:p>
            <a:pPr indent="-457200">
              <a:buFont typeface="+mj-lt"/>
              <a:buAutoNum type="arabicPeriod"/>
            </a:pPr>
            <a:endParaRPr lang="es-MX" sz="2200" dirty="0">
              <a:latin typeface="+mn-lt"/>
            </a:endParaRPr>
          </a:p>
          <a:p>
            <a:pPr indent="-457200">
              <a:buFont typeface="+mj-lt"/>
              <a:buAutoNum type="arabicPeriod"/>
            </a:pPr>
            <a:endParaRPr lang="es-MX" sz="2200" dirty="0">
              <a:latin typeface="+mn-lt"/>
            </a:endParaRPr>
          </a:p>
          <a:p>
            <a:pPr indent="-457200">
              <a:buFont typeface="+mj-lt"/>
              <a:buAutoNum type="arabicPeriod"/>
            </a:pPr>
            <a:endParaRPr lang="es-MX" sz="2200" dirty="0">
              <a:latin typeface="+mn-lt"/>
            </a:endParaRPr>
          </a:p>
          <a:p>
            <a:pPr indent="-457200">
              <a:buFont typeface="+mj-lt"/>
              <a:buAutoNum type="arabicPeriod"/>
            </a:pPr>
            <a:endParaRPr lang="es-MX" sz="2200" dirty="0">
              <a:latin typeface="+mn-lt"/>
            </a:endParaRPr>
          </a:p>
          <a:p>
            <a:pPr indent="-457200">
              <a:buFont typeface="+mj-lt"/>
              <a:buAutoNum type="arabicPeriod"/>
            </a:pPr>
            <a:endParaRPr lang="es-MX" sz="2200" dirty="0">
              <a:latin typeface="+mn-lt"/>
            </a:endParaRPr>
          </a:p>
          <a:p>
            <a:pPr indent="-457200">
              <a:buFont typeface="+mj-lt"/>
              <a:buAutoNum type="arabicPeriod"/>
            </a:pPr>
            <a:endParaRPr lang="es-MX" sz="2200" dirty="0">
              <a:latin typeface="+mn-lt"/>
            </a:endParaRPr>
          </a:p>
          <a:p>
            <a:pPr indent="-457200">
              <a:buFont typeface="+mj-lt"/>
              <a:buAutoNum type="arabicPeriod"/>
            </a:pPr>
            <a:r>
              <a:rPr lang="es-MX" sz="2200" dirty="0">
                <a:latin typeface="+mn-lt"/>
              </a:rPr>
              <a:t>¿Qué métodos se emplean para construir argumentos matemáticos?</a:t>
            </a:r>
          </a:p>
          <a:p>
            <a:pPr lvl="1" indent="-457200"/>
            <a:r>
              <a:rPr lang="es-MX" b="1" dirty="0">
                <a:latin typeface="+mn-lt"/>
              </a:rPr>
              <a:t>Enfoque basado en modelos</a:t>
            </a:r>
          </a:p>
          <a:p>
            <a:pPr lvl="1" indent="-457200"/>
            <a:r>
              <a:rPr lang="es-MX" b="1" dirty="0">
                <a:latin typeface="+mn-lt"/>
              </a:rPr>
              <a:t>Enfoque axiomático</a:t>
            </a:r>
          </a:p>
        </p:txBody>
      </p:sp>
      <p:sp>
        <p:nvSpPr>
          <p:cNvPr id="2" name="CuadroTexto 1">
            <a:extLst>
              <a:ext uri="{FF2B5EF4-FFF2-40B4-BE49-F238E27FC236}">
                <a16:creationId xmlns:a16="http://schemas.microsoft.com/office/drawing/2014/main" id="{AC99C66F-3381-49BE-A492-C30ADCBD39AA}"/>
              </a:ext>
            </a:extLst>
          </p:cNvPr>
          <p:cNvSpPr txBox="1"/>
          <p:nvPr/>
        </p:nvSpPr>
        <p:spPr>
          <a:xfrm>
            <a:off x="2187821" y="2079040"/>
            <a:ext cx="2500043" cy="400110"/>
          </a:xfrm>
          <a:prstGeom prst="rect">
            <a:avLst/>
          </a:prstGeom>
          <a:noFill/>
        </p:spPr>
        <p:txBody>
          <a:bodyPr wrap="none" rtlCol="0">
            <a:spAutoFit/>
          </a:bodyPr>
          <a:lstStyle/>
          <a:p>
            <a:r>
              <a:rPr lang="es-CO" sz="2000" b="1" dirty="0"/>
              <a:t>Expresión condicional</a:t>
            </a:r>
          </a:p>
        </p:txBody>
      </p:sp>
      <mc:AlternateContent xmlns:mc="http://schemas.openxmlformats.org/markup-compatibility/2006" xmlns:a14="http://schemas.microsoft.com/office/drawing/2010/main">
        <mc:Choice Requires="a14">
          <p:graphicFrame>
            <p:nvGraphicFramePr>
              <p:cNvPr id="6" name="Tabla 5">
                <a:extLst>
                  <a:ext uri="{FF2B5EF4-FFF2-40B4-BE49-F238E27FC236}">
                    <a16:creationId xmlns:a16="http://schemas.microsoft.com/office/drawing/2014/main" id="{5DD2C4E1-D0CD-4887-801D-5FFCFC02DFF3}"/>
                  </a:ext>
                </a:extLst>
              </p:cNvPr>
              <p:cNvGraphicFramePr>
                <a:graphicFrameLocks noGrp="1"/>
              </p:cNvGraphicFramePr>
              <p:nvPr>
                <p:extLst>
                  <p:ext uri="{D42A27DB-BD31-4B8C-83A1-F6EECF244321}">
                    <p14:modId xmlns:p14="http://schemas.microsoft.com/office/powerpoint/2010/main" val="2899877864"/>
                  </p:ext>
                </p:extLst>
              </p:nvPr>
            </p:nvGraphicFramePr>
            <p:xfrm>
              <a:off x="6518750" y="2230599"/>
              <a:ext cx="5201303" cy="1828800"/>
            </p:xfrm>
            <a:graphic>
              <a:graphicData uri="http://schemas.openxmlformats.org/drawingml/2006/table">
                <a:tbl>
                  <a:tblPr firstRow="1" bandRow="1">
                    <a:tableStyleId>{AD6A3598-7CB8-4345-8D95-17CE05F158A0}</a:tableStyleId>
                  </a:tblPr>
                  <a:tblGrid>
                    <a:gridCol w="2103654">
                      <a:extLst>
                        <a:ext uri="{9D8B030D-6E8A-4147-A177-3AD203B41FA5}">
                          <a16:colId xmlns:a16="http://schemas.microsoft.com/office/drawing/2014/main" val="490870258"/>
                        </a:ext>
                      </a:extLst>
                    </a:gridCol>
                    <a:gridCol w="2103654">
                      <a:extLst>
                        <a:ext uri="{9D8B030D-6E8A-4147-A177-3AD203B41FA5}">
                          <a16:colId xmlns:a16="http://schemas.microsoft.com/office/drawing/2014/main" val="1397687665"/>
                        </a:ext>
                      </a:extLst>
                    </a:gridCol>
                    <a:gridCol w="993995">
                      <a:extLst>
                        <a:ext uri="{9D8B030D-6E8A-4147-A177-3AD203B41FA5}">
                          <a16:colId xmlns:a16="http://schemas.microsoft.com/office/drawing/2014/main" val="3269965761"/>
                        </a:ext>
                      </a:extLst>
                    </a:gridCol>
                  </a:tblGrid>
                  <a:tr h="21400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 xmlns:m="http://schemas.openxmlformats.org/officeDocument/2006/math">
                              <m:r>
                                <a:rPr lang="es-MX" sz="1800" b="1" i="1" smtClean="0">
                                  <a:solidFill>
                                    <a:schemeClr val="bg1"/>
                                  </a:solidFill>
                                  <a:latin typeface="Cambria Math" panose="02040503050406030204" pitchFamily="18" charset="0"/>
                                  <a:ea typeface="Roboto" panose="02000000000000000000" pitchFamily="2" charset="0"/>
                                </a:rPr>
                                <m:t>𝑷</m:t>
                              </m:r>
                              <m:r>
                                <a:rPr lang="es-MX" sz="1800" b="1" i="1" smtClean="0">
                                  <a:solidFill>
                                    <a:schemeClr val="bg1"/>
                                  </a:solidFill>
                                  <a:latin typeface="Cambria Math" panose="02040503050406030204" pitchFamily="18" charset="0"/>
                                  <a:ea typeface="Roboto" panose="02000000000000000000" pitchFamily="2" charset="0"/>
                                </a:rPr>
                                <m:t> </m:t>
                              </m:r>
                              <m:r>
                                <a:rPr lang="es-MX" sz="1800" b="1" i="0" smtClean="0">
                                  <a:solidFill>
                                    <a:schemeClr val="bg1"/>
                                  </a:solidFill>
                                  <a:latin typeface="Cambria Math" panose="02040503050406030204" pitchFamily="18" charset="0"/>
                                  <a:ea typeface="Roboto" panose="02000000000000000000" pitchFamily="2" charset="0"/>
                                </a:rPr>
                                <m:t>(</m:t>
                              </m:r>
                              <m:r>
                                <a:rPr lang="es-MX" sz="1800" b="1" i="0" smtClean="0">
                                  <a:solidFill>
                                    <a:schemeClr val="bg1"/>
                                  </a:solidFill>
                                  <a:latin typeface="Cambria Math" panose="02040503050406030204" pitchFamily="18" charset="0"/>
                                  <a:ea typeface="Roboto" panose="02000000000000000000" pitchFamily="2" charset="0"/>
                                </a:rPr>
                                <m:t>𝐏𝐫𝐞𝐦𝐢𝐬𝐚</m:t>
                              </m:r>
                              <m:r>
                                <a:rPr lang="es-MX" sz="1800" b="1" i="0" smtClean="0">
                                  <a:solidFill>
                                    <a:schemeClr val="bg1"/>
                                  </a:solidFill>
                                  <a:latin typeface="Cambria Math" panose="02040503050406030204" pitchFamily="18" charset="0"/>
                                  <a:ea typeface="Roboto" panose="02000000000000000000" pitchFamily="2" charset="0"/>
                                </a:rPr>
                                <m:t>)</m:t>
                              </m:r>
                            </m:oMath>
                          </a14:m>
                          <a:r>
                            <a:rPr lang="es-CO" sz="1800" b="1" dirty="0">
                              <a:solidFill>
                                <a:schemeClr val="bg1"/>
                              </a:solidFill>
                              <a:latin typeface="Roboto" panose="02000000000000000000" pitchFamily="2" charset="0"/>
                              <a:ea typeface="Roboto" panose="02000000000000000000" pitchFamily="2" charset="0"/>
                            </a:rPr>
                            <a:t> </a:t>
                          </a:r>
                        </a:p>
                      </a:txBody>
                      <a:tcPr>
                        <a:solidFill>
                          <a:schemeClr val="tx1"/>
                        </a:solidFill>
                      </a:tcPr>
                    </a:tc>
                    <a:tc>
                      <a:txBody>
                        <a:bodyPr/>
                        <a:lstStyle/>
                        <a:p>
                          <a:pPr/>
                          <a14:m>
                            <m:oMathPara xmlns:m="http://schemas.openxmlformats.org/officeDocument/2006/math">
                              <m:oMathParaPr>
                                <m:jc m:val="center"/>
                              </m:oMathParaPr>
                              <m:oMath xmlns:m="http://schemas.openxmlformats.org/officeDocument/2006/math">
                                <m:r>
                                  <a:rPr lang="es-MX" sz="1800" b="1" i="1" smtClean="0">
                                    <a:solidFill>
                                      <a:schemeClr val="bg1"/>
                                    </a:solidFill>
                                    <a:latin typeface="Cambria Math" panose="02040503050406030204" pitchFamily="18" charset="0"/>
                                    <a:ea typeface="Roboto" panose="02000000000000000000" pitchFamily="2" charset="0"/>
                                  </a:rPr>
                                  <m:t>𝑸</m:t>
                                </m:r>
                                <m:r>
                                  <a:rPr lang="es-MX" sz="1800" b="1" i="0" smtClean="0">
                                    <a:solidFill>
                                      <a:schemeClr val="bg1"/>
                                    </a:solidFill>
                                    <a:latin typeface="Cambria Math" panose="02040503050406030204" pitchFamily="18" charset="0"/>
                                    <a:ea typeface="Roboto" panose="02000000000000000000" pitchFamily="2" charset="0"/>
                                  </a:rPr>
                                  <m:t> (</m:t>
                                </m:r>
                                <m:r>
                                  <a:rPr lang="es-MX" sz="1800" b="1" i="0" smtClean="0">
                                    <a:solidFill>
                                      <a:schemeClr val="bg1"/>
                                    </a:solidFill>
                                    <a:latin typeface="Cambria Math" panose="02040503050406030204" pitchFamily="18" charset="0"/>
                                    <a:ea typeface="Roboto" panose="02000000000000000000" pitchFamily="2" charset="0"/>
                                  </a:rPr>
                                  <m:t>𝐂𝐨𝐧𝐜𝐥𝐮𝐬𝐢</m:t>
                                </m:r>
                                <m:r>
                                  <a:rPr lang="es-MX" sz="1800" b="1" i="0" smtClean="0">
                                    <a:solidFill>
                                      <a:schemeClr val="bg1"/>
                                    </a:solidFill>
                                    <a:latin typeface="Cambria Math" panose="02040503050406030204" pitchFamily="18" charset="0"/>
                                    <a:ea typeface="Roboto" panose="02000000000000000000" pitchFamily="2" charset="0"/>
                                  </a:rPr>
                                  <m:t>ó</m:t>
                                </m:r>
                                <m:r>
                                  <a:rPr lang="es-MX" sz="1800" b="1" i="0" smtClean="0">
                                    <a:solidFill>
                                      <a:schemeClr val="bg1"/>
                                    </a:solidFill>
                                    <a:latin typeface="Cambria Math" panose="02040503050406030204" pitchFamily="18" charset="0"/>
                                    <a:ea typeface="Roboto" panose="02000000000000000000" pitchFamily="2" charset="0"/>
                                  </a:rPr>
                                  <m:t>𝐧</m:t>
                                </m:r>
                                <m:r>
                                  <a:rPr lang="es-MX" sz="1800" b="1" i="0" smtClean="0">
                                    <a:solidFill>
                                      <a:schemeClr val="bg1"/>
                                    </a:solidFill>
                                    <a:latin typeface="Cambria Math" panose="02040503050406030204" pitchFamily="18" charset="0"/>
                                    <a:ea typeface="Roboto" panose="02000000000000000000" pitchFamily="2" charset="0"/>
                                  </a:rPr>
                                  <m:t>)</m:t>
                                </m:r>
                              </m:oMath>
                            </m:oMathPara>
                          </a14:m>
                          <a:endParaRPr lang="es-CO" sz="1800" b="1" dirty="0">
                            <a:solidFill>
                              <a:schemeClr val="bg1"/>
                            </a:solidFill>
                            <a:latin typeface="Roboto" panose="02000000000000000000" pitchFamily="2" charset="0"/>
                            <a:ea typeface="Roboto" panose="02000000000000000000" pitchFamily="2" charset="0"/>
                          </a:endParaRPr>
                        </a:p>
                      </a:txBody>
                      <a:tcPr>
                        <a:solidFill>
                          <a:schemeClr val="tx1"/>
                        </a:solidFill>
                      </a:tcPr>
                    </a:tc>
                    <a:tc>
                      <a:txBody>
                        <a:bodyPr/>
                        <a:lstStyle/>
                        <a:p>
                          <a:pPr/>
                          <a14:m>
                            <m:oMathPara xmlns:m="http://schemas.openxmlformats.org/officeDocument/2006/math">
                              <m:oMathParaPr>
                                <m:jc m:val="center"/>
                              </m:oMathParaPr>
                              <m:oMath xmlns:m="http://schemas.openxmlformats.org/officeDocument/2006/math">
                                <m:r>
                                  <a:rPr lang="es-MX" sz="1800" b="1" i="1" smtClean="0">
                                    <a:solidFill>
                                      <a:schemeClr val="bg1"/>
                                    </a:solidFill>
                                    <a:latin typeface="Cambria Math" panose="02040503050406030204" pitchFamily="18" charset="0"/>
                                    <a:ea typeface="Roboto" panose="02000000000000000000" pitchFamily="2" charset="0"/>
                                  </a:rPr>
                                  <m:t>𝑷</m:t>
                                </m:r>
                                <m:r>
                                  <a:rPr lang="es-MX" sz="1800" b="1" i="1" smtClean="0">
                                    <a:solidFill>
                                      <a:schemeClr val="bg1"/>
                                    </a:solidFill>
                                    <a:latin typeface="Cambria Math" panose="02040503050406030204" pitchFamily="18" charset="0"/>
                                    <a:ea typeface="Cambria Math" panose="02040503050406030204" pitchFamily="18" charset="0"/>
                                  </a:rPr>
                                  <m:t>→</m:t>
                                </m:r>
                                <m:r>
                                  <a:rPr lang="es-MX" sz="1800" b="1" i="1" smtClean="0">
                                    <a:solidFill>
                                      <a:schemeClr val="bg1"/>
                                    </a:solidFill>
                                    <a:latin typeface="Cambria Math" panose="02040503050406030204" pitchFamily="18" charset="0"/>
                                    <a:ea typeface="Cambria Math" panose="02040503050406030204" pitchFamily="18" charset="0"/>
                                  </a:rPr>
                                  <m:t>𝑸</m:t>
                                </m:r>
                              </m:oMath>
                            </m:oMathPara>
                          </a14:m>
                          <a:endParaRPr lang="es-CO" sz="1800" b="1" dirty="0">
                            <a:solidFill>
                              <a:schemeClr val="bg1"/>
                            </a:solidFill>
                            <a:latin typeface="Roboto" panose="02000000000000000000" pitchFamily="2" charset="0"/>
                            <a:ea typeface="Roboto" panose="02000000000000000000" pitchFamily="2" charset="0"/>
                          </a:endParaRPr>
                        </a:p>
                      </a:txBody>
                      <a:tcPr>
                        <a:solidFill>
                          <a:schemeClr val="tx1"/>
                        </a:solidFill>
                      </a:tcPr>
                    </a:tc>
                    <a:extLst>
                      <a:ext uri="{0D108BD9-81ED-4DB2-BD59-A6C34878D82A}">
                        <a16:rowId xmlns:a16="http://schemas.microsoft.com/office/drawing/2014/main" val="1656120320"/>
                      </a:ext>
                    </a:extLst>
                  </a:tr>
                  <a:tr h="21400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𝐹</m:t>
                                </m:r>
                              </m:oMath>
                            </m:oMathPara>
                          </a14:m>
                          <a:endParaRPr lang="es-CO" sz="18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𝐹</m:t>
                                </m:r>
                              </m:oMath>
                            </m:oMathPara>
                          </a14:m>
                          <a:endParaRPr lang="es-CO" sz="18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𝑉</m:t>
                                </m:r>
                              </m:oMath>
                            </m:oMathPara>
                          </a14:m>
                          <a:endParaRPr lang="es-CO" sz="18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384399998"/>
                      </a:ext>
                    </a:extLst>
                  </a:tr>
                  <a:tr h="214002">
                    <a:tc>
                      <a:txBody>
                        <a:bodyPr/>
                        <a:lstStyle/>
                        <a:p>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𝐹</m:t>
                                </m:r>
                              </m:oMath>
                            </m:oMathPara>
                          </a14:m>
                          <a:endParaRPr lang="es-CO" sz="18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𝑉</m:t>
                                </m:r>
                              </m:oMath>
                            </m:oMathPara>
                          </a14:m>
                          <a:endParaRPr lang="es-CO" sz="18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Cambria Math" panose="02040503050406030204" pitchFamily="18" charset="0"/>
                                  </a:rPr>
                                  <m:t>𝑉</m:t>
                                </m:r>
                              </m:oMath>
                            </m:oMathPara>
                          </a14:m>
                          <a:endParaRPr lang="es-CO" sz="18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723033547"/>
                      </a:ext>
                    </a:extLst>
                  </a:tr>
                  <a:tr h="21400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𝑉</m:t>
                                </m:r>
                              </m:oMath>
                            </m:oMathPara>
                          </a14:m>
                          <a:endParaRPr lang="es-CO" sz="1800" dirty="0">
                            <a:latin typeface="Roboto" panose="02000000000000000000" pitchFamily="2" charset="0"/>
                            <a:ea typeface="Roboto" panose="02000000000000000000" pitchFamily="2" charset="0"/>
                          </a:endParaRPr>
                        </a:p>
                      </a:txBody>
                      <a:tcPr>
                        <a:solidFill>
                          <a:schemeClr val="accent2">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𝐹</m:t>
                                </m:r>
                              </m:oMath>
                            </m:oMathPara>
                          </a14:m>
                          <a:endParaRPr lang="es-CO" sz="1800" dirty="0">
                            <a:latin typeface="Roboto" panose="02000000000000000000" pitchFamily="2" charset="0"/>
                            <a:ea typeface="Roboto" panose="02000000000000000000" pitchFamily="2" charset="0"/>
                          </a:endParaRPr>
                        </a:p>
                      </a:txBody>
                      <a:tcP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𝐹</m:t>
                                </m:r>
                              </m:oMath>
                            </m:oMathPara>
                          </a14:m>
                          <a:endParaRPr lang="es-CO" sz="1800" dirty="0">
                            <a:latin typeface="Roboto" panose="02000000000000000000" pitchFamily="2" charset="0"/>
                            <a:ea typeface="Roboto" panose="02000000000000000000" pitchFamily="2" charset="0"/>
                          </a:endParaRPr>
                        </a:p>
                      </a:txBody>
                      <a:tcPr>
                        <a:solidFill>
                          <a:schemeClr val="accent2">
                            <a:lumMod val="20000"/>
                            <a:lumOff val="80000"/>
                          </a:schemeClr>
                        </a:solidFill>
                      </a:tcPr>
                    </a:tc>
                    <a:extLst>
                      <a:ext uri="{0D108BD9-81ED-4DB2-BD59-A6C34878D82A}">
                        <a16:rowId xmlns:a16="http://schemas.microsoft.com/office/drawing/2014/main" val="4235300888"/>
                      </a:ext>
                    </a:extLst>
                  </a:tr>
                  <a:tr h="21400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𝑉</m:t>
                                </m:r>
                              </m:oMath>
                            </m:oMathPara>
                          </a14:m>
                          <a:endParaRPr lang="es-CO" sz="1800" dirty="0">
                            <a:latin typeface="Roboto" panose="02000000000000000000" pitchFamily="2" charset="0"/>
                            <a:ea typeface="Roboto" panose="02000000000000000000" pitchFamily="2" charset="0"/>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𝑉</m:t>
                                </m:r>
                              </m:oMath>
                            </m:oMathPara>
                          </a14:m>
                          <a:endParaRPr lang="es-CO" sz="1800" dirty="0">
                            <a:latin typeface="Roboto" panose="02000000000000000000" pitchFamily="2" charset="0"/>
                            <a:ea typeface="Roboto" panose="02000000000000000000" pitchFamily="2" charset="0"/>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𝑉</m:t>
                                </m:r>
                              </m:oMath>
                            </m:oMathPara>
                          </a14:m>
                          <a:endParaRPr lang="es-CO" sz="1800" dirty="0">
                            <a:latin typeface="Roboto" panose="02000000000000000000" pitchFamily="2" charset="0"/>
                            <a:ea typeface="Roboto" panose="02000000000000000000" pitchFamily="2" charset="0"/>
                          </a:endParaRPr>
                        </a:p>
                      </a:txBody>
                      <a:tcPr>
                        <a:noFill/>
                      </a:tcPr>
                    </a:tc>
                    <a:extLst>
                      <a:ext uri="{0D108BD9-81ED-4DB2-BD59-A6C34878D82A}">
                        <a16:rowId xmlns:a16="http://schemas.microsoft.com/office/drawing/2014/main" val="451930249"/>
                      </a:ext>
                    </a:extLst>
                  </a:tr>
                </a:tbl>
              </a:graphicData>
            </a:graphic>
          </p:graphicFrame>
        </mc:Choice>
        <mc:Fallback xmlns="">
          <p:graphicFrame>
            <p:nvGraphicFramePr>
              <p:cNvPr id="6" name="Tabla 5">
                <a:extLst>
                  <a:ext uri="{FF2B5EF4-FFF2-40B4-BE49-F238E27FC236}">
                    <a16:creationId xmlns:a16="http://schemas.microsoft.com/office/drawing/2014/main" id="{5DD2C4E1-D0CD-4887-801D-5FFCFC02DFF3}"/>
                  </a:ext>
                </a:extLst>
              </p:cNvPr>
              <p:cNvGraphicFramePr>
                <a:graphicFrameLocks noGrp="1"/>
              </p:cNvGraphicFramePr>
              <p:nvPr>
                <p:extLst>
                  <p:ext uri="{D42A27DB-BD31-4B8C-83A1-F6EECF244321}">
                    <p14:modId xmlns:p14="http://schemas.microsoft.com/office/powerpoint/2010/main" val="2899877864"/>
                  </p:ext>
                </p:extLst>
              </p:nvPr>
            </p:nvGraphicFramePr>
            <p:xfrm>
              <a:off x="6518750" y="2230599"/>
              <a:ext cx="5201303" cy="1828800"/>
            </p:xfrm>
            <a:graphic>
              <a:graphicData uri="http://schemas.openxmlformats.org/drawingml/2006/table">
                <a:tbl>
                  <a:tblPr firstRow="1" bandRow="1">
                    <a:tableStyleId>{AD6A3598-7CB8-4345-8D95-17CE05F158A0}</a:tableStyleId>
                  </a:tblPr>
                  <a:tblGrid>
                    <a:gridCol w="2103654">
                      <a:extLst>
                        <a:ext uri="{9D8B030D-6E8A-4147-A177-3AD203B41FA5}">
                          <a16:colId xmlns:a16="http://schemas.microsoft.com/office/drawing/2014/main" val="490870258"/>
                        </a:ext>
                      </a:extLst>
                    </a:gridCol>
                    <a:gridCol w="2103654">
                      <a:extLst>
                        <a:ext uri="{9D8B030D-6E8A-4147-A177-3AD203B41FA5}">
                          <a16:colId xmlns:a16="http://schemas.microsoft.com/office/drawing/2014/main" val="1397687665"/>
                        </a:ext>
                      </a:extLst>
                    </a:gridCol>
                    <a:gridCol w="993995">
                      <a:extLst>
                        <a:ext uri="{9D8B030D-6E8A-4147-A177-3AD203B41FA5}">
                          <a16:colId xmlns:a16="http://schemas.microsoft.com/office/drawing/2014/main" val="3269965761"/>
                        </a:ext>
                      </a:extLst>
                    </a:gridCol>
                  </a:tblGrid>
                  <a:tr h="365760">
                    <a:tc>
                      <a:txBody>
                        <a:bodyPr/>
                        <a:lstStyle/>
                        <a:p>
                          <a:endParaRPr lang="es-CO"/>
                        </a:p>
                      </a:txBody>
                      <a:tcPr>
                        <a:blipFill>
                          <a:blip r:embed="rId3"/>
                          <a:stretch>
                            <a:fillRect l="-290" r="-148116" b="-405000"/>
                          </a:stretch>
                        </a:blipFill>
                      </a:tcPr>
                    </a:tc>
                    <a:tc>
                      <a:txBody>
                        <a:bodyPr/>
                        <a:lstStyle/>
                        <a:p>
                          <a:endParaRPr lang="es-CO"/>
                        </a:p>
                      </a:txBody>
                      <a:tcPr>
                        <a:blipFill>
                          <a:blip r:embed="rId3"/>
                          <a:stretch>
                            <a:fillRect l="-100000" r="-47688" b="-405000"/>
                          </a:stretch>
                        </a:blipFill>
                      </a:tcPr>
                    </a:tc>
                    <a:tc>
                      <a:txBody>
                        <a:bodyPr/>
                        <a:lstStyle/>
                        <a:p>
                          <a:endParaRPr lang="es-CO"/>
                        </a:p>
                      </a:txBody>
                      <a:tcPr>
                        <a:blipFill>
                          <a:blip r:embed="rId3"/>
                          <a:stretch>
                            <a:fillRect l="-424540" r="-1227" b="-405000"/>
                          </a:stretch>
                        </a:blipFill>
                      </a:tcPr>
                    </a:tc>
                    <a:extLst>
                      <a:ext uri="{0D108BD9-81ED-4DB2-BD59-A6C34878D82A}">
                        <a16:rowId xmlns:a16="http://schemas.microsoft.com/office/drawing/2014/main" val="1656120320"/>
                      </a:ext>
                    </a:extLst>
                  </a:tr>
                  <a:tr h="365760">
                    <a:tc>
                      <a:txBody>
                        <a:bodyPr/>
                        <a:lstStyle/>
                        <a:p>
                          <a:endParaRPr lang="es-CO"/>
                        </a:p>
                      </a:txBody>
                      <a:tcPr>
                        <a:blipFill>
                          <a:blip r:embed="rId3"/>
                          <a:stretch>
                            <a:fillRect l="-290" t="-100000" r="-148116" b="-305000"/>
                          </a:stretch>
                        </a:blipFill>
                      </a:tcPr>
                    </a:tc>
                    <a:tc>
                      <a:txBody>
                        <a:bodyPr/>
                        <a:lstStyle/>
                        <a:p>
                          <a:endParaRPr lang="es-CO"/>
                        </a:p>
                      </a:txBody>
                      <a:tcPr>
                        <a:blipFill>
                          <a:blip r:embed="rId3"/>
                          <a:stretch>
                            <a:fillRect l="-100000" t="-100000" r="-47688" b="-305000"/>
                          </a:stretch>
                        </a:blipFill>
                      </a:tcPr>
                    </a:tc>
                    <a:tc>
                      <a:txBody>
                        <a:bodyPr/>
                        <a:lstStyle/>
                        <a:p>
                          <a:endParaRPr lang="es-CO"/>
                        </a:p>
                      </a:txBody>
                      <a:tcPr>
                        <a:blipFill>
                          <a:blip r:embed="rId3"/>
                          <a:stretch>
                            <a:fillRect l="-424540" t="-100000" r="-1227" b="-305000"/>
                          </a:stretch>
                        </a:blipFill>
                      </a:tcPr>
                    </a:tc>
                    <a:extLst>
                      <a:ext uri="{0D108BD9-81ED-4DB2-BD59-A6C34878D82A}">
                        <a16:rowId xmlns:a16="http://schemas.microsoft.com/office/drawing/2014/main" val="1384399998"/>
                      </a:ext>
                    </a:extLst>
                  </a:tr>
                  <a:tr h="365760">
                    <a:tc>
                      <a:txBody>
                        <a:bodyPr/>
                        <a:lstStyle/>
                        <a:p>
                          <a:endParaRPr lang="es-CO"/>
                        </a:p>
                      </a:txBody>
                      <a:tcPr>
                        <a:blipFill>
                          <a:blip r:embed="rId3"/>
                          <a:stretch>
                            <a:fillRect l="-290" t="-196721" r="-148116" b="-200000"/>
                          </a:stretch>
                        </a:blipFill>
                      </a:tcPr>
                    </a:tc>
                    <a:tc>
                      <a:txBody>
                        <a:bodyPr/>
                        <a:lstStyle/>
                        <a:p>
                          <a:endParaRPr lang="es-CO"/>
                        </a:p>
                      </a:txBody>
                      <a:tcPr>
                        <a:blipFill>
                          <a:blip r:embed="rId3"/>
                          <a:stretch>
                            <a:fillRect l="-100000" t="-196721" r="-47688" b="-200000"/>
                          </a:stretch>
                        </a:blipFill>
                      </a:tcPr>
                    </a:tc>
                    <a:tc>
                      <a:txBody>
                        <a:bodyPr/>
                        <a:lstStyle/>
                        <a:p>
                          <a:endParaRPr lang="es-CO"/>
                        </a:p>
                      </a:txBody>
                      <a:tcPr>
                        <a:blipFill>
                          <a:blip r:embed="rId3"/>
                          <a:stretch>
                            <a:fillRect l="-424540" t="-196721" r="-1227" b="-200000"/>
                          </a:stretch>
                        </a:blipFill>
                      </a:tcPr>
                    </a:tc>
                    <a:extLst>
                      <a:ext uri="{0D108BD9-81ED-4DB2-BD59-A6C34878D82A}">
                        <a16:rowId xmlns:a16="http://schemas.microsoft.com/office/drawing/2014/main" val="3723033547"/>
                      </a:ext>
                    </a:extLst>
                  </a:tr>
                  <a:tr h="365760">
                    <a:tc>
                      <a:txBody>
                        <a:bodyPr/>
                        <a:lstStyle/>
                        <a:p>
                          <a:endParaRPr lang="es-CO"/>
                        </a:p>
                      </a:txBody>
                      <a:tcPr>
                        <a:blipFill>
                          <a:blip r:embed="rId3"/>
                          <a:stretch>
                            <a:fillRect l="-290" t="-301667" r="-148116" b="-103333"/>
                          </a:stretch>
                        </a:blipFill>
                      </a:tcPr>
                    </a:tc>
                    <a:tc>
                      <a:txBody>
                        <a:bodyPr/>
                        <a:lstStyle/>
                        <a:p>
                          <a:endParaRPr lang="es-CO"/>
                        </a:p>
                      </a:txBody>
                      <a:tcPr>
                        <a:blipFill>
                          <a:blip r:embed="rId3"/>
                          <a:stretch>
                            <a:fillRect l="-100000" t="-301667" r="-47688" b="-103333"/>
                          </a:stretch>
                        </a:blipFill>
                      </a:tcPr>
                    </a:tc>
                    <a:tc>
                      <a:txBody>
                        <a:bodyPr/>
                        <a:lstStyle/>
                        <a:p>
                          <a:endParaRPr lang="es-CO"/>
                        </a:p>
                      </a:txBody>
                      <a:tcPr>
                        <a:blipFill>
                          <a:blip r:embed="rId3"/>
                          <a:stretch>
                            <a:fillRect l="-424540" t="-301667" r="-1227" b="-103333"/>
                          </a:stretch>
                        </a:blipFill>
                      </a:tcPr>
                    </a:tc>
                    <a:extLst>
                      <a:ext uri="{0D108BD9-81ED-4DB2-BD59-A6C34878D82A}">
                        <a16:rowId xmlns:a16="http://schemas.microsoft.com/office/drawing/2014/main" val="4235300888"/>
                      </a:ext>
                    </a:extLst>
                  </a:tr>
                  <a:tr h="365760">
                    <a:tc>
                      <a:txBody>
                        <a:bodyPr/>
                        <a:lstStyle/>
                        <a:p>
                          <a:endParaRPr lang="es-CO"/>
                        </a:p>
                      </a:txBody>
                      <a:tcPr>
                        <a:blipFill>
                          <a:blip r:embed="rId3"/>
                          <a:stretch>
                            <a:fillRect l="-290" t="-401667" r="-148116" b="-3333"/>
                          </a:stretch>
                        </a:blipFill>
                      </a:tcPr>
                    </a:tc>
                    <a:tc>
                      <a:txBody>
                        <a:bodyPr/>
                        <a:lstStyle/>
                        <a:p>
                          <a:endParaRPr lang="es-CO"/>
                        </a:p>
                      </a:txBody>
                      <a:tcPr>
                        <a:blipFill>
                          <a:blip r:embed="rId3"/>
                          <a:stretch>
                            <a:fillRect l="-100000" t="-401667" r="-47688" b="-3333"/>
                          </a:stretch>
                        </a:blipFill>
                      </a:tcPr>
                    </a:tc>
                    <a:tc>
                      <a:txBody>
                        <a:bodyPr/>
                        <a:lstStyle/>
                        <a:p>
                          <a:endParaRPr lang="es-CO"/>
                        </a:p>
                      </a:txBody>
                      <a:tcPr>
                        <a:blipFill>
                          <a:blip r:embed="rId3"/>
                          <a:stretch>
                            <a:fillRect l="-424540" t="-401667" r="-1227" b="-3333"/>
                          </a:stretch>
                        </a:blipFill>
                      </a:tcPr>
                    </a:tc>
                    <a:extLst>
                      <a:ext uri="{0D108BD9-81ED-4DB2-BD59-A6C34878D82A}">
                        <a16:rowId xmlns:a16="http://schemas.microsoft.com/office/drawing/2014/main" val="451930249"/>
                      </a:ext>
                    </a:extLst>
                  </a:tr>
                </a:tbl>
              </a:graphicData>
            </a:graphic>
          </p:graphicFrame>
        </mc:Fallback>
      </mc:AlternateContent>
      <p:grpSp>
        <p:nvGrpSpPr>
          <p:cNvPr id="28" name="Grupo 27">
            <a:extLst>
              <a:ext uri="{FF2B5EF4-FFF2-40B4-BE49-F238E27FC236}">
                <a16:creationId xmlns:a16="http://schemas.microsoft.com/office/drawing/2014/main" id="{5B99A032-5D71-4212-AD8E-9C1227D1EF88}"/>
              </a:ext>
            </a:extLst>
          </p:cNvPr>
          <p:cNvGrpSpPr/>
          <p:nvPr/>
        </p:nvGrpSpPr>
        <p:grpSpPr>
          <a:xfrm>
            <a:off x="971474" y="2592592"/>
            <a:ext cx="4824787" cy="1641184"/>
            <a:chOff x="1409623" y="2630692"/>
            <a:chExt cx="4824787" cy="1641184"/>
          </a:xfrm>
        </p:grpSpPr>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A0E2761D-5CDE-4F7F-9B88-59EFA7251B51}"/>
                    </a:ext>
                  </a:extLst>
                </p:cNvPr>
                <p:cNvSpPr txBox="1"/>
                <p:nvPr/>
              </p:nvSpPr>
              <p:spPr>
                <a:xfrm>
                  <a:off x="3190324" y="2630692"/>
                  <a:ext cx="1371337"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3600" b="0" i="1" smtClean="0">
                            <a:latin typeface="Cambria Math" panose="02040503050406030204" pitchFamily="18" charset="0"/>
                          </a:rPr>
                          <m:t>𝑃</m:t>
                        </m:r>
                        <m:r>
                          <a:rPr lang="es-MX" sz="3600" b="0" i="1" smtClean="0">
                            <a:latin typeface="Cambria Math" panose="02040503050406030204" pitchFamily="18" charset="0"/>
                          </a:rPr>
                          <m:t>→</m:t>
                        </m:r>
                        <m:r>
                          <a:rPr lang="es-MX" sz="3600" b="0" i="1" smtClean="0">
                            <a:latin typeface="Cambria Math" panose="02040503050406030204" pitchFamily="18" charset="0"/>
                          </a:rPr>
                          <m:t>𝑄</m:t>
                        </m:r>
                      </m:oMath>
                    </m:oMathPara>
                  </a14:m>
                  <a:endParaRPr lang="es-CO" sz="3600" dirty="0"/>
                </a:p>
              </p:txBody>
            </p:sp>
          </mc:Choice>
          <mc:Fallback xmlns="">
            <p:sp>
              <p:nvSpPr>
                <p:cNvPr id="3" name="CuadroTexto 2">
                  <a:extLst>
                    <a:ext uri="{FF2B5EF4-FFF2-40B4-BE49-F238E27FC236}">
                      <a16:creationId xmlns:a16="http://schemas.microsoft.com/office/drawing/2014/main" id="{A0E2761D-5CDE-4F7F-9B88-59EFA7251B51}"/>
                    </a:ext>
                  </a:extLst>
                </p:cNvPr>
                <p:cNvSpPr txBox="1">
                  <a:spLocks noRot="1" noChangeAspect="1" noMove="1" noResize="1" noEditPoints="1" noAdjustHandles="1" noChangeArrowheads="1" noChangeShapeType="1" noTextEdit="1"/>
                </p:cNvSpPr>
                <p:nvPr/>
              </p:nvSpPr>
              <p:spPr>
                <a:xfrm>
                  <a:off x="3190324" y="2630692"/>
                  <a:ext cx="1371337" cy="553998"/>
                </a:xfrm>
                <a:prstGeom prst="rect">
                  <a:avLst/>
                </a:prstGeom>
                <a:blipFill>
                  <a:blip r:embed="rId4"/>
                  <a:stretch>
                    <a:fillRect/>
                  </a:stretch>
                </a:blipFill>
              </p:spPr>
              <p:txBody>
                <a:bodyPr/>
                <a:lstStyle/>
                <a:p>
                  <a:r>
                    <a:rPr lang="es-CO">
                      <a:noFill/>
                    </a:rPr>
                    <a:t> </a:t>
                  </a:r>
                </a:p>
              </p:txBody>
            </p:sp>
          </mc:Fallback>
        </mc:AlternateContent>
        <p:sp>
          <p:nvSpPr>
            <p:cNvPr id="4" name="Cerrar llave 3">
              <a:extLst>
                <a:ext uri="{FF2B5EF4-FFF2-40B4-BE49-F238E27FC236}">
                  <a16:creationId xmlns:a16="http://schemas.microsoft.com/office/drawing/2014/main" id="{CC6A9A7D-C048-41D9-A651-2FCE89E4BEFA}"/>
                </a:ext>
              </a:extLst>
            </p:cNvPr>
            <p:cNvSpPr/>
            <p:nvPr/>
          </p:nvSpPr>
          <p:spPr>
            <a:xfrm rot="5400000">
              <a:off x="3300073" y="3035687"/>
              <a:ext cx="81117" cy="294825"/>
            </a:xfrm>
            <a:prstGeom prst="rightBrace">
              <a:avLst>
                <a:gd name="adj1" fmla="val 45151"/>
                <a:gd name="adj2" fmla="val 50000"/>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solidFill>
                  <a:schemeClr val="accent2"/>
                </a:solidFill>
              </a:endParaRPr>
            </a:p>
          </p:txBody>
        </p:sp>
        <p:sp>
          <p:nvSpPr>
            <p:cNvPr id="10" name="Cerrar llave 9">
              <a:extLst>
                <a:ext uri="{FF2B5EF4-FFF2-40B4-BE49-F238E27FC236}">
                  <a16:creationId xmlns:a16="http://schemas.microsoft.com/office/drawing/2014/main" id="{70E2AAEF-04EB-489F-A11C-2191F533EB49}"/>
                </a:ext>
              </a:extLst>
            </p:cNvPr>
            <p:cNvSpPr/>
            <p:nvPr/>
          </p:nvSpPr>
          <p:spPr>
            <a:xfrm rot="5400000">
              <a:off x="4291771" y="3037277"/>
              <a:ext cx="81117" cy="294825"/>
            </a:xfrm>
            <a:prstGeom prst="rightBrace">
              <a:avLst>
                <a:gd name="adj1" fmla="val 45151"/>
                <a:gd name="adj2" fmla="val 50000"/>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solidFill>
                  <a:schemeClr val="accent2"/>
                </a:solidFill>
              </a:endParaRPr>
            </a:p>
          </p:txBody>
        </p:sp>
        <p:sp>
          <p:nvSpPr>
            <p:cNvPr id="5" name="CuadroTexto 4">
              <a:extLst>
                <a:ext uri="{FF2B5EF4-FFF2-40B4-BE49-F238E27FC236}">
                  <a16:creationId xmlns:a16="http://schemas.microsoft.com/office/drawing/2014/main" id="{BFE8DE45-FCDF-433E-9105-1E5702A0615D}"/>
                </a:ext>
              </a:extLst>
            </p:cNvPr>
            <p:cNvSpPr txBox="1"/>
            <p:nvPr/>
          </p:nvSpPr>
          <p:spPr>
            <a:xfrm>
              <a:off x="1409623" y="3348546"/>
              <a:ext cx="1387304" cy="923330"/>
            </a:xfrm>
            <a:prstGeom prst="rect">
              <a:avLst/>
            </a:prstGeom>
            <a:noFill/>
          </p:spPr>
          <p:txBody>
            <a:bodyPr wrap="none" rtlCol="0">
              <a:spAutoFit/>
            </a:bodyPr>
            <a:lstStyle/>
            <a:p>
              <a:pPr algn="r"/>
              <a:r>
                <a:rPr lang="es-CO" dirty="0">
                  <a:solidFill>
                    <a:srgbClr val="C00000"/>
                  </a:solidFill>
                </a:rPr>
                <a:t>Premisa</a:t>
              </a:r>
            </a:p>
            <a:p>
              <a:pPr algn="r"/>
              <a:r>
                <a:rPr lang="es-CO" dirty="0">
                  <a:solidFill>
                    <a:srgbClr val="C00000"/>
                  </a:solidFill>
                </a:rPr>
                <a:t>Hipótesis</a:t>
              </a:r>
            </a:p>
            <a:p>
              <a:pPr algn="r"/>
              <a:r>
                <a:rPr lang="es-CO" dirty="0">
                  <a:solidFill>
                    <a:srgbClr val="C00000"/>
                  </a:solidFill>
                </a:rPr>
                <a:t>Antecedente</a:t>
              </a:r>
            </a:p>
          </p:txBody>
        </p:sp>
        <p:sp>
          <p:nvSpPr>
            <p:cNvPr id="12" name="CuadroTexto 11">
              <a:extLst>
                <a:ext uri="{FF2B5EF4-FFF2-40B4-BE49-F238E27FC236}">
                  <a16:creationId xmlns:a16="http://schemas.microsoft.com/office/drawing/2014/main" id="{A9A26026-C90D-4964-AEDF-CAD8796B285C}"/>
                </a:ext>
              </a:extLst>
            </p:cNvPr>
            <p:cNvSpPr txBox="1"/>
            <p:nvPr/>
          </p:nvSpPr>
          <p:spPr>
            <a:xfrm>
              <a:off x="4832872" y="3348546"/>
              <a:ext cx="1401538" cy="923330"/>
            </a:xfrm>
            <a:prstGeom prst="rect">
              <a:avLst/>
            </a:prstGeom>
            <a:noFill/>
          </p:spPr>
          <p:txBody>
            <a:bodyPr wrap="none" rtlCol="0">
              <a:spAutoFit/>
            </a:bodyPr>
            <a:lstStyle/>
            <a:p>
              <a:r>
                <a:rPr lang="es-CO" dirty="0">
                  <a:solidFill>
                    <a:srgbClr val="C00000"/>
                  </a:solidFill>
                </a:rPr>
                <a:t>Conclusión</a:t>
              </a:r>
            </a:p>
            <a:p>
              <a:r>
                <a:rPr lang="es-CO" dirty="0">
                  <a:solidFill>
                    <a:srgbClr val="C00000"/>
                  </a:solidFill>
                </a:rPr>
                <a:t>Tesos</a:t>
              </a:r>
            </a:p>
            <a:p>
              <a:r>
                <a:rPr lang="es-CO" dirty="0">
                  <a:solidFill>
                    <a:srgbClr val="C00000"/>
                  </a:solidFill>
                </a:rPr>
                <a:t>Consecuente</a:t>
              </a:r>
            </a:p>
          </p:txBody>
        </p:sp>
        <p:cxnSp>
          <p:nvCxnSpPr>
            <p:cNvPr id="11" name="Conector: angular 10">
              <a:extLst>
                <a:ext uri="{FF2B5EF4-FFF2-40B4-BE49-F238E27FC236}">
                  <a16:creationId xmlns:a16="http://schemas.microsoft.com/office/drawing/2014/main" id="{7F4CE2AA-32A3-460A-B96A-B2753E21180C}"/>
                </a:ext>
              </a:extLst>
            </p:cNvPr>
            <p:cNvCxnSpPr>
              <a:cxnSpLocks/>
              <a:endCxn id="12" idx="1"/>
            </p:cNvCxnSpPr>
            <p:nvPr/>
          </p:nvCxnSpPr>
          <p:spPr>
            <a:xfrm>
              <a:off x="4335780" y="3322320"/>
              <a:ext cx="497092" cy="487891"/>
            </a:xfrm>
            <a:prstGeom prst="bentConnector3">
              <a:avLst>
                <a:gd name="adj1" fmla="val -1097"/>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angular 17">
              <a:extLst>
                <a:ext uri="{FF2B5EF4-FFF2-40B4-BE49-F238E27FC236}">
                  <a16:creationId xmlns:a16="http://schemas.microsoft.com/office/drawing/2014/main" id="{C8A799C6-581E-4854-AA3D-12B134009010}"/>
                </a:ext>
              </a:extLst>
            </p:cNvPr>
            <p:cNvCxnSpPr>
              <a:cxnSpLocks/>
              <a:endCxn id="5" idx="3"/>
            </p:cNvCxnSpPr>
            <p:nvPr/>
          </p:nvCxnSpPr>
          <p:spPr>
            <a:xfrm rot="10800000" flipV="1">
              <a:off x="2796927" y="3322319"/>
              <a:ext cx="543704" cy="487892"/>
            </a:xfrm>
            <a:prstGeom prst="bentConnector3">
              <a:avLst>
                <a:gd name="adj1" fmla="val -220"/>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5A3ADE43-FA66-4C5C-B2D3-A0BC99B4DA62}"/>
                  </a:ext>
                </a:extLst>
              </p:cNvPr>
              <p:cNvSpPr txBox="1"/>
              <p:nvPr/>
            </p:nvSpPr>
            <p:spPr>
              <a:xfrm>
                <a:off x="6518750" y="4233776"/>
                <a:ext cx="5201302" cy="707886"/>
              </a:xfrm>
              <a:prstGeom prst="rect">
                <a:avLst/>
              </a:prstGeom>
              <a:noFill/>
            </p:spPr>
            <p:txBody>
              <a:bodyPr wrap="square">
                <a:spAutoFit/>
              </a:bodyPr>
              <a:lstStyle/>
              <a:p>
                <a:r>
                  <a:rPr lang="es-MX" sz="2000" b="1" dirty="0"/>
                  <a:t>El argumento </a:t>
                </a:r>
                <a:r>
                  <a:rPr lang="es-MX" sz="2000" b="1" dirty="0">
                    <a:solidFill>
                      <a:srgbClr val="C00000"/>
                    </a:solidFill>
                  </a:rPr>
                  <a:t>falla</a:t>
                </a:r>
                <a:r>
                  <a:rPr lang="es-MX" sz="2000" dirty="0"/>
                  <a:t> solo si </a:t>
                </a:r>
                <a14:m>
                  <m:oMath xmlns:m="http://schemas.openxmlformats.org/officeDocument/2006/math">
                    <m:r>
                      <a:rPr lang="es-MX" sz="2000" i="1" dirty="0" smtClean="0">
                        <a:latin typeface="Cambria Math" panose="02040503050406030204" pitchFamily="18" charset="0"/>
                      </a:rPr>
                      <m:t>𝑃</m:t>
                    </m:r>
                  </m:oMath>
                </a14:m>
                <a:r>
                  <a:rPr lang="es-MX" sz="2000" dirty="0"/>
                  <a:t> es verdadera y </a:t>
                </a:r>
                <a14:m>
                  <m:oMath xmlns:m="http://schemas.openxmlformats.org/officeDocument/2006/math">
                    <m:r>
                      <a:rPr lang="es-MX" sz="2000" i="1" dirty="0" smtClean="0">
                        <a:latin typeface="Cambria Math" panose="02040503050406030204" pitchFamily="18" charset="0"/>
                      </a:rPr>
                      <m:t>𝑄</m:t>
                    </m:r>
                  </m:oMath>
                </a14:m>
                <a:r>
                  <a:rPr lang="es-MX" sz="2000" dirty="0"/>
                  <a:t>, falsa.</a:t>
                </a:r>
                <a:endParaRPr lang="es-CO" sz="2000" dirty="0"/>
              </a:p>
            </p:txBody>
          </p:sp>
        </mc:Choice>
        <mc:Fallback xmlns="">
          <p:sp>
            <p:nvSpPr>
              <p:cNvPr id="31" name="CuadroTexto 30">
                <a:extLst>
                  <a:ext uri="{FF2B5EF4-FFF2-40B4-BE49-F238E27FC236}">
                    <a16:creationId xmlns:a16="http://schemas.microsoft.com/office/drawing/2014/main" id="{5A3ADE43-FA66-4C5C-B2D3-A0BC99B4DA62}"/>
                  </a:ext>
                </a:extLst>
              </p:cNvPr>
              <p:cNvSpPr txBox="1">
                <a:spLocks noRot="1" noChangeAspect="1" noMove="1" noResize="1" noEditPoints="1" noAdjustHandles="1" noChangeArrowheads="1" noChangeShapeType="1" noTextEdit="1"/>
              </p:cNvSpPr>
              <p:nvPr/>
            </p:nvSpPr>
            <p:spPr>
              <a:xfrm>
                <a:off x="6518750" y="4233776"/>
                <a:ext cx="5201302" cy="707886"/>
              </a:xfrm>
              <a:prstGeom prst="rect">
                <a:avLst/>
              </a:prstGeom>
              <a:blipFill>
                <a:blip r:embed="rId5"/>
                <a:stretch>
                  <a:fillRect l="-1171" t="-5172" b="-14655"/>
                </a:stretch>
              </a:blipFill>
            </p:spPr>
            <p:txBody>
              <a:bodyPr/>
              <a:lstStyle/>
              <a:p>
                <a:r>
                  <a:rPr lang="es-CO">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ea typeface="+mj-ea"/>
                <a:cs typeface="+mj-cs"/>
              </a:rPr>
              <a:t>Validación de argumentos</a:t>
            </a:r>
            <a:endParaRPr dirty="0">
              <a:solidFill>
                <a:schemeClr val="tx1"/>
              </a:solidFill>
              <a:latin typeface="+mj-lt"/>
              <a:ea typeface="+mj-ea"/>
              <a:cs typeface="+mj-cs"/>
            </a:endParaRPr>
          </a:p>
        </p:txBody>
      </p:sp>
      <mc:AlternateContent xmlns:mc="http://schemas.openxmlformats.org/markup-compatibility/2006" xmlns:a14="http://schemas.microsoft.com/office/drawing/2010/main">
        <mc:Choice Requires="a14">
          <p:sp>
            <p:nvSpPr>
              <p:cNvPr id="14" name="Google Shape;310;p34">
                <a:extLst>
                  <a:ext uri="{FF2B5EF4-FFF2-40B4-BE49-F238E27FC236}">
                    <a16:creationId xmlns:a16="http://schemas.microsoft.com/office/drawing/2014/main" id="{7CE3CA45-1D19-4FA9-8567-937AB3B94F05}"/>
                  </a:ext>
                </a:extLst>
              </p:cNvPr>
              <p:cNvSpPr txBox="1">
                <a:spLocks/>
              </p:cNvSpPr>
              <p:nvPr/>
            </p:nvSpPr>
            <p:spPr>
              <a:xfrm>
                <a:off x="112024" y="1290184"/>
                <a:ext cx="11866908" cy="9495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b="1" dirty="0">
                    <a:latin typeface="+mn-lt"/>
                  </a:rPr>
                  <a:t>Definición</a:t>
                </a:r>
                <a:r>
                  <a:rPr lang="es-MX" sz="2200" dirty="0">
                    <a:latin typeface="+mn-lt"/>
                  </a:rPr>
                  <a:t>: en lógica proposicional, un </a:t>
                </a:r>
                <a:r>
                  <a:rPr lang="es-MX" sz="2200" b="1" dirty="0">
                    <a:latin typeface="+mn-lt"/>
                  </a:rPr>
                  <a:t>argumento</a:t>
                </a:r>
                <a:r>
                  <a:rPr lang="es-MX" sz="2200" dirty="0">
                    <a:latin typeface="+mn-lt"/>
                  </a:rPr>
                  <a:t> es una </a:t>
                </a:r>
                <a:r>
                  <a:rPr lang="es-MX" sz="2200" u="sng" dirty="0">
                    <a:latin typeface="+mn-lt"/>
                  </a:rPr>
                  <a:t>secuencia de proposiciones</a:t>
                </a:r>
                <a:r>
                  <a:rPr lang="es-MX" sz="2200" dirty="0">
                    <a:latin typeface="+mn-lt"/>
                  </a:rPr>
                  <a:t>; todas excepto la última se llaman </a:t>
                </a:r>
                <a:r>
                  <a:rPr lang="es-MX" sz="2200" b="1" dirty="0">
                    <a:latin typeface="+mn-lt"/>
                  </a:rPr>
                  <a:t>premisas </a:t>
                </a:r>
                <a14:m>
                  <m:oMath xmlns:m="http://schemas.openxmlformats.org/officeDocument/2006/math">
                    <m:r>
                      <a:rPr lang="es-MX" sz="2200" b="0" i="1" smtClean="0">
                        <a:latin typeface="Cambria Math" panose="02040503050406030204" pitchFamily="18" charset="0"/>
                      </a:rPr>
                      <m:t>(</m:t>
                    </m:r>
                    <m:sSub>
                      <m:sSubPr>
                        <m:ctrlPr>
                          <a:rPr lang="es-MX" sz="2200" b="0" i="1" smtClean="0">
                            <a:latin typeface="Cambria Math" panose="02040503050406030204" pitchFamily="18" charset="0"/>
                          </a:rPr>
                        </m:ctrlPr>
                      </m:sSubPr>
                      <m:e>
                        <m:r>
                          <a:rPr lang="es-MX" sz="2200" b="0" i="1" smtClean="0">
                            <a:latin typeface="Cambria Math" panose="02040503050406030204" pitchFamily="18" charset="0"/>
                          </a:rPr>
                          <m:t>𝑃</m:t>
                        </m:r>
                      </m:e>
                      <m:sub>
                        <m:r>
                          <a:rPr lang="es-MX" sz="2200" b="0" i="1" smtClean="0">
                            <a:latin typeface="Cambria Math" panose="02040503050406030204" pitchFamily="18" charset="0"/>
                          </a:rPr>
                          <m:t>1</m:t>
                        </m:r>
                      </m:sub>
                    </m:sSub>
                    <m:r>
                      <a:rPr lang="es-MX" sz="2200" b="0" i="1" smtClean="0">
                        <a:latin typeface="Cambria Math" panose="02040503050406030204" pitchFamily="18" charset="0"/>
                      </a:rPr>
                      <m:t>,</m:t>
                    </m:r>
                    <m:sSub>
                      <m:sSubPr>
                        <m:ctrlPr>
                          <a:rPr lang="es-MX" sz="2200" i="1">
                            <a:latin typeface="Cambria Math" panose="02040503050406030204" pitchFamily="18" charset="0"/>
                          </a:rPr>
                        </m:ctrlPr>
                      </m:sSubPr>
                      <m:e>
                        <m:r>
                          <a:rPr lang="es-MX" sz="2200" i="1">
                            <a:latin typeface="Cambria Math" panose="02040503050406030204" pitchFamily="18" charset="0"/>
                          </a:rPr>
                          <m:t>𝑃</m:t>
                        </m:r>
                      </m:e>
                      <m:sub>
                        <m:r>
                          <a:rPr lang="es-MX" sz="2200" b="0" i="1" smtClean="0">
                            <a:latin typeface="Cambria Math" panose="02040503050406030204" pitchFamily="18" charset="0"/>
                          </a:rPr>
                          <m:t>2</m:t>
                        </m:r>
                      </m:sub>
                    </m:sSub>
                    <m:r>
                      <a:rPr lang="es-MX" sz="2200" b="0" i="1" smtClean="0">
                        <a:latin typeface="Cambria Math" panose="02040503050406030204" pitchFamily="18" charset="0"/>
                      </a:rPr>
                      <m:t>,…,</m:t>
                    </m:r>
                    <m:sSub>
                      <m:sSubPr>
                        <m:ctrlPr>
                          <a:rPr lang="es-MX" sz="2200" i="1">
                            <a:latin typeface="Cambria Math" panose="02040503050406030204" pitchFamily="18" charset="0"/>
                          </a:rPr>
                        </m:ctrlPr>
                      </m:sSubPr>
                      <m:e>
                        <m:r>
                          <a:rPr lang="es-MX" sz="2200" i="1">
                            <a:latin typeface="Cambria Math" panose="02040503050406030204" pitchFamily="18" charset="0"/>
                          </a:rPr>
                          <m:t>𝑃</m:t>
                        </m:r>
                      </m:e>
                      <m:sub>
                        <m:r>
                          <a:rPr lang="es-MX" sz="2200" b="0" i="1" smtClean="0">
                            <a:latin typeface="Cambria Math" panose="02040503050406030204" pitchFamily="18" charset="0"/>
                          </a:rPr>
                          <m:t>𝑛</m:t>
                        </m:r>
                      </m:sub>
                    </m:sSub>
                    <m:r>
                      <a:rPr lang="es-MX" sz="2200" b="0" i="1" smtClean="0">
                        <a:latin typeface="Cambria Math" panose="02040503050406030204" pitchFamily="18" charset="0"/>
                      </a:rPr>
                      <m:t>)</m:t>
                    </m:r>
                  </m:oMath>
                </a14:m>
                <a:r>
                  <a:rPr lang="es-MX" sz="2200" dirty="0">
                    <a:latin typeface="+mn-lt"/>
                  </a:rPr>
                  <a:t>, y la última es la </a:t>
                </a:r>
                <a:r>
                  <a:rPr lang="es-MX" sz="2200" b="1" dirty="0">
                    <a:latin typeface="+mn-lt"/>
                  </a:rPr>
                  <a:t>conclusión </a:t>
                </a:r>
                <a14:m>
                  <m:oMath xmlns:m="http://schemas.openxmlformats.org/officeDocument/2006/math">
                    <m:r>
                      <a:rPr lang="es-MX" sz="2200" i="1">
                        <a:latin typeface="Cambria Math" panose="02040503050406030204" pitchFamily="18" charset="0"/>
                      </a:rPr>
                      <m:t>(</m:t>
                    </m:r>
                    <m:r>
                      <a:rPr lang="es-MX" sz="2200" b="0" i="1" smtClean="0">
                        <a:latin typeface="Cambria Math" panose="02040503050406030204" pitchFamily="18" charset="0"/>
                      </a:rPr>
                      <m:t>𝑄</m:t>
                    </m:r>
                    <m:r>
                      <a:rPr lang="es-MX" sz="2200" i="1">
                        <a:latin typeface="Cambria Math" panose="02040503050406030204" pitchFamily="18" charset="0"/>
                      </a:rPr>
                      <m:t>)</m:t>
                    </m:r>
                  </m:oMath>
                </a14:m>
                <a:r>
                  <a:rPr lang="es-MX" sz="2200" dirty="0">
                    <a:latin typeface="+mn-lt"/>
                  </a:rPr>
                  <a:t>.</a:t>
                </a:r>
                <a:endParaRPr lang="es-MX" sz="2200" dirty="0">
                  <a:latin typeface="+mn-lt"/>
                  <a:ea typeface="Roboto" panose="02000000000000000000" pitchFamily="2" charset="0"/>
                </a:endParaRPr>
              </a:p>
            </p:txBody>
          </p:sp>
        </mc:Choice>
        <mc:Fallback xmlns="">
          <p:sp>
            <p:nvSpPr>
              <p:cNvPr id="14" name="Google Shape;310;p34">
                <a:extLst>
                  <a:ext uri="{FF2B5EF4-FFF2-40B4-BE49-F238E27FC236}">
                    <a16:creationId xmlns:a16="http://schemas.microsoft.com/office/drawing/2014/main" id="{7CE3CA45-1D19-4FA9-8567-937AB3B94F05}"/>
                  </a:ext>
                </a:extLst>
              </p:cNvPr>
              <p:cNvSpPr txBox="1">
                <a:spLocks noRot="1" noChangeAspect="1" noMove="1" noResize="1" noEditPoints="1" noAdjustHandles="1" noChangeArrowheads="1" noChangeShapeType="1" noTextEdit="1"/>
              </p:cNvSpPr>
              <p:nvPr/>
            </p:nvSpPr>
            <p:spPr>
              <a:xfrm>
                <a:off x="112024" y="1290184"/>
                <a:ext cx="11866908" cy="949500"/>
              </a:xfrm>
              <a:prstGeom prst="rect">
                <a:avLst/>
              </a:prstGeom>
              <a:blipFill>
                <a:blip r:embed="rId3"/>
                <a:stretch>
                  <a:fillRect/>
                </a:stretch>
              </a:blipFill>
              <a:ln>
                <a:noFill/>
              </a:ln>
            </p:spPr>
            <p:txBody>
              <a:bodyPr/>
              <a:lstStyle/>
              <a:p>
                <a:r>
                  <a:rPr lang="es-CO">
                    <a:noFill/>
                  </a:rPr>
                  <a:t> </a:t>
                </a:r>
              </a:p>
            </p:txBody>
          </p:sp>
        </mc:Fallback>
      </mc:AlternateContent>
      <p:sp>
        <p:nvSpPr>
          <p:cNvPr id="47" name="CuadroTexto 46">
            <a:extLst>
              <a:ext uri="{FF2B5EF4-FFF2-40B4-BE49-F238E27FC236}">
                <a16:creationId xmlns:a16="http://schemas.microsoft.com/office/drawing/2014/main" id="{B3A4CE45-79F3-4AE0-8443-FE49CBE2285A}"/>
              </a:ext>
            </a:extLst>
          </p:cNvPr>
          <p:cNvSpPr txBox="1"/>
          <p:nvPr/>
        </p:nvSpPr>
        <p:spPr>
          <a:xfrm>
            <a:off x="213068" y="916785"/>
            <a:ext cx="10587093" cy="492443"/>
          </a:xfrm>
          <a:prstGeom prst="rect">
            <a:avLst/>
          </a:prstGeom>
          <a:noFill/>
        </p:spPr>
        <p:txBody>
          <a:bodyPr wrap="square" rtlCol="0">
            <a:spAutoFit/>
          </a:bodyPr>
          <a:lstStyle/>
          <a:p>
            <a:r>
              <a:rPr lang="es-MX" sz="2600" b="1" dirty="0">
                <a:ea typeface="Roboto" panose="02000000000000000000" pitchFamily="2" charset="0"/>
              </a:rPr>
              <a:t>Argumentos en lógica proposicional</a:t>
            </a:r>
          </a:p>
        </p:txBody>
      </p:sp>
      <p:grpSp>
        <p:nvGrpSpPr>
          <p:cNvPr id="45" name="Grupo 44">
            <a:extLst>
              <a:ext uri="{FF2B5EF4-FFF2-40B4-BE49-F238E27FC236}">
                <a16:creationId xmlns:a16="http://schemas.microsoft.com/office/drawing/2014/main" id="{708BCFCB-B6C8-48E7-AAE8-AE287DEF0185}"/>
              </a:ext>
            </a:extLst>
          </p:cNvPr>
          <p:cNvGrpSpPr/>
          <p:nvPr/>
        </p:nvGrpSpPr>
        <p:grpSpPr>
          <a:xfrm>
            <a:off x="2116604" y="3047558"/>
            <a:ext cx="2670596" cy="1897251"/>
            <a:chOff x="2995913" y="2450090"/>
            <a:chExt cx="2670596" cy="1897251"/>
          </a:xfrm>
        </p:grpSpPr>
        <p:sp>
          <p:nvSpPr>
            <p:cNvPr id="42" name="Abrir llave 41">
              <a:extLst>
                <a:ext uri="{FF2B5EF4-FFF2-40B4-BE49-F238E27FC236}">
                  <a16:creationId xmlns:a16="http://schemas.microsoft.com/office/drawing/2014/main" id="{97112276-7578-48E9-B60A-9C2D968E3D25}"/>
                </a:ext>
              </a:extLst>
            </p:cNvPr>
            <p:cNvSpPr/>
            <p:nvPr/>
          </p:nvSpPr>
          <p:spPr>
            <a:xfrm>
              <a:off x="5002187" y="2504607"/>
              <a:ext cx="115241" cy="1371600"/>
            </a:xfrm>
            <a:prstGeom prst="leftBrace">
              <a:avLst>
                <a:gd name="adj1" fmla="val 27595"/>
                <a:gd name="adj2" fmla="val 5000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44" name="Abrir llave 43">
              <a:extLst>
                <a:ext uri="{FF2B5EF4-FFF2-40B4-BE49-F238E27FC236}">
                  <a16:creationId xmlns:a16="http://schemas.microsoft.com/office/drawing/2014/main" id="{0FC0075A-AB3D-48CF-9C7D-3297098BEC4D}"/>
                </a:ext>
              </a:extLst>
            </p:cNvPr>
            <p:cNvSpPr/>
            <p:nvPr/>
          </p:nvSpPr>
          <p:spPr>
            <a:xfrm>
              <a:off x="4979121" y="3947449"/>
              <a:ext cx="144947" cy="383972"/>
            </a:xfrm>
            <a:prstGeom prst="leftBrace">
              <a:avLst>
                <a:gd name="adj1" fmla="val 27595"/>
                <a:gd name="adj2" fmla="val 50000"/>
              </a:avLst>
            </a:prstGeom>
            <a:ln w="190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43" name="CuadroTexto 42">
              <a:extLst>
                <a:ext uri="{FF2B5EF4-FFF2-40B4-BE49-F238E27FC236}">
                  <a16:creationId xmlns:a16="http://schemas.microsoft.com/office/drawing/2014/main" id="{63879768-AC17-4F1C-B3C5-9A8DDEF9F82E}"/>
                </a:ext>
              </a:extLst>
            </p:cNvPr>
            <p:cNvSpPr txBox="1"/>
            <p:nvPr/>
          </p:nvSpPr>
          <p:spPr>
            <a:xfrm>
              <a:off x="2995913" y="2959574"/>
              <a:ext cx="1858168" cy="461665"/>
            </a:xfrm>
            <a:prstGeom prst="rect">
              <a:avLst/>
            </a:prstGeom>
            <a:noFill/>
          </p:spPr>
          <p:txBody>
            <a:bodyPr wrap="square" rtlCol="0">
              <a:spAutoFit/>
            </a:bodyPr>
            <a:lstStyle/>
            <a:p>
              <a:pPr algn="r"/>
              <a:r>
                <a:rPr lang="es-CO" sz="2400" b="1" dirty="0">
                  <a:solidFill>
                    <a:srgbClr val="C00000"/>
                  </a:solidFill>
                  <a:ea typeface="Roboto" panose="02000000000000000000" pitchFamily="2" charset="0"/>
                </a:rPr>
                <a:t>Premisas</a:t>
              </a:r>
            </a:p>
          </p:txBody>
        </p:sp>
        <p:sp>
          <p:nvSpPr>
            <p:cNvPr id="46" name="CuadroTexto 45">
              <a:extLst>
                <a:ext uri="{FF2B5EF4-FFF2-40B4-BE49-F238E27FC236}">
                  <a16:creationId xmlns:a16="http://schemas.microsoft.com/office/drawing/2014/main" id="{55F77683-5144-425D-9D1C-74D01202EA62}"/>
                </a:ext>
              </a:extLst>
            </p:cNvPr>
            <p:cNvSpPr txBox="1"/>
            <p:nvPr/>
          </p:nvSpPr>
          <p:spPr>
            <a:xfrm>
              <a:off x="3151377" y="3885676"/>
              <a:ext cx="1702704" cy="461665"/>
            </a:xfrm>
            <a:prstGeom prst="rect">
              <a:avLst/>
            </a:prstGeom>
            <a:noFill/>
          </p:spPr>
          <p:txBody>
            <a:bodyPr wrap="square" rtlCol="0">
              <a:spAutoFit/>
            </a:bodyPr>
            <a:lstStyle/>
            <a:p>
              <a:pPr algn="r"/>
              <a:r>
                <a:rPr lang="es-CO" sz="2400" b="1" dirty="0">
                  <a:solidFill>
                    <a:srgbClr val="002060"/>
                  </a:solidFill>
                  <a:ea typeface="Roboto" panose="02000000000000000000" pitchFamily="2" charset="0"/>
                </a:rPr>
                <a:t>Conclusión</a:t>
              </a:r>
            </a:p>
          </p:txBody>
        </p:sp>
        <mc:AlternateContent xmlns:mc="http://schemas.openxmlformats.org/markup-compatibility/2006" xmlns:a14="http://schemas.microsoft.com/office/drawing/2010/main">
          <mc:Choice Requires="a14">
            <p:sp>
              <p:nvSpPr>
                <p:cNvPr id="48" name="CuadroTexto 47">
                  <a:extLst>
                    <a:ext uri="{FF2B5EF4-FFF2-40B4-BE49-F238E27FC236}">
                      <a16:creationId xmlns:a16="http://schemas.microsoft.com/office/drawing/2014/main" id="{488F4005-1D9D-4832-866E-0F77860673E7}"/>
                    </a:ext>
                  </a:extLst>
                </p:cNvPr>
                <p:cNvSpPr txBox="1"/>
                <p:nvPr/>
              </p:nvSpPr>
              <p:spPr>
                <a:xfrm>
                  <a:off x="5124068" y="2450090"/>
                  <a:ext cx="542441" cy="1897251"/>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s-MX" sz="2400" b="0" i="1" smtClean="0">
                                <a:latin typeface="Cambria Math" panose="02040503050406030204" pitchFamily="18" charset="0"/>
                                <a:ea typeface="Cambria Math" panose="02040503050406030204" pitchFamily="18" charset="0"/>
                              </a:rPr>
                            </m:ctrlPr>
                          </m:fPr>
                          <m:num>
                            <m:eqArr>
                              <m:eqArrPr>
                                <m:ctrlPr>
                                  <a:rPr lang="es-MX" sz="2400" b="0" i="1" smtClean="0">
                                    <a:latin typeface="Cambria Math" panose="02040503050406030204" pitchFamily="18" charset="0"/>
                                    <a:ea typeface="Cambria Math" panose="02040503050406030204" pitchFamily="18" charset="0"/>
                                  </a:rPr>
                                </m:ctrlPr>
                              </m:eqArrPr>
                              <m:e>
                                <m:sSub>
                                  <m:sSubPr>
                                    <m:ctrlPr>
                                      <a:rPr lang="es-MX" sz="2400" b="0" i="1" smtClean="0">
                                        <a:latin typeface="Cambria Math" panose="02040503050406030204" pitchFamily="18" charset="0"/>
                                        <a:ea typeface="Cambria Math" panose="02040503050406030204" pitchFamily="18" charset="0"/>
                                      </a:rPr>
                                    </m:ctrlPr>
                                  </m:sSubPr>
                                  <m:e>
                                    <m:r>
                                      <a:rPr lang="es-MX" sz="2400" b="0" i="1" smtClean="0">
                                        <a:latin typeface="Cambria Math" panose="02040503050406030204" pitchFamily="18" charset="0"/>
                                        <a:ea typeface="Cambria Math" panose="02040503050406030204" pitchFamily="18" charset="0"/>
                                      </a:rPr>
                                      <m:t>𝑃</m:t>
                                    </m:r>
                                  </m:e>
                                  <m:sub>
                                    <m:r>
                                      <a:rPr lang="es-MX" sz="2400" b="0" i="1" smtClean="0">
                                        <a:latin typeface="Cambria Math" panose="02040503050406030204" pitchFamily="18" charset="0"/>
                                        <a:ea typeface="Cambria Math" panose="02040503050406030204" pitchFamily="18" charset="0"/>
                                      </a:rPr>
                                      <m:t>1</m:t>
                                    </m:r>
                                  </m:sub>
                                </m:sSub>
                              </m:e>
                              <m:e>
                                <m:sSub>
                                  <m:sSubPr>
                                    <m:ctrlPr>
                                      <a:rPr lang="es-MX" sz="2400" b="0" i="1" smtClean="0">
                                        <a:latin typeface="Cambria Math" panose="02040503050406030204" pitchFamily="18" charset="0"/>
                                        <a:ea typeface="Cambria Math" panose="02040503050406030204" pitchFamily="18" charset="0"/>
                                      </a:rPr>
                                    </m:ctrlPr>
                                  </m:sSubPr>
                                  <m:e>
                                    <m:r>
                                      <a:rPr lang="es-MX" sz="2400" b="0" i="1" smtClean="0">
                                        <a:latin typeface="Cambria Math" panose="02040503050406030204" pitchFamily="18" charset="0"/>
                                        <a:ea typeface="Cambria Math" panose="02040503050406030204" pitchFamily="18" charset="0"/>
                                      </a:rPr>
                                      <m:t>𝑃</m:t>
                                    </m:r>
                                  </m:e>
                                  <m:sub>
                                    <m:r>
                                      <a:rPr lang="es-MX" sz="2400" b="0" i="1" smtClean="0">
                                        <a:latin typeface="Cambria Math" panose="02040503050406030204" pitchFamily="18" charset="0"/>
                                        <a:ea typeface="Cambria Math" panose="02040503050406030204" pitchFamily="18" charset="0"/>
                                      </a:rPr>
                                      <m:t>2</m:t>
                                    </m:r>
                                  </m:sub>
                                </m:sSub>
                              </m:e>
                              <m:e>
                                <m:r>
                                  <a:rPr lang="es-MX" sz="2400" b="0" i="1" smtClean="0">
                                    <a:latin typeface="Cambria Math" panose="02040503050406030204" pitchFamily="18" charset="0"/>
                                    <a:ea typeface="Cambria Math" panose="02040503050406030204" pitchFamily="18" charset="0"/>
                                  </a:rPr>
                                  <m:t>⋮</m:t>
                                </m:r>
                              </m:e>
                              <m:e>
                                <m:sSub>
                                  <m:sSubPr>
                                    <m:ctrlPr>
                                      <a:rPr lang="es-MX" sz="2400" b="0" i="1" smtClean="0">
                                        <a:latin typeface="Cambria Math" panose="02040503050406030204" pitchFamily="18" charset="0"/>
                                        <a:ea typeface="Cambria Math" panose="02040503050406030204" pitchFamily="18" charset="0"/>
                                      </a:rPr>
                                    </m:ctrlPr>
                                  </m:sSubPr>
                                  <m:e>
                                    <m:r>
                                      <a:rPr lang="es-MX" sz="2400" b="0" i="1" smtClean="0">
                                        <a:latin typeface="Cambria Math" panose="02040503050406030204" pitchFamily="18" charset="0"/>
                                        <a:ea typeface="Cambria Math" panose="02040503050406030204" pitchFamily="18" charset="0"/>
                                      </a:rPr>
                                      <m:t>𝑃</m:t>
                                    </m:r>
                                  </m:e>
                                  <m:sub>
                                    <m:r>
                                      <a:rPr lang="es-MX" sz="2400" b="0" i="1" smtClean="0">
                                        <a:latin typeface="Cambria Math" panose="02040503050406030204" pitchFamily="18" charset="0"/>
                                        <a:ea typeface="Cambria Math" panose="02040503050406030204" pitchFamily="18" charset="0"/>
                                      </a:rPr>
                                      <m:t>𝑛</m:t>
                                    </m:r>
                                  </m:sub>
                                </m:sSub>
                              </m:e>
                            </m:eqArr>
                          </m:num>
                          <m:den>
                            <m:r>
                              <a:rPr lang="es-MX" sz="2400" b="0" i="1" smtClean="0">
                                <a:latin typeface="Cambria Math" panose="02040503050406030204" pitchFamily="18" charset="0"/>
                                <a:ea typeface="Cambria Math" panose="02040503050406030204" pitchFamily="18" charset="0"/>
                              </a:rPr>
                              <m:t>∴</m:t>
                            </m:r>
                            <m:r>
                              <a:rPr lang="es-MX" sz="2400" b="0" i="1" smtClean="0">
                                <a:latin typeface="Cambria Math" panose="02040503050406030204" pitchFamily="18" charset="0"/>
                                <a:ea typeface="Cambria Math" panose="02040503050406030204" pitchFamily="18" charset="0"/>
                              </a:rPr>
                              <m:t>𝑄</m:t>
                            </m:r>
                          </m:den>
                        </m:f>
                      </m:oMath>
                    </m:oMathPara>
                  </a14:m>
                  <a:endParaRPr lang="es-MX" sz="2400" b="0" i="0" dirty="0">
                    <a:latin typeface="Cambria Math" panose="02040503050406030204" pitchFamily="18" charset="0"/>
                    <a:ea typeface="Cambria Math" panose="02040503050406030204" pitchFamily="18" charset="0"/>
                  </a:endParaRPr>
                </a:p>
              </p:txBody>
            </p:sp>
          </mc:Choice>
          <mc:Fallback xmlns="">
            <p:sp>
              <p:nvSpPr>
                <p:cNvPr id="48" name="CuadroTexto 47">
                  <a:extLst>
                    <a:ext uri="{FF2B5EF4-FFF2-40B4-BE49-F238E27FC236}">
                      <a16:creationId xmlns:a16="http://schemas.microsoft.com/office/drawing/2014/main" id="{488F4005-1D9D-4832-866E-0F77860673E7}"/>
                    </a:ext>
                  </a:extLst>
                </p:cNvPr>
                <p:cNvSpPr txBox="1">
                  <a:spLocks noRot="1" noChangeAspect="1" noMove="1" noResize="1" noEditPoints="1" noAdjustHandles="1" noChangeArrowheads="1" noChangeShapeType="1" noTextEdit="1"/>
                </p:cNvSpPr>
                <p:nvPr/>
              </p:nvSpPr>
              <p:spPr>
                <a:xfrm>
                  <a:off x="5124068" y="2450090"/>
                  <a:ext cx="542441" cy="1897251"/>
                </a:xfrm>
                <a:prstGeom prst="rect">
                  <a:avLst/>
                </a:prstGeom>
                <a:blipFill>
                  <a:blip r:embed="rId4"/>
                  <a:stretch>
                    <a:fillRect r="-5618"/>
                  </a:stretch>
                </a:blipFill>
              </p:spPr>
              <p:txBody>
                <a:bodyPr/>
                <a:lstStyle/>
                <a:p>
                  <a:r>
                    <a:rPr lang="es-CO">
                      <a:noFill/>
                    </a:rPr>
                    <a:t> </a:t>
                  </a:r>
                </a:p>
              </p:txBody>
            </p:sp>
          </mc:Fallback>
        </mc:AlternateContent>
      </p:grpSp>
      <p:pic>
        <p:nvPicPr>
          <p:cNvPr id="1026" name="Picture 2" descr="No hay ninguna descripción de la foto disponible.">
            <a:extLst>
              <a:ext uri="{FF2B5EF4-FFF2-40B4-BE49-F238E27FC236}">
                <a16:creationId xmlns:a16="http://schemas.microsoft.com/office/drawing/2014/main" id="{0F6C95B8-665F-4DFA-96C1-9276FDAB41A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2484330"/>
            <a:ext cx="3596895" cy="3742434"/>
          </a:xfrm>
          <a:prstGeom prst="rect">
            <a:avLst/>
          </a:prstGeom>
          <a:noFill/>
          <a:extLst>
            <a:ext uri="{909E8E84-426E-40DD-AFC4-6F175D3DCCD1}">
              <a14:hiddenFill xmlns:a14="http://schemas.microsoft.com/office/drawing/2010/main">
                <a:solidFill>
                  <a:srgbClr val="FFFFFF"/>
                </a:solidFill>
              </a14:hiddenFill>
            </a:ext>
          </a:extLst>
        </p:spPr>
      </p:pic>
      <p:sp>
        <p:nvSpPr>
          <p:cNvPr id="23" name="CuadroTexto 22">
            <a:extLst>
              <a:ext uri="{FF2B5EF4-FFF2-40B4-BE49-F238E27FC236}">
                <a16:creationId xmlns:a16="http://schemas.microsoft.com/office/drawing/2014/main" id="{A2EDFE30-F57A-4BAF-B156-8A7398D66AD5}"/>
              </a:ext>
            </a:extLst>
          </p:cNvPr>
          <p:cNvSpPr txBox="1"/>
          <p:nvPr/>
        </p:nvSpPr>
        <p:spPr>
          <a:xfrm>
            <a:off x="6096000" y="6226765"/>
            <a:ext cx="3416710" cy="307777"/>
          </a:xfrm>
          <a:prstGeom prst="rect">
            <a:avLst/>
          </a:prstGeom>
          <a:noFill/>
        </p:spPr>
        <p:txBody>
          <a:bodyPr wrap="square">
            <a:spAutoFit/>
          </a:bodyPr>
          <a:lstStyle/>
          <a:p>
            <a:pPr algn="ctr"/>
            <a:r>
              <a:rPr lang="es-CO" sz="1400" dirty="0"/>
              <a:t>Ilustración tomada de </a:t>
            </a:r>
            <a:r>
              <a:rPr lang="es-CO" sz="1400" dirty="0" err="1">
                <a:hlinkClick r:id="rId6"/>
              </a:rPr>
              <a:t>GatonCartoons</a:t>
            </a:r>
            <a:endParaRPr lang="es-CO" sz="1400" dirty="0"/>
          </a:p>
        </p:txBody>
      </p:sp>
    </p:spTree>
    <p:extLst>
      <p:ext uri="{BB962C8B-B14F-4D97-AF65-F5344CB8AC3E}">
        <p14:creationId xmlns:p14="http://schemas.microsoft.com/office/powerpoint/2010/main" val="410339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ea typeface="+mj-ea"/>
                <a:cs typeface="+mj-cs"/>
              </a:rPr>
              <a:t>Validación de argumentos</a:t>
            </a:r>
            <a:endParaRPr dirty="0">
              <a:solidFill>
                <a:schemeClr val="tx1"/>
              </a:solidFill>
              <a:latin typeface="+mj-lt"/>
              <a:ea typeface="+mj-ea"/>
              <a:cs typeface="+mj-cs"/>
            </a:endParaRPr>
          </a:p>
        </p:txBody>
      </p:sp>
      <p:sp>
        <p:nvSpPr>
          <p:cNvPr id="47" name="CuadroTexto 46">
            <a:extLst>
              <a:ext uri="{FF2B5EF4-FFF2-40B4-BE49-F238E27FC236}">
                <a16:creationId xmlns:a16="http://schemas.microsoft.com/office/drawing/2014/main" id="{B3A4CE45-79F3-4AE0-8443-FE49CBE2285A}"/>
              </a:ext>
            </a:extLst>
          </p:cNvPr>
          <p:cNvSpPr txBox="1"/>
          <p:nvPr/>
        </p:nvSpPr>
        <p:spPr>
          <a:xfrm>
            <a:off x="555968" y="879373"/>
            <a:ext cx="10587093" cy="492443"/>
          </a:xfrm>
          <a:prstGeom prst="rect">
            <a:avLst/>
          </a:prstGeom>
          <a:noFill/>
        </p:spPr>
        <p:txBody>
          <a:bodyPr wrap="square" rtlCol="0">
            <a:spAutoFit/>
          </a:bodyPr>
          <a:lstStyle/>
          <a:p>
            <a:r>
              <a:rPr lang="es-MX" sz="2600" b="1" dirty="0">
                <a:ea typeface="Roboto" panose="02000000000000000000" pitchFamily="2" charset="0"/>
              </a:rPr>
              <a:t>Argumentos en lógica proposicional</a:t>
            </a:r>
          </a:p>
        </p:txBody>
      </p:sp>
      <p:sp>
        <p:nvSpPr>
          <p:cNvPr id="49" name="Google Shape;310;p34">
            <a:extLst>
              <a:ext uri="{FF2B5EF4-FFF2-40B4-BE49-F238E27FC236}">
                <a16:creationId xmlns:a16="http://schemas.microsoft.com/office/drawing/2014/main" id="{22BAE60A-7B53-429E-8191-1B870B09A7CE}"/>
              </a:ext>
            </a:extLst>
          </p:cNvPr>
          <p:cNvSpPr txBox="1">
            <a:spLocks/>
          </p:cNvSpPr>
          <p:nvPr/>
        </p:nvSpPr>
        <p:spPr>
          <a:xfrm>
            <a:off x="439766" y="1470352"/>
            <a:ext cx="11521176" cy="83716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La </a:t>
            </a:r>
            <a:r>
              <a:rPr lang="es-MX" sz="2200" b="1" dirty="0">
                <a:latin typeface="+mn-lt"/>
                <a:ea typeface="Roboto" panose="02000000000000000000" pitchFamily="2" charset="0"/>
              </a:rPr>
              <a:t>forma del argumento </a:t>
            </a:r>
            <a:r>
              <a:rPr lang="es-MX" sz="2200" dirty="0">
                <a:latin typeface="+mn-lt"/>
                <a:ea typeface="Roboto" panose="02000000000000000000" pitchFamily="2" charset="0"/>
              </a:rPr>
              <a:t>hace alusión a la estructura lógica empleada en el razonamiento para llegar de las premisas a la conclusión. Existen 3 formas de representación</a:t>
            </a:r>
          </a:p>
        </p:txBody>
      </p:sp>
      <mc:AlternateContent xmlns:mc="http://schemas.openxmlformats.org/markup-compatibility/2006" xmlns:a14="http://schemas.microsoft.com/office/drawing/2010/main">
        <mc:Choice Requires="a14">
          <p:sp>
            <p:nvSpPr>
              <p:cNvPr id="52" name="CuadroTexto 51">
                <a:extLst>
                  <a:ext uri="{FF2B5EF4-FFF2-40B4-BE49-F238E27FC236}">
                    <a16:creationId xmlns:a16="http://schemas.microsoft.com/office/drawing/2014/main" id="{23E4CD3B-EBE4-40A8-A9DC-A1C2E0EA5978}"/>
                  </a:ext>
                </a:extLst>
              </p:cNvPr>
              <p:cNvSpPr txBox="1"/>
              <p:nvPr/>
            </p:nvSpPr>
            <p:spPr>
              <a:xfrm>
                <a:off x="9091284" y="4017978"/>
                <a:ext cx="2078260" cy="307777"/>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sz="2000" b="0" i="1" smtClean="0">
                              <a:latin typeface="Cambria Math" panose="02040503050406030204" pitchFamily="18" charset="0"/>
                            </a:rPr>
                          </m:ctrlPr>
                        </m:sSubPr>
                        <m:e>
                          <m:r>
                            <a:rPr lang="es-MX" sz="2000" b="0" i="1" smtClean="0">
                              <a:latin typeface="Cambria Math" panose="02040503050406030204" pitchFamily="18" charset="0"/>
                            </a:rPr>
                            <m:t>𝑃</m:t>
                          </m:r>
                        </m:e>
                        <m:sub>
                          <m:r>
                            <a:rPr lang="es-MX" sz="2000" b="0" i="1" smtClean="0">
                              <a:latin typeface="Cambria Math" panose="02040503050406030204" pitchFamily="18" charset="0"/>
                            </a:rPr>
                            <m:t>1</m:t>
                          </m:r>
                        </m:sub>
                      </m:sSub>
                      <m:r>
                        <a:rPr lang="es-MX" sz="2000" b="0" i="0" smtClean="0">
                          <a:latin typeface="Cambria Math" panose="02040503050406030204" pitchFamily="18" charset="0"/>
                        </a:rPr>
                        <m:t>, </m:t>
                      </m:r>
                      <m:sSub>
                        <m:sSubPr>
                          <m:ctrlPr>
                            <a:rPr lang="es-MX" sz="2000" i="1">
                              <a:latin typeface="Cambria Math" panose="02040503050406030204" pitchFamily="18" charset="0"/>
                            </a:rPr>
                          </m:ctrlPr>
                        </m:sSubPr>
                        <m:e>
                          <m:r>
                            <a:rPr lang="es-MX" sz="2000" b="0" i="1" smtClean="0">
                              <a:latin typeface="Cambria Math" panose="02040503050406030204" pitchFamily="18" charset="0"/>
                            </a:rPr>
                            <m:t>𝑃</m:t>
                          </m:r>
                        </m:e>
                        <m:sub>
                          <m:r>
                            <a:rPr lang="es-MX" sz="2000" b="0" i="1" smtClean="0">
                              <a:latin typeface="Cambria Math" panose="02040503050406030204" pitchFamily="18" charset="0"/>
                            </a:rPr>
                            <m:t>2</m:t>
                          </m:r>
                        </m:sub>
                      </m:sSub>
                      <m:r>
                        <a:rPr lang="es-MX" sz="2000" b="0" i="1" smtClean="0">
                          <a:latin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m:t>
                      </m:r>
                      <m:sSub>
                        <m:sSubPr>
                          <m:ctrlPr>
                            <a:rPr lang="es-MX" sz="2000" b="0" i="1" smtClean="0">
                              <a:latin typeface="Cambria Math" panose="02040503050406030204" pitchFamily="18" charset="0"/>
                              <a:ea typeface="Cambria Math" panose="02040503050406030204" pitchFamily="18" charset="0"/>
                            </a:rPr>
                          </m:ctrlPr>
                        </m:sSubPr>
                        <m:e>
                          <m:r>
                            <a:rPr lang="es-MX" sz="2000" b="0" i="1" smtClean="0">
                              <a:latin typeface="Cambria Math" panose="02040503050406030204" pitchFamily="18" charset="0"/>
                              <a:ea typeface="Cambria Math" panose="02040503050406030204" pitchFamily="18" charset="0"/>
                            </a:rPr>
                            <m:t>𝑃</m:t>
                          </m:r>
                        </m:e>
                        <m:sub>
                          <m:r>
                            <a:rPr lang="es-MX" sz="2000" b="0" i="1" smtClean="0">
                              <a:latin typeface="Cambria Math" panose="02040503050406030204" pitchFamily="18" charset="0"/>
                              <a:ea typeface="Cambria Math" panose="02040503050406030204" pitchFamily="18" charset="0"/>
                            </a:rPr>
                            <m:t>𝑛</m:t>
                          </m:r>
                        </m:sub>
                      </m:sSub>
                      <m:r>
                        <a:rPr lang="es-MX" sz="2000" i="1">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𝑄</m:t>
                      </m:r>
                    </m:oMath>
                  </m:oMathPara>
                </a14:m>
                <a:endParaRPr lang="es-CO" sz="2000" dirty="0"/>
              </a:p>
            </p:txBody>
          </p:sp>
        </mc:Choice>
        <mc:Fallback xmlns="">
          <p:sp>
            <p:nvSpPr>
              <p:cNvPr id="52" name="CuadroTexto 51">
                <a:extLst>
                  <a:ext uri="{FF2B5EF4-FFF2-40B4-BE49-F238E27FC236}">
                    <a16:creationId xmlns:a16="http://schemas.microsoft.com/office/drawing/2014/main" id="{23E4CD3B-EBE4-40A8-A9DC-A1C2E0EA5978}"/>
                  </a:ext>
                </a:extLst>
              </p:cNvPr>
              <p:cNvSpPr txBox="1">
                <a:spLocks noRot="1" noChangeAspect="1" noMove="1" noResize="1" noEditPoints="1" noAdjustHandles="1" noChangeArrowheads="1" noChangeShapeType="1" noTextEdit="1"/>
              </p:cNvSpPr>
              <p:nvPr/>
            </p:nvSpPr>
            <p:spPr>
              <a:xfrm>
                <a:off x="9091284" y="4017978"/>
                <a:ext cx="2078260" cy="307777"/>
              </a:xfrm>
              <a:prstGeom prst="rect">
                <a:avLst/>
              </a:prstGeom>
              <a:blipFill>
                <a:blip r:embed="rId3"/>
                <a:stretch>
                  <a:fillRect b="-25490"/>
                </a:stretch>
              </a:blipFill>
              <a:ln>
                <a:noFill/>
              </a:ln>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55" name="CuadroTexto 54">
                <a:extLst>
                  <a:ext uri="{FF2B5EF4-FFF2-40B4-BE49-F238E27FC236}">
                    <a16:creationId xmlns:a16="http://schemas.microsoft.com/office/drawing/2014/main" id="{691D856A-9552-4844-9626-D1FA1ADE64BB}"/>
                  </a:ext>
                </a:extLst>
              </p:cNvPr>
              <p:cNvSpPr txBox="1"/>
              <p:nvPr/>
            </p:nvSpPr>
            <p:spPr>
              <a:xfrm>
                <a:off x="4969318" y="4017979"/>
                <a:ext cx="2462072" cy="307777"/>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sz="2000" b="0" i="1" smtClean="0">
                              <a:latin typeface="Cambria Math" panose="02040503050406030204" pitchFamily="18" charset="0"/>
                            </a:rPr>
                          </m:ctrlPr>
                        </m:sSubPr>
                        <m:e>
                          <m:r>
                            <a:rPr lang="es-MX" sz="2000" b="0" i="1" smtClean="0">
                              <a:latin typeface="Cambria Math" panose="02040503050406030204" pitchFamily="18" charset="0"/>
                            </a:rPr>
                            <m:t>𝑃</m:t>
                          </m:r>
                        </m:e>
                        <m:sub>
                          <m:r>
                            <a:rPr lang="es-MX" sz="2000" b="0" i="1" smtClean="0">
                              <a:latin typeface="Cambria Math" panose="02040503050406030204" pitchFamily="18" charset="0"/>
                            </a:rPr>
                            <m:t>1</m:t>
                          </m:r>
                        </m:sub>
                      </m:sSub>
                      <m:r>
                        <a:rPr lang="es-MX" sz="2000" b="0" i="1" smtClean="0">
                          <a:latin typeface="Cambria Math" panose="02040503050406030204" pitchFamily="18" charset="0"/>
                          <a:ea typeface="Cambria Math" panose="02040503050406030204" pitchFamily="18" charset="0"/>
                        </a:rPr>
                        <m:t>∧</m:t>
                      </m:r>
                      <m:sSub>
                        <m:sSubPr>
                          <m:ctrlPr>
                            <a:rPr lang="es-MX" sz="2000" i="1">
                              <a:latin typeface="Cambria Math" panose="02040503050406030204" pitchFamily="18" charset="0"/>
                            </a:rPr>
                          </m:ctrlPr>
                        </m:sSubPr>
                        <m:e>
                          <m:r>
                            <a:rPr lang="es-MX" sz="2000" b="0" i="1" smtClean="0">
                              <a:latin typeface="Cambria Math" panose="02040503050406030204" pitchFamily="18" charset="0"/>
                            </a:rPr>
                            <m:t>𝑃</m:t>
                          </m:r>
                        </m:e>
                        <m:sub>
                          <m:r>
                            <a:rPr lang="es-MX" sz="2000" b="0" i="1" smtClean="0">
                              <a:latin typeface="Cambria Math" panose="02040503050406030204" pitchFamily="18" charset="0"/>
                            </a:rPr>
                            <m:t>2</m:t>
                          </m:r>
                        </m:sub>
                      </m:sSub>
                      <m:r>
                        <a:rPr lang="es-MX" sz="2000" i="1">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m:t>
                      </m:r>
                      <m:sSub>
                        <m:sSubPr>
                          <m:ctrlPr>
                            <a:rPr lang="es-MX" sz="2000" b="0" i="1" smtClean="0">
                              <a:latin typeface="Cambria Math" panose="02040503050406030204" pitchFamily="18" charset="0"/>
                              <a:ea typeface="Cambria Math" panose="02040503050406030204" pitchFamily="18" charset="0"/>
                            </a:rPr>
                          </m:ctrlPr>
                        </m:sSubPr>
                        <m:e>
                          <m:r>
                            <a:rPr lang="es-MX" sz="2000" b="0" i="1" smtClean="0">
                              <a:latin typeface="Cambria Math" panose="02040503050406030204" pitchFamily="18" charset="0"/>
                              <a:ea typeface="Cambria Math" panose="02040503050406030204" pitchFamily="18" charset="0"/>
                            </a:rPr>
                            <m:t>𝑃</m:t>
                          </m:r>
                        </m:e>
                        <m:sub>
                          <m:r>
                            <a:rPr lang="es-MX" sz="2000" b="0" i="1" smtClean="0">
                              <a:latin typeface="Cambria Math" panose="02040503050406030204" pitchFamily="18" charset="0"/>
                              <a:ea typeface="Cambria Math" panose="02040503050406030204" pitchFamily="18" charset="0"/>
                            </a:rPr>
                            <m:t>𝑛</m:t>
                          </m:r>
                        </m:sub>
                      </m:sSub>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𝑄</m:t>
                      </m:r>
                    </m:oMath>
                  </m:oMathPara>
                </a14:m>
                <a:endParaRPr lang="es-CO" sz="2000" dirty="0"/>
              </a:p>
            </p:txBody>
          </p:sp>
        </mc:Choice>
        <mc:Fallback xmlns="">
          <p:sp>
            <p:nvSpPr>
              <p:cNvPr id="55" name="CuadroTexto 54">
                <a:extLst>
                  <a:ext uri="{FF2B5EF4-FFF2-40B4-BE49-F238E27FC236}">
                    <a16:creationId xmlns:a16="http://schemas.microsoft.com/office/drawing/2014/main" id="{691D856A-9552-4844-9626-D1FA1ADE64BB}"/>
                  </a:ext>
                </a:extLst>
              </p:cNvPr>
              <p:cNvSpPr txBox="1">
                <a:spLocks noRot="1" noChangeAspect="1" noMove="1" noResize="1" noEditPoints="1" noAdjustHandles="1" noChangeArrowheads="1" noChangeShapeType="1" noTextEdit="1"/>
              </p:cNvSpPr>
              <p:nvPr/>
            </p:nvSpPr>
            <p:spPr>
              <a:xfrm>
                <a:off x="4969318" y="4017979"/>
                <a:ext cx="2462072" cy="307777"/>
              </a:xfrm>
              <a:prstGeom prst="rect">
                <a:avLst/>
              </a:prstGeom>
              <a:blipFill>
                <a:blip r:embed="rId4"/>
                <a:stretch>
                  <a:fillRect b="-25490"/>
                </a:stretch>
              </a:blipFill>
              <a:ln>
                <a:noFill/>
              </a:ln>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F9E01239-DB71-45B9-A9F6-4A08CF60E561}"/>
                  </a:ext>
                </a:extLst>
              </p:cNvPr>
              <p:cNvSpPr txBox="1"/>
              <p:nvPr/>
            </p:nvSpPr>
            <p:spPr>
              <a:xfrm>
                <a:off x="2219814" y="3474508"/>
                <a:ext cx="542441" cy="1596399"/>
              </a:xfrm>
              <a:prstGeom prst="rect">
                <a:avLst/>
              </a:prstGeom>
              <a:noFill/>
              <a:ln>
                <a:noFill/>
              </a:ln>
            </p:spPr>
            <p:txBody>
              <a:bodyPr wrap="square">
                <a:spAutoFit/>
              </a:bodyPr>
              <a:lstStyle/>
              <a:p>
                <a:pPr/>
                <a14:m>
                  <m:oMathPara xmlns:m="http://schemas.openxmlformats.org/officeDocument/2006/math">
                    <m:oMathParaPr>
                      <m:jc m:val="left"/>
                    </m:oMathParaPr>
                    <m:oMath xmlns:m="http://schemas.openxmlformats.org/officeDocument/2006/math">
                      <m:f>
                        <m:fPr>
                          <m:ctrlPr>
                            <a:rPr lang="es-MX" sz="2000" b="0" i="1" smtClean="0">
                              <a:latin typeface="Cambria Math" panose="02040503050406030204" pitchFamily="18" charset="0"/>
                              <a:ea typeface="Cambria Math" panose="02040503050406030204" pitchFamily="18" charset="0"/>
                            </a:rPr>
                          </m:ctrlPr>
                        </m:fPr>
                        <m:num>
                          <m:eqArr>
                            <m:eqArrPr>
                              <m:ctrlPr>
                                <a:rPr lang="es-MX" sz="2000" b="0" i="1" smtClean="0">
                                  <a:latin typeface="Cambria Math" panose="02040503050406030204" pitchFamily="18" charset="0"/>
                                  <a:ea typeface="Cambria Math" panose="02040503050406030204" pitchFamily="18" charset="0"/>
                                </a:rPr>
                              </m:ctrlPr>
                            </m:eqArrPr>
                            <m:e>
                              <m:sSub>
                                <m:sSubPr>
                                  <m:ctrlPr>
                                    <a:rPr lang="es-MX" sz="2000" b="0" i="1" smtClean="0">
                                      <a:latin typeface="Cambria Math" panose="02040503050406030204" pitchFamily="18" charset="0"/>
                                      <a:ea typeface="Cambria Math" panose="02040503050406030204" pitchFamily="18" charset="0"/>
                                    </a:rPr>
                                  </m:ctrlPr>
                                </m:sSubPr>
                                <m:e>
                                  <m:r>
                                    <a:rPr lang="es-MX" sz="2000" b="0" i="1" smtClean="0">
                                      <a:latin typeface="Cambria Math" panose="02040503050406030204" pitchFamily="18" charset="0"/>
                                      <a:ea typeface="Cambria Math" panose="02040503050406030204" pitchFamily="18" charset="0"/>
                                    </a:rPr>
                                    <m:t>𝑃</m:t>
                                  </m:r>
                                </m:e>
                                <m:sub>
                                  <m:r>
                                    <a:rPr lang="es-MX" sz="2000" b="0" i="1" smtClean="0">
                                      <a:latin typeface="Cambria Math" panose="02040503050406030204" pitchFamily="18" charset="0"/>
                                      <a:ea typeface="Cambria Math" panose="02040503050406030204" pitchFamily="18" charset="0"/>
                                    </a:rPr>
                                    <m:t>1</m:t>
                                  </m:r>
                                </m:sub>
                              </m:sSub>
                            </m:e>
                            <m:e>
                              <m:sSub>
                                <m:sSubPr>
                                  <m:ctrlPr>
                                    <a:rPr lang="es-MX" sz="2000" b="0" i="1" smtClean="0">
                                      <a:latin typeface="Cambria Math" panose="02040503050406030204" pitchFamily="18" charset="0"/>
                                      <a:ea typeface="Cambria Math" panose="02040503050406030204" pitchFamily="18" charset="0"/>
                                    </a:rPr>
                                  </m:ctrlPr>
                                </m:sSubPr>
                                <m:e>
                                  <m:r>
                                    <a:rPr lang="es-MX" sz="2000" b="0" i="1" smtClean="0">
                                      <a:latin typeface="Cambria Math" panose="02040503050406030204" pitchFamily="18" charset="0"/>
                                      <a:ea typeface="Cambria Math" panose="02040503050406030204" pitchFamily="18" charset="0"/>
                                    </a:rPr>
                                    <m:t>𝑃</m:t>
                                  </m:r>
                                </m:e>
                                <m:sub>
                                  <m:r>
                                    <a:rPr lang="es-MX" sz="2000" b="0" i="1" smtClean="0">
                                      <a:latin typeface="Cambria Math" panose="02040503050406030204" pitchFamily="18" charset="0"/>
                                      <a:ea typeface="Cambria Math" panose="02040503050406030204" pitchFamily="18" charset="0"/>
                                    </a:rPr>
                                    <m:t>2</m:t>
                                  </m:r>
                                </m:sub>
                              </m:sSub>
                            </m:e>
                            <m:e>
                              <m:r>
                                <a:rPr lang="es-MX" sz="2000" b="0" i="1" smtClean="0">
                                  <a:latin typeface="Cambria Math" panose="02040503050406030204" pitchFamily="18" charset="0"/>
                                  <a:ea typeface="Cambria Math" panose="02040503050406030204" pitchFamily="18" charset="0"/>
                                </a:rPr>
                                <m:t>⋮</m:t>
                              </m:r>
                            </m:e>
                            <m:e>
                              <m:sSub>
                                <m:sSubPr>
                                  <m:ctrlPr>
                                    <a:rPr lang="es-MX" sz="2000" b="0" i="1" smtClean="0">
                                      <a:latin typeface="Cambria Math" panose="02040503050406030204" pitchFamily="18" charset="0"/>
                                      <a:ea typeface="Cambria Math" panose="02040503050406030204" pitchFamily="18" charset="0"/>
                                    </a:rPr>
                                  </m:ctrlPr>
                                </m:sSubPr>
                                <m:e>
                                  <m:r>
                                    <a:rPr lang="es-MX" sz="2000" b="0" i="1" smtClean="0">
                                      <a:latin typeface="Cambria Math" panose="02040503050406030204" pitchFamily="18" charset="0"/>
                                      <a:ea typeface="Cambria Math" panose="02040503050406030204" pitchFamily="18" charset="0"/>
                                    </a:rPr>
                                    <m:t>𝑃</m:t>
                                  </m:r>
                                </m:e>
                                <m:sub>
                                  <m:r>
                                    <a:rPr lang="es-MX" sz="2000" b="0" i="1" smtClean="0">
                                      <a:latin typeface="Cambria Math" panose="02040503050406030204" pitchFamily="18" charset="0"/>
                                      <a:ea typeface="Cambria Math" panose="02040503050406030204" pitchFamily="18" charset="0"/>
                                    </a:rPr>
                                    <m:t>𝑛</m:t>
                                  </m:r>
                                </m:sub>
                              </m:sSub>
                            </m:e>
                          </m:eqArr>
                        </m:num>
                        <m:den>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𝑄</m:t>
                          </m:r>
                        </m:den>
                      </m:f>
                    </m:oMath>
                  </m:oMathPara>
                </a14:m>
                <a:endParaRPr lang="es-MX" sz="2000" b="0" i="0" dirty="0">
                  <a:latin typeface="Cambria Math" panose="02040503050406030204" pitchFamily="18" charset="0"/>
                  <a:ea typeface="Cambria Math" panose="02040503050406030204" pitchFamily="18" charset="0"/>
                </a:endParaRPr>
              </a:p>
            </p:txBody>
          </p:sp>
        </mc:Choice>
        <mc:Fallback xmlns="">
          <p:sp>
            <p:nvSpPr>
              <p:cNvPr id="16" name="CuadroTexto 15">
                <a:extLst>
                  <a:ext uri="{FF2B5EF4-FFF2-40B4-BE49-F238E27FC236}">
                    <a16:creationId xmlns:a16="http://schemas.microsoft.com/office/drawing/2014/main" id="{F9E01239-DB71-45B9-A9F6-4A08CF60E561}"/>
                  </a:ext>
                </a:extLst>
              </p:cNvPr>
              <p:cNvSpPr txBox="1">
                <a:spLocks noRot="1" noChangeAspect="1" noMove="1" noResize="1" noEditPoints="1" noAdjustHandles="1" noChangeArrowheads="1" noChangeShapeType="1" noTextEdit="1"/>
              </p:cNvSpPr>
              <p:nvPr/>
            </p:nvSpPr>
            <p:spPr>
              <a:xfrm>
                <a:off x="2219814" y="3474508"/>
                <a:ext cx="542441" cy="1596399"/>
              </a:xfrm>
              <a:prstGeom prst="rect">
                <a:avLst/>
              </a:prstGeom>
              <a:blipFill>
                <a:blip r:embed="rId5"/>
                <a:stretch>
                  <a:fillRect/>
                </a:stretch>
              </a:blipFill>
              <a:ln>
                <a:noFill/>
              </a:ln>
            </p:spPr>
            <p:txBody>
              <a:bodyPr/>
              <a:lstStyle/>
              <a:p>
                <a:r>
                  <a:rPr lang="es-CO">
                    <a:noFill/>
                  </a:rPr>
                  <a:t> </a:t>
                </a:r>
              </a:p>
            </p:txBody>
          </p:sp>
        </mc:Fallback>
      </mc:AlternateContent>
      <p:sp>
        <p:nvSpPr>
          <p:cNvPr id="3" name="CuadroTexto 2">
            <a:extLst>
              <a:ext uri="{FF2B5EF4-FFF2-40B4-BE49-F238E27FC236}">
                <a16:creationId xmlns:a16="http://schemas.microsoft.com/office/drawing/2014/main" id="{64A411E3-BD18-4E90-BB87-28C8CC3369ED}"/>
              </a:ext>
            </a:extLst>
          </p:cNvPr>
          <p:cNvSpPr txBox="1"/>
          <p:nvPr/>
        </p:nvSpPr>
        <p:spPr>
          <a:xfrm>
            <a:off x="864116" y="2786182"/>
            <a:ext cx="3171830" cy="430887"/>
          </a:xfrm>
          <a:prstGeom prst="rect">
            <a:avLst/>
          </a:prstGeom>
          <a:noFill/>
        </p:spPr>
        <p:txBody>
          <a:bodyPr wrap="none" rtlCol="0">
            <a:spAutoFit/>
          </a:bodyPr>
          <a:lstStyle/>
          <a:p>
            <a:r>
              <a:rPr lang="es-CO" sz="2200" b="1" dirty="0"/>
              <a:t>Forma estándar o vertical</a:t>
            </a:r>
          </a:p>
        </p:txBody>
      </p:sp>
      <p:sp>
        <p:nvSpPr>
          <p:cNvPr id="18" name="CuadroTexto 17">
            <a:extLst>
              <a:ext uri="{FF2B5EF4-FFF2-40B4-BE49-F238E27FC236}">
                <a16:creationId xmlns:a16="http://schemas.microsoft.com/office/drawing/2014/main" id="{8913B6F5-606E-4094-97B8-7CE2744B03B4}"/>
              </a:ext>
            </a:extLst>
          </p:cNvPr>
          <p:cNvSpPr txBox="1"/>
          <p:nvPr/>
        </p:nvSpPr>
        <p:spPr>
          <a:xfrm>
            <a:off x="5394557" y="2786182"/>
            <a:ext cx="1402885" cy="430887"/>
          </a:xfrm>
          <a:prstGeom prst="rect">
            <a:avLst/>
          </a:prstGeom>
          <a:noFill/>
        </p:spPr>
        <p:txBody>
          <a:bodyPr wrap="none" rtlCol="0">
            <a:spAutoFit/>
          </a:bodyPr>
          <a:lstStyle/>
          <a:p>
            <a:r>
              <a:rPr lang="es-CO" sz="2200" b="1" dirty="0"/>
              <a:t>Tautología</a:t>
            </a:r>
          </a:p>
        </p:txBody>
      </p:sp>
      <p:sp>
        <p:nvSpPr>
          <p:cNvPr id="19" name="CuadroTexto 18">
            <a:extLst>
              <a:ext uri="{FF2B5EF4-FFF2-40B4-BE49-F238E27FC236}">
                <a16:creationId xmlns:a16="http://schemas.microsoft.com/office/drawing/2014/main" id="{14308BFA-73F3-4135-BE02-10D6C2BBC8F5}"/>
              </a:ext>
            </a:extLst>
          </p:cNvPr>
          <p:cNvSpPr txBox="1"/>
          <p:nvPr/>
        </p:nvSpPr>
        <p:spPr>
          <a:xfrm>
            <a:off x="9064801" y="2786182"/>
            <a:ext cx="2104743" cy="430887"/>
          </a:xfrm>
          <a:prstGeom prst="rect">
            <a:avLst/>
          </a:prstGeom>
          <a:noFill/>
        </p:spPr>
        <p:txBody>
          <a:bodyPr wrap="none" rtlCol="0">
            <a:spAutoFit/>
          </a:bodyPr>
          <a:lstStyle/>
          <a:p>
            <a:r>
              <a:rPr lang="es-CO" sz="2200" b="1" dirty="0"/>
              <a:t>Forma simbólica</a:t>
            </a:r>
          </a:p>
        </p:txBody>
      </p:sp>
    </p:spTree>
    <p:extLst>
      <p:ext uri="{BB962C8B-B14F-4D97-AF65-F5344CB8AC3E}">
        <p14:creationId xmlns:p14="http://schemas.microsoft.com/office/powerpoint/2010/main" val="2560187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ea typeface="+mj-ea"/>
                <a:cs typeface="+mj-cs"/>
              </a:rPr>
              <a:t>Validación de argumentos</a:t>
            </a:r>
            <a:endParaRPr dirty="0">
              <a:solidFill>
                <a:schemeClr val="tx1"/>
              </a:solidFill>
              <a:latin typeface="+mj-lt"/>
              <a:ea typeface="+mj-ea"/>
              <a:cs typeface="+mj-cs"/>
            </a:endParaRPr>
          </a:p>
        </p:txBody>
      </p:sp>
      <p:sp>
        <p:nvSpPr>
          <p:cNvPr id="47" name="CuadroTexto 46">
            <a:extLst>
              <a:ext uri="{FF2B5EF4-FFF2-40B4-BE49-F238E27FC236}">
                <a16:creationId xmlns:a16="http://schemas.microsoft.com/office/drawing/2014/main" id="{B3A4CE45-79F3-4AE0-8443-FE49CBE2285A}"/>
              </a:ext>
            </a:extLst>
          </p:cNvPr>
          <p:cNvSpPr txBox="1"/>
          <p:nvPr/>
        </p:nvSpPr>
        <p:spPr>
          <a:xfrm>
            <a:off x="555968" y="879373"/>
            <a:ext cx="10587093" cy="492443"/>
          </a:xfrm>
          <a:prstGeom prst="rect">
            <a:avLst/>
          </a:prstGeom>
          <a:noFill/>
        </p:spPr>
        <p:txBody>
          <a:bodyPr wrap="square" rtlCol="0">
            <a:spAutoFit/>
          </a:bodyPr>
          <a:lstStyle/>
          <a:p>
            <a:r>
              <a:rPr lang="es-MX" sz="2600" b="1" dirty="0">
                <a:ea typeface="Roboto" panose="02000000000000000000" pitchFamily="2" charset="0"/>
              </a:rPr>
              <a:t>Argumentos en lógica proposicional</a:t>
            </a:r>
          </a:p>
        </p:txBody>
      </p:sp>
      <p:sp>
        <p:nvSpPr>
          <p:cNvPr id="21" name="Google Shape;310;p34">
            <a:extLst>
              <a:ext uri="{FF2B5EF4-FFF2-40B4-BE49-F238E27FC236}">
                <a16:creationId xmlns:a16="http://schemas.microsoft.com/office/drawing/2014/main" id="{526C5A73-1C9C-474E-92D9-1CC9E85C6F0D}"/>
              </a:ext>
            </a:extLst>
          </p:cNvPr>
          <p:cNvSpPr txBox="1">
            <a:spLocks/>
          </p:cNvSpPr>
          <p:nvPr/>
        </p:nvSpPr>
        <p:spPr>
          <a:xfrm>
            <a:off x="445179" y="1494972"/>
            <a:ext cx="11301642" cy="80765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rPr>
              <a:t>Un argumento es </a:t>
            </a:r>
            <a:r>
              <a:rPr lang="es-MX" sz="2200" b="1" dirty="0">
                <a:latin typeface="+mn-lt"/>
              </a:rPr>
              <a:t>válido</a:t>
            </a:r>
            <a:r>
              <a:rPr lang="es-MX" sz="2200" dirty="0">
                <a:latin typeface="+mn-lt"/>
              </a:rPr>
              <a:t> si, y solo si, para toda asignación de valores de verdad que haga verdaderas todas las </a:t>
            </a:r>
            <a:r>
              <a:rPr lang="es-MX" sz="2200" b="1" dirty="0">
                <a:latin typeface="+mn-lt"/>
              </a:rPr>
              <a:t>premisas</a:t>
            </a:r>
            <a:r>
              <a:rPr lang="es-MX" sz="2200" dirty="0">
                <a:latin typeface="+mn-lt"/>
              </a:rPr>
              <a:t>, la </a:t>
            </a:r>
            <a:r>
              <a:rPr lang="es-MX" sz="2200" b="1" dirty="0">
                <a:latin typeface="+mn-lt"/>
              </a:rPr>
              <a:t>conclusión</a:t>
            </a:r>
            <a:r>
              <a:rPr lang="es-MX" sz="2200" dirty="0">
                <a:latin typeface="+mn-lt"/>
              </a:rPr>
              <a:t> también es verdadera.</a:t>
            </a:r>
            <a:endParaRPr lang="es-MX" sz="2200" dirty="0">
              <a:latin typeface="+mn-lt"/>
              <a:ea typeface="Roboto" panose="02000000000000000000" pitchFamily="2" charset="0"/>
            </a:endParaRPr>
          </a:p>
        </p:txBody>
      </p:sp>
      <mc:AlternateContent xmlns:mc="http://schemas.openxmlformats.org/markup-compatibility/2006">
        <mc:Choice xmlns:a14="http://schemas.microsoft.com/office/drawing/2010/main" Requires="a14">
          <p:graphicFrame>
            <p:nvGraphicFramePr>
              <p:cNvPr id="13" name="Tabla 12">
                <a:extLst>
                  <a:ext uri="{FF2B5EF4-FFF2-40B4-BE49-F238E27FC236}">
                    <a16:creationId xmlns:a16="http://schemas.microsoft.com/office/drawing/2014/main" id="{04DFCAE4-35FB-402C-B7A3-3C19600DA142}"/>
                  </a:ext>
                </a:extLst>
              </p:cNvPr>
              <p:cNvGraphicFramePr>
                <a:graphicFrameLocks noGrp="1"/>
              </p:cNvGraphicFramePr>
              <p:nvPr>
                <p:extLst>
                  <p:ext uri="{D42A27DB-BD31-4B8C-83A1-F6EECF244321}">
                    <p14:modId xmlns:p14="http://schemas.microsoft.com/office/powerpoint/2010/main" val="600811728"/>
                  </p:ext>
                </p:extLst>
              </p:nvPr>
            </p:nvGraphicFramePr>
            <p:xfrm>
              <a:off x="3248862" y="2574179"/>
              <a:ext cx="5201303" cy="1981200"/>
            </p:xfrm>
            <a:graphic>
              <a:graphicData uri="http://schemas.openxmlformats.org/drawingml/2006/table">
                <a:tbl>
                  <a:tblPr firstRow="1" bandRow="1">
                    <a:tableStyleId>{AD6A3598-7CB8-4345-8D95-17CE05F158A0}</a:tableStyleId>
                  </a:tblPr>
                  <a:tblGrid>
                    <a:gridCol w="2103654">
                      <a:extLst>
                        <a:ext uri="{9D8B030D-6E8A-4147-A177-3AD203B41FA5}">
                          <a16:colId xmlns:a16="http://schemas.microsoft.com/office/drawing/2014/main" val="490870258"/>
                        </a:ext>
                      </a:extLst>
                    </a:gridCol>
                    <a:gridCol w="2103654">
                      <a:extLst>
                        <a:ext uri="{9D8B030D-6E8A-4147-A177-3AD203B41FA5}">
                          <a16:colId xmlns:a16="http://schemas.microsoft.com/office/drawing/2014/main" val="1397687665"/>
                        </a:ext>
                      </a:extLst>
                    </a:gridCol>
                    <a:gridCol w="993995">
                      <a:extLst>
                        <a:ext uri="{9D8B030D-6E8A-4147-A177-3AD203B41FA5}">
                          <a16:colId xmlns:a16="http://schemas.microsoft.com/office/drawing/2014/main" val="3269965761"/>
                        </a:ext>
                      </a:extLst>
                    </a:gridCol>
                  </a:tblGrid>
                  <a:tr h="21400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 xmlns:m="http://schemas.openxmlformats.org/officeDocument/2006/math">
                              <m:r>
                                <a:rPr lang="es-MX" sz="2000" b="1" i="1" smtClean="0">
                                  <a:solidFill>
                                    <a:schemeClr val="bg1"/>
                                  </a:solidFill>
                                  <a:latin typeface="Cambria Math" panose="02040503050406030204" pitchFamily="18" charset="0"/>
                                  <a:ea typeface="Roboto" panose="02000000000000000000" pitchFamily="2" charset="0"/>
                                </a:rPr>
                                <m:t>𝑷</m:t>
                              </m:r>
                              <m:r>
                                <a:rPr lang="es-MX" sz="2000" b="1" i="1" smtClean="0">
                                  <a:solidFill>
                                    <a:schemeClr val="bg1"/>
                                  </a:solidFill>
                                  <a:latin typeface="Cambria Math" panose="02040503050406030204" pitchFamily="18" charset="0"/>
                                  <a:ea typeface="Roboto" panose="02000000000000000000" pitchFamily="2" charset="0"/>
                                </a:rPr>
                                <m:t> </m:t>
                              </m:r>
                              <m:r>
                                <a:rPr lang="es-MX" sz="2000" b="1" i="0" smtClean="0">
                                  <a:solidFill>
                                    <a:schemeClr val="bg1"/>
                                  </a:solidFill>
                                  <a:latin typeface="Cambria Math" panose="02040503050406030204" pitchFamily="18" charset="0"/>
                                  <a:ea typeface="Roboto" panose="02000000000000000000" pitchFamily="2" charset="0"/>
                                </a:rPr>
                                <m:t>(</m:t>
                              </m:r>
                              <m:r>
                                <a:rPr lang="es-MX" sz="2000" b="1" i="0" smtClean="0">
                                  <a:solidFill>
                                    <a:schemeClr val="bg1"/>
                                  </a:solidFill>
                                  <a:latin typeface="Cambria Math" panose="02040503050406030204" pitchFamily="18" charset="0"/>
                                  <a:ea typeface="Roboto" panose="02000000000000000000" pitchFamily="2" charset="0"/>
                                </a:rPr>
                                <m:t>𝐏𝐫𝐞𝐦𝐢𝐬𝐚</m:t>
                              </m:r>
                              <m:r>
                                <a:rPr lang="es-MX" sz="2000" b="1" i="0" smtClean="0">
                                  <a:solidFill>
                                    <a:schemeClr val="bg1"/>
                                  </a:solidFill>
                                  <a:latin typeface="Cambria Math" panose="02040503050406030204" pitchFamily="18" charset="0"/>
                                  <a:ea typeface="Roboto" panose="02000000000000000000" pitchFamily="2" charset="0"/>
                                </a:rPr>
                                <m:t>)</m:t>
                              </m:r>
                            </m:oMath>
                          </a14:m>
                          <a:r>
                            <a:rPr lang="es-CO" sz="2000" b="1" dirty="0">
                              <a:solidFill>
                                <a:schemeClr val="bg1"/>
                              </a:solidFill>
                              <a:latin typeface="Roboto" panose="02000000000000000000" pitchFamily="2" charset="0"/>
                              <a:ea typeface="Roboto" panose="02000000000000000000" pitchFamily="2" charset="0"/>
                            </a:rPr>
                            <a:t> </a:t>
                          </a:r>
                        </a:p>
                      </a:txBody>
                      <a:tcPr>
                        <a:solidFill>
                          <a:schemeClr val="tx1"/>
                        </a:solidFill>
                      </a:tcPr>
                    </a:tc>
                    <a:tc>
                      <a:txBody>
                        <a:bodyPr/>
                        <a:lstStyle/>
                        <a:p>
                          <a:pPr/>
                          <a14:m>
                            <m:oMathPara xmlns:m="http://schemas.openxmlformats.org/officeDocument/2006/math">
                              <m:oMathParaPr>
                                <m:jc m:val="center"/>
                              </m:oMathParaPr>
                              <m:oMath xmlns:m="http://schemas.openxmlformats.org/officeDocument/2006/math">
                                <m:r>
                                  <a:rPr lang="es-MX" sz="2000" b="1" i="1" smtClean="0">
                                    <a:solidFill>
                                      <a:schemeClr val="bg1"/>
                                    </a:solidFill>
                                    <a:latin typeface="Cambria Math" panose="02040503050406030204" pitchFamily="18" charset="0"/>
                                    <a:ea typeface="Roboto" panose="02000000000000000000" pitchFamily="2" charset="0"/>
                                  </a:rPr>
                                  <m:t>𝑸</m:t>
                                </m:r>
                                <m:r>
                                  <a:rPr lang="es-MX" sz="2000" b="1" i="0" smtClean="0">
                                    <a:solidFill>
                                      <a:schemeClr val="bg1"/>
                                    </a:solidFill>
                                    <a:latin typeface="Cambria Math" panose="02040503050406030204" pitchFamily="18" charset="0"/>
                                    <a:ea typeface="Roboto" panose="02000000000000000000" pitchFamily="2" charset="0"/>
                                  </a:rPr>
                                  <m:t> (</m:t>
                                </m:r>
                                <m:r>
                                  <a:rPr lang="es-MX" sz="2000" b="1" i="0" smtClean="0">
                                    <a:solidFill>
                                      <a:schemeClr val="bg1"/>
                                    </a:solidFill>
                                    <a:latin typeface="Cambria Math" panose="02040503050406030204" pitchFamily="18" charset="0"/>
                                    <a:ea typeface="Roboto" panose="02000000000000000000" pitchFamily="2" charset="0"/>
                                  </a:rPr>
                                  <m:t>𝐂𝐨𝐧𝐜𝐥𝐮𝐬𝐢</m:t>
                                </m:r>
                                <m:r>
                                  <a:rPr lang="es-MX" sz="2000" b="1" i="0" smtClean="0">
                                    <a:solidFill>
                                      <a:schemeClr val="bg1"/>
                                    </a:solidFill>
                                    <a:latin typeface="Cambria Math" panose="02040503050406030204" pitchFamily="18" charset="0"/>
                                    <a:ea typeface="Roboto" panose="02000000000000000000" pitchFamily="2" charset="0"/>
                                  </a:rPr>
                                  <m:t>ó</m:t>
                                </m:r>
                                <m:r>
                                  <a:rPr lang="es-MX" sz="2000" b="1" i="0" smtClean="0">
                                    <a:solidFill>
                                      <a:schemeClr val="bg1"/>
                                    </a:solidFill>
                                    <a:latin typeface="Cambria Math" panose="02040503050406030204" pitchFamily="18" charset="0"/>
                                    <a:ea typeface="Roboto" panose="02000000000000000000" pitchFamily="2" charset="0"/>
                                  </a:rPr>
                                  <m:t>𝐧</m:t>
                                </m:r>
                                <m:r>
                                  <a:rPr lang="es-MX" sz="2000" b="1" i="0" smtClean="0">
                                    <a:solidFill>
                                      <a:schemeClr val="bg1"/>
                                    </a:solidFill>
                                    <a:latin typeface="Cambria Math" panose="02040503050406030204" pitchFamily="18" charset="0"/>
                                    <a:ea typeface="Roboto" panose="02000000000000000000" pitchFamily="2" charset="0"/>
                                  </a:rPr>
                                  <m:t>)</m:t>
                                </m:r>
                              </m:oMath>
                            </m:oMathPara>
                          </a14:m>
                          <a:endParaRPr lang="es-CO" sz="2000" b="1" dirty="0">
                            <a:solidFill>
                              <a:schemeClr val="bg1"/>
                            </a:solidFill>
                            <a:latin typeface="Roboto" panose="02000000000000000000" pitchFamily="2" charset="0"/>
                            <a:ea typeface="Roboto" panose="02000000000000000000" pitchFamily="2" charset="0"/>
                          </a:endParaRPr>
                        </a:p>
                      </a:txBody>
                      <a:tcPr>
                        <a:solidFill>
                          <a:schemeClr val="tx1"/>
                        </a:solidFill>
                      </a:tcPr>
                    </a:tc>
                    <a:tc>
                      <a:txBody>
                        <a:bodyPr/>
                        <a:lstStyle/>
                        <a:p>
                          <a:pPr/>
                          <a14:m>
                            <m:oMathPara xmlns:m="http://schemas.openxmlformats.org/officeDocument/2006/math">
                              <m:oMathParaPr>
                                <m:jc m:val="center"/>
                              </m:oMathParaPr>
                              <m:oMath xmlns:m="http://schemas.openxmlformats.org/officeDocument/2006/math">
                                <m:r>
                                  <a:rPr lang="es-MX" sz="2000" b="1" i="1" smtClean="0">
                                    <a:solidFill>
                                      <a:schemeClr val="bg1"/>
                                    </a:solidFill>
                                    <a:latin typeface="Cambria Math" panose="02040503050406030204" pitchFamily="18" charset="0"/>
                                    <a:ea typeface="Roboto" panose="02000000000000000000" pitchFamily="2" charset="0"/>
                                  </a:rPr>
                                  <m:t>𝑷</m:t>
                                </m:r>
                                <m:r>
                                  <a:rPr lang="es-MX" sz="2000" b="1" i="1" smtClean="0">
                                    <a:solidFill>
                                      <a:schemeClr val="bg1"/>
                                    </a:solidFill>
                                    <a:latin typeface="Cambria Math" panose="02040503050406030204" pitchFamily="18" charset="0"/>
                                    <a:ea typeface="Cambria Math" panose="02040503050406030204" pitchFamily="18" charset="0"/>
                                  </a:rPr>
                                  <m:t>→</m:t>
                                </m:r>
                                <m:r>
                                  <a:rPr lang="es-MX" sz="2000" b="1" i="1" smtClean="0">
                                    <a:solidFill>
                                      <a:schemeClr val="bg1"/>
                                    </a:solidFill>
                                    <a:latin typeface="Cambria Math" panose="02040503050406030204" pitchFamily="18" charset="0"/>
                                    <a:ea typeface="Cambria Math" panose="02040503050406030204" pitchFamily="18" charset="0"/>
                                  </a:rPr>
                                  <m:t>𝑸</m:t>
                                </m:r>
                              </m:oMath>
                            </m:oMathPara>
                          </a14:m>
                          <a:endParaRPr lang="es-CO" sz="2000" b="1" dirty="0">
                            <a:solidFill>
                              <a:schemeClr val="bg1"/>
                            </a:solidFill>
                            <a:latin typeface="Roboto" panose="02000000000000000000" pitchFamily="2" charset="0"/>
                            <a:ea typeface="Roboto" panose="02000000000000000000" pitchFamily="2" charset="0"/>
                          </a:endParaRPr>
                        </a:p>
                      </a:txBody>
                      <a:tcPr>
                        <a:solidFill>
                          <a:schemeClr val="tx1"/>
                        </a:solidFill>
                      </a:tcPr>
                    </a:tc>
                    <a:extLst>
                      <a:ext uri="{0D108BD9-81ED-4DB2-BD59-A6C34878D82A}">
                        <a16:rowId xmlns:a16="http://schemas.microsoft.com/office/drawing/2014/main" val="1656120320"/>
                      </a:ext>
                    </a:extLst>
                  </a:tr>
                  <a:tr h="21400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𝐹</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𝐹</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384399998"/>
                      </a:ext>
                    </a:extLst>
                  </a:tr>
                  <a:tr h="214002">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𝐹</m:t>
                                </m:r>
                              </m:oMath>
                            </m:oMathPara>
                          </a14:m>
                          <a:endParaRPr lang="es-CO" sz="20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𝑉</m:t>
                                </m:r>
                              </m:oMath>
                            </m:oMathPara>
                          </a14:m>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723033547"/>
                      </a:ext>
                    </a:extLst>
                  </a:tr>
                  <a:tr h="21400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solidFill>
                          <a:schemeClr val="accent2">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𝐹</m:t>
                                </m:r>
                              </m:oMath>
                            </m:oMathPara>
                          </a14:m>
                          <a:endParaRPr lang="es-CO" sz="2000" dirty="0">
                            <a:latin typeface="Roboto" panose="02000000000000000000" pitchFamily="2" charset="0"/>
                            <a:ea typeface="Roboto" panose="02000000000000000000" pitchFamily="2" charset="0"/>
                          </a:endParaRPr>
                        </a:p>
                      </a:txBody>
                      <a:tcP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𝐹</m:t>
                                </m:r>
                              </m:oMath>
                            </m:oMathPara>
                          </a14:m>
                          <a:endParaRPr lang="es-CO" sz="2000" dirty="0">
                            <a:latin typeface="Roboto" panose="02000000000000000000" pitchFamily="2" charset="0"/>
                            <a:ea typeface="Roboto" panose="02000000000000000000" pitchFamily="2" charset="0"/>
                          </a:endParaRPr>
                        </a:p>
                      </a:txBody>
                      <a:tcPr>
                        <a:solidFill>
                          <a:schemeClr val="accent2">
                            <a:lumMod val="20000"/>
                            <a:lumOff val="80000"/>
                          </a:schemeClr>
                        </a:solidFill>
                      </a:tcPr>
                    </a:tc>
                    <a:extLst>
                      <a:ext uri="{0D108BD9-81ED-4DB2-BD59-A6C34878D82A}">
                        <a16:rowId xmlns:a16="http://schemas.microsoft.com/office/drawing/2014/main" val="4235300888"/>
                      </a:ext>
                    </a:extLst>
                  </a:tr>
                  <a:tr h="21400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𝑉</m:t>
                                </m:r>
                              </m:oMath>
                            </m:oMathPara>
                          </a14:m>
                          <a:endParaRPr lang="es-CO" sz="2000" dirty="0">
                            <a:latin typeface="Roboto" panose="02000000000000000000" pitchFamily="2" charset="0"/>
                            <a:ea typeface="Roboto" panose="02000000000000000000" pitchFamily="2" charset="0"/>
                          </a:endParaRPr>
                        </a:p>
                      </a:txBody>
                      <a:tcPr>
                        <a:solidFill>
                          <a:schemeClr val="accent6">
                            <a:lumMod val="20000"/>
                            <a:lumOff val="80000"/>
                          </a:schemeClr>
                        </a:solidFill>
                      </a:tcPr>
                    </a:tc>
                    <a:extLst>
                      <a:ext uri="{0D108BD9-81ED-4DB2-BD59-A6C34878D82A}">
                        <a16:rowId xmlns:a16="http://schemas.microsoft.com/office/drawing/2014/main" val="451930249"/>
                      </a:ext>
                    </a:extLst>
                  </a:tr>
                </a:tbl>
              </a:graphicData>
            </a:graphic>
          </p:graphicFrame>
        </mc:Choice>
        <mc:Fallback>
          <p:graphicFrame>
            <p:nvGraphicFramePr>
              <p:cNvPr id="13" name="Tabla 12">
                <a:extLst>
                  <a:ext uri="{FF2B5EF4-FFF2-40B4-BE49-F238E27FC236}">
                    <a16:creationId xmlns:a16="http://schemas.microsoft.com/office/drawing/2014/main" id="{04DFCAE4-35FB-402C-B7A3-3C19600DA142}"/>
                  </a:ext>
                </a:extLst>
              </p:cNvPr>
              <p:cNvGraphicFramePr>
                <a:graphicFrameLocks noGrp="1"/>
              </p:cNvGraphicFramePr>
              <p:nvPr>
                <p:extLst>
                  <p:ext uri="{D42A27DB-BD31-4B8C-83A1-F6EECF244321}">
                    <p14:modId xmlns:p14="http://schemas.microsoft.com/office/powerpoint/2010/main" val="600811728"/>
                  </p:ext>
                </p:extLst>
              </p:nvPr>
            </p:nvGraphicFramePr>
            <p:xfrm>
              <a:off x="3248862" y="2574179"/>
              <a:ext cx="5201303" cy="1981200"/>
            </p:xfrm>
            <a:graphic>
              <a:graphicData uri="http://schemas.openxmlformats.org/drawingml/2006/table">
                <a:tbl>
                  <a:tblPr firstRow="1" bandRow="1">
                    <a:tableStyleId>{AD6A3598-7CB8-4345-8D95-17CE05F158A0}</a:tableStyleId>
                  </a:tblPr>
                  <a:tblGrid>
                    <a:gridCol w="2103654">
                      <a:extLst>
                        <a:ext uri="{9D8B030D-6E8A-4147-A177-3AD203B41FA5}">
                          <a16:colId xmlns:a16="http://schemas.microsoft.com/office/drawing/2014/main" val="490870258"/>
                        </a:ext>
                      </a:extLst>
                    </a:gridCol>
                    <a:gridCol w="2103654">
                      <a:extLst>
                        <a:ext uri="{9D8B030D-6E8A-4147-A177-3AD203B41FA5}">
                          <a16:colId xmlns:a16="http://schemas.microsoft.com/office/drawing/2014/main" val="1397687665"/>
                        </a:ext>
                      </a:extLst>
                    </a:gridCol>
                    <a:gridCol w="993995">
                      <a:extLst>
                        <a:ext uri="{9D8B030D-6E8A-4147-A177-3AD203B41FA5}">
                          <a16:colId xmlns:a16="http://schemas.microsoft.com/office/drawing/2014/main" val="3269965761"/>
                        </a:ext>
                      </a:extLst>
                    </a:gridCol>
                  </a:tblGrid>
                  <a:tr h="396240">
                    <a:tc>
                      <a:txBody>
                        <a:bodyPr/>
                        <a:lstStyle/>
                        <a:p>
                          <a:endParaRPr lang="es-CO"/>
                        </a:p>
                      </a:txBody>
                      <a:tcPr>
                        <a:blipFill>
                          <a:blip r:embed="rId3"/>
                          <a:stretch>
                            <a:fillRect t="-1538" r="-147399" b="-403077"/>
                          </a:stretch>
                        </a:blipFill>
                      </a:tcPr>
                    </a:tc>
                    <a:tc>
                      <a:txBody>
                        <a:bodyPr/>
                        <a:lstStyle/>
                        <a:p>
                          <a:endParaRPr lang="es-CO"/>
                        </a:p>
                      </a:txBody>
                      <a:tcPr>
                        <a:blipFill>
                          <a:blip r:embed="rId3"/>
                          <a:stretch>
                            <a:fillRect l="-100000" t="-1538" r="-47399" b="-403077"/>
                          </a:stretch>
                        </a:blipFill>
                      </a:tcPr>
                    </a:tc>
                    <a:tc>
                      <a:txBody>
                        <a:bodyPr/>
                        <a:lstStyle/>
                        <a:p>
                          <a:endParaRPr lang="es-CO"/>
                        </a:p>
                      </a:txBody>
                      <a:tcPr>
                        <a:blipFill>
                          <a:blip r:embed="rId3"/>
                          <a:stretch>
                            <a:fillRect l="-424540" t="-1538" r="-613" b="-403077"/>
                          </a:stretch>
                        </a:blipFill>
                      </a:tcPr>
                    </a:tc>
                    <a:extLst>
                      <a:ext uri="{0D108BD9-81ED-4DB2-BD59-A6C34878D82A}">
                        <a16:rowId xmlns:a16="http://schemas.microsoft.com/office/drawing/2014/main" val="1656120320"/>
                      </a:ext>
                    </a:extLst>
                  </a:tr>
                  <a:tr h="396240">
                    <a:tc>
                      <a:txBody>
                        <a:bodyPr/>
                        <a:lstStyle/>
                        <a:p>
                          <a:endParaRPr lang="es-CO"/>
                        </a:p>
                      </a:txBody>
                      <a:tcPr>
                        <a:blipFill>
                          <a:blip r:embed="rId3"/>
                          <a:stretch>
                            <a:fillRect t="-101538" r="-147399" b="-303077"/>
                          </a:stretch>
                        </a:blipFill>
                      </a:tcPr>
                    </a:tc>
                    <a:tc>
                      <a:txBody>
                        <a:bodyPr/>
                        <a:lstStyle/>
                        <a:p>
                          <a:endParaRPr lang="es-CO"/>
                        </a:p>
                      </a:txBody>
                      <a:tcPr>
                        <a:blipFill>
                          <a:blip r:embed="rId3"/>
                          <a:stretch>
                            <a:fillRect l="-100000" t="-101538" r="-47399" b="-303077"/>
                          </a:stretch>
                        </a:blipFill>
                      </a:tcPr>
                    </a:tc>
                    <a:tc>
                      <a:txBody>
                        <a:bodyPr/>
                        <a:lstStyle/>
                        <a:p>
                          <a:endParaRPr lang="es-CO"/>
                        </a:p>
                      </a:txBody>
                      <a:tcPr>
                        <a:blipFill>
                          <a:blip r:embed="rId3"/>
                          <a:stretch>
                            <a:fillRect l="-424540" t="-101538" r="-613" b="-303077"/>
                          </a:stretch>
                        </a:blipFill>
                      </a:tcPr>
                    </a:tc>
                    <a:extLst>
                      <a:ext uri="{0D108BD9-81ED-4DB2-BD59-A6C34878D82A}">
                        <a16:rowId xmlns:a16="http://schemas.microsoft.com/office/drawing/2014/main" val="1384399998"/>
                      </a:ext>
                    </a:extLst>
                  </a:tr>
                  <a:tr h="396240">
                    <a:tc>
                      <a:txBody>
                        <a:bodyPr/>
                        <a:lstStyle/>
                        <a:p>
                          <a:endParaRPr lang="es-CO"/>
                        </a:p>
                      </a:txBody>
                      <a:tcPr>
                        <a:blipFill>
                          <a:blip r:embed="rId3"/>
                          <a:stretch>
                            <a:fillRect t="-198485" r="-147399" b="-198485"/>
                          </a:stretch>
                        </a:blipFill>
                      </a:tcPr>
                    </a:tc>
                    <a:tc>
                      <a:txBody>
                        <a:bodyPr/>
                        <a:lstStyle/>
                        <a:p>
                          <a:endParaRPr lang="es-CO"/>
                        </a:p>
                      </a:txBody>
                      <a:tcPr>
                        <a:blipFill>
                          <a:blip r:embed="rId3"/>
                          <a:stretch>
                            <a:fillRect l="-100000" t="-198485" r="-47399" b="-198485"/>
                          </a:stretch>
                        </a:blipFill>
                      </a:tcPr>
                    </a:tc>
                    <a:tc>
                      <a:txBody>
                        <a:bodyPr/>
                        <a:lstStyle/>
                        <a:p>
                          <a:endParaRPr lang="es-CO"/>
                        </a:p>
                      </a:txBody>
                      <a:tcPr>
                        <a:blipFill>
                          <a:blip r:embed="rId3"/>
                          <a:stretch>
                            <a:fillRect l="-424540" t="-198485" r="-613" b="-198485"/>
                          </a:stretch>
                        </a:blipFill>
                      </a:tcPr>
                    </a:tc>
                    <a:extLst>
                      <a:ext uri="{0D108BD9-81ED-4DB2-BD59-A6C34878D82A}">
                        <a16:rowId xmlns:a16="http://schemas.microsoft.com/office/drawing/2014/main" val="3723033547"/>
                      </a:ext>
                    </a:extLst>
                  </a:tr>
                  <a:tr h="396240">
                    <a:tc>
                      <a:txBody>
                        <a:bodyPr/>
                        <a:lstStyle/>
                        <a:p>
                          <a:endParaRPr lang="es-CO"/>
                        </a:p>
                      </a:txBody>
                      <a:tcPr>
                        <a:blipFill>
                          <a:blip r:embed="rId3"/>
                          <a:stretch>
                            <a:fillRect t="-303077" r="-147399" b="-101538"/>
                          </a:stretch>
                        </a:blipFill>
                      </a:tcPr>
                    </a:tc>
                    <a:tc>
                      <a:txBody>
                        <a:bodyPr/>
                        <a:lstStyle/>
                        <a:p>
                          <a:endParaRPr lang="es-CO"/>
                        </a:p>
                      </a:txBody>
                      <a:tcPr>
                        <a:blipFill>
                          <a:blip r:embed="rId3"/>
                          <a:stretch>
                            <a:fillRect l="-100000" t="-303077" r="-47399" b="-101538"/>
                          </a:stretch>
                        </a:blipFill>
                      </a:tcPr>
                    </a:tc>
                    <a:tc>
                      <a:txBody>
                        <a:bodyPr/>
                        <a:lstStyle/>
                        <a:p>
                          <a:endParaRPr lang="es-CO"/>
                        </a:p>
                      </a:txBody>
                      <a:tcPr>
                        <a:blipFill>
                          <a:blip r:embed="rId3"/>
                          <a:stretch>
                            <a:fillRect l="-424540" t="-303077" r="-613" b="-101538"/>
                          </a:stretch>
                        </a:blipFill>
                      </a:tcPr>
                    </a:tc>
                    <a:extLst>
                      <a:ext uri="{0D108BD9-81ED-4DB2-BD59-A6C34878D82A}">
                        <a16:rowId xmlns:a16="http://schemas.microsoft.com/office/drawing/2014/main" val="4235300888"/>
                      </a:ext>
                    </a:extLst>
                  </a:tr>
                  <a:tr h="396240">
                    <a:tc>
                      <a:txBody>
                        <a:bodyPr/>
                        <a:lstStyle/>
                        <a:p>
                          <a:endParaRPr lang="es-CO"/>
                        </a:p>
                      </a:txBody>
                      <a:tcPr>
                        <a:blipFill>
                          <a:blip r:embed="rId3"/>
                          <a:stretch>
                            <a:fillRect t="-403077" r="-147399" b="-1538"/>
                          </a:stretch>
                        </a:blipFill>
                      </a:tcPr>
                    </a:tc>
                    <a:tc>
                      <a:txBody>
                        <a:bodyPr/>
                        <a:lstStyle/>
                        <a:p>
                          <a:endParaRPr lang="es-CO"/>
                        </a:p>
                      </a:txBody>
                      <a:tcPr>
                        <a:blipFill>
                          <a:blip r:embed="rId3"/>
                          <a:stretch>
                            <a:fillRect l="-100000" t="-403077" r="-47399" b="-1538"/>
                          </a:stretch>
                        </a:blipFill>
                      </a:tcPr>
                    </a:tc>
                    <a:tc>
                      <a:txBody>
                        <a:bodyPr/>
                        <a:lstStyle/>
                        <a:p>
                          <a:endParaRPr lang="es-CO"/>
                        </a:p>
                      </a:txBody>
                      <a:tcPr>
                        <a:blipFill>
                          <a:blip r:embed="rId3"/>
                          <a:stretch>
                            <a:fillRect l="-424540" t="-403077" r="-613" b="-1538"/>
                          </a:stretch>
                        </a:blipFill>
                      </a:tcPr>
                    </a:tc>
                    <a:extLst>
                      <a:ext uri="{0D108BD9-81ED-4DB2-BD59-A6C34878D82A}">
                        <a16:rowId xmlns:a16="http://schemas.microsoft.com/office/drawing/2014/main" val="451930249"/>
                      </a:ext>
                    </a:extLst>
                  </a:tr>
                </a:tbl>
              </a:graphicData>
            </a:graphic>
          </p:graphicFrame>
        </mc:Fallback>
      </mc:AlternateContent>
    </p:spTree>
    <p:extLst>
      <p:ext uri="{BB962C8B-B14F-4D97-AF65-F5344CB8AC3E}">
        <p14:creationId xmlns:p14="http://schemas.microsoft.com/office/powerpoint/2010/main" val="4190672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508000" y="96038"/>
            <a:ext cx="8712650" cy="949500"/>
          </a:xfrm>
          <a:prstGeom prst="rect">
            <a:avLst/>
          </a:prstGeom>
        </p:spPr>
        <p:txBody>
          <a:bodyPr spcFirstLastPara="1" wrap="square" lIns="91425" tIns="45700" rIns="91425" bIns="45700" anchor="ctr" anchorCtr="0">
            <a:noAutofit/>
          </a:bodyPr>
          <a:lstStyle/>
          <a:p>
            <a:r>
              <a:rPr lang="es-ES" dirty="0">
                <a:solidFill>
                  <a:schemeClr val="tx1"/>
                </a:solidFill>
                <a:latin typeface="+mj-lt"/>
                <a:ea typeface="+mj-ea"/>
                <a:cs typeface="+mj-cs"/>
              </a:rPr>
              <a:t>Validación de argumentos</a:t>
            </a:r>
            <a:endParaRPr dirty="0">
              <a:solidFill>
                <a:schemeClr val="tx1"/>
              </a:solidFill>
              <a:latin typeface="+mj-lt"/>
              <a:ea typeface="+mj-ea"/>
              <a:cs typeface="+mj-cs"/>
            </a:endParaRPr>
          </a:p>
        </p:txBody>
      </p:sp>
      <p:sp>
        <p:nvSpPr>
          <p:cNvPr id="14" name="Google Shape;310;p34">
            <a:extLst>
              <a:ext uri="{FF2B5EF4-FFF2-40B4-BE49-F238E27FC236}">
                <a16:creationId xmlns:a16="http://schemas.microsoft.com/office/drawing/2014/main" id="{7CE3CA45-1D19-4FA9-8567-937AB3B94F05}"/>
              </a:ext>
            </a:extLst>
          </p:cNvPr>
          <p:cNvSpPr txBox="1">
            <a:spLocks/>
          </p:cNvSpPr>
          <p:nvPr/>
        </p:nvSpPr>
        <p:spPr>
          <a:xfrm>
            <a:off x="405142" y="806826"/>
            <a:ext cx="10984404" cy="76696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dirty="0">
                <a:latin typeface="+mn-lt"/>
                <a:ea typeface="Roboto" panose="02000000000000000000" pitchFamily="2" charset="0"/>
              </a:rPr>
              <a:t>La forma lógica de un argumento puede abstraerse de su contenido. Para ello revisemos el ejemplo de Sócrates</a:t>
            </a:r>
          </a:p>
        </p:txBody>
      </p:sp>
      <p:grpSp>
        <p:nvGrpSpPr>
          <p:cNvPr id="7" name="Grupo 6">
            <a:extLst>
              <a:ext uri="{FF2B5EF4-FFF2-40B4-BE49-F238E27FC236}">
                <a16:creationId xmlns:a16="http://schemas.microsoft.com/office/drawing/2014/main" id="{79C82285-FD9C-4C77-B136-C9DBD8DB4842}"/>
              </a:ext>
            </a:extLst>
          </p:cNvPr>
          <p:cNvGrpSpPr/>
          <p:nvPr/>
        </p:nvGrpSpPr>
        <p:grpSpPr>
          <a:xfrm>
            <a:off x="782629" y="1955770"/>
            <a:ext cx="7747419" cy="936030"/>
            <a:chOff x="2006600" y="1732475"/>
            <a:chExt cx="7747419" cy="936030"/>
          </a:xfrm>
        </p:grpSpPr>
        <p:grpSp>
          <p:nvGrpSpPr>
            <p:cNvPr id="5" name="Grupo 4">
              <a:extLst>
                <a:ext uri="{FF2B5EF4-FFF2-40B4-BE49-F238E27FC236}">
                  <a16:creationId xmlns:a16="http://schemas.microsoft.com/office/drawing/2014/main" id="{8756DAC1-4017-4EB9-924C-8B255CF7047D}"/>
                </a:ext>
              </a:extLst>
            </p:cNvPr>
            <p:cNvGrpSpPr/>
            <p:nvPr/>
          </p:nvGrpSpPr>
          <p:grpSpPr>
            <a:xfrm>
              <a:off x="3861078" y="1745175"/>
              <a:ext cx="5892941" cy="923330"/>
              <a:chOff x="1066798" y="1603698"/>
              <a:chExt cx="5892941" cy="923330"/>
            </a:xfrm>
          </p:grpSpPr>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5C1A6FB1-318A-4B04-A64B-AA37F6948F1C}"/>
                      </a:ext>
                    </a:extLst>
                  </p:cNvPr>
                  <p:cNvSpPr txBox="1"/>
                  <p:nvPr/>
                </p:nvSpPr>
                <p:spPr>
                  <a:xfrm>
                    <a:off x="1066798" y="1603698"/>
                    <a:ext cx="5892941" cy="92333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s-MX" sz="1800" b="0" i="0" smtClean="0">
                              <a:latin typeface="Cambria Math" panose="02040503050406030204" pitchFamily="18" charset="0"/>
                              <a:ea typeface="Cambria Math" panose="02040503050406030204" pitchFamily="18" charset="0"/>
                            </a:rPr>
                            <m:t>Si</m:t>
                          </m:r>
                          <m:r>
                            <a:rPr lang="es-MX" sz="1800" b="0" i="0" smtClean="0">
                              <a:latin typeface="Cambria Math" panose="02040503050406030204" pitchFamily="18" charset="0"/>
                              <a:ea typeface="Cambria Math" panose="02040503050406030204" pitchFamily="18" charset="0"/>
                            </a:rPr>
                            <m:t> </m:t>
                          </m:r>
                          <m:r>
                            <m:rPr>
                              <m:sty m:val="p"/>
                            </m:rPr>
                            <a:rPr lang="es-MX" sz="1800" b="0" i="0" smtClean="0">
                              <a:latin typeface="Cambria Math" panose="02040503050406030204" pitchFamily="18" charset="0"/>
                              <a:ea typeface="Cambria Math" panose="02040503050406030204" pitchFamily="18" charset="0"/>
                            </a:rPr>
                            <m:t>S</m:t>
                          </m:r>
                          <m:r>
                            <a:rPr lang="es-MX" sz="1800" b="0" i="0" smtClean="0">
                              <a:latin typeface="Cambria Math" panose="02040503050406030204" pitchFamily="18" charset="0"/>
                              <a:ea typeface="Cambria Math" panose="02040503050406030204" pitchFamily="18" charset="0"/>
                            </a:rPr>
                            <m:t>ó</m:t>
                          </m:r>
                          <m:r>
                            <m:rPr>
                              <m:sty m:val="p"/>
                            </m:rPr>
                            <a:rPr lang="es-MX" sz="1800" b="0" i="0" smtClean="0">
                              <a:latin typeface="Cambria Math" panose="02040503050406030204" pitchFamily="18" charset="0"/>
                              <a:ea typeface="Cambria Math" panose="02040503050406030204" pitchFamily="18" charset="0"/>
                            </a:rPr>
                            <m:t>crates</m:t>
                          </m:r>
                          <m:r>
                            <a:rPr lang="es-MX" sz="1800" b="0" i="0" smtClean="0">
                              <a:latin typeface="Cambria Math" panose="02040503050406030204" pitchFamily="18" charset="0"/>
                              <a:ea typeface="Cambria Math" panose="02040503050406030204" pitchFamily="18" charset="0"/>
                            </a:rPr>
                            <m:t>  </m:t>
                          </m:r>
                          <m:r>
                            <m:rPr>
                              <m:sty m:val="p"/>
                            </m:rPr>
                            <a:rPr lang="es-MX" sz="1800" b="0" i="0" smtClean="0">
                              <a:latin typeface="Cambria Math" panose="02040503050406030204" pitchFamily="18" charset="0"/>
                              <a:ea typeface="Cambria Math" panose="02040503050406030204" pitchFamily="18" charset="0"/>
                            </a:rPr>
                            <m:t>es</m:t>
                          </m:r>
                          <m:r>
                            <a:rPr lang="es-MX" sz="1800" b="0" i="0" smtClean="0">
                              <a:latin typeface="Cambria Math" panose="02040503050406030204" pitchFamily="18" charset="0"/>
                              <a:ea typeface="Cambria Math" panose="02040503050406030204" pitchFamily="18" charset="0"/>
                            </a:rPr>
                            <m:t> </m:t>
                          </m:r>
                          <m:r>
                            <m:rPr>
                              <m:sty m:val="p"/>
                            </m:rPr>
                            <a:rPr lang="es-MX" sz="1800" b="0" i="0" smtClean="0">
                              <a:latin typeface="Cambria Math" panose="02040503050406030204" pitchFamily="18" charset="0"/>
                              <a:ea typeface="Cambria Math" panose="02040503050406030204" pitchFamily="18" charset="0"/>
                            </a:rPr>
                            <m:t>un</m:t>
                          </m:r>
                          <m:r>
                            <a:rPr lang="es-MX" sz="1800" b="0" i="0" smtClean="0">
                              <a:latin typeface="Cambria Math" panose="02040503050406030204" pitchFamily="18" charset="0"/>
                              <a:ea typeface="Cambria Math" panose="02040503050406030204" pitchFamily="18" charset="0"/>
                            </a:rPr>
                            <m:t> </m:t>
                          </m:r>
                          <m:r>
                            <m:rPr>
                              <m:sty m:val="p"/>
                            </m:rPr>
                            <a:rPr lang="es-MX" sz="1800" b="0" i="0" smtClean="0">
                              <a:latin typeface="Cambria Math" panose="02040503050406030204" pitchFamily="18" charset="0"/>
                              <a:ea typeface="Cambria Math" panose="02040503050406030204" pitchFamily="18" charset="0"/>
                            </a:rPr>
                            <m:t>hombre</m:t>
                          </m:r>
                          <m:r>
                            <a:rPr lang="es-MX" sz="1800" b="0" i="0" smtClean="0">
                              <a:latin typeface="Cambria Math" panose="02040503050406030204" pitchFamily="18" charset="0"/>
                              <a:ea typeface="Cambria Math" panose="02040503050406030204" pitchFamily="18" charset="0"/>
                            </a:rPr>
                            <m:t>, </m:t>
                          </m:r>
                          <m:r>
                            <m:rPr>
                              <m:sty m:val="p"/>
                            </m:rPr>
                            <a:rPr lang="es-MX" sz="1800" b="0" i="0" smtClean="0">
                              <a:latin typeface="Cambria Math" panose="02040503050406030204" pitchFamily="18" charset="0"/>
                              <a:ea typeface="Cambria Math" panose="02040503050406030204" pitchFamily="18" charset="0"/>
                            </a:rPr>
                            <m:t>entonces</m:t>
                          </m:r>
                          <m:r>
                            <a:rPr lang="es-MX" sz="1800" b="0" i="0" smtClean="0">
                              <a:latin typeface="Cambria Math" panose="02040503050406030204" pitchFamily="18" charset="0"/>
                              <a:ea typeface="Cambria Math" panose="02040503050406030204" pitchFamily="18" charset="0"/>
                            </a:rPr>
                            <m:t> </m:t>
                          </m:r>
                          <m:r>
                            <m:rPr>
                              <m:sty m:val="p"/>
                            </m:rPr>
                            <a:rPr lang="es-MX" sz="1800" b="0" i="0" smtClean="0">
                              <a:latin typeface="Cambria Math" panose="02040503050406030204" pitchFamily="18" charset="0"/>
                              <a:ea typeface="Cambria Math" panose="02040503050406030204" pitchFamily="18" charset="0"/>
                            </a:rPr>
                            <m:t>Socrates</m:t>
                          </m:r>
                          <m:r>
                            <a:rPr lang="es-MX" sz="1800" b="0" i="0" smtClean="0">
                              <a:latin typeface="Cambria Math" panose="02040503050406030204" pitchFamily="18" charset="0"/>
                              <a:ea typeface="Cambria Math" panose="02040503050406030204" pitchFamily="18" charset="0"/>
                            </a:rPr>
                            <m:t> </m:t>
                          </m:r>
                          <m:r>
                            <m:rPr>
                              <m:sty m:val="p"/>
                            </m:rPr>
                            <a:rPr lang="es-MX" sz="1800" b="0" i="0" smtClean="0">
                              <a:latin typeface="Cambria Math" panose="02040503050406030204" pitchFamily="18" charset="0"/>
                              <a:ea typeface="Cambria Math" panose="02040503050406030204" pitchFamily="18" charset="0"/>
                            </a:rPr>
                            <m:t>es</m:t>
                          </m:r>
                          <m:r>
                            <a:rPr lang="es-MX" sz="1800" b="0" i="0" smtClean="0">
                              <a:latin typeface="Cambria Math" panose="02040503050406030204" pitchFamily="18" charset="0"/>
                              <a:ea typeface="Cambria Math" panose="02040503050406030204" pitchFamily="18" charset="0"/>
                            </a:rPr>
                            <m:t> </m:t>
                          </m:r>
                          <m:r>
                            <m:rPr>
                              <m:sty m:val="p"/>
                            </m:rPr>
                            <a:rPr lang="es-MX" sz="1800" b="0" i="0" smtClean="0">
                              <a:latin typeface="Cambria Math" panose="02040503050406030204" pitchFamily="18" charset="0"/>
                              <a:ea typeface="Cambria Math" panose="02040503050406030204" pitchFamily="18" charset="0"/>
                            </a:rPr>
                            <m:t>un</m:t>
                          </m:r>
                          <m:r>
                            <a:rPr lang="es-MX" sz="1800" b="0" i="0" smtClean="0">
                              <a:latin typeface="Cambria Math" panose="02040503050406030204" pitchFamily="18" charset="0"/>
                              <a:ea typeface="Cambria Math" panose="02040503050406030204" pitchFamily="18" charset="0"/>
                            </a:rPr>
                            <m:t> </m:t>
                          </m:r>
                          <m:r>
                            <m:rPr>
                              <m:sty m:val="p"/>
                            </m:rPr>
                            <a:rPr lang="es-MX" sz="1800" b="0" i="0" smtClean="0">
                              <a:latin typeface="Cambria Math" panose="02040503050406030204" pitchFamily="18" charset="0"/>
                              <a:ea typeface="Cambria Math" panose="02040503050406030204" pitchFamily="18" charset="0"/>
                            </a:rPr>
                            <m:t>mortal</m:t>
                          </m:r>
                        </m:oMath>
                      </m:oMathPara>
                    </a14:m>
                    <a:endParaRPr lang="es-MX" sz="1800" b="0"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m:rPr>
                              <m:sty m:val="p"/>
                            </m:rPr>
                            <a:rPr lang="es-MX" sz="1800" b="0" i="0" smtClean="0">
                              <a:latin typeface="Cambria Math" panose="02040503050406030204" pitchFamily="18" charset="0"/>
                              <a:ea typeface="Cambria Math" panose="02040503050406030204" pitchFamily="18" charset="0"/>
                            </a:rPr>
                            <m:t>S</m:t>
                          </m:r>
                          <m:r>
                            <a:rPr lang="es-MX" sz="1800" b="0" i="0" smtClean="0">
                              <a:latin typeface="Cambria Math" panose="02040503050406030204" pitchFamily="18" charset="0"/>
                              <a:ea typeface="Cambria Math" panose="02040503050406030204" pitchFamily="18" charset="0"/>
                            </a:rPr>
                            <m:t>ó</m:t>
                          </m:r>
                          <m:r>
                            <m:rPr>
                              <m:sty m:val="p"/>
                            </m:rPr>
                            <a:rPr lang="es-MX" sz="1800" b="0" i="0" smtClean="0">
                              <a:latin typeface="Cambria Math" panose="02040503050406030204" pitchFamily="18" charset="0"/>
                              <a:ea typeface="Cambria Math" panose="02040503050406030204" pitchFamily="18" charset="0"/>
                            </a:rPr>
                            <m:t>crates</m:t>
                          </m:r>
                          <m:r>
                            <a:rPr lang="es-MX" sz="1800" b="0" i="0" smtClean="0">
                              <a:latin typeface="Cambria Math" panose="02040503050406030204" pitchFamily="18" charset="0"/>
                              <a:ea typeface="Cambria Math" panose="02040503050406030204" pitchFamily="18" charset="0"/>
                            </a:rPr>
                            <m:t> </m:t>
                          </m:r>
                          <m:r>
                            <m:rPr>
                              <m:sty m:val="p"/>
                            </m:rPr>
                            <a:rPr lang="es-MX" sz="1800" b="0" i="0" smtClean="0">
                              <a:latin typeface="Cambria Math" panose="02040503050406030204" pitchFamily="18" charset="0"/>
                              <a:ea typeface="Cambria Math" panose="02040503050406030204" pitchFamily="18" charset="0"/>
                            </a:rPr>
                            <m:t>es</m:t>
                          </m:r>
                          <m:r>
                            <a:rPr lang="es-MX" sz="1800" b="0" i="0" smtClean="0">
                              <a:latin typeface="Cambria Math" panose="02040503050406030204" pitchFamily="18" charset="0"/>
                              <a:ea typeface="Cambria Math" panose="02040503050406030204" pitchFamily="18" charset="0"/>
                            </a:rPr>
                            <m:t> </m:t>
                          </m:r>
                          <m:r>
                            <m:rPr>
                              <m:sty m:val="p"/>
                            </m:rPr>
                            <a:rPr lang="es-MX" sz="1800" b="0" i="0" smtClean="0">
                              <a:latin typeface="Cambria Math" panose="02040503050406030204" pitchFamily="18" charset="0"/>
                              <a:ea typeface="Cambria Math" panose="02040503050406030204" pitchFamily="18" charset="0"/>
                            </a:rPr>
                            <m:t>un</m:t>
                          </m:r>
                          <m:r>
                            <a:rPr lang="es-MX" sz="1800" b="0" i="0" smtClean="0">
                              <a:latin typeface="Cambria Math" panose="02040503050406030204" pitchFamily="18" charset="0"/>
                              <a:ea typeface="Cambria Math" panose="02040503050406030204" pitchFamily="18" charset="0"/>
                            </a:rPr>
                            <m:t> </m:t>
                          </m:r>
                          <m:r>
                            <m:rPr>
                              <m:sty m:val="p"/>
                            </m:rPr>
                            <a:rPr lang="es-MX" sz="1800" b="0" i="0" smtClean="0">
                              <a:latin typeface="Cambria Math" panose="02040503050406030204" pitchFamily="18" charset="0"/>
                              <a:ea typeface="Cambria Math" panose="02040503050406030204" pitchFamily="18" charset="0"/>
                            </a:rPr>
                            <m:t>hombre</m:t>
                          </m:r>
                        </m:oMath>
                      </m:oMathPara>
                    </a14:m>
                    <a:endParaRPr lang="es-MX" sz="1800" b="0" i="0"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CO" sz="1800" i="0" smtClean="0">
                              <a:latin typeface="Cambria Math" panose="02040503050406030204" pitchFamily="18" charset="0"/>
                              <a:ea typeface="Cambria Math" panose="02040503050406030204" pitchFamily="18" charset="0"/>
                            </a:rPr>
                            <m:t>∴</m:t>
                          </m:r>
                          <m:r>
                            <m:rPr>
                              <m:sty m:val="p"/>
                            </m:rPr>
                            <a:rPr lang="es-MX" sz="1800" b="0" i="0" smtClean="0">
                              <a:latin typeface="Cambria Math" panose="02040503050406030204" pitchFamily="18" charset="0"/>
                              <a:ea typeface="Cambria Math" panose="02040503050406030204" pitchFamily="18" charset="0"/>
                            </a:rPr>
                            <m:t>Socrates</m:t>
                          </m:r>
                          <m:r>
                            <a:rPr lang="es-MX" sz="1800" b="0" i="0" smtClean="0">
                              <a:latin typeface="Cambria Math" panose="02040503050406030204" pitchFamily="18" charset="0"/>
                              <a:ea typeface="Cambria Math" panose="02040503050406030204" pitchFamily="18" charset="0"/>
                            </a:rPr>
                            <m:t> </m:t>
                          </m:r>
                          <m:r>
                            <m:rPr>
                              <m:sty m:val="p"/>
                            </m:rPr>
                            <a:rPr lang="es-MX" sz="1800" b="0" i="0" smtClean="0">
                              <a:latin typeface="Cambria Math" panose="02040503050406030204" pitchFamily="18" charset="0"/>
                              <a:ea typeface="Cambria Math" panose="02040503050406030204" pitchFamily="18" charset="0"/>
                            </a:rPr>
                            <m:t>es</m:t>
                          </m:r>
                          <m:r>
                            <a:rPr lang="es-MX" sz="1800" b="0" i="0" smtClean="0">
                              <a:latin typeface="Cambria Math" panose="02040503050406030204" pitchFamily="18" charset="0"/>
                              <a:ea typeface="Cambria Math" panose="02040503050406030204" pitchFamily="18" charset="0"/>
                            </a:rPr>
                            <m:t> </m:t>
                          </m:r>
                          <m:r>
                            <m:rPr>
                              <m:sty m:val="p"/>
                            </m:rPr>
                            <a:rPr lang="es-MX" sz="1800" b="0" i="0" smtClean="0">
                              <a:latin typeface="Cambria Math" panose="02040503050406030204" pitchFamily="18" charset="0"/>
                              <a:ea typeface="Cambria Math" panose="02040503050406030204" pitchFamily="18" charset="0"/>
                            </a:rPr>
                            <m:t>un</m:t>
                          </m:r>
                          <m:r>
                            <a:rPr lang="es-MX" sz="1800" b="0" i="0" smtClean="0">
                              <a:latin typeface="Cambria Math" panose="02040503050406030204" pitchFamily="18" charset="0"/>
                              <a:ea typeface="Cambria Math" panose="02040503050406030204" pitchFamily="18" charset="0"/>
                            </a:rPr>
                            <m:t> </m:t>
                          </m:r>
                          <m:r>
                            <m:rPr>
                              <m:sty m:val="p"/>
                            </m:rPr>
                            <a:rPr lang="es-MX" sz="1800" b="0" i="0" smtClean="0">
                              <a:latin typeface="Cambria Math" panose="02040503050406030204" pitchFamily="18" charset="0"/>
                              <a:ea typeface="Cambria Math" panose="02040503050406030204" pitchFamily="18" charset="0"/>
                            </a:rPr>
                            <m:t>mortal</m:t>
                          </m:r>
                        </m:oMath>
                      </m:oMathPara>
                    </a14:m>
                    <a:endParaRPr lang="es-CO" sz="1800" dirty="0"/>
                  </a:p>
                </p:txBody>
              </p:sp>
            </mc:Choice>
            <mc:Fallback xmlns="">
              <p:sp>
                <p:nvSpPr>
                  <p:cNvPr id="15" name="CuadroTexto 14">
                    <a:extLst>
                      <a:ext uri="{FF2B5EF4-FFF2-40B4-BE49-F238E27FC236}">
                        <a16:creationId xmlns:a16="http://schemas.microsoft.com/office/drawing/2014/main" id="{5C1A6FB1-318A-4B04-A64B-AA37F6948F1C}"/>
                      </a:ext>
                    </a:extLst>
                  </p:cNvPr>
                  <p:cNvSpPr txBox="1">
                    <a:spLocks noRot="1" noChangeAspect="1" noMove="1" noResize="1" noEditPoints="1" noAdjustHandles="1" noChangeArrowheads="1" noChangeShapeType="1" noTextEdit="1"/>
                  </p:cNvSpPr>
                  <p:nvPr/>
                </p:nvSpPr>
                <p:spPr>
                  <a:xfrm>
                    <a:off x="1066798" y="1603698"/>
                    <a:ext cx="5892941" cy="923330"/>
                  </a:xfrm>
                  <a:prstGeom prst="rect">
                    <a:avLst/>
                  </a:prstGeom>
                  <a:blipFill>
                    <a:blip r:embed="rId3"/>
                    <a:stretch>
                      <a:fillRect/>
                    </a:stretch>
                  </a:blipFill>
                </p:spPr>
                <p:txBody>
                  <a:bodyPr/>
                  <a:lstStyle/>
                  <a:p>
                    <a:r>
                      <a:rPr lang="es-CO">
                        <a:noFill/>
                      </a:rPr>
                      <a:t> </a:t>
                    </a:r>
                  </a:p>
                </p:txBody>
              </p:sp>
            </mc:Fallback>
          </mc:AlternateContent>
          <p:cxnSp>
            <p:nvCxnSpPr>
              <p:cNvPr id="4" name="Conector recto 3">
                <a:extLst>
                  <a:ext uri="{FF2B5EF4-FFF2-40B4-BE49-F238E27FC236}">
                    <a16:creationId xmlns:a16="http://schemas.microsoft.com/office/drawing/2014/main" id="{42635B24-5155-4BC3-9C7A-BEB2BEF0195A}"/>
                  </a:ext>
                </a:extLst>
              </p:cNvPr>
              <p:cNvCxnSpPr>
                <a:cxnSpLocks/>
              </p:cNvCxnSpPr>
              <p:nvPr/>
            </p:nvCxnSpPr>
            <p:spPr>
              <a:xfrm>
                <a:off x="1066799" y="2213160"/>
                <a:ext cx="57912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2" name="Abrir llave 41">
              <a:extLst>
                <a:ext uri="{FF2B5EF4-FFF2-40B4-BE49-F238E27FC236}">
                  <a16:creationId xmlns:a16="http://schemas.microsoft.com/office/drawing/2014/main" id="{97112276-7578-48E9-B60A-9C2D968E3D25}"/>
                </a:ext>
              </a:extLst>
            </p:cNvPr>
            <p:cNvSpPr/>
            <p:nvPr/>
          </p:nvSpPr>
          <p:spPr>
            <a:xfrm>
              <a:off x="3632200" y="1732475"/>
              <a:ext cx="127139" cy="609462"/>
            </a:xfrm>
            <a:prstGeom prst="leftBrace">
              <a:avLst>
                <a:gd name="adj1" fmla="val 27595"/>
                <a:gd name="adj2" fmla="val 50000"/>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44" name="Abrir llave 43">
              <a:extLst>
                <a:ext uri="{FF2B5EF4-FFF2-40B4-BE49-F238E27FC236}">
                  <a16:creationId xmlns:a16="http://schemas.microsoft.com/office/drawing/2014/main" id="{0FC0075A-AB3D-48CF-9C7D-3297098BEC4D}"/>
                </a:ext>
              </a:extLst>
            </p:cNvPr>
            <p:cNvSpPr/>
            <p:nvPr/>
          </p:nvSpPr>
          <p:spPr>
            <a:xfrm>
              <a:off x="3632200" y="2363774"/>
              <a:ext cx="127139" cy="207976"/>
            </a:xfrm>
            <a:prstGeom prst="leftBrace">
              <a:avLst>
                <a:gd name="adj1" fmla="val 27595"/>
                <a:gd name="adj2" fmla="val 50000"/>
              </a:avLst>
            </a:prstGeom>
            <a:ln w="28575">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solidFill>
                  <a:srgbClr val="0070C0"/>
                </a:solidFill>
              </a:endParaRPr>
            </a:p>
          </p:txBody>
        </p:sp>
        <p:sp>
          <p:nvSpPr>
            <p:cNvPr id="43" name="CuadroTexto 42">
              <a:extLst>
                <a:ext uri="{FF2B5EF4-FFF2-40B4-BE49-F238E27FC236}">
                  <a16:creationId xmlns:a16="http://schemas.microsoft.com/office/drawing/2014/main" id="{63879768-AC17-4F1C-B3C5-9A8DDEF9F82E}"/>
                </a:ext>
              </a:extLst>
            </p:cNvPr>
            <p:cNvSpPr txBox="1"/>
            <p:nvPr/>
          </p:nvSpPr>
          <p:spPr>
            <a:xfrm>
              <a:off x="2006600" y="1857917"/>
              <a:ext cx="1517650" cy="369332"/>
            </a:xfrm>
            <a:prstGeom prst="rect">
              <a:avLst/>
            </a:prstGeom>
            <a:noFill/>
          </p:spPr>
          <p:txBody>
            <a:bodyPr wrap="square" rtlCol="0">
              <a:spAutoFit/>
            </a:bodyPr>
            <a:lstStyle/>
            <a:p>
              <a:pPr algn="r"/>
              <a:r>
                <a:rPr lang="es-CO" b="1" dirty="0">
                  <a:solidFill>
                    <a:srgbClr val="C00000"/>
                  </a:solidFill>
                  <a:latin typeface="Roboto" panose="02000000000000000000" pitchFamily="2" charset="0"/>
                  <a:ea typeface="Roboto" panose="02000000000000000000" pitchFamily="2" charset="0"/>
                </a:rPr>
                <a:t>Premisas</a:t>
              </a:r>
            </a:p>
          </p:txBody>
        </p:sp>
        <p:sp>
          <p:nvSpPr>
            <p:cNvPr id="46" name="CuadroTexto 45">
              <a:extLst>
                <a:ext uri="{FF2B5EF4-FFF2-40B4-BE49-F238E27FC236}">
                  <a16:creationId xmlns:a16="http://schemas.microsoft.com/office/drawing/2014/main" id="{55F77683-5144-425D-9D1C-74D01202EA62}"/>
                </a:ext>
              </a:extLst>
            </p:cNvPr>
            <p:cNvSpPr txBox="1"/>
            <p:nvPr/>
          </p:nvSpPr>
          <p:spPr>
            <a:xfrm>
              <a:off x="2177068" y="2282261"/>
              <a:ext cx="1347181" cy="369332"/>
            </a:xfrm>
            <a:prstGeom prst="rect">
              <a:avLst/>
            </a:prstGeom>
            <a:noFill/>
          </p:spPr>
          <p:txBody>
            <a:bodyPr wrap="square" rtlCol="0">
              <a:spAutoFit/>
            </a:bodyPr>
            <a:lstStyle/>
            <a:p>
              <a:r>
                <a:rPr lang="es-CO" b="1" dirty="0">
                  <a:solidFill>
                    <a:srgbClr val="002060"/>
                  </a:solidFill>
                  <a:latin typeface="Roboto" panose="02000000000000000000" pitchFamily="2" charset="0"/>
                  <a:ea typeface="Roboto" panose="02000000000000000000" pitchFamily="2" charset="0"/>
                </a:rPr>
                <a:t>Conclusión</a:t>
              </a:r>
            </a:p>
          </p:txBody>
        </p:sp>
      </p:grpSp>
      <p:pic>
        <p:nvPicPr>
          <p:cNvPr id="6" name="Imagen 5">
            <a:extLst>
              <a:ext uri="{FF2B5EF4-FFF2-40B4-BE49-F238E27FC236}">
                <a16:creationId xmlns:a16="http://schemas.microsoft.com/office/drawing/2014/main" id="{A23EAAA6-2BB2-477C-BC79-E2FE932D2536}"/>
              </a:ext>
            </a:extLst>
          </p:cNvPr>
          <p:cNvPicPr>
            <a:picLocks noChangeAspect="1"/>
          </p:cNvPicPr>
          <p:nvPr/>
        </p:nvPicPr>
        <p:blipFill>
          <a:blip r:embed="rId4"/>
          <a:stretch>
            <a:fillRect/>
          </a:stretch>
        </p:blipFill>
        <p:spPr>
          <a:xfrm>
            <a:off x="9307934" y="1573788"/>
            <a:ext cx="1521842" cy="1593603"/>
          </a:xfrm>
          <a:prstGeom prst="rect">
            <a:avLst/>
          </a:prstGeom>
        </p:spPr>
      </p:pic>
      <mc:AlternateContent xmlns:mc="http://schemas.openxmlformats.org/markup-compatibility/2006" xmlns:a14="http://schemas.microsoft.com/office/drawing/2010/main">
        <mc:Choice Requires="a14">
          <p:sp>
            <p:nvSpPr>
              <p:cNvPr id="27" name="CuadroTexto 26">
                <a:extLst>
                  <a:ext uri="{FF2B5EF4-FFF2-40B4-BE49-F238E27FC236}">
                    <a16:creationId xmlns:a16="http://schemas.microsoft.com/office/drawing/2014/main" id="{42C04CC8-961B-4313-A9F1-0127697C18CA}"/>
                  </a:ext>
                </a:extLst>
              </p:cNvPr>
              <p:cNvSpPr txBox="1"/>
              <p:nvPr/>
            </p:nvSpPr>
            <p:spPr>
              <a:xfrm>
                <a:off x="4723691" y="5349690"/>
                <a:ext cx="2537130" cy="40011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d>
                        <m:dPr>
                          <m:begChr m:val="["/>
                          <m:endChr m:val="]"/>
                          <m:ctrlPr>
                            <a:rPr lang="es-MX" sz="2000" b="0" i="1" smtClean="0">
                              <a:latin typeface="Cambria Math" panose="02040503050406030204" pitchFamily="18" charset="0"/>
                              <a:ea typeface="Cambria Math" panose="02040503050406030204" pitchFamily="18" charset="0"/>
                            </a:rPr>
                          </m:ctrlPr>
                        </m:dPr>
                        <m:e>
                          <m:d>
                            <m:dPr>
                              <m:ctrlPr>
                                <a:rPr lang="es-MX" sz="2000" i="1">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𝑃</m:t>
                              </m:r>
                              <m:r>
                                <a:rPr lang="es-MX" sz="2000" i="1">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𝑄</m:t>
                              </m:r>
                            </m:e>
                          </m:d>
                          <m:r>
                            <a:rPr lang="es-MX" sz="2000" i="1">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𝑃</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𝑄</m:t>
                      </m:r>
                    </m:oMath>
                  </m:oMathPara>
                </a14:m>
                <a:endParaRPr lang="es-MX" sz="2000" b="0" i="0" dirty="0">
                  <a:latin typeface="Cambria Math" panose="02040503050406030204" pitchFamily="18" charset="0"/>
                  <a:ea typeface="Cambria Math" panose="02040503050406030204" pitchFamily="18" charset="0"/>
                </a:endParaRPr>
              </a:p>
            </p:txBody>
          </p:sp>
        </mc:Choice>
        <mc:Fallback xmlns="">
          <p:sp>
            <p:nvSpPr>
              <p:cNvPr id="27" name="CuadroTexto 26">
                <a:extLst>
                  <a:ext uri="{FF2B5EF4-FFF2-40B4-BE49-F238E27FC236}">
                    <a16:creationId xmlns:a16="http://schemas.microsoft.com/office/drawing/2014/main" id="{42C04CC8-961B-4313-A9F1-0127697C18CA}"/>
                  </a:ext>
                </a:extLst>
              </p:cNvPr>
              <p:cNvSpPr txBox="1">
                <a:spLocks noRot="1" noChangeAspect="1" noMove="1" noResize="1" noEditPoints="1" noAdjustHandles="1" noChangeArrowheads="1" noChangeShapeType="1" noTextEdit="1"/>
              </p:cNvSpPr>
              <p:nvPr/>
            </p:nvSpPr>
            <p:spPr>
              <a:xfrm>
                <a:off x="4723691" y="5349690"/>
                <a:ext cx="2537130" cy="400110"/>
              </a:xfrm>
              <a:prstGeom prst="rect">
                <a:avLst/>
              </a:prstGeom>
              <a:blipFill>
                <a:blip r:embed="rId5"/>
                <a:stretch>
                  <a:fillRect b="-12308"/>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99248390-511F-4122-94BF-D54E4B267718}"/>
                  </a:ext>
                </a:extLst>
              </p:cNvPr>
              <p:cNvSpPr txBox="1"/>
              <p:nvPr/>
            </p:nvSpPr>
            <p:spPr>
              <a:xfrm>
                <a:off x="8709524" y="5349690"/>
                <a:ext cx="2120252" cy="40011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d>
                        <m:dPr>
                          <m:ctrlPr>
                            <a:rPr lang="es-MX" sz="200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𝑃</m:t>
                          </m:r>
                          <m:r>
                            <a:rPr lang="es-MX" sz="2000" i="1">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𝑄</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𝑃</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𝑄</m:t>
                      </m:r>
                    </m:oMath>
                  </m:oMathPara>
                </a14:m>
                <a:endParaRPr lang="es-MX" sz="2000" b="0" i="0" dirty="0">
                  <a:latin typeface="Cambria Math" panose="02040503050406030204" pitchFamily="18" charset="0"/>
                  <a:ea typeface="Cambria Math" panose="02040503050406030204" pitchFamily="18" charset="0"/>
                </a:endParaRPr>
              </a:p>
            </p:txBody>
          </p:sp>
        </mc:Choice>
        <mc:Fallback xmlns="">
          <p:sp>
            <p:nvSpPr>
              <p:cNvPr id="28" name="CuadroTexto 27">
                <a:extLst>
                  <a:ext uri="{FF2B5EF4-FFF2-40B4-BE49-F238E27FC236}">
                    <a16:creationId xmlns:a16="http://schemas.microsoft.com/office/drawing/2014/main" id="{99248390-511F-4122-94BF-D54E4B267718}"/>
                  </a:ext>
                </a:extLst>
              </p:cNvPr>
              <p:cNvSpPr txBox="1">
                <a:spLocks noRot="1" noChangeAspect="1" noMove="1" noResize="1" noEditPoints="1" noAdjustHandles="1" noChangeArrowheads="1" noChangeShapeType="1" noTextEdit="1"/>
              </p:cNvSpPr>
              <p:nvPr/>
            </p:nvSpPr>
            <p:spPr>
              <a:xfrm>
                <a:off x="8709524" y="5349690"/>
                <a:ext cx="2120252" cy="400110"/>
              </a:xfrm>
              <a:prstGeom prst="rect">
                <a:avLst/>
              </a:prstGeom>
              <a:blipFill>
                <a:blip r:embed="rId6"/>
                <a:stretch>
                  <a:fillRect b="-12308"/>
                </a:stretch>
              </a:blipFill>
            </p:spPr>
            <p:txBody>
              <a:bodyPr/>
              <a:lstStyle/>
              <a:p>
                <a:r>
                  <a:rPr lang="es-CO">
                    <a:noFill/>
                  </a:rPr>
                  <a:t> </a:t>
                </a:r>
              </a:p>
            </p:txBody>
          </p:sp>
        </mc:Fallback>
      </mc:AlternateContent>
      <p:sp>
        <p:nvSpPr>
          <p:cNvPr id="29" name="Google Shape;310;p34">
            <a:extLst>
              <a:ext uri="{FF2B5EF4-FFF2-40B4-BE49-F238E27FC236}">
                <a16:creationId xmlns:a16="http://schemas.microsoft.com/office/drawing/2014/main" id="{7B684950-0B8C-4C4E-90F7-29B19D361866}"/>
              </a:ext>
            </a:extLst>
          </p:cNvPr>
          <p:cNvSpPr txBox="1">
            <a:spLocks/>
          </p:cNvSpPr>
          <p:nvPr/>
        </p:nvSpPr>
        <p:spPr>
          <a:xfrm>
            <a:off x="105495" y="3126225"/>
            <a:ext cx="10984405" cy="136711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b="1" dirty="0">
                <a:latin typeface="+mn-lt"/>
                <a:ea typeface="Roboto" panose="02000000000000000000" pitchFamily="2" charset="0"/>
              </a:rPr>
              <a:t>Traducción</a:t>
            </a:r>
            <a:r>
              <a:rPr lang="es-MX" sz="2000" dirty="0">
                <a:latin typeface="+mn-lt"/>
                <a:ea typeface="Roboto" panose="02000000000000000000" pitchFamily="2" charset="0"/>
              </a:rPr>
              <a:t>: En la argumentación anterior tenemos las siguientes proposiciones simples:</a:t>
            </a:r>
          </a:p>
          <a:p>
            <a:r>
              <a:rPr lang="es-MX" sz="2000" b="1" dirty="0">
                <a:latin typeface="+mn-lt"/>
                <a:ea typeface="Roboto" panose="02000000000000000000" pitchFamily="2" charset="0"/>
              </a:rPr>
              <a:t>P</a:t>
            </a:r>
            <a:r>
              <a:rPr lang="es-MX" sz="2000" dirty="0">
                <a:latin typeface="+mn-lt"/>
                <a:ea typeface="Roboto" panose="02000000000000000000" pitchFamily="2" charset="0"/>
              </a:rPr>
              <a:t>: Sócrates es un hombre</a:t>
            </a:r>
          </a:p>
          <a:p>
            <a:r>
              <a:rPr lang="es-MX" sz="2000" b="1" dirty="0">
                <a:latin typeface="+mn-lt"/>
                <a:ea typeface="Roboto" panose="02000000000000000000" pitchFamily="2" charset="0"/>
              </a:rPr>
              <a:t>Q</a:t>
            </a:r>
            <a:r>
              <a:rPr lang="es-MX" sz="2000" dirty="0">
                <a:latin typeface="+mn-lt"/>
                <a:ea typeface="Roboto" panose="02000000000000000000" pitchFamily="2" charset="0"/>
              </a:rPr>
              <a:t>: Sócrates es un mortal </a:t>
            </a: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4E9F436D-8246-4540-AB38-450CBEC3A5EE}"/>
                  </a:ext>
                </a:extLst>
              </p:cNvPr>
              <p:cNvSpPr txBox="1"/>
              <p:nvPr/>
            </p:nvSpPr>
            <p:spPr>
              <a:xfrm>
                <a:off x="1511813" y="5175286"/>
                <a:ext cx="1180516" cy="8449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CO" sz="2000" i="1" smtClean="0">
                              <a:latin typeface="Cambria Math" panose="02040503050406030204" pitchFamily="18" charset="0"/>
                            </a:rPr>
                          </m:ctrlPr>
                        </m:fPr>
                        <m:num>
                          <m:eqArr>
                            <m:eqArrPr>
                              <m:ctrlPr>
                                <a:rPr lang="es-MX" sz="2000" i="1">
                                  <a:latin typeface="Cambria Math" panose="02040503050406030204" pitchFamily="18" charset="0"/>
                                  <a:ea typeface="Cambria Math" panose="02040503050406030204" pitchFamily="18" charset="0"/>
                                </a:rPr>
                              </m:ctrlPr>
                            </m:eqArrPr>
                            <m:e>
                              <m:r>
                                <a:rPr lang="es-MX" sz="2000" b="0" i="1" smtClean="0">
                                  <a:latin typeface="Cambria Math" panose="02040503050406030204" pitchFamily="18" charset="0"/>
                                  <a:ea typeface="Cambria Math" panose="02040503050406030204" pitchFamily="18" charset="0"/>
                                </a:rPr>
                                <m:t> </m:t>
                              </m:r>
                              <m:r>
                                <a:rPr lang="es-MX" sz="2000" i="1">
                                  <a:latin typeface="Cambria Math" panose="02040503050406030204" pitchFamily="18" charset="0"/>
                                  <a:ea typeface="Cambria Math" panose="02040503050406030204" pitchFamily="18" charset="0"/>
                                </a:rPr>
                                <m:t>𝑃</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𝑄</m:t>
                              </m:r>
                            </m:e>
                            <m:e>
                              <m:r>
                                <a:rPr lang="es-MX" sz="2000" b="0" i="1" smtClean="0">
                                  <a:latin typeface="Cambria Math" panose="02040503050406030204" pitchFamily="18" charset="0"/>
                                  <a:ea typeface="Cambria Math" panose="02040503050406030204" pitchFamily="18" charset="0"/>
                                </a:rPr>
                                <m:t>𝑃</m:t>
                              </m:r>
                              <m:r>
                                <a:rPr lang="es-MX" sz="2000" b="0" i="1" smtClean="0">
                                  <a:latin typeface="Cambria Math" panose="02040503050406030204" pitchFamily="18" charset="0"/>
                                  <a:ea typeface="Cambria Math" panose="02040503050406030204" pitchFamily="18" charset="0"/>
                                </a:rPr>
                                <m:t>         </m:t>
                              </m:r>
                            </m:e>
                          </m:eqArr>
                        </m:num>
                        <m:den>
                          <m:r>
                            <a:rPr lang="es-CO"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𝑄</m:t>
                          </m:r>
                          <m:r>
                            <m:rPr>
                              <m:nor/>
                            </m:rPr>
                            <a:rPr lang="es-CO" sz="2000" i="1" dirty="0"/>
                            <m:t> </m:t>
                          </m:r>
                          <m:r>
                            <a:rPr lang="es-MX" sz="2000" b="0" i="1" dirty="0" smtClean="0">
                              <a:latin typeface="Cambria Math" panose="02040503050406030204" pitchFamily="18" charset="0"/>
                            </a:rPr>
                            <m:t>            </m:t>
                          </m:r>
                        </m:den>
                      </m:f>
                    </m:oMath>
                  </m:oMathPara>
                </a14:m>
                <a:endParaRPr lang="es-CO" sz="2000" dirty="0"/>
              </a:p>
            </p:txBody>
          </p:sp>
        </mc:Choice>
        <mc:Fallback xmlns="">
          <p:sp>
            <p:nvSpPr>
              <p:cNvPr id="2" name="CuadroTexto 1">
                <a:extLst>
                  <a:ext uri="{FF2B5EF4-FFF2-40B4-BE49-F238E27FC236}">
                    <a16:creationId xmlns:a16="http://schemas.microsoft.com/office/drawing/2014/main" id="{4E9F436D-8246-4540-AB38-450CBEC3A5EE}"/>
                  </a:ext>
                </a:extLst>
              </p:cNvPr>
              <p:cNvSpPr txBox="1">
                <a:spLocks noRot="1" noChangeAspect="1" noMove="1" noResize="1" noEditPoints="1" noAdjustHandles="1" noChangeArrowheads="1" noChangeShapeType="1" noTextEdit="1"/>
              </p:cNvSpPr>
              <p:nvPr/>
            </p:nvSpPr>
            <p:spPr>
              <a:xfrm>
                <a:off x="1511813" y="5175286"/>
                <a:ext cx="1180516" cy="844911"/>
              </a:xfrm>
              <a:prstGeom prst="rect">
                <a:avLst/>
              </a:prstGeom>
              <a:blipFill>
                <a:blip r:embed="rId7"/>
                <a:stretch>
                  <a:fillRect/>
                </a:stretch>
              </a:blipFill>
            </p:spPr>
            <p:txBody>
              <a:bodyPr/>
              <a:lstStyle/>
              <a:p>
                <a:r>
                  <a:rPr lang="es-CO">
                    <a:noFill/>
                  </a:rPr>
                  <a:t> </a:t>
                </a:r>
              </a:p>
            </p:txBody>
          </p:sp>
        </mc:Fallback>
      </mc:AlternateContent>
      <p:sp>
        <p:nvSpPr>
          <p:cNvPr id="31" name="CuadroTexto 30">
            <a:extLst>
              <a:ext uri="{FF2B5EF4-FFF2-40B4-BE49-F238E27FC236}">
                <a16:creationId xmlns:a16="http://schemas.microsoft.com/office/drawing/2014/main" id="{B802D685-129E-4B61-BE3B-093481A4AAE3}"/>
              </a:ext>
            </a:extLst>
          </p:cNvPr>
          <p:cNvSpPr txBox="1"/>
          <p:nvPr/>
        </p:nvSpPr>
        <p:spPr>
          <a:xfrm>
            <a:off x="796750" y="4562567"/>
            <a:ext cx="2895793" cy="400110"/>
          </a:xfrm>
          <a:prstGeom prst="rect">
            <a:avLst/>
          </a:prstGeom>
          <a:noFill/>
        </p:spPr>
        <p:txBody>
          <a:bodyPr wrap="none" rtlCol="0">
            <a:spAutoFit/>
          </a:bodyPr>
          <a:lstStyle/>
          <a:p>
            <a:r>
              <a:rPr lang="es-CO" sz="2000" b="1" dirty="0"/>
              <a:t>Forma estándar o vertical</a:t>
            </a:r>
          </a:p>
        </p:txBody>
      </p:sp>
      <p:sp>
        <p:nvSpPr>
          <p:cNvPr id="32" name="CuadroTexto 31">
            <a:extLst>
              <a:ext uri="{FF2B5EF4-FFF2-40B4-BE49-F238E27FC236}">
                <a16:creationId xmlns:a16="http://schemas.microsoft.com/office/drawing/2014/main" id="{A0646F68-0DA6-46C0-A131-94F0FD91BB36}"/>
              </a:ext>
            </a:extLst>
          </p:cNvPr>
          <p:cNvSpPr txBox="1"/>
          <p:nvPr/>
        </p:nvSpPr>
        <p:spPr>
          <a:xfrm>
            <a:off x="5162817" y="4599647"/>
            <a:ext cx="1291251" cy="400110"/>
          </a:xfrm>
          <a:prstGeom prst="rect">
            <a:avLst/>
          </a:prstGeom>
          <a:noFill/>
        </p:spPr>
        <p:txBody>
          <a:bodyPr wrap="none" rtlCol="0">
            <a:spAutoFit/>
          </a:bodyPr>
          <a:lstStyle/>
          <a:p>
            <a:r>
              <a:rPr lang="es-CO" sz="2000" b="1" dirty="0"/>
              <a:t>Tautología</a:t>
            </a:r>
          </a:p>
        </p:txBody>
      </p:sp>
      <p:sp>
        <p:nvSpPr>
          <p:cNvPr id="33" name="CuadroTexto 32">
            <a:extLst>
              <a:ext uri="{FF2B5EF4-FFF2-40B4-BE49-F238E27FC236}">
                <a16:creationId xmlns:a16="http://schemas.microsoft.com/office/drawing/2014/main" id="{A7DF3D48-2241-406D-9F44-71E4F22ECC37}"/>
              </a:ext>
            </a:extLst>
          </p:cNvPr>
          <p:cNvSpPr txBox="1"/>
          <p:nvPr/>
        </p:nvSpPr>
        <p:spPr>
          <a:xfrm>
            <a:off x="8709524" y="4618429"/>
            <a:ext cx="1927322" cy="400110"/>
          </a:xfrm>
          <a:prstGeom prst="rect">
            <a:avLst/>
          </a:prstGeom>
          <a:noFill/>
        </p:spPr>
        <p:txBody>
          <a:bodyPr wrap="none" rtlCol="0">
            <a:spAutoFit/>
          </a:bodyPr>
          <a:lstStyle/>
          <a:p>
            <a:r>
              <a:rPr lang="es-CO" sz="2000" b="1" dirty="0"/>
              <a:t>Forma simbólica</a:t>
            </a:r>
          </a:p>
        </p:txBody>
      </p:sp>
    </p:spTree>
    <p:extLst>
      <p:ext uri="{BB962C8B-B14F-4D97-AF65-F5344CB8AC3E}">
        <p14:creationId xmlns:p14="http://schemas.microsoft.com/office/powerpoint/2010/main" val="3633780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101323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Validación de argumentos – Tablas de verdad</a:t>
            </a:r>
            <a:endParaRPr dirty="0">
              <a:solidFill>
                <a:schemeClr val="tx1"/>
              </a:solidFill>
              <a:latin typeface="+mj-lt"/>
            </a:endParaRPr>
          </a:p>
        </p:txBody>
      </p:sp>
      <p:sp>
        <p:nvSpPr>
          <p:cNvPr id="8" name="CuadroTexto 7">
            <a:extLst>
              <a:ext uri="{FF2B5EF4-FFF2-40B4-BE49-F238E27FC236}">
                <a16:creationId xmlns:a16="http://schemas.microsoft.com/office/drawing/2014/main" id="{67FFE210-C380-4E70-9A92-6CA99BC5E6C1}"/>
              </a:ext>
            </a:extLst>
          </p:cNvPr>
          <p:cNvSpPr txBox="1"/>
          <p:nvPr/>
        </p:nvSpPr>
        <p:spPr>
          <a:xfrm>
            <a:off x="422936" y="1572011"/>
            <a:ext cx="10928455" cy="2800767"/>
          </a:xfrm>
          <a:prstGeom prst="rect">
            <a:avLst/>
          </a:prstGeom>
          <a:noFill/>
        </p:spPr>
        <p:txBody>
          <a:bodyPr wrap="square" rtlCol="0">
            <a:spAutoFit/>
          </a:bodyPr>
          <a:lstStyle/>
          <a:p>
            <a:pPr marL="457200" indent="-457200">
              <a:buFont typeface="+mj-lt"/>
              <a:buAutoNum type="arabicPeriod"/>
            </a:pPr>
            <a:r>
              <a:rPr lang="es-MX" sz="2200" dirty="0">
                <a:ea typeface="Roboto" panose="02000000000000000000" pitchFamily="2" charset="0"/>
              </a:rPr>
              <a:t>Identifique las premisas y la conclusión de la forma de argumento.</a:t>
            </a:r>
          </a:p>
          <a:p>
            <a:pPr marL="457200" indent="-457200">
              <a:buFont typeface="+mj-lt"/>
              <a:buAutoNum type="arabicPeriod"/>
            </a:pPr>
            <a:r>
              <a:rPr lang="es-MX" sz="2200" dirty="0">
                <a:ea typeface="Roboto" panose="02000000000000000000" pitchFamily="2" charset="0"/>
              </a:rPr>
              <a:t>Construya una tabla de verdad que muestre los valores de verdad de todas las premisas y la conclusión.</a:t>
            </a:r>
          </a:p>
          <a:p>
            <a:pPr marL="457200" indent="-457200">
              <a:buFont typeface="+mj-lt"/>
              <a:buAutoNum type="arabicPeriod"/>
            </a:pPr>
            <a:r>
              <a:rPr lang="es-MX" sz="2200" dirty="0">
                <a:ea typeface="Roboto" panose="02000000000000000000" pitchFamily="2" charset="0"/>
              </a:rPr>
              <a:t>Un renglón de la tabla de verdad en el que todas las premisas son verdaderas se llama un </a:t>
            </a:r>
            <a:r>
              <a:rPr lang="es-MX" sz="2200" b="1" dirty="0">
                <a:ea typeface="Roboto" panose="02000000000000000000" pitchFamily="2" charset="0"/>
              </a:rPr>
              <a:t>renglón crítico</a:t>
            </a:r>
            <a:r>
              <a:rPr lang="es-MX" sz="2200" dirty="0">
                <a:ea typeface="Roboto" panose="02000000000000000000" pitchFamily="2" charset="0"/>
              </a:rPr>
              <a:t>. Si hay un renglón crítico en el que la conclusión es falsa, entonces es posible que un argumento de la forma dada tenga premisas verdaderas y una conclusión falsa, por lo que la forma del argumento es no válida. Si la conclusión en cada renglón crítico es verdadera, entonces la forma del argumento es válida</a:t>
            </a: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422936" y="933682"/>
            <a:ext cx="9590437"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tx1"/>
                </a:solidFill>
                <a:latin typeface="+mn-lt"/>
              </a:rPr>
              <a:t>Validación de argumentos mediante tabla de verdad</a:t>
            </a:r>
            <a:endParaRPr lang="es-MX" dirty="0">
              <a:solidFill>
                <a:schemeClr val="tx1"/>
              </a:solidFill>
              <a:latin typeface="+mn-lt"/>
            </a:endParaRPr>
          </a:p>
          <a:p>
            <a:pPr marL="0" indent="0">
              <a:buFont typeface="Roboto"/>
              <a:buNone/>
            </a:pPr>
            <a:endParaRPr lang="es-MX" sz="2400" dirty="0">
              <a:solidFill>
                <a:schemeClr val="tx1"/>
              </a:solidFill>
            </a:endParaRPr>
          </a:p>
          <a:p>
            <a:pPr indent="0">
              <a:buFont typeface="Roboto"/>
              <a:buNone/>
            </a:pPr>
            <a:endParaRPr lang="es-MX" sz="2400" dirty="0">
              <a:solidFill>
                <a:schemeClr val="tx1"/>
              </a:solidFill>
            </a:endParaRPr>
          </a:p>
        </p:txBody>
      </p:sp>
    </p:spTree>
    <p:extLst>
      <p:ext uri="{BB962C8B-B14F-4D97-AF65-F5344CB8AC3E}">
        <p14:creationId xmlns:p14="http://schemas.microsoft.com/office/powerpoint/2010/main" val="26754618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419100" y="96038"/>
            <a:ext cx="11150600" cy="949500"/>
          </a:xfrm>
          <a:prstGeom prst="rect">
            <a:avLst/>
          </a:prstGeom>
        </p:spPr>
        <p:txBody>
          <a:bodyPr spcFirstLastPara="1" wrap="square" lIns="91425" tIns="45700" rIns="91425" bIns="45700" anchor="ctr" anchorCtr="0">
            <a:noAutofit/>
          </a:bodyPr>
          <a:lstStyle/>
          <a:p>
            <a:r>
              <a:rPr lang="es-ES" dirty="0">
                <a:solidFill>
                  <a:schemeClr val="tx1"/>
                </a:solidFill>
                <a:latin typeface="+mj-lt"/>
              </a:rPr>
              <a:t>Validación de argumentos – Tablas de verdad</a:t>
            </a:r>
            <a:endParaRPr dirty="0">
              <a:solidFill>
                <a:schemeClr val="tx1"/>
              </a:solidFill>
              <a:latin typeface="+mj-lt"/>
            </a:endParaRPr>
          </a:p>
        </p:txBody>
      </p:sp>
      <p:sp>
        <p:nvSpPr>
          <p:cNvPr id="6" name="CuadroTexto 5">
            <a:extLst>
              <a:ext uri="{FF2B5EF4-FFF2-40B4-BE49-F238E27FC236}">
                <a16:creationId xmlns:a16="http://schemas.microsoft.com/office/drawing/2014/main" id="{EADF0CAA-C898-4BF8-A9BD-2685F47DE0AF}"/>
              </a:ext>
            </a:extLst>
          </p:cNvPr>
          <p:cNvSpPr txBox="1"/>
          <p:nvPr/>
        </p:nvSpPr>
        <p:spPr>
          <a:xfrm>
            <a:off x="520490" y="1111887"/>
            <a:ext cx="10947819" cy="430887"/>
          </a:xfrm>
          <a:prstGeom prst="rect">
            <a:avLst/>
          </a:prstGeom>
          <a:noFill/>
        </p:spPr>
        <p:txBody>
          <a:bodyPr wrap="square" rtlCol="0">
            <a:spAutoFit/>
          </a:bodyPr>
          <a:lstStyle/>
          <a:p>
            <a:r>
              <a:rPr lang="es-MX" sz="2200" b="1" dirty="0">
                <a:ea typeface="Roboto" panose="02000000000000000000" pitchFamily="2" charset="0"/>
              </a:rPr>
              <a:t>Ejemplo</a:t>
            </a:r>
            <a:r>
              <a:rPr lang="es-MX" sz="2200" dirty="0">
                <a:ea typeface="Roboto" panose="02000000000000000000" pitchFamily="2" charset="0"/>
              </a:rPr>
              <a:t>: Dado el siguiente argumento:</a:t>
            </a:r>
          </a:p>
        </p:txBody>
      </p:sp>
      <p:sp>
        <p:nvSpPr>
          <p:cNvPr id="31" name="CuadroTexto 30">
            <a:extLst>
              <a:ext uri="{FF2B5EF4-FFF2-40B4-BE49-F238E27FC236}">
                <a16:creationId xmlns:a16="http://schemas.microsoft.com/office/drawing/2014/main" id="{0C47FA03-1C5C-454E-9C9C-3D670E3023D9}"/>
              </a:ext>
            </a:extLst>
          </p:cNvPr>
          <p:cNvSpPr txBox="1"/>
          <p:nvPr/>
        </p:nvSpPr>
        <p:spPr>
          <a:xfrm>
            <a:off x="417738" y="3075057"/>
            <a:ext cx="11382376" cy="769441"/>
          </a:xfrm>
          <a:prstGeom prst="rect">
            <a:avLst/>
          </a:prstGeom>
          <a:noFill/>
        </p:spPr>
        <p:txBody>
          <a:bodyPr wrap="square" rtlCol="0">
            <a:spAutoFit/>
          </a:bodyPr>
          <a:lstStyle/>
          <a:p>
            <a:r>
              <a:rPr lang="es-MX" sz="2200" dirty="0">
                <a:ea typeface="Roboto" panose="02000000000000000000" pitchFamily="2" charset="0"/>
              </a:rPr>
              <a:t>Determine su validez mediante una tabla de verdad, indicando qué columnas representan las premisas y cuáles representan la conclusión y anotando en la tabla una frase de la explicación. </a:t>
            </a: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20E4DA3F-EDB0-48D1-801F-AB37724E9C47}"/>
                  </a:ext>
                </a:extLst>
              </p:cNvPr>
              <p:cNvSpPr txBox="1"/>
              <p:nvPr/>
            </p:nvSpPr>
            <p:spPr>
              <a:xfrm>
                <a:off x="4920376" y="1869275"/>
                <a:ext cx="1799019" cy="8792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CO" sz="2000" i="1" smtClean="0">
                              <a:latin typeface="Cambria Math" panose="02040503050406030204" pitchFamily="18" charset="0"/>
                            </a:rPr>
                          </m:ctrlPr>
                        </m:fPr>
                        <m:num>
                          <m:eqArr>
                            <m:eqArrPr>
                              <m:ctrlPr>
                                <a:rPr lang="es-MX" sz="2000" i="1">
                                  <a:latin typeface="Cambria Math" panose="02040503050406030204" pitchFamily="18" charset="0"/>
                                  <a:ea typeface="Roboto" panose="02000000000000000000" pitchFamily="2" charset="0"/>
                                </a:rPr>
                              </m:ctrlPr>
                            </m:eqArrPr>
                            <m:e>
                              <m:r>
                                <a:rPr lang="es-MX" sz="2000" i="1">
                                  <a:latin typeface="Cambria Math" panose="02040503050406030204" pitchFamily="18" charset="0"/>
                                  <a:ea typeface="Roboto" panose="02000000000000000000" pitchFamily="2" charset="0"/>
                                </a:rPr>
                                <m:t>𝑝</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𝑞</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𝑟</m:t>
                              </m:r>
                              <m:r>
                                <m:rPr>
                                  <m:nor/>
                                </m:rPr>
                                <a:rPr lang="es-MX" sz="2000" dirty="0">
                                  <a:latin typeface="Roboto" panose="02000000000000000000" pitchFamily="2" charset="0"/>
                                  <a:ea typeface="Cambria Math" panose="02040503050406030204" pitchFamily="18" charset="0"/>
                                </a:rPr>
                                <m:t> </m:t>
                              </m:r>
                            </m:e>
                            <m:e>
                              <m:r>
                                <a:rPr lang="es-MX" sz="2000" i="1">
                                  <a:latin typeface="Cambria Math" panose="02040503050406030204" pitchFamily="18" charset="0"/>
                                  <a:ea typeface="Roboto" panose="02000000000000000000" pitchFamily="2" charset="0"/>
                                </a:rPr>
                                <m:t>𝑞</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𝑝</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𝑟</m:t>
                              </m:r>
                              <m:r>
                                <m:rPr>
                                  <m:nor/>
                                </m:rPr>
                                <a:rPr lang="es-MX" sz="2000" dirty="0">
                                  <a:latin typeface="Roboto" panose="02000000000000000000" pitchFamily="2" charset="0"/>
                                  <a:ea typeface="Cambria Math" panose="02040503050406030204" pitchFamily="18" charset="0"/>
                                </a:rPr>
                                <m:t> </m:t>
                              </m:r>
                              <m:r>
                                <m:rPr>
                                  <m:nor/>
                                </m:rPr>
                                <a:rPr lang="es-MX" sz="2000" b="0" i="0" dirty="0" smtClean="0">
                                  <a:latin typeface="Roboto" panose="02000000000000000000" pitchFamily="2" charset="0"/>
                                  <a:ea typeface="Cambria Math" panose="02040503050406030204" pitchFamily="18" charset="0"/>
                                </a:rPr>
                                <m:t>   </m:t>
                              </m:r>
                            </m:e>
                          </m:eqArr>
                        </m:num>
                        <m:den>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Roboto" panose="02000000000000000000" pitchFamily="2" charset="0"/>
                            </a:rPr>
                            <m:t>𝑝</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Cambria Math" panose="02040503050406030204" pitchFamily="18" charset="0"/>
                            </a:rPr>
                            <m:t>𝑟</m:t>
                          </m:r>
                          <m:r>
                            <m:rPr>
                              <m:nor/>
                            </m:rPr>
                            <a:rPr lang="es-MX" sz="2000" dirty="0">
                              <a:latin typeface="Roboto" panose="02000000000000000000" pitchFamily="2" charset="0"/>
                              <a:ea typeface="Cambria Math" panose="02040503050406030204" pitchFamily="18" charset="0"/>
                            </a:rPr>
                            <m:t> </m:t>
                          </m:r>
                          <m:r>
                            <m:rPr>
                              <m:nor/>
                            </m:rPr>
                            <a:rPr lang="es-MX" sz="2000" b="0" i="0" dirty="0" smtClean="0">
                              <a:latin typeface="Roboto" panose="02000000000000000000" pitchFamily="2" charset="0"/>
                              <a:ea typeface="Cambria Math" panose="02040503050406030204" pitchFamily="18" charset="0"/>
                            </a:rPr>
                            <m:t>             </m:t>
                          </m:r>
                        </m:den>
                      </m:f>
                    </m:oMath>
                  </m:oMathPara>
                </a14:m>
                <a:endParaRPr lang="es-CO" sz="2000" dirty="0"/>
              </a:p>
            </p:txBody>
          </p:sp>
        </mc:Choice>
        <mc:Fallback xmlns="">
          <p:sp>
            <p:nvSpPr>
              <p:cNvPr id="2" name="CuadroTexto 1">
                <a:extLst>
                  <a:ext uri="{FF2B5EF4-FFF2-40B4-BE49-F238E27FC236}">
                    <a16:creationId xmlns:a16="http://schemas.microsoft.com/office/drawing/2014/main" id="{20E4DA3F-EDB0-48D1-801F-AB37724E9C47}"/>
                  </a:ext>
                </a:extLst>
              </p:cNvPr>
              <p:cNvSpPr txBox="1">
                <a:spLocks noRot="1" noChangeAspect="1" noMove="1" noResize="1" noEditPoints="1" noAdjustHandles="1" noChangeArrowheads="1" noChangeShapeType="1" noTextEdit="1"/>
              </p:cNvSpPr>
              <p:nvPr/>
            </p:nvSpPr>
            <p:spPr>
              <a:xfrm>
                <a:off x="4920376" y="1869275"/>
                <a:ext cx="1799019" cy="879280"/>
              </a:xfrm>
              <a:prstGeom prst="rect">
                <a:avLst/>
              </a:prstGeom>
              <a:blipFill>
                <a:blip r:embed="rId3"/>
                <a:stretch>
                  <a:fillRect/>
                </a:stretch>
              </a:blipFill>
            </p:spPr>
            <p:txBody>
              <a:bodyPr/>
              <a:lstStyle/>
              <a:p>
                <a:r>
                  <a:rPr lang="es-CO">
                    <a:noFill/>
                  </a:rPr>
                  <a:t> </a:t>
                </a:r>
              </a:p>
            </p:txBody>
          </p:sp>
        </mc:Fallback>
      </mc:AlternateContent>
    </p:spTree>
    <p:extLst>
      <p:ext uri="{BB962C8B-B14F-4D97-AF65-F5344CB8AC3E}">
        <p14:creationId xmlns:p14="http://schemas.microsoft.com/office/powerpoint/2010/main" val="39116411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614354" y="96038"/>
            <a:ext cx="11122689"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Validación de argumentos – Tablas de verdad</a:t>
            </a:r>
            <a:endParaRPr dirty="0">
              <a:solidFill>
                <a:schemeClr val="tx1"/>
              </a:solidFill>
              <a:latin typeface="+mn-lt"/>
            </a:endParaRPr>
          </a:p>
        </p:txBody>
      </p:sp>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DEA6B94A-56ED-4760-B1B3-9599A45ADA28}"/>
                  </a:ext>
                </a:extLst>
              </p:cNvPr>
              <p:cNvSpPr txBox="1"/>
              <p:nvPr/>
            </p:nvSpPr>
            <p:spPr>
              <a:xfrm>
                <a:off x="1069910" y="6008276"/>
                <a:ext cx="4543699" cy="30777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MX" sz="2000" b="0" i="1" smtClean="0">
                              <a:latin typeface="Cambria Math" panose="02040503050406030204" pitchFamily="18" charset="0"/>
                              <a:ea typeface="Roboto" panose="02000000000000000000" pitchFamily="2" charset="0"/>
                            </a:rPr>
                          </m:ctrlPr>
                        </m:dPr>
                        <m:e>
                          <m:d>
                            <m:dPr>
                              <m:ctrlPr>
                                <a:rPr lang="es-MX" sz="2000" b="0" i="1" smtClean="0">
                                  <a:latin typeface="Cambria Math" panose="02040503050406030204" pitchFamily="18" charset="0"/>
                                  <a:ea typeface="Roboto" panose="02000000000000000000" pitchFamily="2" charset="0"/>
                                </a:rPr>
                              </m:ctrlPr>
                            </m:dPr>
                            <m:e>
                              <m:r>
                                <a:rPr lang="es-MX" sz="2000" i="1">
                                  <a:latin typeface="Cambria Math" panose="02040503050406030204" pitchFamily="18" charset="0"/>
                                  <a:ea typeface="Roboto" panose="02000000000000000000" pitchFamily="2" charset="0"/>
                                </a:rPr>
                                <m:t>𝑝</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𝑞</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𝑟</m:t>
                              </m:r>
                            </m:e>
                          </m:d>
                          <m:r>
                            <a:rPr lang="es-MX" sz="2000" i="1">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Roboto" panose="02000000000000000000" pitchFamily="2" charset="0"/>
                                </a:rPr>
                                <m:t>𝑞</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𝑝</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𝑟</m:t>
                              </m:r>
                              <m:r>
                                <m:rPr>
                                  <m:nor/>
                                </m:rPr>
                                <a:rPr lang="es-MX" sz="2000" dirty="0">
                                  <a:latin typeface="Roboto" panose="02000000000000000000" pitchFamily="2" charset="0"/>
                                  <a:ea typeface="Cambria Math" panose="02040503050406030204" pitchFamily="18" charset="0"/>
                                </a:rPr>
                                <m:t> </m:t>
                              </m:r>
                            </m:e>
                          </m:d>
                        </m:e>
                      </m:d>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Roboto" panose="02000000000000000000" pitchFamily="2" charset="0"/>
                            </a:rPr>
                            <m:t>𝑝</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Cambria Math" panose="02040503050406030204" pitchFamily="18" charset="0"/>
                            </a:rPr>
                            <m:t>𝑟</m:t>
                          </m:r>
                        </m:e>
                      </m:d>
                    </m:oMath>
                  </m:oMathPara>
                </a14:m>
                <a:endParaRPr lang="es-MX" sz="2000" dirty="0">
                  <a:latin typeface="Roboto" panose="02000000000000000000" pitchFamily="2" charset="0"/>
                  <a:ea typeface="Cambria Math" panose="02040503050406030204" pitchFamily="18" charset="0"/>
                </a:endParaRPr>
              </a:p>
            </p:txBody>
          </p:sp>
        </mc:Choice>
        <mc:Fallback xmlns="">
          <p:sp>
            <p:nvSpPr>
              <p:cNvPr id="11" name="CuadroTexto 10">
                <a:extLst>
                  <a:ext uri="{FF2B5EF4-FFF2-40B4-BE49-F238E27FC236}">
                    <a16:creationId xmlns:a16="http://schemas.microsoft.com/office/drawing/2014/main" id="{DEA6B94A-56ED-4760-B1B3-9599A45ADA28}"/>
                  </a:ext>
                </a:extLst>
              </p:cNvPr>
              <p:cNvSpPr txBox="1">
                <a:spLocks noRot="1" noChangeAspect="1" noMove="1" noResize="1" noEditPoints="1" noAdjustHandles="1" noChangeArrowheads="1" noChangeShapeType="1" noTextEdit="1"/>
              </p:cNvSpPr>
              <p:nvPr/>
            </p:nvSpPr>
            <p:spPr>
              <a:xfrm>
                <a:off x="1069910" y="6008276"/>
                <a:ext cx="4543699" cy="307777"/>
              </a:xfrm>
              <a:prstGeom prst="rect">
                <a:avLst/>
              </a:prstGeom>
              <a:blipFill>
                <a:blip r:embed="rId3"/>
                <a:stretch>
                  <a:fillRect b="-28000"/>
                </a:stretch>
              </a:blipFill>
            </p:spPr>
            <p:txBody>
              <a:bodyPr/>
              <a:lstStyle/>
              <a:p>
                <a:r>
                  <a:rPr lang="es-CO">
                    <a:noFill/>
                  </a:rPr>
                  <a:t> </a:t>
                </a:r>
              </a:p>
            </p:txBody>
          </p:sp>
        </mc:Fallback>
      </mc:AlternateContent>
      <p:sp>
        <p:nvSpPr>
          <p:cNvPr id="32" name="CuadroTexto 31">
            <a:extLst>
              <a:ext uri="{FF2B5EF4-FFF2-40B4-BE49-F238E27FC236}">
                <a16:creationId xmlns:a16="http://schemas.microsoft.com/office/drawing/2014/main" id="{4FE1E362-A410-424C-BDFC-7A09CAFA0358}"/>
              </a:ext>
            </a:extLst>
          </p:cNvPr>
          <p:cNvSpPr txBox="1"/>
          <p:nvPr/>
        </p:nvSpPr>
        <p:spPr>
          <a:xfrm>
            <a:off x="1232333" y="5433484"/>
            <a:ext cx="4218854" cy="400110"/>
          </a:xfrm>
          <a:prstGeom prst="rect">
            <a:avLst/>
          </a:prstGeom>
          <a:noFill/>
        </p:spPr>
        <p:txBody>
          <a:bodyPr wrap="square">
            <a:spAutoFit/>
          </a:bodyPr>
          <a:lstStyle/>
          <a:p>
            <a:pPr algn="ctr"/>
            <a:r>
              <a:rPr lang="es-MX" sz="2000" b="1" dirty="0">
                <a:latin typeface="Roboto" panose="02000000000000000000" pitchFamily="2" charset="0"/>
                <a:ea typeface="Roboto" panose="02000000000000000000" pitchFamily="2" charset="0"/>
              </a:rPr>
              <a:t>Tautología</a:t>
            </a:r>
            <a:endParaRPr lang="es-MX" sz="2000" dirty="0">
              <a:latin typeface="Roboto" panose="02000000000000000000" pitchFamily="2" charset="0"/>
              <a:ea typeface="Roboto" panose="02000000000000000000" pitchFamily="2" charset="0"/>
            </a:endParaRPr>
          </a:p>
        </p:txBody>
      </p:sp>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F701027E-ACDF-4BBB-9012-B94C5C163ED3}"/>
                  </a:ext>
                </a:extLst>
              </p:cNvPr>
              <p:cNvSpPr txBox="1"/>
              <p:nvPr/>
            </p:nvSpPr>
            <p:spPr>
              <a:xfrm>
                <a:off x="6578393" y="6008276"/>
                <a:ext cx="4232713" cy="30777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s-MX" sz="2000" i="1" smtClean="0">
                              <a:latin typeface="Cambria Math" panose="02040503050406030204" pitchFamily="18" charset="0"/>
                              <a:ea typeface="Roboto" panose="02000000000000000000" pitchFamily="2" charset="0"/>
                            </a:rPr>
                          </m:ctrlPr>
                        </m:dPr>
                        <m:e>
                          <m:r>
                            <a:rPr lang="es-MX" sz="2000" i="1" smtClean="0">
                              <a:latin typeface="Cambria Math" panose="02040503050406030204" pitchFamily="18" charset="0"/>
                              <a:ea typeface="Roboto" panose="02000000000000000000" pitchFamily="2" charset="0"/>
                            </a:rPr>
                            <m:t>𝑝</m:t>
                          </m:r>
                          <m:r>
                            <a:rPr lang="es-MX" sz="2000" i="1" smtClean="0">
                              <a:latin typeface="Cambria Math" panose="02040503050406030204" pitchFamily="18" charset="0"/>
                              <a:ea typeface="Roboto" panose="02000000000000000000" pitchFamily="2" charset="0"/>
                            </a:rPr>
                            <m:t>→</m:t>
                          </m:r>
                          <m:r>
                            <a:rPr lang="es-MX" sz="2000" i="1" smtClean="0">
                              <a:latin typeface="Cambria Math" panose="02040503050406030204" pitchFamily="18" charset="0"/>
                              <a:ea typeface="Roboto" panose="02000000000000000000" pitchFamily="2" charset="0"/>
                            </a:rPr>
                            <m:t>𝑞</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𝑟</m:t>
                          </m:r>
                        </m:e>
                      </m:d>
                      <m:r>
                        <a:rPr lang="es-MX" sz="2000" i="1">
                          <a:latin typeface="Cambria Math" panose="02040503050406030204" pitchFamily="18" charset="0"/>
                          <a:ea typeface="Cambria Math" panose="02040503050406030204" pitchFamily="18" charset="0"/>
                        </a:rPr>
                        <m:t>,</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Roboto" panose="02000000000000000000" pitchFamily="2" charset="0"/>
                            </a:rPr>
                            <m:t>𝑞</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𝑝</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𝑟</m:t>
                          </m:r>
                          <m:r>
                            <m:rPr>
                              <m:nor/>
                            </m:rPr>
                            <a:rPr lang="es-MX" sz="2000" dirty="0">
                              <a:latin typeface="Roboto" panose="02000000000000000000" pitchFamily="2" charset="0"/>
                              <a:ea typeface="Cambria Math" panose="02040503050406030204" pitchFamily="18" charset="0"/>
                            </a:rPr>
                            <m:t> </m:t>
                          </m:r>
                        </m:e>
                      </m:d>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Roboto" panose="02000000000000000000" pitchFamily="2" charset="0"/>
                            </a:rPr>
                            <m:t>𝑝</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Cambria Math" panose="02040503050406030204" pitchFamily="18" charset="0"/>
                            </a:rPr>
                            <m:t>𝑟</m:t>
                          </m:r>
                        </m:e>
                      </m:d>
                    </m:oMath>
                  </m:oMathPara>
                </a14:m>
                <a:endParaRPr lang="es-MX" sz="2000" dirty="0">
                  <a:latin typeface="Roboto" panose="02000000000000000000" pitchFamily="2" charset="0"/>
                  <a:ea typeface="Cambria Math" panose="02040503050406030204" pitchFamily="18" charset="0"/>
                </a:endParaRPr>
              </a:p>
            </p:txBody>
          </p:sp>
        </mc:Choice>
        <mc:Fallback xmlns="">
          <p:sp>
            <p:nvSpPr>
              <p:cNvPr id="12" name="CuadroTexto 11">
                <a:extLst>
                  <a:ext uri="{FF2B5EF4-FFF2-40B4-BE49-F238E27FC236}">
                    <a16:creationId xmlns:a16="http://schemas.microsoft.com/office/drawing/2014/main" id="{F701027E-ACDF-4BBB-9012-B94C5C163ED3}"/>
                  </a:ext>
                </a:extLst>
              </p:cNvPr>
              <p:cNvSpPr txBox="1">
                <a:spLocks noRot="1" noChangeAspect="1" noMove="1" noResize="1" noEditPoints="1" noAdjustHandles="1" noChangeArrowheads="1" noChangeShapeType="1" noTextEdit="1"/>
              </p:cNvSpPr>
              <p:nvPr/>
            </p:nvSpPr>
            <p:spPr>
              <a:xfrm>
                <a:off x="6578393" y="6008276"/>
                <a:ext cx="4232713" cy="307777"/>
              </a:xfrm>
              <a:prstGeom prst="rect">
                <a:avLst/>
              </a:prstGeom>
              <a:blipFill>
                <a:blip r:embed="rId4"/>
                <a:stretch>
                  <a:fillRect b="-28000"/>
                </a:stretch>
              </a:blipFill>
            </p:spPr>
            <p:txBody>
              <a:bodyPr/>
              <a:lstStyle/>
              <a:p>
                <a:r>
                  <a:rPr lang="es-CO">
                    <a:noFill/>
                  </a:rPr>
                  <a:t> </a:t>
                </a:r>
              </a:p>
            </p:txBody>
          </p:sp>
        </mc:Fallback>
      </mc:AlternateContent>
      <p:sp>
        <p:nvSpPr>
          <p:cNvPr id="33" name="CuadroTexto 32">
            <a:extLst>
              <a:ext uri="{FF2B5EF4-FFF2-40B4-BE49-F238E27FC236}">
                <a16:creationId xmlns:a16="http://schemas.microsoft.com/office/drawing/2014/main" id="{54235A21-3073-493E-8F9B-48DC78FF6C55}"/>
              </a:ext>
            </a:extLst>
          </p:cNvPr>
          <p:cNvSpPr txBox="1"/>
          <p:nvPr/>
        </p:nvSpPr>
        <p:spPr>
          <a:xfrm>
            <a:off x="6494071" y="5421257"/>
            <a:ext cx="4218855" cy="400110"/>
          </a:xfrm>
          <a:prstGeom prst="rect">
            <a:avLst/>
          </a:prstGeom>
          <a:noFill/>
        </p:spPr>
        <p:txBody>
          <a:bodyPr wrap="square">
            <a:spAutoFit/>
          </a:bodyPr>
          <a:lstStyle/>
          <a:p>
            <a:pPr algn="ctr"/>
            <a:r>
              <a:rPr lang="es-MX" sz="2000" b="1" dirty="0">
                <a:latin typeface="Roboto" panose="02000000000000000000" pitchFamily="2" charset="0"/>
                <a:ea typeface="Roboto" panose="02000000000000000000" pitchFamily="2" charset="0"/>
              </a:rPr>
              <a:t>Forma simbólica</a:t>
            </a:r>
            <a:endParaRPr lang="es-MX" sz="2000" dirty="0">
              <a:latin typeface="Roboto" panose="02000000000000000000" pitchFamily="2" charset="0"/>
              <a:ea typeface="Roboto" panose="02000000000000000000" pitchFamily="2" charset="0"/>
            </a:endParaRPr>
          </a:p>
        </p:txBody>
      </p:sp>
      <p:sp>
        <p:nvSpPr>
          <p:cNvPr id="27" name="CuadroTexto 26">
            <a:extLst>
              <a:ext uri="{FF2B5EF4-FFF2-40B4-BE49-F238E27FC236}">
                <a16:creationId xmlns:a16="http://schemas.microsoft.com/office/drawing/2014/main" id="{7EE2F401-B6DD-47B5-8ECC-6144DD73BD2C}"/>
              </a:ext>
            </a:extLst>
          </p:cNvPr>
          <p:cNvSpPr txBox="1"/>
          <p:nvPr/>
        </p:nvSpPr>
        <p:spPr>
          <a:xfrm>
            <a:off x="1624893" y="1481710"/>
            <a:ext cx="3090617" cy="400110"/>
          </a:xfrm>
          <a:prstGeom prst="rect">
            <a:avLst/>
          </a:prstGeom>
          <a:noFill/>
        </p:spPr>
        <p:txBody>
          <a:bodyPr wrap="square">
            <a:spAutoFit/>
          </a:bodyPr>
          <a:lstStyle/>
          <a:p>
            <a:pPr algn="ctr"/>
            <a:r>
              <a:rPr lang="es-MX" sz="2000" b="1" dirty="0">
                <a:latin typeface="Roboto" panose="02000000000000000000" pitchFamily="2" charset="0"/>
                <a:ea typeface="Roboto" panose="02000000000000000000" pitchFamily="2" charset="0"/>
              </a:rPr>
              <a:t>Notación estándar</a:t>
            </a:r>
            <a:endParaRPr lang="es-MX" sz="2000" dirty="0">
              <a:latin typeface="Roboto" panose="02000000000000000000" pitchFamily="2" charset="0"/>
              <a:ea typeface="Roboto" panose="02000000000000000000" pitchFamily="2" charset="0"/>
            </a:endParaRPr>
          </a:p>
        </p:txBody>
      </p: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89B8E5EC-E07C-4020-B524-76169A19FDF3}"/>
                  </a:ext>
                </a:extLst>
              </p:cNvPr>
              <p:cNvSpPr txBox="1"/>
              <p:nvPr/>
            </p:nvSpPr>
            <p:spPr>
              <a:xfrm>
                <a:off x="5276187" y="1353516"/>
                <a:ext cx="1799019" cy="8792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CO" sz="2000" i="1" smtClean="0">
                              <a:latin typeface="Cambria Math" panose="02040503050406030204" pitchFamily="18" charset="0"/>
                            </a:rPr>
                          </m:ctrlPr>
                        </m:fPr>
                        <m:num>
                          <m:eqArr>
                            <m:eqArrPr>
                              <m:ctrlPr>
                                <a:rPr lang="es-MX" sz="2000" i="1">
                                  <a:latin typeface="Cambria Math" panose="02040503050406030204" pitchFamily="18" charset="0"/>
                                  <a:ea typeface="Roboto" panose="02000000000000000000" pitchFamily="2" charset="0"/>
                                </a:rPr>
                              </m:ctrlPr>
                            </m:eqArrPr>
                            <m:e>
                              <m:r>
                                <a:rPr lang="es-MX" sz="2000" i="1">
                                  <a:latin typeface="Cambria Math" panose="02040503050406030204" pitchFamily="18" charset="0"/>
                                  <a:ea typeface="Roboto" panose="02000000000000000000" pitchFamily="2" charset="0"/>
                                </a:rPr>
                                <m:t>𝑝</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𝑞</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𝑟</m:t>
                              </m:r>
                              <m:r>
                                <m:rPr>
                                  <m:nor/>
                                </m:rPr>
                                <a:rPr lang="es-MX" sz="2000" dirty="0">
                                  <a:latin typeface="Roboto" panose="02000000000000000000" pitchFamily="2" charset="0"/>
                                  <a:ea typeface="Cambria Math" panose="02040503050406030204" pitchFamily="18" charset="0"/>
                                </a:rPr>
                                <m:t> </m:t>
                              </m:r>
                            </m:e>
                            <m:e>
                              <m:r>
                                <a:rPr lang="es-MX" sz="2000" i="1">
                                  <a:latin typeface="Cambria Math" panose="02040503050406030204" pitchFamily="18" charset="0"/>
                                  <a:ea typeface="Roboto" panose="02000000000000000000" pitchFamily="2" charset="0"/>
                                </a:rPr>
                                <m:t>𝑞</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𝑝</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𝑟</m:t>
                              </m:r>
                              <m:r>
                                <m:rPr>
                                  <m:nor/>
                                </m:rPr>
                                <a:rPr lang="es-MX" sz="2000" dirty="0">
                                  <a:latin typeface="Roboto" panose="02000000000000000000" pitchFamily="2" charset="0"/>
                                  <a:ea typeface="Cambria Math" panose="02040503050406030204" pitchFamily="18" charset="0"/>
                                </a:rPr>
                                <m:t> </m:t>
                              </m:r>
                              <m:r>
                                <m:rPr>
                                  <m:nor/>
                                </m:rPr>
                                <a:rPr lang="es-MX" sz="2000" b="0" i="0" dirty="0" smtClean="0">
                                  <a:latin typeface="Roboto" panose="02000000000000000000" pitchFamily="2" charset="0"/>
                                  <a:ea typeface="Cambria Math" panose="02040503050406030204" pitchFamily="18" charset="0"/>
                                </a:rPr>
                                <m:t>   </m:t>
                              </m:r>
                            </m:e>
                          </m:eqArr>
                        </m:num>
                        <m:den>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Roboto" panose="02000000000000000000" pitchFamily="2" charset="0"/>
                            </a:rPr>
                            <m:t>𝑝</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Cambria Math" panose="02040503050406030204" pitchFamily="18" charset="0"/>
                            </a:rPr>
                            <m:t>𝑟</m:t>
                          </m:r>
                          <m:r>
                            <m:rPr>
                              <m:nor/>
                            </m:rPr>
                            <a:rPr lang="es-MX" sz="2000" dirty="0">
                              <a:latin typeface="Roboto" panose="02000000000000000000" pitchFamily="2" charset="0"/>
                              <a:ea typeface="Cambria Math" panose="02040503050406030204" pitchFamily="18" charset="0"/>
                            </a:rPr>
                            <m:t> </m:t>
                          </m:r>
                          <m:r>
                            <m:rPr>
                              <m:nor/>
                            </m:rPr>
                            <a:rPr lang="es-MX" sz="2000" b="0" i="0" dirty="0" smtClean="0">
                              <a:latin typeface="Roboto" panose="02000000000000000000" pitchFamily="2" charset="0"/>
                              <a:ea typeface="Cambria Math" panose="02040503050406030204" pitchFamily="18" charset="0"/>
                            </a:rPr>
                            <m:t>             </m:t>
                          </m:r>
                        </m:den>
                      </m:f>
                    </m:oMath>
                  </m:oMathPara>
                </a14:m>
                <a:endParaRPr lang="es-CO" sz="2000" dirty="0"/>
              </a:p>
            </p:txBody>
          </p:sp>
        </mc:Choice>
        <mc:Fallback xmlns="">
          <p:sp>
            <p:nvSpPr>
              <p:cNvPr id="28" name="CuadroTexto 27">
                <a:extLst>
                  <a:ext uri="{FF2B5EF4-FFF2-40B4-BE49-F238E27FC236}">
                    <a16:creationId xmlns:a16="http://schemas.microsoft.com/office/drawing/2014/main" id="{89B8E5EC-E07C-4020-B524-76169A19FDF3}"/>
                  </a:ext>
                </a:extLst>
              </p:cNvPr>
              <p:cNvSpPr txBox="1">
                <a:spLocks noRot="1" noChangeAspect="1" noMove="1" noResize="1" noEditPoints="1" noAdjustHandles="1" noChangeArrowheads="1" noChangeShapeType="1" noTextEdit="1"/>
              </p:cNvSpPr>
              <p:nvPr/>
            </p:nvSpPr>
            <p:spPr>
              <a:xfrm>
                <a:off x="5276187" y="1353516"/>
                <a:ext cx="1799019" cy="879280"/>
              </a:xfrm>
              <a:prstGeom prst="rect">
                <a:avLst/>
              </a:prstGeom>
              <a:blipFill>
                <a:blip r:embed="rId5"/>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4" name="CuadroTexto 33">
                <a:extLst>
                  <a:ext uri="{FF2B5EF4-FFF2-40B4-BE49-F238E27FC236}">
                    <a16:creationId xmlns:a16="http://schemas.microsoft.com/office/drawing/2014/main" id="{2E0315DE-8975-4C8B-B8F5-458E7AFE26DB}"/>
                  </a:ext>
                </a:extLst>
              </p:cNvPr>
              <p:cNvSpPr txBox="1"/>
              <p:nvPr/>
            </p:nvSpPr>
            <p:spPr>
              <a:xfrm>
                <a:off x="484509" y="2788808"/>
                <a:ext cx="11382376" cy="1938992"/>
              </a:xfrm>
              <a:prstGeom prst="rect">
                <a:avLst/>
              </a:prstGeom>
              <a:noFill/>
            </p:spPr>
            <p:txBody>
              <a:bodyPr wrap="square" rtlCol="0">
                <a:spAutoFit/>
              </a:bodyPr>
              <a:lstStyle/>
              <a:p>
                <a:r>
                  <a:rPr lang="es-MX" sz="2000" dirty="0">
                    <a:ea typeface="Roboto" panose="02000000000000000000" pitchFamily="2" charset="0"/>
                  </a:rPr>
                  <a:t>Determinación las premisas y la conclusión:</a:t>
                </a:r>
              </a:p>
              <a:p>
                <a:pPr marL="342900" indent="-342900">
                  <a:buFont typeface="Arial" panose="020B0604020202020204" pitchFamily="34" charset="0"/>
                  <a:buChar char="•"/>
                </a:pPr>
                <a:r>
                  <a:rPr lang="es-MX" sz="2000" b="1" dirty="0">
                    <a:ea typeface="Roboto" panose="02000000000000000000" pitchFamily="2" charset="0"/>
                  </a:rPr>
                  <a:t>Premisas</a:t>
                </a:r>
                <a:r>
                  <a:rPr lang="es-MX" sz="2000" dirty="0">
                    <a:ea typeface="Roboto" panose="02000000000000000000" pitchFamily="2" charset="0"/>
                  </a:rPr>
                  <a:t>:</a:t>
                </a:r>
              </a:p>
              <a:p>
                <a:pPr marL="800100" lvl="1" indent="-342900">
                  <a:buFont typeface="Arial" panose="020B0604020202020204" pitchFamily="34" charset="0"/>
                  <a:buChar char="•"/>
                </a:pPr>
                <a14:m>
                  <m:oMath xmlns:m="http://schemas.openxmlformats.org/officeDocument/2006/math">
                    <m:r>
                      <a:rPr lang="es-MX" sz="2000" i="1" smtClean="0">
                        <a:latin typeface="Cambria Math" panose="02040503050406030204" pitchFamily="18" charset="0"/>
                        <a:ea typeface="Roboto" panose="02000000000000000000" pitchFamily="2" charset="0"/>
                      </a:rPr>
                      <m:t>𝑝</m:t>
                    </m:r>
                    <m:r>
                      <a:rPr lang="es-MX" sz="2000" i="1" smtClean="0">
                        <a:latin typeface="Cambria Math" panose="02040503050406030204" pitchFamily="18" charset="0"/>
                        <a:ea typeface="Roboto" panose="02000000000000000000" pitchFamily="2" charset="0"/>
                      </a:rPr>
                      <m:t>→</m:t>
                    </m:r>
                    <m:r>
                      <a:rPr lang="es-MX" sz="2000" i="1" smtClean="0">
                        <a:latin typeface="Cambria Math" panose="02040503050406030204" pitchFamily="18" charset="0"/>
                        <a:ea typeface="Roboto" panose="02000000000000000000" pitchFamily="2" charset="0"/>
                      </a:rPr>
                      <m:t>𝑞</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𝑟</m:t>
                    </m:r>
                  </m:oMath>
                </a14:m>
                <a:endParaRPr lang="es-MX" sz="2000" dirty="0">
                  <a:latin typeface="Roboto" panose="02000000000000000000" pitchFamily="2" charset="0"/>
                  <a:ea typeface="Cambria Math" panose="02040503050406030204" pitchFamily="18" charset="0"/>
                </a:endParaRPr>
              </a:p>
              <a:p>
                <a:pPr marL="800100" lvl="1" indent="-342900">
                  <a:buFont typeface="Arial" panose="020B0604020202020204" pitchFamily="34" charset="0"/>
                  <a:buChar char="•"/>
                </a:pPr>
                <a14:m>
                  <m:oMath xmlns:m="http://schemas.openxmlformats.org/officeDocument/2006/math">
                    <m:r>
                      <a:rPr lang="es-MX" sz="2000" i="1" smtClean="0">
                        <a:latin typeface="Cambria Math" panose="02040503050406030204" pitchFamily="18" charset="0"/>
                        <a:ea typeface="Roboto" panose="02000000000000000000" pitchFamily="2" charset="0"/>
                      </a:rPr>
                      <m:t>𝑞</m:t>
                    </m:r>
                    <m:r>
                      <a:rPr lang="es-MX" sz="2000" i="1" smtClean="0">
                        <a:latin typeface="Cambria Math" panose="02040503050406030204" pitchFamily="18" charset="0"/>
                        <a:ea typeface="Roboto" panose="02000000000000000000" pitchFamily="2" charset="0"/>
                      </a:rPr>
                      <m:t>→</m:t>
                    </m:r>
                    <m:r>
                      <a:rPr lang="es-MX" sz="2000" i="1" smtClean="0">
                        <a:latin typeface="Cambria Math" panose="02040503050406030204" pitchFamily="18" charset="0"/>
                        <a:ea typeface="Roboto" panose="02000000000000000000" pitchFamily="2" charset="0"/>
                      </a:rPr>
                      <m:t>𝑝</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𝑟</m:t>
                    </m:r>
                  </m:oMath>
                </a14:m>
                <a:endParaRPr lang="es-MX" sz="2000" dirty="0">
                  <a:ea typeface="Roboto" panose="02000000000000000000" pitchFamily="2" charset="0"/>
                </a:endParaRPr>
              </a:p>
              <a:p>
                <a:pPr marL="342900" indent="-342900">
                  <a:buFont typeface="Arial" panose="020B0604020202020204" pitchFamily="34" charset="0"/>
                  <a:buChar char="•"/>
                </a:pPr>
                <a:r>
                  <a:rPr lang="es-MX" sz="2000" b="1" dirty="0">
                    <a:ea typeface="Roboto" panose="02000000000000000000" pitchFamily="2" charset="0"/>
                  </a:rPr>
                  <a:t>Conclusión</a:t>
                </a:r>
                <a:r>
                  <a:rPr lang="es-MX" sz="2000" dirty="0">
                    <a:ea typeface="Roboto" panose="02000000000000000000" pitchFamily="2" charset="0"/>
                  </a:rPr>
                  <a:t>:</a:t>
                </a:r>
              </a:p>
              <a:p>
                <a:pPr marL="800100" lvl="1" indent="-342900">
                  <a:buFont typeface="Arial" panose="020B0604020202020204" pitchFamily="34" charset="0"/>
                  <a:buChar char="•"/>
                </a:pPr>
                <a14:m>
                  <m:oMath xmlns:m="http://schemas.openxmlformats.org/officeDocument/2006/math">
                    <m:r>
                      <a:rPr lang="es-MX" sz="2000" i="1" smtClean="0">
                        <a:latin typeface="Cambria Math" panose="02040503050406030204" pitchFamily="18" charset="0"/>
                        <a:ea typeface="Roboto" panose="02000000000000000000" pitchFamily="2" charset="0"/>
                      </a:rPr>
                      <m:t>𝑝</m:t>
                    </m:r>
                    <m:r>
                      <a:rPr lang="es-MX" sz="2000" i="1" smtClean="0">
                        <a:latin typeface="Cambria Math" panose="02040503050406030204" pitchFamily="18" charset="0"/>
                        <a:ea typeface="Roboto" panose="02000000000000000000" pitchFamily="2" charset="0"/>
                      </a:rPr>
                      <m:t>→</m:t>
                    </m:r>
                    <m:r>
                      <a:rPr lang="es-MX" sz="2000" i="1">
                        <a:latin typeface="Cambria Math" panose="02040503050406030204" pitchFamily="18" charset="0"/>
                        <a:ea typeface="Cambria Math" panose="02040503050406030204" pitchFamily="18" charset="0"/>
                      </a:rPr>
                      <m:t>𝑟</m:t>
                    </m:r>
                  </m:oMath>
                </a14:m>
                <a:endParaRPr lang="es-MX" sz="2000" dirty="0">
                  <a:ea typeface="Roboto" panose="02000000000000000000" pitchFamily="2" charset="0"/>
                </a:endParaRPr>
              </a:p>
            </p:txBody>
          </p:sp>
        </mc:Choice>
        <mc:Fallback xmlns="">
          <p:sp>
            <p:nvSpPr>
              <p:cNvPr id="34" name="CuadroTexto 33">
                <a:extLst>
                  <a:ext uri="{FF2B5EF4-FFF2-40B4-BE49-F238E27FC236}">
                    <a16:creationId xmlns:a16="http://schemas.microsoft.com/office/drawing/2014/main" id="{2E0315DE-8975-4C8B-B8F5-458E7AFE26DB}"/>
                  </a:ext>
                </a:extLst>
              </p:cNvPr>
              <p:cNvSpPr txBox="1">
                <a:spLocks noRot="1" noChangeAspect="1" noMove="1" noResize="1" noEditPoints="1" noAdjustHandles="1" noChangeArrowheads="1" noChangeShapeType="1" noTextEdit="1"/>
              </p:cNvSpPr>
              <p:nvPr/>
            </p:nvSpPr>
            <p:spPr>
              <a:xfrm>
                <a:off x="484509" y="2788808"/>
                <a:ext cx="11382376" cy="1938992"/>
              </a:xfrm>
              <a:prstGeom prst="rect">
                <a:avLst/>
              </a:prstGeom>
              <a:blipFill>
                <a:blip r:embed="rId6"/>
                <a:stretch>
                  <a:fillRect l="-535" t="-1567" b="-3448"/>
                </a:stretch>
              </a:blipFill>
            </p:spPr>
            <p:txBody>
              <a:bodyPr/>
              <a:lstStyle/>
              <a:p>
                <a:r>
                  <a:rPr lang="es-CO">
                    <a:noFill/>
                  </a:rPr>
                  <a:t> </a:t>
                </a:r>
              </a:p>
            </p:txBody>
          </p:sp>
        </mc:Fallback>
      </mc:AlternateContent>
      <p:sp>
        <p:nvSpPr>
          <p:cNvPr id="35" name="CuadroTexto 34">
            <a:extLst>
              <a:ext uri="{FF2B5EF4-FFF2-40B4-BE49-F238E27FC236}">
                <a16:creationId xmlns:a16="http://schemas.microsoft.com/office/drawing/2014/main" id="{A6D69E40-E140-41AF-A02E-09F981CC5356}"/>
              </a:ext>
            </a:extLst>
          </p:cNvPr>
          <p:cNvSpPr txBox="1"/>
          <p:nvPr/>
        </p:nvSpPr>
        <p:spPr>
          <a:xfrm>
            <a:off x="484509" y="4829658"/>
            <a:ext cx="11382376" cy="400110"/>
          </a:xfrm>
          <a:prstGeom prst="rect">
            <a:avLst/>
          </a:prstGeom>
          <a:noFill/>
        </p:spPr>
        <p:txBody>
          <a:bodyPr wrap="square" rtlCol="0">
            <a:spAutoFit/>
          </a:bodyPr>
          <a:lstStyle/>
          <a:p>
            <a:r>
              <a:rPr lang="es-MX" sz="2000" dirty="0">
                <a:ea typeface="Roboto" panose="02000000000000000000" pitchFamily="2" charset="0"/>
              </a:rPr>
              <a:t>Expresión del argumento de otras formas:</a:t>
            </a:r>
          </a:p>
        </p:txBody>
      </p:sp>
    </p:spTree>
    <p:extLst>
      <p:ext uri="{BB962C8B-B14F-4D97-AF65-F5344CB8AC3E}">
        <p14:creationId xmlns:p14="http://schemas.microsoft.com/office/powerpoint/2010/main" val="24819238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614354" y="37982"/>
            <a:ext cx="11122689"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Validación de argumentos – Tablas de verdad</a:t>
            </a:r>
            <a:endParaRPr dirty="0">
              <a:solidFill>
                <a:schemeClr val="tx1"/>
              </a:solidFill>
              <a:latin typeface="+mn-lt"/>
            </a:endParaRPr>
          </a:p>
        </p:txBody>
      </p: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F9A4E9C1-582E-4A7F-99F2-7DE9B956D13F}"/>
                  </a:ext>
                </a:extLst>
              </p:cNvPr>
              <p:cNvSpPr txBox="1"/>
              <p:nvPr/>
            </p:nvSpPr>
            <p:spPr>
              <a:xfrm>
                <a:off x="404812" y="924024"/>
                <a:ext cx="5560559" cy="1969770"/>
              </a:xfrm>
              <a:prstGeom prst="rect">
                <a:avLst/>
              </a:prstGeom>
              <a:noFill/>
            </p:spPr>
            <p:txBody>
              <a:bodyPr wrap="square" rtlCol="0">
                <a:spAutoFit/>
              </a:bodyPr>
              <a:lstStyle/>
              <a:p>
                <a:r>
                  <a:rPr lang="es-MX" sz="2000" b="1" dirty="0">
                    <a:ea typeface="Roboto" panose="02000000000000000000" pitchFamily="2" charset="0"/>
                  </a:rPr>
                  <a:t>Paso 1</a:t>
                </a:r>
                <a:r>
                  <a:rPr lang="es-MX" sz="2000" dirty="0">
                    <a:ea typeface="Roboto" panose="02000000000000000000" pitchFamily="2" charset="0"/>
                  </a:rPr>
                  <a:t>: Determina las premisas y la conclusión:</a:t>
                </a:r>
              </a:p>
              <a:p>
                <a:pPr marL="342900" indent="-342900">
                  <a:buFont typeface="Arial" panose="020B0604020202020204" pitchFamily="34" charset="0"/>
                  <a:buChar char="•"/>
                </a:pPr>
                <a:r>
                  <a:rPr lang="es-MX" sz="2000" b="1" dirty="0">
                    <a:ea typeface="Roboto" panose="02000000000000000000" pitchFamily="2" charset="0"/>
                  </a:rPr>
                  <a:t>Premisas</a:t>
                </a:r>
                <a:r>
                  <a:rPr lang="es-MX" sz="2000" dirty="0">
                    <a:ea typeface="Roboto" panose="02000000000000000000" pitchFamily="2" charset="0"/>
                  </a:rPr>
                  <a:t>:</a:t>
                </a:r>
              </a:p>
              <a:p>
                <a:pPr marL="800100" lvl="1" indent="-342900">
                  <a:buFont typeface="Arial" panose="020B0604020202020204" pitchFamily="34" charset="0"/>
                  <a:buChar char="•"/>
                </a:pPr>
                <a14:m>
                  <m:oMath xmlns:m="http://schemas.openxmlformats.org/officeDocument/2006/math">
                    <m:r>
                      <a:rPr lang="es-MX" sz="2000" i="1" smtClean="0">
                        <a:latin typeface="Cambria Math" panose="02040503050406030204" pitchFamily="18" charset="0"/>
                        <a:ea typeface="Roboto" panose="02000000000000000000" pitchFamily="2" charset="0"/>
                      </a:rPr>
                      <m:t>𝑝</m:t>
                    </m:r>
                    <m:r>
                      <a:rPr lang="es-MX" sz="2000" i="1" smtClean="0">
                        <a:latin typeface="Cambria Math" panose="02040503050406030204" pitchFamily="18" charset="0"/>
                        <a:ea typeface="Roboto" panose="02000000000000000000" pitchFamily="2" charset="0"/>
                      </a:rPr>
                      <m:t>→</m:t>
                    </m:r>
                    <m:r>
                      <a:rPr lang="es-MX" sz="2000" i="1" smtClean="0">
                        <a:latin typeface="Cambria Math" panose="02040503050406030204" pitchFamily="18" charset="0"/>
                        <a:ea typeface="Roboto" panose="02000000000000000000" pitchFamily="2" charset="0"/>
                      </a:rPr>
                      <m:t>𝑞</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𝑟</m:t>
                    </m:r>
                  </m:oMath>
                </a14:m>
                <a:endParaRPr lang="es-MX" sz="2000" dirty="0">
                  <a:latin typeface="Roboto" panose="02000000000000000000" pitchFamily="2" charset="0"/>
                  <a:ea typeface="Cambria Math" panose="02040503050406030204" pitchFamily="18" charset="0"/>
                </a:endParaRPr>
              </a:p>
              <a:p>
                <a:pPr marL="800100" lvl="1" indent="-342900">
                  <a:buFont typeface="Arial" panose="020B0604020202020204" pitchFamily="34" charset="0"/>
                  <a:buChar char="•"/>
                </a:pPr>
                <a14:m>
                  <m:oMath xmlns:m="http://schemas.openxmlformats.org/officeDocument/2006/math">
                    <m:r>
                      <a:rPr lang="es-MX" sz="2000" i="1" smtClean="0">
                        <a:latin typeface="Cambria Math" panose="02040503050406030204" pitchFamily="18" charset="0"/>
                        <a:ea typeface="Roboto" panose="02000000000000000000" pitchFamily="2" charset="0"/>
                      </a:rPr>
                      <m:t>𝑞</m:t>
                    </m:r>
                    <m:r>
                      <a:rPr lang="es-MX" sz="2000" i="1" smtClean="0">
                        <a:latin typeface="Cambria Math" panose="02040503050406030204" pitchFamily="18" charset="0"/>
                        <a:ea typeface="Roboto" panose="02000000000000000000" pitchFamily="2" charset="0"/>
                      </a:rPr>
                      <m:t>→</m:t>
                    </m:r>
                    <m:r>
                      <a:rPr lang="es-MX" sz="2000" i="1" smtClean="0">
                        <a:latin typeface="Cambria Math" panose="02040503050406030204" pitchFamily="18" charset="0"/>
                        <a:ea typeface="Roboto" panose="02000000000000000000" pitchFamily="2" charset="0"/>
                      </a:rPr>
                      <m:t>𝑝</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𝑟</m:t>
                    </m:r>
                  </m:oMath>
                </a14:m>
                <a:endParaRPr lang="es-MX" sz="2000" dirty="0">
                  <a:ea typeface="Roboto" panose="02000000000000000000" pitchFamily="2" charset="0"/>
                </a:endParaRPr>
              </a:p>
              <a:p>
                <a:pPr marL="342900" indent="-342900">
                  <a:buFont typeface="Arial" panose="020B0604020202020204" pitchFamily="34" charset="0"/>
                  <a:buChar char="•"/>
                </a:pPr>
                <a:r>
                  <a:rPr lang="es-MX" sz="2000" b="1" dirty="0">
                    <a:ea typeface="Roboto" panose="02000000000000000000" pitchFamily="2" charset="0"/>
                  </a:rPr>
                  <a:t>Conclusión</a:t>
                </a:r>
                <a:r>
                  <a:rPr lang="es-MX" sz="2000" dirty="0">
                    <a:ea typeface="Roboto" panose="02000000000000000000" pitchFamily="2" charset="0"/>
                  </a:rPr>
                  <a:t>:</a:t>
                </a:r>
              </a:p>
              <a:p>
                <a:pPr marL="800100" lvl="1" indent="-342900">
                  <a:buFont typeface="Arial" panose="020B0604020202020204" pitchFamily="34" charset="0"/>
                  <a:buChar char="•"/>
                </a:pPr>
                <a14:m>
                  <m:oMath xmlns:m="http://schemas.openxmlformats.org/officeDocument/2006/math">
                    <m:r>
                      <a:rPr lang="es-MX" sz="2000" i="1" smtClean="0">
                        <a:latin typeface="Cambria Math" panose="02040503050406030204" pitchFamily="18" charset="0"/>
                        <a:ea typeface="Roboto" panose="02000000000000000000" pitchFamily="2" charset="0"/>
                      </a:rPr>
                      <m:t>𝑝</m:t>
                    </m:r>
                    <m:r>
                      <a:rPr lang="es-MX" sz="2000" i="1" smtClean="0">
                        <a:latin typeface="Cambria Math" panose="02040503050406030204" pitchFamily="18" charset="0"/>
                        <a:ea typeface="Roboto" panose="02000000000000000000" pitchFamily="2" charset="0"/>
                      </a:rPr>
                      <m:t>→</m:t>
                    </m:r>
                    <m:r>
                      <a:rPr lang="es-MX" sz="2000" i="1">
                        <a:latin typeface="Cambria Math" panose="02040503050406030204" pitchFamily="18" charset="0"/>
                        <a:ea typeface="Cambria Math" panose="02040503050406030204" pitchFamily="18" charset="0"/>
                      </a:rPr>
                      <m:t>𝑟</m:t>
                    </m:r>
                  </m:oMath>
                </a14:m>
                <a:endParaRPr lang="es-MX" sz="2000" dirty="0">
                  <a:ea typeface="Roboto" panose="02000000000000000000" pitchFamily="2" charset="0"/>
                </a:endParaRPr>
              </a:p>
            </p:txBody>
          </p:sp>
        </mc:Choice>
        <mc:Fallback xmlns="">
          <p:sp>
            <p:nvSpPr>
              <p:cNvPr id="28" name="CuadroTexto 27">
                <a:extLst>
                  <a:ext uri="{FF2B5EF4-FFF2-40B4-BE49-F238E27FC236}">
                    <a16:creationId xmlns:a16="http://schemas.microsoft.com/office/drawing/2014/main" id="{F9A4E9C1-582E-4A7F-99F2-7DE9B956D13F}"/>
                  </a:ext>
                </a:extLst>
              </p:cNvPr>
              <p:cNvSpPr txBox="1">
                <a:spLocks noRot="1" noChangeAspect="1" noMove="1" noResize="1" noEditPoints="1" noAdjustHandles="1" noChangeArrowheads="1" noChangeShapeType="1" noTextEdit="1"/>
              </p:cNvSpPr>
              <p:nvPr/>
            </p:nvSpPr>
            <p:spPr>
              <a:xfrm>
                <a:off x="404812" y="924024"/>
                <a:ext cx="5560559" cy="1969770"/>
              </a:xfrm>
              <a:prstGeom prst="rect">
                <a:avLst/>
              </a:prstGeom>
              <a:blipFill>
                <a:blip r:embed="rId3"/>
                <a:stretch>
                  <a:fillRect l="-1095" t="-1858" b="-1858"/>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4" name="CuadroTexto 33">
                <a:extLst>
                  <a:ext uri="{FF2B5EF4-FFF2-40B4-BE49-F238E27FC236}">
                    <a16:creationId xmlns:a16="http://schemas.microsoft.com/office/drawing/2014/main" id="{6DCE06D8-80BE-4984-86A7-2C2A77DE29A4}"/>
                  </a:ext>
                </a:extLst>
              </p:cNvPr>
              <p:cNvSpPr txBox="1"/>
              <p:nvPr/>
            </p:nvSpPr>
            <p:spPr>
              <a:xfrm>
                <a:off x="404812" y="3127778"/>
                <a:ext cx="4094617" cy="1938992"/>
              </a:xfrm>
              <a:prstGeom prst="rect">
                <a:avLst/>
              </a:prstGeom>
              <a:noFill/>
            </p:spPr>
            <p:txBody>
              <a:bodyPr wrap="square" rtlCol="0">
                <a:spAutoFit/>
              </a:bodyPr>
              <a:lstStyle/>
              <a:p>
                <a:r>
                  <a:rPr lang="es-MX" sz="2000" b="1" dirty="0">
                    <a:ea typeface="Roboto" panose="02000000000000000000" pitchFamily="2" charset="0"/>
                  </a:rPr>
                  <a:t>Paso 2</a:t>
                </a:r>
                <a:r>
                  <a:rPr lang="es-MX" sz="2000" dirty="0">
                    <a:ea typeface="Roboto" panose="02000000000000000000" pitchFamily="2" charset="0"/>
                  </a:rPr>
                  <a:t>: Construya una tabla de verdad que muestre los valores de verdad de todas las premisas y la conclusión.</a:t>
                </a:r>
              </a:p>
              <a:p>
                <a:pPr marL="342900" indent="-342900">
                  <a:buFont typeface="Arial" panose="020B0604020202020204" pitchFamily="34" charset="0"/>
                  <a:buChar char="•"/>
                </a:pPr>
                <a:r>
                  <a:rPr lang="es-MX" sz="2000" b="1" dirty="0">
                    <a:ea typeface="Roboto" panose="02000000000000000000" pitchFamily="2" charset="0"/>
                  </a:rPr>
                  <a:t>Variables</a:t>
                </a:r>
                <a:r>
                  <a:rPr lang="es-MX" sz="2000" dirty="0">
                    <a:ea typeface="Roboto" panose="02000000000000000000" pitchFamily="2" charset="0"/>
                  </a:rPr>
                  <a:t>: </a:t>
                </a:r>
                <a14:m>
                  <m:oMath xmlns:m="http://schemas.openxmlformats.org/officeDocument/2006/math">
                    <m:r>
                      <a:rPr lang="es-MX" sz="2000" i="1" smtClean="0">
                        <a:latin typeface="Cambria Math" panose="02040503050406030204" pitchFamily="18" charset="0"/>
                        <a:ea typeface="Roboto" panose="02000000000000000000" pitchFamily="2" charset="0"/>
                      </a:rPr>
                      <m:t>𝑝</m:t>
                    </m:r>
                    <m:r>
                      <a:rPr lang="es-MX" sz="2000" b="0" i="0"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𝑞</m:t>
                    </m:r>
                    <m:r>
                      <a:rPr lang="es-MX" sz="2000" b="0" i="0"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𝑟</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𝑛</m:t>
                    </m:r>
                    <m:r>
                      <a:rPr lang="es-MX" sz="2000" b="0" i="1" smtClean="0">
                        <a:latin typeface="Cambria Math" panose="02040503050406030204" pitchFamily="18" charset="0"/>
                        <a:ea typeface="Roboto" panose="02000000000000000000" pitchFamily="2" charset="0"/>
                      </a:rPr>
                      <m:t>=3</m:t>
                    </m:r>
                  </m:oMath>
                </a14:m>
                <a:endParaRPr lang="es-MX" sz="2000" dirty="0">
                  <a:ea typeface="Roboto" panose="02000000000000000000" pitchFamily="2" charset="0"/>
                </a:endParaRPr>
              </a:p>
              <a:p>
                <a:pPr marL="342900" indent="-342900">
                  <a:buFont typeface="Arial" panose="020B0604020202020204" pitchFamily="34" charset="0"/>
                  <a:buChar char="•"/>
                </a:pPr>
                <a:r>
                  <a:rPr lang="es-MX" sz="2000" b="1" dirty="0">
                    <a:ea typeface="Roboto" panose="02000000000000000000" pitchFamily="2" charset="0"/>
                  </a:rPr>
                  <a:t>Filas</a:t>
                </a:r>
                <a:r>
                  <a:rPr lang="es-MX" sz="2000" dirty="0">
                    <a:ea typeface="Roboto" panose="02000000000000000000" pitchFamily="2" charset="0"/>
                  </a:rPr>
                  <a:t>: </a:t>
                </a:r>
                <a14:m>
                  <m:oMath xmlns:m="http://schemas.openxmlformats.org/officeDocument/2006/math">
                    <m:r>
                      <a:rPr lang="es-MX" sz="2000" b="0" i="1" smtClean="0">
                        <a:latin typeface="Cambria Math" panose="02040503050406030204" pitchFamily="18" charset="0"/>
                        <a:ea typeface="Roboto" panose="02000000000000000000" pitchFamily="2" charset="0"/>
                      </a:rPr>
                      <m:t>𝐹</m:t>
                    </m:r>
                    <m:r>
                      <a:rPr lang="es-MX" sz="2000" b="0" i="1" smtClean="0">
                        <a:latin typeface="Cambria Math" panose="02040503050406030204" pitchFamily="18" charset="0"/>
                        <a:ea typeface="Roboto" panose="02000000000000000000" pitchFamily="2" charset="0"/>
                      </a:rPr>
                      <m:t>=</m:t>
                    </m:r>
                    <m:sSup>
                      <m:sSupPr>
                        <m:ctrlPr>
                          <a:rPr lang="es-MX" sz="2000" b="0" i="1" smtClean="0">
                            <a:latin typeface="Cambria Math" panose="02040503050406030204" pitchFamily="18" charset="0"/>
                            <a:ea typeface="Roboto" panose="02000000000000000000" pitchFamily="2" charset="0"/>
                          </a:rPr>
                        </m:ctrlPr>
                      </m:sSupPr>
                      <m:e>
                        <m:r>
                          <a:rPr lang="es-MX" sz="2000" b="0" i="1" smtClean="0">
                            <a:latin typeface="Cambria Math" panose="02040503050406030204" pitchFamily="18" charset="0"/>
                            <a:ea typeface="Roboto" panose="02000000000000000000" pitchFamily="2" charset="0"/>
                          </a:rPr>
                          <m:t>2</m:t>
                        </m:r>
                      </m:e>
                      <m:sup>
                        <m:r>
                          <a:rPr lang="es-MX" sz="2000" b="0" i="1" smtClean="0">
                            <a:latin typeface="Cambria Math" panose="02040503050406030204" pitchFamily="18" charset="0"/>
                            <a:ea typeface="Roboto" panose="02000000000000000000" pitchFamily="2" charset="0"/>
                          </a:rPr>
                          <m:t>𝑛</m:t>
                        </m:r>
                      </m:sup>
                    </m:sSup>
                    <m:r>
                      <a:rPr lang="es-MX" sz="2000" b="0" i="1" smtClean="0">
                        <a:latin typeface="Cambria Math" panose="02040503050406030204" pitchFamily="18" charset="0"/>
                        <a:ea typeface="Roboto" panose="02000000000000000000" pitchFamily="2" charset="0"/>
                      </a:rPr>
                      <m:t>=</m:t>
                    </m:r>
                    <m:sSup>
                      <m:sSupPr>
                        <m:ctrlPr>
                          <a:rPr lang="es-MX" sz="2000" b="0" i="1" smtClean="0">
                            <a:latin typeface="Cambria Math" panose="02040503050406030204" pitchFamily="18" charset="0"/>
                            <a:ea typeface="Roboto" panose="02000000000000000000" pitchFamily="2" charset="0"/>
                          </a:rPr>
                        </m:ctrlPr>
                      </m:sSupPr>
                      <m:e>
                        <m:r>
                          <a:rPr lang="es-MX" sz="2000" b="0" i="1" smtClean="0">
                            <a:latin typeface="Cambria Math" panose="02040503050406030204" pitchFamily="18" charset="0"/>
                            <a:ea typeface="Roboto" panose="02000000000000000000" pitchFamily="2" charset="0"/>
                          </a:rPr>
                          <m:t>2</m:t>
                        </m:r>
                      </m:e>
                      <m:sup>
                        <m:r>
                          <a:rPr lang="es-MX" sz="2000" b="0" i="1" smtClean="0">
                            <a:latin typeface="Cambria Math" panose="02040503050406030204" pitchFamily="18" charset="0"/>
                            <a:ea typeface="Roboto" panose="02000000000000000000" pitchFamily="2" charset="0"/>
                          </a:rPr>
                          <m:t>3</m:t>
                        </m:r>
                      </m:sup>
                    </m:sSup>
                    <m:r>
                      <a:rPr lang="es-MX" sz="2000" b="0" i="1" smtClean="0">
                        <a:latin typeface="Cambria Math" panose="02040503050406030204" pitchFamily="18" charset="0"/>
                        <a:ea typeface="Roboto" panose="02000000000000000000" pitchFamily="2" charset="0"/>
                      </a:rPr>
                      <m:t>=8</m:t>
                    </m:r>
                  </m:oMath>
                </a14:m>
                <a:endParaRPr lang="es-MX" sz="2000" b="1" dirty="0">
                  <a:ea typeface="Roboto" panose="02000000000000000000" pitchFamily="2" charset="0"/>
                </a:endParaRPr>
              </a:p>
            </p:txBody>
          </p:sp>
        </mc:Choice>
        <mc:Fallback xmlns="">
          <p:sp>
            <p:nvSpPr>
              <p:cNvPr id="34" name="CuadroTexto 33">
                <a:extLst>
                  <a:ext uri="{FF2B5EF4-FFF2-40B4-BE49-F238E27FC236}">
                    <a16:creationId xmlns:a16="http://schemas.microsoft.com/office/drawing/2014/main" id="{6DCE06D8-80BE-4984-86A7-2C2A77DE29A4}"/>
                  </a:ext>
                </a:extLst>
              </p:cNvPr>
              <p:cNvSpPr txBox="1">
                <a:spLocks noRot="1" noChangeAspect="1" noMove="1" noResize="1" noEditPoints="1" noAdjustHandles="1" noChangeArrowheads="1" noChangeShapeType="1" noTextEdit="1"/>
              </p:cNvSpPr>
              <p:nvPr/>
            </p:nvSpPr>
            <p:spPr>
              <a:xfrm>
                <a:off x="404812" y="3127778"/>
                <a:ext cx="4094617" cy="1938992"/>
              </a:xfrm>
              <a:prstGeom prst="rect">
                <a:avLst/>
              </a:prstGeom>
              <a:blipFill>
                <a:blip r:embed="rId4"/>
                <a:stretch>
                  <a:fillRect l="-1488" t="-1572" b="-4717"/>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graphicFrame>
            <p:nvGraphicFramePr>
              <p:cNvPr id="35" name="Tabla 4">
                <a:extLst>
                  <a:ext uri="{FF2B5EF4-FFF2-40B4-BE49-F238E27FC236}">
                    <a16:creationId xmlns:a16="http://schemas.microsoft.com/office/drawing/2014/main" id="{CA532AC1-316E-42EF-B863-C551B19C12E6}"/>
                  </a:ext>
                </a:extLst>
              </p:cNvPr>
              <p:cNvGraphicFramePr>
                <a:graphicFrameLocks noGrp="1"/>
              </p:cNvGraphicFramePr>
              <p:nvPr>
                <p:extLst>
                  <p:ext uri="{D42A27DB-BD31-4B8C-83A1-F6EECF244321}">
                    <p14:modId xmlns:p14="http://schemas.microsoft.com/office/powerpoint/2010/main" val="3003705142"/>
                  </p:ext>
                </p:extLst>
              </p:nvPr>
            </p:nvGraphicFramePr>
            <p:xfrm>
              <a:off x="4601029" y="2160306"/>
              <a:ext cx="7470082" cy="3566160"/>
            </p:xfrm>
            <a:graphic>
              <a:graphicData uri="http://schemas.openxmlformats.org/drawingml/2006/table">
                <a:tbl>
                  <a:tblPr firstRow="1" bandRow="1">
                    <a:tableStyleId>{AD6A3598-7CB8-4345-8D95-17CE05F158A0}</a:tableStyleId>
                  </a:tblPr>
                  <a:tblGrid>
                    <a:gridCol w="379459">
                      <a:extLst>
                        <a:ext uri="{9D8B030D-6E8A-4147-A177-3AD203B41FA5}">
                          <a16:colId xmlns:a16="http://schemas.microsoft.com/office/drawing/2014/main" val="776375974"/>
                        </a:ext>
                      </a:extLst>
                    </a:gridCol>
                    <a:gridCol w="379459">
                      <a:extLst>
                        <a:ext uri="{9D8B030D-6E8A-4147-A177-3AD203B41FA5}">
                          <a16:colId xmlns:a16="http://schemas.microsoft.com/office/drawing/2014/main" val="384604534"/>
                        </a:ext>
                      </a:extLst>
                    </a:gridCol>
                    <a:gridCol w="379459">
                      <a:extLst>
                        <a:ext uri="{9D8B030D-6E8A-4147-A177-3AD203B41FA5}">
                          <a16:colId xmlns:a16="http://schemas.microsoft.com/office/drawing/2014/main" val="79869298"/>
                        </a:ext>
                      </a:extLst>
                    </a:gridCol>
                    <a:gridCol w="514324">
                      <a:extLst>
                        <a:ext uri="{9D8B030D-6E8A-4147-A177-3AD203B41FA5}">
                          <a16:colId xmlns:a16="http://schemas.microsoft.com/office/drawing/2014/main" val="1627128528"/>
                        </a:ext>
                      </a:extLst>
                    </a:gridCol>
                    <a:gridCol w="995871">
                      <a:extLst>
                        <a:ext uri="{9D8B030D-6E8A-4147-A177-3AD203B41FA5}">
                          <a16:colId xmlns:a16="http://schemas.microsoft.com/office/drawing/2014/main" val="3636147316"/>
                        </a:ext>
                      </a:extLst>
                    </a:gridCol>
                    <a:gridCol w="823401">
                      <a:extLst>
                        <a:ext uri="{9D8B030D-6E8A-4147-A177-3AD203B41FA5}">
                          <a16:colId xmlns:a16="http://schemas.microsoft.com/office/drawing/2014/main" val="1883770935"/>
                        </a:ext>
                      </a:extLst>
                    </a:gridCol>
                    <a:gridCol w="1506855">
                      <a:extLst>
                        <a:ext uri="{9D8B030D-6E8A-4147-A177-3AD203B41FA5}">
                          <a16:colId xmlns:a16="http://schemas.microsoft.com/office/drawing/2014/main" val="4031458888"/>
                        </a:ext>
                      </a:extLst>
                    </a:gridCol>
                    <a:gridCol w="1316355">
                      <a:extLst>
                        <a:ext uri="{9D8B030D-6E8A-4147-A177-3AD203B41FA5}">
                          <a16:colId xmlns:a16="http://schemas.microsoft.com/office/drawing/2014/main" val="3413420708"/>
                        </a:ext>
                      </a:extLst>
                    </a:gridCol>
                    <a:gridCol w="1174899">
                      <a:extLst>
                        <a:ext uri="{9D8B030D-6E8A-4147-A177-3AD203B41FA5}">
                          <a16:colId xmlns:a16="http://schemas.microsoft.com/office/drawing/2014/main" val="1553787280"/>
                        </a:ext>
                      </a:extLst>
                    </a:gridCol>
                  </a:tblGrid>
                  <a:tr h="28617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Roboto" panose="02000000000000000000" pitchFamily="2" charset="0"/>
                                  </a:rPr>
                                  <m:t>𝒑</m:t>
                                </m:r>
                              </m:oMath>
                            </m:oMathPara>
                          </a14:m>
                          <a:endParaRPr lang="es-CO" sz="2000" b="1" dirty="0">
                            <a:latin typeface="Roboto" panose="02000000000000000000" pitchFamily="2" charset="0"/>
                            <a:ea typeface="Roboto" panose="02000000000000000000" pitchFamily="2" charset="0"/>
                          </a:endParaRPr>
                        </a:p>
                      </a:txBody>
                      <a:tcPr anchor="ctr">
                        <a:lnB w="19050" cap="flat" cmpd="sng" algn="ctr">
                          <a:solidFill>
                            <a:schemeClr val="tx1"/>
                          </a:solidFill>
                          <a:prstDash val="solid"/>
                          <a:round/>
                          <a:headEnd type="none" w="med" len="med"/>
                          <a:tailEnd type="none" w="med" len="med"/>
                        </a:lnB>
                        <a:solidFill>
                          <a:schemeClr val="bg1">
                            <a:lumMod val="95000"/>
                          </a:schemeClr>
                        </a:solidFill>
                      </a:tcPr>
                    </a:tc>
                    <a:tc>
                      <a:txBody>
                        <a:bodyPr/>
                        <a:lstStyle/>
                        <a:p>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Roboto" panose="02000000000000000000" pitchFamily="2" charset="0"/>
                                  </a:rPr>
                                  <m:t>𝒒</m:t>
                                </m:r>
                              </m:oMath>
                            </m:oMathPara>
                          </a14:m>
                          <a:endParaRPr lang="es-CO" sz="2000" b="1" dirty="0">
                            <a:latin typeface="Roboto" panose="02000000000000000000" pitchFamily="2" charset="0"/>
                            <a:ea typeface="Roboto" panose="02000000000000000000" pitchFamily="2" charset="0"/>
                          </a:endParaRPr>
                        </a:p>
                      </a:txBody>
                      <a:tcPr anchor="ctr">
                        <a:lnB w="19050" cap="flat" cmpd="sng" algn="ctr">
                          <a:solidFill>
                            <a:schemeClr val="tx1"/>
                          </a:solidFill>
                          <a:prstDash val="solid"/>
                          <a:round/>
                          <a:headEnd type="none" w="med" len="med"/>
                          <a:tailEnd type="none" w="med" len="med"/>
                        </a:lnB>
                        <a:solidFill>
                          <a:schemeClr val="bg1">
                            <a:lumMod val="95000"/>
                          </a:schemeClr>
                        </a:solidFill>
                      </a:tcPr>
                    </a:tc>
                    <a:tc>
                      <a:txBody>
                        <a:bodyPr/>
                        <a:lstStyle/>
                        <a:p>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rPr>
                                  <m:t>𝒓</m:t>
                                </m:r>
                              </m:oMath>
                            </m:oMathPara>
                          </a14:m>
                          <a:endParaRPr lang="es-CO" sz="2000" b="1" dirty="0">
                            <a:latin typeface="Roboto" panose="02000000000000000000" pitchFamily="2" charset="0"/>
                            <a:ea typeface="Roboto" panose="02000000000000000000" pitchFamily="2" charset="0"/>
                          </a:endParaRPr>
                        </a:p>
                      </a:txBody>
                      <a:tcPr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𝒓</m:t>
                                </m:r>
                              </m:oMath>
                            </m:oMathPara>
                          </a14:m>
                          <a:endParaRPr lang="es-CO" sz="2000" b="1" dirty="0">
                            <a:latin typeface="Roboto" panose="02000000000000000000" pitchFamily="2" charset="0"/>
                            <a:ea typeface="Roboto" panose="02000000000000000000" pitchFamily="2" charset="0"/>
                          </a:endParaRPr>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rPr>
                                  <m:t>𝒒</m:t>
                                </m:r>
                                <m:r>
                                  <a:rPr lang="es-MX" sz="2000" b="1" i="1">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𝒓</m:t>
                                </m:r>
                              </m:oMath>
                            </m:oMathPara>
                          </a14:m>
                          <a:endParaRPr lang="es-MX" sz="2000" b="1" dirty="0"/>
                        </a:p>
                      </a:txBody>
                      <a:tcPr anchor="ctr">
                        <a:lnB w="1905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Cambria Math" panose="02040503050406030204" pitchFamily="18" charset="0"/>
                                  </a:rPr>
                                  <m:t>𝒑</m:t>
                                </m:r>
                                <m:r>
                                  <a:rPr lang="es-MX" sz="2000" b="1"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rPr>
                                  <m:t>𝒓</m:t>
                                </m:r>
                              </m:oMath>
                            </m:oMathPara>
                          </a14:m>
                          <a:endParaRPr lang="es-MX" sz="2000" b="1" dirty="0"/>
                        </a:p>
                      </a:txBody>
                      <a:tcPr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rPr>
                                  <m:t>𝒑</m:t>
                                </m:r>
                                <m:r>
                                  <a:rPr lang="es-MX" sz="2000" b="1" i="1" smtClean="0">
                                    <a:latin typeface="Cambria Math" panose="02040503050406030204" pitchFamily="18" charset="0"/>
                                  </a:rPr>
                                  <m:t>→</m:t>
                                </m:r>
                                <m:r>
                                  <a:rPr lang="es-MX" sz="2000" b="1" i="1" smtClean="0">
                                    <a:latin typeface="Cambria Math" panose="02040503050406030204" pitchFamily="18" charset="0"/>
                                  </a:rPr>
                                  <m:t>𝒒</m:t>
                                </m:r>
                                <m:r>
                                  <a:rPr lang="es-MX" sz="2000" b="1" i="1">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𝒓</m:t>
                                </m:r>
                              </m:oMath>
                            </m:oMathPara>
                          </a14:m>
                          <a:endParaRPr lang="es-MX" sz="2000" b="1" dirty="0"/>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Cambria Math" panose="02040503050406030204" pitchFamily="18" charset="0"/>
                                  </a:rPr>
                                  <m:t>𝒒</m:t>
                                </m:r>
                                <m:r>
                                  <a:rPr lang="es-MX" sz="2000" b="1" i="1">
                                    <a:latin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𝒑</m:t>
                                </m:r>
                                <m:r>
                                  <a:rPr lang="es-MX" sz="2000" b="1"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rPr>
                                  <m:t>𝒓</m:t>
                                </m:r>
                              </m:oMath>
                            </m:oMathPara>
                          </a14:m>
                          <a:endParaRPr lang="es-MX" sz="2000" b="1" dirty="0"/>
                        </a:p>
                      </a:txBody>
                      <a:tcPr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Cambria Math" panose="02040503050406030204" pitchFamily="18" charset="0"/>
                                  </a:rPr>
                                  <m:t>𝒑</m:t>
                                </m:r>
                                <m:r>
                                  <a:rPr lang="es-MX" sz="2000" b="1"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𝒓</m:t>
                                </m:r>
                              </m:oMath>
                            </m:oMathPara>
                          </a14:m>
                          <a:endParaRPr lang="es-MX" sz="2000" b="1" dirty="0"/>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3670299"/>
                      </a:ext>
                    </a:extLst>
                  </a:tr>
                  <a:tr h="31891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T w="19050" cap="flat" cmpd="sng" algn="ctr">
                          <a:solidFill>
                            <a:schemeClr val="tx1"/>
                          </a:solidFill>
                          <a:prstDash val="solid"/>
                          <a:round/>
                          <a:headEnd type="none" w="med" len="med"/>
                          <a:tailEnd type="none" w="med" len="med"/>
                        </a:lnT>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T w="19050" cap="flat" cmpd="sng" algn="ctr">
                          <a:solidFill>
                            <a:schemeClr val="tx1"/>
                          </a:solidFill>
                          <a:prstDash val="solid"/>
                          <a:round/>
                          <a:headEnd type="none" w="med" len="med"/>
                          <a:tailEnd type="none" w="med" len="med"/>
                        </a:lnT>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solidFill>
                          <a:schemeClr val="bg1"/>
                        </a:solidFill>
                      </a:tcPr>
                    </a:tc>
                    <a:tc>
                      <a:txBody>
                        <a:bodyPr/>
                        <a:lstStyle/>
                        <a:p>
                          <a:endParaRPr lang="es-CO" sz="2000" dirty="0">
                            <a:latin typeface="Roboto" panose="02000000000000000000" pitchFamily="2" charset="0"/>
                            <a:ea typeface="Roboto" panose="02000000000000000000" pitchFamily="2" charset="0"/>
                          </a:endParaRPr>
                        </a:p>
                      </a:txBody>
                      <a:tcPr>
                        <a:lnT w="19050" cap="flat" cmpd="sng" algn="ctr">
                          <a:solidFill>
                            <a:schemeClr val="tx1"/>
                          </a:solidFill>
                          <a:prstDash val="solid"/>
                          <a:round/>
                          <a:headEnd type="none" w="med" len="med"/>
                          <a:tailEnd type="none" w="med" len="med"/>
                        </a:lnT>
                        <a:solidFill>
                          <a:schemeClr val="bg1"/>
                        </a:solidFill>
                      </a:tcPr>
                    </a:tc>
                    <a:tc>
                      <a:txBody>
                        <a:bodyPr/>
                        <a:lstStyle/>
                        <a:p>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noFill/>
                      </a:tcPr>
                    </a:tc>
                    <a:tc>
                      <a:txBody>
                        <a:bodyPr/>
                        <a:lstStyle/>
                        <a:p>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805549228"/>
                      </a:ext>
                    </a:extLst>
                  </a:tr>
                  <a:tr h="286174">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noFill/>
                      </a:tcPr>
                    </a:tc>
                    <a:tc>
                      <a:txBody>
                        <a:bodyPr/>
                        <a:lstStyle/>
                        <a:p>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noFill/>
                      </a:tcPr>
                    </a:tc>
                    <a:extLst>
                      <a:ext uri="{0D108BD9-81ED-4DB2-BD59-A6C34878D82A}">
                        <a16:rowId xmlns:a16="http://schemas.microsoft.com/office/drawing/2014/main" val="2353127006"/>
                      </a:ext>
                    </a:extLst>
                  </a:tr>
                  <a:tr h="28617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noFill/>
                      </a:tcPr>
                    </a:tc>
                    <a:tc>
                      <a:txBody>
                        <a:bodyPr/>
                        <a:lstStyle/>
                        <a:p>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noFill/>
                      </a:tcPr>
                    </a:tc>
                    <a:extLst>
                      <a:ext uri="{0D108BD9-81ED-4DB2-BD59-A6C34878D82A}">
                        <a16:rowId xmlns:a16="http://schemas.microsoft.com/office/drawing/2014/main" val="3651764017"/>
                      </a:ext>
                    </a:extLst>
                  </a:tr>
                  <a:tr h="286174">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noFill/>
                      </a:tcPr>
                    </a:tc>
                    <a:tc>
                      <a:txBody>
                        <a:bodyPr/>
                        <a:lstStyle/>
                        <a:p>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noFill/>
                      </a:tcPr>
                    </a:tc>
                    <a:extLst>
                      <a:ext uri="{0D108BD9-81ED-4DB2-BD59-A6C34878D82A}">
                        <a16:rowId xmlns:a16="http://schemas.microsoft.com/office/drawing/2014/main" val="2841338906"/>
                      </a:ext>
                    </a:extLst>
                  </a:tr>
                  <a:tr h="286174">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solidFill>
                              <a:srgbClr val="FF0000"/>
                            </a:solidFill>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noFill/>
                      </a:tcPr>
                    </a:tc>
                    <a:extLst>
                      <a:ext uri="{0D108BD9-81ED-4DB2-BD59-A6C34878D82A}">
                        <a16:rowId xmlns:a16="http://schemas.microsoft.com/office/drawing/2014/main" val="1632356540"/>
                      </a:ext>
                    </a:extLst>
                  </a:tr>
                  <a:tr h="286174">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noFill/>
                      </a:tcPr>
                    </a:tc>
                    <a:extLst>
                      <a:ext uri="{0D108BD9-81ED-4DB2-BD59-A6C34878D82A}">
                        <a16:rowId xmlns:a16="http://schemas.microsoft.com/office/drawing/2014/main" val="2671630554"/>
                      </a:ext>
                    </a:extLst>
                  </a:tr>
                  <a:tr h="286174">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noFill/>
                      </a:tcPr>
                    </a:tc>
                    <a:tc>
                      <a:txBody>
                        <a:bodyPr/>
                        <a:lstStyle/>
                        <a:p>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noFill/>
                      </a:tcPr>
                    </a:tc>
                    <a:extLst>
                      <a:ext uri="{0D108BD9-81ED-4DB2-BD59-A6C34878D82A}">
                        <a16:rowId xmlns:a16="http://schemas.microsoft.com/office/drawing/2014/main" val="117604333"/>
                      </a:ext>
                    </a:extLst>
                  </a:tr>
                  <a:tr h="286174">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noFill/>
                      </a:tcPr>
                    </a:tc>
                    <a:tc>
                      <a:txBody>
                        <a:bodyPr/>
                        <a:lstStyle/>
                        <a:p>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noFill/>
                      </a:tcPr>
                    </a:tc>
                    <a:extLst>
                      <a:ext uri="{0D108BD9-81ED-4DB2-BD59-A6C34878D82A}">
                        <a16:rowId xmlns:a16="http://schemas.microsoft.com/office/drawing/2014/main" val="768255264"/>
                      </a:ext>
                    </a:extLst>
                  </a:tr>
                </a:tbl>
              </a:graphicData>
            </a:graphic>
          </p:graphicFrame>
        </mc:Choice>
        <mc:Fallback xmlns="">
          <p:graphicFrame>
            <p:nvGraphicFramePr>
              <p:cNvPr id="35" name="Tabla 4">
                <a:extLst>
                  <a:ext uri="{FF2B5EF4-FFF2-40B4-BE49-F238E27FC236}">
                    <a16:creationId xmlns:a16="http://schemas.microsoft.com/office/drawing/2014/main" id="{CA532AC1-316E-42EF-B863-C551B19C12E6}"/>
                  </a:ext>
                </a:extLst>
              </p:cNvPr>
              <p:cNvGraphicFramePr>
                <a:graphicFrameLocks noGrp="1"/>
              </p:cNvGraphicFramePr>
              <p:nvPr>
                <p:extLst>
                  <p:ext uri="{D42A27DB-BD31-4B8C-83A1-F6EECF244321}">
                    <p14:modId xmlns:p14="http://schemas.microsoft.com/office/powerpoint/2010/main" val="3003705142"/>
                  </p:ext>
                </p:extLst>
              </p:nvPr>
            </p:nvGraphicFramePr>
            <p:xfrm>
              <a:off x="4601029" y="2160306"/>
              <a:ext cx="7470082" cy="3566160"/>
            </p:xfrm>
            <a:graphic>
              <a:graphicData uri="http://schemas.openxmlformats.org/drawingml/2006/table">
                <a:tbl>
                  <a:tblPr firstRow="1" bandRow="1">
                    <a:tableStyleId>{AD6A3598-7CB8-4345-8D95-17CE05F158A0}</a:tableStyleId>
                  </a:tblPr>
                  <a:tblGrid>
                    <a:gridCol w="379459">
                      <a:extLst>
                        <a:ext uri="{9D8B030D-6E8A-4147-A177-3AD203B41FA5}">
                          <a16:colId xmlns:a16="http://schemas.microsoft.com/office/drawing/2014/main" val="776375974"/>
                        </a:ext>
                      </a:extLst>
                    </a:gridCol>
                    <a:gridCol w="379459">
                      <a:extLst>
                        <a:ext uri="{9D8B030D-6E8A-4147-A177-3AD203B41FA5}">
                          <a16:colId xmlns:a16="http://schemas.microsoft.com/office/drawing/2014/main" val="384604534"/>
                        </a:ext>
                      </a:extLst>
                    </a:gridCol>
                    <a:gridCol w="379459">
                      <a:extLst>
                        <a:ext uri="{9D8B030D-6E8A-4147-A177-3AD203B41FA5}">
                          <a16:colId xmlns:a16="http://schemas.microsoft.com/office/drawing/2014/main" val="79869298"/>
                        </a:ext>
                      </a:extLst>
                    </a:gridCol>
                    <a:gridCol w="514324">
                      <a:extLst>
                        <a:ext uri="{9D8B030D-6E8A-4147-A177-3AD203B41FA5}">
                          <a16:colId xmlns:a16="http://schemas.microsoft.com/office/drawing/2014/main" val="1627128528"/>
                        </a:ext>
                      </a:extLst>
                    </a:gridCol>
                    <a:gridCol w="995871">
                      <a:extLst>
                        <a:ext uri="{9D8B030D-6E8A-4147-A177-3AD203B41FA5}">
                          <a16:colId xmlns:a16="http://schemas.microsoft.com/office/drawing/2014/main" val="3636147316"/>
                        </a:ext>
                      </a:extLst>
                    </a:gridCol>
                    <a:gridCol w="823401">
                      <a:extLst>
                        <a:ext uri="{9D8B030D-6E8A-4147-A177-3AD203B41FA5}">
                          <a16:colId xmlns:a16="http://schemas.microsoft.com/office/drawing/2014/main" val="1883770935"/>
                        </a:ext>
                      </a:extLst>
                    </a:gridCol>
                    <a:gridCol w="1506855">
                      <a:extLst>
                        <a:ext uri="{9D8B030D-6E8A-4147-A177-3AD203B41FA5}">
                          <a16:colId xmlns:a16="http://schemas.microsoft.com/office/drawing/2014/main" val="4031458888"/>
                        </a:ext>
                      </a:extLst>
                    </a:gridCol>
                    <a:gridCol w="1316355">
                      <a:extLst>
                        <a:ext uri="{9D8B030D-6E8A-4147-A177-3AD203B41FA5}">
                          <a16:colId xmlns:a16="http://schemas.microsoft.com/office/drawing/2014/main" val="3413420708"/>
                        </a:ext>
                      </a:extLst>
                    </a:gridCol>
                    <a:gridCol w="1174899">
                      <a:extLst>
                        <a:ext uri="{9D8B030D-6E8A-4147-A177-3AD203B41FA5}">
                          <a16:colId xmlns:a16="http://schemas.microsoft.com/office/drawing/2014/main" val="1553787280"/>
                        </a:ext>
                      </a:extLst>
                    </a:gridCol>
                  </a:tblGrid>
                  <a:tr h="396240">
                    <a:tc>
                      <a:txBody>
                        <a:bodyPr/>
                        <a:lstStyle/>
                        <a:p>
                          <a:endParaRPr lang="es-CO"/>
                        </a:p>
                      </a:txBody>
                      <a:tcPr anchor="ctr">
                        <a:lnB w="19050" cap="flat" cmpd="sng" algn="ctr">
                          <a:solidFill>
                            <a:schemeClr val="tx1"/>
                          </a:solidFill>
                          <a:prstDash val="solid"/>
                          <a:round/>
                          <a:headEnd type="none" w="med" len="med"/>
                          <a:tailEnd type="none" w="med" len="med"/>
                        </a:lnB>
                        <a:blipFill>
                          <a:blip r:embed="rId5"/>
                          <a:stretch>
                            <a:fillRect l="-1613" t="-1538" r="-1882258" b="-804615"/>
                          </a:stretch>
                        </a:blipFill>
                      </a:tcPr>
                    </a:tc>
                    <a:tc>
                      <a:txBody>
                        <a:bodyPr/>
                        <a:lstStyle/>
                        <a:p>
                          <a:endParaRPr lang="es-CO"/>
                        </a:p>
                      </a:txBody>
                      <a:tcPr anchor="ctr">
                        <a:lnB w="19050" cap="flat" cmpd="sng" algn="ctr">
                          <a:solidFill>
                            <a:schemeClr val="tx1"/>
                          </a:solidFill>
                          <a:prstDash val="solid"/>
                          <a:round/>
                          <a:headEnd type="none" w="med" len="med"/>
                          <a:tailEnd type="none" w="med" len="med"/>
                        </a:lnB>
                        <a:blipFill>
                          <a:blip r:embed="rId5"/>
                          <a:stretch>
                            <a:fillRect l="-100000" t="-1538" r="-1752381" b="-804615"/>
                          </a:stretch>
                        </a:blipFill>
                      </a:tcPr>
                    </a:tc>
                    <a:tc>
                      <a:txBody>
                        <a:bodyPr/>
                        <a:lstStyle/>
                        <a:p>
                          <a:endParaRPr lang="es-CO"/>
                        </a:p>
                      </a:txBody>
                      <a:tcPr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blipFill>
                          <a:blip r:embed="rId5"/>
                          <a:stretch>
                            <a:fillRect l="-203226" t="-1538" r="-1680645" b="-804615"/>
                          </a:stretch>
                        </a:blipFill>
                      </a:tcPr>
                    </a:tc>
                    <a:tc>
                      <a:txBody>
                        <a:bodyPr/>
                        <a:lstStyle/>
                        <a:p>
                          <a:endParaRPr lang="es-CO"/>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blipFill>
                          <a:blip r:embed="rId5"/>
                          <a:stretch>
                            <a:fillRect l="-223810" t="-1538" r="-1140476" b="-804615"/>
                          </a:stretch>
                        </a:blipFill>
                      </a:tcPr>
                    </a:tc>
                    <a:tc>
                      <a:txBody>
                        <a:bodyPr/>
                        <a:lstStyle/>
                        <a:p>
                          <a:endParaRPr lang="es-CO"/>
                        </a:p>
                      </a:txBody>
                      <a:tcPr anchor="ctr">
                        <a:lnB w="19050" cap="flat" cmpd="sng" algn="ctr">
                          <a:solidFill>
                            <a:schemeClr val="tx1"/>
                          </a:solidFill>
                          <a:prstDash val="solid"/>
                          <a:round/>
                          <a:headEnd type="none" w="med" len="med"/>
                          <a:tailEnd type="none" w="med" len="med"/>
                        </a:lnB>
                        <a:blipFill>
                          <a:blip r:embed="rId5"/>
                          <a:stretch>
                            <a:fillRect l="-165854" t="-1538" r="-484146" b="-804615"/>
                          </a:stretch>
                        </a:blipFill>
                      </a:tcPr>
                    </a:tc>
                    <a:tc>
                      <a:txBody>
                        <a:bodyPr/>
                        <a:lstStyle/>
                        <a:p>
                          <a:endParaRPr lang="es-CO"/>
                        </a:p>
                      </a:txBody>
                      <a:tcPr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blipFill>
                          <a:blip r:embed="rId5"/>
                          <a:stretch>
                            <a:fillRect l="-322963" t="-1538" r="-488148" b="-804615"/>
                          </a:stretch>
                        </a:blipFill>
                      </a:tcPr>
                    </a:tc>
                    <a:tc>
                      <a:txBody>
                        <a:bodyPr/>
                        <a:lstStyle/>
                        <a:p>
                          <a:endParaRPr lang="es-CO"/>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blipFill>
                          <a:blip r:embed="rId5"/>
                          <a:stretch>
                            <a:fillRect l="-230242" t="-1538" r="-165726" b="-804615"/>
                          </a:stretch>
                        </a:blipFill>
                      </a:tcPr>
                    </a:tc>
                    <a:tc>
                      <a:txBody>
                        <a:bodyPr/>
                        <a:lstStyle/>
                        <a:p>
                          <a:endParaRPr lang="es-CO"/>
                        </a:p>
                      </a:txBody>
                      <a:tcPr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blipFill>
                          <a:blip r:embed="rId5"/>
                          <a:stretch>
                            <a:fillRect l="-379167" t="-1538" r="-90278" b="-804615"/>
                          </a:stretch>
                        </a:blipFill>
                      </a:tcPr>
                    </a:tc>
                    <a:tc>
                      <a:txBody>
                        <a:bodyPr/>
                        <a:lstStyle/>
                        <a:p>
                          <a:endParaRPr lang="es-CO"/>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blipFill>
                          <a:blip r:embed="rId5"/>
                          <a:stretch>
                            <a:fillRect l="-536269" t="-1538" r="-1036" b="-804615"/>
                          </a:stretch>
                        </a:blipFill>
                      </a:tcPr>
                    </a:tc>
                    <a:extLst>
                      <a:ext uri="{0D108BD9-81ED-4DB2-BD59-A6C34878D82A}">
                        <a16:rowId xmlns:a16="http://schemas.microsoft.com/office/drawing/2014/main" val="113670299"/>
                      </a:ext>
                    </a:extLst>
                  </a:tr>
                  <a:tr h="396240">
                    <a:tc>
                      <a:txBody>
                        <a:bodyPr/>
                        <a:lstStyle/>
                        <a:p>
                          <a:endParaRPr lang="es-CO"/>
                        </a:p>
                      </a:txBody>
                      <a:tcPr>
                        <a:lnT w="19050" cap="flat" cmpd="sng" algn="ctr">
                          <a:solidFill>
                            <a:schemeClr val="tx1"/>
                          </a:solidFill>
                          <a:prstDash val="solid"/>
                          <a:round/>
                          <a:headEnd type="none" w="med" len="med"/>
                          <a:tailEnd type="none" w="med" len="med"/>
                        </a:lnT>
                        <a:blipFill>
                          <a:blip r:embed="rId5"/>
                          <a:stretch>
                            <a:fillRect l="-1613" t="-101538" r="-1882258" b="-704615"/>
                          </a:stretch>
                        </a:blipFill>
                      </a:tcPr>
                    </a:tc>
                    <a:tc>
                      <a:txBody>
                        <a:bodyPr/>
                        <a:lstStyle/>
                        <a:p>
                          <a:endParaRPr lang="es-CO"/>
                        </a:p>
                      </a:txBody>
                      <a:tcPr>
                        <a:lnT w="19050" cap="flat" cmpd="sng" algn="ctr">
                          <a:solidFill>
                            <a:schemeClr val="tx1"/>
                          </a:solidFill>
                          <a:prstDash val="solid"/>
                          <a:round/>
                          <a:headEnd type="none" w="med" len="med"/>
                          <a:tailEnd type="none" w="med" len="med"/>
                        </a:lnT>
                        <a:blipFill>
                          <a:blip r:embed="rId5"/>
                          <a:stretch>
                            <a:fillRect l="-100000" t="-101538" r="-1752381" b="-704615"/>
                          </a:stretch>
                        </a:blipFill>
                      </a:tcPr>
                    </a:tc>
                    <a:tc>
                      <a:txBody>
                        <a:bodyPr/>
                        <a:lstStyle/>
                        <a:p>
                          <a:endParaRPr lang="es-CO"/>
                        </a:p>
                      </a:txBody>
                      <a:tcP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blipFill>
                          <a:blip r:embed="rId5"/>
                          <a:stretch>
                            <a:fillRect l="-203226" t="-101538" r="-1680645" b="-704615"/>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solidFill>
                          <a:schemeClr val="bg1"/>
                        </a:solidFill>
                      </a:tcPr>
                    </a:tc>
                    <a:tc>
                      <a:txBody>
                        <a:bodyPr/>
                        <a:lstStyle/>
                        <a:p>
                          <a:pPr/>
                          <a:endParaRPr lang="es-CO" sz="2000" dirty="0">
                            <a:latin typeface="Roboto" panose="02000000000000000000" pitchFamily="2" charset="0"/>
                            <a:ea typeface="Roboto" panose="02000000000000000000" pitchFamily="2" charset="0"/>
                          </a:endParaRPr>
                        </a:p>
                      </a:txBody>
                      <a:tcPr>
                        <a:lnT w="19050" cap="flat" cmpd="sng" algn="ctr">
                          <a:solidFill>
                            <a:schemeClr val="tx1"/>
                          </a:solidFill>
                          <a:prstDash val="solid"/>
                          <a:round/>
                          <a:headEnd type="none" w="med" len="med"/>
                          <a:tailEnd type="none" w="med" len="med"/>
                        </a:lnT>
                        <a:solidFill>
                          <a:schemeClr val="bg1"/>
                        </a:solidFill>
                      </a:tcPr>
                    </a:tc>
                    <a:tc>
                      <a:txBody>
                        <a:bodyPr/>
                        <a:lstStyle/>
                        <a:p>
                          <a:pPr/>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noFill/>
                      </a:tcPr>
                    </a:tc>
                    <a:tc>
                      <a:txBody>
                        <a:bodyPr/>
                        <a:lstStyle/>
                        <a:p>
                          <a:pPr/>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805549228"/>
                      </a:ext>
                    </a:extLst>
                  </a:tr>
                  <a:tr h="396240">
                    <a:tc>
                      <a:txBody>
                        <a:bodyPr/>
                        <a:lstStyle/>
                        <a:p>
                          <a:endParaRPr lang="es-CO"/>
                        </a:p>
                      </a:txBody>
                      <a:tcPr>
                        <a:blipFill>
                          <a:blip r:embed="rId5"/>
                          <a:stretch>
                            <a:fillRect l="-1613" t="-201538" r="-1882258" b="-604615"/>
                          </a:stretch>
                        </a:blipFill>
                      </a:tcPr>
                    </a:tc>
                    <a:tc>
                      <a:txBody>
                        <a:bodyPr/>
                        <a:lstStyle/>
                        <a:p>
                          <a:endParaRPr lang="es-CO"/>
                        </a:p>
                      </a:txBody>
                      <a:tcPr>
                        <a:blipFill>
                          <a:blip r:embed="rId5"/>
                          <a:stretch>
                            <a:fillRect l="-100000" t="-201538" r="-1752381" b="-604615"/>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5"/>
                          <a:stretch>
                            <a:fillRect l="-203226" t="-201538" r="-1680645" b="-604615"/>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noFill/>
                      </a:tcPr>
                    </a:tc>
                    <a:tc>
                      <a:txBody>
                        <a:bodyPr/>
                        <a:lstStyle/>
                        <a:p>
                          <a:pPr/>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noFill/>
                      </a:tcPr>
                    </a:tc>
                    <a:extLst>
                      <a:ext uri="{0D108BD9-81ED-4DB2-BD59-A6C34878D82A}">
                        <a16:rowId xmlns:a16="http://schemas.microsoft.com/office/drawing/2014/main" val="2353127006"/>
                      </a:ext>
                    </a:extLst>
                  </a:tr>
                  <a:tr h="396240">
                    <a:tc>
                      <a:txBody>
                        <a:bodyPr/>
                        <a:lstStyle/>
                        <a:p>
                          <a:endParaRPr lang="es-CO"/>
                        </a:p>
                      </a:txBody>
                      <a:tcPr>
                        <a:blipFill>
                          <a:blip r:embed="rId5"/>
                          <a:stretch>
                            <a:fillRect l="-1613" t="-301538" r="-1882258" b="-504615"/>
                          </a:stretch>
                        </a:blipFill>
                      </a:tcPr>
                    </a:tc>
                    <a:tc>
                      <a:txBody>
                        <a:bodyPr/>
                        <a:lstStyle/>
                        <a:p>
                          <a:endParaRPr lang="es-CO"/>
                        </a:p>
                      </a:txBody>
                      <a:tcPr>
                        <a:blipFill>
                          <a:blip r:embed="rId5"/>
                          <a:stretch>
                            <a:fillRect l="-100000" t="-301538" r="-1752381" b="-504615"/>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5"/>
                          <a:stretch>
                            <a:fillRect l="-203226" t="-301538" r="-1680645" b="-504615"/>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noFill/>
                      </a:tcPr>
                    </a:tc>
                    <a:tc>
                      <a:txBody>
                        <a:bodyPr/>
                        <a:lstStyle/>
                        <a:p>
                          <a:pPr/>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noFill/>
                      </a:tcPr>
                    </a:tc>
                    <a:extLst>
                      <a:ext uri="{0D108BD9-81ED-4DB2-BD59-A6C34878D82A}">
                        <a16:rowId xmlns:a16="http://schemas.microsoft.com/office/drawing/2014/main" val="3651764017"/>
                      </a:ext>
                    </a:extLst>
                  </a:tr>
                  <a:tr h="396240">
                    <a:tc>
                      <a:txBody>
                        <a:bodyPr/>
                        <a:lstStyle/>
                        <a:p>
                          <a:endParaRPr lang="es-CO"/>
                        </a:p>
                      </a:txBody>
                      <a:tcPr>
                        <a:blipFill>
                          <a:blip r:embed="rId5"/>
                          <a:stretch>
                            <a:fillRect l="-1613" t="-395455" r="-1882258" b="-396970"/>
                          </a:stretch>
                        </a:blipFill>
                      </a:tcPr>
                    </a:tc>
                    <a:tc>
                      <a:txBody>
                        <a:bodyPr/>
                        <a:lstStyle/>
                        <a:p>
                          <a:endParaRPr lang="es-CO"/>
                        </a:p>
                      </a:txBody>
                      <a:tcPr>
                        <a:blipFill>
                          <a:blip r:embed="rId5"/>
                          <a:stretch>
                            <a:fillRect l="-100000" t="-395455" r="-1752381" b="-396970"/>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5"/>
                          <a:stretch>
                            <a:fillRect l="-203226" t="-395455" r="-1680645" b="-396970"/>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noFill/>
                      </a:tcPr>
                    </a:tc>
                    <a:tc>
                      <a:txBody>
                        <a:bodyPr/>
                        <a:lstStyle/>
                        <a:p>
                          <a:pPr/>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noFill/>
                      </a:tcPr>
                    </a:tc>
                    <a:extLst>
                      <a:ext uri="{0D108BD9-81ED-4DB2-BD59-A6C34878D82A}">
                        <a16:rowId xmlns:a16="http://schemas.microsoft.com/office/drawing/2014/main" val="2841338906"/>
                      </a:ext>
                    </a:extLst>
                  </a:tr>
                  <a:tr h="396240">
                    <a:tc>
                      <a:txBody>
                        <a:bodyPr/>
                        <a:lstStyle/>
                        <a:p>
                          <a:endParaRPr lang="es-CO"/>
                        </a:p>
                      </a:txBody>
                      <a:tcPr>
                        <a:blipFill>
                          <a:blip r:embed="rId5"/>
                          <a:stretch>
                            <a:fillRect l="-1613" t="-503077" r="-1882258" b="-303077"/>
                          </a:stretch>
                        </a:blipFill>
                      </a:tcPr>
                    </a:tc>
                    <a:tc>
                      <a:txBody>
                        <a:bodyPr/>
                        <a:lstStyle/>
                        <a:p>
                          <a:endParaRPr lang="es-CO"/>
                        </a:p>
                      </a:txBody>
                      <a:tcPr>
                        <a:blipFill>
                          <a:blip r:embed="rId5"/>
                          <a:stretch>
                            <a:fillRect l="-100000" t="-503077" r="-1752381" b="-303077"/>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5"/>
                          <a:stretch>
                            <a:fillRect l="-203226" t="-503077" r="-1680645" b="-303077"/>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solidFill>
                              <a:srgbClr val="FF0000"/>
                            </a:solidFill>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noFill/>
                      </a:tcPr>
                    </a:tc>
                    <a:extLst>
                      <a:ext uri="{0D108BD9-81ED-4DB2-BD59-A6C34878D82A}">
                        <a16:rowId xmlns:a16="http://schemas.microsoft.com/office/drawing/2014/main" val="1632356540"/>
                      </a:ext>
                    </a:extLst>
                  </a:tr>
                  <a:tr h="396240">
                    <a:tc>
                      <a:txBody>
                        <a:bodyPr/>
                        <a:lstStyle/>
                        <a:p>
                          <a:endParaRPr lang="es-CO"/>
                        </a:p>
                      </a:txBody>
                      <a:tcPr>
                        <a:blipFill>
                          <a:blip r:embed="rId5"/>
                          <a:stretch>
                            <a:fillRect l="-1613" t="-603077" r="-1882258" b="-203077"/>
                          </a:stretch>
                        </a:blipFill>
                      </a:tcPr>
                    </a:tc>
                    <a:tc>
                      <a:txBody>
                        <a:bodyPr/>
                        <a:lstStyle/>
                        <a:p>
                          <a:endParaRPr lang="es-CO"/>
                        </a:p>
                      </a:txBody>
                      <a:tcPr>
                        <a:blipFill>
                          <a:blip r:embed="rId5"/>
                          <a:stretch>
                            <a:fillRect l="-100000" t="-603077" r="-1752381" b="-203077"/>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5"/>
                          <a:stretch>
                            <a:fillRect l="-203226" t="-603077" r="-1680645" b="-203077"/>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noFill/>
                      </a:tcPr>
                    </a:tc>
                    <a:extLst>
                      <a:ext uri="{0D108BD9-81ED-4DB2-BD59-A6C34878D82A}">
                        <a16:rowId xmlns:a16="http://schemas.microsoft.com/office/drawing/2014/main" val="2671630554"/>
                      </a:ext>
                    </a:extLst>
                  </a:tr>
                  <a:tr h="396240">
                    <a:tc>
                      <a:txBody>
                        <a:bodyPr/>
                        <a:lstStyle/>
                        <a:p>
                          <a:endParaRPr lang="es-CO"/>
                        </a:p>
                      </a:txBody>
                      <a:tcPr>
                        <a:blipFill>
                          <a:blip r:embed="rId5"/>
                          <a:stretch>
                            <a:fillRect l="-1613" t="-703077" r="-1882258" b="-103077"/>
                          </a:stretch>
                        </a:blipFill>
                      </a:tcPr>
                    </a:tc>
                    <a:tc>
                      <a:txBody>
                        <a:bodyPr/>
                        <a:lstStyle/>
                        <a:p>
                          <a:endParaRPr lang="es-CO"/>
                        </a:p>
                      </a:txBody>
                      <a:tcPr>
                        <a:blipFill>
                          <a:blip r:embed="rId5"/>
                          <a:stretch>
                            <a:fillRect l="-100000" t="-703077" r="-1752381" b="-103077"/>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5"/>
                          <a:stretch>
                            <a:fillRect l="-203226" t="-703077" r="-1680645" b="-103077"/>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noFill/>
                      </a:tcPr>
                    </a:tc>
                    <a:tc>
                      <a:txBody>
                        <a:bodyPr/>
                        <a:lstStyle/>
                        <a:p>
                          <a:pPr/>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noFill/>
                      </a:tcPr>
                    </a:tc>
                    <a:extLst>
                      <a:ext uri="{0D108BD9-81ED-4DB2-BD59-A6C34878D82A}">
                        <a16:rowId xmlns:a16="http://schemas.microsoft.com/office/drawing/2014/main" val="117604333"/>
                      </a:ext>
                    </a:extLst>
                  </a:tr>
                  <a:tr h="396240">
                    <a:tc>
                      <a:txBody>
                        <a:bodyPr/>
                        <a:lstStyle/>
                        <a:p>
                          <a:endParaRPr lang="es-CO"/>
                        </a:p>
                      </a:txBody>
                      <a:tcPr>
                        <a:blipFill>
                          <a:blip r:embed="rId5"/>
                          <a:stretch>
                            <a:fillRect l="-1613" t="-803077" r="-1882258" b="-3077"/>
                          </a:stretch>
                        </a:blipFill>
                      </a:tcPr>
                    </a:tc>
                    <a:tc>
                      <a:txBody>
                        <a:bodyPr/>
                        <a:lstStyle/>
                        <a:p>
                          <a:endParaRPr lang="es-CO"/>
                        </a:p>
                      </a:txBody>
                      <a:tcPr>
                        <a:blipFill>
                          <a:blip r:embed="rId5"/>
                          <a:stretch>
                            <a:fillRect l="-100000" t="-803077" r="-1752381" b="-3077"/>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5"/>
                          <a:stretch>
                            <a:fillRect l="-203226" t="-803077" r="-1680645" b="-3077"/>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noFill/>
                      </a:tcPr>
                    </a:tc>
                    <a:tc>
                      <a:txBody>
                        <a:bodyPr/>
                        <a:lstStyle/>
                        <a:p>
                          <a:pPr/>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noFill/>
                      </a:tcPr>
                    </a:tc>
                    <a:extLst>
                      <a:ext uri="{0D108BD9-81ED-4DB2-BD59-A6C34878D82A}">
                        <a16:rowId xmlns:a16="http://schemas.microsoft.com/office/drawing/2014/main" val="768255264"/>
                      </a:ext>
                    </a:extLst>
                  </a:tr>
                </a:tbl>
              </a:graphicData>
            </a:graphic>
          </p:graphicFrame>
        </mc:Fallback>
      </mc:AlternateContent>
      <p:grpSp>
        <p:nvGrpSpPr>
          <p:cNvPr id="36" name="Grupo 35">
            <a:extLst>
              <a:ext uri="{FF2B5EF4-FFF2-40B4-BE49-F238E27FC236}">
                <a16:creationId xmlns:a16="http://schemas.microsoft.com/office/drawing/2014/main" id="{6008E4FC-6447-43A1-BB5B-6C325F6D0742}"/>
              </a:ext>
            </a:extLst>
          </p:cNvPr>
          <p:cNvGrpSpPr/>
          <p:nvPr/>
        </p:nvGrpSpPr>
        <p:grpSpPr>
          <a:xfrm>
            <a:off x="8084456" y="1358208"/>
            <a:ext cx="4107544" cy="685114"/>
            <a:chOff x="4767249" y="2840509"/>
            <a:chExt cx="4107544" cy="685114"/>
          </a:xfrm>
        </p:grpSpPr>
        <p:grpSp>
          <p:nvGrpSpPr>
            <p:cNvPr id="37" name="Grupo 36">
              <a:extLst>
                <a:ext uri="{FF2B5EF4-FFF2-40B4-BE49-F238E27FC236}">
                  <a16:creationId xmlns:a16="http://schemas.microsoft.com/office/drawing/2014/main" id="{52080BD7-6163-4861-8939-609455DBFE85}"/>
                </a:ext>
              </a:extLst>
            </p:cNvPr>
            <p:cNvGrpSpPr/>
            <p:nvPr/>
          </p:nvGrpSpPr>
          <p:grpSpPr>
            <a:xfrm>
              <a:off x="4767249" y="2840509"/>
              <a:ext cx="2755769" cy="685114"/>
              <a:chOff x="4767249" y="2840509"/>
              <a:chExt cx="2755769" cy="685114"/>
            </a:xfrm>
          </p:grpSpPr>
          <p:sp>
            <p:nvSpPr>
              <p:cNvPr id="41" name="Abrir llave 40">
                <a:extLst>
                  <a:ext uri="{FF2B5EF4-FFF2-40B4-BE49-F238E27FC236}">
                    <a16:creationId xmlns:a16="http://schemas.microsoft.com/office/drawing/2014/main" id="{BD1BB508-0BF3-4DDB-ABBA-4F1C88AE7AC9}"/>
                  </a:ext>
                </a:extLst>
              </p:cNvPr>
              <p:cNvSpPr/>
              <p:nvPr/>
            </p:nvSpPr>
            <p:spPr>
              <a:xfrm rot="5400000">
                <a:off x="6012614" y="2015219"/>
                <a:ext cx="265039" cy="2755769"/>
              </a:xfrm>
              <a:prstGeom prst="leftBrace">
                <a:avLst>
                  <a:gd name="adj1" fmla="val 24066"/>
                  <a:gd name="adj2" fmla="val 50000"/>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dirty="0"/>
              </a:p>
            </p:txBody>
          </p:sp>
          <p:sp>
            <p:nvSpPr>
              <p:cNvPr id="42" name="CuadroTexto 41">
                <a:extLst>
                  <a:ext uri="{FF2B5EF4-FFF2-40B4-BE49-F238E27FC236}">
                    <a16:creationId xmlns:a16="http://schemas.microsoft.com/office/drawing/2014/main" id="{7D02F095-0B16-4C5B-96D7-ED9EB70A3731}"/>
                  </a:ext>
                </a:extLst>
              </p:cNvPr>
              <p:cNvSpPr txBox="1"/>
              <p:nvPr/>
            </p:nvSpPr>
            <p:spPr>
              <a:xfrm>
                <a:off x="5620184" y="2840509"/>
                <a:ext cx="1316546" cy="400110"/>
              </a:xfrm>
              <a:prstGeom prst="rect">
                <a:avLst/>
              </a:prstGeom>
              <a:noFill/>
            </p:spPr>
            <p:txBody>
              <a:bodyPr wrap="square" rtlCol="0">
                <a:spAutoFit/>
              </a:bodyPr>
              <a:lstStyle/>
              <a:p>
                <a:pPr algn="ctr"/>
                <a:r>
                  <a:rPr lang="es-CO" sz="2000" b="1" dirty="0">
                    <a:solidFill>
                      <a:srgbClr val="C00000"/>
                    </a:solidFill>
                    <a:ea typeface="Roboto" panose="02000000000000000000" pitchFamily="2" charset="0"/>
                  </a:rPr>
                  <a:t>Premisas</a:t>
                </a:r>
              </a:p>
            </p:txBody>
          </p:sp>
        </p:grpSp>
        <p:grpSp>
          <p:nvGrpSpPr>
            <p:cNvPr id="38" name="Grupo 37">
              <a:extLst>
                <a:ext uri="{FF2B5EF4-FFF2-40B4-BE49-F238E27FC236}">
                  <a16:creationId xmlns:a16="http://schemas.microsoft.com/office/drawing/2014/main" id="{CC3A05E2-1ABF-4E1B-BA1A-884893A54371}"/>
                </a:ext>
              </a:extLst>
            </p:cNvPr>
            <p:cNvGrpSpPr/>
            <p:nvPr/>
          </p:nvGrpSpPr>
          <p:grpSpPr>
            <a:xfrm>
              <a:off x="7414154" y="2867044"/>
              <a:ext cx="1460639" cy="658579"/>
              <a:chOff x="7414154" y="2867044"/>
              <a:chExt cx="1460639" cy="658579"/>
            </a:xfrm>
          </p:grpSpPr>
          <p:sp>
            <p:nvSpPr>
              <p:cNvPr id="39" name="CuadroTexto 38">
                <a:extLst>
                  <a:ext uri="{FF2B5EF4-FFF2-40B4-BE49-F238E27FC236}">
                    <a16:creationId xmlns:a16="http://schemas.microsoft.com/office/drawing/2014/main" id="{7048439E-65EA-4BDD-A4AE-43991BCD396E}"/>
                  </a:ext>
                </a:extLst>
              </p:cNvPr>
              <p:cNvSpPr txBox="1"/>
              <p:nvPr/>
            </p:nvSpPr>
            <p:spPr>
              <a:xfrm>
                <a:off x="7414154" y="2867044"/>
                <a:ext cx="1460639" cy="369332"/>
              </a:xfrm>
              <a:prstGeom prst="rect">
                <a:avLst/>
              </a:prstGeom>
              <a:noFill/>
            </p:spPr>
            <p:txBody>
              <a:bodyPr wrap="square" rtlCol="0">
                <a:spAutoFit/>
              </a:bodyPr>
              <a:lstStyle/>
              <a:p>
                <a:pPr algn="ctr"/>
                <a:r>
                  <a:rPr lang="es-CO" b="1" dirty="0">
                    <a:solidFill>
                      <a:srgbClr val="002060"/>
                    </a:solidFill>
                    <a:latin typeface="Roboto" panose="02000000000000000000" pitchFamily="2" charset="0"/>
                    <a:ea typeface="Roboto" panose="02000000000000000000" pitchFamily="2" charset="0"/>
                  </a:rPr>
                  <a:t>Conclusión</a:t>
                </a:r>
              </a:p>
            </p:txBody>
          </p:sp>
          <p:sp>
            <p:nvSpPr>
              <p:cNvPr id="40" name="Abrir llave 39">
                <a:extLst>
                  <a:ext uri="{FF2B5EF4-FFF2-40B4-BE49-F238E27FC236}">
                    <a16:creationId xmlns:a16="http://schemas.microsoft.com/office/drawing/2014/main" id="{36BE0EDA-F9DC-484A-A66C-906DA0ABEC67}"/>
                  </a:ext>
                </a:extLst>
              </p:cNvPr>
              <p:cNvSpPr/>
              <p:nvPr/>
            </p:nvSpPr>
            <p:spPr>
              <a:xfrm rot="5400000">
                <a:off x="8011955" y="2803842"/>
                <a:ext cx="265038" cy="1178524"/>
              </a:xfrm>
              <a:prstGeom prst="leftBrace">
                <a:avLst>
                  <a:gd name="adj1" fmla="val 24066"/>
                  <a:gd name="adj2" fmla="val 50000"/>
                </a:avLst>
              </a:prstGeom>
              <a:ln w="28575">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dirty="0"/>
              </a:p>
            </p:txBody>
          </p:sp>
        </p:grpSp>
      </p:grpSp>
    </p:spTree>
    <p:extLst>
      <p:ext uri="{BB962C8B-B14F-4D97-AF65-F5344CB8AC3E}">
        <p14:creationId xmlns:p14="http://schemas.microsoft.com/office/powerpoint/2010/main" val="18238271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614354" y="96038"/>
            <a:ext cx="11122689"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Validación de argumentos – Tablas de verdad</a:t>
            </a:r>
            <a:endParaRPr dirty="0">
              <a:solidFill>
                <a:schemeClr val="tx1"/>
              </a:solidFill>
              <a:latin typeface="+mn-lt"/>
            </a:endParaRPr>
          </a:p>
        </p:txBody>
      </p:sp>
      <mc:AlternateContent xmlns:mc="http://schemas.openxmlformats.org/markup-compatibility/2006" xmlns:a14="http://schemas.microsoft.com/office/drawing/2010/main">
        <mc:Choice Requires="a14">
          <p:graphicFrame>
            <p:nvGraphicFramePr>
              <p:cNvPr id="14" name="Tabla 4">
                <a:extLst>
                  <a:ext uri="{FF2B5EF4-FFF2-40B4-BE49-F238E27FC236}">
                    <a16:creationId xmlns:a16="http://schemas.microsoft.com/office/drawing/2014/main" id="{A83C7222-0883-428B-8FD4-F96A70091B73}"/>
                  </a:ext>
                </a:extLst>
              </p:cNvPr>
              <p:cNvGraphicFramePr>
                <a:graphicFrameLocks noGrp="1"/>
              </p:cNvGraphicFramePr>
              <p:nvPr>
                <p:extLst>
                  <p:ext uri="{D42A27DB-BD31-4B8C-83A1-F6EECF244321}">
                    <p14:modId xmlns:p14="http://schemas.microsoft.com/office/powerpoint/2010/main" val="3869918771"/>
                  </p:ext>
                </p:extLst>
              </p:nvPr>
            </p:nvGraphicFramePr>
            <p:xfrm>
              <a:off x="676583" y="2661671"/>
              <a:ext cx="8160822" cy="3566160"/>
            </p:xfrm>
            <a:graphic>
              <a:graphicData uri="http://schemas.openxmlformats.org/drawingml/2006/table">
                <a:tbl>
                  <a:tblPr firstRow="1" bandRow="1">
                    <a:tableStyleId>{AD6A3598-7CB8-4345-8D95-17CE05F158A0}</a:tableStyleId>
                  </a:tblPr>
                  <a:tblGrid>
                    <a:gridCol w="364918">
                      <a:extLst>
                        <a:ext uri="{9D8B030D-6E8A-4147-A177-3AD203B41FA5}">
                          <a16:colId xmlns:a16="http://schemas.microsoft.com/office/drawing/2014/main" val="776375974"/>
                        </a:ext>
                      </a:extLst>
                    </a:gridCol>
                    <a:gridCol w="356077">
                      <a:extLst>
                        <a:ext uri="{9D8B030D-6E8A-4147-A177-3AD203B41FA5}">
                          <a16:colId xmlns:a16="http://schemas.microsoft.com/office/drawing/2014/main" val="384604534"/>
                        </a:ext>
                      </a:extLst>
                    </a:gridCol>
                    <a:gridCol w="356077">
                      <a:extLst>
                        <a:ext uri="{9D8B030D-6E8A-4147-A177-3AD203B41FA5}">
                          <a16:colId xmlns:a16="http://schemas.microsoft.com/office/drawing/2014/main" val="79869298"/>
                        </a:ext>
                      </a:extLst>
                    </a:gridCol>
                    <a:gridCol w="573405">
                      <a:extLst>
                        <a:ext uri="{9D8B030D-6E8A-4147-A177-3AD203B41FA5}">
                          <a16:colId xmlns:a16="http://schemas.microsoft.com/office/drawing/2014/main" val="1627128528"/>
                        </a:ext>
                      </a:extLst>
                    </a:gridCol>
                    <a:gridCol w="995871">
                      <a:extLst>
                        <a:ext uri="{9D8B030D-6E8A-4147-A177-3AD203B41FA5}">
                          <a16:colId xmlns:a16="http://schemas.microsoft.com/office/drawing/2014/main" val="3636147316"/>
                        </a:ext>
                      </a:extLst>
                    </a:gridCol>
                    <a:gridCol w="808545">
                      <a:extLst>
                        <a:ext uri="{9D8B030D-6E8A-4147-A177-3AD203B41FA5}">
                          <a16:colId xmlns:a16="http://schemas.microsoft.com/office/drawing/2014/main" val="1883770935"/>
                        </a:ext>
                      </a:extLst>
                    </a:gridCol>
                    <a:gridCol w="1506855">
                      <a:extLst>
                        <a:ext uri="{9D8B030D-6E8A-4147-A177-3AD203B41FA5}">
                          <a16:colId xmlns:a16="http://schemas.microsoft.com/office/drawing/2014/main" val="4031458888"/>
                        </a:ext>
                      </a:extLst>
                    </a:gridCol>
                    <a:gridCol w="1486389">
                      <a:extLst>
                        <a:ext uri="{9D8B030D-6E8A-4147-A177-3AD203B41FA5}">
                          <a16:colId xmlns:a16="http://schemas.microsoft.com/office/drawing/2014/main" val="3413420708"/>
                        </a:ext>
                      </a:extLst>
                    </a:gridCol>
                    <a:gridCol w="1712685">
                      <a:extLst>
                        <a:ext uri="{9D8B030D-6E8A-4147-A177-3AD203B41FA5}">
                          <a16:colId xmlns:a16="http://schemas.microsoft.com/office/drawing/2014/main" val="1553787280"/>
                        </a:ext>
                      </a:extLst>
                    </a:gridCol>
                  </a:tblGrid>
                  <a:tr h="28617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Roboto" panose="02000000000000000000" pitchFamily="2" charset="0"/>
                                  </a:rPr>
                                  <m:t>𝒑</m:t>
                                </m:r>
                              </m:oMath>
                            </m:oMathPara>
                          </a14:m>
                          <a:endParaRPr lang="es-CO" sz="2000" b="1" dirty="0">
                            <a:latin typeface="Roboto" panose="02000000000000000000" pitchFamily="2" charset="0"/>
                            <a:ea typeface="Roboto" panose="02000000000000000000" pitchFamily="2" charset="0"/>
                          </a:endParaRPr>
                        </a:p>
                      </a:txBody>
                      <a:tcPr anchor="ctr">
                        <a:lnB w="1905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Roboto" panose="02000000000000000000" pitchFamily="2" charset="0"/>
                                  </a:rPr>
                                  <m:t>𝒒</m:t>
                                </m:r>
                              </m:oMath>
                            </m:oMathPara>
                          </a14:m>
                          <a:endParaRPr lang="es-CO" sz="2000" b="1" dirty="0">
                            <a:latin typeface="Roboto" panose="02000000000000000000" pitchFamily="2" charset="0"/>
                            <a:ea typeface="Roboto" panose="02000000000000000000" pitchFamily="2" charset="0"/>
                          </a:endParaRPr>
                        </a:p>
                      </a:txBody>
                      <a:tcPr anchor="ctr">
                        <a:lnB w="1905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rPr>
                                  <m:t>𝒓</m:t>
                                </m:r>
                              </m:oMath>
                            </m:oMathPara>
                          </a14:m>
                          <a:endParaRPr lang="es-CO" sz="2000" b="1" dirty="0">
                            <a:latin typeface="Roboto" panose="02000000000000000000" pitchFamily="2" charset="0"/>
                            <a:ea typeface="Roboto" panose="02000000000000000000" pitchFamily="2" charset="0"/>
                          </a:endParaRPr>
                        </a:p>
                      </a:txBody>
                      <a:tcPr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𝒓</m:t>
                                </m:r>
                              </m:oMath>
                            </m:oMathPara>
                          </a14:m>
                          <a:endParaRPr lang="es-CO" sz="2000" b="1" dirty="0">
                            <a:latin typeface="Roboto" panose="02000000000000000000" pitchFamily="2" charset="0"/>
                            <a:ea typeface="Roboto" panose="02000000000000000000" pitchFamily="2" charset="0"/>
                          </a:endParaRPr>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rPr>
                                  <m:t>𝒒</m:t>
                                </m:r>
                                <m:r>
                                  <a:rPr lang="es-MX" sz="2000" b="1" i="1">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𝒓</m:t>
                                </m:r>
                              </m:oMath>
                            </m:oMathPara>
                          </a14:m>
                          <a:endParaRPr lang="es-MX" sz="2000" b="1" dirty="0"/>
                        </a:p>
                      </a:txBody>
                      <a:tcPr anchor="ctr">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Cambria Math" panose="02040503050406030204" pitchFamily="18" charset="0"/>
                                  </a:rPr>
                                  <m:t>𝒑</m:t>
                                </m:r>
                                <m:r>
                                  <a:rPr lang="es-MX" sz="2000" b="1"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rPr>
                                  <m:t>𝒓</m:t>
                                </m:r>
                              </m:oMath>
                            </m:oMathPara>
                          </a14:m>
                          <a:endParaRPr lang="es-MX" sz="2000" b="1" dirty="0"/>
                        </a:p>
                      </a:txBody>
                      <a:tcPr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rPr>
                                  <m:t>𝒑</m:t>
                                </m:r>
                                <m:r>
                                  <a:rPr lang="es-MX" sz="2000" b="1" i="1" smtClean="0">
                                    <a:latin typeface="Cambria Math" panose="02040503050406030204" pitchFamily="18" charset="0"/>
                                  </a:rPr>
                                  <m:t>→</m:t>
                                </m:r>
                                <m:r>
                                  <a:rPr lang="es-MX" sz="2000" b="1" i="1" smtClean="0">
                                    <a:latin typeface="Cambria Math" panose="02040503050406030204" pitchFamily="18" charset="0"/>
                                  </a:rPr>
                                  <m:t>𝒒</m:t>
                                </m:r>
                                <m:r>
                                  <a:rPr lang="es-MX" sz="2000" b="1" i="1">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𝒓</m:t>
                                </m:r>
                              </m:oMath>
                            </m:oMathPara>
                          </a14:m>
                          <a:endParaRPr lang="es-MX" sz="2000" b="1" dirty="0"/>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Cambria Math" panose="02040503050406030204" pitchFamily="18" charset="0"/>
                                  </a:rPr>
                                  <m:t>𝒒</m:t>
                                </m:r>
                                <m:r>
                                  <a:rPr lang="es-MX" sz="2000" b="1" i="1">
                                    <a:latin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𝒑</m:t>
                                </m:r>
                                <m:r>
                                  <a:rPr lang="es-MX" sz="2000" b="1"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rPr>
                                  <m:t>𝒓</m:t>
                                </m:r>
                              </m:oMath>
                            </m:oMathPara>
                          </a14:m>
                          <a:endParaRPr lang="es-MX" sz="2000" b="1" dirty="0"/>
                        </a:p>
                      </a:txBody>
                      <a:tcPr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Cambria Math" panose="02040503050406030204" pitchFamily="18" charset="0"/>
                                  </a:rPr>
                                  <m:t>𝒑</m:t>
                                </m:r>
                                <m:r>
                                  <a:rPr lang="es-MX" sz="2000" b="1"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𝒓</m:t>
                                </m:r>
                              </m:oMath>
                            </m:oMathPara>
                          </a14:m>
                          <a:endParaRPr lang="es-MX" sz="2000" b="1" dirty="0"/>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3670299"/>
                      </a:ext>
                    </a:extLst>
                  </a:tr>
                  <a:tr h="31891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T w="19050" cap="flat" cmpd="sng" algn="ctr">
                          <a:solidFill>
                            <a:schemeClr val="tx1"/>
                          </a:solidFill>
                          <a:prstDash val="solid"/>
                          <a:round/>
                          <a:headEnd type="none" w="med" len="med"/>
                          <a:tailEnd type="none" w="med" len="med"/>
                        </a:lnT>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T w="19050" cap="flat" cmpd="sng" algn="ctr">
                          <a:solidFill>
                            <a:schemeClr val="tx1"/>
                          </a:solidFill>
                          <a:prstDash val="solid"/>
                          <a:round/>
                          <a:headEnd type="none" w="med" len="med"/>
                          <a:tailEnd type="none" w="med" len="med"/>
                        </a:lnT>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T w="19050" cap="flat" cmpd="sng" algn="ctr">
                          <a:solidFill>
                            <a:schemeClr val="tx1"/>
                          </a:solidFill>
                          <a:prstDash val="solid"/>
                          <a:round/>
                          <a:headEnd type="none" w="med" len="med"/>
                          <a:tailEnd type="none" w="med" len="med"/>
                        </a:lnT>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solidFill>
                          <a:schemeClr val="accent6">
                            <a:lumMod val="20000"/>
                            <a:lumOff val="80000"/>
                          </a:schemeClr>
                        </a:solidFill>
                      </a:tcPr>
                    </a:tc>
                    <a:extLst>
                      <a:ext uri="{0D108BD9-81ED-4DB2-BD59-A6C34878D82A}">
                        <a16:rowId xmlns:a16="http://schemas.microsoft.com/office/drawing/2014/main" val="1805549228"/>
                      </a:ext>
                    </a:extLst>
                  </a:tr>
                  <a:tr h="286174">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accent6">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accent6">
                            <a:lumMod val="20000"/>
                            <a:lumOff val="80000"/>
                          </a:schemeClr>
                        </a:solidFill>
                      </a:tcPr>
                    </a:tc>
                    <a:extLst>
                      <a:ext uri="{0D108BD9-81ED-4DB2-BD59-A6C34878D82A}">
                        <a16:rowId xmlns:a16="http://schemas.microsoft.com/office/drawing/2014/main" val="2353127006"/>
                      </a:ext>
                    </a:extLst>
                  </a:tr>
                  <a:tr h="28617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3651764017"/>
                      </a:ext>
                    </a:extLst>
                  </a:tr>
                  <a:tr h="286174">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2841338906"/>
                      </a:ext>
                    </a:extLst>
                  </a:tr>
                  <a:tr h="286174">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0</m:t>
                                </m:r>
                              </m:oMath>
                            </m:oMathPara>
                          </a14:m>
                          <a:endParaRPr lang="es-CO" sz="2000" dirty="0">
                            <a:solidFill>
                              <a:schemeClr val="tx1"/>
                            </a:solidFill>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accent2">
                            <a:lumMod val="20000"/>
                            <a:lumOff val="80000"/>
                          </a:schemeClr>
                        </a:solidFill>
                      </a:tcPr>
                    </a:tc>
                    <a:extLst>
                      <a:ext uri="{0D108BD9-81ED-4DB2-BD59-A6C34878D82A}">
                        <a16:rowId xmlns:a16="http://schemas.microsoft.com/office/drawing/2014/main" val="1632356540"/>
                      </a:ext>
                    </a:extLst>
                  </a:tr>
                  <a:tr h="286174">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2671630554"/>
                      </a:ext>
                    </a:extLst>
                  </a:tr>
                  <a:tr h="286174">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17604333"/>
                      </a:ext>
                    </a:extLst>
                  </a:tr>
                  <a:tr h="286174">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accent6">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accent6">
                            <a:lumMod val="20000"/>
                            <a:lumOff val="80000"/>
                          </a:schemeClr>
                        </a:solidFill>
                      </a:tcPr>
                    </a:tc>
                    <a:extLst>
                      <a:ext uri="{0D108BD9-81ED-4DB2-BD59-A6C34878D82A}">
                        <a16:rowId xmlns:a16="http://schemas.microsoft.com/office/drawing/2014/main" val="768255264"/>
                      </a:ext>
                    </a:extLst>
                  </a:tr>
                </a:tbl>
              </a:graphicData>
            </a:graphic>
          </p:graphicFrame>
        </mc:Choice>
        <mc:Fallback xmlns="">
          <p:graphicFrame>
            <p:nvGraphicFramePr>
              <p:cNvPr id="14" name="Tabla 4">
                <a:extLst>
                  <a:ext uri="{FF2B5EF4-FFF2-40B4-BE49-F238E27FC236}">
                    <a16:creationId xmlns:a16="http://schemas.microsoft.com/office/drawing/2014/main" id="{A83C7222-0883-428B-8FD4-F96A70091B73}"/>
                  </a:ext>
                </a:extLst>
              </p:cNvPr>
              <p:cNvGraphicFramePr>
                <a:graphicFrameLocks noGrp="1"/>
              </p:cNvGraphicFramePr>
              <p:nvPr>
                <p:extLst>
                  <p:ext uri="{D42A27DB-BD31-4B8C-83A1-F6EECF244321}">
                    <p14:modId xmlns:p14="http://schemas.microsoft.com/office/powerpoint/2010/main" val="3869918771"/>
                  </p:ext>
                </p:extLst>
              </p:nvPr>
            </p:nvGraphicFramePr>
            <p:xfrm>
              <a:off x="676583" y="2661671"/>
              <a:ext cx="8160822" cy="3566160"/>
            </p:xfrm>
            <a:graphic>
              <a:graphicData uri="http://schemas.openxmlformats.org/drawingml/2006/table">
                <a:tbl>
                  <a:tblPr firstRow="1" bandRow="1">
                    <a:tableStyleId>{AD6A3598-7CB8-4345-8D95-17CE05F158A0}</a:tableStyleId>
                  </a:tblPr>
                  <a:tblGrid>
                    <a:gridCol w="364918">
                      <a:extLst>
                        <a:ext uri="{9D8B030D-6E8A-4147-A177-3AD203B41FA5}">
                          <a16:colId xmlns:a16="http://schemas.microsoft.com/office/drawing/2014/main" val="776375974"/>
                        </a:ext>
                      </a:extLst>
                    </a:gridCol>
                    <a:gridCol w="356077">
                      <a:extLst>
                        <a:ext uri="{9D8B030D-6E8A-4147-A177-3AD203B41FA5}">
                          <a16:colId xmlns:a16="http://schemas.microsoft.com/office/drawing/2014/main" val="384604534"/>
                        </a:ext>
                      </a:extLst>
                    </a:gridCol>
                    <a:gridCol w="356077">
                      <a:extLst>
                        <a:ext uri="{9D8B030D-6E8A-4147-A177-3AD203B41FA5}">
                          <a16:colId xmlns:a16="http://schemas.microsoft.com/office/drawing/2014/main" val="79869298"/>
                        </a:ext>
                      </a:extLst>
                    </a:gridCol>
                    <a:gridCol w="573405">
                      <a:extLst>
                        <a:ext uri="{9D8B030D-6E8A-4147-A177-3AD203B41FA5}">
                          <a16:colId xmlns:a16="http://schemas.microsoft.com/office/drawing/2014/main" val="1627128528"/>
                        </a:ext>
                      </a:extLst>
                    </a:gridCol>
                    <a:gridCol w="995871">
                      <a:extLst>
                        <a:ext uri="{9D8B030D-6E8A-4147-A177-3AD203B41FA5}">
                          <a16:colId xmlns:a16="http://schemas.microsoft.com/office/drawing/2014/main" val="3636147316"/>
                        </a:ext>
                      </a:extLst>
                    </a:gridCol>
                    <a:gridCol w="808545">
                      <a:extLst>
                        <a:ext uri="{9D8B030D-6E8A-4147-A177-3AD203B41FA5}">
                          <a16:colId xmlns:a16="http://schemas.microsoft.com/office/drawing/2014/main" val="1883770935"/>
                        </a:ext>
                      </a:extLst>
                    </a:gridCol>
                    <a:gridCol w="1506855">
                      <a:extLst>
                        <a:ext uri="{9D8B030D-6E8A-4147-A177-3AD203B41FA5}">
                          <a16:colId xmlns:a16="http://schemas.microsoft.com/office/drawing/2014/main" val="4031458888"/>
                        </a:ext>
                      </a:extLst>
                    </a:gridCol>
                    <a:gridCol w="1486389">
                      <a:extLst>
                        <a:ext uri="{9D8B030D-6E8A-4147-A177-3AD203B41FA5}">
                          <a16:colId xmlns:a16="http://schemas.microsoft.com/office/drawing/2014/main" val="3413420708"/>
                        </a:ext>
                      </a:extLst>
                    </a:gridCol>
                    <a:gridCol w="1712685">
                      <a:extLst>
                        <a:ext uri="{9D8B030D-6E8A-4147-A177-3AD203B41FA5}">
                          <a16:colId xmlns:a16="http://schemas.microsoft.com/office/drawing/2014/main" val="1553787280"/>
                        </a:ext>
                      </a:extLst>
                    </a:gridCol>
                  </a:tblGrid>
                  <a:tr h="396240">
                    <a:tc>
                      <a:txBody>
                        <a:bodyPr/>
                        <a:lstStyle/>
                        <a:p>
                          <a:endParaRPr lang="es-CO"/>
                        </a:p>
                      </a:txBody>
                      <a:tcPr anchor="ctr">
                        <a:lnB w="19050" cap="flat" cmpd="sng" algn="ctr">
                          <a:solidFill>
                            <a:schemeClr val="tx1"/>
                          </a:solidFill>
                          <a:prstDash val="solid"/>
                          <a:round/>
                          <a:headEnd type="none" w="med" len="med"/>
                          <a:tailEnd type="none" w="med" len="med"/>
                        </a:lnB>
                        <a:blipFill>
                          <a:blip r:embed="rId3"/>
                          <a:stretch>
                            <a:fillRect t="-1538" r="-2138333" b="-804615"/>
                          </a:stretch>
                        </a:blipFill>
                      </a:tcPr>
                    </a:tc>
                    <a:tc>
                      <a:txBody>
                        <a:bodyPr/>
                        <a:lstStyle/>
                        <a:p>
                          <a:endParaRPr lang="es-CO"/>
                        </a:p>
                      </a:txBody>
                      <a:tcPr anchor="ctr">
                        <a:lnB w="19050" cap="flat" cmpd="sng" algn="ctr">
                          <a:solidFill>
                            <a:schemeClr val="tx1"/>
                          </a:solidFill>
                          <a:prstDash val="solid"/>
                          <a:round/>
                          <a:headEnd type="none" w="med" len="med"/>
                          <a:tailEnd type="none" w="med" len="med"/>
                        </a:lnB>
                        <a:blipFill>
                          <a:blip r:embed="rId3"/>
                          <a:stretch>
                            <a:fillRect l="-103448" t="-1538" r="-2112069" b="-804615"/>
                          </a:stretch>
                        </a:blipFill>
                      </a:tcPr>
                    </a:tc>
                    <a:tc>
                      <a:txBody>
                        <a:bodyPr/>
                        <a:lstStyle/>
                        <a:p>
                          <a:endParaRPr lang="es-CO"/>
                        </a:p>
                      </a:txBody>
                      <a:tcPr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blipFill>
                          <a:blip r:embed="rId3"/>
                          <a:stretch>
                            <a:fillRect l="-200000" t="-1538" r="-1976271" b="-804615"/>
                          </a:stretch>
                        </a:blipFill>
                      </a:tcPr>
                    </a:tc>
                    <a:tc>
                      <a:txBody>
                        <a:bodyPr/>
                        <a:lstStyle/>
                        <a:p>
                          <a:endParaRPr lang="es-CO"/>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blipFill>
                          <a:blip r:embed="rId3"/>
                          <a:stretch>
                            <a:fillRect l="-188298" t="-1538" r="-1140426" b="-804615"/>
                          </a:stretch>
                        </a:blipFill>
                      </a:tcPr>
                    </a:tc>
                    <a:tc>
                      <a:txBody>
                        <a:bodyPr/>
                        <a:lstStyle/>
                        <a:p>
                          <a:endParaRPr lang="es-CO"/>
                        </a:p>
                      </a:txBody>
                      <a:tcPr anchor="ctr">
                        <a:lnB w="19050" cap="flat" cmpd="sng" algn="ctr">
                          <a:solidFill>
                            <a:schemeClr val="tx1"/>
                          </a:solidFill>
                          <a:prstDash val="solid"/>
                          <a:round/>
                          <a:headEnd type="none" w="med" len="med"/>
                          <a:tailEnd type="none" w="med" len="med"/>
                        </a:lnB>
                        <a:blipFill>
                          <a:blip r:embed="rId3"/>
                          <a:stretch>
                            <a:fillRect l="-165244" t="-1538" r="-553659" b="-804615"/>
                          </a:stretch>
                        </a:blipFill>
                      </a:tcPr>
                    </a:tc>
                    <a:tc>
                      <a:txBody>
                        <a:bodyPr/>
                        <a:lstStyle/>
                        <a:p>
                          <a:endParaRPr lang="es-CO"/>
                        </a:p>
                      </a:txBody>
                      <a:tcPr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blipFill>
                          <a:blip r:embed="rId3"/>
                          <a:stretch>
                            <a:fillRect l="-329545" t="-1538" r="-587879" b="-804615"/>
                          </a:stretch>
                        </a:blipFill>
                      </a:tcPr>
                    </a:tc>
                    <a:tc>
                      <a:txBody>
                        <a:bodyPr/>
                        <a:lstStyle/>
                        <a:p>
                          <a:endParaRPr lang="es-CO"/>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blipFill>
                          <a:blip r:embed="rId3"/>
                          <a:stretch>
                            <a:fillRect l="-228629" t="-1538" r="-212903" b="-804615"/>
                          </a:stretch>
                        </a:blipFill>
                      </a:tcPr>
                    </a:tc>
                    <a:tc>
                      <a:txBody>
                        <a:bodyPr/>
                        <a:lstStyle/>
                        <a:p>
                          <a:endParaRPr lang="es-CO"/>
                        </a:p>
                      </a:txBody>
                      <a:tcPr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blipFill>
                          <a:blip r:embed="rId3"/>
                          <a:stretch>
                            <a:fillRect l="-334016" t="-1538" r="-116393" b="-804615"/>
                          </a:stretch>
                        </a:blipFill>
                      </a:tcPr>
                    </a:tc>
                    <a:tc>
                      <a:txBody>
                        <a:bodyPr/>
                        <a:lstStyle/>
                        <a:p>
                          <a:endParaRPr lang="es-CO"/>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blipFill>
                          <a:blip r:embed="rId3"/>
                          <a:stretch>
                            <a:fillRect l="-376868" t="-1538" r="-1068" b="-804615"/>
                          </a:stretch>
                        </a:blipFill>
                      </a:tcPr>
                    </a:tc>
                    <a:extLst>
                      <a:ext uri="{0D108BD9-81ED-4DB2-BD59-A6C34878D82A}">
                        <a16:rowId xmlns:a16="http://schemas.microsoft.com/office/drawing/2014/main" val="113670299"/>
                      </a:ext>
                    </a:extLst>
                  </a:tr>
                  <a:tr h="396240">
                    <a:tc>
                      <a:txBody>
                        <a:bodyPr/>
                        <a:lstStyle/>
                        <a:p>
                          <a:endParaRPr lang="es-CO"/>
                        </a:p>
                      </a:txBody>
                      <a:tcPr>
                        <a:lnT w="19050" cap="flat" cmpd="sng" algn="ctr">
                          <a:solidFill>
                            <a:schemeClr val="tx1"/>
                          </a:solidFill>
                          <a:prstDash val="solid"/>
                          <a:round/>
                          <a:headEnd type="none" w="med" len="med"/>
                          <a:tailEnd type="none" w="med" len="med"/>
                        </a:lnT>
                        <a:blipFill>
                          <a:blip r:embed="rId3"/>
                          <a:stretch>
                            <a:fillRect t="-101538" r="-2138333" b="-704615"/>
                          </a:stretch>
                        </a:blipFill>
                      </a:tcPr>
                    </a:tc>
                    <a:tc>
                      <a:txBody>
                        <a:bodyPr/>
                        <a:lstStyle/>
                        <a:p>
                          <a:endParaRPr lang="es-CO"/>
                        </a:p>
                      </a:txBody>
                      <a:tcPr>
                        <a:lnT w="19050" cap="flat" cmpd="sng" algn="ctr">
                          <a:solidFill>
                            <a:schemeClr val="tx1"/>
                          </a:solidFill>
                          <a:prstDash val="solid"/>
                          <a:round/>
                          <a:headEnd type="none" w="med" len="med"/>
                          <a:tailEnd type="none" w="med" len="med"/>
                        </a:lnT>
                        <a:blipFill>
                          <a:blip r:embed="rId3"/>
                          <a:stretch>
                            <a:fillRect l="-103448" t="-101538" r="-2112069" b="-704615"/>
                          </a:stretch>
                        </a:blipFill>
                      </a:tcPr>
                    </a:tc>
                    <a:tc>
                      <a:txBody>
                        <a:bodyPr/>
                        <a:lstStyle/>
                        <a:p>
                          <a:endParaRPr lang="es-CO"/>
                        </a:p>
                      </a:txBody>
                      <a:tcP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blipFill>
                          <a:blip r:embed="rId3"/>
                          <a:stretch>
                            <a:fillRect l="-200000" t="-101538" r="-1976271" b="-704615"/>
                          </a:stretch>
                        </a:blipFill>
                      </a:tcPr>
                    </a:tc>
                    <a:tc>
                      <a:txBody>
                        <a:bodyPr/>
                        <a:lstStyle/>
                        <a:p>
                          <a:endParaRPr lang="es-CO"/>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blipFill>
                          <a:blip r:embed="rId3"/>
                          <a:stretch>
                            <a:fillRect l="-188298" t="-101538" r="-1140426" b="-704615"/>
                          </a:stretch>
                        </a:blipFill>
                      </a:tcPr>
                    </a:tc>
                    <a:tc>
                      <a:txBody>
                        <a:bodyPr/>
                        <a:lstStyle/>
                        <a:p>
                          <a:endParaRPr lang="es-CO"/>
                        </a:p>
                      </a:txBody>
                      <a:tcPr>
                        <a:lnT w="19050" cap="flat" cmpd="sng" algn="ctr">
                          <a:solidFill>
                            <a:schemeClr val="tx1"/>
                          </a:solidFill>
                          <a:prstDash val="solid"/>
                          <a:round/>
                          <a:headEnd type="none" w="med" len="med"/>
                          <a:tailEnd type="none" w="med" len="med"/>
                        </a:lnT>
                        <a:blipFill>
                          <a:blip r:embed="rId3"/>
                          <a:stretch>
                            <a:fillRect l="-165244" t="-101538" r="-553659" b="-704615"/>
                          </a:stretch>
                        </a:blipFill>
                      </a:tcPr>
                    </a:tc>
                    <a:tc>
                      <a:txBody>
                        <a:bodyPr/>
                        <a:lstStyle/>
                        <a:p>
                          <a:endParaRPr lang="es-CO"/>
                        </a:p>
                      </a:txBody>
                      <a:tcP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blipFill>
                          <a:blip r:embed="rId3"/>
                          <a:stretch>
                            <a:fillRect l="-329545" t="-101538" r="-587879" b="-704615"/>
                          </a:stretch>
                        </a:blipFill>
                      </a:tcPr>
                    </a:tc>
                    <a:tc>
                      <a:txBody>
                        <a:bodyPr/>
                        <a:lstStyle/>
                        <a:p>
                          <a:endParaRPr lang="es-CO"/>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blipFill>
                          <a:blip r:embed="rId3"/>
                          <a:stretch>
                            <a:fillRect l="-228629" t="-101538" r="-212903" b="-704615"/>
                          </a:stretch>
                        </a:blipFill>
                      </a:tcPr>
                    </a:tc>
                    <a:tc>
                      <a:txBody>
                        <a:bodyPr/>
                        <a:lstStyle/>
                        <a:p>
                          <a:endParaRPr lang="es-CO"/>
                        </a:p>
                      </a:txBody>
                      <a:tcP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blipFill>
                          <a:blip r:embed="rId3"/>
                          <a:stretch>
                            <a:fillRect l="-334016" t="-101538" r="-116393" b="-704615"/>
                          </a:stretch>
                        </a:blipFill>
                      </a:tcPr>
                    </a:tc>
                    <a:tc>
                      <a:txBody>
                        <a:bodyPr/>
                        <a:lstStyle/>
                        <a:p>
                          <a:endParaRPr lang="es-CO"/>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blipFill>
                          <a:blip r:embed="rId3"/>
                          <a:stretch>
                            <a:fillRect l="-376868" t="-101538" r="-1068" b="-704615"/>
                          </a:stretch>
                        </a:blipFill>
                      </a:tcPr>
                    </a:tc>
                    <a:extLst>
                      <a:ext uri="{0D108BD9-81ED-4DB2-BD59-A6C34878D82A}">
                        <a16:rowId xmlns:a16="http://schemas.microsoft.com/office/drawing/2014/main" val="1805549228"/>
                      </a:ext>
                    </a:extLst>
                  </a:tr>
                  <a:tr h="396240">
                    <a:tc>
                      <a:txBody>
                        <a:bodyPr/>
                        <a:lstStyle/>
                        <a:p>
                          <a:endParaRPr lang="es-CO"/>
                        </a:p>
                      </a:txBody>
                      <a:tcPr>
                        <a:blipFill>
                          <a:blip r:embed="rId3"/>
                          <a:stretch>
                            <a:fillRect t="-201538" r="-2138333" b="-604615"/>
                          </a:stretch>
                        </a:blipFill>
                      </a:tcPr>
                    </a:tc>
                    <a:tc>
                      <a:txBody>
                        <a:bodyPr/>
                        <a:lstStyle/>
                        <a:p>
                          <a:endParaRPr lang="es-CO"/>
                        </a:p>
                      </a:txBody>
                      <a:tcPr>
                        <a:blipFill>
                          <a:blip r:embed="rId3"/>
                          <a:stretch>
                            <a:fillRect l="-103448" t="-201538" r="-2112069" b="-604615"/>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3"/>
                          <a:stretch>
                            <a:fillRect l="-200000" t="-201538" r="-1976271" b="-604615"/>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188298" t="-201538" r="-1140426" b="-604615"/>
                          </a:stretch>
                        </a:blipFill>
                      </a:tcPr>
                    </a:tc>
                    <a:tc>
                      <a:txBody>
                        <a:bodyPr/>
                        <a:lstStyle/>
                        <a:p>
                          <a:endParaRPr lang="es-CO"/>
                        </a:p>
                      </a:txBody>
                      <a:tcPr>
                        <a:blipFill>
                          <a:blip r:embed="rId3"/>
                          <a:stretch>
                            <a:fillRect l="-165244" t="-201538" r="-553659" b="-604615"/>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3"/>
                          <a:stretch>
                            <a:fillRect l="-329545" t="-201538" r="-587879" b="-604615"/>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228629" t="-201538" r="-212903" b="-604615"/>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3"/>
                          <a:stretch>
                            <a:fillRect l="-334016" t="-201538" r="-116393" b="-604615"/>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376868" t="-201538" r="-1068" b="-604615"/>
                          </a:stretch>
                        </a:blipFill>
                      </a:tcPr>
                    </a:tc>
                    <a:extLst>
                      <a:ext uri="{0D108BD9-81ED-4DB2-BD59-A6C34878D82A}">
                        <a16:rowId xmlns:a16="http://schemas.microsoft.com/office/drawing/2014/main" val="2353127006"/>
                      </a:ext>
                    </a:extLst>
                  </a:tr>
                  <a:tr h="396240">
                    <a:tc>
                      <a:txBody>
                        <a:bodyPr/>
                        <a:lstStyle/>
                        <a:p>
                          <a:endParaRPr lang="es-CO"/>
                        </a:p>
                      </a:txBody>
                      <a:tcPr>
                        <a:blipFill>
                          <a:blip r:embed="rId3"/>
                          <a:stretch>
                            <a:fillRect t="-301538" r="-2138333" b="-504615"/>
                          </a:stretch>
                        </a:blipFill>
                      </a:tcPr>
                    </a:tc>
                    <a:tc>
                      <a:txBody>
                        <a:bodyPr/>
                        <a:lstStyle/>
                        <a:p>
                          <a:endParaRPr lang="es-CO"/>
                        </a:p>
                      </a:txBody>
                      <a:tcPr>
                        <a:blipFill>
                          <a:blip r:embed="rId3"/>
                          <a:stretch>
                            <a:fillRect l="-103448" t="-301538" r="-2112069" b="-504615"/>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3"/>
                          <a:stretch>
                            <a:fillRect l="-200000" t="-301538" r="-1976271" b="-504615"/>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188298" t="-301538" r="-1140426" b="-504615"/>
                          </a:stretch>
                        </a:blipFill>
                      </a:tcPr>
                    </a:tc>
                    <a:tc>
                      <a:txBody>
                        <a:bodyPr/>
                        <a:lstStyle/>
                        <a:p>
                          <a:endParaRPr lang="es-CO"/>
                        </a:p>
                      </a:txBody>
                      <a:tcPr>
                        <a:blipFill>
                          <a:blip r:embed="rId3"/>
                          <a:stretch>
                            <a:fillRect l="-165244" t="-301538" r="-553659" b="-504615"/>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3"/>
                          <a:stretch>
                            <a:fillRect l="-329545" t="-301538" r="-587879" b="-504615"/>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228629" t="-301538" r="-212903" b="-504615"/>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3"/>
                          <a:stretch>
                            <a:fillRect l="-334016" t="-301538" r="-116393" b="-504615"/>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3651764017"/>
                      </a:ext>
                    </a:extLst>
                  </a:tr>
                  <a:tr h="396240">
                    <a:tc>
                      <a:txBody>
                        <a:bodyPr/>
                        <a:lstStyle/>
                        <a:p>
                          <a:endParaRPr lang="es-CO"/>
                        </a:p>
                      </a:txBody>
                      <a:tcPr>
                        <a:blipFill>
                          <a:blip r:embed="rId3"/>
                          <a:stretch>
                            <a:fillRect t="-395455" r="-2138333" b="-396970"/>
                          </a:stretch>
                        </a:blipFill>
                      </a:tcPr>
                    </a:tc>
                    <a:tc>
                      <a:txBody>
                        <a:bodyPr/>
                        <a:lstStyle/>
                        <a:p>
                          <a:endParaRPr lang="es-CO"/>
                        </a:p>
                      </a:txBody>
                      <a:tcPr>
                        <a:blipFill>
                          <a:blip r:embed="rId3"/>
                          <a:stretch>
                            <a:fillRect l="-103448" t="-395455" r="-2112069" b="-396970"/>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3"/>
                          <a:stretch>
                            <a:fillRect l="-200000" t="-395455" r="-1976271" b="-396970"/>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188298" t="-395455" r="-1140426" b="-396970"/>
                          </a:stretch>
                        </a:blipFill>
                      </a:tcPr>
                    </a:tc>
                    <a:tc>
                      <a:txBody>
                        <a:bodyPr/>
                        <a:lstStyle/>
                        <a:p>
                          <a:endParaRPr lang="es-CO"/>
                        </a:p>
                      </a:txBody>
                      <a:tcPr>
                        <a:blipFill>
                          <a:blip r:embed="rId3"/>
                          <a:stretch>
                            <a:fillRect l="-165244" t="-395455" r="-553659" b="-396970"/>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3"/>
                          <a:stretch>
                            <a:fillRect l="-329545" t="-395455" r="-587879" b="-396970"/>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228629" t="-395455" r="-212903" b="-396970"/>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3"/>
                          <a:stretch>
                            <a:fillRect l="-334016" t="-395455" r="-116393" b="-396970"/>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2841338906"/>
                      </a:ext>
                    </a:extLst>
                  </a:tr>
                  <a:tr h="396240">
                    <a:tc>
                      <a:txBody>
                        <a:bodyPr/>
                        <a:lstStyle/>
                        <a:p>
                          <a:endParaRPr lang="es-CO"/>
                        </a:p>
                      </a:txBody>
                      <a:tcPr>
                        <a:blipFill>
                          <a:blip r:embed="rId3"/>
                          <a:stretch>
                            <a:fillRect t="-503077" r="-2138333" b="-303077"/>
                          </a:stretch>
                        </a:blipFill>
                      </a:tcPr>
                    </a:tc>
                    <a:tc>
                      <a:txBody>
                        <a:bodyPr/>
                        <a:lstStyle/>
                        <a:p>
                          <a:endParaRPr lang="es-CO"/>
                        </a:p>
                      </a:txBody>
                      <a:tcPr>
                        <a:blipFill>
                          <a:blip r:embed="rId3"/>
                          <a:stretch>
                            <a:fillRect l="-103448" t="-503077" r="-2112069" b="-303077"/>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3"/>
                          <a:stretch>
                            <a:fillRect l="-200000" t="-503077" r="-1976271" b="-303077"/>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188298" t="-503077" r="-1140426" b="-303077"/>
                          </a:stretch>
                        </a:blipFill>
                      </a:tcPr>
                    </a:tc>
                    <a:tc>
                      <a:txBody>
                        <a:bodyPr/>
                        <a:lstStyle/>
                        <a:p>
                          <a:endParaRPr lang="es-CO"/>
                        </a:p>
                      </a:txBody>
                      <a:tcPr>
                        <a:blipFill>
                          <a:blip r:embed="rId3"/>
                          <a:stretch>
                            <a:fillRect l="-165244" t="-503077" r="-553659" b="-303077"/>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3"/>
                          <a:stretch>
                            <a:fillRect l="-329545" t="-503077" r="-587879" b="-303077"/>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228629" t="-503077" r="-212903" b="-303077"/>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3"/>
                          <a:stretch>
                            <a:fillRect l="-334016" t="-503077" r="-116393" b="-303077"/>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376868" t="-503077" r="-1068" b="-303077"/>
                          </a:stretch>
                        </a:blipFill>
                      </a:tcPr>
                    </a:tc>
                    <a:extLst>
                      <a:ext uri="{0D108BD9-81ED-4DB2-BD59-A6C34878D82A}">
                        <a16:rowId xmlns:a16="http://schemas.microsoft.com/office/drawing/2014/main" val="1632356540"/>
                      </a:ext>
                    </a:extLst>
                  </a:tr>
                  <a:tr h="396240">
                    <a:tc>
                      <a:txBody>
                        <a:bodyPr/>
                        <a:lstStyle/>
                        <a:p>
                          <a:endParaRPr lang="es-CO"/>
                        </a:p>
                      </a:txBody>
                      <a:tcPr>
                        <a:blipFill>
                          <a:blip r:embed="rId3"/>
                          <a:stretch>
                            <a:fillRect t="-603077" r="-2138333" b="-203077"/>
                          </a:stretch>
                        </a:blipFill>
                      </a:tcPr>
                    </a:tc>
                    <a:tc>
                      <a:txBody>
                        <a:bodyPr/>
                        <a:lstStyle/>
                        <a:p>
                          <a:endParaRPr lang="es-CO"/>
                        </a:p>
                      </a:txBody>
                      <a:tcPr>
                        <a:blipFill>
                          <a:blip r:embed="rId3"/>
                          <a:stretch>
                            <a:fillRect l="-103448" t="-603077" r="-2112069" b="-203077"/>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3"/>
                          <a:stretch>
                            <a:fillRect l="-200000" t="-603077" r="-1976271" b="-203077"/>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188298" t="-603077" r="-1140426" b="-203077"/>
                          </a:stretch>
                        </a:blipFill>
                      </a:tcPr>
                    </a:tc>
                    <a:tc>
                      <a:txBody>
                        <a:bodyPr/>
                        <a:lstStyle/>
                        <a:p>
                          <a:endParaRPr lang="es-CO"/>
                        </a:p>
                      </a:txBody>
                      <a:tcPr>
                        <a:blipFill>
                          <a:blip r:embed="rId3"/>
                          <a:stretch>
                            <a:fillRect l="-165244" t="-603077" r="-553659" b="-203077"/>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3"/>
                          <a:stretch>
                            <a:fillRect l="-329545" t="-603077" r="-587879" b="-203077"/>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228629" t="-603077" r="-212903" b="-203077"/>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3"/>
                          <a:stretch>
                            <a:fillRect l="-334016" t="-603077" r="-116393" b="-203077"/>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2671630554"/>
                      </a:ext>
                    </a:extLst>
                  </a:tr>
                  <a:tr h="396240">
                    <a:tc>
                      <a:txBody>
                        <a:bodyPr/>
                        <a:lstStyle/>
                        <a:p>
                          <a:endParaRPr lang="es-CO"/>
                        </a:p>
                      </a:txBody>
                      <a:tcPr>
                        <a:blipFill>
                          <a:blip r:embed="rId3"/>
                          <a:stretch>
                            <a:fillRect t="-703077" r="-2138333" b="-103077"/>
                          </a:stretch>
                        </a:blipFill>
                      </a:tcPr>
                    </a:tc>
                    <a:tc>
                      <a:txBody>
                        <a:bodyPr/>
                        <a:lstStyle/>
                        <a:p>
                          <a:endParaRPr lang="es-CO"/>
                        </a:p>
                      </a:txBody>
                      <a:tcPr>
                        <a:blipFill>
                          <a:blip r:embed="rId3"/>
                          <a:stretch>
                            <a:fillRect l="-103448" t="-703077" r="-2112069" b="-103077"/>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3"/>
                          <a:stretch>
                            <a:fillRect l="-200000" t="-703077" r="-1976271" b="-103077"/>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188298" t="-703077" r="-1140426" b="-103077"/>
                          </a:stretch>
                        </a:blipFill>
                      </a:tcPr>
                    </a:tc>
                    <a:tc>
                      <a:txBody>
                        <a:bodyPr/>
                        <a:lstStyle/>
                        <a:p>
                          <a:endParaRPr lang="es-CO"/>
                        </a:p>
                      </a:txBody>
                      <a:tcPr>
                        <a:blipFill>
                          <a:blip r:embed="rId3"/>
                          <a:stretch>
                            <a:fillRect l="-165244" t="-703077" r="-553659" b="-103077"/>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3"/>
                          <a:stretch>
                            <a:fillRect l="-329545" t="-703077" r="-587879" b="-103077"/>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228629" t="-703077" r="-212903" b="-103077"/>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3"/>
                          <a:stretch>
                            <a:fillRect l="-334016" t="-703077" r="-116393" b="-103077"/>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17604333"/>
                      </a:ext>
                    </a:extLst>
                  </a:tr>
                  <a:tr h="396240">
                    <a:tc>
                      <a:txBody>
                        <a:bodyPr/>
                        <a:lstStyle/>
                        <a:p>
                          <a:endParaRPr lang="es-CO"/>
                        </a:p>
                      </a:txBody>
                      <a:tcPr>
                        <a:blipFill>
                          <a:blip r:embed="rId3"/>
                          <a:stretch>
                            <a:fillRect t="-803077" r="-2138333" b="-3077"/>
                          </a:stretch>
                        </a:blipFill>
                      </a:tcPr>
                    </a:tc>
                    <a:tc>
                      <a:txBody>
                        <a:bodyPr/>
                        <a:lstStyle/>
                        <a:p>
                          <a:endParaRPr lang="es-CO"/>
                        </a:p>
                      </a:txBody>
                      <a:tcPr>
                        <a:blipFill>
                          <a:blip r:embed="rId3"/>
                          <a:stretch>
                            <a:fillRect l="-103448" t="-803077" r="-2112069" b="-3077"/>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3"/>
                          <a:stretch>
                            <a:fillRect l="-200000" t="-803077" r="-1976271" b="-3077"/>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188298" t="-803077" r="-1140426" b="-3077"/>
                          </a:stretch>
                        </a:blipFill>
                      </a:tcPr>
                    </a:tc>
                    <a:tc>
                      <a:txBody>
                        <a:bodyPr/>
                        <a:lstStyle/>
                        <a:p>
                          <a:endParaRPr lang="es-CO"/>
                        </a:p>
                      </a:txBody>
                      <a:tcPr>
                        <a:blipFill>
                          <a:blip r:embed="rId3"/>
                          <a:stretch>
                            <a:fillRect l="-165244" t="-803077" r="-553659" b="-3077"/>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3"/>
                          <a:stretch>
                            <a:fillRect l="-329545" t="-803077" r="-587879" b="-3077"/>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228629" t="-803077" r="-212903" b="-3077"/>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3"/>
                          <a:stretch>
                            <a:fillRect l="-334016" t="-803077" r="-116393" b="-3077"/>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376868" t="-803077" r="-1068" b="-3077"/>
                          </a:stretch>
                        </a:blipFill>
                      </a:tcPr>
                    </a:tc>
                    <a:extLst>
                      <a:ext uri="{0D108BD9-81ED-4DB2-BD59-A6C34878D82A}">
                        <a16:rowId xmlns:a16="http://schemas.microsoft.com/office/drawing/2014/main" val="768255264"/>
                      </a:ext>
                    </a:extLst>
                  </a:tr>
                </a:tbl>
              </a:graphicData>
            </a:graphic>
          </p:graphicFrame>
        </mc:Fallback>
      </mc:AlternateContent>
      <p:grpSp>
        <p:nvGrpSpPr>
          <p:cNvPr id="20" name="Grupo 19">
            <a:extLst>
              <a:ext uri="{FF2B5EF4-FFF2-40B4-BE49-F238E27FC236}">
                <a16:creationId xmlns:a16="http://schemas.microsoft.com/office/drawing/2014/main" id="{08846C2D-AA0F-4384-B2DD-0F35E7C72A88}"/>
              </a:ext>
            </a:extLst>
          </p:cNvPr>
          <p:cNvGrpSpPr/>
          <p:nvPr/>
        </p:nvGrpSpPr>
        <p:grpSpPr>
          <a:xfrm>
            <a:off x="4136570" y="1809713"/>
            <a:ext cx="4688115" cy="793600"/>
            <a:chOff x="4882577" y="2732024"/>
            <a:chExt cx="4174761" cy="793600"/>
          </a:xfrm>
        </p:grpSpPr>
        <p:grpSp>
          <p:nvGrpSpPr>
            <p:cNvPr id="7" name="Grupo 6">
              <a:extLst>
                <a:ext uri="{FF2B5EF4-FFF2-40B4-BE49-F238E27FC236}">
                  <a16:creationId xmlns:a16="http://schemas.microsoft.com/office/drawing/2014/main" id="{E9DCDEEC-169B-4E30-9906-F70F3C7CD1A0}"/>
                </a:ext>
              </a:extLst>
            </p:cNvPr>
            <p:cNvGrpSpPr/>
            <p:nvPr/>
          </p:nvGrpSpPr>
          <p:grpSpPr>
            <a:xfrm>
              <a:off x="4882577" y="2753425"/>
              <a:ext cx="2640441" cy="772199"/>
              <a:chOff x="4882577" y="2753425"/>
              <a:chExt cx="2640441" cy="772199"/>
            </a:xfrm>
          </p:grpSpPr>
          <p:sp>
            <p:nvSpPr>
              <p:cNvPr id="2" name="Abrir llave 1">
                <a:extLst>
                  <a:ext uri="{FF2B5EF4-FFF2-40B4-BE49-F238E27FC236}">
                    <a16:creationId xmlns:a16="http://schemas.microsoft.com/office/drawing/2014/main" id="{ECBD94B1-39C8-4E52-9563-EDB3BF32D6EB}"/>
                  </a:ext>
                </a:extLst>
              </p:cNvPr>
              <p:cNvSpPr/>
              <p:nvPr/>
            </p:nvSpPr>
            <p:spPr>
              <a:xfrm rot="5400000">
                <a:off x="6070278" y="2072883"/>
                <a:ext cx="265040" cy="2640441"/>
              </a:xfrm>
              <a:prstGeom prst="leftBrace">
                <a:avLst>
                  <a:gd name="adj1" fmla="val 24066"/>
                  <a:gd name="adj2" fmla="val 50000"/>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dirty="0"/>
              </a:p>
            </p:txBody>
          </p:sp>
          <p:sp>
            <p:nvSpPr>
              <p:cNvPr id="3" name="CuadroTexto 2">
                <a:extLst>
                  <a:ext uri="{FF2B5EF4-FFF2-40B4-BE49-F238E27FC236}">
                    <a16:creationId xmlns:a16="http://schemas.microsoft.com/office/drawing/2014/main" id="{D52355BE-B40D-4AE2-A9FC-F51897D84A88}"/>
                  </a:ext>
                </a:extLst>
              </p:cNvPr>
              <p:cNvSpPr txBox="1"/>
              <p:nvPr/>
            </p:nvSpPr>
            <p:spPr>
              <a:xfrm>
                <a:off x="5555562" y="2753425"/>
                <a:ext cx="1316546" cy="461665"/>
              </a:xfrm>
              <a:prstGeom prst="rect">
                <a:avLst/>
              </a:prstGeom>
              <a:noFill/>
            </p:spPr>
            <p:txBody>
              <a:bodyPr wrap="square" rtlCol="0">
                <a:spAutoFit/>
              </a:bodyPr>
              <a:lstStyle/>
              <a:p>
                <a:pPr algn="ctr"/>
                <a:r>
                  <a:rPr lang="es-CO" sz="2400" b="1" dirty="0">
                    <a:solidFill>
                      <a:srgbClr val="C00000"/>
                    </a:solidFill>
                    <a:ea typeface="Roboto" panose="02000000000000000000" pitchFamily="2" charset="0"/>
                  </a:rPr>
                  <a:t>Premisas</a:t>
                </a:r>
              </a:p>
            </p:txBody>
          </p:sp>
        </p:grpSp>
        <p:grpSp>
          <p:nvGrpSpPr>
            <p:cNvPr id="5" name="Grupo 4">
              <a:extLst>
                <a:ext uri="{FF2B5EF4-FFF2-40B4-BE49-F238E27FC236}">
                  <a16:creationId xmlns:a16="http://schemas.microsoft.com/office/drawing/2014/main" id="{55C93188-E3B9-4540-ADA8-118D9A73DB16}"/>
                </a:ext>
              </a:extLst>
            </p:cNvPr>
            <p:cNvGrpSpPr/>
            <p:nvPr/>
          </p:nvGrpSpPr>
          <p:grpSpPr>
            <a:xfrm>
              <a:off x="7555212" y="2732024"/>
              <a:ext cx="1502126" cy="773829"/>
              <a:chOff x="7555212" y="2732024"/>
              <a:chExt cx="1502126" cy="773829"/>
            </a:xfrm>
          </p:grpSpPr>
          <p:sp>
            <p:nvSpPr>
              <p:cNvPr id="17" name="CuadroTexto 16">
                <a:extLst>
                  <a:ext uri="{FF2B5EF4-FFF2-40B4-BE49-F238E27FC236}">
                    <a16:creationId xmlns:a16="http://schemas.microsoft.com/office/drawing/2014/main" id="{C816E8C6-9E79-4928-80AB-9871587A83BA}"/>
                  </a:ext>
                </a:extLst>
              </p:cNvPr>
              <p:cNvSpPr txBox="1"/>
              <p:nvPr/>
            </p:nvSpPr>
            <p:spPr>
              <a:xfrm>
                <a:off x="7575955" y="2732024"/>
                <a:ext cx="1460639" cy="461665"/>
              </a:xfrm>
              <a:prstGeom prst="rect">
                <a:avLst/>
              </a:prstGeom>
              <a:noFill/>
            </p:spPr>
            <p:txBody>
              <a:bodyPr wrap="square" rtlCol="0">
                <a:spAutoFit/>
              </a:bodyPr>
              <a:lstStyle/>
              <a:p>
                <a:pPr algn="ctr"/>
                <a:r>
                  <a:rPr lang="es-CO" sz="2400" b="1" dirty="0">
                    <a:solidFill>
                      <a:srgbClr val="002060"/>
                    </a:solidFill>
                    <a:ea typeface="Roboto" panose="02000000000000000000" pitchFamily="2" charset="0"/>
                  </a:rPr>
                  <a:t>Conclusión</a:t>
                </a:r>
              </a:p>
            </p:txBody>
          </p:sp>
          <p:sp>
            <p:nvSpPr>
              <p:cNvPr id="18" name="Abrir llave 17">
                <a:extLst>
                  <a:ext uri="{FF2B5EF4-FFF2-40B4-BE49-F238E27FC236}">
                    <a16:creationId xmlns:a16="http://schemas.microsoft.com/office/drawing/2014/main" id="{A4DA4F08-C557-4AA0-9CA4-82B754A05CC6}"/>
                  </a:ext>
                </a:extLst>
              </p:cNvPr>
              <p:cNvSpPr/>
              <p:nvPr/>
            </p:nvSpPr>
            <p:spPr>
              <a:xfrm rot="5400000">
                <a:off x="8183640" y="2632156"/>
                <a:ext cx="245269" cy="1502126"/>
              </a:xfrm>
              <a:prstGeom prst="leftBrace">
                <a:avLst>
                  <a:gd name="adj1" fmla="val 24066"/>
                  <a:gd name="adj2" fmla="val 50000"/>
                </a:avLst>
              </a:prstGeom>
              <a:ln w="28575">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dirty="0"/>
              </a:p>
            </p:txBody>
          </p:sp>
        </p:grpSp>
      </p:grpSp>
      <p:grpSp>
        <p:nvGrpSpPr>
          <p:cNvPr id="21" name="Grupo 20">
            <a:extLst>
              <a:ext uri="{FF2B5EF4-FFF2-40B4-BE49-F238E27FC236}">
                <a16:creationId xmlns:a16="http://schemas.microsoft.com/office/drawing/2014/main" id="{746340CA-1F5D-4507-AFAE-2B7A6B58DA73}"/>
              </a:ext>
            </a:extLst>
          </p:cNvPr>
          <p:cNvGrpSpPr/>
          <p:nvPr/>
        </p:nvGrpSpPr>
        <p:grpSpPr>
          <a:xfrm>
            <a:off x="8379618" y="3335922"/>
            <a:ext cx="3535158" cy="2554545"/>
            <a:chOff x="8340436" y="3856350"/>
            <a:chExt cx="3535158" cy="2554545"/>
          </a:xfrm>
        </p:grpSpPr>
        <p:sp>
          <p:nvSpPr>
            <p:cNvPr id="22" name="CuadroTexto 21">
              <a:extLst>
                <a:ext uri="{FF2B5EF4-FFF2-40B4-BE49-F238E27FC236}">
                  <a16:creationId xmlns:a16="http://schemas.microsoft.com/office/drawing/2014/main" id="{3515997F-A20E-485C-836C-CB8120A68B39}"/>
                </a:ext>
              </a:extLst>
            </p:cNvPr>
            <p:cNvSpPr txBox="1"/>
            <p:nvPr/>
          </p:nvSpPr>
          <p:spPr>
            <a:xfrm>
              <a:off x="9220650" y="3856350"/>
              <a:ext cx="2654944" cy="2554545"/>
            </a:xfrm>
            <a:prstGeom prst="rect">
              <a:avLst/>
            </a:prstGeom>
            <a:noFill/>
          </p:spPr>
          <p:txBody>
            <a:bodyPr wrap="square">
              <a:spAutoFit/>
            </a:bodyPr>
            <a:lstStyle/>
            <a:p>
              <a:pPr algn="l"/>
              <a:r>
                <a:rPr lang="es-CO" sz="2000" i="0" u="none" strike="noStrike" baseline="0" dirty="0">
                  <a:ea typeface="Roboto" panose="02000000000000000000" pitchFamily="2" charset="0"/>
                </a:rPr>
                <a:t>Este renglón muestra que un argumento de esta forma puede tener premisas verdaderas y una conclusión</a:t>
              </a:r>
              <a:r>
                <a:rPr lang="es-CO" sz="2000" dirty="0">
                  <a:ea typeface="Roboto" panose="02000000000000000000" pitchFamily="2" charset="0"/>
                </a:rPr>
                <a:t> </a:t>
              </a:r>
              <a:r>
                <a:rPr lang="es-CO" sz="2000" i="0" u="none" strike="noStrike" baseline="0" dirty="0">
                  <a:ea typeface="Roboto" panose="02000000000000000000" pitchFamily="2" charset="0"/>
                </a:rPr>
                <a:t>falsa. </a:t>
              </a:r>
              <a:r>
                <a:rPr lang="es-CO" sz="2000" b="1" i="0" u="none" strike="noStrike" baseline="0" dirty="0">
                  <a:ea typeface="Roboto" panose="02000000000000000000" pitchFamily="2" charset="0"/>
                </a:rPr>
                <a:t>Por tanto esta forma de argumento es no valida</a:t>
              </a:r>
              <a:r>
                <a:rPr lang="es-CO" sz="2000" i="0" u="none" strike="noStrike" baseline="0" dirty="0">
                  <a:ea typeface="Roboto" panose="02000000000000000000" pitchFamily="2" charset="0"/>
                </a:rPr>
                <a:t>.</a:t>
              </a:r>
              <a:endParaRPr lang="es-CO" sz="2000" dirty="0">
                <a:ea typeface="Roboto" panose="02000000000000000000" pitchFamily="2" charset="0"/>
              </a:endParaRPr>
            </a:p>
          </p:txBody>
        </p:sp>
        <p:cxnSp>
          <p:nvCxnSpPr>
            <p:cNvPr id="19" name="Conector recto de flecha 18">
              <a:extLst>
                <a:ext uri="{FF2B5EF4-FFF2-40B4-BE49-F238E27FC236}">
                  <a16:creationId xmlns:a16="http://schemas.microsoft.com/office/drawing/2014/main" id="{F3B7499F-C7BC-421E-BFF6-7894C8DC5EFF}"/>
                </a:ext>
              </a:extLst>
            </p:cNvPr>
            <p:cNvCxnSpPr>
              <a:cxnSpLocks/>
            </p:cNvCxnSpPr>
            <p:nvPr/>
          </p:nvCxnSpPr>
          <p:spPr>
            <a:xfrm flipH="1">
              <a:off x="8340436" y="4032885"/>
              <a:ext cx="865982" cy="137038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8" name="CuadroTexto 27">
            <a:extLst>
              <a:ext uri="{FF2B5EF4-FFF2-40B4-BE49-F238E27FC236}">
                <a16:creationId xmlns:a16="http://schemas.microsoft.com/office/drawing/2014/main" id="{83602DA4-EE03-4848-BD00-726422E3E2A6}"/>
              </a:ext>
            </a:extLst>
          </p:cNvPr>
          <p:cNvSpPr txBox="1"/>
          <p:nvPr/>
        </p:nvSpPr>
        <p:spPr>
          <a:xfrm>
            <a:off x="288574" y="889241"/>
            <a:ext cx="10928455" cy="707886"/>
          </a:xfrm>
          <a:prstGeom prst="rect">
            <a:avLst/>
          </a:prstGeom>
          <a:noFill/>
        </p:spPr>
        <p:txBody>
          <a:bodyPr wrap="square" rtlCol="0">
            <a:spAutoFit/>
          </a:bodyPr>
          <a:lstStyle/>
          <a:p>
            <a:r>
              <a:rPr lang="es-MX" sz="2000" b="1" dirty="0">
                <a:ea typeface="Roboto" panose="02000000000000000000" pitchFamily="2" charset="0"/>
              </a:rPr>
              <a:t>Paso 3</a:t>
            </a:r>
            <a:r>
              <a:rPr lang="es-MX" sz="2000" dirty="0">
                <a:ea typeface="Roboto" panose="02000000000000000000" pitchFamily="2" charset="0"/>
              </a:rPr>
              <a:t>: Verifique que la conclusión correspondiente a cada renglón critico (donde las premisas son verdaderas) sea verdadera. Si esto se cumple, el argumento es valido.</a:t>
            </a:r>
          </a:p>
        </p:txBody>
      </p:sp>
    </p:spTree>
    <p:extLst>
      <p:ext uri="{BB962C8B-B14F-4D97-AF65-F5344CB8AC3E}">
        <p14:creationId xmlns:p14="http://schemas.microsoft.com/office/powerpoint/2010/main" val="31632716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362857" y="96038"/>
            <a:ext cx="10912493"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Validación de argumentos – Tablas de verdad</a:t>
            </a:r>
            <a:endParaRPr dirty="0"/>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261257" y="789327"/>
            <a:ext cx="11014093"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tx1"/>
                </a:solidFill>
                <a:latin typeface="+mn-lt"/>
              </a:rPr>
              <a:t>Validación de argumentos mediante tabla de verdad</a:t>
            </a:r>
            <a:endParaRPr lang="es-MX" dirty="0">
              <a:solidFill>
                <a:schemeClr val="tx1"/>
              </a:solidFill>
              <a:latin typeface="+mn-lt"/>
            </a:endParaRPr>
          </a:p>
          <a:p>
            <a:pPr marL="0" indent="0">
              <a:buFont typeface="Roboto"/>
              <a:buNone/>
            </a:pPr>
            <a:endParaRPr lang="es-MX" sz="2400" dirty="0">
              <a:solidFill>
                <a:schemeClr val="tx1"/>
              </a:solidFill>
              <a:latin typeface="+mn-lt"/>
            </a:endParaRPr>
          </a:p>
          <a:p>
            <a:pPr indent="0">
              <a:buFont typeface="Roboto"/>
              <a:buNone/>
            </a:pPr>
            <a:endParaRPr lang="es-MX" sz="2400" dirty="0">
              <a:solidFill>
                <a:schemeClr val="tx1"/>
              </a:solidFill>
              <a:latin typeface="+mn-lt"/>
            </a:endParaRPr>
          </a:p>
        </p:txBody>
      </p:sp>
      <mc:AlternateContent xmlns:mc="http://schemas.openxmlformats.org/markup-compatibility/2006" xmlns:a14="http://schemas.microsoft.com/office/drawing/2010/main">
        <mc:Choice Requires="a14">
          <p:graphicFrame>
            <p:nvGraphicFramePr>
              <p:cNvPr id="14" name="Tabla 4">
                <a:extLst>
                  <a:ext uri="{FF2B5EF4-FFF2-40B4-BE49-F238E27FC236}">
                    <a16:creationId xmlns:a16="http://schemas.microsoft.com/office/drawing/2014/main" id="{A83C7222-0883-428B-8FD4-F96A70091B73}"/>
                  </a:ext>
                </a:extLst>
              </p:cNvPr>
              <p:cNvGraphicFramePr>
                <a:graphicFrameLocks noGrp="1"/>
              </p:cNvGraphicFramePr>
              <p:nvPr>
                <p:extLst>
                  <p:ext uri="{D42A27DB-BD31-4B8C-83A1-F6EECF244321}">
                    <p14:modId xmlns:p14="http://schemas.microsoft.com/office/powerpoint/2010/main" val="2836247392"/>
                  </p:ext>
                </p:extLst>
              </p:nvPr>
            </p:nvGraphicFramePr>
            <p:xfrm>
              <a:off x="330793" y="3197151"/>
              <a:ext cx="11427371" cy="3566160"/>
            </p:xfrm>
            <a:graphic>
              <a:graphicData uri="http://schemas.openxmlformats.org/drawingml/2006/table">
                <a:tbl>
                  <a:tblPr firstRow="1" bandRow="1">
                    <a:tableStyleId>{AD6A3598-7CB8-4345-8D95-17CE05F158A0}</a:tableStyleId>
                  </a:tblPr>
                  <a:tblGrid>
                    <a:gridCol w="375777">
                      <a:extLst>
                        <a:ext uri="{9D8B030D-6E8A-4147-A177-3AD203B41FA5}">
                          <a16:colId xmlns:a16="http://schemas.microsoft.com/office/drawing/2014/main" val="776375974"/>
                        </a:ext>
                      </a:extLst>
                    </a:gridCol>
                    <a:gridCol w="375777">
                      <a:extLst>
                        <a:ext uri="{9D8B030D-6E8A-4147-A177-3AD203B41FA5}">
                          <a16:colId xmlns:a16="http://schemas.microsoft.com/office/drawing/2014/main" val="384604534"/>
                        </a:ext>
                      </a:extLst>
                    </a:gridCol>
                    <a:gridCol w="375777">
                      <a:extLst>
                        <a:ext uri="{9D8B030D-6E8A-4147-A177-3AD203B41FA5}">
                          <a16:colId xmlns:a16="http://schemas.microsoft.com/office/drawing/2014/main" val="79869298"/>
                        </a:ext>
                      </a:extLst>
                    </a:gridCol>
                    <a:gridCol w="547070">
                      <a:extLst>
                        <a:ext uri="{9D8B030D-6E8A-4147-A177-3AD203B41FA5}">
                          <a16:colId xmlns:a16="http://schemas.microsoft.com/office/drawing/2014/main" val="1627128528"/>
                        </a:ext>
                      </a:extLst>
                    </a:gridCol>
                    <a:gridCol w="950134">
                      <a:extLst>
                        <a:ext uri="{9D8B030D-6E8A-4147-A177-3AD203B41FA5}">
                          <a16:colId xmlns:a16="http://schemas.microsoft.com/office/drawing/2014/main" val="3636147316"/>
                        </a:ext>
                      </a:extLst>
                    </a:gridCol>
                    <a:gridCol w="771411">
                      <a:extLst>
                        <a:ext uri="{9D8B030D-6E8A-4147-A177-3AD203B41FA5}">
                          <a16:colId xmlns:a16="http://schemas.microsoft.com/office/drawing/2014/main" val="1883770935"/>
                        </a:ext>
                      </a:extLst>
                    </a:gridCol>
                    <a:gridCol w="1437650">
                      <a:extLst>
                        <a:ext uri="{9D8B030D-6E8A-4147-A177-3AD203B41FA5}">
                          <a16:colId xmlns:a16="http://schemas.microsoft.com/office/drawing/2014/main" val="4031458888"/>
                        </a:ext>
                      </a:extLst>
                    </a:gridCol>
                    <a:gridCol w="1255899">
                      <a:extLst>
                        <a:ext uri="{9D8B030D-6E8A-4147-A177-3AD203B41FA5}">
                          <a16:colId xmlns:a16="http://schemas.microsoft.com/office/drawing/2014/main" val="3413420708"/>
                        </a:ext>
                      </a:extLst>
                    </a:gridCol>
                    <a:gridCol w="3317748">
                      <a:extLst>
                        <a:ext uri="{9D8B030D-6E8A-4147-A177-3AD203B41FA5}">
                          <a16:colId xmlns:a16="http://schemas.microsoft.com/office/drawing/2014/main" val="1553787280"/>
                        </a:ext>
                      </a:extLst>
                    </a:gridCol>
                    <a:gridCol w="900239">
                      <a:extLst>
                        <a:ext uri="{9D8B030D-6E8A-4147-A177-3AD203B41FA5}">
                          <a16:colId xmlns:a16="http://schemas.microsoft.com/office/drawing/2014/main" val="2574123728"/>
                        </a:ext>
                      </a:extLst>
                    </a:gridCol>
                    <a:gridCol w="1119889">
                      <a:extLst>
                        <a:ext uri="{9D8B030D-6E8A-4147-A177-3AD203B41FA5}">
                          <a16:colId xmlns:a16="http://schemas.microsoft.com/office/drawing/2014/main" val="706023690"/>
                        </a:ext>
                      </a:extLst>
                    </a:gridCol>
                  </a:tblGrid>
                  <a:tr h="28617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Roboto" panose="02000000000000000000" pitchFamily="2" charset="0"/>
                                  </a:rPr>
                                  <m:t>𝒑</m:t>
                                </m:r>
                              </m:oMath>
                            </m:oMathPara>
                          </a14:m>
                          <a:endParaRPr lang="es-CO" sz="2000" b="1" dirty="0">
                            <a:latin typeface="Roboto" panose="02000000000000000000" pitchFamily="2" charset="0"/>
                            <a:ea typeface="Roboto" panose="02000000000000000000" pitchFamily="2" charset="0"/>
                          </a:endParaRPr>
                        </a:p>
                      </a:txBody>
                      <a:tcPr anchor="ctr">
                        <a:lnB w="1905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Roboto" panose="02000000000000000000" pitchFamily="2" charset="0"/>
                                  </a:rPr>
                                  <m:t>𝒒</m:t>
                                </m:r>
                              </m:oMath>
                            </m:oMathPara>
                          </a14:m>
                          <a:endParaRPr lang="es-CO" sz="2000" b="1" dirty="0">
                            <a:latin typeface="Roboto" panose="02000000000000000000" pitchFamily="2" charset="0"/>
                            <a:ea typeface="Roboto" panose="02000000000000000000" pitchFamily="2" charset="0"/>
                          </a:endParaRPr>
                        </a:p>
                      </a:txBody>
                      <a:tcPr anchor="ctr">
                        <a:lnB w="1905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rPr>
                                  <m:t>𝒓</m:t>
                                </m:r>
                              </m:oMath>
                            </m:oMathPara>
                          </a14:m>
                          <a:endParaRPr lang="es-CO" sz="2000" b="1" dirty="0">
                            <a:latin typeface="Roboto" panose="02000000000000000000" pitchFamily="2" charset="0"/>
                            <a:ea typeface="Roboto" panose="02000000000000000000" pitchFamily="2" charset="0"/>
                          </a:endParaRPr>
                        </a:p>
                      </a:txBody>
                      <a:tcPr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𝒓</m:t>
                                </m:r>
                              </m:oMath>
                            </m:oMathPara>
                          </a14:m>
                          <a:endParaRPr lang="es-CO" sz="2000" b="1" dirty="0">
                            <a:latin typeface="Roboto" panose="02000000000000000000" pitchFamily="2" charset="0"/>
                            <a:ea typeface="Roboto" panose="02000000000000000000" pitchFamily="2" charset="0"/>
                          </a:endParaRPr>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rPr>
                                  <m:t>𝒒</m:t>
                                </m:r>
                                <m:r>
                                  <a:rPr lang="es-MX" sz="2000" b="1" i="1">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𝒓</m:t>
                                </m:r>
                              </m:oMath>
                            </m:oMathPara>
                          </a14:m>
                          <a:endParaRPr lang="es-MX" sz="2000" b="1" dirty="0"/>
                        </a:p>
                      </a:txBody>
                      <a:tcPr anchor="ctr">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Cambria Math" panose="02040503050406030204" pitchFamily="18" charset="0"/>
                                  </a:rPr>
                                  <m:t>𝒑</m:t>
                                </m:r>
                                <m:r>
                                  <a:rPr lang="es-MX" sz="2000" b="1"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rPr>
                                  <m:t>𝒓</m:t>
                                </m:r>
                              </m:oMath>
                            </m:oMathPara>
                          </a14:m>
                          <a:endParaRPr lang="es-MX" sz="2000" b="1" dirty="0"/>
                        </a:p>
                      </a:txBody>
                      <a:tcPr anchor="ctr">
                        <a:lnR w="3175"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rPr>
                                  <m:t>𝒑</m:t>
                                </m:r>
                                <m:r>
                                  <a:rPr lang="es-MX" sz="2000" b="1" i="1" smtClean="0">
                                    <a:latin typeface="Cambria Math" panose="02040503050406030204" pitchFamily="18" charset="0"/>
                                  </a:rPr>
                                  <m:t>→</m:t>
                                </m:r>
                                <m:r>
                                  <a:rPr lang="es-MX" sz="2000" b="1" i="1" smtClean="0">
                                    <a:latin typeface="Cambria Math" panose="02040503050406030204" pitchFamily="18" charset="0"/>
                                  </a:rPr>
                                  <m:t>𝒒</m:t>
                                </m:r>
                                <m:r>
                                  <a:rPr lang="es-MX" sz="2000" b="1" i="1">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𝒓</m:t>
                                </m:r>
                              </m:oMath>
                            </m:oMathPara>
                          </a14:m>
                          <a:endParaRPr lang="es-MX" sz="2000" b="1" dirty="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Cambria Math" panose="02040503050406030204" pitchFamily="18" charset="0"/>
                                  </a:rPr>
                                  <m:t>𝒒</m:t>
                                </m:r>
                                <m:r>
                                  <a:rPr lang="es-MX" sz="2000" b="1" i="1">
                                    <a:latin typeface="Cambria Math" panose="02040503050406030204" pitchFamily="18" charset="0"/>
                                  </a:rPr>
                                  <m:t>→</m:t>
                                </m:r>
                                <m:r>
                                  <a:rPr lang="es-MX" sz="2000" b="1" i="1" smtClean="0">
                                    <a:latin typeface="Cambria Math" panose="02040503050406030204" pitchFamily="18" charset="0"/>
                                    <a:ea typeface="Cambria Math" panose="02040503050406030204" pitchFamily="18" charset="0"/>
                                  </a:rPr>
                                  <m:t>𝒑</m:t>
                                </m:r>
                                <m:r>
                                  <a:rPr lang="es-MX" sz="2000" b="1" i="1" smtClean="0">
                                    <a:latin typeface="Cambria Math" panose="02040503050406030204" pitchFamily="18" charset="0"/>
                                    <a:ea typeface="Cambria Math" panose="02040503050406030204" pitchFamily="18" charset="0"/>
                                  </a:rPr>
                                  <m:t>∧</m:t>
                                </m:r>
                                <m:r>
                                  <a:rPr lang="es-MX" sz="2000" b="1" i="1" smtClean="0">
                                    <a:latin typeface="Cambria Math" panose="02040503050406030204" pitchFamily="18" charset="0"/>
                                  </a:rPr>
                                  <m:t>𝒓</m:t>
                                </m:r>
                              </m:oMath>
                            </m:oMathPara>
                          </a14:m>
                          <a:endParaRPr lang="es-MX" sz="2000" b="1" dirty="0"/>
                        </a:p>
                      </a:txBody>
                      <a:tcPr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d>
                                  <m:dPr>
                                    <m:ctrlPr>
                                      <a:rPr lang="es-MX" sz="2000" b="1" i="1" smtClean="0">
                                        <a:latin typeface="Cambria Math" panose="02040503050406030204" pitchFamily="18" charset="0"/>
                                        <a:ea typeface="Roboto" panose="02000000000000000000" pitchFamily="2" charset="0"/>
                                      </a:rPr>
                                    </m:ctrlPr>
                                  </m:dPr>
                                  <m:e>
                                    <m:r>
                                      <a:rPr lang="es-MX" sz="2000" b="1" i="1">
                                        <a:latin typeface="Cambria Math" panose="02040503050406030204" pitchFamily="18" charset="0"/>
                                        <a:ea typeface="Roboto" panose="02000000000000000000" pitchFamily="2" charset="0"/>
                                      </a:rPr>
                                      <m:t>𝒑</m:t>
                                    </m:r>
                                    <m:r>
                                      <a:rPr lang="es-MX" sz="2000" b="1" i="1">
                                        <a:latin typeface="Cambria Math" panose="02040503050406030204" pitchFamily="18" charset="0"/>
                                        <a:ea typeface="Roboto" panose="02000000000000000000" pitchFamily="2" charset="0"/>
                                      </a:rPr>
                                      <m:t>→</m:t>
                                    </m:r>
                                    <m:r>
                                      <a:rPr lang="es-MX" sz="2000" b="1" i="1">
                                        <a:latin typeface="Cambria Math" panose="02040503050406030204" pitchFamily="18" charset="0"/>
                                        <a:ea typeface="Roboto" panose="02000000000000000000" pitchFamily="2" charset="0"/>
                                      </a:rPr>
                                      <m:t>𝒒</m:t>
                                    </m:r>
                                    <m:r>
                                      <a:rPr lang="es-MX" sz="2000" b="1" i="1">
                                        <a:latin typeface="Cambria Math" panose="02040503050406030204" pitchFamily="18" charset="0"/>
                                        <a:ea typeface="Cambria Math" panose="02040503050406030204" pitchFamily="18" charset="0"/>
                                      </a:rPr>
                                      <m:t>∨¬</m:t>
                                    </m:r>
                                    <m:r>
                                      <a:rPr lang="es-MX" sz="2000" b="1" i="1">
                                        <a:latin typeface="Cambria Math" panose="02040503050406030204" pitchFamily="18" charset="0"/>
                                        <a:ea typeface="Cambria Math" panose="02040503050406030204" pitchFamily="18" charset="0"/>
                                      </a:rPr>
                                      <m:t>𝒓</m:t>
                                    </m:r>
                                  </m:e>
                                </m:d>
                                <m:r>
                                  <a:rPr lang="es-MX" sz="2000" b="1" i="1">
                                    <a:latin typeface="Cambria Math" panose="02040503050406030204" pitchFamily="18" charset="0"/>
                                    <a:ea typeface="Cambria Math" panose="02040503050406030204" pitchFamily="18" charset="0"/>
                                  </a:rPr>
                                  <m:t>∧</m:t>
                                </m:r>
                                <m:d>
                                  <m:dPr>
                                    <m:ctrlPr>
                                      <a:rPr lang="es-MX" sz="2000" b="1" i="1" smtClean="0">
                                        <a:latin typeface="Cambria Math" panose="02040503050406030204" pitchFamily="18" charset="0"/>
                                        <a:ea typeface="Cambria Math" panose="02040503050406030204" pitchFamily="18" charset="0"/>
                                      </a:rPr>
                                    </m:ctrlPr>
                                  </m:dPr>
                                  <m:e>
                                    <m:r>
                                      <a:rPr lang="es-MX" sz="2000" b="1" i="1">
                                        <a:latin typeface="Cambria Math" panose="02040503050406030204" pitchFamily="18" charset="0"/>
                                        <a:ea typeface="Roboto" panose="02000000000000000000" pitchFamily="2" charset="0"/>
                                      </a:rPr>
                                      <m:t>𝒒</m:t>
                                    </m:r>
                                    <m:r>
                                      <a:rPr lang="es-MX" sz="2000" b="1" i="1">
                                        <a:latin typeface="Cambria Math" panose="02040503050406030204" pitchFamily="18" charset="0"/>
                                        <a:ea typeface="Roboto" panose="02000000000000000000" pitchFamily="2" charset="0"/>
                                      </a:rPr>
                                      <m:t>→</m:t>
                                    </m:r>
                                    <m:r>
                                      <a:rPr lang="es-MX" sz="2000" b="1" i="1">
                                        <a:latin typeface="Cambria Math" panose="02040503050406030204" pitchFamily="18" charset="0"/>
                                        <a:ea typeface="Roboto" panose="02000000000000000000" pitchFamily="2" charset="0"/>
                                      </a:rPr>
                                      <m:t>𝒑</m:t>
                                    </m:r>
                                    <m:r>
                                      <a:rPr lang="es-MX" sz="2000" b="1" i="1">
                                        <a:latin typeface="Cambria Math" panose="02040503050406030204" pitchFamily="18" charset="0"/>
                                        <a:ea typeface="Cambria Math" panose="02040503050406030204" pitchFamily="18" charset="0"/>
                                      </a:rPr>
                                      <m:t>∧</m:t>
                                    </m:r>
                                    <m:r>
                                      <a:rPr lang="es-MX" sz="2000" b="1" i="1">
                                        <a:latin typeface="Cambria Math" panose="02040503050406030204" pitchFamily="18" charset="0"/>
                                        <a:ea typeface="Cambria Math" panose="02040503050406030204" pitchFamily="18" charset="0"/>
                                      </a:rPr>
                                      <m:t>𝒓</m:t>
                                    </m:r>
                                    <m:r>
                                      <m:rPr>
                                        <m:nor/>
                                      </m:rPr>
                                      <a:rPr lang="es-MX" sz="2000" b="1" dirty="0">
                                        <a:latin typeface="Roboto" panose="02000000000000000000" pitchFamily="2" charset="0"/>
                                        <a:ea typeface="Cambria Math" panose="02040503050406030204" pitchFamily="18" charset="0"/>
                                      </a:rPr>
                                      <m:t> </m:t>
                                    </m:r>
                                  </m:e>
                                </m:d>
                              </m:oMath>
                            </m:oMathPara>
                          </a14:m>
                          <a:endParaRPr lang="es-MX" sz="2000" b="1" dirty="0"/>
                        </a:p>
                      </a:txBody>
                      <a:tcPr anchor="ct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Roboto" panose="02000000000000000000" pitchFamily="2" charset="0"/>
                                  </a:rPr>
                                  <m:t>𝒑</m:t>
                                </m:r>
                                <m:r>
                                  <a:rPr lang="es-MX" sz="2000" b="1" i="1" smtClean="0">
                                    <a:latin typeface="Cambria Math" panose="02040503050406030204" pitchFamily="18" charset="0"/>
                                    <a:ea typeface="Roboto" panose="02000000000000000000" pitchFamily="2" charset="0"/>
                                  </a:rPr>
                                  <m:t>→</m:t>
                                </m:r>
                                <m:r>
                                  <a:rPr lang="es-MX" sz="2000" b="1" i="1">
                                    <a:latin typeface="Cambria Math" panose="02040503050406030204" pitchFamily="18" charset="0"/>
                                    <a:ea typeface="Cambria Math" panose="02040503050406030204" pitchFamily="18" charset="0"/>
                                  </a:rPr>
                                  <m:t>𝒓</m:t>
                                </m:r>
                              </m:oMath>
                            </m:oMathPara>
                          </a14:m>
                          <a:endParaRPr lang="es-MX" sz="2000" b="1" dirty="0"/>
                        </a:p>
                      </a:txBody>
                      <a:tcPr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Roboto" panose="02000000000000000000" pitchFamily="2" charset="0"/>
                                  </a:rPr>
                                  <m:t>𝑭</m:t>
                                </m:r>
                              </m:oMath>
                            </m:oMathPara>
                          </a14:m>
                          <a:endParaRPr lang="es-MX" sz="2000" b="1" dirty="0"/>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3670299"/>
                      </a:ext>
                    </a:extLst>
                  </a:tr>
                  <a:tr h="31891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T w="19050" cap="flat" cmpd="sng" algn="ctr">
                          <a:solidFill>
                            <a:schemeClr val="tx1"/>
                          </a:solidFill>
                          <a:prstDash val="solid"/>
                          <a:round/>
                          <a:headEnd type="none" w="med" len="med"/>
                          <a:tailEnd type="none" w="med" len="med"/>
                        </a:lnT>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T w="19050" cap="flat" cmpd="sng" algn="ctr">
                          <a:solidFill>
                            <a:schemeClr val="tx1"/>
                          </a:solidFill>
                          <a:prstDash val="solid"/>
                          <a:round/>
                          <a:headEnd type="none" w="med" len="med"/>
                          <a:tailEnd type="none" w="med" len="med"/>
                        </a:lnT>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T w="19050" cap="flat" cmpd="sng" algn="ctr">
                          <a:solidFill>
                            <a:schemeClr val="tx1"/>
                          </a:solidFill>
                          <a:prstDash val="solid"/>
                          <a:round/>
                          <a:headEnd type="none" w="med" len="med"/>
                          <a:tailEnd type="none" w="med" len="med"/>
                        </a:lnT>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R w="31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no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solidFill>
                          <a:schemeClr val="accent6">
                            <a:lumMod val="20000"/>
                            <a:lumOff val="80000"/>
                          </a:schemeClr>
                        </a:solidFill>
                      </a:tcPr>
                    </a:tc>
                    <a:extLst>
                      <a:ext uri="{0D108BD9-81ED-4DB2-BD59-A6C34878D82A}">
                        <a16:rowId xmlns:a16="http://schemas.microsoft.com/office/drawing/2014/main" val="1805549228"/>
                      </a:ext>
                    </a:extLst>
                  </a:tr>
                  <a:tr h="286174">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R w="3175"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no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accent6">
                            <a:lumMod val="20000"/>
                            <a:lumOff val="80000"/>
                          </a:schemeClr>
                        </a:solidFill>
                      </a:tcPr>
                    </a:tc>
                    <a:extLst>
                      <a:ext uri="{0D108BD9-81ED-4DB2-BD59-A6C34878D82A}">
                        <a16:rowId xmlns:a16="http://schemas.microsoft.com/office/drawing/2014/main" val="2353127006"/>
                      </a:ext>
                    </a:extLst>
                  </a:tr>
                  <a:tr h="28617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R w="3175" cap="flat" cmpd="sng" algn="ctr">
                          <a:solidFill>
                            <a:schemeClr val="tx1"/>
                          </a:solidFill>
                          <a:prstDash val="solid"/>
                          <a:round/>
                          <a:headEnd type="none" w="med" len="med"/>
                          <a:tailEnd type="none" w="med" len="med"/>
                        </a:ln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no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3651764017"/>
                      </a:ext>
                    </a:extLst>
                  </a:tr>
                  <a:tr h="286174">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R w="3175" cap="flat" cmpd="sng" algn="ctr">
                          <a:solidFill>
                            <a:schemeClr val="tx1"/>
                          </a:solidFill>
                          <a:prstDash val="solid"/>
                          <a:round/>
                          <a:headEnd type="none" w="med" len="med"/>
                          <a:tailEnd type="none" w="med" len="med"/>
                        </a:ln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no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2841338906"/>
                      </a:ext>
                    </a:extLst>
                  </a:tr>
                  <a:tr h="286174">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R w="3175"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solidFill>
                                      <a:srgbClr val="FF0000"/>
                                    </a:solidFill>
                                    <a:latin typeface="Cambria Math" panose="02040503050406030204" pitchFamily="18" charset="0"/>
                                    <a:ea typeface="Roboto" panose="02000000000000000000" pitchFamily="2" charset="0"/>
                                  </a:rPr>
                                  <m:t>0</m:t>
                                </m:r>
                              </m:oMath>
                            </m:oMathPara>
                          </a14:m>
                          <a:endParaRPr lang="es-CO" sz="2000" dirty="0">
                            <a:solidFill>
                              <a:srgbClr val="FF0000"/>
                            </a:solidFill>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accent2">
                            <a:lumMod val="20000"/>
                            <a:lumOff val="80000"/>
                          </a:schemeClr>
                        </a:solidFill>
                      </a:tcPr>
                    </a:tc>
                    <a:extLst>
                      <a:ext uri="{0D108BD9-81ED-4DB2-BD59-A6C34878D82A}">
                        <a16:rowId xmlns:a16="http://schemas.microsoft.com/office/drawing/2014/main" val="1632356540"/>
                      </a:ext>
                    </a:extLst>
                  </a:tr>
                  <a:tr h="286174">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R w="3175"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2671630554"/>
                      </a:ext>
                    </a:extLst>
                  </a:tr>
                  <a:tr h="286174">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R w="3175" cap="flat" cmpd="sng" algn="ctr">
                          <a:solidFill>
                            <a:schemeClr val="tx1"/>
                          </a:solidFill>
                          <a:prstDash val="solid"/>
                          <a:round/>
                          <a:headEnd type="none" w="med" len="med"/>
                          <a:tailEnd type="none" w="med" len="med"/>
                        </a:ln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no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17604333"/>
                      </a:ext>
                    </a:extLst>
                  </a:tr>
                  <a:tr h="286174">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R w="3175" cap="flat" cmpd="sng" algn="ctr">
                          <a:solidFill>
                            <a:schemeClr val="tx1"/>
                          </a:solidFill>
                          <a:prstDash val="solid"/>
                          <a:round/>
                          <a:headEnd type="none" w="med" len="med"/>
                          <a:tailEnd type="none" w="med" len="med"/>
                        </a:ln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no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accent6">
                            <a:lumMod val="20000"/>
                            <a:lumOff val="80000"/>
                          </a:schemeClr>
                        </a:solidFill>
                      </a:tcPr>
                    </a:tc>
                    <a:extLst>
                      <a:ext uri="{0D108BD9-81ED-4DB2-BD59-A6C34878D82A}">
                        <a16:rowId xmlns:a16="http://schemas.microsoft.com/office/drawing/2014/main" val="768255264"/>
                      </a:ext>
                    </a:extLst>
                  </a:tr>
                </a:tbl>
              </a:graphicData>
            </a:graphic>
          </p:graphicFrame>
        </mc:Choice>
        <mc:Fallback xmlns="">
          <p:graphicFrame>
            <p:nvGraphicFramePr>
              <p:cNvPr id="14" name="Tabla 4">
                <a:extLst>
                  <a:ext uri="{FF2B5EF4-FFF2-40B4-BE49-F238E27FC236}">
                    <a16:creationId xmlns:a16="http://schemas.microsoft.com/office/drawing/2014/main" id="{A83C7222-0883-428B-8FD4-F96A70091B73}"/>
                  </a:ext>
                </a:extLst>
              </p:cNvPr>
              <p:cNvGraphicFramePr>
                <a:graphicFrameLocks noGrp="1"/>
              </p:cNvGraphicFramePr>
              <p:nvPr>
                <p:extLst>
                  <p:ext uri="{D42A27DB-BD31-4B8C-83A1-F6EECF244321}">
                    <p14:modId xmlns:p14="http://schemas.microsoft.com/office/powerpoint/2010/main" val="2836247392"/>
                  </p:ext>
                </p:extLst>
              </p:nvPr>
            </p:nvGraphicFramePr>
            <p:xfrm>
              <a:off x="330793" y="3197151"/>
              <a:ext cx="11427371" cy="3566160"/>
            </p:xfrm>
            <a:graphic>
              <a:graphicData uri="http://schemas.openxmlformats.org/drawingml/2006/table">
                <a:tbl>
                  <a:tblPr firstRow="1" bandRow="1">
                    <a:tableStyleId>{AD6A3598-7CB8-4345-8D95-17CE05F158A0}</a:tableStyleId>
                  </a:tblPr>
                  <a:tblGrid>
                    <a:gridCol w="375777">
                      <a:extLst>
                        <a:ext uri="{9D8B030D-6E8A-4147-A177-3AD203B41FA5}">
                          <a16:colId xmlns:a16="http://schemas.microsoft.com/office/drawing/2014/main" val="776375974"/>
                        </a:ext>
                      </a:extLst>
                    </a:gridCol>
                    <a:gridCol w="375777">
                      <a:extLst>
                        <a:ext uri="{9D8B030D-6E8A-4147-A177-3AD203B41FA5}">
                          <a16:colId xmlns:a16="http://schemas.microsoft.com/office/drawing/2014/main" val="384604534"/>
                        </a:ext>
                      </a:extLst>
                    </a:gridCol>
                    <a:gridCol w="375777">
                      <a:extLst>
                        <a:ext uri="{9D8B030D-6E8A-4147-A177-3AD203B41FA5}">
                          <a16:colId xmlns:a16="http://schemas.microsoft.com/office/drawing/2014/main" val="79869298"/>
                        </a:ext>
                      </a:extLst>
                    </a:gridCol>
                    <a:gridCol w="547070">
                      <a:extLst>
                        <a:ext uri="{9D8B030D-6E8A-4147-A177-3AD203B41FA5}">
                          <a16:colId xmlns:a16="http://schemas.microsoft.com/office/drawing/2014/main" val="1627128528"/>
                        </a:ext>
                      </a:extLst>
                    </a:gridCol>
                    <a:gridCol w="950134">
                      <a:extLst>
                        <a:ext uri="{9D8B030D-6E8A-4147-A177-3AD203B41FA5}">
                          <a16:colId xmlns:a16="http://schemas.microsoft.com/office/drawing/2014/main" val="3636147316"/>
                        </a:ext>
                      </a:extLst>
                    </a:gridCol>
                    <a:gridCol w="771411">
                      <a:extLst>
                        <a:ext uri="{9D8B030D-6E8A-4147-A177-3AD203B41FA5}">
                          <a16:colId xmlns:a16="http://schemas.microsoft.com/office/drawing/2014/main" val="1883770935"/>
                        </a:ext>
                      </a:extLst>
                    </a:gridCol>
                    <a:gridCol w="1437650">
                      <a:extLst>
                        <a:ext uri="{9D8B030D-6E8A-4147-A177-3AD203B41FA5}">
                          <a16:colId xmlns:a16="http://schemas.microsoft.com/office/drawing/2014/main" val="4031458888"/>
                        </a:ext>
                      </a:extLst>
                    </a:gridCol>
                    <a:gridCol w="1255899">
                      <a:extLst>
                        <a:ext uri="{9D8B030D-6E8A-4147-A177-3AD203B41FA5}">
                          <a16:colId xmlns:a16="http://schemas.microsoft.com/office/drawing/2014/main" val="3413420708"/>
                        </a:ext>
                      </a:extLst>
                    </a:gridCol>
                    <a:gridCol w="3317748">
                      <a:extLst>
                        <a:ext uri="{9D8B030D-6E8A-4147-A177-3AD203B41FA5}">
                          <a16:colId xmlns:a16="http://schemas.microsoft.com/office/drawing/2014/main" val="1553787280"/>
                        </a:ext>
                      </a:extLst>
                    </a:gridCol>
                    <a:gridCol w="900239">
                      <a:extLst>
                        <a:ext uri="{9D8B030D-6E8A-4147-A177-3AD203B41FA5}">
                          <a16:colId xmlns:a16="http://schemas.microsoft.com/office/drawing/2014/main" val="2574123728"/>
                        </a:ext>
                      </a:extLst>
                    </a:gridCol>
                    <a:gridCol w="1119889">
                      <a:extLst>
                        <a:ext uri="{9D8B030D-6E8A-4147-A177-3AD203B41FA5}">
                          <a16:colId xmlns:a16="http://schemas.microsoft.com/office/drawing/2014/main" val="706023690"/>
                        </a:ext>
                      </a:extLst>
                    </a:gridCol>
                  </a:tblGrid>
                  <a:tr h="396240">
                    <a:tc>
                      <a:txBody>
                        <a:bodyPr/>
                        <a:lstStyle/>
                        <a:p>
                          <a:endParaRPr lang="es-CO"/>
                        </a:p>
                      </a:txBody>
                      <a:tcPr anchor="ctr">
                        <a:lnB w="19050" cap="flat" cmpd="sng" algn="ctr">
                          <a:solidFill>
                            <a:schemeClr val="tx1"/>
                          </a:solidFill>
                          <a:prstDash val="solid"/>
                          <a:round/>
                          <a:headEnd type="none" w="med" len="med"/>
                          <a:tailEnd type="none" w="med" len="med"/>
                        </a:lnB>
                        <a:blipFill>
                          <a:blip r:embed="rId3"/>
                          <a:stretch>
                            <a:fillRect l="-1613" t="-1538" r="-2929032" b="-804615"/>
                          </a:stretch>
                        </a:blipFill>
                      </a:tcPr>
                    </a:tc>
                    <a:tc>
                      <a:txBody>
                        <a:bodyPr/>
                        <a:lstStyle/>
                        <a:p>
                          <a:endParaRPr lang="es-CO"/>
                        </a:p>
                      </a:txBody>
                      <a:tcPr anchor="ctr">
                        <a:lnB w="19050" cap="flat" cmpd="sng" algn="ctr">
                          <a:solidFill>
                            <a:schemeClr val="tx1"/>
                          </a:solidFill>
                          <a:prstDash val="solid"/>
                          <a:round/>
                          <a:headEnd type="none" w="med" len="med"/>
                          <a:tailEnd type="none" w="med" len="med"/>
                        </a:lnB>
                        <a:blipFill>
                          <a:blip r:embed="rId3"/>
                          <a:stretch>
                            <a:fillRect l="-103279" t="-1538" r="-2877049" b="-804615"/>
                          </a:stretch>
                        </a:blipFill>
                      </a:tcPr>
                    </a:tc>
                    <a:tc>
                      <a:txBody>
                        <a:bodyPr/>
                        <a:lstStyle/>
                        <a:p>
                          <a:endParaRPr lang="es-CO"/>
                        </a:p>
                      </a:txBody>
                      <a:tcPr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blipFill>
                          <a:blip r:embed="rId3"/>
                          <a:stretch>
                            <a:fillRect l="-200000" t="-1538" r="-2730645" b="-804615"/>
                          </a:stretch>
                        </a:blipFill>
                      </a:tcPr>
                    </a:tc>
                    <a:tc>
                      <a:txBody>
                        <a:bodyPr/>
                        <a:lstStyle/>
                        <a:p>
                          <a:endParaRPr lang="es-CO"/>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blipFill>
                          <a:blip r:embed="rId3"/>
                          <a:stretch>
                            <a:fillRect l="-206667" t="-1538" r="-1781111" b="-804615"/>
                          </a:stretch>
                        </a:blipFill>
                      </a:tcPr>
                    </a:tc>
                    <a:tc>
                      <a:txBody>
                        <a:bodyPr/>
                        <a:lstStyle/>
                        <a:p>
                          <a:endParaRPr lang="es-CO"/>
                        </a:p>
                      </a:txBody>
                      <a:tcPr anchor="ctr">
                        <a:lnB w="19050" cap="flat" cmpd="sng" algn="ctr">
                          <a:solidFill>
                            <a:schemeClr val="tx1"/>
                          </a:solidFill>
                          <a:prstDash val="solid"/>
                          <a:round/>
                          <a:headEnd type="none" w="med" len="med"/>
                          <a:tailEnd type="none" w="med" len="med"/>
                        </a:lnB>
                        <a:blipFill>
                          <a:blip r:embed="rId3"/>
                          <a:stretch>
                            <a:fillRect l="-176923" t="-1538" r="-927564" b="-804615"/>
                          </a:stretch>
                        </a:blipFill>
                      </a:tcPr>
                    </a:tc>
                    <a:tc>
                      <a:txBody>
                        <a:bodyPr/>
                        <a:lstStyle/>
                        <a:p>
                          <a:endParaRPr lang="es-CO"/>
                        </a:p>
                      </a:txBody>
                      <a:tcPr anchor="ctr">
                        <a:lnR w="3175"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blipFill>
                          <a:blip r:embed="rId3"/>
                          <a:stretch>
                            <a:fillRect l="-342857" t="-1538" r="-1048413" b="-804615"/>
                          </a:stretch>
                        </a:blipFill>
                      </a:tcPr>
                    </a:tc>
                    <a:tc>
                      <a:txBody>
                        <a:bodyPr/>
                        <a:lstStyle/>
                        <a:p>
                          <a:endParaRPr lang="es-CO"/>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blipFill>
                          <a:blip r:embed="rId3"/>
                          <a:stretch>
                            <a:fillRect l="-236441" t="-1538" r="-459746" b="-804615"/>
                          </a:stretch>
                        </a:blipFill>
                      </a:tcPr>
                    </a:tc>
                    <a:tc>
                      <a:txBody>
                        <a:bodyPr/>
                        <a:lstStyle/>
                        <a:p>
                          <a:endParaRPr lang="es-CO"/>
                        </a:p>
                      </a:txBody>
                      <a:tcPr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blipFill>
                          <a:blip r:embed="rId3"/>
                          <a:stretch>
                            <a:fillRect l="-385437" t="-1538" r="-426699" b="-804615"/>
                          </a:stretch>
                        </a:blipFill>
                      </a:tcPr>
                    </a:tc>
                    <a:tc>
                      <a:txBody>
                        <a:bodyPr/>
                        <a:lstStyle/>
                        <a:p>
                          <a:endParaRPr lang="es-CO"/>
                        </a:p>
                      </a:txBody>
                      <a:tcPr anchor="ct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blipFill>
                          <a:blip r:embed="rId3"/>
                          <a:stretch>
                            <a:fillRect l="-183486" t="-1538" r="-61284" b="-804615"/>
                          </a:stretch>
                        </a:blipFill>
                      </a:tcPr>
                    </a:tc>
                    <a:tc>
                      <a:txBody>
                        <a:bodyPr/>
                        <a:lstStyle/>
                        <a:p>
                          <a:endParaRPr lang="es-CO"/>
                        </a:p>
                      </a:txBody>
                      <a:tcPr anchor="ct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blipFill>
                          <a:blip r:embed="rId3"/>
                          <a:stretch>
                            <a:fillRect l="-1051020" t="-1538" r="-127211" b="-804615"/>
                          </a:stretch>
                        </a:blipFill>
                      </a:tcPr>
                    </a:tc>
                    <a:tc>
                      <a:txBody>
                        <a:bodyPr/>
                        <a:lstStyle/>
                        <a:p>
                          <a:endParaRPr lang="es-CO"/>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blipFill>
                          <a:blip r:embed="rId3"/>
                          <a:stretch>
                            <a:fillRect l="-919565" t="-1538" r="-1630" b="-804615"/>
                          </a:stretch>
                        </a:blipFill>
                      </a:tcPr>
                    </a:tc>
                    <a:extLst>
                      <a:ext uri="{0D108BD9-81ED-4DB2-BD59-A6C34878D82A}">
                        <a16:rowId xmlns:a16="http://schemas.microsoft.com/office/drawing/2014/main" val="113670299"/>
                      </a:ext>
                    </a:extLst>
                  </a:tr>
                  <a:tr h="396240">
                    <a:tc>
                      <a:txBody>
                        <a:bodyPr/>
                        <a:lstStyle/>
                        <a:p>
                          <a:endParaRPr lang="es-CO"/>
                        </a:p>
                      </a:txBody>
                      <a:tcPr>
                        <a:lnT w="19050" cap="flat" cmpd="sng" algn="ctr">
                          <a:solidFill>
                            <a:schemeClr val="tx1"/>
                          </a:solidFill>
                          <a:prstDash val="solid"/>
                          <a:round/>
                          <a:headEnd type="none" w="med" len="med"/>
                          <a:tailEnd type="none" w="med" len="med"/>
                        </a:lnT>
                        <a:blipFill>
                          <a:blip r:embed="rId3"/>
                          <a:stretch>
                            <a:fillRect l="-1613" t="-101538" r="-2929032" b="-704615"/>
                          </a:stretch>
                        </a:blipFill>
                      </a:tcPr>
                    </a:tc>
                    <a:tc>
                      <a:txBody>
                        <a:bodyPr/>
                        <a:lstStyle/>
                        <a:p>
                          <a:endParaRPr lang="es-CO"/>
                        </a:p>
                      </a:txBody>
                      <a:tcPr>
                        <a:lnT w="19050" cap="flat" cmpd="sng" algn="ctr">
                          <a:solidFill>
                            <a:schemeClr val="tx1"/>
                          </a:solidFill>
                          <a:prstDash val="solid"/>
                          <a:round/>
                          <a:headEnd type="none" w="med" len="med"/>
                          <a:tailEnd type="none" w="med" len="med"/>
                        </a:lnT>
                        <a:blipFill>
                          <a:blip r:embed="rId3"/>
                          <a:stretch>
                            <a:fillRect l="-103279" t="-101538" r="-2877049" b="-704615"/>
                          </a:stretch>
                        </a:blipFill>
                      </a:tcPr>
                    </a:tc>
                    <a:tc>
                      <a:txBody>
                        <a:bodyPr/>
                        <a:lstStyle/>
                        <a:p>
                          <a:endParaRPr lang="es-CO"/>
                        </a:p>
                      </a:txBody>
                      <a:tcP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blipFill>
                          <a:blip r:embed="rId3"/>
                          <a:stretch>
                            <a:fillRect l="-200000" t="-101538" r="-2730645" b="-704615"/>
                          </a:stretch>
                        </a:blipFill>
                      </a:tcPr>
                    </a:tc>
                    <a:tc>
                      <a:txBody>
                        <a:bodyPr/>
                        <a:lstStyle/>
                        <a:p>
                          <a:endParaRPr lang="es-CO"/>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blipFill>
                          <a:blip r:embed="rId3"/>
                          <a:stretch>
                            <a:fillRect l="-206667" t="-101538" r="-1781111" b="-704615"/>
                          </a:stretch>
                        </a:blipFill>
                      </a:tcPr>
                    </a:tc>
                    <a:tc>
                      <a:txBody>
                        <a:bodyPr/>
                        <a:lstStyle/>
                        <a:p>
                          <a:endParaRPr lang="es-CO"/>
                        </a:p>
                      </a:txBody>
                      <a:tcPr>
                        <a:lnT w="19050" cap="flat" cmpd="sng" algn="ctr">
                          <a:solidFill>
                            <a:schemeClr val="tx1"/>
                          </a:solidFill>
                          <a:prstDash val="solid"/>
                          <a:round/>
                          <a:headEnd type="none" w="med" len="med"/>
                          <a:tailEnd type="none" w="med" len="med"/>
                        </a:lnT>
                        <a:blipFill>
                          <a:blip r:embed="rId3"/>
                          <a:stretch>
                            <a:fillRect l="-176923" t="-101538" r="-927564" b="-704615"/>
                          </a:stretch>
                        </a:blipFill>
                      </a:tcPr>
                    </a:tc>
                    <a:tc>
                      <a:txBody>
                        <a:bodyPr/>
                        <a:lstStyle/>
                        <a:p>
                          <a:endParaRPr lang="es-CO"/>
                        </a:p>
                      </a:txBody>
                      <a:tcPr>
                        <a:lnR w="31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blipFill>
                          <a:blip r:embed="rId3"/>
                          <a:stretch>
                            <a:fillRect l="-342857" t="-101538" r="-1048413" b="-704615"/>
                          </a:stretch>
                        </a:blipFill>
                      </a:tcPr>
                    </a:tc>
                    <a:tc>
                      <a:txBody>
                        <a:bodyPr/>
                        <a:lstStyle/>
                        <a:p>
                          <a:endParaRPr lang="es-CO"/>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blipFill>
                          <a:blip r:embed="rId3"/>
                          <a:stretch>
                            <a:fillRect l="-236441" t="-101538" r="-459746" b="-704615"/>
                          </a:stretch>
                        </a:blipFill>
                      </a:tcPr>
                    </a:tc>
                    <a:tc>
                      <a:txBody>
                        <a:bodyPr/>
                        <a:lstStyle/>
                        <a:p>
                          <a:endParaRPr lang="es-CO"/>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blipFill>
                          <a:blip r:embed="rId3"/>
                          <a:stretch>
                            <a:fillRect l="-385437" t="-101538" r="-426699" b="-704615"/>
                          </a:stretch>
                        </a:blipFill>
                      </a:tcPr>
                    </a:tc>
                    <a:tc>
                      <a:txBody>
                        <a:bodyPr/>
                        <a:lstStyle/>
                        <a:p>
                          <a:endParaRPr lang="es-CO"/>
                        </a:p>
                      </a:txBody>
                      <a:tcP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blipFill>
                          <a:blip r:embed="rId3"/>
                          <a:stretch>
                            <a:fillRect l="-183486" t="-101538" r="-61284" b="-704615"/>
                          </a:stretch>
                        </a:blipFill>
                      </a:tcPr>
                    </a:tc>
                    <a:tc>
                      <a:txBody>
                        <a:bodyPr/>
                        <a:lstStyle/>
                        <a:p>
                          <a:endParaRPr lang="es-CO"/>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blipFill>
                          <a:blip r:embed="rId3"/>
                          <a:stretch>
                            <a:fillRect l="-1051020" t="-101538" r="-127211" b="-704615"/>
                          </a:stretch>
                        </a:blipFill>
                      </a:tcPr>
                    </a:tc>
                    <a:tc>
                      <a:txBody>
                        <a:bodyPr/>
                        <a:lstStyle/>
                        <a:p>
                          <a:endParaRPr lang="es-CO"/>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blipFill>
                          <a:blip r:embed="rId3"/>
                          <a:stretch>
                            <a:fillRect l="-919565" t="-101538" r="-1630" b="-704615"/>
                          </a:stretch>
                        </a:blipFill>
                      </a:tcPr>
                    </a:tc>
                    <a:extLst>
                      <a:ext uri="{0D108BD9-81ED-4DB2-BD59-A6C34878D82A}">
                        <a16:rowId xmlns:a16="http://schemas.microsoft.com/office/drawing/2014/main" val="1805549228"/>
                      </a:ext>
                    </a:extLst>
                  </a:tr>
                  <a:tr h="396240">
                    <a:tc>
                      <a:txBody>
                        <a:bodyPr/>
                        <a:lstStyle/>
                        <a:p>
                          <a:endParaRPr lang="es-CO"/>
                        </a:p>
                      </a:txBody>
                      <a:tcPr>
                        <a:blipFill>
                          <a:blip r:embed="rId3"/>
                          <a:stretch>
                            <a:fillRect l="-1613" t="-201538" r="-2929032" b="-604615"/>
                          </a:stretch>
                        </a:blipFill>
                      </a:tcPr>
                    </a:tc>
                    <a:tc>
                      <a:txBody>
                        <a:bodyPr/>
                        <a:lstStyle/>
                        <a:p>
                          <a:endParaRPr lang="es-CO"/>
                        </a:p>
                      </a:txBody>
                      <a:tcPr>
                        <a:blipFill>
                          <a:blip r:embed="rId3"/>
                          <a:stretch>
                            <a:fillRect l="-103279" t="-201538" r="-2877049" b="-604615"/>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3"/>
                          <a:stretch>
                            <a:fillRect l="-200000" t="-201538" r="-2730645" b="-604615"/>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206667" t="-201538" r="-1781111" b="-604615"/>
                          </a:stretch>
                        </a:blipFill>
                      </a:tcPr>
                    </a:tc>
                    <a:tc>
                      <a:txBody>
                        <a:bodyPr/>
                        <a:lstStyle/>
                        <a:p>
                          <a:endParaRPr lang="es-CO"/>
                        </a:p>
                      </a:txBody>
                      <a:tcPr>
                        <a:blipFill>
                          <a:blip r:embed="rId3"/>
                          <a:stretch>
                            <a:fillRect l="-176923" t="-201538" r="-927564" b="-604615"/>
                          </a:stretch>
                        </a:blipFill>
                      </a:tcPr>
                    </a:tc>
                    <a:tc>
                      <a:txBody>
                        <a:bodyPr/>
                        <a:lstStyle/>
                        <a:p>
                          <a:endParaRPr lang="es-CO"/>
                        </a:p>
                      </a:txBody>
                      <a:tcPr>
                        <a:lnR w="3175" cap="flat" cmpd="sng" algn="ctr">
                          <a:solidFill>
                            <a:schemeClr val="tx1"/>
                          </a:solidFill>
                          <a:prstDash val="solid"/>
                          <a:round/>
                          <a:headEnd type="none" w="med" len="med"/>
                          <a:tailEnd type="none" w="med" len="med"/>
                        </a:lnR>
                        <a:blipFill>
                          <a:blip r:embed="rId3"/>
                          <a:stretch>
                            <a:fillRect l="-342857" t="-201538" r="-1048413" b="-604615"/>
                          </a:stretch>
                        </a:blipFill>
                      </a:tcPr>
                    </a:tc>
                    <a:tc>
                      <a:txBody>
                        <a:bodyPr/>
                        <a:lstStyle/>
                        <a:p>
                          <a:endParaRPr lang="es-CO"/>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blipFill>
                          <a:blip r:embed="rId3"/>
                          <a:stretch>
                            <a:fillRect l="-236441" t="-201538" r="-459746" b="-604615"/>
                          </a:stretch>
                        </a:blipFill>
                      </a:tcPr>
                    </a:tc>
                    <a:tc>
                      <a:txBody>
                        <a:bodyPr/>
                        <a:lstStyle/>
                        <a:p>
                          <a:endParaRPr lang="es-CO"/>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blipFill>
                          <a:blip r:embed="rId3"/>
                          <a:stretch>
                            <a:fillRect l="-385437" t="-201538" r="-426699" b="-604615"/>
                          </a:stretch>
                        </a:blipFill>
                      </a:tcPr>
                    </a:tc>
                    <a:tc>
                      <a:txBody>
                        <a:bodyPr/>
                        <a:lstStyle/>
                        <a:p>
                          <a:endParaRPr lang="es-CO"/>
                        </a:p>
                      </a:txBody>
                      <a:tcP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blipFill>
                          <a:blip r:embed="rId3"/>
                          <a:stretch>
                            <a:fillRect l="-183486" t="-201538" r="-61284" b="-604615"/>
                          </a:stretch>
                        </a:blipFill>
                      </a:tcPr>
                    </a:tc>
                    <a:tc>
                      <a:txBody>
                        <a:bodyPr/>
                        <a:lstStyle/>
                        <a:p>
                          <a:endParaRPr lang="es-CO"/>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blipFill>
                          <a:blip r:embed="rId3"/>
                          <a:stretch>
                            <a:fillRect l="-1051020" t="-201538" r="-127211" b="-604615"/>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919565" t="-201538" r="-1630" b="-604615"/>
                          </a:stretch>
                        </a:blipFill>
                      </a:tcPr>
                    </a:tc>
                    <a:extLst>
                      <a:ext uri="{0D108BD9-81ED-4DB2-BD59-A6C34878D82A}">
                        <a16:rowId xmlns:a16="http://schemas.microsoft.com/office/drawing/2014/main" val="2353127006"/>
                      </a:ext>
                    </a:extLst>
                  </a:tr>
                  <a:tr h="396240">
                    <a:tc>
                      <a:txBody>
                        <a:bodyPr/>
                        <a:lstStyle/>
                        <a:p>
                          <a:endParaRPr lang="es-CO"/>
                        </a:p>
                      </a:txBody>
                      <a:tcPr>
                        <a:blipFill>
                          <a:blip r:embed="rId3"/>
                          <a:stretch>
                            <a:fillRect l="-1613" t="-301538" r="-2929032" b="-504615"/>
                          </a:stretch>
                        </a:blipFill>
                      </a:tcPr>
                    </a:tc>
                    <a:tc>
                      <a:txBody>
                        <a:bodyPr/>
                        <a:lstStyle/>
                        <a:p>
                          <a:endParaRPr lang="es-CO"/>
                        </a:p>
                      </a:txBody>
                      <a:tcPr>
                        <a:blipFill>
                          <a:blip r:embed="rId3"/>
                          <a:stretch>
                            <a:fillRect l="-103279" t="-301538" r="-2877049" b="-504615"/>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3"/>
                          <a:stretch>
                            <a:fillRect l="-200000" t="-301538" r="-2730645" b="-504615"/>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206667" t="-301538" r="-1781111" b="-504615"/>
                          </a:stretch>
                        </a:blipFill>
                      </a:tcPr>
                    </a:tc>
                    <a:tc>
                      <a:txBody>
                        <a:bodyPr/>
                        <a:lstStyle/>
                        <a:p>
                          <a:endParaRPr lang="es-CO"/>
                        </a:p>
                      </a:txBody>
                      <a:tcPr>
                        <a:blipFill>
                          <a:blip r:embed="rId3"/>
                          <a:stretch>
                            <a:fillRect l="-176923" t="-301538" r="-927564" b="-504615"/>
                          </a:stretch>
                        </a:blipFill>
                      </a:tcPr>
                    </a:tc>
                    <a:tc>
                      <a:txBody>
                        <a:bodyPr/>
                        <a:lstStyle/>
                        <a:p>
                          <a:endParaRPr lang="es-CO"/>
                        </a:p>
                      </a:txBody>
                      <a:tcPr>
                        <a:lnR w="3175" cap="flat" cmpd="sng" algn="ctr">
                          <a:solidFill>
                            <a:schemeClr val="tx1"/>
                          </a:solidFill>
                          <a:prstDash val="solid"/>
                          <a:round/>
                          <a:headEnd type="none" w="med" len="med"/>
                          <a:tailEnd type="none" w="med" len="med"/>
                        </a:lnR>
                        <a:blipFill>
                          <a:blip r:embed="rId3"/>
                          <a:stretch>
                            <a:fillRect l="-342857" t="-301538" r="-1048413" b="-504615"/>
                          </a:stretch>
                        </a:blipFill>
                      </a:tcPr>
                    </a:tc>
                    <a:tc>
                      <a:txBody>
                        <a:bodyPr/>
                        <a:lstStyle/>
                        <a:p>
                          <a:endParaRPr lang="es-CO"/>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blipFill>
                          <a:blip r:embed="rId3"/>
                          <a:stretch>
                            <a:fillRect l="-236441" t="-301538" r="-459746" b="-504615"/>
                          </a:stretch>
                        </a:blipFill>
                      </a:tcPr>
                    </a:tc>
                    <a:tc>
                      <a:txBody>
                        <a:bodyPr/>
                        <a:lstStyle/>
                        <a:p>
                          <a:endParaRPr lang="es-CO"/>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blipFill>
                          <a:blip r:embed="rId3"/>
                          <a:stretch>
                            <a:fillRect l="-385437" t="-301538" r="-426699" b="-504615"/>
                          </a:stretch>
                        </a:blipFill>
                      </a:tcPr>
                    </a:tc>
                    <a:tc>
                      <a:txBody>
                        <a:bodyPr/>
                        <a:lstStyle/>
                        <a:p>
                          <a:endParaRPr lang="es-CO"/>
                        </a:p>
                      </a:txBody>
                      <a:tcP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blipFill>
                          <a:blip r:embed="rId3"/>
                          <a:stretch>
                            <a:fillRect l="-183486" t="-301538" r="-61284" b="-504615"/>
                          </a:stretch>
                        </a:blipFill>
                      </a:tcPr>
                    </a:tc>
                    <a:tc>
                      <a:txBody>
                        <a:bodyPr/>
                        <a:lstStyle/>
                        <a:p>
                          <a:endParaRPr lang="es-CO"/>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blipFill>
                          <a:blip r:embed="rId3"/>
                          <a:stretch>
                            <a:fillRect l="-1051020" t="-301538" r="-127211" b="-504615"/>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919565" t="-301538" r="-1630" b="-504615"/>
                          </a:stretch>
                        </a:blipFill>
                      </a:tcPr>
                    </a:tc>
                    <a:extLst>
                      <a:ext uri="{0D108BD9-81ED-4DB2-BD59-A6C34878D82A}">
                        <a16:rowId xmlns:a16="http://schemas.microsoft.com/office/drawing/2014/main" val="3651764017"/>
                      </a:ext>
                    </a:extLst>
                  </a:tr>
                  <a:tr h="396240">
                    <a:tc>
                      <a:txBody>
                        <a:bodyPr/>
                        <a:lstStyle/>
                        <a:p>
                          <a:endParaRPr lang="es-CO"/>
                        </a:p>
                      </a:txBody>
                      <a:tcPr>
                        <a:blipFill>
                          <a:blip r:embed="rId3"/>
                          <a:stretch>
                            <a:fillRect l="-1613" t="-395455" r="-2929032" b="-396970"/>
                          </a:stretch>
                        </a:blipFill>
                      </a:tcPr>
                    </a:tc>
                    <a:tc>
                      <a:txBody>
                        <a:bodyPr/>
                        <a:lstStyle/>
                        <a:p>
                          <a:endParaRPr lang="es-CO"/>
                        </a:p>
                      </a:txBody>
                      <a:tcPr>
                        <a:blipFill>
                          <a:blip r:embed="rId3"/>
                          <a:stretch>
                            <a:fillRect l="-103279" t="-395455" r="-2877049" b="-396970"/>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3"/>
                          <a:stretch>
                            <a:fillRect l="-200000" t="-395455" r="-2730645" b="-396970"/>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206667" t="-395455" r="-1781111" b="-396970"/>
                          </a:stretch>
                        </a:blipFill>
                      </a:tcPr>
                    </a:tc>
                    <a:tc>
                      <a:txBody>
                        <a:bodyPr/>
                        <a:lstStyle/>
                        <a:p>
                          <a:endParaRPr lang="es-CO"/>
                        </a:p>
                      </a:txBody>
                      <a:tcPr>
                        <a:blipFill>
                          <a:blip r:embed="rId3"/>
                          <a:stretch>
                            <a:fillRect l="-176923" t="-395455" r="-927564" b="-396970"/>
                          </a:stretch>
                        </a:blipFill>
                      </a:tcPr>
                    </a:tc>
                    <a:tc>
                      <a:txBody>
                        <a:bodyPr/>
                        <a:lstStyle/>
                        <a:p>
                          <a:endParaRPr lang="es-CO"/>
                        </a:p>
                      </a:txBody>
                      <a:tcPr>
                        <a:lnR w="3175" cap="flat" cmpd="sng" algn="ctr">
                          <a:solidFill>
                            <a:schemeClr val="tx1"/>
                          </a:solidFill>
                          <a:prstDash val="solid"/>
                          <a:round/>
                          <a:headEnd type="none" w="med" len="med"/>
                          <a:tailEnd type="none" w="med" len="med"/>
                        </a:lnR>
                        <a:blipFill>
                          <a:blip r:embed="rId3"/>
                          <a:stretch>
                            <a:fillRect l="-342857" t="-395455" r="-1048413" b="-396970"/>
                          </a:stretch>
                        </a:blipFill>
                      </a:tcPr>
                    </a:tc>
                    <a:tc>
                      <a:txBody>
                        <a:bodyPr/>
                        <a:lstStyle/>
                        <a:p>
                          <a:endParaRPr lang="es-CO"/>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blipFill>
                          <a:blip r:embed="rId3"/>
                          <a:stretch>
                            <a:fillRect l="-236441" t="-395455" r="-459746" b="-396970"/>
                          </a:stretch>
                        </a:blipFill>
                      </a:tcPr>
                    </a:tc>
                    <a:tc>
                      <a:txBody>
                        <a:bodyPr/>
                        <a:lstStyle/>
                        <a:p>
                          <a:endParaRPr lang="es-CO"/>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blipFill>
                          <a:blip r:embed="rId3"/>
                          <a:stretch>
                            <a:fillRect l="-385437" t="-395455" r="-426699" b="-396970"/>
                          </a:stretch>
                        </a:blipFill>
                      </a:tcPr>
                    </a:tc>
                    <a:tc>
                      <a:txBody>
                        <a:bodyPr/>
                        <a:lstStyle/>
                        <a:p>
                          <a:endParaRPr lang="es-CO"/>
                        </a:p>
                      </a:txBody>
                      <a:tcP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blipFill>
                          <a:blip r:embed="rId3"/>
                          <a:stretch>
                            <a:fillRect l="-183486" t="-395455" r="-61284" b="-396970"/>
                          </a:stretch>
                        </a:blipFill>
                      </a:tcPr>
                    </a:tc>
                    <a:tc>
                      <a:txBody>
                        <a:bodyPr/>
                        <a:lstStyle/>
                        <a:p>
                          <a:endParaRPr lang="es-CO"/>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blipFill>
                          <a:blip r:embed="rId3"/>
                          <a:stretch>
                            <a:fillRect l="-1051020" t="-395455" r="-127211" b="-396970"/>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919565" t="-395455" r="-1630" b="-396970"/>
                          </a:stretch>
                        </a:blipFill>
                      </a:tcPr>
                    </a:tc>
                    <a:extLst>
                      <a:ext uri="{0D108BD9-81ED-4DB2-BD59-A6C34878D82A}">
                        <a16:rowId xmlns:a16="http://schemas.microsoft.com/office/drawing/2014/main" val="2841338906"/>
                      </a:ext>
                    </a:extLst>
                  </a:tr>
                  <a:tr h="396240">
                    <a:tc>
                      <a:txBody>
                        <a:bodyPr/>
                        <a:lstStyle/>
                        <a:p>
                          <a:endParaRPr lang="es-CO"/>
                        </a:p>
                      </a:txBody>
                      <a:tcPr>
                        <a:blipFill>
                          <a:blip r:embed="rId3"/>
                          <a:stretch>
                            <a:fillRect l="-1613" t="-503077" r="-2929032" b="-303077"/>
                          </a:stretch>
                        </a:blipFill>
                      </a:tcPr>
                    </a:tc>
                    <a:tc>
                      <a:txBody>
                        <a:bodyPr/>
                        <a:lstStyle/>
                        <a:p>
                          <a:endParaRPr lang="es-CO"/>
                        </a:p>
                      </a:txBody>
                      <a:tcPr>
                        <a:blipFill>
                          <a:blip r:embed="rId3"/>
                          <a:stretch>
                            <a:fillRect l="-103279" t="-503077" r="-2877049" b="-303077"/>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3"/>
                          <a:stretch>
                            <a:fillRect l="-200000" t="-503077" r="-2730645" b="-303077"/>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206667" t="-503077" r="-1781111" b="-303077"/>
                          </a:stretch>
                        </a:blipFill>
                      </a:tcPr>
                    </a:tc>
                    <a:tc>
                      <a:txBody>
                        <a:bodyPr/>
                        <a:lstStyle/>
                        <a:p>
                          <a:endParaRPr lang="es-CO"/>
                        </a:p>
                      </a:txBody>
                      <a:tcPr>
                        <a:blipFill>
                          <a:blip r:embed="rId3"/>
                          <a:stretch>
                            <a:fillRect l="-176923" t="-503077" r="-927564" b="-303077"/>
                          </a:stretch>
                        </a:blipFill>
                      </a:tcPr>
                    </a:tc>
                    <a:tc>
                      <a:txBody>
                        <a:bodyPr/>
                        <a:lstStyle/>
                        <a:p>
                          <a:endParaRPr lang="es-CO"/>
                        </a:p>
                      </a:txBody>
                      <a:tcPr>
                        <a:lnR w="3175" cap="flat" cmpd="sng" algn="ctr">
                          <a:solidFill>
                            <a:schemeClr val="tx1"/>
                          </a:solidFill>
                          <a:prstDash val="solid"/>
                          <a:round/>
                          <a:headEnd type="none" w="med" len="med"/>
                          <a:tailEnd type="none" w="med" len="med"/>
                        </a:lnR>
                        <a:blipFill>
                          <a:blip r:embed="rId3"/>
                          <a:stretch>
                            <a:fillRect l="-342857" t="-503077" r="-1048413" b="-303077"/>
                          </a:stretch>
                        </a:blipFill>
                      </a:tcPr>
                    </a:tc>
                    <a:tc>
                      <a:txBody>
                        <a:bodyPr/>
                        <a:lstStyle/>
                        <a:p>
                          <a:endParaRPr lang="es-CO"/>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blipFill>
                          <a:blip r:embed="rId3"/>
                          <a:stretch>
                            <a:fillRect l="-236441" t="-503077" r="-459746" b="-303077"/>
                          </a:stretch>
                        </a:blipFill>
                      </a:tcPr>
                    </a:tc>
                    <a:tc>
                      <a:txBody>
                        <a:bodyPr/>
                        <a:lstStyle/>
                        <a:p>
                          <a:endParaRPr lang="es-CO"/>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blipFill>
                          <a:blip r:embed="rId3"/>
                          <a:stretch>
                            <a:fillRect l="-385437" t="-503077" r="-426699" b="-303077"/>
                          </a:stretch>
                        </a:blipFill>
                      </a:tcPr>
                    </a:tc>
                    <a:tc>
                      <a:txBody>
                        <a:bodyPr/>
                        <a:lstStyle/>
                        <a:p>
                          <a:endParaRPr lang="es-CO"/>
                        </a:p>
                      </a:txBody>
                      <a:tcP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blipFill>
                          <a:blip r:embed="rId3"/>
                          <a:stretch>
                            <a:fillRect l="-183486" t="-503077" r="-61284" b="-303077"/>
                          </a:stretch>
                        </a:blipFill>
                      </a:tcPr>
                    </a:tc>
                    <a:tc>
                      <a:txBody>
                        <a:bodyPr/>
                        <a:lstStyle/>
                        <a:p>
                          <a:endParaRPr lang="es-CO"/>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blipFill>
                          <a:blip r:embed="rId3"/>
                          <a:stretch>
                            <a:fillRect l="-1051020" t="-503077" r="-127211" b="-303077"/>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919565" t="-503077" r="-1630" b="-303077"/>
                          </a:stretch>
                        </a:blipFill>
                      </a:tcPr>
                    </a:tc>
                    <a:extLst>
                      <a:ext uri="{0D108BD9-81ED-4DB2-BD59-A6C34878D82A}">
                        <a16:rowId xmlns:a16="http://schemas.microsoft.com/office/drawing/2014/main" val="1632356540"/>
                      </a:ext>
                    </a:extLst>
                  </a:tr>
                  <a:tr h="396240">
                    <a:tc>
                      <a:txBody>
                        <a:bodyPr/>
                        <a:lstStyle/>
                        <a:p>
                          <a:endParaRPr lang="es-CO"/>
                        </a:p>
                      </a:txBody>
                      <a:tcPr>
                        <a:blipFill>
                          <a:blip r:embed="rId3"/>
                          <a:stretch>
                            <a:fillRect l="-1613" t="-603077" r="-2929032" b="-203077"/>
                          </a:stretch>
                        </a:blipFill>
                      </a:tcPr>
                    </a:tc>
                    <a:tc>
                      <a:txBody>
                        <a:bodyPr/>
                        <a:lstStyle/>
                        <a:p>
                          <a:endParaRPr lang="es-CO"/>
                        </a:p>
                      </a:txBody>
                      <a:tcPr>
                        <a:blipFill>
                          <a:blip r:embed="rId3"/>
                          <a:stretch>
                            <a:fillRect l="-103279" t="-603077" r="-2877049" b="-203077"/>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3"/>
                          <a:stretch>
                            <a:fillRect l="-200000" t="-603077" r="-2730645" b="-203077"/>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206667" t="-603077" r="-1781111" b="-203077"/>
                          </a:stretch>
                        </a:blipFill>
                      </a:tcPr>
                    </a:tc>
                    <a:tc>
                      <a:txBody>
                        <a:bodyPr/>
                        <a:lstStyle/>
                        <a:p>
                          <a:endParaRPr lang="es-CO"/>
                        </a:p>
                      </a:txBody>
                      <a:tcPr>
                        <a:blipFill>
                          <a:blip r:embed="rId3"/>
                          <a:stretch>
                            <a:fillRect l="-176923" t="-603077" r="-927564" b="-203077"/>
                          </a:stretch>
                        </a:blipFill>
                      </a:tcPr>
                    </a:tc>
                    <a:tc>
                      <a:txBody>
                        <a:bodyPr/>
                        <a:lstStyle/>
                        <a:p>
                          <a:endParaRPr lang="es-CO"/>
                        </a:p>
                      </a:txBody>
                      <a:tcPr>
                        <a:lnR w="3175" cap="flat" cmpd="sng" algn="ctr">
                          <a:solidFill>
                            <a:schemeClr val="tx1"/>
                          </a:solidFill>
                          <a:prstDash val="solid"/>
                          <a:round/>
                          <a:headEnd type="none" w="med" len="med"/>
                          <a:tailEnd type="none" w="med" len="med"/>
                        </a:lnR>
                        <a:blipFill>
                          <a:blip r:embed="rId3"/>
                          <a:stretch>
                            <a:fillRect l="-342857" t="-603077" r="-1048413" b="-203077"/>
                          </a:stretch>
                        </a:blipFill>
                      </a:tcPr>
                    </a:tc>
                    <a:tc>
                      <a:txBody>
                        <a:bodyPr/>
                        <a:lstStyle/>
                        <a:p>
                          <a:endParaRPr lang="es-CO"/>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blipFill>
                          <a:blip r:embed="rId3"/>
                          <a:stretch>
                            <a:fillRect l="-236441" t="-603077" r="-459746" b="-203077"/>
                          </a:stretch>
                        </a:blipFill>
                      </a:tcPr>
                    </a:tc>
                    <a:tc>
                      <a:txBody>
                        <a:bodyPr/>
                        <a:lstStyle/>
                        <a:p>
                          <a:endParaRPr lang="es-CO"/>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blipFill>
                          <a:blip r:embed="rId3"/>
                          <a:stretch>
                            <a:fillRect l="-385437" t="-603077" r="-426699" b="-203077"/>
                          </a:stretch>
                        </a:blipFill>
                      </a:tcPr>
                    </a:tc>
                    <a:tc>
                      <a:txBody>
                        <a:bodyPr/>
                        <a:lstStyle/>
                        <a:p>
                          <a:endParaRPr lang="es-CO"/>
                        </a:p>
                      </a:txBody>
                      <a:tcP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blipFill>
                          <a:blip r:embed="rId3"/>
                          <a:stretch>
                            <a:fillRect l="-183486" t="-603077" r="-61284" b="-203077"/>
                          </a:stretch>
                        </a:blipFill>
                      </a:tcPr>
                    </a:tc>
                    <a:tc>
                      <a:txBody>
                        <a:bodyPr/>
                        <a:lstStyle/>
                        <a:p>
                          <a:endParaRPr lang="es-CO"/>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blipFill>
                          <a:blip r:embed="rId3"/>
                          <a:stretch>
                            <a:fillRect l="-1051020" t="-603077" r="-127211" b="-203077"/>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919565" t="-603077" r="-1630" b="-203077"/>
                          </a:stretch>
                        </a:blipFill>
                      </a:tcPr>
                    </a:tc>
                    <a:extLst>
                      <a:ext uri="{0D108BD9-81ED-4DB2-BD59-A6C34878D82A}">
                        <a16:rowId xmlns:a16="http://schemas.microsoft.com/office/drawing/2014/main" val="2671630554"/>
                      </a:ext>
                    </a:extLst>
                  </a:tr>
                  <a:tr h="396240">
                    <a:tc>
                      <a:txBody>
                        <a:bodyPr/>
                        <a:lstStyle/>
                        <a:p>
                          <a:endParaRPr lang="es-CO"/>
                        </a:p>
                      </a:txBody>
                      <a:tcPr>
                        <a:blipFill>
                          <a:blip r:embed="rId3"/>
                          <a:stretch>
                            <a:fillRect l="-1613" t="-703077" r="-2929032" b="-103077"/>
                          </a:stretch>
                        </a:blipFill>
                      </a:tcPr>
                    </a:tc>
                    <a:tc>
                      <a:txBody>
                        <a:bodyPr/>
                        <a:lstStyle/>
                        <a:p>
                          <a:endParaRPr lang="es-CO"/>
                        </a:p>
                      </a:txBody>
                      <a:tcPr>
                        <a:blipFill>
                          <a:blip r:embed="rId3"/>
                          <a:stretch>
                            <a:fillRect l="-103279" t="-703077" r="-2877049" b="-103077"/>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3"/>
                          <a:stretch>
                            <a:fillRect l="-200000" t="-703077" r="-2730645" b="-103077"/>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206667" t="-703077" r="-1781111" b="-103077"/>
                          </a:stretch>
                        </a:blipFill>
                      </a:tcPr>
                    </a:tc>
                    <a:tc>
                      <a:txBody>
                        <a:bodyPr/>
                        <a:lstStyle/>
                        <a:p>
                          <a:endParaRPr lang="es-CO"/>
                        </a:p>
                      </a:txBody>
                      <a:tcPr>
                        <a:blipFill>
                          <a:blip r:embed="rId3"/>
                          <a:stretch>
                            <a:fillRect l="-176923" t="-703077" r="-927564" b="-103077"/>
                          </a:stretch>
                        </a:blipFill>
                      </a:tcPr>
                    </a:tc>
                    <a:tc>
                      <a:txBody>
                        <a:bodyPr/>
                        <a:lstStyle/>
                        <a:p>
                          <a:endParaRPr lang="es-CO"/>
                        </a:p>
                      </a:txBody>
                      <a:tcPr>
                        <a:lnR w="3175" cap="flat" cmpd="sng" algn="ctr">
                          <a:solidFill>
                            <a:schemeClr val="tx1"/>
                          </a:solidFill>
                          <a:prstDash val="solid"/>
                          <a:round/>
                          <a:headEnd type="none" w="med" len="med"/>
                          <a:tailEnd type="none" w="med" len="med"/>
                        </a:lnR>
                        <a:blipFill>
                          <a:blip r:embed="rId3"/>
                          <a:stretch>
                            <a:fillRect l="-342857" t="-703077" r="-1048413" b="-103077"/>
                          </a:stretch>
                        </a:blipFill>
                      </a:tcPr>
                    </a:tc>
                    <a:tc>
                      <a:txBody>
                        <a:bodyPr/>
                        <a:lstStyle/>
                        <a:p>
                          <a:endParaRPr lang="es-CO"/>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blipFill>
                          <a:blip r:embed="rId3"/>
                          <a:stretch>
                            <a:fillRect l="-236441" t="-703077" r="-459746" b="-103077"/>
                          </a:stretch>
                        </a:blipFill>
                      </a:tcPr>
                    </a:tc>
                    <a:tc>
                      <a:txBody>
                        <a:bodyPr/>
                        <a:lstStyle/>
                        <a:p>
                          <a:endParaRPr lang="es-CO"/>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blipFill>
                          <a:blip r:embed="rId3"/>
                          <a:stretch>
                            <a:fillRect l="-385437" t="-703077" r="-426699" b="-103077"/>
                          </a:stretch>
                        </a:blipFill>
                      </a:tcPr>
                    </a:tc>
                    <a:tc>
                      <a:txBody>
                        <a:bodyPr/>
                        <a:lstStyle/>
                        <a:p>
                          <a:endParaRPr lang="es-CO"/>
                        </a:p>
                      </a:txBody>
                      <a:tcP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blipFill>
                          <a:blip r:embed="rId3"/>
                          <a:stretch>
                            <a:fillRect l="-183486" t="-703077" r="-61284" b="-103077"/>
                          </a:stretch>
                        </a:blipFill>
                      </a:tcPr>
                    </a:tc>
                    <a:tc>
                      <a:txBody>
                        <a:bodyPr/>
                        <a:lstStyle/>
                        <a:p>
                          <a:endParaRPr lang="es-CO"/>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blipFill>
                          <a:blip r:embed="rId3"/>
                          <a:stretch>
                            <a:fillRect l="-1051020" t="-703077" r="-127211" b="-103077"/>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919565" t="-703077" r="-1630" b="-103077"/>
                          </a:stretch>
                        </a:blipFill>
                      </a:tcPr>
                    </a:tc>
                    <a:extLst>
                      <a:ext uri="{0D108BD9-81ED-4DB2-BD59-A6C34878D82A}">
                        <a16:rowId xmlns:a16="http://schemas.microsoft.com/office/drawing/2014/main" val="117604333"/>
                      </a:ext>
                    </a:extLst>
                  </a:tr>
                  <a:tr h="396240">
                    <a:tc>
                      <a:txBody>
                        <a:bodyPr/>
                        <a:lstStyle/>
                        <a:p>
                          <a:endParaRPr lang="es-CO"/>
                        </a:p>
                      </a:txBody>
                      <a:tcPr>
                        <a:blipFill>
                          <a:blip r:embed="rId3"/>
                          <a:stretch>
                            <a:fillRect l="-1613" t="-803077" r="-2929032" b="-3077"/>
                          </a:stretch>
                        </a:blipFill>
                      </a:tcPr>
                    </a:tc>
                    <a:tc>
                      <a:txBody>
                        <a:bodyPr/>
                        <a:lstStyle/>
                        <a:p>
                          <a:endParaRPr lang="es-CO"/>
                        </a:p>
                      </a:txBody>
                      <a:tcPr>
                        <a:blipFill>
                          <a:blip r:embed="rId3"/>
                          <a:stretch>
                            <a:fillRect l="-103279" t="-803077" r="-2877049" b="-3077"/>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3"/>
                          <a:stretch>
                            <a:fillRect l="-200000" t="-803077" r="-2730645" b="-3077"/>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206667" t="-803077" r="-1781111" b="-3077"/>
                          </a:stretch>
                        </a:blipFill>
                      </a:tcPr>
                    </a:tc>
                    <a:tc>
                      <a:txBody>
                        <a:bodyPr/>
                        <a:lstStyle/>
                        <a:p>
                          <a:endParaRPr lang="es-CO"/>
                        </a:p>
                      </a:txBody>
                      <a:tcPr>
                        <a:blipFill>
                          <a:blip r:embed="rId3"/>
                          <a:stretch>
                            <a:fillRect l="-176923" t="-803077" r="-927564" b="-3077"/>
                          </a:stretch>
                        </a:blipFill>
                      </a:tcPr>
                    </a:tc>
                    <a:tc>
                      <a:txBody>
                        <a:bodyPr/>
                        <a:lstStyle/>
                        <a:p>
                          <a:endParaRPr lang="es-CO"/>
                        </a:p>
                      </a:txBody>
                      <a:tcPr>
                        <a:lnR w="3175" cap="flat" cmpd="sng" algn="ctr">
                          <a:solidFill>
                            <a:schemeClr val="tx1"/>
                          </a:solidFill>
                          <a:prstDash val="solid"/>
                          <a:round/>
                          <a:headEnd type="none" w="med" len="med"/>
                          <a:tailEnd type="none" w="med" len="med"/>
                        </a:lnR>
                        <a:blipFill>
                          <a:blip r:embed="rId3"/>
                          <a:stretch>
                            <a:fillRect l="-342857" t="-803077" r="-1048413" b="-3077"/>
                          </a:stretch>
                        </a:blipFill>
                      </a:tcPr>
                    </a:tc>
                    <a:tc>
                      <a:txBody>
                        <a:bodyPr/>
                        <a:lstStyle/>
                        <a:p>
                          <a:endParaRPr lang="es-CO"/>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blipFill>
                          <a:blip r:embed="rId3"/>
                          <a:stretch>
                            <a:fillRect l="-236441" t="-803077" r="-459746" b="-3077"/>
                          </a:stretch>
                        </a:blipFill>
                      </a:tcPr>
                    </a:tc>
                    <a:tc>
                      <a:txBody>
                        <a:bodyPr/>
                        <a:lstStyle/>
                        <a:p>
                          <a:endParaRPr lang="es-CO"/>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blipFill>
                          <a:blip r:embed="rId3"/>
                          <a:stretch>
                            <a:fillRect l="-385437" t="-803077" r="-426699" b="-3077"/>
                          </a:stretch>
                        </a:blipFill>
                      </a:tcPr>
                    </a:tc>
                    <a:tc>
                      <a:txBody>
                        <a:bodyPr/>
                        <a:lstStyle/>
                        <a:p>
                          <a:endParaRPr lang="es-CO"/>
                        </a:p>
                      </a:txBody>
                      <a:tcPr>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blipFill>
                          <a:blip r:embed="rId3"/>
                          <a:stretch>
                            <a:fillRect l="-183486" t="-803077" r="-61284" b="-3077"/>
                          </a:stretch>
                        </a:blipFill>
                      </a:tcPr>
                    </a:tc>
                    <a:tc>
                      <a:txBody>
                        <a:bodyPr/>
                        <a:lstStyle/>
                        <a:p>
                          <a:endParaRPr lang="es-CO"/>
                        </a:p>
                      </a:txBody>
                      <a:tcPr>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blipFill>
                          <a:blip r:embed="rId3"/>
                          <a:stretch>
                            <a:fillRect l="-1051020" t="-803077" r="-127211" b="-3077"/>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3"/>
                          <a:stretch>
                            <a:fillRect l="-919565" t="-803077" r="-1630" b="-3077"/>
                          </a:stretch>
                        </a:blipFill>
                      </a:tcPr>
                    </a:tc>
                    <a:extLst>
                      <a:ext uri="{0D108BD9-81ED-4DB2-BD59-A6C34878D82A}">
                        <a16:rowId xmlns:a16="http://schemas.microsoft.com/office/drawing/2014/main" val="768255264"/>
                      </a:ext>
                    </a:extLst>
                  </a:tr>
                </a:tbl>
              </a:graphicData>
            </a:graphic>
          </p:graphicFrame>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DEA6B94A-56ED-4760-B1B3-9599A45ADA28}"/>
                  </a:ext>
                </a:extLst>
              </p:cNvPr>
              <p:cNvSpPr txBox="1"/>
              <p:nvPr/>
            </p:nvSpPr>
            <p:spPr>
              <a:xfrm>
                <a:off x="846255" y="2570979"/>
                <a:ext cx="5555672" cy="307777"/>
              </a:xfrm>
              <a:prstGeom prst="rect">
                <a:avLst/>
              </a:prstGeom>
              <a:solidFill>
                <a:schemeClr val="bg1">
                  <a:lumMod val="95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𝐹</m:t>
                      </m:r>
                      <m:r>
                        <a:rPr lang="es-MX" sz="2000" b="0" i="1" smtClean="0">
                          <a:latin typeface="Cambria Math" panose="02040503050406030204" pitchFamily="18" charset="0"/>
                          <a:ea typeface="Roboto" panose="02000000000000000000" pitchFamily="2" charset="0"/>
                        </a:rPr>
                        <m:t>=</m:t>
                      </m:r>
                      <m:d>
                        <m:dPr>
                          <m:begChr m:val="["/>
                          <m:endChr m:val="]"/>
                          <m:ctrlPr>
                            <a:rPr lang="es-MX" sz="2000" b="0" i="1" smtClean="0">
                              <a:latin typeface="Cambria Math" panose="02040503050406030204" pitchFamily="18" charset="0"/>
                              <a:ea typeface="Roboto" panose="02000000000000000000" pitchFamily="2" charset="0"/>
                            </a:rPr>
                          </m:ctrlPr>
                        </m:dPr>
                        <m:e>
                          <m:d>
                            <m:dPr>
                              <m:ctrlPr>
                                <a:rPr lang="es-MX" sz="2000" b="0" i="1" smtClean="0">
                                  <a:latin typeface="Cambria Math" panose="02040503050406030204" pitchFamily="18" charset="0"/>
                                  <a:ea typeface="Roboto" panose="02000000000000000000" pitchFamily="2" charset="0"/>
                                </a:rPr>
                              </m:ctrlPr>
                            </m:dPr>
                            <m:e>
                              <m:r>
                                <a:rPr lang="es-MX" sz="2000" i="1">
                                  <a:latin typeface="Cambria Math" panose="02040503050406030204" pitchFamily="18" charset="0"/>
                                  <a:ea typeface="Roboto" panose="02000000000000000000" pitchFamily="2" charset="0"/>
                                </a:rPr>
                                <m:t>𝑝</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𝑞</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𝑟</m:t>
                              </m:r>
                            </m:e>
                          </m:d>
                          <m:r>
                            <a:rPr lang="es-MX" sz="2000" i="1">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Roboto" panose="02000000000000000000" pitchFamily="2" charset="0"/>
                                </a:rPr>
                                <m:t>𝑞</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Roboto" panose="02000000000000000000" pitchFamily="2" charset="0"/>
                                </a:rPr>
                                <m:t>𝑝</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𝑟</m:t>
                              </m:r>
                              <m:r>
                                <m:rPr>
                                  <m:nor/>
                                </m:rPr>
                                <a:rPr lang="es-MX" sz="2000" dirty="0">
                                  <a:latin typeface="Roboto" panose="02000000000000000000" pitchFamily="2" charset="0"/>
                                  <a:ea typeface="Cambria Math" panose="02040503050406030204" pitchFamily="18" charset="0"/>
                                </a:rPr>
                                <m:t> </m:t>
                              </m:r>
                            </m:e>
                          </m:d>
                        </m:e>
                      </m:d>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Roboto" panose="02000000000000000000" pitchFamily="2" charset="0"/>
                            </a:rPr>
                            <m:t>𝑝</m:t>
                          </m:r>
                          <m:r>
                            <a:rPr lang="es-MX" sz="2000" i="1">
                              <a:latin typeface="Cambria Math" panose="02040503050406030204" pitchFamily="18" charset="0"/>
                              <a:ea typeface="Roboto" panose="02000000000000000000" pitchFamily="2" charset="0"/>
                            </a:rPr>
                            <m:t>→</m:t>
                          </m:r>
                          <m:r>
                            <a:rPr lang="es-MX" sz="2000" i="1">
                              <a:latin typeface="Cambria Math" panose="02040503050406030204" pitchFamily="18" charset="0"/>
                              <a:ea typeface="Cambria Math" panose="02040503050406030204" pitchFamily="18" charset="0"/>
                            </a:rPr>
                            <m:t>𝑟</m:t>
                          </m:r>
                        </m:e>
                      </m:d>
                    </m:oMath>
                  </m:oMathPara>
                </a14:m>
                <a:endParaRPr lang="es-MX" sz="2000" dirty="0">
                  <a:latin typeface="Roboto" panose="02000000000000000000" pitchFamily="2" charset="0"/>
                  <a:ea typeface="Cambria Math" panose="02040503050406030204" pitchFamily="18" charset="0"/>
                </a:endParaRPr>
              </a:p>
            </p:txBody>
          </p:sp>
        </mc:Choice>
        <mc:Fallback xmlns="">
          <p:sp>
            <p:nvSpPr>
              <p:cNvPr id="11" name="CuadroTexto 10">
                <a:extLst>
                  <a:ext uri="{FF2B5EF4-FFF2-40B4-BE49-F238E27FC236}">
                    <a16:creationId xmlns:a16="http://schemas.microsoft.com/office/drawing/2014/main" id="{DEA6B94A-56ED-4760-B1B3-9599A45ADA28}"/>
                  </a:ext>
                </a:extLst>
              </p:cNvPr>
              <p:cNvSpPr txBox="1">
                <a:spLocks noRot="1" noChangeAspect="1" noMove="1" noResize="1" noEditPoints="1" noAdjustHandles="1" noChangeArrowheads="1" noChangeShapeType="1" noTextEdit="1"/>
              </p:cNvSpPr>
              <p:nvPr/>
            </p:nvSpPr>
            <p:spPr>
              <a:xfrm>
                <a:off x="846255" y="2570979"/>
                <a:ext cx="5555672" cy="307777"/>
              </a:xfrm>
              <a:prstGeom prst="rect">
                <a:avLst/>
              </a:prstGeom>
              <a:blipFill>
                <a:blip r:embed="rId4"/>
                <a:stretch>
                  <a:fillRect b="-28000"/>
                </a:stretch>
              </a:blipFill>
            </p:spPr>
            <p:txBody>
              <a:bodyPr/>
              <a:lstStyle/>
              <a:p>
                <a:r>
                  <a:rPr lang="es-CO">
                    <a:noFill/>
                  </a:rPr>
                  <a:t> </a:t>
                </a:r>
              </a:p>
            </p:txBody>
          </p:sp>
        </mc:Fallback>
      </mc:AlternateContent>
      <p:sp>
        <p:nvSpPr>
          <p:cNvPr id="32" name="CuadroTexto 31">
            <a:extLst>
              <a:ext uri="{FF2B5EF4-FFF2-40B4-BE49-F238E27FC236}">
                <a16:creationId xmlns:a16="http://schemas.microsoft.com/office/drawing/2014/main" id="{4FE1E362-A410-424C-BDFC-7A09CAFA0358}"/>
              </a:ext>
            </a:extLst>
          </p:cNvPr>
          <p:cNvSpPr txBox="1"/>
          <p:nvPr/>
        </p:nvSpPr>
        <p:spPr>
          <a:xfrm>
            <a:off x="261257" y="1351908"/>
            <a:ext cx="11312013" cy="1015663"/>
          </a:xfrm>
          <a:prstGeom prst="rect">
            <a:avLst/>
          </a:prstGeom>
          <a:noFill/>
        </p:spPr>
        <p:txBody>
          <a:bodyPr wrap="square">
            <a:spAutoFit/>
          </a:bodyPr>
          <a:lstStyle/>
          <a:p>
            <a:r>
              <a:rPr lang="es-MX" sz="2000" dirty="0">
                <a:ea typeface="Roboto" panose="02000000000000000000" pitchFamily="2" charset="0"/>
              </a:rPr>
              <a:t>El proceso que se describió con anterioridad es similar al empleado para demostrar que una proposición es una tautología mediante el uso de tablas de verdad, salvo que solo interesan las filas donde las premisas son verdaderas. A continuación se muestra el procedimiento para el caso previamente analizado:</a:t>
            </a:r>
          </a:p>
        </p:txBody>
      </p:sp>
      <p:grpSp>
        <p:nvGrpSpPr>
          <p:cNvPr id="27" name="Grupo 26">
            <a:extLst>
              <a:ext uri="{FF2B5EF4-FFF2-40B4-BE49-F238E27FC236}">
                <a16:creationId xmlns:a16="http://schemas.microsoft.com/office/drawing/2014/main" id="{494AE7ED-4B69-4035-AA21-7DEF7AF165FF}"/>
              </a:ext>
            </a:extLst>
          </p:cNvPr>
          <p:cNvGrpSpPr/>
          <p:nvPr/>
        </p:nvGrpSpPr>
        <p:grpSpPr>
          <a:xfrm>
            <a:off x="6411452" y="2349238"/>
            <a:ext cx="5544314" cy="785851"/>
            <a:chOff x="4773074" y="2729162"/>
            <a:chExt cx="4136927" cy="785851"/>
          </a:xfrm>
        </p:grpSpPr>
        <p:grpSp>
          <p:nvGrpSpPr>
            <p:cNvPr id="28" name="Grupo 27">
              <a:extLst>
                <a:ext uri="{FF2B5EF4-FFF2-40B4-BE49-F238E27FC236}">
                  <a16:creationId xmlns:a16="http://schemas.microsoft.com/office/drawing/2014/main" id="{879D03A8-02AF-4303-8040-707F575E3D11}"/>
                </a:ext>
              </a:extLst>
            </p:cNvPr>
            <p:cNvGrpSpPr/>
            <p:nvPr/>
          </p:nvGrpSpPr>
          <p:grpSpPr>
            <a:xfrm>
              <a:off x="4773074" y="2747495"/>
              <a:ext cx="3118178" cy="767518"/>
              <a:chOff x="4773074" y="2747495"/>
              <a:chExt cx="3118178" cy="767518"/>
            </a:xfrm>
          </p:grpSpPr>
          <p:sp>
            <p:nvSpPr>
              <p:cNvPr id="37" name="Abrir llave 36">
                <a:extLst>
                  <a:ext uri="{FF2B5EF4-FFF2-40B4-BE49-F238E27FC236}">
                    <a16:creationId xmlns:a16="http://schemas.microsoft.com/office/drawing/2014/main" id="{82C35114-E787-4E88-8F47-339D5E97F7A4}"/>
                  </a:ext>
                </a:extLst>
              </p:cNvPr>
              <p:cNvSpPr/>
              <p:nvPr/>
            </p:nvSpPr>
            <p:spPr>
              <a:xfrm rot="5400000">
                <a:off x="6204949" y="1828711"/>
                <a:ext cx="254427" cy="3118178"/>
              </a:xfrm>
              <a:prstGeom prst="leftBrace">
                <a:avLst>
                  <a:gd name="adj1" fmla="val 24066"/>
                  <a:gd name="adj2" fmla="val 50000"/>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dirty="0"/>
              </a:p>
            </p:txBody>
          </p:sp>
          <p:sp>
            <p:nvSpPr>
              <p:cNvPr id="38" name="CuadroTexto 37">
                <a:extLst>
                  <a:ext uri="{FF2B5EF4-FFF2-40B4-BE49-F238E27FC236}">
                    <a16:creationId xmlns:a16="http://schemas.microsoft.com/office/drawing/2014/main" id="{0B9DA832-9C02-40AE-AB77-372B1124642E}"/>
                  </a:ext>
                </a:extLst>
              </p:cNvPr>
              <p:cNvSpPr txBox="1"/>
              <p:nvPr/>
            </p:nvSpPr>
            <p:spPr>
              <a:xfrm>
                <a:off x="5562146" y="2747495"/>
                <a:ext cx="1547479" cy="430887"/>
              </a:xfrm>
              <a:prstGeom prst="rect">
                <a:avLst/>
              </a:prstGeom>
              <a:noFill/>
            </p:spPr>
            <p:txBody>
              <a:bodyPr wrap="square" rtlCol="0">
                <a:spAutoFit/>
              </a:bodyPr>
              <a:lstStyle/>
              <a:p>
                <a:pPr algn="ctr"/>
                <a:r>
                  <a:rPr lang="es-CO" sz="2200" b="1" dirty="0">
                    <a:solidFill>
                      <a:srgbClr val="C00000"/>
                    </a:solidFill>
                    <a:ea typeface="Roboto" panose="02000000000000000000" pitchFamily="2" charset="0"/>
                  </a:rPr>
                  <a:t>Premisas</a:t>
                </a:r>
              </a:p>
            </p:txBody>
          </p:sp>
        </p:grpSp>
        <p:grpSp>
          <p:nvGrpSpPr>
            <p:cNvPr id="34" name="Grupo 33">
              <a:extLst>
                <a:ext uri="{FF2B5EF4-FFF2-40B4-BE49-F238E27FC236}">
                  <a16:creationId xmlns:a16="http://schemas.microsoft.com/office/drawing/2014/main" id="{465ACC84-B2EB-486A-B868-8A8F916A88A6}"/>
                </a:ext>
              </a:extLst>
            </p:cNvPr>
            <p:cNvGrpSpPr/>
            <p:nvPr/>
          </p:nvGrpSpPr>
          <p:grpSpPr>
            <a:xfrm>
              <a:off x="7729539" y="2729162"/>
              <a:ext cx="1180462" cy="771336"/>
              <a:chOff x="7729539" y="2729162"/>
              <a:chExt cx="1180462" cy="771336"/>
            </a:xfrm>
          </p:grpSpPr>
          <p:sp>
            <p:nvSpPr>
              <p:cNvPr id="35" name="CuadroTexto 34">
                <a:extLst>
                  <a:ext uri="{FF2B5EF4-FFF2-40B4-BE49-F238E27FC236}">
                    <a16:creationId xmlns:a16="http://schemas.microsoft.com/office/drawing/2014/main" id="{3F25ADED-081E-4E73-884B-EC42580A890F}"/>
                  </a:ext>
                </a:extLst>
              </p:cNvPr>
              <p:cNvSpPr txBox="1"/>
              <p:nvPr/>
            </p:nvSpPr>
            <p:spPr>
              <a:xfrm>
                <a:off x="7729539" y="2729162"/>
                <a:ext cx="1180462" cy="430887"/>
              </a:xfrm>
              <a:prstGeom prst="rect">
                <a:avLst/>
              </a:prstGeom>
              <a:noFill/>
            </p:spPr>
            <p:txBody>
              <a:bodyPr wrap="square" rtlCol="0">
                <a:spAutoFit/>
              </a:bodyPr>
              <a:lstStyle/>
              <a:p>
                <a:pPr algn="ctr"/>
                <a:r>
                  <a:rPr lang="es-CO" sz="2200" b="1" dirty="0">
                    <a:solidFill>
                      <a:srgbClr val="002060"/>
                    </a:solidFill>
                    <a:ea typeface="Roboto" panose="02000000000000000000" pitchFamily="2" charset="0"/>
                  </a:rPr>
                  <a:t>Conclusión</a:t>
                </a:r>
              </a:p>
            </p:txBody>
          </p:sp>
          <p:sp>
            <p:nvSpPr>
              <p:cNvPr id="36" name="Abrir llave 35">
                <a:extLst>
                  <a:ext uri="{FF2B5EF4-FFF2-40B4-BE49-F238E27FC236}">
                    <a16:creationId xmlns:a16="http://schemas.microsoft.com/office/drawing/2014/main" id="{54ECBD8B-E1B3-416E-A655-4B31C79CA05B}"/>
                  </a:ext>
                </a:extLst>
              </p:cNvPr>
              <p:cNvSpPr/>
              <p:nvPr/>
            </p:nvSpPr>
            <p:spPr>
              <a:xfrm rot="5400000">
                <a:off x="8199814" y="2966576"/>
                <a:ext cx="239913" cy="827932"/>
              </a:xfrm>
              <a:prstGeom prst="leftBrace">
                <a:avLst>
                  <a:gd name="adj1" fmla="val 24066"/>
                  <a:gd name="adj2" fmla="val 50000"/>
                </a:avLst>
              </a:prstGeom>
              <a:ln w="28575">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dirty="0"/>
              </a:p>
            </p:txBody>
          </p:sp>
        </p:grpSp>
      </p:grpSp>
    </p:spTree>
    <p:extLst>
      <p:ext uri="{BB962C8B-B14F-4D97-AF65-F5344CB8AC3E}">
        <p14:creationId xmlns:p14="http://schemas.microsoft.com/office/powerpoint/2010/main" val="132489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431800" y="96038"/>
            <a:ext cx="87888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ea typeface="+mj-ea"/>
                <a:cs typeface="+mj-cs"/>
              </a:rPr>
              <a:t>Identificación de premisas y conclusión</a:t>
            </a:r>
            <a:endParaRPr dirty="0">
              <a:solidFill>
                <a:schemeClr val="tx1"/>
              </a:solidFill>
              <a:latin typeface="+mj-lt"/>
              <a:ea typeface="+mj-ea"/>
              <a:cs typeface="+mj-cs"/>
            </a:endParaRPr>
          </a:p>
        </p:txBody>
      </p:sp>
      <p:sp>
        <p:nvSpPr>
          <p:cNvPr id="14" name="Google Shape;310;p34">
            <a:extLst>
              <a:ext uri="{FF2B5EF4-FFF2-40B4-BE49-F238E27FC236}">
                <a16:creationId xmlns:a16="http://schemas.microsoft.com/office/drawing/2014/main" id="{7CE3CA45-1D19-4FA9-8567-937AB3B94F05}"/>
              </a:ext>
            </a:extLst>
          </p:cNvPr>
          <p:cNvSpPr txBox="1">
            <a:spLocks/>
          </p:cNvSpPr>
          <p:nvPr/>
        </p:nvSpPr>
        <p:spPr>
          <a:xfrm>
            <a:off x="153240" y="805886"/>
            <a:ext cx="11885520" cy="81682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lgn="l">
              <a:buNone/>
            </a:pPr>
            <a:r>
              <a:rPr lang="es-MX" sz="2200" b="0" i="0" u="none" strike="noStrike" baseline="0" dirty="0">
                <a:latin typeface="Roboto" panose="02000000000000000000" pitchFamily="2" charset="0"/>
                <a:ea typeface="Roboto" panose="02000000000000000000" pitchFamily="2" charset="0"/>
              </a:rPr>
              <a:t>Identificar las premisas y la conclusión en un argumento natural puede ser complejo. Para facilitarlo, se utilizan </a:t>
            </a:r>
            <a:r>
              <a:rPr lang="es-MX" sz="2200" b="1" i="0" u="none" strike="noStrike" baseline="0" dirty="0">
                <a:latin typeface="Roboto" panose="02000000000000000000" pitchFamily="2" charset="0"/>
                <a:ea typeface="Roboto" panose="02000000000000000000" pitchFamily="2" charset="0"/>
              </a:rPr>
              <a:t>indicadores</a:t>
            </a:r>
            <a:r>
              <a:rPr lang="es-MX" sz="2200" b="0" i="0" u="none" strike="noStrike" baseline="0" dirty="0">
                <a:latin typeface="Roboto" panose="02000000000000000000" pitchFamily="2" charset="0"/>
                <a:ea typeface="Roboto" panose="02000000000000000000" pitchFamily="2" charset="0"/>
              </a:rPr>
              <a:t> o </a:t>
            </a:r>
            <a:r>
              <a:rPr lang="es-MX" sz="2200" b="1" i="0" u="none" strike="noStrike" baseline="0" dirty="0">
                <a:latin typeface="Roboto" panose="02000000000000000000" pitchFamily="2" charset="0"/>
                <a:ea typeface="Roboto" panose="02000000000000000000" pitchFamily="2" charset="0"/>
              </a:rPr>
              <a:t>conectores argumentativos</a:t>
            </a:r>
            <a:r>
              <a:rPr lang="es-MX" sz="2200" b="0" i="0" u="none" strike="noStrike" baseline="0" dirty="0">
                <a:latin typeface="Roboto" panose="02000000000000000000" pitchFamily="2" charset="0"/>
                <a:ea typeface="Roboto" panose="02000000000000000000" pitchFamily="2" charset="0"/>
              </a:rPr>
              <a:t>:</a:t>
            </a:r>
            <a:endParaRPr lang="es-MX" sz="2200" dirty="0">
              <a:latin typeface="Roboto" panose="02000000000000000000" pitchFamily="2" charset="0"/>
              <a:ea typeface="Roboto" panose="02000000000000000000" pitchFamily="2" charset="0"/>
            </a:endParaRPr>
          </a:p>
        </p:txBody>
      </p:sp>
      <p:graphicFrame>
        <p:nvGraphicFramePr>
          <p:cNvPr id="2" name="Tabla 2">
            <a:extLst>
              <a:ext uri="{FF2B5EF4-FFF2-40B4-BE49-F238E27FC236}">
                <a16:creationId xmlns:a16="http://schemas.microsoft.com/office/drawing/2014/main" id="{5B8A7AEF-6936-482A-A883-5AF0586B9479}"/>
              </a:ext>
            </a:extLst>
          </p:cNvPr>
          <p:cNvGraphicFramePr>
            <a:graphicFrameLocks noGrp="1"/>
          </p:cNvGraphicFramePr>
          <p:nvPr>
            <p:extLst>
              <p:ext uri="{D42A27DB-BD31-4B8C-83A1-F6EECF244321}">
                <p14:modId xmlns:p14="http://schemas.microsoft.com/office/powerpoint/2010/main" val="2013002365"/>
              </p:ext>
            </p:extLst>
          </p:nvPr>
        </p:nvGraphicFramePr>
        <p:xfrm>
          <a:off x="1971964" y="1856986"/>
          <a:ext cx="8463808" cy="4358640"/>
        </p:xfrm>
        <a:graphic>
          <a:graphicData uri="http://schemas.openxmlformats.org/drawingml/2006/table">
            <a:tbl>
              <a:tblPr firstRow="1" bandRow="1">
                <a:tableStyleId>{AD6A3598-7CB8-4345-8D95-17CE05F158A0}</a:tableStyleId>
              </a:tblPr>
              <a:tblGrid>
                <a:gridCol w="4231904">
                  <a:extLst>
                    <a:ext uri="{9D8B030D-6E8A-4147-A177-3AD203B41FA5}">
                      <a16:colId xmlns:a16="http://schemas.microsoft.com/office/drawing/2014/main" val="4230621670"/>
                    </a:ext>
                  </a:extLst>
                </a:gridCol>
                <a:gridCol w="4231904">
                  <a:extLst>
                    <a:ext uri="{9D8B030D-6E8A-4147-A177-3AD203B41FA5}">
                      <a16:colId xmlns:a16="http://schemas.microsoft.com/office/drawing/2014/main" val="626806936"/>
                    </a:ext>
                  </a:extLst>
                </a:gridCol>
              </a:tblGrid>
              <a:tr h="370648">
                <a:tc gridSpan="2">
                  <a:txBody>
                    <a:bodyPr/>
                    <a:lstStyle/>
                    <a:p>
                      <a:pPr algn="ctr"/>
                      <a:r>
                        <a:rPr lang="es-MX" sz="2000" b="1" dirty="0">
                          <a:latin typeface="Roboto" panose="02000000000000000000" pitchFamily="2" charset="0"/>
                          <a:ea typeface="Roboto" panose="02000000000000000000" pitchFamily="2" charset="0"/>
                        </a:rPr>
                        <a:t>Adverbios que indican premisas o conclusiones</a:t>
                      </a:r>
                      <a:endParaRPr lang="es-CO" sz="2000" b="1" dirty="0">
                        <a:latin typeface="Roboto" panose="02000000000000000000" pitchFamily="2" charset="0"/>
                        <a:ea typeface="Roboto" panose="02000000000000000000" pitchFamily="2" charset="0"/>
                      </a:endParaRPr>
                    </a:p>
                  </a:txBody>
                  <a:tcPr>
                    <a:solidFill>
                      <a:schemeClr val="bg2"/>
                    </a:solidFill>
                  </a:tcPr>
                </a:tc>
                <a:tc hMerge="1">
                  <a:txBody>
                    <a:bodyPr/>
                    <a:lstStyle/>
                    <a:p>
                      <a:endParaRPr lang="es-CO" dirty="0"/>
                    </a:p>
                  </a:txBody>
                  <a:tcPr/>
                </a:tc>
                <a:extLst>
                  <a:ext uri="{0D108BD9-81ED-4DB2-BD59-A6C34878D82A}">
                    <a16:rowId xmlns:a16="http://schemas.microsoft.com/office/drawing/2014/main" val="1381047312"/>
                  </a:ext>
                </a:extLst>
              </a:tr>
              <a:tr h="370648">
                <a:tc>
                  <a:txBody>
                    <a:bodyPr/>
                    <a:lstStyle/>
                    <a:p>
                      <a:r>
                        <a:rPr lang="es-CO" sz="2000" b="1" dirty="0">
                          <a:latin typeface="Roboto" panose="02000000000000000000" pitchFamily="2" charset="0"/>
                          <a:ea typeface="Roboto" panose="02000000000000000000" pitchFamily="2" charset="0"/>
                        </a:rPr>
                        <a:t>Adverbios que indican premisa</a:t>
                      </a:r>
                    </a:p>
                  </a:txBody>
                  <a:tcPr>
                    <a:solidFill>
                      <a:schemeClr val="bg2"/>
                    </a:solidFill>
                  </a:tcPr>
                </a:tc>
                <a:tc>
                  <a:txBody>
                    <a:bodyPr/>
                    <a:lstStyle/>
                    <a:p>
                      <a:r>
                        <a:rPr lang="es-CO" sz="2000" b="1" dirty="0">
                          <a:latin typeface="Roboto" panose="02000000000000000000" pitchFamily="2" charset="0"/>
                          <a:ea typeface="Roboto" panose="02000000000000000000" pitchFamily="2" charset="0"/>
                        </a:rPr>
                        <a:t>Adverbios que indican conclusión</a:t>
                      </a:r>
                    </a:p>
                  </a:txBody>
                  <a:tcPr>
                    <a:solidFill>
                      <a:schemeClr val="bg2"/>
                    </a:solidFill>
                  </a:tcPr>
                </a:tc>
                <a:extLst>
                  <a:ext uri="{0D108BD9-81ED-4DB2-BD59-A6C34878D82A}">
                    <a16:rowId xmlns:a16="http://schemas.microsoft.com/office/drawing/2014/main" val="2798255253"/>
                  </a:ext>
                </a:extLst>
              </a:tr>
              <a:tr h="370648">
                <a:tc>
                  <a:txBody>
                    <a:bodyPr/>
                    <a:lstStyle/>
                    <a:p>
                      <a:r>
                        <a:rPr lang="es-CO" sz="2000" dirty="0">
                          <a:latin typeface="Roboto" panose="02000000000000000000" pitchFamily="2" charset="0"/>
                          <a:ea typeface="Roboto" panose="02000000000000000000" pitchFamily="2" charset="0"/>
                        </a:rPr>
                        <a:t>Puesto que</a:t>
                      </a:r>
                    </a:p>
                  </a:txBody>
                  <a:tcPr/>
                </a:tc>
                <a:tc>
                  <a:txBody>
                    <a:bodyPr/>
                    <a:lstStyle/>
                    <a:p>
                      <a:r>
                        <a:rPr lang="es-CO" sz="2000" dirty="0">
                          <a:latin typeface="Roboto" panose="02000000000000000000" pitchFamily="2" charset="0"/>
                          <a:ea typeface="Roboto" panose="02000000000000000000" pitchFamily="2" charset="0"/>
                        </a:rPr>
                        <a:t>Por tanto</a:t>
                      </a:r>
                    </a:p>
                  </a:txBody>
                  <a:tcPr/>
                </a:tc>
                <a:extLst>
                  <a:ext uri="{0D108BD9-81ED-4DB2-BD59-A6C34878D82A}">
                    <a16:rowId xmlns:a16="http://schemas.microsoft.com/office/drawing/2014/main" val="3867132327"/>
                  </a:ext>
                </a:extLst>
              </a:tr>
              <a:tr h="370648">
                <a:tc>
                  <a:txBody>
                    <a:bodyPr/>
                    <a:lstStyle/>
                    <a:p>
                      <a:r>
                        <a:rPr lang="es-CO" sz="2000" dirty="0">
                          <a:latin typeface="Roboto" panose="02000000000000000000" pitchFamily="2" charset="0"/>
                          <a:ea typeface="Roboto" panose="02000000000000000000" pitchFamily="2" charset="0"/>
                        </a:rPr>
                        <a:t>Dado que</a:t>
                      </a:r>
                    </a:p>
                  </a:txBody>
                  <a:tcPr/>
                </a:tc>
                <a:tc>
                  <a:txBody>
                    <a:bodyPr/>
                    <a:lstStyle/>
                    <a:p>
                      <a:r>
                        <a:rPr lang="es-CO" sz="2000" dirty="0">
                          <a:latin typeface="Roboto" panose="02000000000000000000" pitchFamily="2" charset="0"/>
                          <a:ea typeface="Roboto" panose="02000000000000000000" pitchFamily="2" charset="0"/>
                        </a:rPr>
                        <a:t>Por consiguiente</a:t>
                      </a:r>
                    </a:p>
                  </a:txBody>
                  <a:tcPr/>
                </a:tc>
                <a:extLst>
                  <a:ext uri="{0D108BD9-81ED-4DB2-BD59-A6C34878D82A}">
                    <a16:rowId xmlns:a16="http://schemas.microsoft.com/office/drawing/2014/main" val="735925891"/>
                  </a:ext>
                </a:extLst>
              </a:tr>
              <a:tr h="370648">
                <a:tc>
                  <a:txBody>
                    <a:bodyPr/>
                    <a:lstStyle/>
                    <a:p>
                      <a:r>
                        <a:rPr lang="es-CO" sz="2000" dirty="0">
                          <a:latin typeface="Roboto" panose="02000000000000000000" pitchFamily="2" charset="0"/>
                          <a:ea typeface="Roboto" panose="02000000000000000000" pitchFamily="2" charset="0"/>
                        </a:rPr>
                        <a:t>Ya que</a:t>
                      </a:r>
                    </a:p>
                  </a:txBody>
                  <a:tcPr/>
                </a:tc>
                <a:tc>
                  <a:txBody>
                    <a:bodyPr/>
                    <a:lstStyle/>
                    <a:p>
                      <a:r>
                        <a:rPr lang="es-CO" sz="2000" dirty="0">
                          <a:latin typeface="Roboto" panose="02000000000000000000" pitchFamily="2" charset="0"/>
                          <a:ea typeface="Roboto" panose="02000000000000000000" pitchFamily="2" charset="0"/>
                        </a:rPr>
                        <a:t>En consecuencia</a:t>
                      </a:r>
                    </a:p>
                  </a:txBody>
                  <a:tcPr/>
                </a:tc>
                <a:extLst>
                  <a:ext uri="{0D108BD9-81ED-4DB2-BD59-A6C34878D82A}">
                    <a16:rowId xmlns:a16="http://schemas.microsoft.com/office/drawing/2014/main" val="4233244620"/>
                  </a:ext>
                </a:extLst>
              </a:tr>
              <a:tr h="370648">
                <a:tc>
                  <a:txBody>
                    <a:bodyPr/>
                    <a:lstStyle/>
                    <a:p>
                      <a:r>
                        <a:rPr lang="es-CO" sz="2000" dirty="0">
                          <a:latin typeface="Roboto" panose="02000000000000000000" pitchFamily="2" charset="0"/>
                          <a:ea typeface="Roboto" panose="02000000000000000000" pitchFamily="2" charset="0"/>
                        </a:rPr>
                        <a:t>Porque</a:t>
                      </a:r>
                    </a:p>
                  </a:txBody>
                  <a:tcPr/>
                </a:tc>
                <a:tc>
                  <a:txBody>
                    <a:bodyPr/>
                    <a:lstStyle/>
                    <a:p>
                      <a:r>
                        <a:rPr lang="es-CO" sz="2000" dirty="0">
                          <a:latin typeface="Roboto" panose="02000000000000000000" pitchFamily="2" charset="0"/>
                          <a:ea typeface="Roboto" panose="02000000000000000000" pitchFamily="2" charset="0"/>
                        </a:rPr>
                        <a:t>Por lo que</a:t>
                      </a:r>
                    </a:p>
                  </a:txBody>
                  <a:tcPr/>
                </a:tc>
                <a:extLst>
                  <a:ext uri="{0D108BD9-81ED-4DB2-BD59-A6C34878D82A}">
                    <a16:rowId xmlns:a16="http://schemas.microsoft.com/office/drawing/2014/main" val="2925677465"/>
                  </a:ext>
                </a:extLst>
              </a:tr>
              <a:tr h="370648">
                <a:tc>
                  <a:txBody>
                    <a:bodyPr/>
                    <a:lstStyle/>
                    <a:p>
                      <a:r>
                        <a:rPr lang="es-CO" sz="2000" dirty="0">
                          <a:latin typeface="Roboto" panose="02000000000000000000" pitchFamily="2" charset="0"/>
                          <a:ea typeface="Roboto" panose="02000000000000000000" pitchFamily="2" charset="0"/>
                        </a:rPr>
                        <a:t>Toda vez que</a:t>
                      </a:r>
                    </a:p>
                  </a:txBody>
                  <a:tcPr/>
                </a:tc>
                <a:tc>
                  <a:txBody>
                    <a:bodyPr/>
                    <a:lstStyle/>
                    <a:p>
                      <a:r>
                        <a:rPr lang="es-CO" sz="2000" dirty="0">
                          <a:latin typeface="Roboto" panose="02000000000000000000" pitchFamily="2" charset="0"/>
                          <a:ea typeface="Roboto" panose="02000000000000000000" pitchFamily="2" charset="0"/>
                        </a:rPr>
                        <a:t>Se sigue que</a:t>
                      </a:r>
                    </a:p>
                  </a:txBody>
                  <a:tcPr/>
                </a:tc>
                <a:extLst>
                  <a:ext uri="{0D108BD9-81ED-4DB2-BD59-A6C34878D82A}">
                    <a16:rowId xmlns:a16="http://schemas.microsoft.com/office/drawing/2014/main" val="1702102375"/>
                  </a:ext>
                </a:extLst>
              </a:tr>
              <a:tr h="370648">
                <a:tc>
                  <a:txBody>
                    <a:bodyPr/>
                    <a:lstStyle/>
                    <a:p>
                      <a:r>
                        <a:rPr lang="es-CO" sz="2000" dirty="0">
                          <a:latin typeface="Roboto" panose="02000000000000000000" pitchFamily="2" charset="0"/>
                          <a:ea typeface="Roboto" panose="02000000000000000000" pitchFamily="2" charset="0"/>
                        </a:rPr>
                        <a:t>Considerando que</a:t>
                      </a:r>
                    </a:p>
                  </a:txBody>
                  <a:tcPr/>
                </a:tc>
                <a:tc>
                  <a:txBody>
                    <a:bodyPr/>
                    <a:lstStyle/>
                    <a:p>
                      <a:r>
                        <a:rPr lang="es-CO" sz="2000" dirty="0">
                          <a:latin typeface="Roboto" panose="02000000000000000000" pitchFamily="2" charset="0"/>
                          <a:ea typeface="Roboto" panose="02000000000000000000" pitchFamily="2" charset="0"/>
                        </a:rPr>
                        <a:t>Se infiere que</a:t>
                      </a:r>
                    </a:p>
                  </a:txBody>
                  <a:tcPr/>
                </a:tc>
                <a:extLst>
                  <a:ext uri="{0D108BD9-81ED-4DB2-BD59-A6C34878D82A}">
                    <a16:rowId xmlns:a16="http://schemas.microsoft.com/office/drawing/2014/main" val="2134337010"/>
                  </a:ext>
                </a:extLst>
              </a:tr>
              <a:tr h="370648">
                <a:tc>
                  <a:txBody>
                    <a:bodyPr/>
                    <a:lstStyle/>
                    <a:p>
                      <a:r>
                        <a:rPr lang="es-CO" sz="2000" dirty="0">
                          <a:latin typeface="Roboto" panose="02000000000000000000" pitchFamily="2" charset="0"/>
                          <a:ea typeface="Roboto" panose="02000000000000000000" pitchFamily="2" charset="0"/>
                        </a:rPr>
                        <a:t>Tomando en cuenta que</a:t>
                      </a:r>
                    </a:p>
                  </a:txBody>
                  <a:tcPr/>
                </a:tc>
                <a:tc>
                  <a:txBody>
                    <a:bodyPr/>
                    <a:lstStyle/>
                    <a:p>
                      <a:r>
                        <a:rPr lang="es-CO" sz="2000" dirty="0">
                          <a:latin typeface="Roboto" panose="02000000000000000000" pitchFamily="2" charset="0"/>
                          <a:ea typeface="Roboto" panose="02000000000000000000" pitchFamily="2" charset="0"/>
                        </a:rPr>
                        <a:t>Se deduce que</a:t>
                      </a:r>
                    </a:p>
                  </a:txBody>
                  <a:tcPr/>
                </a:tc>
                <a:extLst>
                  <a:ext uri="{0D108BD9-81ED-4DB2-BD59-A6C34878D82A}">
                    <a16:rowId xmlns:a16="http://schemas.microsoft.com/office/drawing/2014/main" val="472588244"/>
                  </a:ext>
                </a:extLst>
              </a:tr>
              <a:tr h="370648">
                <a:tc>
                  <a:txBody>
                    <a:bodyPr/>
                    <a:lstStyle/>
                    <a:p>
                      <a:r>
                        <a:rPr lang="es-CO" sz="2000" dirty="0">
                          <a:latin typeface="Roboto" panose="02000000000000000000" pitchFamily="2" charset="0"/>
                          <a:ea typeface="Roboto" panose="02000000000000000000" pitchFamily="2" charset="0"/>
                        </a:rPr>
                        <a:t>Como</a:t>
                      </a:r>
                    </a:p>
                  </a:txBody>
                  <a:tcPr/>
                </a:tc>
                <a:tc>
                  <a:txBody>
                    <a:bodyPr/>
                    <a:lstStyle/>
                    <a:p>
                      <a:r>
                        <a:rPr lang="es-CO" sz="2000" dirty="0">
                          <a:latin typeface="Roboto" panose="02000000000000000000" pitchFamily="2" charset="0"/>
                          <a:ea typeface="Roboto" panose="02000000000000000000" pitchFamily="2" charset="0"/>
                        </a:rPr>
                        <a:t>Luego</a:t>
                      </a:r>
                    </a:p>
                  </a:txBody>
                  <a:tcPr/>
                </a:tc>
                <a:extLst>
                  <a:ext uri="{0D108BD9-81ED-4DB2-BD59-A6C34878D82A}">
                    <a16:rowId xmlns:a16="http://schemas.microsoft.com/office/drawing/2014/main" val="851697473"/>
                  </a:ext>
                </a:extLst>
              </a:tr>
              <a:tr h="370648">
                <a:tc>
                  <a:txBody>
                    <a:bodyPr/>
                    <a:lstStyle/>
                    <a:p>
                      <a:r>
                        <a:rPr lang="es-CO" sz="2000" dirty="0">
                          <a:latin typeface="Roboto" panose="02000000000000000000" pitchFamily="2" charset="0"/>
                          <a:ea typeface="Roboto" panose="02000000000000000000" pitchFamily="2" charset="0"/>
                        </a:rPr>
                        <a:t>Puesto que</a:t>
                      </a:r>
                    </a:p>
                  </a:txBody>
                  <a:tcPr/>
                </a:tc>
                <a:tc>
                  <a:txBody>
                    <a:bodyPr/>
                    <a:lstStyle/>
                    <a:p>
                      <a:r>
                        <a:rPr lang="es-CO" sz="2000" dirty="0">
                          <a:latin typeface="Roboto" panose="02000000000000000000" pitchFamily="2" charset="0"/>
                          <a:ea typeface="Roboto" panose="02000000000000000000" pitchFamily="2" charset="0"/>
                        </a:rPr>
                        <a:t>Resulta que</a:t>
                      </a:r>
                    </a:p>
                  </a:txBody>
                  <a:tcPr/>
                </a:tc>
                <a:extLst>
                  <a:ext uri="{0D108BD9-81ED-4DB2-BD59-A6C34878D82A}">
                    <a16:rowId xmlns:a16="http://schemas.microsoft.com/office/drawing/2014/main" val="1041805371"/>
                  </a:ext>
                </a:extLst>
              </a:tr>
            </a:tbl>
          </a:graphicData>
        </a:graphic>
      </p:graphicFrame>
    </p:spTree>
    <p:extLst>
      <p:ext uri="{BB962C8B-B14F-4D97-AF65-F5344CB8AC3E}">
        <p14:creationId xmlns:p14="http://schemas.microsoft.com/office/powerpoint/2010/main" val="26625580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10675582"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Validación de argumentos – Tablas de verdad</a:t>
            </a:r>
            <a:endParaRPr dirty="0">
              <a:solidFill>
                <a:schemeClr val="tx1"/>
              </a:solidFill>
            </a:endParaRPr>
          </a:p>
        </p:txBody>
      </p:sp>
      <p:sp>
        <p:nvSpPr>
          <p:cNvPr id="29" name="Google Shape;310;p34">
            <a:extLst>
              <a:ext uri="{FF2B5EF4-FFF2-40B4-BE49-F238E27FC236}">
                <a16:creationId xmlns:a16="http://schemas.microsoft.com/office/drawing/2014/main" id="{1DECEA21-A6BB-423C-9627-9EB775B9F5D0}"/>
              </a:ext>
            </a:extLst>
          </p:cNvPr>
          <p:cNvSpPr txBox="1">
            <a:spLocks/>
          </p:cNvSpPr>
          <p:nvPr/>
        </p:nvSpPr>
        <p:spPr>
          <a:xfrm>
            <a:off x="302578" y="1045538"/>
            <a:ext cx="10890782" cy="43495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b="1" dirty="0">
                <a:latin typeface="+mn-lt"/>
                <a:ea typeface="Roboto" panose="02000000000000000000" pitchFamily="2" charset="0"/>
              </a:rPr>
              <a:t>Ejemplo</a:t>
            </a:r>
            <a:r>
              <a:rPr lang="es-MX" sz="2200" dirty="0">
                <a:latin typeface="+mn-lt"/>
                <a:ea typeface="Roboto" panose="02000000000000000000" pitchFamily="2" charset="0"/>
              </a:rPr>
              <a:t>: Represente el siguiente argumento simbólicamente y determine si es valido</a:t>
            </a: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9AE64260-CB37-41CE-854A-078B684FB669}"/>
                  </a:ext>
                </a:extLst>
              </p:cNvPr>
              <p:cNvSpPr txBox="1"/>
              <p:nvPr/>
            </p:nvSpPr>
            <p:spPr>
              <a:xfrm>
                <a:off x="3440914" y="1667761"/>
                <a:ext cx="5627053" cy="8252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CO" sz="2000" i="1" smtClean="0">
                              <a:latin typeface="Cambria Math" panose="02040503050406030204" pitchFamily="18" charset="0"/>
                            </a:rPr>
                          </m:ctrlPr>
                        </m:fPr>
                        <m:num>
                          <m:eqArr>
                            <m:eqArrPr>
                              <m:ctrlPr>
                                <a:rPr lang="es-MX" sz="2000" i="1">
                                  <a:latin typeface="Cambria Math" panose="02040503050406030204" pitchFamily="18" charset="0"/>
                                  <a:ea typeface="Cambria Math" panose="02040503050406030204" pitchFamily="18" charset="0"/>
                                </a:rPr>
                              </m:ctrlPr>
                            </m:eqArrPr>
                            <m:e>
                              <m:r>
                                <m:rPr>
                                  <m:sty m:val="p"/>
                                </m:rPr>
                                <a:rPr lang="es-MX" sz="2000">
                                  <a:latin typeface="Cambria Math" panose="02040503050406030204" pitchFamily="18" charset="0"/>
                                  <a:ea typeface="Cambria Math" panose="02040503050406030204" pitchFamily="18" charset="0"/>
                                </a:rPr>
                                <m:t>Si</m:t>
                              </m:r>
                              <m:r>
                                <a:rPr lang="es-MX" sz="2000">
                                  <a:latin typeface="Cambria Math" panose="02040503050406030204" pitchFamily="18" charset="0"/>
                                  <a:ea typeface="Cambria Math" panose="02040503050406030204" pitchFamily="18" charset="0"/>
                                </a:rPr>
                                <m:t> 2 = 3, </m:t>
                              </m:r>
                              <m:r>
                                <m:rPr>
                                  <m:sty m:val="p"/>
                                </m:rPr>
                                <a:rPr lang="es-MX" sz="2000">
                                  <a:latin typeface="Cambria Math" panose="02040503050406030204" pitchFamily="18" charset="0"/>
                                  <a:ea typeface="Cambria Math" panose="02040503050406030204" pitchFamily="18" charset="0"/>
                                </a:rPr>
                                <m:t>entonces</m:t>
                              </m:r>
                              <m:r>
                                <a:rPr lang="es-MX" sz="2000">
                                  <a:latin typeface="Cambria Math" panose="02040503050406030204" pitchFamily="18" charset="0"/>
                                  <a:ea typeface="Cambria Math" panose="02040503050406030204" pitchFamily="18" charset="0"/>
                                </a:rPr>
                                <m:t> </m:t>
                              </m:r>
                              <m:r>
                                <m:rPr>
                                  <m:sty m:val="p"/>
                                </m:rPr>
                                <a:rPr lang="es-MX" sz="2000">
                                  <a:latin typeface="Cambria Math" panose="02040503050406030204" pitchFamily="18" charset="0"/>
                                  <a:ea typeface="Cambria Math" panose="02040503050406030204" pitchFamily="18" charset="0"/>
                                </a:rPr>
                                <m:t>yo</m:t>
                              </m:r>
                              <m:r>
                                <a:rPr lang="es-MX" sz="2000">
                                  <a:latin typeface="Cambria Math" panose="02040503050406030204" pitchFamily="18" charset="0"/>
                                  <a:ea typeface="Cambria Math" panose="02040503050406030204" pitchFamily="18" charset="0"/>
                                </a:rPr>
                                <m:t> </m:t>
                              </m:r>
                              <m:r>
                                <m:rPr>
                                  <m:sty m:val="p"/>
                                </m:rPr>
                                <a:rPr lang="es-MX" sz="2000">
                                  <a:latin typeface="Cambria Math" panose="02040503050406030204" pitchFamily="18" charset="0"/>
                                  <a:ea typeface="Cambria Math" panose="02040503050406030204" pitchFamily="18" charset="0"/>
                                </a:rPr>
                                <m:t>me</m:t>
                              </m:r>
                              <m:r>
                                <a:rPr lang="es-MX" sz="2000">
                                  <a:latin typeface="Cambria Math" panose="02040503050406030204" pitchFamily="18" charset="0"/>
                                  <a:ea typeface="Cambria Math" panose="02040503050406030204" pitchFamily="18" charset="0"/>
                                </a:rPr>
                                <m:t> </m:t>
                              </m:r>
                              <m:r>
                                <m:rPr>
                                  <m:sty m:val="p"/>
                                </m:rPr>
                                <a:rPr lang="es-MX" sz="2000">
                                  <a:latin typeface="Cambria Math" panose="02040503050406030204" pitchFamily="18" charset="0"/>
                                  <a:ea typeface="Cambria Math" panose="02040503050406030204" pitchFamily="18" charset="0"/>
                                </a:rPr>
                                <m:t>com</m:t>
                              </m:r>
                              <m:r>
                                <a:rPr lang="es-MX" sz="2000">
                                  <a:latin typeface="Cambria Math" panose="02040503050406030204" pitchFamily="18" charset="0"/>
                                  <a:ea typeface="Cambria Math" panose="02040503050406030204" pitchFamily="18" charset="0"/>
                                </a:rPr>
                                <m:t>í </m:t>
                              </m:r>
                              <m:r>
                                <m:rPr>
                                  <m:sty m:val="p"/>
                                </m:rPr>
                                <a:rPr lang="es-MX" sz="2000">
                                  <a:latin typeface="Cambria Math" panose="02040503050406030204" pitchFamily="18" charset="0"/>
                                  <a:ea typeface="Cambria Math" panose="02040503050406030204" pitchFamily="18" charset="0"/>
                                </a:rPr>
                                <m:t>mi</m:t>
                              </m:r>
                              <m:r>
                                <a:rPr lang="es-MX" sz="2000">
                                  <a:latin typeface="Cambria Math" panose="02040503050406030204" pitchFamily="18" charset="0"/>
                                  <a:ea typeface="Cambria Math" panose="02040503050406030204" pitchFamily="18" charset="0"/>
                                </a:rPr>
                                <m:t> </m:t>
                              </m:r>
                              <m:r>
                                <m:rPr>
                                  <m:sty m:val="p"/>
                                </m:rPr>
                                <a:rPr lang="es-MX" sz="2000">
                                  <a:latin typeface="Cambria Math" panose="02040503050406030204" pitchFamily="18" charset="0"/>
                                  <a:ea typeface="Cambria Math" panose="02040503050406030204" pitchFamily="18" charset="0"/>
                                </a:rPr>
                                <m:t>sombrero</m:t>
                              </m:r>
                              <m:r>
                                <m:rPr>
                                  <m:nor/>
                                </m:rPr>
                                <a:rPr lang="es-MX" sz="2000" dirty="0">
                                  <a:latin typeface="Cambria Math" panose="02040503050406030204" pitchFamily="18" charset="0"/>
                                  <a:ea typeface="Cambria Math" panose="02040503050406030204" pitchFamily="18" charset="0"/>
                                </a:rPr>
                                <m:t> </m:t>
                              </m:r>
                              <m:r>
                                <a:rPr lang="es-MX" sz="2000">
                                  <a:latin typeface="Cambria Math" panose="02040503050406030204" pitchFamily="18" charset="0"/>
                                  <a:ea typeface="Cambria Math" panose="02040503050406030204" pitchFamily="18" charset="0"/>
                                </a:rPr>
                                <m:t>    </m:t>
                              </m:r>
                            </m:e>
                            <m:e>
                              <m:r>
                                <m:rPr>
                                  <m:sty m:val="p"/>
                                </m:rPr>
                                <a:rPr lang="es-MX" sz="2000">
                                  <a:latin typeface="Cambria Math" panose="02040503050406030204" pitchFamily="18" charset="0"/>
                                  <a:ea typeface="Cambria Math" panose="02040503050406030204" pitchFamily="18" charset="0"/>
                                </a:rPr>
                                <m:t>Me</m:t>
                              </m:r>
                              <m:r>
                                <a:rPr lang="es-MX" sz="2000">
                                  <a:latin typeface="Cambria Math" panose="02040503050406030204" pitchFamily="18" charset="0"/>
                                  <a:ea typeface="Cambria Math" panose="02040503050406030204" pitchFamily="18" charset="0"/>
                                </a:rPr>
                                <m:t> </m:t>
                              </m:r>
                              <m:r>
                                <m:rPr>
                                  <m:sty m:val="p"/>
                                </m:rPr>
                                <a:rPr lang="es-MX" sz="2000">
                                  <a:latin typeface="Cambria Math" panose="02040503050406030204" pitchFamily="18" charset="0"/>
                                  <a:ea typeface="Cambria Math" panose="02040503050406030204" pitchFamily="18" charset="0"/>
                                </a:rPr>
                                <m:t>com</m:t>
                              </m:r>
                              <m:r>
                                <a:rPr lang="es-MX" sz="2000">
                                  <a:latin typeface="Cambria Math" panose="02040503050406030204" pitchFamily="18" charset="0"/>
                                  <a:ea typeface="Cambria Math" panose="02040503050406030204" pitchFamily="18" charset="0"/>
                                </a:rPr>
                                <m:t>í </m:t>
                              </m:r>
                              <m:r>
                                <m:rPr>
                                  <m:sty m:val="p"/>
                                </m:rPr>
                                <a:rPr lang="es-MX" sz="2000">
                                  <a:latin typeface="Cambria Math" panose="02040503050406030204" pitchFamily="18" charset="0"/>
                                  <a:ea typeface="Cambria Math" panose="02040503050406030204" pitchFamily="18" charset="0"/>
                                </a:rPr>
                                <m:t>mi</m:t>
                              </m:r>
                              <m:r>
                                <a:rPr lang="es-MX" sz="2000">
                                  <a:latin typeface="Cambria Math" panose="02040503050406030204" pitchFamily="18" charset="0"/>
                                  <a:ea typeface="Cambria Math" panose="02040503050406030204" pitchFamily="18" charset="0"/>
                                </a:rPr>
                                <m:t> </m:t>
                              </m:r>
                              <m:r>
                                <m:rPr>
                                  <m:sty m:val="p"/>
                                </m:rPr>
                                <a:rPr lang="es-MX" sz="2000">
                                  <a:latin typeface="Cambria Math" panose="02040503050406030204" pitchFamily="18" charset="0"/>
                                  <a:ea typeface="Cambria Math" panose="02040503050406030204" pitchFamily="18" charset="0"/>
                                </a:rPr>
                                <m:t>sombrero</m:t>
                              </m:r>
                              <m:r>
                                <m:rPr>
                                  <m:nor/>
                                </m:rPr>
                                <a:rPr lang="es-MX" sz="2000" b="0" i="0" smtClean="0">
                                  <a:latin typeface="Cambria Math" panose="02040503050406030204" pitchFamily="18" charset="0"/>
                                  <a:ea typeface="Cambria Math" panose="02040503050406030204" pitchFamily="18" charset="0"/>
                                </a:rPr>
                                <m:t>                                               </m:t>
                              </m:r>
                              <m:r>
                                <m:rPr>
                                  <m:nor/>
                                </m:rPr>
                                <a:rPr lang="es-MX" sz="2000" dirty="0">
                                  <a:latin typeface="Cambria Math" panose="02040503050406030204" pitchFamily="18" charset="0"/>
                                  <a:ea typeface="Cambria Math" panose="02040503050406030204" pitchFamily="18" charset="0"/>
                                </a:rPr>
                                <m:t> </m:t>
                              </m:r>
                            </m:e>
                          </m:eqArr>
                        </m:num>
                        <m:den>
                          <m:r>
                            <a:rPr lang="es-CO" sz="2000">
                              <a:latin typeface="Cambria Math" panose="02040503050406030204" pitchFamily="18" charset="0"/>
                              <a:ea typeface="Cambria Math" panose="02040503050406030204" pitchFamily="18" charset="0"/>
                            </a:rPr>
                            <m:t>∴</m:t>
                          </m:r>
                          <m:r>
                            <a:rPr lang="es-MX" sz="2000">
                              <a:latin typeface="Cambria Math" panose="02040503050406030204" pitchFamily="18" charset="0"/>
                              <a:ea typeface="Cambria Math" panose="02040503050406030204" pitchFamily="18" charset="0"/>
                            </a:rPr>
                            <m:t> 2=3</m:t>
                          </m:r>
                          <m:r>
                            <m:rPr>
                              <m:nor/>
                            </m:rPr>
                            <a:rPr lang="es-CO" sz="2000" dirty="0"/>
                            <m:t> </m:t>
                          </m:r>
                          <m:r>
                            <m:rPr>
                              <m:nor/>
                            </m:rPr>
                            <a:rPr lang="es-MX" sz="2000" b="0" i="0" dirty="0" smtClean="0"/>
                            <m:t>                                                                                </m:t>
                          </m:r>
                        </m:den>
                      </m:f>
                    </m:oMath>
                  </m:oMathPara>
                </a14:m>
                <a:endParaRPr lang="es-CO" sz="2000" dirty="0"/>
              </a:p>
            </p:txBody>
          </p:sp>
        </mc:Choice>
        <mc:Fallback xmlns="">
          <p:sp>
            <p:nvSpPr>
              <p:cNvPr id="2" name="CuadroTexto 1">
                <a:extLst>
                  <a:ext uri="{FF2B5EF4-FFF2-40B4-BE49-F238E27FC236}">
                    <a16:creationId xmlns:a16="http://schemas.microsoft.com/office/drawing/2014/main" id="{9AE64260-CB37-41CE-854A-078B684FB669}"/>
                  </a:ext>
                </a:extLst>
              </p:cNvPr>
              <p:cNvSpPr txBox="1">
                <a:spLocks noRot="1" noChangeAspect="1" noMove="1" noResize="1" noEditPoints="1" noAdjustHandles="1" noChangeArrowheads="1" noChangeShapeType="1" noTextEdit="1"/>
              </p:cNvSpPr>
              <p:nvPr/>
            </p:nvSpPr>
            <p:spPr>
              <a:xfrm>
                <a:off x="3440914" y="1667761"/>
                <a:ext cx="5627053" cy="825226"/>
              </a:xfrm>
              <a:prstGeom prst="rect">
                <a:avLst/>
              </a:prstGeom>
              <a:blipFill>
                <a:blip r:embed="rId3"/>
                <a:stretch>
                  <a:fillRect/>
                </a:stretch>
              </a:blipFill>
            </p:spPr>
            <p:txBody>
              <a:bodyPr/>
              <a:lstStyle/>
              <a:p>
                <a:r>
                  <a:rPr lang="es-CO">
                    <a:noFill/>
                  </a:rPr>
                  <a:t> </a:t>
                </a:r>
              </a:p>
            </p:txBody>
          </p:sp>
        </mc:Fallback>
      </mc:AlternateContent>
    </p:spTree>
    <p:extLst>
      <p:ext uri="{BB962C8B-B14F-4D97-AF65-F5344CB8AC3E}">
        <p14:creationId xmlns:p14="http://schemas.microsoft.com/office/powerpoint/2010/main" val="28826878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457011" y="96038"/>
            <a:ext cx="11312201"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Validación de argumentos – Tablas de verdad</a:t>
            </a:r>
            <a:endParaRPr dirty="0">
              <a:solidFill>
                <a:schemeClr val="tx1"/>
              </a:solidFill>
            </a:endParaRPr>
          </a:p>
        </p:txBody>
      </p:sp>
      <p:sp>
        <p:nvSpPr>
          <p:cNvPr id="30" name="CuadroTexto 29">
            <a:extLst>
              <a:ext uri="{FF2B5EF4-FFF2-40B4-BE49-F238E27FC236}">
                <a16:creationId xmlns:a16="http://schemas.microsoft.com/office/drawing/2014/main" id="{CAA410C4-886A-483B-A7A8-E1432B0DD4FB}"/>
              </a:ext>
            </a:extLst>
          </p:cNvPr>
          <p:cNvSpPr txBox="1"/>
          <p:nvPr/>
        </p:nvSpPr>
        <p:spPr>
          <a:xfrm>
            <a:off x="577437" y="1404084"/>
            <a:ext cx="2165763" cy="400110"/>
          </a:xfrm>
          <a:prstGeom prst="rect">
            <a:avLst/>
          </a:prstGeom>
          <a:noFill/>
        </p:spPr>
        <p:txBody>
          <a:bodyPr wrap="square">
            <a:spAutoFit/>
          </a:bodyPr>
          <a:lstStyle/>
          <a:p>
            <a:r>
              <a:rPr lang="es-MX" sz="2000" b="1" dirty="0">
                <a:ea typeface="Roboto" panose="02000000000000000000" pitchFamily="2" charset="0"/>
              </a:rPr>
              <a:t>Enunciado:</a:t>
            </a:r>
            <a:endParaRPr lang="es-MX" sz="2000" b="0" i="1" dirty="0">
              <a:ea typeface="Cambria Math" panose="02040503050406030204" pitchFamily="18" charset="0"/>
            </a:endParaRPr>
          </a:p>
        </p:txBody>
      </p:sp>
      <p:sp>
        <p:nvSpPr>
          <p:cNvPr id="14" name="Google Shape;310;p34">
            <a:extLst>
              <a:ext uri="{FF2B5EF4-FFF2-40B4-BE49-F238E27FC236}">
                <a16:creationId xmlns:a16="http://schemas.microsoft.com/office/drawing/2014/main" id="{1C2A0C4C-F152-4F86-A493-88A46FDA7709}"/>
              </a:ext>
            </a:extLst>
          </p:cNvPr>
          <p:cNvSpPr txBox="1">
            <a:spLocks/>
          </p:cNvSpPr>
          <p:nvPr/>
        </p:nvSpPr>
        <p:spPr>
          <a:xfrm>
            <a:off x="422788" y="873237"/>
            <a:ext cx="3166176" cy="43495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400" b="1" dirty="0">
                <a:latin typeface="+mn-lt"/>
                <a:ea typeface="Roboto" panose="02000000000000000000" pitchFamily="2" charset="0"/>
              </a:rPr>
              <a:t>Solución - ejemplo</a:t>
            </a:r>
            <a:r>
              <a:rPr lang="es-MX" sz="2400" dirty="0">
                <a:latin typeface="+mn-lt"/>
                <a:ea typeface="Roboto" panose="02000000000000000000" pitchFamily="2" charset="0"/>
              </a:rPr>
              <a:t>:</a:t>
            </a:r>
          </a:p>
        </p:txBody>
      </p:sp>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78CD32C1-FAC2-467D-A86C-2ED2BFAA8F7F}"/>
                  </a:ext>
                </a:extLst>
              </p:cNvPr>
              <p:cNvSpPr txBox="1"/>
              <p:nvPr/>
            </p:nvSpPr>
            <p:spPr>
              <a:xfrm>
                <a:off x="3588963" y="1909865"/>
                <a:ext cx="5627053" cy="8252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CO" sz="2000" i="1" smtClean="0">
                              <a:latin typeface="Cambria Math" panose="02040503050406030204" pitchFamily="18" charset="0"/>
                            </a:rPr>
                          </m:ctrlPr>
                        </m:fPr>
                        <m:num>
                          <m:eqArr>
                            <m:eqArrPr>
                              <m:ctrlPr>
                                <a:rPr lang="es-MX" sz="2000" i="1">
                                  <a:latin typeface="Cambria Math" panose="02040503050406030204" pitchFamily="18" charset="0"/>
                                  <a:ea typeface="Cambria Math" panose="02040503050406030204" pitchFamily="18" charset="0"/>
                                </a:rPr>
                              </m:ctrlPr>
                            </m:eqArrPr>
                            <m:e>
                              <m:r>
                                <m:rPr>
                                  <m:sty m:val="p"/>
                                </m:rPr>
                                <a:rPr lang="es-MX" sz="2000">
                                  <a:latin typeface="Cambria Math" panose="02040503050406030204" pitchFamily="18" charset="0"/>
                                  <a:ea typeface="Cambria Math" panose="02040503050406030204" pitchFamily="18" charset="0"/>
                                </a:rPr>
                                <m:t>Si</m:t>
                              </m:r>
                              <m:r>
                                <a:rPr lang="es-MX" sz="2000">
                                  <a:latin typeface="Cambria Math" panose="02040503050406030204" pitchFamily="18" charset="0"/>
                                  <a:ea typeface="Cambria Math" panose="02040503050406030204" pitchFamily="18" charset="0"/>
                                </a:rPr>
                                <m:t> 2 = 3, </m:t>
                              </m:r>
                              <m:r>
                                <m:rPr>
                                  <m:sty m:val="p"/>
                                </m:rPr>
                                <a:rPr lang="es-MX" sz="2000">
                                  <a:latin typeface="Cambria Math" panose="02040503050406030204" pitchFamily="18" charset="0"/>
                                  <a:ea typeface="Cambria Math" panose="02040503050406030204" pitchFamily="18" charset="0"/>
                                </a:rPr>
                                <m:t>entonces</m:t>
                              </m:r>
                              <m:r>
                                <a:rPr lang="es-MX" sz="2000">
                                  <a:latin typeface="Cambria Math" panose="02040503050406030204" pitchFamily="18" charset="0"/>
                                  <a:ea typeface="Cambria Math" panose="02040503050406030204" pitchFamily="18" charset="0"/>
                                </a:rPr>
                                <m:t> </m:t>
                              </m:r>
                              <m:r>
                                <m:rPr>
                                  <m:sty m:val="p"/>
                                </m:rPr>
                                <a:rPr lang="es-MX" sz="2000">
                                  <a:latin typeface="Cambria Math" panose="02040503050406030204" pitchFamily="18" charset="0"/>
                                  <a:ea typeface="Cambria Math" panose="02040503050406030204" pitchFamily="18" charset="0"/>
                                </a:rPr>
                                <m:t>yo</m:t>
                              </m:r>
                              <m:r>
                                <a:rPr lang="es-MX" sz="2000">
                                  <a:latin typeface="Cambria Math" panose="02040503050406030204" pitchFamily="18" charset="0"/>
                                  <a:ea typeface="Cambria Math" panose="02040503050406030204" pitchFamily="18" charset="0"/>
                                </a:rPr>
                                <m:t> </m:t>
                              </m:r>
                              <m:r>
                                <m:rPr>
                                  <m:sty m:val="p"/>
                                </m:rPr>
                                <a:rPr lang="es-MX" sz="2000">
                                  <a:latin typeface="Cambria Math" panose="02040503050406030204" pitchFamily="18" charset="0"/>
                                  <a:ea typeface="Cambria Math" panose="02040503050406030204" pitchFamily="18" charset="0"/>
                                </a:rPr>
                                <m:t>me</m:t>
                              </m:r>
                              <m:r>
                                <a:rPr lang="es-MX" sz="2000">
                                  <a:latin typeface="Cambria Math" panose="02040503050406030204" pitchFamily="18" charset="0"/>
                                  <a:ea typeface="Cambria Math" panose="02040503050406030204" pitchFamily="18" charset="0"/>
                                </a:rPr>
                                <m:t> </m:t>
                              </m:r>
                              <m:r>
                                <m:rPr>
                                  <m:sty m:val="p"/>
                                </m:rPr>
                                <a:rPr lang="es-MX" sz="2000">
                                  <a:latin typeface="Cambria Math" panose="02040503050406030204" pitchFamily="18" charset="0"/>
                                  <a:ea typeface="Cambria Math" panose="02040503050406030204" pitchFamily="18" charset="0"/>
                                </a:rPr>
                                <m:t>com</m:t>
                              </m:r>
                              <m:r>
                                <a:rPr lang="es-MX" sz="2000">
                                  <a:latin typeface="Cambria Math" panose="02040503050406030204" pitchFamily="18" charset="0"/>
                                  <a:ea typeface="Cambria Math" panose="02040503050406030204" pitchFamily="18" charset="0"/>
                                </a:rPr>
                                <m:t>í </m:t>
                              </m:r>
                              <m:r>
                                <m:rPr>
                                  <m:sty m:val="p"/>
                                </m:rPr>
                                <a:rPr lang="es-MX" sz="2000">
                                  <a:latin typeface="Cambria Math" panose="02040503050406030204" pitchFamily="18" charset="0"/>
                                  <a:ea typeface="Cambria Math" panose="02040503050406030204" pitchFamily="18" charset="0"/>
                                </a:rPr>
                                <m:t>mi</m:t>
                              </m:r>
                              <m:r>
                                <a:rPr lang="es-MX" sz="2000">
                                  <a:latin typeface="Cambria Math" panose="02040503050406030204" pitchFamily="18" charset="0"/>
                                  <a:ea typeface="Cambria Math" panose="02040503050406030204" pitchFamily="18" charset="0"/>
                                </a:rPr>
                                <m:t> </m:t>
                              </m:r>
                              <m:r>
                                <m:rPr>
                                  <m:sty m:val="p"/>
                                </m:rPr>
                                <a:rPr lang="es-MX" sz="2000">
                                  <a:latin typeface="Cambria Math" panose="02040503050406030204" pitchFamily="18" charset="0"/>
                                  <a:ea typeface="Cambria Math" panose="02040503050406030204" pitchFamily="18" charset="0"/>
                                </a:rPr>
                                <m:t>sombrero</m:t>
                              </m:r>
                              <m:r>
                                <m:rPr>
                                  <m:nor/>
                                </m:rPr>
                                <a:rPr lang="es-MX" sz="2000" dirty="0">
                                  <a:latin typeface="Cambria Math" panose="02040503050406030204" pitchFamily="18" charset="0"/>
                                  <a:ea typeface="Cambria Math" panose="02040503050406030204" pitchFamily="18" charset="0"/>
                                </a:rPr>
                                <m:t> </m:t>
                              </m:r>
                              <m:r>
                                <a:rPr lang="es-MX" sz="2000">
                                  <a:latin typeface="Cambria Math" panose="02040503050406030204" pitchFamily="18" charset="0"/>
                                  <a:ea typeface="Cambria Math" panose="02040503050406030204" pitchFamily="18" charset="0"/>
                                </a:rPr>
                                <m:t>    </m:t>
                              </m:r>
                            </m:e>
                            <m:e>
                              <m:r>
                                <m:rPr>
                                  <m:sty m:val="p"/>
                                </m:rPr>
                                <a:rPr lang="es-MX" sz="2000">
                                  <a:latin typeface="Cambria Math" panose="02040503050406030204" pitchFamily="18" charset="0"/>
                                  <a:ea typeface="Cambria Math" panose="02040503050406030204" pitchFamily="18" charset="0"/>
                                </a:rPr>
                                <m:t>Me</m:t>
                              </m:r>
                              <m:r>
                                <a:rPr lang="es-MX" sz="2000">
                                  <a:latin typeface="Cambria Math" panose="02040503050406030204" pitchFamily="18" charset="0"/>
                                  <a:ea typeface="Cambria Math" panose="02040503050406030204" pitchFamily="18" charset="0"/>
                                </a:rPr>
                                <m:t> </m:t>
                              </m:r>
                              <m:r>
                                <m:rPr>
                                  <m:sty m:val="p"/>
                                </m:rPr>
                                <a:rPr lang="es-MX" sz="2000">
                                  <a:latin typeface="Cambria Math" panose="02040503050406030204" pitchFamily="18" charset="0"/>
                                  <a:ea typeface="Cambria Math" panose="02040503050406030204" pitchFamily="18" charset="0"/>
                                </a:rPr>
                                <m:t>com</m:t>
                              </m:r>
                              <m:r>
                                <a:rPr lang="es-MX" sz="2000">
                                  <a:latin typeface="Cambria Math" panose="02040503050406030204" pitchFamily="18" charset="0"/>
                                  <a:ea typeface="Cambria Math" panose="02040503050406030204" pitchFamily="18" charset="0"/>
                                </a:rPr>
                                <m:t>í </m:t>
                              </m:r>
                              <m:r>
                                <m:rPr>
                                  <m:sty m:val="p"/>
                                </m:rPr>
                                <a:rPr lang="es-MX" sz="2000">
                                  <a:latin typeface="Cambria Math" panose="02040503050406030204" pitchFamily="18" charset="0"/>
                                  <a:ea typeface="Cambria Math" panose="02040503050406030204" pitchFamily="18" charset="0"/>
                                </a:rPr>
                                <m:t>mi</m:t>
                              </m:r>
                              <m:r>
                                <a:rPr lang="es-MX" sz="2000">
                                  <a:latin typeface="Cambria Math" panose="02040503050406030204" pitchFamily="18" charset="0"/>
                                  <a:ea typeface="Cambria Math" panose="02040503050406030204" pitchFamily="18" charset="0"/>
                                </a:rPr>
                                <m:t> </m:t>
                              </m:r>
                              <m:r>
                                <m:rPr>
                                  <m:sty m:val="p"/>
                                </m:rPr>
                                <a:rPr lang="es-MX" sz="2000">
                                  <a:latin typeface="Cambria Math" panose="02040503050406030204" pitchFamily="18" charset="0"/>
                                  <a:ea typeface="Cambria Math" panose="02040503050406030204" pitchFamily="18" charset="0"/>
                                </a:rPr>
                                <m:t>sombrero</m:t>
                              </m:r>
                              <m:r>
                                <m:rPr>
                                  <m:nor/>
                                </m:rPr>
                                <a:rPr lang="es-MX" sz="2000" b="0" i="0" smtClean="0">
                                  <a:latin typeface="Cambria Math" panose="02040503050406030204" pitchFamily="18" charset="0"/>
                                  <a:ea typeface="Cambria Math" panose="02040503050406030204" pitchFamily="18" charset="0"/>
                                </a:rPr>
                                <m:t>                                               </m:t>
                              </m:r>
                              <m:r>
                                <m:rPr>
                                  <m:nor/>
                                </m:rPr>
                                <a:rPr lang="es-MX" sz="2000" dirty="0">
                                  <a:latin typeface="Cambria Math" panose="02040503050406030204" pitchFamily="18" charset="0"/>
                                  <a:ea typeface="Cambria Math" panose="02040503050406030204" pitchFamily="18" charset="0"/>
                                </a:rPr>
                                <m:t> </m:t>
                              </m:r>
                            </m:e>
                          </m:eqArr>
                        </m:num>
                        <m:den>
                          <m:r>
                            <a:rPr lang="es-CO" sz="2000">
                              <a:latin typeface="Cambria Math" panose="02040503050406030204" pitchFamily="18" charset="0"/>
                              <a:ea typeface="Cambria Math" panose="02040503050406030204" pitchFamily="18" charset="0"/>
                            </a:rPr>
                            <m:t>∴</m:t>
                          </m:r>
                          <m:r>
                            <a:rPr lang="es-MX" sz="2000">
                              <a:latin typeface="Cambria Math" panose="02040503050406030204" pitchFamily="18" charset="0"/>
                              <a:ea typeface="Cambria Math" panose="02040503050406030204" pitchFamily="18" charset="0"/>
                            </a:rPr>
                            <m:t> 2=3</m:t>
                          </m:r>
                          <m:r>
                            <m:rPr>
                              <m:nor/>
                            </m:rPr>
                            <a:rPr lang="es-CO" sz="2000" dirty="0"/>
                            <m:t> </m:t>
                          </m:r>
                          <m:r>
                            <m:rPr>
                              <m:nor/>
                            </m:rPr>
                            <a:rPr lang="es-MX" sz="2000" b="0" i="0" dirty="0" smtClean="0"/>
                            <m:t>                                                                                </m:t>
                          </m:r>
                        </m:den>
                      </m:f>
                    </m:oMath>
                  </m:oMathPara>
                </a14:m>
                <a:endParaRPr lang="es-CO" sz="2000" dirty="0"/>
              </a:p>
            </p:txBody>
          </p:sp>
        </mc:Choice>
        <mc:Fallback xmlns="">
          <p:sp>
            <p:nvSpPr>
              <p:cNvPr id="29" name="CuadroTexto 28">
                <a:extLst>
                  <a:ext uri="{FF2B5EF4-FFF2-40B4-BE49-F238E27FC236}">
                    <a16:creationId xmlns:a16="http://schemas.microsoft.com/office/drawing/2014/main" id="{78CD32C1-FAC2-467D-A86C-2ED2BFAA8F7F}"/>
                  </a:ext>
                </a:extLst>
              </p:cNvPr>
              <p:cNvSpPr txBox="1">
                <a:spLocks noRot="1" noChangeAspect="1" noMove="1" noResize="1" noEditPoints="1" noAdjustHandles="1" noChangeArrowheads="1" noChangeShapeType="1" noTextEdit="1"/>
              </p:cNvSpPr>
              <p:nvPr/>
            </p:nvSpPr>
            <p:spPr>
              <a:xfrm>
                <a:off x="3588963" y="1909865"/>
                <a:ext cx="5627053" cy="825226"/>
              </a:xfrm>
              <a:prstGeom prst="rect">
                <a:avLst/>
              </a:prstGeom>
              <a:blipFill>
                <a:blip r:embed="rId3"/>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3" name="CuadroTexto 32">
                <a:extLst>
                  <a:ext uri="{FF2B5EF4-FFF2-40B4-BE49-F238E27FC236}">
                    <a16:creationId xmlns:a16="http://schemas.microsoft.com/office/drawing/2014/main" id="{922E331B-C0DF-4D4A-9862-08CCB4FD5EB8}"/>
                  </a:ext>
                </a:extLst>
              </p:cNvPr>
              <p:cNvSpPr txBox="1"/>
              <p:nvPr/>
            </p:nvSpPr>
            <p:spPr>
              <a:xfrm>
                <a:off x="730392" y="3046116"/>
                <a:ext cx="9390862" cy="1631216"/>
              </a:xfrm>
              <a:prstGeom prst="rect">
                <a:avLst/>
              </a:prstGeom>
              <a:noFill/>
            </p:spPr>
            <p:txBody>
              <a:bodyPr wrap="square">
                <a:spAutoFit/>
              </a:bodyPr>
              <a:lstStyle/>
              <a:p>
                <a:r>
                  <a:rPr lang="es-MX" sz="2000" b="1" dirty="0">
                    <a:ea typeface="Roboto" panose="02000000000000000000" pitchFamily="2" charset="0"/>
                  </a:rPr>
                  <a:t>Traducción</a:t>
                </a:r>
                <a:r>
                  <a:rPr lang="es-MX" sz="2000" dirty="0">
                    <a:ea typeface="Roboto" panose="02000000000000000000" pitchFamily="2" charset="0"/>
                  </a:rPr>
                  <a:t>: </a:t>
                </a:r>
              </a:p>
              <a:p>
                <a:pPr marL="457200" indent="-457200">
                  <a:buFont typeface="+mj-lt"/>
                  <a:buAutoNum type="arabicPeriod"/>
                </a:pPr>
                <a:r>
                  <a:rPr lang="es-MX" sz="2000" dirty="0">
                    <a:ea typeface="Roboto" panose="02000000000000000000" pitchFamily="2" charset="0"/>
                  </a:rPr>
                  <a:t>Identificación de las proposiciones simples:</a:t>
                </a:r>
              </a:p>
              <a:p>
                <a:pPr marL="469900" indent="-342900">
                  <a:buFontTx/>
                  <a:buChar char="-"/>
                </a:pPr>
                <a14:m>
                  <m:oMath xmlns:m="http://schemas.openxmlformats.org/officeDocument/2006/math">
                    <m:r>
                      <a:rPr lang="es-MX" sz="2000" b="1" i="1" smtClean="0">
                        <a:latin typeface="Cambria Math" panose="02040503050406030204" pitchFamily="18" charset="0"/>
                        <a:ea typeface="Cambria Math" panose="02040503050406030204" pitchFamily="18" charset="0"/>
                      </a:rPr>
                      <m:t>𝒑</m:t>
                    </m:r>
                    <m:r>
                      <a:rPr lang="es-MX" sz="2000" b="0" i="0" smtClean="0">
                        <a:latin typeface="Cambria Math" panose="02040503050406030204" pitchFamily="18" charset="0"/>
                        <a:ea typeface="Cambria Math" panose="02040503050406030204" pitchFamily="18" charset="0"/>
                      </a:rPr>
                      <m:t>: </m:t>
                    </m:r>
                    <m:r>
                      <a:rPr lang="es-MX" sz="2000" i="0" smtClean="0">
                        <a:latin typeface="Cambria Math" panose="02040503050406030204" pitchFamily="18" charset="0"/>
                        <a:ea typeface="Cambria Math" panose="02040503050406030204" pitchFamily="18" charset="0"/>
                      </a:rPr>
                      <m:t>2 = 3</m:t>
                    </m:r>
                  </m:oMath>
                </a14:m>
                <a:endParaRPr lang="es-MX" sz="2000" i="0" dirty="0">
                  <a:latin typeface="Cambria Math" panose="02040503050406030204" pitchFamily="18" charset="0"/>
                  <a:ea typeface="Cambria Math" panose="02040503050406030204" pitchFamily="18" charset="0"/>
                </a:endParaRPr>
              </a:p>
              <a:p>
                <a:pPr marL="469900" indent="-342900">
                  <a:buFontTx/>
                  <a:buChar char="-"/>
                </a:pPr>
                <a14:m>
                  <m:oMath xmlns:m="http://schemas.openxmlformats.org/officeDocument/2006/math">
                    <m:r>
                      <a:rPr lang="es-MX" sz="2000" b="1" i="1" smtClean="0">
                        <a:latin typeface="Cambria Math" panose="02040503050406030204" pitchFamily="18" charset="0"/>
                        <a:ea typeface="Cambria Math" panose="02040503050406030204" pitchFamily="18" charset="0"/>
                      </a:rPr>
                      <m:t>𝒒</m:t>
                    </m:r>
                    <m:r>
                      <a:rPr lang="es-MX" sz="2000" b="0" i="0" smtClean="0">
                        <a:latin typeface="Cambria Math" panose="02040503050406030204" pitchFamily="18" charset="0"/>
                        <a:ea typeface="Cambria Math" panose="02040503050406030204" pitchFamily="18" charset="0"/>
                      </a:rPr>
                      <m:t>:</m:t>
                    </m:r>
                    <m:r>
                      <m:rPr>
                        <m:sty m:val="p"/>
                      </m:rPr>
                      <a:rPr lang="es-MX" sz="2000">
                        <a:latin typeface="Cambria Math" panose="02040503050406030204" pitchFamily="18" charset="0"/>
                        <a:ea typeface="Cambria Math" panose="02040503050406030204" pitchFamily="18" charset="0"/>
                      </a:rPr>
                      <m:t>Me</m:t>
                    </m:r>
                    <m:r>
                      <a:rPr lang="es-MX" sz="2000">
                        <a:latin typeface="Cambria Math" panose="02040503050406030204" pitchFamily="18" charset="0"/>
                        <a:ea typeface="Cambria Math" panose="02040503050406030204" pitchFamily="18" charset="0"/>
                      </a:rPr>
                      <m:t> </m:t>
                    </m:r>
                    <m:r>
                      <m:rPr>
                        <m:sty m:val="p"/>
                      </m:rPr>
                      <a:rPr lang="es-MX" sz="2000">
                        <a:latin typeface="Cambria Math" panose="02040503050406030204" pitchFamily="18" charset="0"/>
                        <a:ea typeface="Cambria Math" panose="02040503050406030204" pitchFamily="18" charset="0"/>
                      </a:rPr>
                      <m:t>com</m:t>
                    </m:r>
                    <m:r>
                      <a:rPr lang="es-MX" sz="2000">
                        <a:latin typeface="Cambria Math" panose="02040503050406030204" pitchFamily="18" charset="0"/>
                        <a:ea typeface="Cambria Math" panose="02040503050406030204" pitchFamily="18" charset="0"/>
                      </a:rPr>
                      <m:t>í </m:t>
                    </m:r>
                    <m:r>
                      <m:rPr>
                        <m:sty m:val="p"/>
                      </m:rPr>
                      <a:rPr lang="es-MX" sz="2000">
                        <a:latin typeface="Cambria Math" panose="02040503050406030204" pitchFamily="18" charset="0"/>
                        <a:ea typeface="Cambria Math" panose="02040503050406030204" pitchFamily="18" charset="0"/>
                      </a:rPr>
                      <m:t>mi</m:t>
                    </m:r>
                    <m:r>
                      <a:rPr lang="es-MX" sz="2000">
                        <a:latin typeface="Cambria Math" panose="02040503050406030204" pitchFamily="18" charset="0"/>
                        <a:ea typeface="Cambria Math" panose="02040503050406030204" pitchFamily="18" charset="0"/>
                      </a:rPr>
                      <m:t> </m:t>
                    </m:r>
                    <m:r>
                      <m:rPr>
                        <m:sty m:val="p"/>
                      </m:rPr>
                      <a:rPr lang="es-MX" sz="2000">
                        <a:latin typeface="Cambria Math" panose="02040503050406030204" pitchFamily="18" charset="0"/>
                        <a:ea typeface="Cambria Math" panose="02040503050406030204" pitchFamily="18" charset="0"/>
                      </a:rPr>
                      <m:t>sombrero</m:t>
                    </m:r>
                  </m:oMath>
                </a14:m>
                <a:endParaRPr lang="es-MX" sz="2000" dirty="0">
                  <a:latin typeface="Roboto" panose="02000000000000000000" pitchFamily="2" charset="0"/>
                  <a:ea typeface="Roboto" panose="02000000000000000000" pitchFamily="2" charset="0"/>
                </a:endParaRPr>
              </a:p>
              <a:p>
                <a:pPr marL="457200" indent="-457200">
                  <a:buFont typeface="+mj-lt"/>
                  <a:buAutoNum type="arabicPeriod" startAt="2"/>
                </a:pPr>
                <a:r>
                  <a:rPr lang="es-MX" sz="2000" dirty="0">
                    <a:ea typeface="Cambria Math" panose="02040503050406030204" pitchFamily="18" charset="0"/>
                  </a:rPr>
                  <a:t>Construcción de la expresión lógica equivalente</a:t>
                </a:r>
              </a:p>
            </p:txBody>
          </p:sp>
        </mc:Choice>
        <mc:Fallback xmlns="">
          <p:sp>
            <p:nvSpPr>
              <p:cNvPr id="33" name="CuadroTexto 32">
                <a:extLst>
                  <a:ext uri="{FF2B5EF4-FFF2-40B4-BE49-F238E27FC236}">
                    <a16:creationId xmlns:a16="http://schemas.microsoft.com/office/drawing/2014/main" id="{922E331B-C0DF-4D4A-9862-08CCB4FD5EB8}"/>
                  </a:ext>
                </a:extLst>
              </p:cNvPr>
              <p:cNvSpPr txBox="1">
                <a:spLocks noRot="1" noChangeAspect="1" noMove="1" noResize="1" noEditPoints="1" noAdjustHandles="1" noChangeArrowheads="1" noChangeShapeType="1" noTextEdit="1"/>
              </p:cNvSpPr>
              <p:nvPr/>
            </p:nvSpPr>
            <p:spPr>
              <a:xfrm>
                <a:off x="730392" y="3046116"/>
                <a:ext cx="9390862" cy="1631216"/>
              </a:xfrm>
              <a:prstGeom prst="rect">
                <a:avLst/>
              </a:prstGeom>
              <a:blipFill>
                <a:blip r:embed="rId4"/>
                <a:stretch>
                  <a:fillRect l="-714" t="-2247" b="-5993"/>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5" name="CuadroTexto 34">
                <a:extLst>
                  <a:ext uri="{FF2B5EF4-FFF2-40B4-BE49-F238E27FC236}">
                    <a16:creationId xmlns:a16="http://schemas.microsoft.com/office/drawing/2014/main" id="{35FC1BEF-09AB-4E46-B828-53338CFA269A}"/>
                  </a:ext>
                </a:extLst>
              </p:cNvPr>
              <p:cNvSpPr txBox="1"/>
              <p:nvPr/>
            </p:nvSpPr>
            <p:spPr>
              <a:xfrm>
                <a:off x="2397992" y="5617258"/>
                <a:ext cx="1101968" cy="8567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CO" sz="2000" i="1" smtClean="0">
                              <a:latin typeface="Cambria Math" panose="02040503050406030204" pitchFamily="18" charset="0"/>
                            </a:rPr>
                          </m:ctrlPr>
                        </m:fPr>
                        <m:num>
                          <m:eqArr>
                            <m:eqArrPr>
                              <m:ctrlPr>
                                <a:rPr lang="es-MX" sz="2000" i="1">
                                  <a:latin typeface="Cambria Math" panose="02040503050406030204" pitchFamily="18" charset="0"/>
                                  <a:ea typeface="Cambria Math" panose="02040503050406030204" pitchFamily="18" charset="0"/>
                                </a:rPr>
                              </m:ctrlPr>
                            </m:eqArrPr>
                            <m:e>
                              <m:r>
                                <a:rPr lang="es-MX" sz="2000" b="0" i="1" smtClean="0">
                                  <a:latin typeface="Cambria Math" panose="02040503050406030204" pitchFamily="18" charset="0"/>
                                  <a:ea typeface="Cambria Math" panose="02040503050406030204" pitchFamily="18" charset="0"/>
                                </a:rPr>
                                <m:t>𝑝</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𝑞</m:t>
                              </m:r>
                            </m:e>
                            <m:e>
                              <m:r>
                                <a:rPr lang="es-MX" sz="2000" b="0" i="1" smtClean="0">
                                  <a:latin typeface="Cambria Math" panose="02040503050406030204" pitchFamily="18" charset="0"/>
                                  <a:ea typeface="Cambria Math" panose="02040503050406030204" pitchFamily="18" charset="0"/>
                                </a:rPr>
                                <m:t>𝑞</m:t>
                              </m:r>
                              <m:r>
                                <a:rPr lang="es-MX" sz="2000" b="0" i="1" smtClean="0">
                                  <a:latin typeface="Cambria Math" panose="02040503050406030204" pitchFamily="18" charset="0"/>
                                  <a:ea typeface="Cambria Math" panose="02040503050406030204" pitchFamily="18" charset="0"/>
                                </a:rPr>
                                <m:t>         </m:t>
                              </m:r>
                            </m:e>
                          </m:eqArr>
                        </m:num>
                        <m:den>
                          <m:r>
                            <a:rPr lang="es-CO" sz="2000">
                              <a:latin typeface="Cambria Math" panose="02040503050406030204" pitchFamily="18" charset="0"/>
                              <a:ea typeface="Cambria Math" panose="02040503050406030204" pitchFamily="18" charset="0"/>
                            </a:rPr>
                            <m:t>∴</m:t>
                          </m:r>
                          <m:r>
                            <a:rPr lang="es-MX" sz="2000" i="1" smtClean="0">
                              <a:latin typeface="Cambria Math" panose="02040503050406030204" pitchFamily="18" charset="0"/>
                              <a:ea typeface="Cambria Math" panose="02040503050406030204" pitchFamily="18" charset="0"/>
                            </a:rPr>
                            <m:t>𝑝</m:t>
                          </m:r>
                          <m:r>
                            <m:rPr>
                              <m:nor/>
                            </m:rPr>
                            <a:rPr lang="es-MX" sz="2000" b="0" i="0" dirty="0" smtClean="0"/>
                            <m:t>      </m:t>
                          </m:r>
                          <m:r>
                            <a:rPr lang="es-MX" sz="2000" b="0" i="1" dirty="0" smtClean="0">
                              <a:latin typeface="Cambria Math" panose="02040503050406030204" pitchFamily="18" charset="0"/>
                            </a:rPr>
                            <m:t>      </m:t>
                          </m:r>
                        </m:den>
                      </m:f>
                    </m:oMath>
                  </m:oMathPara>
                </a14:m>
                <a:endParaRPr lang="es-CO" sz="2000" dirty="0"/>
              </a:p>
            </p:txBody>
          </p:sp>
        </mc:Choice>
        <mc:Fallback xmlns="">
          <p:sp>
            <p:nvSpPr>
              <p:cNvPr id="35" name="CuadroTexto 34">
                <a:extLst>
                  <a:ext uri="{FF2B5EF4-FFF2-40B4-BE49-F238E27FC236}">
                    <a16:creationId xmlns:a16="http://schemas.microsoft.com/office/drawing/2014/main" id="{35FC1BEF-09AB-4E46-B828-53338CFA269A}"/>
                  </a:ext>
                </a:extLst>
              </p:cNvPr>
              <p:cNvSpPr txBox="1">
                <a:spLocks noRot="1" noChangeAspect="1" noMove="1" noResize="1" noEditPoints="1" noAdjustHandles="1" noChangeArrowheads="1" noChangeShapeType="1" noTextEdit="1"/>
              </p:cNvSpPr>
              <p:nvPr/>
            </p:nvSpPr>
            <p:spPr>
              <a:xfrm>
                <a:off x="2397992" y="5617258"/>
                <a:ext cx="1101968" cy="856709"/>
              </a:xfrm>
              <a:prstGeom prst="rect">
                <a:avLst/>
              </a:prstGeom>
              <a:blipFill>
                <a:blip r:embed="rId5"/>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6" name="CuadroTexto 35">
                <a:extLst>
                  <a:ext uri="{FF2B5EF4-FFF2-40B4-BE49-F238E27FC236}">
                    <a16:creationId xmlns:a16="http://schemas.microsoft.com/office/drawing/2014/main" id="{61BE6E8F-8D66-4EC3-AFBE-C3BDA685BE9D}"/>
                  </a:ext>
                </a:extLst>
              </p:cNvPr>
              <p:cNvSpPr txBox="1"/>
              <p:nvPr/>
            </p:nvSpPr>
            <p:spPr>
              <a:xfrm>
                <a:off x="8034390" y="5726624"/>
                <a:ext cx="2120252" cy="40011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d>
                        <m:dPr>
                          <m:ctrlPr>
                            <a:rPr lang="es-MX" sz="2000" i="1" smtClean="0">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𝑝</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𝑞</m:t>
                          </m:r>
                        </m:e>
                      </m:d>
                      <m:r>
                        <a:rPr lang="es-MX" sz="2000" b="0" i="1" smtClean="0">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𝑞</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𝑝</m:t>
                      </m:r>
                    </m:oMath>
                  </m:oMathPara>
                </a14:m>
                <a:endParaRPr lang="es-MX" sz="2000" b="0" i="0" dirty="0">
                  <a:latin typeface="Cambria Math" panose="02040503050406030204" pitchFamily="18" charset="0"/>
                  <a:ea typeface="Cambria Math" panose="02040503050406030204" pitchFamily="18" charset="0"/>
                </a:endParaRPr>
              </a:p>
            </p:txBody>
          </p:sp>
        </mc:Choice>
        <mc:Fallback xmlns="">
          <p:sp>
            <p:nvSpPr>
              <p:cNvPr id="36" name="CuadroTexto 35">
                <a:extLst>
                  <a:ext uri="{FF2B5EF4-FFF2-40B4-BE49-F238E27FC236}">
                    <a16:creationId xmlns:a16="http://schemas.microsoft.com/office/drawing/2014/main" id="{61BE6E8F-8D66-4EC3-AFBE-C3BDA685BE9D}"/>
                  </a:ext>
                </a:extLst>
              </p:cNvPr>
              <p:cNvSpPr txBox="1">
                <a:spLocks noRot="1" noChangeAspect="1" noMove="1" noResize="1" noEditPoints="1" noAdjustHandles="1" noChangeArrowheads="1" noChangeShapeType="1" noTextEdit="1"/>
              </p:cNvSpPr>
              <p:nvPr/>
            </p:nvSpPr>
            <p:spPr>
              <a:xfrm>
                <a:off x="8034390" y="5726624"/>
                <a:ext cx="2120252" cy="400110"/>
              </a:xfrm>
              <a:prstGeom prst="rect">
                <a:avLst/>
              </a:prstGeom>
              <a:blipFill>
                <a:blip r:embed="rId6"/>
                <a:stretch>
                  <a:fillRect b="-10606"/>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7" name="CuadroTexto 36">
                <a:extLst>
                  <a:ext uri="{FF2B5EF4-FFF2-40B4-BE49-F238E27FC236}">
                    <a16:creationId xmlns:a16="http://schemas.microsoft.com/office/drawing/2014/main" id="{D4259071-5D7A-40AB-910F-DFF42EC3C581}"/>
                  </a:ext>
                </a:extLst>
              </p:cNvPr>
              <p:cNvSpPr txBox="1"/>
              <p:nvPr/>
            </p:nvSpPr>
            <p:spPr>
              <a:xfrm>
                <a:off x="4873703" y="5719199"/>
                <a:ext cx="2120252" cy="40011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d>
                        <m:dPr>
                          <m:begChr m:val="["/>
                          <m:endChr m:val="]"/>
                          <m:ctrlPr>
                            <a:rPr lang="es-MX" sz="2000" b="0" i="1" smtClean="0">
                              <a:latin typeface="Cambria Math" panose="02040503050406030204" pitchFamily="18" charset="0"/>
                              <a:ea typeface="Cambria Math" panose="02040503050406030204" pitchFamily="18" charset="0"/>
                            </a:rPr>
                          </m:ctrlPr>
                        </m:dPr>
                        <m:e>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𝑝</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𝑞</m:t>
                              </m:r>
                            </m:e>
                          </m:d>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𝑞</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𝑝</m:t>
                      </m:r>
                    </m:oMath>
                  </m:oMathPara>
                </a14:m>
                <a:endParaRPr lang="es-MX" sz="2000" b="0" i="0" dirty="0">
                  <a:latin typeface="Cambria Math" panose="02040503050406030204" pitchFamily="18" charset="0"/>
                  <a:ea typeface="Cambria Math" panose="02040503050406030204" pitchFamily="18" charset="0"/>
                </a:endParaRPr>
              </a:p>
            </p:txBody>
          </p:sp>
        </mc:Choice>
        <mc:Fallback xmlns="">
          <p:sp>
            <p:nvSpPr>
              <p:cNvPr id="37" name="CuadroTexto 36">
                <a:extLst>
                  <a:ext uri="{FF2B5EF4-FFF2-40B4-BE49-F238E27FC236}">
                    <a16:creationId xmlns:a16="http://schemas.microsoft.com/office/drawing/2014/main" id="{D4259071-5D7A-40AB-910F-DFF42EC3C581}"/>
                  </a:ext>
                </a:extLst>
              </p:cNvPr>
              <p:cNvSpPr txBox="1">
                <a:spLocks noRot="1" noChangeAspect="1" noMove="1" noResize="1" noEditPoints="1" noAdjustHandles="1" noChangeArrowheads="1" noChangeShapeType="1" noTextEdit="1"/>
              </p:cNvSpPr>
              <p:nvPr/>
            </p:nvSpPr>
            <p:spPr>
              <a:xfrm>
                <a:off x="4873703" y="5719199"/>
                <a:ext cx="2120252" cy="400110"/>
              </a:xfrm>
              <a:prstGeom prst="rect">
                <a:avLst/>
              </a:prstGeom>
              <a:blipFill>
                <a:blip r:embed="rId7"/>
                <a:stretch>
                  <a:fillRect b="-10606"/>
                </a:stretch>
              </a:blipFill>
            </p:spPr>
            <p:txBody>
              <a:bodyPr/>
              <a:lstStyle/>
              <a:p>
                <a:r>
                  <a:rPr lang="es-CO">
                    <a:noFill/>
                  </a:rPr>
                  <a:t> </a:t>
                </a:r>
              </a:p>
            </p:txBody>
          </p:sp>
        </mc:Fallback>
      </mc:AlternateContent>
      <p:sp>
        <p:nvSpPr>
          <p:cNvPr id="38" name="CuadroTexto 37">
            <a:extLst>
              <a:ext uri="{FF2B5EF4-FFF2-40B4-BE49-F238E27FC236}">
                <a16:creationId xmlns:a16="http://schemas.microsoft.com/office/drawing/2014/main" id="{B5D024DB-BE9F-455A-9EE1-04914ECA955C}"/>
              </a:ext>
            </a:extLst>
          </p:cNvPr>
          <p:cNvSpPr txBox="1"/>
          <p:nvPr/>
        </p:nvSpPr>
        <p:spPr>
          <a:xfrm>
            <a:off x="4642330" y="4984577"/>
            <a:ext cx="2351625" cy="400110"/>
          </a:xfrm>
          <a:prstGeom prst="rect">
            <a:avLst/>
          </a:prstGeom>
          <a:noFill/>
        </p:spPr>
        <p:txBody>
          <a:bodyPr wrap="square">
            <a:spAutoFit/>
          </a:bodyPr>
          <a:lstStyle/>
          <a:p>
            <a:pPr algn="ctr"/>
            <a:r>
              <a:rPr lang="es-MX" sz="2000" b="1" dirty="0">
                <a:latin typeface="Roboto" panose="02000000000000000000" pitchFamily="2" charset="0"/>
                <a:ea typeface="Roboto" panose="02000000000000000000" pitchFamily="2" charset="0"/>
              </a:rPr>
              <a:t>Tautología</a:t>
            </a:r>
            <a:endParaRPr lang="es-MX" sz="2000" dirty="0">
              <a:latin typeface="Roboto" panose="02000000000000000000" pitchFamily="2" charset="0"/>
              <a:ea typeface="Roboto" panose="02000000000000000000" pitchFamily="2" charset="0"/>
            </a:endParaRPr>
          </a:p>
        </p:txBody>
      </p:sp>
      <p:sp>
        <p:nvSpPr>
          <p:cNvPr id="39" name="CuadroTexto 38">
            <a:extLst>
              <a:ext uri="{FF2B5EF4-FFF2-40B4-BE49-F238E27FC236}">
                <a16:creationId xmlns:a16="http://schemas.microsoft.com/office/drawing/2014/main" id="{87D153C8-4A11-4019-B278-B5AAFCDF345A}"/>
              </a:ext>
            </a:extLst>
          </p:cNvPr>
          <p:cNvSpPr txBox="1"/>
          <p:nvPr/>
        </p:nvSpPr>
        <p:spPr>
          <a:xfrm>
            <a:off x="7397409" y="4980331"/>
            <a:ext cx="3353481" cy="400110"/>
          </a:xfrm>
          <a:prstGeom prst="rect">
            <a:avLst/>
          </a:prstGeom>
          <a:noFill/>
        </p:spPr>
        <p:txBody>
          <a:bodyPr wrap="square">
            <a:spAutoFit/>
          </a:bodyPr>
          <a:lstStyle/>
          <a:p>
            <a:pPr algn="ctr"/>
            <a:r>
              <a:rPr lang="es-MX" sz="2000" b="1" dirty="0">
                <a:latin typeface="Roboto" panose="02000000000000000000" pitchFamily="2" charset="0"/>
                <a:ea typeface="Roboto" panose="02000000000000000000" pitchFamily="2" charset="0"/>
              </a:rPr>
              <a:t>Forma simbólica</a:t>
            </a:r>
            <a:endParaRPr lang="es-MX" sz="2000" dirty="0">
              <a:latin typeface="Roboto" panose="02000000000000000000" pitchFamily="2" charset="0"/>
              <a:ea typeface="Roboto" panose="02000000000000000000" pitchFamily="2" charset="0"/>
            </a:endParaRPr>
          </a:p>
        </p:txBody>
      </p:sp>
      <p:sp>
        <p:nvSpPr>
          <p:cNvPr id="40" name="CuadroTexto 39">
            <a:extLst>
              <a:ext uri="{FF2B5EF4-FFF2-40B4-BE49-F238E27FC236}">
                <a16:creationId xmlns:a16="http://schemas.microsoft.com/office/drawing/2014/main" id="{006E6F8C-5AD0-4194-93EC-0472951B4A6B}"/>
              </a:ext>
            </a:extLst>
          </p:cNvPr>
          <p:cNvSpPr txBox="1"/>
          <p:nvPr/>
        </p:nvSpPr>
        <p:spPr>
          <a:xfrm>
            <a:off x="1403668" y="4994020"/>
            <a:ext cx="3090617" cy="400110"/>
          </a:xfrm>
          <a:prstGeom prst="rect">
            <a:avLst/>
          </a:prstGeom>
          <a:noFill/>
        </p:spPr>
        <p:txBody>
          <a:bodyPr wrap="square">
            <a:spAutoFit/>
          </a:bodyPr>
          <a:lstStyle/>
          <a:p>
            <a:pPr algn="ctr"/>
            <a:r>
              <a:rPr lang="es-MX" sz="2000" b="1" dirty="0">
                <a:latin typeface="Roboto" panose="02000000000000000000" pitchFamily="2" charset="0"/>
                <a:ea typeface="Roboto" panose="02000000000000000000" pitchFamily="2" charset="0"/>
              </a:rPr>
              <a:t>Notación estándar</a:t>
            </a:r>
            <a:endParaRPr lang="es-MX" sz="2000"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7492501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457011" y="96038"/>
            <a:ext cx="11312201"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Validación de argumentos – Tablas de verdad</a:t>
            </a:r>
            <a:endParaRPr dirty="0">
              <a:solidFill>
                <a:schemeClr val="tx1"/>
              </a:solidFill>
            </a:endParaRPr>
          </a:p>
        </p:txBody>
      </p: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B918DD6F-02FC-47A3-843B-D4B4F54A55E4}"/>
                  </a:ext>
                </a:extLst>
              </p:cNvPr>
              <p:cNvSpPr txBox="1"/>
              <p:nvPr/>
            </p:nvSpPr>
            <p:spPr>
              <a:xfrm>
                <a:off x="308909" y="5033456"/>
                <a:ext cx="11460304" cy="1631216"/>
              </a:xfrm>
              <a:prstGeom prst="rect">
                <a:avLst/>
              </a:prstGeom>
              <a:solidFill>
                <a:schemeClr val="bg1"/>
              </a:solidFill>
            </p:spPr>
            <p:txBody>
              <a:bodyPr wrap="square" rtlCol="0">
                <a:spAutoFit/>
              </a:bodyPr>
              <a:lstStyle/>
              <a:p>
                <a:r>
                  <a:rPr lang="es-MX" sz="2000" b="1" dirty="0">
                    <a:ea typeface="Roboto" panose="02000000000000000000" pitchFamily="2" charset="0"/>
                  </a:rPr>
                  <a:t>En palabras</a:t>
                </a:r>
                <a:r>
                  <a:rPr lang="es-MX" sz="2000" dirty="0">
                    <a:ea typeface="Roboto" panose="02000000000000000000" pitchFamily="2" charset="0"/>
                  </a:rPr>
                  <a:t>: Si </a:t>
                </a:r>
                <a:r>
                  <a:rPr lang="es-MX" sz="2000" b="1" dirty="0">
                    <a:ea typeface="Roboto" panose="02000000000000000000" pitchFamily="2" charset="0"/>
                  </a:rPr>
                  <a:t>el argumento es válido</a:t>
                </a:r>
                <a:r>
                  <a:rPr lang="es-MX" sz="2000" dirty="0">
                    <a:ea typeface="Roboto" panose="02000000000000000000" pitchFamily="2" charset="0"/>
                  </a:rPr>
                  <a:t>, entonces siempre que </a:t>
                </a:r>
                <a14:m>
                  <m:oMath xmlns:m="http://schemas.openxmlformats.org/officeDocument/2006/math">
                    <m:r>
                      <a:rPr lang="es-MX" sz="2000" b="1" i="1" smtClean="0">
                        <a:latin typeface="Cambria Math" panose="02040503050406030204" pitchFamily="18" charset="0"/>
                      </a:rPr>
                      <m:t>𝒑</m:t>
                    </m:r>
                    <m:r>
                      <a:rPr lang="es-MX" sz="2000" b="1" i="1" smtClean="0">
                        <a:latin typeface="Cambria Math" panose="02040503050406030204" pitchFamily="18" charset="0"/>
                      </a:rPr>
                      <m:t>→</m:t>
                    </m:r>
                    <m:r>
                      <a:rPr lang="es-MX" sz="2000" b="1" i="1" smtClean="0">
                        <a:latin typeface="Cambria Math" panose="02040503050406030204" pitchFamily="18" charset="0"/>
                      </a:rPr>
                      <m:t>𝒒</m:t>
                    </m:r>
                  </m:oMath>
                </a14:m>
                <a:r>
                  <a:rPr lang="es-MX" sz="2000" b="1" dirty="0">
                    <a:ea typeface="Roboto" panose="02000000000000000000" pitchFamily="2" charset="0"/>
                  </a:rPr>
                  <a:t> </a:t>
                </a:r>
                <a:r>
                  <a:rPr lang="es-MX" sz="2000" dirty="0">
                    <a:ea typeface="Roboto" panose="02000000000000000000" pitchFamily="2" charset="0"/>
                  </a:rPr>
                  <a:t>y </a:t>
                </a:r>
                <a14:m>
                  <m:oMath xmlns:m="http://schemas.openxmlformats.org/officeDocument/2006/math">
                    <m:r>
                      <a:rPr lang="es-MX" sz="2000" b="1" i="1">
                        <a:latin typeface="Cambria Math" panose="02040503050406030204" pitchFamily="18" charset="0"/>
                      </a:rPr>
                      <m:t>𝒒</m:t>
                    </m:r>
                  </m:oMath>
                </a14:m>
                <a:r>
                  <a:rPr lang="es-MX" sz="2000" dirty="0">
                    <a:ea typeface="Roboto" panose="02000000000000000000" pitchFamily="2" charset="0"/>
                  </a:rPr>
                  <a:t> sean ciertas ambas, </a:t>
                </a:r>
                <a14:m>
                  <m:oMath xmlns:m="http://schemas.openxmlformats.org/officeDocument/2006/math">
                    <m:r>
                      <a:rPr lang="es-MX" sz="2000" b="1" i="1">
                        <a:latin typeface="Cambria Math" panose="02040503050406030204" pitchFamily="18" charset="0"/>
                      </a:rPr>
                      <m:t>𝒑</m:t>
                    </m:r>
                  </m:oMath>
                </a14:m>
                <a:r>
                  <a:rPr lang="es-MX" sz="2000" dirty="0">
                    <a:ea typeface="Roboto" panose="02000000000000000000" pitchFamily="2" charset="0"/>
                  </a:rPr>
                  <a:t> también debe ser cierta. </a:t>
                </a:r>
              </a:p>
              <a:p>
                <a:endParaRPr lang="es-MX" sz="2000" dirty="0">
                  <a:ea typeface="Roboto" panose="02000000000000000000" pitchFamily="2" charset="0"/>
                </a:endParaRPr>
              </a:p>
              <a:p>
                <a:r>
                  <a:rPr lang="es-MX" sz="2000" dirty="0">
                    <a:ea typeface="Roboto" panose="02000000000000000000" pitchFamily="2" charset="0"/>
                  </a:rPr>
                  <a:t>Al analizar las premisas, si se supone que </a:t>
                </a:r>
                <a14:m>
                  <m:oMath xmlns:m="http://schemas.openxmlformats.org/officeDocument/2006/math">
                    <m:r>
                      <a:rPr lang="es-MX" sz="2000" b="1" i="1" smtClean="0">
                        <a:latin typeface="Cambria Math" panose="02040503050406030204" pitchFamily="18" charset="0"/>
                      </a:rPr>
                      <m:t>𝒑</m:t>
                    </m:r>
                    <m:r>
                      <a:rPr lang="es-MX" sz="2000" b="1" i="1" smtClean="0">
                        <a:latin typeface="Cambria Math" panose="02040503050406030204" pitchFamily="18" charset="0"/>
                      </a:rPr>
                      <m:t>→</m:t>
                    </m:r>
                    <m:r>
                      <a:rPr lang="es-MX" sz="2000" b="1" i="1" smtClean="0">
                        <a:latin typeface="Cambria Math" panose="02040503050406030204" pitchFamily="18" charset="0"/>
                      </a:rPr>
                      <m:t>𝒒</m:t>
                    </m:r>
                  </m:oMath>
                </a14:m>
                <a:r>
                  <a:rPr lang="es-MX" sz="2000" b="1" dirty="0">
                    <a:ea typeface="Roboto" panose="02000000000000000000" pitchFamily="2" charset="0"/>
                  </a:rPr>
                  <a:t> </a:t>
                </a:r>
                <a:r>
                  <a:rPr lang="es-MX" sz="2000" dirty="0">
                    <a:ea typeface="Roboto" panose="02000000000000000000" pitchFamily="2" charset="0"/>
                  </a:rPr>
                  <a:t>y </a:t>
                </a:r>
                <a14:m>
                  <m:oMath xmlns:m="http://schemas.openxmlformats.org/officeDocument/2006/math">
                    <m:r>
                      <a:rPr lang="es-MX" sz="2000" b="1" i="1">
                        <a:latin typeface="Cambria Math" panose="02040503050406030204" pitchFamily="18" charset="0"/>
                      </a:rPr>
                      <m:t>𝒒</m:t>
                    </m:r>
                  </m:oMath>
                </a14:m>
                <a:r>
                  <a:rPr lang="es-MX" sz="2000" dirty="0">
                    <a:ea typeface="Roboto" panose="02000000000000000000" pitchFamily="2" charset="0"/>
                  </a:rPr>
                  <a:t> son verdaderas, esto es posible si </a:t>
                </a:r>
                <a14:m>
                  <m:oMath xmlns:m="http://schemas.openxmlformats.org/officeDocument/2006/math">
                    <m:r>
                      <a:rPr lang="es-MX" sz="2000" b="1" i="1">
                        <a:latin typeface="Cambria Math" panose="02040503050406030204" pitchFamily="18" charset="0"/>
                      </a:rPr>
                      <m:t>𝒑</m:t>
                    </m:r>
                  </m:oMath>
                </a14:m>
                <a:r>
                  <a:rPr lang="es-MX" sz="2000" dirty="0">
                    <a:ea typeface="Roboto" panose="02000000000000000000" pitchFamily="2" charset="0"/>
                  </a:rPr>
                  <a:t> es falsa y </a:t>
                </a:r>
                <a14:m>
                  <m:oMath xmlns:m="http://schemas.openxmlformats.org/officeDocument/2006/math">
                    <m:r>
                      <a:rPr lang="es-MX" sz="2000" b="1" i="1" smtClean="0">
                        <a:latin typeface="Cambria Math" panose="02040503050406030204" pitchFamily="18" charset="0"/>
                      </a:rPr>
                      <m:t>𝒒</m:t>
                    </m:r>
                  </m:oMath>
                </a14:m>
                <a:r>
                  <a:rPr lang="es-MX" sz="2000" dirty="0">
                    <a:ea typeface="Roboto" panose="02000000000000000000" pitchFamily="2" charset="0"/>
                  </a:rPr>
                  <a:t> es verdadera. En este caso, </a:t>
                </a:r>
                <a14:m>
                  <m:oMath xmlns:m="http://schemas.openxmlformats.org/officeDocument/2006/math">
                    <m:r>
                      <a:rPr lang="es-MX" sz="2000" b="1" i="1">
                        <a:latin typeface="Cambria Math" panose="02040503050406030204" pitchFamily="18" charset="0"/>
                      </a:rPr>
                      <m:t>𝒑</m:t>
                    </m:r>
                  </m:oMath>
                </a14:m>
                <a:r>
                  <a:rPr lang="es-MX" sz="2000" dirty="0">
                    <a:ea typeface="Roboto" panose="02000000000000000000" pitchFamily="2" charset="0"/>
                  </a:rPr>
                  <a:t> </a:t>
                </a:r>
                <a:r>
                  <a:rPr lang="es-MX" sz="2000" u="sng" dirty="0">
                    <a:ea typeface="Roboto" panose="02000000000000000000" pitchFamily="2" charset="0"/>
                  </a:rPr>
                  <a:t>no es verdadera</a:t>
                </a:r>
                <a:r>
                  <a:rPr lang="es-MX" sz="2000" dirty="0">
                    <a:ea typeface="Roboto" panose="02000000000000000000" pitchFamily="2" charset="0"/>
                  </a:rPr>
                  <a:t>; así, el </a:t>
                </a:r>
                <a:r>
                  <a:rPr lang="es-MX" sz="2000" b="1" dirty="0">
                    <a:solidFill>
                      <a:srgbClr val="C00000"/>
                    </a:solidFill>
                    <a:ea typeface="Roboto" panose="02000000000000000000" pitchFamily="2" charset="0"/>
                  </a:rPr>
                  <a:t>argumento es inválido</a:t>
                </a:r>
                <a:r>
                  <a:rPr lang="es-MX" sz="2000" dirty="0">
                    <a:ea typeface="Roboto" panose="02000000000000000000" pitchFamily="2" charset="0"/>
                  </a:rPr>
                  <a:t>. </a:t>
                </a:r>
              </a:p>
            </p:txBody>
          </p:sp>
        </mc:Choice>
        <mc:Fallback xmlns="">
          <p:sp>
            <p:nvSpPr>
              <p:cNvPr id="28" name="CuadroTexto 27">
                <a:extLst>
                  <a:ext uri="{FF2B5EF4-FFF2-40B4-BE49-F238E27FC236}">
                    <a16:creationId xmlns:a16="http://schemas.microsoft.com/office/drawing/2014/main" id="{B918DD6F-02FC-47A3-843B-D4B4F54A55E4}"/>
                  </a:ext>
                </a:extLst>
              </p:cNvPr>
              <p:cNvSpPr txBox="1">
                <a:spLocks noRot="1" noChangeAspect="1" noMove="1" noResize="1" noEditPoints="1" noAdjustHandles="1" noChangeArrowheads="1" noChangeShapeType="1" noTextEdit="1"/>
              </p:cNvSpPr>
              <p:nvPr/>
            </p:nvSpPr>
            <p:spPr>
              <a:xfrm>
                <a:off x="308909" y="5033456"/>
                <a:ext cx="11460304" cy="1631216"/>
              </a:xfrm>
              <a:prstGeom prst="rect">
                <a:avLst/>
              </a:prstGeom>
              <a:blipFill>
                <a:blip r:embed="rId3"/>
                <a:stretch>
                  <a:fillRect l="-585" t="-2247" r="-957" b="-5993"/>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graphicFrame>
            <p:nvGraphicFramePr>
              <p:cNvPr id="3" name="Tabla 2">
                <a:extLst>
                  <a:ext uri="{FF2B5EF4-FFF2-40B4-BE49-F238E27FC236}">
                    <a16:creationId xmlns:a16="http://schemas.microsoft.com/office/drawing/2014/main" id="{90EA7578-E5F4-4952-A3B4-0A8B1181BA83}"/>
                  </a:ext>
                </a:extLst>
              </p:cNvPr>
              <p:cNvGraphicFramePr>
                <a:graphicFrameLocks noGrp="1"/>
              </p:cNvGraphicFramePr>
              <p:nvPr>
                <p:extLst>
                  <p:ext uri="{D42A27DB-BD31-4B8C-83A1-F6EECF244321}">
                    <p14:modId xmlns:p14="http://schemas.microsoft.com/office/powerpoint/2010/main" val="3804067218"/>
                  </p:ext>
                </p:extLst>
              </p:nvPr>
            </p:nvGraphicFramePr>
            <p:xfrm>
              <a:off x="4322031" y="2809506"/>
              <a:ext cx="3698465" cy="1981200"/>
            </p:xfrm>
            <a:graphic>
              <a:graphicData uri="http://schemas.openxmlformats.org/drawingml/2006/table">
                <a:tbl>
                  <a:tblPr firstRow="1" bandRow="1">
                    <a:tableStyleId>{AD6A3598-7CB8-4345-8D95-17CE05F158A0}</a:tableStyleId>
                  </a:tblPr>
                  <a:tblGrid>
                    <a:gridCol w="438615">
                      <a:extLst>
                        <a:ext uri="{9D8B030D-6E8A-4147-A177-3AD203B41FA5}">
                          <a16:colId xmlns:a16="http://schemas.microsoft.com/office/drawing/2014/main" val="4099516379"/>
                        </a:ext>
                      </a:extLst>
                    </a:gridCol>
                    <a:gridCol w="438615">
                      <a:extLst>
                        <a:ext uri="{9D8B030D-6E8A-4147-A177-3AD203B41FA5}">
                          <a16:colId xmlns:a16="http://schemas.microsoft.com/office/drawing/2014/main" val="3713746608"/>
                        </a:ext>
                      </a:extLst>
                    </a:gridCol>
                    <a:gridCol w="917702">
                      <a:extLst>
                        <a:ext uri="{9D8B030D-6E8A-4147-A177-3AD203B41FA5}">
                          <a16:colId xmlns:a16="http://schemas.microsoft.com/office/drawing/2014/main" val="1936182596"/>
                        </a:ext>
                      </a:extLst>
                    </a:gridCol>
                    <a:gridCol w="788327">
                      <a:extLst>
                        <a:ext uri="{9D8B030D-6E8A-4147-A177-3AD203B41FA5}">
                          <a16:colId xmlns:a16="http://schemas.microsoft.com/office/drawing/2014/main" val="3648826037"/>
                        </a:ext>
                      </a:extLst>
                    </a:gridCol>
                    <a:gridCol w="1115206">
                      <a:extLst>
                        <a:ext uri="{9D8B030D-6E8A-4147-A177-3AD203B41FA5}">
                          <a16:colId xmlns:a16="http://schemas.microsoft.com/office/drawing/2014/main" val="3755460267"/>
                        </a:ext>
                      </a:extLst>
                    </a:gridCol>
                  </a:tblGrid>
                  <a:tr h="28512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Roboto" panose="02000000000000000000" pitchFamily="2" charset="0"/>
                                  </a:rPr>
                                  <m:t>𝒑</m:t>
                                </m:r>
                              </m:oMath>
                            </m:oMathPara>
                          </a14:m>
                          <a:endParaRPr lang="es-CO" sz="2000" b="1" dirty="0">
                            <a:latin typeface="Roboto" panose="02000000000000000000" pitchFamily="2" charset="0"/>
                            <a:ea typeface="Roboto" panose="02000000000000000000" pitchFamily="2" charset="0"/>
                          </a:endParaRPr>
                        </a:p>
                      </a:txBody>
                      <a:tcPr anchor="ctr">
                        <a:lnB w="1905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Roboto" panose="02000000000000000000" pitchFamily="2" charset="0"/>
                                  </a:rPr>
                                  <m:t>𝒒</m:t>
                                </m:r>
                              </m:oMath>
                            </m:oMathPara>
                          </a14:m>
                          <a:endParaRPr lang="es-CO" sz="2000" b="1" dirty="0">
                            <a:latin typeface="Roboto" panose="02000000000000000000" pitchFamily="2" charset="0"/>
                            <a:ea typeface="Roboto" panose="02000000000000000000" pitchFamily="2" charset="0"/>
                          </a:endParaRPr>
                        </a:p>
                      </a:txBody>
                      <a:tcPr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rPr>
                                  <m:t>𝒑</m:t>
                                </m:r>
                                <m:r>
                                  <a:rPr lang="es-MX" sz="2000" b="1" i="1" smtClean="0">
                                    <a:latin typeface="Cambria Math" panose="02040503050406030204" pitchFamily="18" charset="0"/>
                                  </a:rPr>
                                  <m:t>→</m:t>
                                </m:r>
                                <m:r>
                                  <a:rPr lang="es-MX" sz="2000" b="1" i="1" smtClean="0">
                                    <a:latin typeface="Cambria Math" panose="02040503050406030204" pitchFamily="18" charset="0"/>
                                  </a:rPr>
                                  <m:t>𝒒</m:t>
                                </m:r>
                              </m:oMath>
                            </m:oMathPara>
                          </a14:m>
                          <a:endParaRPr lang="es-MX" sz="2000" b="1" dirty="0"/>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Roboto" panose="02000000000000000000" pitchFamily="2" charset="0"/>
                                  </a:rPr>
                                  <m:t>𝒒</m:t>
                                </m:r>
                              </m:oMath>
                            </m:oMathPara>
                          </a14:m>
                          <a:endParaRPr lang="es-CO" sz="2000" b="1" dirty="0">
                            <a:latin typeface="Roboto" panose="02000000000000000000" pitchFamily="2" charset="0"/>
                            <a:ea typeface="Roboto" panose="02000000000000000000" pitchFamily="2" charset="0"/>
                          </a:endParaRPr>
                        </a:p>
                      </a:txBody>
                      <a:tcPr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Roboto" panose="02000000000000000000" pitchFamily="2" charset="0"/>
                                  </a:rPr>
                                  <m:t>𝒑</m:t>
                                </m:r>
                              </m:oMath>
                            </m:oMathPara>
                          </a14:m>
                          <a:endParaRPr lang="es-CO" sz="2000" b="1" dirty="0">
                            <a:latin typeface="Roboto" panose="02000000000000000000" pitchFamily="2" charset="0"/>
                            <a:ea typeface="Roboto" panose="02000000000000000000" pitchFamily="2" charset="0"/>
                          </a:endParaRPr>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43562445"/>
                      </a:ext>
                    </a:extLst>
                  </a:tr>
                  <a:tr h="28512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T w="19050" cap="flat" cmpd="sng" algn="ctr">
                          <a:solidFill>
                            <a:schemeClr val="tx1"/>
                          </a:solidFill>
                          <a:prstDash val="solid"/>
                          <a:round/>
                          <a:headEnd type="none" w="med" len="med"/>
                          <a:tailEnd type="none" w="med" len="med"/>
                        </a:lnT>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060002283"/>
                      </a:ext>
                    </a:extLst>
                  </a:tr>
                  <a:tr h="285127">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accent2">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accent2">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0</m:t>
                                </m:r>
                              </m:oMath>
                            </m:oMathPara>
                          </a14:m>
                          <a:endParaRPr lang="es-CO" sz="2000" dirty="0">
                            <a:solidFill>
                              <a:schemeClr val="tx1"/>
                            </a:solidFill>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accent2">
                            <a:lumMod val="20000"/>
                            <a:lumOff val="80000"/>
                          </a:schemeClr>
                        </a:solidFill>
                      </a:tcPr>
                    </a:tc>
                    <a:extLst>
                      <a:ext uri="{0D108BD9-81ED-4DB2-BD59-A6C34878D82A}">
                        <a16:rowId xmlns:a16="http://schemas.microsoft.com/office/drawing/2014/main" val="1387642809"/>
                      </a:ext>
                    </a:extLst>
                  </a:tr>
                  <a:tr h="28512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no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0</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1</m:t>
                                </m:r>
                              </m:oMath>
                            </m:oMathPara>
                          </a14:m>
                          <a:endParaRPr lang="es-CO" sz="2000" dirty="0">
                            <a:solidFill>
                              <a:schemeClr val="tx1"/>
                            </a:solidFill>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4158220119"/>
                      </a:ext>
                    </a:extLst>
                  </a:tr>
                  <a:tr h="285127">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no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1</m:t>
                                </m:r>
                              </m:oMath>
                            </m:oMathPara>
                          </a14:m>
                          <a:endParaRPr lang="es-CO" sz="2000" dirty="0">
                            <a:latin typeface="Roboto" panose="02000000000000000000" pitchFamily="2" charset="0"/>
                            <a:ea typeface="Roboto" panose="02000000000000000000" pitchFamily="2" charset="0"/>
                          </a:endParaRPr>
                        </a:p>
                      </a:txBody>
                      <a:tcPr>
                        <a:lnR w="19050" cap="flat" cmpd="sng" algn="ctr">
                          <a:solidFill>
                            <a:schemeClr val="tx1"/>
                          </a:solidFill>
                          <a:prstDash val="solid"/>
                          <a:round/>
                          <a:headEnd type="none" w="med" len="med"/>
                          <a:tailEnd type="none" w="med" len="med"/>
                        </a:lnR>
                        <a:noFill/>
                      </a:tcPr>
                    </a:tc>
                    <a:tc>
                      <a:txBody>
                        <a:bodyPr/>
                        <a:lstStyle/>
                        <a:p>
                          <a:pPr/>
                          <a14:m>
                            <m:oMathPara xmlns:m="http://schemas.openxmlformats.org/officeDocument/2006/math">
                              <m:oMathParaPr>
                                <m:jc m:val="centerGroup"/>
                              </m:oMathParaPr>
                              <m:oMath xmlns:m="http://schemas.openxmlformats.org/officeDocument/2006/math">
                                <m:r>
                                  <a:rPr lang="es-MX" sz="2000" b="0" i="1" smtClean="0">
                                    <a:solidFill>
                                      <a:schemeClr val="tx1"/>
                                    </a:solidFill>
                                    <a:latin typeface="Cambria Math" panose="02040503050406030204" pitchFamily="18" charset="0"/>
                                    <a:ea typeface="Roboto" panose="02000000000000000000" pitchFamily="2" charset="0"/>
                                  </a:rPr>
                                  <m:t>1</m:t>
                                </m:r>
                              </m:oMath>
                            </m:oMathPara>
                          </a14:m>
                          <a:endParaRPr lang="es-CO" sz="2000" dirty="0">
                            <a:solidFill>
                              <a:schemeClr val="tx1"/>
                            </a:solidFill>
                            <a:latin typeface="Roboto" panose="02000000000000000000" pitchFamily="2" charset="0"/>
                            <a:ea typeface="Roboto" panose="02000000000000000000" pitchFamily="2" charset="0"/>
                          </a:endParaRPr>
                        </a:p>
                      </a:txBody>
                      <a:tcPr>
                        <a:lnL w="1905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313013369"/>
                      </a:ext>
                    </a:extLst>
                  </a:tr>
                </a:tbl>
              </a:graphicData>
            </a:graphic>
          </p:graphicFrame>
        </mc:Choice>
        <mc:Fallback xmlns="">
          <p:graphicFrame>
            <p:nvGraphicFramePr>
              <p:cNvPr id="3" name="Tabla 2">
                <a:extLst>
                  <a:ext uri="{FF2B5EF4-FFF2-40B4-BE49-F238E27FC236}">
                    <a16:creationId xmlns:a16="http://schemas.microsoft.com/office/drawing/2014/main" id="{90EA7578-E5F4-4952-A3B4-0A8B1181BA83}"/>
                  </a:ext>
                </a:extLst>
              </p:cNvPr>
              <p:cNvGraphicFramePr>
                <a:graphicFrameLocks noGrp="1"/>
              </p:cNvGraphicFramePr>
              <p:nvPr>
                <p:extLst>
                  <p:ext uri="{D42A27DB-BD31-4B8C-83A1-F6EECF244321}">
                    <p14:modId xmlns:p14="http://schemas.microsoft.com/office/powerpoint/2010/main" val="3804067218"/>
                  </p:ext>
                </p:extLst>
              </p:nvPr>
            </p:nvGraphicFramePr>
            <p:xfrm>
              <a:off x="4322031" y="2809506"/>
              <a:ext cx="3698465" cy="1981200"/>
            </p:xfrm>
            <a:graphic>
              <a:graphicData uri="http://schemas.openxmlformats.org/drawingml/2006/table">
                <a:tbl>
                  <a:tblPr firstRow="1" bandRow="1">
                    <a:tableStyleId>{AD6A3598-7CB8-4345-8D95-17CE05F158A0}</a:tableStyleId>
                  </a:tblPr>
                  <a:tblGrid>
                    <a:gridCol w="438615">
                      <a:extLst>
                        <a:ext uri="{9D8B030D-6E8A-4147-A177-3AD203B41FA5}">
                          <a16:colId xmlns:a16="http://schemas.microsoft.com/office/drawing/2014/main" val="4099516379"/>
                        </a:ext>
                      </a:extLst>
                    </a:gridCol>
                    <a:gridCol w="438615">
                      <a:extLst>
                        <a:ext uri="{9D8B030D-6E8A-4147-A177-3AD203B41FA5}">
                          <a16:colId xmlns:a16="http://schemas.microsoft.com/office/drawing/2014/main" val="3713746608"/>
                        </a:ext>
                      </a:extLst>
                    </a:gridCol>
                    <a:gridCol w="917702">
                      <a:extLst>
                        <a:ext uri="{9D8B030D-6E8A-4147-A177-3AD203B41FA5}">
                          <a16:colId xmlns:a16="http://schemas.microsoft.com/office/drawing/2014/main" val="1936182596"/>
                        </a:ext>
                      </a:extLst>
                    </a:gridCol>
                    <a:gridCol w="788327">
                      <a:extLst>
                        <a:ext uri="{9D8B030D-6E8A-4147-A177-3AD203B41FA5}">
                          <a16:colId xmlns:a16="http://schemas.microsoft.com/office/drawing/2014/main" val="3648826037"/>
                        </a:ext>
                      </a:extLst>
                    </a:gridCol>
                    <a:gridCol w="1115206">
                      <a:extLst>
                        <a:ext uri="{9D8B030D-6E8A-4147-A177-3AD203B41FA5}">
                          <a16:colId xmlns:a16="http://schemas.microsoft.com/office/drawing/2014/main" val="3755460267"/>
                        </a:ext>
                      </a:extLst>
                    </a:gridCol>
                  </a:tblGrid>
                  <a:tr h="396240">
                    <a:tc>
                      <a:txBody>
                        <a:bodyPr/>
                        <a:lstStyle/>
                        <a:p>
                          <a:endParaRPr lang="es-CO"/>
                        </a:p>
                      </a:txBody>
                      <a:tcPr anchor="ctr">
                        <a:lnB w="19050" cap="flat" cmpd="sng" algn="ctr">
                          <a:solidFill>
                            <a:schemeClr val="tx1"/>
                          </a:solidFill>
                          <a:prstDash val="solid"/>
                          <a:round/>
                          <a:headEnd type="none" w="med" len="med"/>
                          <a:tailEnd type="none" w="med" len="med"/>
                        </a:lnB>
                        <a:blipFill>
                          <a:blip r:embed="rId4"/>
                          <a:stretch>
                            <a:fillRect r="-748611" b="-406154"/>
                          </a:stretch>
                        </a:blipFill>
                      </a:tcPr>
                    </a:tc>
                    <a:tc>
                      <a:txBody>
                        <a:bodyPr/>
                        <a:lstStyle/>
                        <a:p>
                          <a:endParaRPr lang="es-CO"/>
                        </a:p>
                      </a:txBody>
                      <a:tcPr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blipFill>
                          <a:blip r:embed="rId4"/>
                          <a:stretch>
                            <a:fillRect l="-100000" r="-648611" b="-406154"/>
                          </a:stretch>
                        </a:blipFill>
                      </a:tcPr>
                    </a:tc>
                    <a:tc>
                      <a:txBody>
                        <a:bodyPr/>
                        <a:lstStyle/>
                        <a:p>
                          <a:endParaRPr lang="es-CO"/>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blipFill>
                          <a:blip r:embed="rId4"/>
                          <a:stretch>
                            <a:fillRect l="-95364" r="-209272" b="-406154"/>
                          </a:stretch>
                        </a:blipFill>
                      </a:tcPr>
                    </a:tc>
                    <a:tc>
                      <a:txBody>
                        <a:bodyPr/>
                        <a:lstStyle/>
                        <a:p>
                          <a:endParaRPr lang="es-CO"/>
                        </a:p>
                      </a:txBody>
                      <a:tcPr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blipFill>
                          <a:blip r:embed="rId4"/>
                          <a:stretch>
                            <a:fillRect l="-226923" r="-143077" b="-406154"/>
                          </a:stretch>
                        </a:blipFill>
                      </a:tcPr>
                    </a:tc>
                    <a:tc>
                      <a:txBody>
                        <a:bodyPr/>
                        <a:lstStyle/>
                        <a:p>
                          <a:endParaRPr lang="es-CO"/>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blipFill>
                          <a:blip r:embed="rId4"/>
                          <a:stretch>
                            <a:fillRect l="-232240" r="-1639" b="-406154"/>
                          </a:stretch>
                        </a:blipFill>
                      </a:tcPr>
                    </a:tc>
                    <a:extLst>
                      <a:ext uri="{0D108BD9-81ED-4DB2-BD59-A6C34878D82A}">
                        <a16:rowId xmlns:a16="http://schemas.microsoft.com/office/drawing/2014/main" val="2943562445"/>
                      </a:ext>
                    </a:extLst>
                  </a:tr>
                  <a:tr h="396240">
                    <a:tc>
                      <a:txBody>
                        <a:bodyPr/>
                        <a:lstStyle/>
                        <a:p>
                          <a:endParaRPr lang="es-CO"/>
                        </a:p>
                      </a:txBody>
                      <a:tcPr>
                        <a:lnT w="19050" cap="flat" cmpd="sng" algn="ctr">
                          <a:solidFill>
                            <a:schemeClr val="tx1"/>
                          </a:solidFill>
                          <a:prstDash val="solid"/>
                          <a:round/>
                          <a:headEnd type="none" w="med" len="med"/>
                          <a:tailEnd type="none" w="med" len="med"/>
                        </a:lnT>
                        <a:blipFill>
                          <a:blip r:embed="rId4"/>
                          <a:stretch>
                            <a:fillRect t="-100000" r="-748611" b="-306154"/>
                          </a:stretch>
                        </a:blipFill>
                      </a:tcPr>
                    </a:tc>
                    <a:tc>
                      <a:txBody>
                        <a:bodyPr/>
                        <a:lstStyle/>
                        <a:p>
                          <a:endParaRPr lang="es-CO"/>
                        </a:p>
                      </a:txBody>
                      <a:tcP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blipFill>
                          <a:blip r:embed="rId4"/>
                          <a:stretch>
                            <a:fillRect l="-100000" t="-100000" r="-648611" b="-306154"/>
                          </a:stretch>
                        </a:blipFill>
                      </a:tcPr>
                    </a:tc>
                    <a:tc>
                      <a:txBody>
                        <a:bodyPr/>
                        <a:lstStyle/>
                        <a:p>
                          <a:endParaRPr lang="es-CO"/>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blipFill>
                          <a:blip r:embed="rId4"/>
                          <a:stretch>
                            <a:fillRect l="-95364" t="-100000" r="-209272" b="-306154"/>
                          </a:stretch>
                        </a:blipFill>
                      </a:tcPr>
                    </a:tc>
                    <a:tc>
                      <a:txBody>
                        <a:bodyPr/>
                        <a:lstStyle/>
                        <a:p>
                          <a:endParaRPr lang="es-CO"/>
                        </a:p>
                      </a:txBody>
                      <a:tcP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blipFill>
                          <a:blip r:embed="rId4"/>
                          <a:stretch>
                            <a:fillRect l="-226923" t="-100000" r="-143077" b="-306154"/>
                          </a:stretch>
                        </a:blipFill>
                      </a:tcPr>
                    </a:tc>
                    <a:tc>
                      <a:txBody>
                        <a:bodyPr/>
                        <a:lstStyle/>
                        <a:p>
                          <a:endParaRPr lang="es-CO"/>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blipFill>
                          <a:blip r:embed="rId4"/>
                          <a:stretch>
                            <a:fillRect l="-232240" t="-100000" r="-1639" b="-306154"/>
                          </a:stretch>
                        </a:blipFill>
                      </a:tcPr>
                    </a:tc>
                    <a:extLst>
                      <a:ext uri="{0D108BD9-81ED-4DB2-BD59-A6C34878D82A}">
                        <a16:rowId xmlns:a16="http://schemas.microsoft.com/office/drawing/2014/main" val="1060002283"/>
                      </a:ext>
                    </a:extLst>
                  </a:tr>
                  <a:tr h="396240">
                    <a:tc>
                      <a:txBody>
                        <a:bodyPr/>
                        <a:lstStyle/>
                        <a:p>
                          <a:endParaRPr lang="es-CO"/>
                        </a:p>
                      </a:txBody>
                      <a:tcPr>
                        <a:blipFill>
                          <a:blip r:embed="rId4"/>
                          <a:stretch>
                            <a:fillRect t="-196970" r="-748611" b="-201515"/>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4"/>
                          <a:stretch>
                            <a:fillRect l="-100000" t="-196970" r="-648611" b="-201515"/>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4"/>
                          <a:stretch>
                            <a:fillRect l="-95364" t="-196970" r="-209272" b="-201515"/>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4"/>
                          <a:stretch>
                            <a:fillRect l="-226923" t="-196970" r="-143077" b="-201515"/>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4"/>
                          <a:stretch>
                            <a:fillRect l="-232240" t="-196970" r="-1639" b="-201515"/>
                          </a:stretch>
                        </a:blipFill>
                      </a:tcPr>
                    </a:tc>
                    <a:extLst>
                      <a:ext uri="{0D108BD9-81ED-4DB2-BD59-A6C34878D82A}">
                        <a16:rowId xmlns:a16="http://schemas.microsoft.com/office/drawing/2014/main" val="1387642809"/>
                      </a:ext>
                    </a:extLst>
                  </a:tr>
                  <a:tr h="396240">
                    <a:tc>
                      <a:txBody>
                        <a:bodyPr/>
                        <a:lstStyle/>
                        <a:p>
                          <a:endParaRPr lang="es-CO"/>
                        </a:p>
                      </a:txBody>
                      <a:tcPr>
                        <a:blipFill>
                          <a:blip r:embed="rId4"/>
                          <a:stretch>
                            <a:fillRect t="-301538" r="-748611" b="-104615"/>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4"/>
                          <a:stretch>
                            <a:fillRect l="-100000" t="-301538" r="-648611" b="-104615"/>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4"/>
                          <a:stretch>
                            <a:fillRect l="-95364" t="-301538" r="-209272" b="-104615"/>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4"/>
                          <a:stretch>
                            <a:fillRect l="-226923" t="-301538" r="-143077" b="-104615"/>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4"/>
                          <a:stretch>
                            <a:fillRect l="-232240" t="-301538" r="-1639" b="-104615"/>
                          </a:stretch>
                        </a:blipFill>
                      </a:tcPr>
                    </a:tc>
                    <a:extLst>
                      <a:ext uri="{0D108BD9-81ED-4DB2-BD59-A6C34878D82A}">
                        <a16:rowId xmlns:a16="http://schemas.microsoft.com/office/drawing/2014/main" val="4158220119"/>
                      </a:ext>
                    </a:extLst>
                  </a:tr>
                  <a:tr h="396240">
                    <a:tc>
                      <a:txBody>
                        <a:bodyPr/>
                        <a:lstStyle/>
                        <a:p>
                          <a:endParaRPr lang="es-CO"/>
                        </a:p>
                      </a:txBody>
                      <a:tcPr>
                        <a:blipFill>
                          <a:blip r:embed="rId4"/>
                          <a:stretch>
                            <a:fillRect t="-401538" r="-748611" b="-4615"/>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4"/>
                          <a:stretch>
                            <a:fillRect l="-100000" t="-401538" r="-648611" b="-4615"/>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4"/>
                          <a:stretch>
                            <a:fillRect l="-95364" t="-401538" r="-209272" b="-4615"/>
                          </a:stretch>
                        </a:blipFill>
                      </a:tcPr>
                    </a:tc>
                    <a:tc>
                      <a:txBody>
                        <a:bodyPr/>
                        <a:lstStyle/>
                        <a:p>
                          <a:endParaRPr lang="es-CO"/>
                        </a:p>
                      </a:txBody>
                      <a:tcPr>
                        <a:lnR w="19050" cap="flat" cmpd="sng" algn="ctr">
                          <a:solidFill>
                            <a:schemeClr val="tx1"/>
                          </a:solidFill>
                          <a:prstDash val="solid"/>
                          <a:round/>
                          <a:headEnd type="none" w="med" len="med"/>
                          <a:tailEnd type="none" w="med" len="med"/>
                        </a:lnR>
                        <a:blipFill>
                          <a:blip r:embed="rId4"/>
                          <a:stretch>
                            <a:fillRect l="-226923" t="-401538" r="-143077" b="-4615"/>
                          </a:stretch>
                        </a:blipFill>
                      </a:tcPr>
                    </a:tc>
                    <a:tc>
                      <a:txBody>
                        <a:bodyPr/>
                        <a:lstStyle/>
                        <a:p>
                          <a:endParaRPr lang="es-CO"/>
                        </a:p>
                      </a:txBody>
                      <a:tcPr>
                        <a:lnL w="19050" cap="flat" cmpd="sng" algn="ctr">
                          <a:solidFill>
                            <a:schemeClr val="tx1"/>
                          </a:solidFill>
                          <a:prstDash val="solid"/>
                          <a:round/>
                          <a:headEnd type="none" w="med" len="med"/>
                          <a:tailEnd type="none" w="med" len="med"/>
                        </a:lnL>
                        <a:blipFill>
                          <a:blip r:embed="rId4"/>
                          <a:stretch>
                            <a:fillRect l="-232240" t="-401538" r="-1639" b="-4615"/>
                          </a:stretch>
                        </a:blipFill>
                      </a:tcPr>
                    </a:tc>
                    <a:extLst>
                      <a:ext uri="{0D108BD9-81ED-4DB2-BD59-A6C34878D82A}">
                        <a16:rowId xmlns:a16="http://schemas.microsoft.com/office/drawing/2014/main" val="313013369"/>
                      </a:ext>
                    </a:extLst>
                  </a:tr>
                </a:tbl>
              </a:graphicData>
            </a:graphic>
          </p:graphicFrame>
        </mc:Fallback>
      </mc:AlternateContent>
      <p:sp>
        <p:nvSpPr>
          <p:cNvPr id="14" name="Google Shape;310;p34">
            <a:extLst>
              <a:ext uri="{FF2B5EF4-FFF2-40B4-BE49-F238E27FC236}">
                <a16:creationId xmlns:a16="http://schemas.microsoft.com/office/drawing/2014/main" id="{1C2A0C4C-F152-4F86-A493-88A46FDA7709}"/>
              </a:ext>
            </a:extLst>
          </p:cNvPr>
          <p:cNvSpPr txBox="1">
            <a:spLocks/>
          </p:cNvSpPr>
          <p:nvPr/>
        </p:nvSpPr>
        <p:spPr>
          <a:xfrm>
            <a:off x="308908" y="861656"/>
            <a:ext cx="3166176" cy="43495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b="1" dirty="0">
                <a:latin typeface="+mn-lt"/>
                <a:ea typeface="Roboto" panose="02000000000000000000" pitchFamily="2" charset="0"/>
              </a:rPr>
              <a:t>Solución - ejemplo</a:t>
            </a:r>
            <a:r>
              <a:rPr lang="es-MX" sz="2200" dirty="0">
                <a:latin typeface="+mn-lt"/>
                <a:ea typeface="Roboto" panose="02000000000000000000" pitchFamily="2" charset="0"/>
              </a:rPr>
              <a:t>:</a:t>
            </a:r>
          </a:p>
        </p:txBody>
      </p:sp>
      <p:grpSp>
        <p:nvGrpSpPr>
          <p:cNvPr id="19" name="Grupo 18">
            <a:extLst>
              <a:ext uri="{FF2B5EF4-FFF2-40B4-BE49-F238E27FC236}">
                <a16:creationId xmlns:a16="http://schemas.microsoft.com/office/drawing/2014/main" id="{9E05AE18-4824-45CB-8649-BF642B380456}"/>
              </a:ext>
            </a:extLst>
          </p:cNvPr>
          <p:cNvGrpSpPr/>
          <p:nvPr/>
        </p:nvGrpSpPr>
        <p:grpSpPr>
          <a:xfrm>
            <a:off x="5198650" y="1905423"/>
            <a:ext cx="3009397" cy="751275"/>
            <a:chOff x="5996618" y="2760948"/>
            <a:chExt cx="2879624" cy="751275"/>
          </a:xfrm>
        </p:grpSpPr>
        <p:grpSp>
          <p:nvGrpSpPr>
            <p:cNvPr id="23" name="Grupo 22">
              <a:extLst>
                <a:ext uri="{FF2B5EF4-FFF2-40B4-BE49-F238E27FC236}">
                  <a16:creationId xmlns:a16="http://schemas.microsoft.com/office/drawing/2014/main" id="{0FC0D1BE-EFFF-4E92-8A7B-79CBD2B2F130}"/>
                </a:ext>
              </a:extLst>
            </p:cNvPr>
            <p:cNvGrpSpPr/>
            <p:nvPr/>
          </p:nvGrpSpPr>
          <p:grpSpPr>
            <a:xfrm>
              <a:off x="5996618" y="2768073"/>
              <a:ext cx="1636399" cy="744148"/>
              <a:chOff x="5996618" y="2768073"/>
              <a:chExt cx="1636399" cy="744148"/>
            </a:xfrm>
          </p:grpSpPr>
          <p:sp>
            <p:nvSpPr>
              <p:cNvPr id="27" name="Abrir llave 26">
                <a:extLst>
                  <a:ext uri="{FF2B5EF4-FFF2-40B4-BE49-F238E27FC236}">
                    <a16:creationId xmlns:a16="http://schemas.microsoft.com/office/drawing/2014/main" id="{BB790A16-B876-4190-ACD5-89F299CF66B1}"/>
                  </a:ext>
                </a:extLst>
              </p:cNvPr>
              <p:cNvSpPr/>
              <p:nvPr/>
            </p:nvSpPr>
            <p:spPr>
              <a:xfrm rot="5400000">
                <a:off x="6695700" y="2574903"/>
                <a:ext cx="238236" cy="1636399"/>
              </a:xfrm>
              <a:prstGeom prst="leftBrace">
                <a:avLst>
                  <a:gd name="adj1" fmla="val 24066"/>
                  <a:gd name="adj2" fmla="val 50000"/>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dirty="0"/>
              </a:p>
            </p:txBody>
          </p:sp>
          <p:sp>
            <p:nvSpPr>
              <p:cNvPr id="31" name="CuadroTexto 30">
                <a:extLst>
                  <a:ext uri="{FF2B5EF4-FFF2-40B4-BE49-F238E27FC236}">
                    <a16:creationId xmlns:a16="http://schemas.microsoft.com/office/drawing/2014/main" id="{6411580B-BB84-44BA-B2CE-86D28059FD23}"/>
                  </a:ext>
                </a:extLst>
              </p:cNvPr>
              <p:cNvSpPr txBox="1"/>
              <p:nvPr/>
            </p:nvSpPr>
            <p:spPr>
              <a:xfrm>
                <a:off x="6224280" y="2768073"/>
                <a:ext cx="1103269" cy="400110"/>
              </a:xfrm>
              <a:prstGeom prst="rect">
                <a:avLst/>
              </a:prstGeom>
              <a:noFill/>
            </p:spPr>
            <p:txBody>
              <a:bodyPr wrap="square" rtlCol="0">
                <a:spAutoFit/>
              </a:bodyPr>
              <a:lstStyle/>
              <a:p>
                <a:pPr algn="ctr"/>
                <a:r>
                  <a:rPr lang="es-CO" sz="2000" b="1" dirty="0">
                    <a:solidFill>
                      <a:srgbClr val="C00000"/>
                    </a:solidFill>
                    <a:ea typeface="Roboto" panose="02000000000000000000" pitchFamily="2" charset="0"/>
                  </a:rPr>
                  <a:t>Premisas</a:t>
                </a:r>
              </a:p>
            </p:txBody>
          </p:sp>
        </p:grpSp>
        <p:grpSp>
          <p:nvGrpSpPr>
            <p:cNvPr id="24" name="Grupo 23">
              <a:extLst>
                <a:ext uri="{FF2B5EF4-FFF2-40B4-BE49-F238E27FC236}">
                  <a16:creationId xmlns:a16="http://schemas.microsoft.com/office/drawing/2014/main" id="{AB484346-C731-4A7E-BB7C-38762D7A3C00}"/>
                </a:ext>
              </a:extLst>
            </p:cNvPr>
            <p:cNvGrpSpPr/>
            <p:nvPr/>
          </p:nvGrpSpPr>
          <p:grpSpPr>
            <a:xfrm>
              <a:off x="7465279" y="2760948"/>
              <a:ext cx="1410963" cy="751275"/>
              <a:chOff x="7465279" y="2760948"/>
              <a:chExt cx="1410963" cy="751275"/>
            </a:xfrm>
          </p:grpSpPr>
          <p:sp>
            <p:nvSpPr>
              <p:cNvPr id="25" name="CuadroTexto 24">
                <a:extLst>
                  <a:ext uri="{FF2B5EF4-FFF2-40B4-BE49-F238E27FC236}">
                    <a16:creationId xmlns:a16="http://schemas.microsoft.com/office/drawing/2014/main" id="{62C29919-5433-4DD3-81B2-FC77C649CE69}"/>
                  </a:ext>
                </a:extLst>
              </p:cNvPr>
              <p:cNvSpPr txBox="1"/>
              <p:nvPr/>
            </p:nvSpPr>
            <p:spPr>
              <a:xfrm>
                <a:off x="7465279" y="2760948"/>
                <a:ext cx="1410963" cy="400110"/>
              </a:xfrm>
              <a:prstGeom prst="rect">
                <a:avLst/>
              </a:prstGeom>
              <a:noFill/>
            </p:spPr>
            <p:txBody>
              <a:bodyPr wrap="square" rtlCol="0">
                <a:spAutoFit/>
              </a:bodyPr>
              <a:lstStyle/>
              <a:p>
                <a:pPr algn="ctr"/>
                <a:r>
                  <a:rPr lang="es-CO" sz="2000" b="1" dirty="0">
                    <a:solidFill>
                      <a:srgbClr val="002060"/>
                    </a:solidFill>
                    <a:ea typeface="Roboto" panose="02000000000000000000" pitchFamily="2" charset="0"/>
                  </a:rPr>
                  <a:t>Conclusión</a:t>
                </a:r>
              </a:p>
            </p:txBody>
          </p:sp>
          <p:sp>
            <p:nvSpPr>
              <p:cNvPr id="26" name="Abrir llave 25">
                <a:extLst>
                  <a:ext uri="{FF2B5EF4-FFF2-40B4-BE49-F238E27FC236}">
                    <a16:creationId xmlns:a16="http://schemas.microsoft.com/office/drawing/2014/main" id="{1FB21392-2F5F-4D57-8257-6B44E1F2F3E5}"/>
                  </a:ext>
                </a:extLst>
              </p:cNvPr>
              <p:cNvSpPr/>
              <p:nvPr/>
            </p:nvSpPr>
            <p:spPr>
              <a:xfrm rot="5400000">
                <a:off x="8032765" y="2874239"/>
                <a:ext cx="238236" cy="1037731"/>
              </a:xfrm>
              <a:prstGeom prst="leftBrace">
                <a:avLst>
                  <a:gd name="adj1" fmla="val 24066"/>
                  <a:gd name="adj2" fmla="val 50000"/>
                </a:avLst>
              </a:prstGeom>
              <a:ln w="28575">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dirty="0"/>
              </a:p>
            </p:txBody>
          </p:sp>
        </p:grpSp>
      </p:grpSp>
      <p:sp>
        <p:nvSpPr>
          <p:cNvPr id="29" name="Google Shape;310;p34">
            <a:extLst>
              <a:ext uri="{FF2B5EF4-FFF2-40B4-BE49-F238E27FC236}">
                <a16:creationId xmlns:a16="http://schemas.microsoft.com/office/drawing/2014/main" id="{5BE117EC-9C54-4285-A84E-B39C25176C58}"/>
              </a:ext>
            </a:extLst>
          </p:cNvPr>
          <p:cNvSpPr txBox="1">
            <a:spLocks/>
          </p:cNvSpPr>
          <p:nvPr/>
        </p:nvSpPr>
        <p:spPr>
          <a:xfrm>
            <a:off x="308908" y="1234848"/>
            <a:ext cx="10873960" cy="43495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b="1" dirty="0">
                <a:latin typeface="+mn-lt"/>
                <a:ea typeface="Roboto" panose="02000000000000000000" pitchFamily="2" charset="0"/>
              </a:rPr>
              <a:t>Demostración de validez</a:t>
            </a:r>
            <a:r>
              <a:rPr lang="es-MX" sz="2000" dirty="0">
                <a:latin typeface="+mn-lt"/>
                <a:ea typeface="Roboto" panose="02000000000000000000" pitchFamily="2" charset="0"/>
              </a:rPr>
              <a:t>: Usando la tabla de la verdad</a:t>
            </a:r>
          </a:p>
        </p:txBody>
      </p:sp>
      <mc:AlternateContent xmlns:mc="http://schemas.openxmlformats.org/markup-compatibility/2006" xmlns:a14="http://schemas.microsoft.com/office/drawing/2010/main">
        <mc:Choice Requires="a14">
          <p:sp>
            <p:nvSpPr>
              <p:cNvPr id="33" name="CuadroTexto 32">
                <a:extLst>
                  <a:ext uri="{FF2B5EF4-FFF2-40B4-BE49-F238E27FC236}">
                    <a16:creationId xmlns:a16="http://schemas.microsoft.com/office/drawing/2014/main" id="{5697A2EC-C6DD-42B8-BDF1-A57A4F85FD20}"/>
                  </a:ext>
                </a:extLst>
              </p:cNvPr>
              <p:cNvSpPr txBox="1"/>
              <p:nvPr/>
            </p:nvSpPr>
            <p:spPr>
              <a:xfrm>
                <a:off x="2285884" y="2943397"/>
                <a:ext cx="1101968" cy="8567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CO" sz="2000" i="1" smtClean="0">
                              <a:latin typeface="Cambria Math" panose="02040503050406030204" pitchFamily="18" charset="0"/>
                            </a:rPr>
                          </m:ctrlPr>
                        </m:fPr>
                        <m:num>
                          <m:eqArr>
                            <m:eqArrPr>
                              <m:ctrlPr>
                                <a:rPr lang="es-MX" sz="2000" i="1">
                                  <a:latin typeface="Cambria Math" panose="02040503050406030204" pitchFamily="18" charset="0"/>
                                  <a:ea typeface="Cambria Math" panose="02040503050406030204" pitchFamily="18" charset="0"/>
                                </a:rPr>
                              </m:ctrlPr>
                            </m:eqArrPr>
                            <m:e>
                              <m:r>
                                <a:rPr lang="es-MX" sz="2000" b="0" i="1" smtClean="0">
                                  <a:latin typeface="Cambria Math" panose="02040503050406030204" pitchFamily="18" charset="0"/>
                                  <a:ea typeface="Cambria Math" panose="02040503050406030204" pitchFamily="18" charset="0"/>
                                </a:rPr>
                                <m:t>𝑝</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𝑞</m:t>
                              </m:r>
                            </m:e>
                            <m:e>
                              <m:r>
                                <a:rPr lang="es-MX" sz="2000" b="0" i="1" smtClean="0">
                                  <a:latin typeface="Cambria Math" panose="02040503050406030204" pitchFamily="18" charset="0"/>
                                  <a:ea typeface="Cambria Math" panose="02040503050406030204" pitchFamily="18" charset="0"/>
                                </a:rPr>
                                <m:t>𝑞</m:t>
                              </m:r>
                              <m:r>
                                <a:rPr lang="es-MX" sz="2000" b="0" i="1" smtClean="0">
                                  <a:latin typeface="Cambria Math" panose="02040503050406030204" pitchFamily="18" charset="0"/>
                                  <a:ea typeface="Cambria Math" panose="02040503050406030204" pitchFamily="18" charset="0"/>
                                </a:rPr>
                                <m:t>         </m:t>
                              </m:r>
                            </m:e>
                          </m:eqArr>
                        </m:num>
                        <m:den>
                          <m:r>
                            <a:rPr lang="es-CO" sz="2000">
                              <a:latin typeface="Cambria Math" panose="02040503050406030204" pitchFamily="18" charset="0"/>
                              <a:ea typeface="Cambria Math" panose="02040503050406030204" pitchFamily="18" charset="0"/>
                            </a:rPr>
                            <m:t>∴</m:t>
                          </m:r>
                          <m:r>
                            <a:rPr lang="es-MX" sz="2000" i="1" smtClean="0">
                              <a:latin typeface="Cambria Math" panose="02040503050406030204" pitchFamily="18" charset="0"/>
                              <a:ea typeface="Cambria Math" panose="02040503050406030204" pitchFamily="18" charset="0"/>
                            </a:rPr>
                            <m:t>𝑝</m:t>
                          </m:r>
                          <m:r>
                            <m:rPr>
                              <m:nor/>
                            </m:rPr>
                            <a:rPr lang="es-MX" sz="2000" b="0" i="0" dirty="0" smtClean="0"/>
                            <m:t>      </m:t>
                          </m:r>
                          <m:r>
                            <a:rPr lang="es-MX" sz="2000" b="0" i="1" dirty="0" smtClean="0">
                              <a:latin typeface="Cambria Math" panose="02040503050406030204" pitchFamily="18" charset="0"/>
                            </a:rPr>
                            <m:t>      </m:t>
                          </m:r>
                        </m:den>
                      </m:f>
                    </m:oMath>
                  </m:oMathPara>
                </a14:m>
                <a:endParaRPr lang="es-CO" sz="2000" dirty="0"/>
              </a:p>
            </p:txBody>
          </p:sp>
        </mc:Choice>
        <mc:Fallback xmlns="">
          <p:sp>
            <p:nvSpPr>
              <p:cNvPr id="33" name="CuadroTexto 32">
                <a:extLst>
                  <a:ext uri="{FF2B5EF4-FFF2-40B4-BE49-F238E27FC236}">
                    <a16:creationId xmlns:a16="http://schemas.microsoft.com/office/drawing/2014/main" id="{5697A2EC-C6DD-42B8-BDF1-A57A4F85FD20}"/>
                  </a:ext>
                </a:extLst>
              </p:cNvPr>
              <p:cNvSpPr txBox="1">
                <a:spLocks noRot="1" noChangeAspect="1" noMove="1" noResize="1" noEditPoints="1" noAdjustHandles="1" noChangeArrowheads="1" noChangeShapeType="1" noTextEdit="1"/>
              </p:cNvSpPr>
              <p:nvPr/>
            </p:nvSpPr>
            <p:spPr>
              <a:xfrm>
                <a:off x="2285884" y="2943397"/>
                <a:ext cx="1101968" cy="856709"/>
              </a:xfrm>
              <a:prstGeom prst="rect">
                <a:avLst/>
              </a:prstGeom>
              <a:blipFill>
                <a:blip r:embed="rId5"/>
                <a:stretch>
                  <a:fillRect/>
                </a:stretch>
              </a:blipFill>
            </p:spPr>
            <p:txBody>
              <a:bodyPr/>
              <a:lstStyle/>
              <a:p>
                <a:r>
                  <a:rPr lang="es-CO">
                    <a:noFill/>
                  </a:rPr>
                  <a:t> </a:t>
                </a:r>
              </a:p>
            </p:txBody>
          </p:sp>
        </mc:Fallback>
      </mc:AlternateContent>
    </p:spTree>
    <p:extLst>
      <p:ext uri="{BB962C8B-B14F-4D97-AF65-F5344CB8AC3E}">
        <p14:creationId xmlns:p14="http://schemas.microsoft.com/office/powerpoint/2010/main" val="4045943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49" y="96038"/>
            <a:ext cx="10764073"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Validación de argumentos – Tablas de verdad</a:t>
            </a:r>
            <a:endParaRPr dirty="0">
              <a:solidFill>
                <a:schemeClr val="tx1"/>
              </a:solidFill>
              <a:latin typeface="+mj-lt"/>
            </a:endParaRPr>
          </a:p>
        </p:txBody>
      </p:sp>
      <p:sp>
        <p:nvSpPr>
          <p:cNvPr id="6" name="CuadroTexto 5">
            <a:extLst>
              <a:ext uri="{FF2B5EF4-FFF2-40B4-BE49-F238E27FC236}">
                <a16:creationId xmlns:a16="http://schemas.microsoft.com/office/drawing/2014/main" id="{90CBA4FE-0EF0-4C81-B436-B2CA48FF056F}"/>
              </a:ext>
            </a:extLst>
          </p:cNvPr>
          <p:cNvSpPr txBox="1"/>
          <p:nvPr/>
        </p:nvSpPr>
        <p:spPr>
          <a:xfrm>
            <a:off x="622090" y="975384"/>
            <a:ext cx="10947819" cy="430887"/>
          </a:xfrm>
          <a:prstGeom prst="rect">
            <a:avLst/>
          </a:prstGeom>
          <a:noFill/>
        </p:spPr>
        <p:txBody>
          <a:bodyPr wrap="square" rtlCol="0">
            <a:spAutoFit/>
          </a:bodyPr>
          <a:lstStyle/>
          <a:p>
            <a:r>
              <a:rPr lang="es-MX" sz="2200" b="1" dirty="0">
                <a:ea typeface="Roboto" panose="02000000000000000000" pitchFamily="2" charset="0"/>
              </a:rPr>
              <a:t>Ejemplo</a:t>
            </a:r>
            <a:r>
              <a:rPr lang="es-MX" sz="2200" dirty="0">
                <a:ea typeface="Roboto" panose="02000000000000000000" pitchFamily="2" charset="0"/>
              </a:rPr>
              <a:t>: Dado el siguiente argumento lógico:</a:t>
            </a:r>
          </a:p>
        </p:txBody>
      </p:sp>
      <p:sp>
        <p:nvSpPr>
          <p:cNvPr id="11" name="CuadroTexto 10">
            <a:extLst>
              <a:ext uri="{FF2B5EF4-FFF2-40B4-BE49-F238E27FC236}">
                <a16:creationId xmlns:a16="http://schemas.microsoft.com/office/drawing/2014/main" id="{A576466C-61B1-47D2-83DB-18A11DBFB964}"/>
              </a:ext>
            </a:extLst>
          </p:cNvPr>
          <p:cNvSpPr txBox="1"/>
          <p:nvPr/>
        </p:nvSpPr>
        <p:spPr>
          <a:xfrm>
            <a:off x="622091" y="2120075"/>
            <a:ext cx="10947818" cy="1323439"/>
          </a:xfrm>
          <a:prstGeom prst="rect">
            <a:avLst/>
          </a:prstGeom>
          <a:noFill/>
        </p:spPr>
        <p:txBody>
          <a:bodyPr wrap="square" rtlCol="0">
            <a:spAutoFit/>
          </a:bodyPr>
          <a:lstStyle/>
          <a:p>
            <a:r>
              <a:rPr lang="es-MX" sz="2000" dirty="0">
                <a:ea typeface="Roboto" panose="02000000000000000000" pitchFamily="2" charset="0"/>
              </a:rPr>
              <a:t>Se pide:</a:t>
            </a:r>
          </a:p>
          <a:p>
            <a:pPr marL="285750" indent="-285750">
              <a:buFont typeface="Arial" panose="020B0604020202020204" pitchFamily="34" charset="0"/>
              <a:buChar char="•"/>
            </a:pPr>
            <a:r>
              <a:rPr lang="es-MX" sz="2000" dirty="0">
                <a:ea typeface="Roboto" panose="02000000000000000000" pitchFamily="2" charset="0"/>
              </a:rPr>
              <a:t>¿En que tipo de representación esta?</a:t>
            </a:r>
          </a:p>
          <a:p>
            <a:pPr marL="285750" indent="-285750">
              <a:buFont typeface="Arial" panose="020B0604020202020204" pitchFamily="34" charset="0"/>
              <a:buChar char="•"/>
            </a:pPr>
            <a:r>
              <a:rPr lang="es-MX" sz="2000" dirty="0">
                <a:ea typeface="Roboto" panose="02000000000000000000" pitchFamily="2" charset="0"/>
              </a:rPr>
              <a:t>¿Cuál es la representación de este en las otras formas?</a:t>
            </a:r>
          </a:p>
          <a:p>
            <a:pPr marL="285750" indent="-285750">
              <a:buFont typeface="Arial" panose="020B0604020202020204" pitchFamily="34" charset="0"/>
              <a:buChar char="•"/>
            </a:pPr>
            <a:r>
              <a:rPr lang="es-MX" sz="2000" dirty="0">
                <a:ea typeface="Roboto" panose="02000000000000000000" pitchFamily="2" charset="0"/>
              </a:rPr>
              <a:t>Determine su validez mediante una tabla de verdad. </a:t>
            </a:r>
          </a:p>
        </p:txBody>
      </p:sp>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9EE753F5-A8D8-4C0A-ACF4-4FFF95ED65CB}"/>
                  </a:ext>
                </a:extLst>
              </p:cNvPr>
              <p:cNvSpPr txBox="1"/>
              <p:nvPr/>
            </p:nvSpPr>
            <p:spPr>
              <a:xfrm>
                <a:off x="3929124" y="1577481"/>
                <a:ext cx="4333750" cy="34740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𝐵</m:t>
                          </m:r>
                          <m:r>
                            <a:rPr lang="es-MX" sz="2000" i="1">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d>
                                <m:dPr>
                                  <m:ctrlPr>
                                    <a:rPr lang="es-MX" sz="2000" b="0" i="1">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𝐵</m:t>
                                  </m:r>
                                  <m:r>
                                    <a:rPr lang="es-MX" sz="2000" i="1">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𝐶</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𝐴</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𝐶</m:t>
                          </m:r>
                          <m:r>
                            <a:rPr lang="es-MX" sz="2000" b="0" i="1" smtClean="0">
                              <a:latin typeface="Cambria Math" panose="02040503050406030204" pitchFamily="18" charset="0"/>
                              <a:ea typeface="Cambria Math" panose="02040503050406030204" pitchFamily="18" charset="0"/>
                            </a:rPr>
                            <m:t>)</m:t>
                          </m:r>
                        </m:e>
                      </m:d>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𝐴</m:t>
                      </m:r>
                    </m:oMath>
                  </m:oMathPara>
                </a14:m>
                <a:endParaRPr lang="es-MX" sz="2000" dirty="0">
                  <a:latin typeface="Roboto" panose="02000000000000000000" pitchFamily="2" charset="0"/>
                  <a:ea typeface="Cambria Math" panose="02040503050406030204" pitchFamily="18" charset="0"/>
                </a:endParaRPr>
              </a:p>
            </p:txBody>
          </p:sp>
        </mc:Choice>
        <mc:Fallback xmlns="">
          <p:sp>
            <p:nvSpPr>
              <p:cNvPr id="12" name="CuadroTexto 11">
                <a:extLst>
                  <a:ext uri="{FF2B5EF4-FFF2-40B4-BE49-F238E27FC236}">
                    <a16:creationId xmlns:a16="http://schemas.microsoft.com/office/drawing/2014/main" id="{9EE753F5-A8D8-4C0A-ACF4-4FFF95ED65CB}"/>
                  </a:ext>
                </a:extLst>
              </p:cNvPr>
              <p:cNvSpPr txBox="1">
                <a:spLocks noRot="1" noChangeAspect="1" noMove="1" noResize="1" noEditPoints="1" noAdjustHandles="1" noChangeArrowheads="1" noChangeShapeType="1" noTextEdit="1"/>
              </p:cNvSpPr>
              <p:nvPr/>
            </p:nvSpPr>
            <p:spPr>
              <a:xfrm>
                <a:off x="3929124" y="1577481"/>
                <a:ext cx="4333750" cy="347403"/>
              </a:xfrm>
              <a:prstGeom prst="rect">
                <a:avLst/>
              </a:prstGeom>
              <a:blipFill>
                <a:blip r:embed="rId3"/>
                <a:stretch>
                  <a:fillRect r="-845" b="-26316"/>
                </a:stretch>
              </a:blipFill>
            </p:spPr>
            <p:txBody>
              <a:bodyPr/>
              <a:lstStyle/>
              <a:p>
                <a:r>
                  <a:rPr lang="es-CO">
                    <a:noFill/>
                  </a:rPr>
                  <a:t> </a:t>
                </a:r>
              </a:p>
            </p:txBody>
          </p:sp>
        </mc:Fallback>
      </mc:AlternateContent>
    </p:spTree>
    <p:extLst>
      <p:ext uri="{BB962C8B-B14F-4D97-AF65-F5344CB8AC3E}">
        <p14:creationId xmlns:p14="http://schemas.microsoft.com/office/powerpoint/2010/main" val="18328094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49" y="96038"/>
            <a:ext cx="10469105"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Validación de argumentos – Tablas de verdad</a:t>
            </a:r>
            <a:endParaRPr dirty="0">
              <a:solidFill>
                <a:schemeClr val="tx1"/>
              </a:solidFill>
              <a:latin typeface="+mj-lt"/>
            </a:endParaRPr>
          </a:p>
        </p:txBody>
      </p:sp>
      <p:sp>
        <p:nvSpPr>
          <p:cNvPr id="6" name="CuadroTexto 5">
            <a:extLst>
              <a:ext uri="{FF2B5EF4-FFF2-40B4-BE49-F238E27FC236}">
                <a16:creationId xmlns:a16="http://schemas.microsoft.com/office/drawing/2014/main" id="{90CBA4FE-0EF0-4C81-B436-B2CA48FF056F}"/>
              </a:ext>
            </a:extLst>
          </p:cNvPr>
          <p:cNvSpPr txBox="1"/>
          <p:nvPr/>
        </p:nvSpPr>
        <p:spPr>
          <a:xfrm>
            <a:off x="464457" y="1045538"/>
            <a:ext cx="11105451" cy="430887"/>
          </a:xfrm>
          <a:prstGeom prst="rect">
            <a:avLst/>
          </a:prstGeom>
          <a:noFill/>
        </p:spPr>
        <p:txBody>
          <a:bodyPr wrap="square" rtlCol="0">
            <a:spAutoFit/>
          </a:bodyPr>
          <a:lstStyle/>
          <a:p>
            <a:r>
              <a:rPr lang="es-MX" sz="2200" b="1" dirty="0">
                <a:ea typeface="Roboto" panose="02000000000000000000" pitchFamily="2" charset="0"/>
              </a:rPr>
              <a:t>Solución</a:t>
            </a:r>
            <a:r>
              <a:rPr lang="es-MX" sz="2200" dirty="0">
                <a:ea typeface="Roboto" panose="02000000000000000000" pitchFamily="2" charset="0"/>
              </a:rPr>
              <a:t>: Dado el siguiente argumento lógico:</a:t>
            </a:r>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B4E9EE43-0BDD-42FB-8C94-5B92C803876C}"/>
                  </a:ext>
                </a:extLst>
              </p:cNvPr>
              <p:cNvSpPr txBox="1"/>
              <p:nvPr/>
            </p:nvSpPr>
            <p:spPr>
              <a:xfrm>
                <a:off x="3929124" y="1621023"/>
                <a:ext cx="4333750" cy="34740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𝐵</m:t>
                          </m:r>
                          <m:r>
                            <a:rPr lang="es-MX" sz="2000" i="1">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d>
                                <m:dPr>
                                  <m:ctrlPr>
                                    <a:rPr lang="es-MX" sz="2000" b="0" i="1">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𝐵</m:t>
                                  </m:r>
                                  <m:r>
                                    <a:rPr lang="es-MX" sz="2000" i="1">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𝐶</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𝐴</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𝐶</m:t>
                          </m:r>
                          <m:r>
                            <a:rPr lang="es-MX" sz="2000" b="0" i="1" smtClean="0">
                              <a:latin typeface="Cambria Math" panose="02040503050406030204" pitchFamily="18" charset="0"/>
                              <a:ea typeface="Cambria Math" panose="02040503050406030204" pitchFamily="18" charset="0"/>
                            </a:rPr>
                            <m:t>)</m:t>
                          </m:r>
                        </m:e>
                      </m:d>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𝐴</m:t>
                      </m:r>
                    </m:oMath>
                  </m:oMathPara>
                </a14:m>
                <a:endParaRPr lang="es-MX" sz="2000" dirty="0">
                  <a:latin typeface="Roboto" panose="02000000000000000000" pitchFamily="2" charset="0"/>
                  <a:ea typeface="Cambria Math" panose="02040503050406030204" pitchFamily="18" charset="0"/>
                </a:endParaRPr>
              </a:p>
            </p:txBody>
          </p:sp>
        </mc:Choice>
        <mc:Fallback xmlns="">
          <p:sp>
            <p:nvSpPr>
              <p:cNvPr id="5" name="CuadroTexto 4">
                <a:extLst>
                  <a:ext uri="{FF2B5EF4-FFF2-40B4-BE49-F238E27FC236}">
                    <a16:creationId xmlns:a16="http://schemas.microsoft.com/office/drawing/2014/main" id="{B4E9EE43-0BDD-42FB-8C94-5B92C803876C}"/>
                  </a:ext>
                </a:extLst>
              </p:cNvPr>
              <p:cNvSpPr txBox="1">
                <a:spLocks noRot="1" noChangeAspect="1" noMove="1" noResize="1" noEditPoints="1" noAdjustHandles="1" noChangeArrowheads="1" noChangeShapeType="1" noTextEdit="1"/>
              </p:cNvSpPr>
              <p:nvPr/>
            </p:nvSpPr>
            <p:spPr>
              <a:xfrm>
                <a:off x="3929124" y="1621023"/>
                <a:ext cx="4333750" cy="347403"/>
              </a:xfrm>
              <a:prstGeom prst="rect">
                <a:avLst/>
              </a:prstGeom>
              <a:blipFill>
                <a:blip r:embed="rId3"/>
                <a:stretch>
                  <a:fillRect r="-845" b="-26316"/>
                </a:stretch>
              </a:blipFill>
            </p:spPr>
            <p:txBody>
              <a:bodyPr/>
              <a:lstStyle/>
              <a:p>
                <a:r>
                  <a:rPr lang="es-CO">
                    <a:noFill/>
                  </a:rPr>
                  <a:t> </a:t>
                </a:r>
              </a:p>
            </p:txBody>
          </p:sp>
        </mc:Fallback>
      </mc:AlternateContent>
      <p:sp>
        <p:nvSpPr>
          <p:cNvPr id="7" name="CuadroTexto 6">
            <a:extLst>
              <a:ext uri="{FF2B5EF4-FFF2-40B4-BE49-F238E27FC236}">
                <a16:creationId xmlns:a16="http://schemas.microsoft.com/office/drawing/2014/main" id="{1756980A-B49C-4BCE-8E2B-F7B57B2BE1AD}"/>
              </a:ext>
            </a:extLst>
          </p:cNvPr>
          <p:cNvSpPr txBox="1"/>
          <p:nvPr/>
        </p:nvSpPr>
        <p:spPr>
          <a:xfrm>
            <a:off x="437936" y="2221675"/>
            <a:ext cx="10947818" cy="707886"/>
          </a:xfrm>
          <a:prstGeom prst="rect">
            <a:avLst/>
          </a:prstGeom>
          <a:noFill/>
        </p:spPr>
        <p:txBody>
          <a:bodyPr wrap="square" rtlCol="0">
            <a:spAutoFit/>
          </a:bodyPr>
          <a:lstStyle/>
          <a:p>
            <a:pPr marL="342900" indent="-342900">
              <a:buFont typeface="Arial" panose="020B0604020202020204" pitchFamily="34" charset="0"/>
              <a:buChar char="•"/>
            </a:pPr>
            <a:r>
              <a:rPr lang="es-MX" sz="2000" dirty="0">
                <a:ea typeface="Roboto" panose="02000000000000000000" pitchFamily="2" charset="0"/>
              </a:rPr>
              <a:t>¿En que tipo de representación esta?</a:t>
            </a:r>
          </a:p>
          <a:p>
            <a:pPr marL="285750" indent="-285750">
              <a:buFont typeface="Arial" panose="020B0604020202020204" pitchFamily="34" charset="0"/>
              <a:buChar char="•"/>
            </a:pPr>
            <a:r>
              <a:rPr lang="es-MX" sz="2000" dirty="0">
                <a:ea typeface="Roboto" panose="02000000000000000000" pitchFamily="2" charset="0"/>
              </a:rPr>
              <a:t>¿Cuál es la representación de este en las otras formas?</a:t>
            </a:r>
          </a:p>
        </p:txBody>
      </p:sp>
    </p:spTree>
    <p:extLst>
      <p:ext uri="{BB962C8B-B14F-4D97-AF65-F5344CB8AC3E}">
        <p14:creationId xmlns:p14="http://schemas.microsoft.com/office/powerpoint/2010/main" val="35880995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49" y="96038"/>
            <a:ext cx="10653259"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Validación de argumentos – Tablas de verdad</a:t>
            </a:r>
            <a:endParaRPr dirty="0">
              <a:solidFill>
                <a:schemeClr val="tx1"/>
              </a:solidFill>
              <a:latin typeface="+mj-lt"/>
            </a:endParaRPr>
          </a:p>
        </p:txBody>
      </p:sp>
      <p:sp>
        <p:nvSpPr>
          <p:cNvPr id="6" name="CuadroTexto 5">
            <a:extLst>
              <a:ext uri="{FF2B5EF4-FFF2-40B4-BE49-F238E27FC236}">
                <a16:creationId xmlns:a16="http://schemas.microsoft.com/office/drawing/2014/main" id="{90CBA4FE-0EF0-4C81-B436-B2CA48FF056F}"/>
              </a:ext>
            </a:extLst>
          </p:cNvPr>
          <p:cNvSpPr txBox="1"/>
          <p:nvPr/>
        </p:nvSpPr>
        <p:spPr>
          <a:xfrm>
            <a:off x="622090" y="906448"/>
            <a:ext cx="10947819" cy="430887"/>
          </a:xfrm>
          <a:prstGeom prst="rect">
            <a:avLst/>
          </a:prstGeom>
          <a:noFill/>
        </p:spPr>
        <p:txBody>
          <a:bodyPr wrap="square" rtlCol="0">
            <a:spAutoFit/>
          </a:bodyPr>
          <a:lstStyle/>
          <a:p>
            <a:r>
              <a:rPr lang="es-MX" sz="2200" b="1" dirty="0">
                <a:ea typeface="Roboto" panose="02000000000000000000" pitchFamily="2" charset="0"/>
              </a:rPr>
              <a:t>Solución</a:t>
            </a:r>
            <a:r>
              <a:rPr lang="es-MX" sz="2200" dirty="0">
                <a:ea typeface="Roboto" panose="02000000000000000000" pitchFamily="2" charset="0"/>
              </a:rPr>
              <a:t>: Dado el siguiente argumento lógico:</a:t>
            </a:r>
          </a:p>
        </p:txBody>
      </p:sp>
      <p:sp>
        <p:nvSpPr>
          <p:cNvPr id="5" name="CuadroTexto 4">
            <a:extLst>
              <a:ext uri="{FF2B5EF4-FFF2-40B4-BE49-F238E27FC236}">
                <a16:creationId xmlns:a16="http://schemas.microsoft.com/office/drawing/2014/main" id="{9236501D-20A7-4928-9037-EA32244E64DB}"/>
              </a:ext>
            </a:extLst>
          </p:cNvPr>
          <p:cNvSpPr txBox="1"/>
          <p:nvPr/>
        </p:nvSpPr>
        <p:spPr>
          <a:xfrm>
            <a:off x="622091" y="2120075"/>
            <a:ext cx="10947818" cy="400110"/>
          </a:xfrm>
          <a:prstGeom prst="rect">
            <a:avLst/>
          </a:prstGeom>
          <a:noFill/>
        </p:spPr>
        <p:txBody>
          <a:bodyPr wrap="square" rtlCol="0">
            <a:spAutoFit/>
          </a:bodyPr>
          <a:lstStyle/>
          <a:p>
            <a:pPr marL="285750" indent="-285750">
              <a:buFont typeface="Arial" panose="020B0604020202020204" pitchFamily="34" charset="0"/>
              <a:buChar char="•"/>
            </a:pPr>
            <a:r>
              <a:rPr lang="es-MX" sz="2000" dirty="0">
                <a:ea typeface="Roboto" panose="02000000000000000000" pitchFamily="2" charset="0"/>
              </a:rPr>
              <a:t>Determine su validez mediante una tabla de verdad. </a:t>
            </a:r>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F4487E49-F853-45B8-86F8-63E2E4F90904}"/>
                  </a:ext>
                </a:extLst>
              </p:cNvPr>
              <p:cNvSpPr txBox="1"/>
              <p:nvPr/>
            </p:nvSpPr>
            <p:spPr>
              <a:xfrm>
                <a:off x="3929124" y="1577481"/>
                <a:ext cx="4333750" cy="34740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𝐵</m:t>
                          </m:r>
                          <m:r>
                            <a:rPr lang="es-MX" sz="2000" i="1">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d>
                                <m:dPr>
                                  <m:ctrlPr>
                                    <a:rPr lang="es-MX" sz="2000" b="0" i="1">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𝐵</m:t>
                                  </m:r>
                                  <m:r>
                                    <a:rPr lang="es-MX" sz="2000" i="1">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𝐶</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𝐴</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𝐵</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𝐶</m:t>
                          </m:r>
                          <m:r>
                            <a:rPr lang="es-MX" sz="2000" b="0" i="1" smtClean="0">
                              <a:latin typeface="Cambria Math" panose="02040503050406030204" pitchFamily="18" charset="0"/>
                              <a:ea typeface="Cambria Math" panose="02040503050406030204" pitchFamily="18" charset="0"/>
                            </a:rPr>
                            <m:t>)</m:t>
                          </m:r>
                        </m:e>
                      </m:d>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𝐴</m:t>
                      </m:r>
                    </m:oMath>
                  </m:oMathPara>
                </a14:m>
                <a:endParaRPr lang="es-MX" sz="2000" dirty="0">
                  <a:latin typeface="Roboto" panose="02000000000000000000" pitchFamily="2" charset="0"/>
                  <a:ea typeface="Cambria Math" panose="02040503050406030204" pitchFamily="18" charset="0"/>
                </a:endParaRPr>
              </a:p>
            </p:txBody>
          </p:sp>
        </mc:Choice>
        <mc:Fallback xmlns="">
          <p:sp>
            <p:nvSpPr>
              <p:cNvPr id="7" name="CuadroTexto 6">
                <a:extLst>
                  <a:ext uri="{FF2B5EF4-FFF2-40B4-BE49-F238E27FC236}">
                    <a16:creationId xmlns:a16="http://schemas.microsoft.com/office/drawing/2014/main" id="{F4487E49-F853-45B8-86F8-63E2E4F90904}"/>
                  </a:ext>
                </a:extLst>
              </p:cNvPr>
              <p:cNvSpPr txBox="1">
                <a:spLocks noRot="1" noChangeAspect="1" noMove="1" noResize="1" noEditPoints="1" noAdjustHandles="1" noChangeArrowheads="1" noChangeShapeType="1" noTextEdit="1"/>
              </p:cNvSpPr>
              <p:nvPr/>
            </p:nvSpPr>
            <p:spPr>
              <a:xfrm>
                <a:off x="3929124" y="1577481"/>
                <a:ext cx="4333750" cy="347403"/>
              </a:xfrm>
              <a:prstGeom prst="rect">
                <a:avLst/>
              </a:prstGeom>
              <a:blipFill>
                <a:blip r:embed="rId3"/>
                <a:stretch>
                  <a:fillRect r="-845" b="-26316"/>
                </a:stretch>
              </a:blipFill>
            </p:spPr>
            <p:txBody>
              <a:bodyPr/>
              <a:lstStyle/>
              <a:p>
                <a:r>
                  <a:rPr lang="es-CO">
                    <a:noFill/>
                  </a:rPr>
                  <a:t> </a:t>
                </a:r>
              </a:p>
            </p:txBody>
          </p:sp>
        </mc:Fallback>
      </mc:AlternateContent>
    </p:spTree>
    <p:extLst>
      <p:ext uri="{BB962C8B-B14F-4D97-AF65-F5344CB8AC3E}">
        <p14:creationId xmlns:p14="http://schemas.microsoft.com/office/powerpoint/2010/main" val="6173686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394439" y="90364"/>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Silogismo</a:t>
            </a:r>
            <a:endParaRPr dirty="0">
              <a:solidFill>
                <a:schemeClr val="tx1"/>
              </a:solidFill>
              <a:latin typeface="+mj-lt"/>
            </a:endParaRPr>
          </a:p>
        </p:txBody>
      </p:sp>
      <p:sp>
        <p:nvSpPr>
          <p:cNvPr id="6" name="CuadroTexto 5">
            <a:extLst>
              <a:ext uri="{FF2B5EF4-FFF2-40B4-BE49-F238E27FC236}">
                <a16:creationId xmlns:a16="http://schemas.microsoft.com/office/drawing/2014/main" id="{EADF0CAA-C898-4BF8-A9BD-2685F47DE0AF}"/>
              </a:ext>
            </a:extLst>
          </p:cNvPr>
          <p:cNvSpPr txBox="1"/>
          <p:nvPr/>
        </p:nvSpPr>
        <p:spPr>
          <a:xfrm>
            <a:off x="167073" y="1130263"/>
            <a:ext cx="11857854" cy="769441"/>
          </a:xfrm>
          <a:prstGeom prst="rect">
            <a:avLst/>
          </a:prstGeom>
          <a:noFill/>
        </p:spPr>
        <p:txBody>
          <a:bodyPr wrap="square" rtlCol="0">
            <a:spAutoFit/>
          </a:bodyPr>
          <a:lstStyle/>
          <a:p>
            <a:pPr marL="285750" indent="-285750">
              <a:buFont typeface="Arial" panose="020B0604020202020204" pitchFamily="34" charset="0"/>
              <a:buChar char="•"/>
            </a:pPr>
            <a:r>
              <a:rPr lang="es-MX" sz="2200" dirty="0">
                <a:ea typeface="Roboto" panose="02000000000000000000" pitchFamily="2" charset="0"/>
              </a:rPr>
              <a:t>Un silogismo es un tipo de argumento que consiste en </a:t>
            </a:r>
            <a:r>
              <a:rPr lang="es-MX" sz="2200" b="1" dirty="0">
                <a:ea typeface="Roboto" panose="02000000000000000000" pitchFamily="2" charset="0"/>
              </a:rPr>
              <a:t>dos premisas</a:t>
            </a:r>
            <a:r>
              <a:rPr lang="es-MX" sz="2200" dirty="0">
                <a:ea typeface="Roboto" panose="02000000000000000000" pitchFamily="2" charset="0"/>
              </a:rPr>
              <a:t> y </a:t>
            </a:r>
            <a:r>
              <a:rPr lang="es-MX" sz="2200" b="1" dirty="0">
                <a:ea typeface="Roboto" panose="02000000000000000000" pitchFamily="2" charset="0"/>
              </a:rPr>
              <a:t>una conclusión</a:t>
            </a:r>
            <a:r>
              <a:rPr lang="es-MX" sz="2200" dirty="0">
                <a:ea typeface="Roboto" panose="02000000000000000000" pitchFamily="2" charset="0"/>
              </a:rPr>
              <a:t>.</a:t>
            </a:r>
          </a:p>
          <a:p>
            <a:pPr marL="285750" indent="-285750">
              <a:buFont typeface="Arial" panose="020B0604020202020204" pitchFamily="34" charset="0"/>
              <a:buChar char="•"/>
            </a:pPr>
            <a:r>
              <a:rPr lang="es-MX" sz="2200" dirty="0">
                <a:ea typeface="Roboto" panose="02000000000000000000" pitchFamily="2" charset="0"/>
              </a:rPr>
              <a:t>La primera y segunda premisas se llaman la premisa mayor y la premisa menor, respectivamente.</a:t>
            </a:r>
          </a:p>
        </p:txBody>
      </p:sp>
      <p:sp>
        <p:nvSpPr>
          <p:cNvPr id="7" name="CuadroTexto 6">
            <a:extLst>
              <a:ext uri="{FF2B5EF4-FFF2-40B4-BE49-F238E27FC236}">
                <a16:creationId xmlns:a16="http://schemas.microsoft.com/office/drawing/2014/main" id="{CAAA7571-0BE2-478D-954B-1B1B750E2966}"/>
              </a:ext>
            </a:extLst>
          </p:cNvPr>
          <p:cNvSpPr txBox="1"/>
          <p:nvPr/>
        </p:nvSpPr>
        <p:spPr>
          <a:xfrm>
            <a:off x="167073" y="3693779"/>
            <a:ext cx="11493985" cy="769441"/>
          </a:xfrm>
          <a:prstGeom prst="rect">
            <a:avLst/>
          </a:prstGeom>
          <a:noFill/>
        </p:spPr>
        <p:txBody>
          <a:bodyPr wrap="square" rtlCol="0">
            <a:spAutoFit/>
          </a:bodyPr>
          <a:lstStyle/>
          <a:p>
            <a:pPr marL="285750" indent="-285750">
              <a:buFont typeface="Arial" panose="020B0604020202020204" pitchFamily="34" charset="0"/>
              <a:buChar char="•"/>
            </a:pPr>
            <a:r>
              <a:rPr lang="es-MX" sz="2200" dirty="0">
                <a:ea typeface="Roboto" panose="02000000000000000000" pitchFamily="2" charset="0"/>
              </a:rPr>
              <a:t>La forma más famosa del silogismo en lógica se llama </a:t>
            </a:r>
            <a:r>
              <a:rPr lang="es-MX" sz="2200" b="1" dirty="0">
                <a:ea typeface="Roboto" panose="02000000000000000000" pitchFamily="2" charset="0"/>
              </a:rPr>
              <a:t>modus ponens </a:t>
            </a:r>
            <a:r>
              <a:rPr lang="es-MX" sz="2200" dirty="0">
                <a:ea typeface="Roboto" panose="02000000000000000000" pitchFamily="2" charset="0"/>
              </a:rPr>
              <a:t>y tiene la siguiente forma (aplicada al problema anterior). </a:t>
            </a:r>
          </a:p>
        </p:txBody>
      </p:sp>
      <p:sp>
        <p:nvSpPr>
          <p:cNvPr id="11" name="CuadroTexto 10">
            <a:extLst>
              <a:ext uri="{FF2B5EF4-FFF2-40B4-BE49-F238E27FC236}">
                <a16:creationId xmlns:a16="http://schemas.microsoft.com/office/drawing/2014/main" id="{26A061D8-727C-40B6-935D-4446488D0734}"/>
              </a:ext>
            </a:extLst>
          </p:cNvPr>
          <p:cNvSpPr txBox="1"/>
          <p:nvPr/>
        </p:nvSpPr>
        <p:spPr>
          <a:xfrm>
            <a:off x="605671" y="2190305"/>
            <a:ext cx="6767586" cy="1323439"/>
          </a:xfrm>
          <a:prstGeom prst="rect">
            <a:avLst/>
          </a:prstGeom>
          <a:noFill/>
          <a:ln>
            <a:noFill/>
          </a:ln>
        </p:spPr>
        <p:txBody>
          <a:bodyPr wrap="square">
            <a:spAutoFit/>
          </a:bodyPr>
          <a:lstStyle/>
          <a:p>
            <a:r>
              <a:rPr lang="es-CO" sz="2000" dirty="0">
                <a:ea typeface="Roboto" panose="02000000000000000000" pitchFamily="2" charset="0"/>
              </a:rPr>
              <a:t>Si tiene una contraseña vigente</a:t>
            </a:r>
            <a:r>
              <a:rPr lang="es-CO" sz="2000" b="1" dirty="0">
                <a:ea typeface="Roboto" panose="02000000000000000000" pitchFamily="2" charset="0"/>
              </a:rPr>
              <a:t>,</a:t>
            </a:r>
            <a:r>
              <a:rPr lang="es-CO" sz="2000" dirty="0">
                <a:ea typeface="Roboto" panose="02000000000000000000" pitchFamily="2" charset="0"/>
              </a:rPr>
              <a:t> puede iniciar sesión en la red.</a:t>
            </a:r>
          </a:p>
          <a:p>
            <a:r>
              <a:rPr lang="es-CO" sz="2000" dirty="0">
                <a:ea typeface="Roboto" panose="02000000000000000000" pitchFamily="2" charset="0"/>
              </a:rPr>
              <a:t>Tiene una contraseña vigente.</a:t>
            </a:r>
          </a:p>
          <a:p>
            <a:r>
              <a:rPr lang="es-CO" sz="2000" b="1" dirty="0">
                <a:solidFill>
                  <a:srgbClr val="C00000"/>
                </a:solidFill>
                <a:ea typeface="Roboto" panose="02000000000000000000" pitchFamily="2" charset="0"/>
              </a:rPr>
              <a:t>Por lo tanto, </a:t>
            </a:r>
          </a:p>
          <a:p>
            <a:r>
              <a:rPr lang="es-CO" sz="2000" dirty="0">
                <a:ea typeface="Roboto" panose="02000000000000000000" pitchFamily="2" charset="0"/>
              </a:rPr>
              <a:t>Puede iniciar sesión en la red.</a:t>
            </a:r>
          </a:p>
        </p:txBody>
      </p:sp>
      <p:sp>
        <p:nvSpPr>
          <p:cNvPr id="24" name="CuadroTexto 23">
            <a:extLst>
              <a:ext uri="{FF2B5EF4-FFF2-40B4-BE49-F238E27FC236}">
                <a16:creationId xmlns:a16="http://schemas.microsoft.com/office/drawing/2014/main" id="{D47597FB-61B0-46CB-B6C5-F476A41B456A}"/>
              </a:ext>
            </a:extLst>
          </p:cNvPr>
          <p:cNvSpPr txBox="1"/>
          <p:nvPr/>
        </p:nvSpPr>
        <p:spPr>
          <a:xfrm>
            <a:off x="684672" y="4555585"/>
            <a:ext cx="3304792" cy="400110"/>
          </a:xfrm>
          <a:prstGeom prst="rect">
            <a:avLst/>
          </a:prstGeom>
          <a:noFill/>
        </p:spPr>
        <p:txBody>
          <a:bodyPr wrap="square">
            <a:spAutoFit/>
          </a:bodyPr>
          <a:lstStyle/>
          <a:p>
            <a:r>
              <a:rPr lang="es-MX" sz="2000" b="1" dirty="0">
                <a:ea typeface="Roboto" panose="02000000000000000000" pitchFamily="2" charset="0"/>
              </a:rPr>
              <a:t>Notación estándar</a:t>
            </a:r>
            <a:endParaRPr lang="es-CO" sz="2000" b="1" dirty="0"/>
          </a:p>
        </p:txBody>
      </p:sp>
      <mc:AlternateContent xmlns:mc="http://schemas.openxmlformats.org/markup-compatibility/2006">
        <mc:Choice xmlns:a14="http://schemas.microsoft.com/office/drawing/2010/main" Requires="a14">
          <p:sp>
            <p:nvSpPr>
              <p:cNvPr id="21" name="CuadroTexto 20">
                <a:extLst>
                  <a:ext uri="{FF2B5EF4-FFF2-40B4-BE49-F238E27FC236}">
                    <a16:creationId xmlns:a16="http://schemas.microsoft.com/office/drawing/2014/main" id="{EC611098-794B-499F-9EA2-2A03D2213821}"/>
                  </a:ext>
                </a:extLst>
              </p:cNvPr>
              <p:cNvSpPr txBox="1"/>
              <p:nvPr/>
            </p:nvSpPr>
            <p:spPr>
              <a:xfrm>
                <a:off x="5083280" y="6194046"/>
                <a:ext cx="6577778" cy="40011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d>
                        <m:dPr>
                          <m:ctrlPr>
                            <a:rPr lang="es-MX" sz="2000" i="1" smtClean="0">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rPr>
                            <m:t>𝑝𝑎𝑠𝑠𝑂𝐾</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rPr>
                            <m:t>𝑎𝑐𝑐𝑒𝑠𝑠𝑁𝑒𝑡</m:t>
                          </m:r>
                        </m:e>
                      </m:d>
                      <m:r>
                        <a:rPr lang="es-MX" sz="2000" b="0" i="1" smtClean="0">
                          <a:latin typeface="Cambria Math" panose="02040503050406030204" pitchFamily="18" charset="0"/>
                          <a:ea typeface="Cambria Math" panose="02040503050406030204" pitchFamily="18" charset="0"/>
                        </a:rPr>
                        <m:t>,</m:t>
                      </m:r>
                      <m:r>
                        <a:rPr lang="es-MX" sz="2000" i="1">
                          <a:latin typeface="Cambria Math" panose="02040503050406030204" pitchFamily="18" charset="0"/>
                        </a:rPr>
                        <m:t>𝑝𝑎𝑠𝑠𝑂𝐾</m:t>
                      </m:r>
                      <m:r>
                        <a:rPr lang="es-MX" sz="2000" b="0" i="1" smtClean="0">
                          <a:latin typeface="Cambria Math" panose="02040503050406030204" pitchFamily="18" charset="0"/>
                          <a:ea typeface="Cambria Math" panose="02040503050406030204" pitchFamily="18" charset="0"/>
                        </a:rPr>
                        <m:t>⊢</m:t>
                      </m:r>
                      <m:r>
                        <a:rPr lang="es-MX" sz="2000" i="1">
                          <a:latin typeface="Cambria Math" panose="02040503050406030204" pitchFamily="18" charset="0"/>
                        </a:rPr>
                        <m:t>𝑎𝑐𝑐𝑒𝑠𝑠𝑁𝑒𝑡</m:t>
                      </m:r>
                    </m:oMath>
                  </m:oMathPara>
                </a14:m>
                <a:endParaRPr lang="es-MX" sz="2000" b="0" i="0" dirty="0">
                  <a:latin typeface="Cambria Math" panose="02040503050406030204" pitchFamily="18" charset="0"/>
                  <a:ea typeface="Cambria Math" panose="02040503050406030204" pitchFamily="18" charset="0"/>
                </a:endParaRPr>
              </a:p>
            </p:txBody>
          </p:sp>
        </mc:Choice>
        <mc:Fallback>
          <p:sp>
            <p:nvSpPr>
              <p:cNvPr id="21" name="CuadroTexto 20">
                <a:extLst>
                  <a:ext uri="{FF2B5EF4-FFF2-40B4-BE49-F238E27FC236}">
                    <a16:creationId xmlns:a16="http://schemas.microsoft.com/office/drawing/2014/main" id="{EC611098-794B-499F-9EA2-2A03D2213821}"/>
                  </a:ext>
                </a:extLst>
              </p:cNvPr>
              <p:cNvSpPr txBox="1">
                <a:spLocks noRot="1" noChangeAspect="1" noMove="1" noResize="1" noEditPoints="1" noAdjustHandles="1" noChangeArrowheads="1" noChangeShapeType="1" noTextEdit="1"/>
              </p:cNvSpPr>
              <p:nvPr/>
            </p:nvSpPr>
            <p:spPr>
              <a:xfrm>
                <a:off x="5083280" y="6194046"/>
                <a:ext cx="6577778" cy="400110"/>
              </a:xfrm>
              <a:prstGeom prst="rect">
                <a:avLst/>
              </a:prstGeom>
              <a:blipFill>
                <a:blip r:embed="rId3"/>
                <a:stretch>
                  <a:fillRect b="-16667"/>
                </a:stretch>
              </a:blipFill>
            </p:spPr>
            <p:txBody>
              <a:bodyPr/>
              <a:lstStyle/>
              <a:p>
                <a:r>
                  <a:rPr lang="es-CO">
                    <a:noFill/>
                  </a:rPr>
                  <a:t> </a:t>
                </a:r>
              </a:p>
            </p:txBody>
          </p:sp>
        </mc:Fallback>
      </mc:AlternateContent>
      <p:sp>
        <p:nvSpPr>
          <p:cNvPr id="25" name="CuadroTexto 24">
            <a:extLst>
              <a:ext uri="{FF2B5EF4-FFF2-40B4-BE49-F238E27FC236}">
                <a16:creationId xmlns:a16="http://schemas.microsoft.com/office/drawing/2014/main" id="{49BC5C55-46D1-47BB-B1E7-82DD30D3FFEF}"/>
              </a:ext>
            </a:extLst>
          </p:cNvPr>
          <p:cNvSpPr txBox="1"/>
          <p:nvPr/>
        </p:nvSpPr>
        <p:spPr>
          <a:xfrm>
            <a:off x="5083280" y="5692919"/>
            <a:ext cx="2910441" cy="400110"/>
          </a:xfrm>
          <a:prstGeom prst="rect">
            <a:avLst/>
          </a:prstGeom>
          <a:noFill/>
        </p:spPr>
        <p:txBody>
          <a:bodyPr wrap="square">
            <a:spAutoFit/>
          </a:bodyPr>
          <a:lstStyle/>
          <a:p>
            <a:r>
              <a:rPr lang="es-MX" sz="2000" b="1" dirty="0">
                <a:ea typeface="Roboto" panose="02000000000000000000" pitchFamily="2" charset="0"/>
              </a:rPr>
              <a:t>Notación proposicional</a:t>
            </a:r>
            <a:endParaRPr lang="es-CO" sz="2000" b="1" dirty="0"/>
          </a:p>
        </p:txBody>
      </p:sp>
      <mc:AlternateContent xmlns:mc="http://schemas.openxmlformats.org/markup-compatibility/2006">
        <mc:Choice xmlns:a14="http://schemas.microsoft.com/office/drawing/2010/main" Requires="a14">
          <p:sp>
            <p:nvSpPr>
              <p:cNvPr id="20" name="CuadroTexto 19">
                <a:extLst>
                  <a:ext uri="{FF2B5EF4-FFF2-40B4-BE49-F238E27FC236}">
                    <a16:creationId xmlns:a16="http://schemas.microsoft.com/office/drawing/2014/main" id="{08E46D20-7A7E-42FC-AF69-1ACA7E1CC264}"/>
                  </a:ext>
                </a:extLst>
              </p:cNvPr>
              <p:cNvSpPr txBox="1"/>
              <p:nvPr/>
            </p:nvSpPr>
            <p:spPr>
              <a:xfrm>
                <a:off x="5254459" y="5096806"/>
                <a:ext cx="6577779" cy="40011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d>
                        <m:dPr>
                          <m:begChr m:val="["/>
                          <m:endChr m:val="]"/>
                          <m:ctrlPr>
                            <a:rPr lang="es-MX" sz="2000" b="0" i="1" smtClean="0">
                              <a:latin typeface="Cambria Math" panose="02040503050406030204" pitchFamily="18" charset="0"/>
                              <a:ea typeface="Cambria Math" panose="02040503050406030204" pitchFamily="18" charset="0"/>
                            </a:rPr>
                          </m:ctrlPr>
                        </m:dPr>
                        <m:e>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rPr>
                                <m:t>𝑝𝑎𝑠𝑠𝑂𝐾</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rPr>
                                <m:t>𝑎𝑐𝑐𝑒𝑠𝑠𝑁𝑒𝑡</m:t>
                              </m:r>
                            </m:e>
                          </m:d>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rPr>
                            <m:t>𝑝𝑎𝑠𝑠𝑂𝐾</m:t>
                          </m:r>
                        </m:e>
                      </m:d>
                      <m:r>
                        <a:rPr lang="es-MX" sz="2000" b="0" i="1" smtClean="0">
                          <a:latin typeface="Cambria Math" panose="02040503050406030204" pitchFamily="18" charset="0"/>
                          <a:ea typeface="Cambria Math" panose="02040503050406030204" pitchFamily="18" charset="0"/>
                        </a:rPr>
                        <m:t>→</m:t>
                      </m:r>
                      <m:r>
                        <a:rPr lang="es-MX" sz="2000" i="1">
                          <a:latin typeface="Cambria Math" panose="02040503050406030204" pitchFamily="18" charset="0"/>
                        </a:rPr>
                        <m:t>𝑎𝑐𝑐𝑒𝑠𝑠𝑁𝑒𝑡</m:t>
                      </m:r>
                    </m:oMath>
                  </m:oMathPara>
                </a14:m>
                <a:endParaRPr lang="es-MX" sz="2000" b="0" i="0" dirty="0">
                  <a:latin typeface="Cambria Math" panose="02040503050406030204" pitchFamily="18" charset="0"/>
                  <a:ea typeface="Cambria Math" panose="02040503050406030204" pitchFamily="18" charset="0"/>
                </a:endParaRPr>
              </a:p>
            </p:txBody>
          </p:sp>
        </mc:Choice>
        <mc:Fallback>
          <p:sp>
            <p:nvSpPr>
              <p:cNvPr id="20" name="CuadroTexto 19">
                <a:extLst>
                  <a:ext uri="{FF2B5EF4-FFF2-40B4-BE49-F238E27FC236}">
                    <a16:creationId xmlns:a16="http://schemas.microsoft.com/office/drawing/2014/main" id="{08E46D20-7A7E-42FC-AF69-1ACA7E1CC264}"/>
                  </a:ext>
                </a:extLst>
              </p:cNvPr>
              <p:cNvSpPr txBox="1">
                <a:spLocks noRot="1" noChangeAspect="1" noMove="1" noResize="1" noEditPoints="1" noAdjustHandles="1" noChangeArrowheads="1" noChangeShapeType="1" noTextEdit="1"/>
              </p:cNvSpPr>
              <p:nvPr/>
            </p:nvSpPr>
            <p:spPr>
              <a:xfrm>
                <a:off x="5254459" y="5096806"/>
                <a:ext cx="6577779" cy="400110"/>
              </a:xfrm>
              <a:prstGeom prst="rect">
                <a:avLst/>
              </a:prstGeom>
              <a:blipFill>
                <a:blip r:embed="rId4"/>
                <a:stretch>
                  <a:fillRect b="-16667"/>
                </a:stretch>
              </a:blipFill>
            </p:spPr>
            <p:txBody>
              <a:bodyPr/>
              <a:lstStyle/>
              <a:p>
                <a:r>
                  <a:rPr lang="es-CO">
                    <a:noFill/>
                  </a:rPr>
                  <a:t> </a:t>
                </a:r>
              </a:p>
            </p:txBody>
          </p:sp>
        </mc:Fallback>
      </mc:AlternateContent>
      <p:sp>
        <p:nvSpPr>
          <p:cNvPr id="26" name="CuadroTexto 25">
            <a:extLst>
              <a:ext uri="{FF2B5EF4-FFF2-40B4-BE49-F238E27FC236}">
                <a16:creationId xmlns:a16="http://schemas.microsoft.com/office/drawing/2014/main" id="{8E7BCA41-AEA4-4E30-9BBC-74B75FE7803F}"/>
              </a:ext>
            </a:extLst>
          </p:cNvPr>
          <p:cNvSpPr txBox="1"/>
          <p:nvPr/>
        </p:nvSpPr>
        <p:spPr>
          <a:xfrm>
            <a:off x="5083280" y="4513729"/>
            <a:ext cx="2318354" cy="400110"/>
          </a:xfrm>
          <a:prstGeom prst="rect">
            <a:avLst/>
          </a:prstGeom>
          <a:noFill/>
        </p:spPr>
        <p:txBody>
          <a:bodyPr wrap="square">
            <a:spAutoFit/>
          </a:bodyPr>
          <a:lstStyle/>
          <a:p>
            <a:r>
              <a:rPr lang="es-MX" sz="2000" b="1" dirty="0">
                <a:ea typeface="Roboto" panose="02000000000000000000" pitchFamily="2" charset="0"/>
              </a:rPr>
              <a:t>Tautología</a:t>
            </a:r>
            <a:endParaRPr lang="es-CO" sz="2000" b="1" dirty="0"/>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6377113A-AAFE-4377-B526-1E3055C5D9F6}"/>
                  </a:ext>
                </a:extLst>
              </p:cNvPr>
              <p:cNvSpPr txBox="1"/>
              <p:nvPr/>
            </p:nvSpPr>
            <p:spPr>
              <a:xfrm>
                <a:off x="8033656" y="2545415"/>
                <a:ext cx="2884086" cy="8608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CO" sz="2000" i="1" smtClean="0">
                              <a:latin typeface="Cambria Math" panose="02040503050406030204" pitchFamily="18" charset="0"/>
                            </a:rPr>
                          </m:ctrlPr>
                        </m:fPr>
                        <m:num>
                          <m:eqArr>
                            <m:eqArrPr>
                              <m:ctrlPr>
                                <a:rPr lang="es-MX" sz="2000" b="0" i="1" smtClean="0">
                                  <a:latin typeface="Cambria Math" panose="02040503050406030204" pitchFamily="18" charset="0"/>
                                </a:rPr>
                              </m:ctrlPr>
                            </m:eqArrPr>
                            <m:e>
                              <m:r>
                                <a:rPr lang="es-MX" sz="2000" b="0" i="1" smtClean="0">
                                  <a:latin typeface="Cambria Math" panose="02040503050406030204" pitchFamily="18" charset="0"/>
                                </a:rPr>
                                <m:t>𝑝𝑎𝑠𝑠𝑂𝐾</m:t>
                              </m:r>
                              <m:r>
                                <a:rPr lang="es-MX" sz="2000" b="0" i="1" smtClean="0">
                                  <a:latin typeface="Cambria Math" panose="02040503050406030204" pitchFamily="18" charset="0"/>
                                </a:rPr>
                                <m:t>→</m:t>
                              </m:r>
                              <m:r>
                                <a:rPr lang="es-MX" sz="2000" b="0" i="1" smtClean="0">
                                  <a:latin typeface="Cambria Math" panose="02040503050406030204" pitchFamily="18" charset="0"/>
                                </a:rPr>
                                <m:t>𝑎𝑐𝑐𝑒𝑠𝑠𝑁𝑒𝑡</m:t>
                              </m:r>
                            </m:e>
                            <m:e>
                              <m:r>
                                <a:rPr lang="es-MX" sz="2000" i="1">
                                  <a:latin typeface="Cambria Math" panose="02040503050406030204" pitchFamily="18" charset="0"/>
                                </a:rPr>
                                <m:t>𝑝𝑎𝑠𝑠𝑂𝐾</m:t>
                              </m:r>
                              <m:r>
                                <a:rPr lang="es-MX" sz="2000" b="0" i="1" smtClean="0">
                                  <a:latin typeface="Cambria Math" panose="02040503050406030204" pitchFamily="18" charset="0"/>
                                </a:rPr>
                                <m:t>                           </m:t>
                              </m:r>
                            </m:e>
                          </m:eqArr>
                        </m:num>
                        <m:den>
                          <m:r>
                            <a:rPr lang="es-CO" sz="2000" i="1" smtClean="0">
                              <a:latin typeface="Cambria Math" panose="02040503050406030204" pitchFamily="18" charset="0"/>
                              <a:ea typeface="Cambria Math" panose="02040503050406030204" pitchFamily="18" charset="0"/>
                            </a:rPr>
                            <m:t>∴</m:t>
                          </m:r>
                          <m:r>
                            <a:rPr lang="es-MX" sz="2000" i="1">
                              <a:latin typeface="Cambria Math" panose="02040503050406030204" pitchFamily="18" charset="0"/>
                            </a:rPr>
                            <m:t>𝑎𝑐𝑐𝑒𝑠𝑠𝑁𝑒𝑡</m:t>
                          </m:r>
                          <m:r>
                            <a:rPr lang="es-MX" sz="2000" b="0" i="1" smtClean="0">
                              <a:latin typeface="Cambria Math" panose="02040503050406030204" pitchFamily="18" charset="0"/>
                            </a:rPr>
                            <m:t>                           </m:t>
                          </m:r>
                        </m:den>
                      </m:f>
                    </m:oMath>
                  </m:oMathPara>
                </a14:m>
                <a:endParaRPr lang="es-CO" sz="2000" dirty="0"/>
              </a:p>
            </p:txBody>
          </p:sp>
        </mc:Choice>
        <mc:Fallback xmlns="">
          <p:sp>
            <p:nvSpPr>
              <p:cNvPr id="2" name="CuadroTexto 1">
                <a:extLst>
                  <a:ext uri="{FF2B5EF4-FFF2-40B4-BE49-F238E27FC236}">
                    <a16:creationId xmlns:a16="http://schemas.microsoft.com/office/drawing/2014/main" id="{6377113A-AAFE-4377-B526-1E3055C5D9F6}"/>
                  </a:ext>
                </a:extLst>
              </p:cNvPr>
              <p:cNvSpPr txBox="1">
                <a:spLocks noRot="1" noChangeAspect="1" noMove="1" noResize="1" noEditPoints="1" noAdjustHandles="1" noChangeArrowheads="1" noChangeShapeType="1" noTextEdit="1"/>
              </p:cNvSpPr>
              <p:nvPr/>
            </p:nvSpPr>
            <p:spPr>
              <a:xfrm>
                <a:off x="8033656" y="2545415"/>
                <a:ext cx="2884086" cy="860877"/>
              </a:xfrm>
              <a:prstGeom prst="rect">
                <a:avLst/>
              </a:prstGeom>
              <a:blipFill>
                <a:blip r:embed="rId5"/>
                <a:stretch>
                  <a:fillRect/>
                </a:stretch>
              </a:blipFill>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23" name="CuadroTexto 22">
                <a:extLst>
                  <a:ext uri="{FF2B5EF4-FFF2-40B4-BE49-F238E27FC236}">
                    <a16:creationId xmlns:a16="http://schemas.microsoft.com/office/drawing/2014/main" id="{9679A236-5F73-41FD-93A9-A82D1F335E54}"/>
                  </a:ext>
                </a:extLst>
              </p:cNvPr>
              <p:cNvSpPr txBox="1"/>
              <p:nvPr/>
            </p:nvSpPr>
            <p:spPr>
              <a:xfrm>
                <a:off x="727536" y="5131299"/>
                <a:ext cx="3261928" cy="8608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CO" sz="2000" i="1" smtClean="0">
                              <a:latin typeface="Cambria Math" panose="02040503050406030204" pitchFamily="18" charset="0"/>
                            </a:rPr>
                          </m:ctrlPr>
                        </m:fPr>
                        <m:num>
                          <m:eqArr>
                            <m:eqArrPr>
                              <m:ctrlPr>
                                <a:rPr lang="es-MX" sz="2000" b="0" i="1" smtClean="0">
                                  <a:latin typeface="Cambria Math" panose="02040503050406030204" pitchFamily="18" charset="0"/>
                                </a:rPr>
                              </m:ctrlPr>
                            </m:eqArrPr>
                            <m:e>
                              <m:r>
                                <a:rPr lang="es-MX" sz="2000" i="1">
                                  <a:latin typeface="Cambria Math" panose="02040503050406030204" pitchFamily="18" charset="0"/>
                                </a:rPr>
                                <m:t>𝑝𝑎𝑠𝑠𝑂𝐾</m:t>
                              </m:r>
                              <m:r>
                                <a:rPr lang="es-MX" sz="2000" b="0" i="1" smtClean="0">
                                  <a:latin typeface="Cambria Math" panose="02040503050406030204" pitchFamily="18" charset="0"/>
                                </a:rPr>
                                <m:t>→</m:t>
                              </m:r>
                              <m:r>
                                <a:rPr lang="es-MX" sz="2000" i="1">
                                  <a:latin typeface="Cambria Math" panose="02040503050406030204" pitchFamily="18" charset="0"/>
                                </a:rPr>
                                <m:t>𝑎𝑐𝑐𝑒𝑠𝑠𝑁𝑒𝑡</m:t>
                              </m:r>
                            </m:e>
                            <m:e>
                              <m:r>
                                <a:rPr lang="es-MX" sz="2000" i="1">
                                  <a:latin typeface="Cambria Math" panose="02040503050406030204" pitchFamily="18" charset="0"/>
                                </a:rPr>
                                <m:t>𝑝𝑎𝑠𝑠𝑂𝐾</m:t>
                              </m:r>
                              <m:r>
                                <a:rPr lang="es-MX" sz="2000" b="0" i="1" smtClean="0">
                                  <a:latin typeface="Cambria Math" panose="02040503050406030204" pitchFamily="18" charset="0"/>
                                </a:rPr>
                                <m:t>                            </m:t>
                              </m:r>
                            </m:e>
                          </m:eqArr>
                        </m:num>
                        <m:den>
                          <m:r>
                            <a:rPr lang="es-CO" sz="2000" i="1" smtClean="0">
                              <a:latin typeface="Cambria Math" panose="02040503050406030204" pitchFamily="18" charset="0"/>
                              <a:ea typeface="Cambria Math" panose="02040503050406030204" pitchFamily="18" charset="0"/>
                            </a:rPr>
                            <m:t>∴</m:t>
                          </m:r>
                          <m:r>
                            <a:rPr lang="es-MX" sz="2000" i="1">
                              <a:latin typeface="Cambria Math" panose="02040503050406030204" pitchFamily="18" charset="0"/>
                            </a:rPr>
                            <m:t>𝑎𝑐𝑐𝑒𝑠𝑠𝑁𝑒𝑡</m:t>
                          </m:r>
                          <m:r>
                            <a:rPr lang="es-MX" sz="2000" b="0" i="1" smtClean="0">
                              <a:latin typeface="Cambria Math" panose="02040503050406030204" pitchFamily="18" charset="0"/>
                            </a:rPr>
                            <m:t>                          </m:t>
                          </m:r>
                        </m:den>
                      </m:f>
                    </m:oMath>
                  </m:oMathPara>
                </a14:m>
                <a:endParaRPr lang="es-CO" sz="2000" dirty="0"/>
              </a:p>
            </p:txBody>
          </p:sp>
        </mc:Choice>
        <mc:Fallback>
          <p:sp>
            <p:nvSpPr>
              <p:cNvPr id="23" name="CuadroTexto 22">
                <a:extLst>
                  <a:ext uri="{FF2B5EF4-FFF2-40B4-BE49-F238E27FC236}">
                    <a16:creationId xmlns:a16="http://schemas.microsoft.com/office/drawing/2014/main" id="{9679A236-5F73-41FD-93A9-A82D1F335E54}"/>
                  </a:ext>
                </a:extLst>
              </p:cNvPr>
              <p:cNvSpPr txBox="1">
                <a:spLocks noRot="1" noChangeAspect="1" noMove="1" noResize="1" noEditPoints="1" noAdjustHandles="1" noChangeArrowheads="1" noChangeShapeType="1" noTextEdit="1"/>
              </p:cNvSpPr>
              <p:nvPr/>
            </p:nvSpPr>
            <p:spPr>
              <a:xfrm>
                <a:off x="727536" y="5131299"/>
                <a:ext cx="3261928" cy="860877"/>
              </a:xfrm>
              <a:prstGeom prst="rect">
                <a:avLst/>
              </a:prstGeom>
              <a:blipFill>
                <a:blip r:embed="rId6"/>
                <a:stretch>
                  <a:fillRect/>
                </a:stretch>
              </a:blipFill>
            </p:spPr>
            <p:txBody>
              <a:bodyPr/>
              <a:lstStyle/>
              <a:p>
                <a:r>
                  <a:rPr lang="es-CO">
                    <a:noFill/>
                  </a:rPr>
                  <a:t> </a:t>
                </a:r>
              </a:p>
            </p:txBody>
          </p:sp>
        </mc:Fallback>
      </mc:AlternateContent>
    </p:spTree>
    <p:extLst>
      <p:ext uri="{BB962C8B-B14F-4D97-AF65-F5344CB8AC3E}">
        <p14:creationId xmlns:p14="http://schemas.microsoft.com/office/powerpoint/2010/main" val="162946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398206" y="96038"/>
            <a:ext cx="8822444"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Reglas de inferencia</a:t>
            </a:r>
            <a:endParaRPr dirty="0">
              <a:solidFill>
                <a:schemeClr val="tx1"/>
              </a:solidFill>
              <a:latin typeface="+mj-lt"/>
            </a:endParaRPr>
          </a:p>
        </p:txBody>
      </p: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36E66917-BCE6-4B33-9C33-49BD726FAFE5}"/>
                  </a:ext>
                </a:extLst>
              </p:cNvPr>
              <p:cNvSpPr txBox="1"/>
              <p:nvPr/>
            </p:nvSpPr>
            <p:spPr>
              <a:xfrm>
                <a:off x="398206" y="1045538"/>
                <a:ext cx="11219940" cy="5170646"/>
              </a:xfrm>
              <a:prstGeom prst="rect">
                <a:avLst/>
              </a:prstGeom>
              <a:noFill/>
            </p:spPr>
            <p:txBody>
              <a:bodyPr wrap="square" rtlCol="0">
                <a:spAutoFit/>
              </a:bodyPr>
              <a:lstStyle/>
              <a:p>
                <a:pPr marL="342900" indent="-342900">
                  <a:buFont typeface="Arial" panose="020B0604020202020204" pitchFamily="34" charset="0"/>
                  <a:buChar char="•"/>
                </a:pPr>
                <a:r>
                  <a:rPr lang="es-MX" sz="2200" b="1" dirty="0">
                    <a:ea typeface="Roboto" panose="02000000000000000000" pitchFamily="2" charset="0"/>
                  </a:rPr>
                  <a:t>Una prueba </a:t>
                </a:r>
                <a:r>
                  <a:rPr lang="es-MX" sz="2200" dirty="0">
                    <a:ea typeface="Roboto" panose="02000000000000000000" pitchFamily="2" charset="0"/>
                  </a:rPr>
                  <a:t>usa las hipótesis, axiomas, definiciones, etc. para llegar a una conclusión. Cada paso de la prueba incluye sacar conclusiones inmediatas. </a:t>
                </a:r>
              </a:p>
              <a:p>
                <a:pPr marL="342900" indent="-342900">
                  <a:buFont typeface="Arial" panose="020B0604020202020204" pitchFamily="34" charset="0"/>
                  <a:buChar char="•"/>
                </a:pPr>
                <a:r>
                  <a:rPr lang="es-MX" sz="2200" dirty="0">
                    <a:ea typeface="Roboto" panose="02000000000000000000" pitchFamily="2" charset="0"/>
                  </a:rPr>
                  <a:t>Para que la prueba como un todo sea válida, cada paso debe dar como resultado una conclusión intermedia válida. </a:t>
                </a:r>
              </a:p>
              <a:p>
                <a:pPr marL="342900" indent="-342900">
                  <a:buFont typeface="Arial" panose="020B0604020202020204" pitchFamily="34" charset="0"/>
                  <a:buChar char="•"/>
                </a:pPr>
                <a:r>
                  <a:rPr lang="es-MX" sz="2200" dirty="0">
                    <a:ea typeface="Roboto" panose="02000000000000000000" pitchFamily="2" charset="0"/>
                  </a:rPr>
                  <a:t>Cuando se construye una prueba, con frecuencia se usa la </a:t>
                </a:r>
                <a:r>
                  <a:rPr lang="es-MX" sz="2200" b="1" dirty="0">
                    <a:ea typeface="Roboto" panose="02000000000000000000" pitchFamily="2" charset="0"/>
                  </a:rPr>
                  <a:t>intuición</a:t>
                </a:r>
                <a:r>
                  <a:rPr lang="es-MX" sz="2200" dirty="0">
                    <a:ea typeface="Roboto" panose="02000000000000000000" pitchFamily="2" charset="0"/>
                  </a:rPr>
                  <a:t> como guía para sacar conclusiones intermedias válidas; sin embargo, es factible formalizar el proceso.</a:t>
                </a:r>
              </a:p>
              <a:p>
                <a:pPr marL="342900" indent="-342900">
                  <a:buFont typeface="Arial" panose="020B0604020202020204" pitchFamily="34" charset="0"/>
                  <a:buChar char="•"/>
                </a:pPr>
                <a:r>
                  <a:rPr lang="es-MX" sz="2200" dirty="0">
                    <a:ea typeface="Roboto" panose="02000000000000000000" pitchFamily="2" charset="0"/>
                  </a:rPr>
                  <a:t>Como se vio anteriormente, mediante el uso de una </a:t>
                </a:r>
                <a:r>
                  <a:rPr lang="es-MX" sz="2200" b="1" dirty="0">
                    <a:ea typeface="Roboto" panose="02000000000000000000" pitchFamily="2" charset="0"/>
                  </a:rPr>
                  <a:t>tabla de verdad</a:t>
                </a:r>
                <a:r>
                  <a:rPr lang="es-MX" sz="2200" dirty="0">
                    <a:ea typeface="Roboto" panose="02000000000000000000" pitchFamily="2" charset="0"/>
                  </a:rPr>
                  <a:t> se puede demostrar la validez de un argumento lo cual se logra demostrando que, siempre que las premisas sean verdaderas, la conclusión también debe serlo. </a:t>
                </a:r>
              </a:p>
              <a:p>
                <a:pPr marL="342900" indent="-342900">
                  <a:buFont typeface="Arial" panose="020B0604020202020204" pitchFamily="34" charset="0"/>
                  <a:buChar char="•"/>
                </a:pPr>
                <a:r>
                  <a:rPr lang="es-MX" sz="2200" dirty="0">
                    <a:ea typeface="Roboto" panose="02000000000000000000" pitchFamily="2" charset="0"/>
                  </a:rPr>
                  <a:t>Si el numero de variables promocionales es grande, este enfoque puede ser tedioso (</a:t>
                </a:r>
                <a14:m>
                  <m:oMath xmlns:m="http://schemas.openxmlformats.org/officeDocument/2006/math">
                    <m:r>
                      <a:rPr lang="es-MX" sz="2200" i="1">
                        <a:latin typeface="Cambria Math" panose="02040503050406030204" pitchFamily="18" charset="0"/>
                        <a:ea typeface="Roboto" panose="02000000000000000000" pitchFamily="2" charset="0"/>
                      </a:rPr>
                      <m:t>1</m:t>
                    </m:r>
                    <m:r>
                      <a:rPr lang="es-MX" sz="2200" b="0" i="1" smtClean="0">
                        <a:latin typeface="Cambria Math" panose="02040503050406030204" pitchFamily="18" charset="0"/>
                        <a:ea typeface="Roboto" panose="02000000000000000000" pitchFamily="2" charset="0"/>
                      </a:rPr>
                      <m:t>0</m:t>
                    </m:r>
                  </m:oMath>
                </a14:m>
                <a:r>
                  <a:rPr lang="es-MX" sz="2200" dirty="0">
                    <a:ea typeface="Roboto" panose="02000000000000000000" pitchFamily="2" charset="0"/>
                  </a:rPr>
                  <a:t> implican </a:t>
                </a:r>
                <a14:m>
                  <m:oMath xmlns:m="http://schemas.openxmlformats.org/officeDocument/2006/math">
                    <m:sSup>
                      <m:sSupPr>
                        <m:ctrlPr>
                          <a:rPr lang="es-MX" sz="2200" b="0" i="1" smtClean="0">
                            <a:latin typeface="Cambria Math" panose="02040503050406030204" pitchFamily="18" charset="0"/>
                            <a:ea typeface="Roboto" panose="02000000000000000000" pitchFamily="2" charset="0"/>
                          </a:rPr>
                        </m:ctrlPr>
                      </m:sSupPr>
                      <m:e>
                        <m:r>
                          <a:rPr lang="es-MX" sz="2200" b="0" i="1" smtClean="0">
                            <a:latin typeface="Cambria Math" panose="02040503050406030204" pitchFamily="18" charset="0"/>
                            <a:ea typeface="Roboto" panose="02000000000000000000" pitchFamily="2" charset="0"/>
                          </a:rPr>
                          <m:t>2</m:t>
                        </m:r>
                      </m:e>
                      <m:sup>
                        <m:r>
                          <a:rPr lang="es-MX" sz="2200" b="0" i="1" smtClean="0">
                            <a:latin typeface="Cambria Math" panose="02040503050406030204" pitchFamily="18" charset="0"/>
                            <a:ea typeface="Roboto" panose="02000000000000000000" pitchFamily="2" charset="0"/>
                          </a:rPr>
                          <m:t>10</m:t>
                        </m:r>
                      </m:sup>
                    </m:sSup>
                    <m:r>
                      <a:rPr lang="es-MX" sz="2200" b="0" i="1" smtClean="0">
                        <a:latin typeface="Cambria Math" panose="02040503050406030204" pitchFamily="18" charset="0"/>
                        <a:ea typeface="Roboto" panose="02000000000000000000" pitchFamily="2" charset="0"/>
                      </a:rPr>
                      <m:t>=1024</m:t>
                    </m:r>
                  </m:oMath>
                </a14:m>
                <a:r>
                  <a:rPr lang="es-MX" sz="2200" dirty="0">
                    <a:ea typeface="Roboto" panose="02000000000000000000" pitchFamily="2" charset="0"/>
                  </a:rPr>
                  <a:t> combinaciones).</a:t>
                </a:r>
              </a:p>
              <a:p>
                <a:pPr marL="342900" indent="-342900">
                  <a:buFont typeface="Arial" panose="020B0604020202020204" pitchFamily="34" charset="0"/>
                  <a:buChar char="•"/>
                </a:pPr>
                <a:r>
                  <a:rPr lang="es-MX" sz="2200" dirty="0">
                    <a:ea typeface="Roboto" panose="02000000000000000000" pitchFamily="2" charset="0"/>
                  </a:rPr>
                  <a:t>Afortunadamente, existe otra forma de demostrar la validez de un argumento y es mediante el uso de unas formas fundamentes conocidas como </a:t>
                </a:r>
                <a:r>
                  <a:rPr lang="es-MX" sz="2200" b="1" dirty="0">
                    <a:ea typeface="Roboto" panose="02000000000000000000" pitchFamily="2" charset="0"/>
                  </a:rPr>
                  <a:t>reglas de inferencia</a:t>
                </a:r>
                <a:r>
                  <a:rPr lang="es-MX" sz="2200" dirty="0">
                    <a:ea typeface="Roboto" panose="02000000000000000000" pitchFamily="2" charset="0"/>
                  </a:rPr>
                  <a:t>.</a:t>
                </a:r>
              </a:p>
              <a:p>
                <a:pPr marL="342900" lvl="1" indent="-342900">
                  <a:buFont typeface="Arial" panose="020B0604020202020204" pitchFamily="34" charset="0"/>
                  <a:buChar char="•"/>
                </a:pPr>
                <a:r>
                  <a:rPr lang="es-MX" sz="2200" dirty="0">
                    <a:ea typeface="Roboto" panose="02000000000000000000" pitchFamily="2" charset="0"/>
                  </a:rPr>
                  <a:t>Las reglas de inferencia pueden usarse como elementos básicos para construir formas argumentales válidas más complejas.</a:t>
                </a:r>
              </a:p>
            </p:txBody>
          </p:sp>
        </mc:Choice>
        <mc:Fallback xmlns="">
          <p:sp>
            <p:nvSpPr>
              <p:cNvPr id="28" name="CuadroTexto 27">
                <a:extLst>
                  <a:ext uri="{FF2B5EF4-FFF2-40B4-BE49-F238E27FC236}">
                    <a16:creationId xmlns:a16="http://schemas.microsoft.com/office/drawing/2014/main" id="{36E66917-BCE6-4B33-9C33-49BD726FAFE5}"/>
                  </a:ext>
                </a:extLst>
              </p:cNvPr>
              <p:cNvSpPr txBox="1">
                <a:spLocks noRot="1" noChangeAspect="1" noMove="1" noResize="1" noEditPoints="1" noAdjustHandles="1" noChangeArrowheads="1" noChangeShapeType="1" noTextEdit="1"/>
              </p:cNvSpPr>
              <p:nvPr/>
            </p:nvSpPr>
            <p:spPr>
              <a:xfrm>
                <a:off x="398206" y="1045538"/>
                <a:ext cx="11219940" cy="5170646"/>
              </a:xfrm>
              <a:prstGeom prst="rect">
                <a:avLst/>
              </a:prstGeom>
              <a:blipFill>
                <a:blip r:embed="rId3"/>
                <a:stretch>
                  <a:fillRect l="-598" t="-825" b="-1415"/>
                </a:stretch>
              </a:blipFill>
            </p:spPr>
            <p:txBody>
              <a:bodyPr/>
              <a:lstStyle/>
              <a:p>
                <a:r>
                  <a:rPr lang="es-CO">
                    <a:noFill/>
                  </a:rPr>
                  <a:t> </a:t>
                </a:r>
              </a:p>
            </p:txBody>
          </p:sp>
        </mc:Fallback>
      </mc:AlternateContent>
    </p:spTree>
    <p:extLst>
      <p:ext uri="{BB962C8B-B14F-4D97-AF65-F5344CB8AC3E}">
        <p14:creationId xmlns:p14="http://schemas.microsoft.com/office/powerpoint/2010/main" val="17619808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510250" y="79250"/>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Reglas de inferencia</a:t>
            </a:r>
            <a:endParaRPr dirty="0">
              <a:solidFill>
                <a:schemeClr val="tx1"/>
              </a:solidFill>
              <a:latin typeface="+mj-lt"/>
            </a:endParaRPr>
          </a:p>
        </p:txBody>
      </p:sp>
      <p:sp>
        <p:nvSpPr>
          <p:cNvPr id="7" name="Google Shape;310;p34">
            <a:extLst>
              <a:ext uri="{FF2B5EF4-FFF2-40B4-BE49-F238E27FC236}">
                <a16:creationId xmlns:a16="http://schemas.microsoft.com/office/drawing/2014/main" id="{C7C26403-26AF-4451-9475-6E0ED638F2F7}"/>
              </a:ext>
            </a:extLst>
          </p:cNvPr>
          <p:cNvSpPr txBox="1">
            <a:spLocks/>
          </p:cNvSpPr>
          <p:nvPr/>
        </p:nvSpPr>
        <p:spPr>
          <a:xfrm>
            <a:off x="361897" y="825551"/>
            <a:ext cx="11468205" cy="89266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200" dirty="0">
                <a:latin typeface="+mn-lt"/>
                <a:ea typeface="Roboto" panose="02000000000000000000" pitchFamily="2" charset="0"/>
              </a:rPr>
              <a:t>Una </a:t>
            </a:r>
            <a:r>
              <a:rPr lang="es-MX" sz="2200" b="1" dirty="0">
                <a:latin typeface="+mn-lt"/>
                <a:ea typeface="Roboto" panose="02000000000000000000" pitchFamily="2" charset="0"/>
              </a:rPr>
              <a:t>regla de inferencia</a:t>
            </a:r>
            <a:r>
              <a:rPr lang="es-MX" sz="2200" dirty="0">
                <a:latin typeface="+mn-lt"/>
                <a:ea typeface="Roboto" panose="02000000000000000000" pitchFamily="2" charset="0"/>
              </a:rPr>
              <a:t> es una forma de argumento, que es válida.</a:t>
            </a:r>
          </a:p>
          <a:p>
            <a:r>
              <a:rPr lang="es-MX" sz="2200" dirty="0">
                <a:latin typeface="+mn-lt"/>
                <a:ea typeface="Roboto" panose="02000000000000000000" pitchFamily="2" charset="0"/>
              </a:rPr>
              <a:t>Existen numerosas reglas de inferencia. La siguiente tabla lista algunas de las mas importantes.</a:t>
            </a:r>
          </a:p>
        </p:txBody>
      </p:sp>
      <mc:AlternateContent xmlns:mc="http://schemas.openxmlformats.org/markup-compatibility/2006" xmlns:a14="http://schemas.microsoft.com/office/drawing/2010/main">
        <mc:Choice Requires="a14">
          <p:graphicFrame>
            <p:nvGraphicFramePr>
              <p:cNvPr id="4" name="Tabla 4">
                <a:extLst>
                  <a:ext uri="{FF2B5EF4-FFF2-40B4-BE49-F238E27FC236}">
                    <a16:creationId xmlns:a16="http://schemas.microsoft.com/office/drawing/2014/main" id="{D4E7BFE4-CEC0-4BDB-8CFB-E118DF5F79F7}"/>
                  </a:ext>
                </a:extLst>
              </p:cNvPr>
              <p:cNvGraphicFramePr>
                <a:graphicFrameLocks noGrp="1"/>
              </p:cNvGraphicFramePr>
              <p:nvPr>
                <p:extLst>
                  <p:ext uri="{D42A27DB-BD31-4B8C-83A1-F6EECF244321}">
                    <p14:modId xmlns:p14="http://schemas.microsoft.com/office/powerpoint/2010/main" val="1384277718"/>
                  </p:ext>
                </p:extLst>
              </p:nvPr>
            </p:nvGraphicFramePr>
            <p:xfrm>
              <a:off x="1530927" y="1901876"/>
              <a:ext cx="9130144" cy="4779582"/>
            </p:xfrm>
            <a:graphic>
              <a:graphicData uri="http://schemas.openxmlformats.org/drawingml/2006/table">
                <a:tbl>
                  <a:tblPr firstRow="1" bandRow="1">
                    <a:tableStyleId>{AD6A3598-7CB8-4345-8D95-17CE05F158A0}</a:tableStyleId>
                  </a:tblPr>
                  <a:tblGrid>
                    <a:gridCol w="2259407">
                      <a:extLst>
                        <a:ext uri="{9D8B030D-6E8A-4147-A177-3AD203B41FA5}">
                          <a16:colId xmlns:a16="http://schemas.microsoft.com/office/drawing/2014/main" val="3517824357"/>
                        </a:ext>
                      </a:extLst>
                    </a:gridCol>
                    <a:gridCol w="2243321">
                      <a:extLst>
                        <a:ext uri="{9D8B030D-6E8A-4147-A177-3AD203B41FA5}">
                          <a16:colId xmlns:a16="http://schemas.microsoft.com/office/drawing/2014/main" val="2212776800"/>
                        </a:ext>
                      </a:extLst>
                    </a:gridCol>
                    <a:gridCol w="2344880">
                      <a:extLst>
                        <a:ext uri="{9D8B030D-6E8A-4147-A177-3AD203B41FA5}">
                          <a16:colId xmlns:a16="http://schemas.microsoft.com/office/drawing/2014/main" val="3724117940"/>
                        </a:ext>
                      </a:extLst>
                    </a:gridCol>
                    <a:gridCol w="2282536">
                      <a:extLst>
                        <a:ext uri="{9D8B030D-6E8A-4147-A177-3AD203B41FA5}">
                          <a16:colId xmlns:a16="http://schemas.microsoft.com/office/drawing/2014/main" val="333003826"/>
                        </a:ext>
                      </a:extLst>
                    </a:gridCol>
                  </a:tblGrid>
                  <a:tr h="210418">
                    <a:tc>
                      <a:txBody>
                        <a:bodyPr/>
                        <a:lstStyle/>
                        <a:p>
                          <a:r>
                            <a:rPr lang="es-CO" sz="1800" b="1" dirty="0">
                              <a:latin typeface="Roboto" panose="02000000000000000000" pitchFamily="2" charset="0"/>
                              <a:ea typeface="Roboto" panose="02000000000000000000" pitchFamily="2" charset="0"/>
                            </a:rPr>
                            <a:t>Nombre</a:t>
                          </a:r>
                        </a:p>
                      </a:txBody>
                      <a:tcPr>
                        <a:solidFill>
                          <a:schemeClr val="bg1">
                            <a:lumMod val="95000"/>
                          </a:schemeClr>
                        </a:solidFill>
                      </a:tcPr>
                    </a:tc>
                    <a:tc>
                      <a:txBody>
                        <a:bodyPr/>
                        <a:lstStyle/>
                        <a:p>
                          <a:r>
                            <a:rPr lang="es-CO" sz="1800" b="1" dirty="0">
                              <a:latin typeface="Roboto" panose="02000000000000000000" pitchFamily="2" charset="0"/>
                              <a:ea typeface="Roboto" panose="02000000000000000000" pitchFamily="2" charset="0"/>
                            </a:rPr>
                            <a:t>Regla de inferencia</a:t>
                          </a:r>
                        </a:p>
                      </a:txBody>
                      <a:tcPr>
                        <a:solidFill>
                          <a:schemeClr val="bg1">
                            <a:lumMod val="95000"/>
                          </a:schemeClr>
                        </a:solidFill>
                      </a:tcPr>
                    </a:tc>
                    <a:tc>
                      <a:txBody>
                        <a:bodyPr/>
                        <a:lstStyle/>
                        <a:p>
                          <a:r>
                            <a:rPr lang="es-CO" sz="1800" b="1" dirty="0">
                              <a:latin typeface="Roboto" panose="02000000000000000000" pitchFamily="2" charset="0"/>
                              <a:ea typeface="Roboto" panose="02000000000000000000" pitchFamily="2" charset="0"/>
                            </a:rPr>
                            <a:t>Nombre</a:t>
                          </a:r>
                        </a:p>
                      </a:txBody>
                      <a:tcPr>
                        <a:solidFill>
                          <a:schemeClr val="bg1">
                            <a:lumMod val="95000"/>
                          </a:schemeClr>
                        </a:solidFill>
                      </a:tcPr>
                    </a:tc>
                    <a:tc>
                      <a:txBody>
                        <a:bodyPr/>
                        <a:lstStyle/>
                        <a:p>
                          <a:r>
                            <a:rPr lang="es-CO" sz="1800" b="1" dirty="0">
                              <a:latin typeface="Roboto" panose="02000000000000000000" pitchFamily="2" charset="0"/>
                              <a:ea typeface="Roboto" panose="02000000000000000000" pitchFamily="2" charset="0"/>
                            </a:rPr>
                            <a:t>Regla de inferencia</a:t>
                          </a:r>
                        </a:p>
                      </a:txBody>
                      <a:tcPr>
                        <a:solidFill>
                          <a:schemeClr val="bg1">
                            <a:lumMod val="95000"/>
                          </a:schemeClr>
                        </a:solidFill>
                      </a:tcPr>
                    </a:tc>
                    <a:extLst>
                      <a:ext uri="{0D108BD9-81ED-4DB2-BD59-A6C34878D82A}">
                        <a16:rowId xmlns:a16="http://schemas.microsoft.com/office/drawing/2014/main" val="3873507432"/>
                      </a:ext>
                    </a:extLst>
                  </a:tr>
                  <a:tr h="483363">
                    <a:tc>
                      <a:txBody>
                        <a:bodyPr/>
                        <a:lstStyle/>
                        <a:p>
                          <a:r>
                            <a:rPr lang="es-CO" sz="1800" dirty="0">
                              <a:latin typeface="Roboto" panose="02000000000000000000" pitchFamily="2" charset="0"/>
                              <a:ea typeface="Roboto" panose="02000000000000000000" pitchFamily="2" charset="0"/>
                            </a:rPr>
                            <a:t>Modus Ponens</a:t>
                          </a:r>
                        </a:p>
                      </a:txBody>
                      <a:tcPr anchor="ctr"/>
                    </a:tc>
                    <a:tc>
                      <a:txBody>
                        <a:bodyPr/>
                        <a:lstStyle/>
                        <a:p>
                          <a:pPr lvl="0" algn="ctr"/>
                          <a14:m>
                            <m:oMathPara xmlns:m="http://schemas.openxmlformats.org/officeDocument/2006/math">
                              <m:oMathParaPr>
                                <m:jc m:val="center"/>
                              </m:oMathParaPr>
                              <m:oMath xmlns:m="http://schemas.openxmlformats.org/officeDocument/2006/math">
                                <m:f>
                                  <m:fPr>
                                    <m:ctrlPr>
                                      <a:rPr lang="es-MX" sz="18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1800" b="0" i="1" smtClean="0">
                                            <a:latin typeface="Cambria Math" panose="02040503050406030204" pitchFamily="18" charset="0"/>
                                            <a:ea typeface="Roboto" panose="02000000000000000000" pitchFamily="2" charset="0"/>
                                          </a:rPr>
                                        </m:ctrlPr>
                                      </m:mPr>
                                      <m:mr>
                                        <m:e>
                                          <m:r>
                                            <m:rPr>
                                              <m:brk m:alnAt="7"/>
                                            </m:rPr>
                                            <a:rPr lang="es-MX" sz="1800" b="0" i="1" smtClean="0">
                                              <a:latin typeface="Cambria Math" panose="02040503050406030204" pitchFamily="18" charset="0"/>
                                              <a:ea typeface="Roboto" panose="02000000000000000000" pitchFamily="2" charset="0"/>
                                            </a:rPr>
                                            <m:t> </m:t>
                                          </m:r>
                                          <m:r>
                                            <a:rPr lang="es-MX" sz="1800" b="0" i="1" smtClean="0">
                                              <a:latin typeface="Cambria Math" panose="02040503050406030204" pitchFamily="18" charset="0"/>
                                              <a:ea typeface="Roboto" panose="02000000000000000000" pitchFamily="2" charset="0"/>
                                            </a:rPr>
                                            <m:t> </m:t>
                                          </m:r>
                                          <m:r>
                                            <a:rPr lang="es-MX" sz="1800" b="0" i="1" smtClean="0">
                                              <a:latin typeface="Cambria Math" panose="02040503050406030204" pitchFamily="18" charset="0"/>
                                              <a:ea typeface="Roboto" panose="02000000000000000000" pitchFamily="2" charset="0"/>
                                            </a:rPr>
                                            <m:t>𝑝</m:t>
                                          </m:r>
                                          <m:r>
                                            <a:rPr lang="es-MX" sz="1800" b="0" i="1" smtClean="0">
                                              <a:latin typeface="Cambria Math" panose="02040503050406030204" pitchFamily="18" charset="0"/>
                                              <a:ea typeface="Roboto" panose="02000000000000000000" pitchFamily="2" charset="0"/>
                                            </a:rPr>
                                            <m:t>→</m:t>
                                          </m:r>
                                          <m:r>
                                            <a:rPr lang="es-MX" sz="1800" b="0" i="1" smtClean="0">
                                              <a:latin typeface="Cambria Math" panose="02040503050406030204" pitchFamily="18" charset="0"/>
                                              <a:ea typeface="Roboto" panose="02000000000000000000" pitchFamily="2" charset="0"/>
                                            </a:rPr>
                                            <m:t>𝑞</m:t>
                                          </m:r>
                                        </m:e>
                                      </m:mr>
                                      <m:mr>
                                        <m:e>
                                          <m:r>
                                            <a:rPr lang="es-MX" sz="1800" b="0" i="1" smtClean="0">
                                              <a:latin typeface="Cambria Math" panose="02040503050406030204" pitchFamily="18" charset="0"/>
                                              <a:ea typeface="Roboto" panose="02000000000000000000" pitchFamily="2" charset="0"/>
                                            </a:rPr>
                                            <m:t>   </m:t>
                                          </m:r>
                                          <m:r>
                                            <a:rPr lang="es-MX" sz="1800" b="0" i="1" smtClean="0">
                                              <a:latin typeface="Cambria Math" panose="02040503050406030204" pitchFamily="18" charset="0"/>
                                              <a:ea typeface="Roboto" panose="02000000000000000000" pitchFamily="2" charset="0"/>
                                            </a:rPr>
                                            <m:t>𝑝</m:t>
                                          </m:r>
                                          <m:r>
                                            <a:rPr lang="es-MX" sz="1800" b="0" i="1" smtClean="0">
                                              <a:latin typeface="Cambria Math" panose="02040503050406030204" pitchFamily="18" charset="0"/>
                                              <a:ea typeface="Roboto" panose="02000000000000000000" pitchFamily="2" charset="0"/>
                                            </a:rPr>
                                            <m:t>         </m:t>
                                          </m:r>
                                        </m:e>
                                      </m:mr>
                                    </m:m>
                                  </m:num>
                                  <m:den>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Roboto" panose="02000000000000000000" pitchFamily="2" charset="0"/>
                                      </a:rPr>
                                      <m:t>𝑞</m:t>
                                    </m:r>
                                    <m:r>
                                      <a:rPr lang="es-MX" sz="1800" b="0" i="1" smtClean="0">
                                        <a:latin typeface="Cambria Math" panose="02040503050406030204" pitchFamily="18" charset="0"/>
                                        <a:ea typeface="Roboto" panose="02000000000000000000" pitchFamily="2" charset="0"/>
                                      </a:rPr>
                                      <m:t>         </m:t>
                                    </m:r>
                                  </m:den>
                                </m:f>
                              </m:oMath>
                            </m:oMathPara>
                          </a14:m>
                          <a:endParaRPr lang="es-CO" sz="1800" dirty="0">
                            <a:latin typeface="Roboto" panose="02000000000000000000" pitchFamily="2" charset="0"/>
                            <a:ea typeface="Roboto" panose="02000000000000000000" pitchFamily="2" charset="0"/>
                          </a:endParaRPr>
                        </a:p>
                      </a:txBody>
                      <a:tcPr/>
                    </a:tc>
                    <a:tc>
                      <a:txBody>
                        <a:bodyPr/>
                        <a:lstStyle/>
                        <a:p>
                          <a:r>
                            <a:rPr lang="es-CO" sz="1800" dirty="0">
                              <a:latin typeface="Roboto" panose="02000000000000000000" pitchFamily="2" charset="0"/>
                              <a:ea typeface="Roboto" panose="02000000000000000000" pitchFamily="2" charset="0"/>
                            </a:rPr>
                            <a:t>Simplificación</a:t>
                          </a:r>
                        </a:p>
                      </a:txBody>
                      <a:tcPr anchor="ctr"/>
                    </a:tc>
                    <a:tc>
                      <a:txBody>
                        <a:bodyPr/>
                        <a:lstStyle/>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
                              </m:oMathParaPr>
                              <m:oMath xmlns:m="http://schemas.openxmlformats.org/officeDocument/2006/math">
                                <m:f>
                                  <m:fPr>
                                    <m:ctrlPr>
                                      <a:rPr lang="es-MX" sz="1800" b="0" i="1" smtClean="0">
                                        <a:latin typeface="Cambria Math" panose="02040503050406030204" pitchFamily="18" charset="0"/>
                                        <a:ea typeface="Roboto" panose="02000000000000000000" pitchFamily="2" charset="0"/>
                                      </a:rPr>
                                    </m:ctrlPr>
                                  </m:fPr>
                                  <m:num>
                                    <m:r>
                                      <a:rPr lang="es-MX" sz="1800" b="0" i="1" smtClean="0">
                                        <a:latin typeface="Cambria Math" panose="02040503050406030204" pitchFamily="18" charset="0"/>
                                        <a:ea typeface="Roboto" panose="02000000000000000000" pitchFamily="2" charset="0"/>
                                      </a:rPr>
                                      <m:t> </m:t>
                                    </m:r>
                                    <m:r>
                                      <a:rPr lang="es-MX" sz="1800" b="0" i="1" smtClean="0">
                                        <a:latin typeface="Cambria Math" panose="02040503050406030204" pitchFamily="18" charset="0"/>
                                        <a:ea typeface="Roboto" panose="02000000000000000000" pitchFamily="2" charset="0"/>
                                      </a:rPr>
                                      <m:t>𝑝</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𝑞</m:t>
                                    </m:r>
                                  </m:num>
                                  <m:den>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𝑝</m:t>
                                    </m:r>
                                    <m:r>
                                      <a:rPr lang="es-MX" sz="1800" b="0" i="1" smtClean="0">
                                        <a:latin typeface="Cambria Math" panose="02040503050406030204" pitchFamily="18" charset="0"/>
                                        <a:ea typeface="Roboto" panose="02000000000000000000" pitchFamily="2" charset="0"/>
                                      </a:rPr>
                                      <m:t>         </m:t>
                                    </m:r>
                                  </m:den>
                                </m:f>
                              </m:oMath>
                            </m:oMathPara>
                          </a14:m>
                          <a:endParaRPr lang="es-CO" sz="18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4259179385"/>
                      </a:ext>
                    </a:extLst>
                  </a:tr>
                  <a:tr h="483363">
                    <a:tc>
                      <a:txBody>
                        <a:bodyPr/>
                        <a:lstStyle/>
                        <a:p>
                          <a:r>
                            <a:rPr lang="es-CO" sz="1800" dirty="0">
                              <a:latin typeface="Roboto" panose="02000000000000000000" pitchFamily="2" charset="0"/>
                              <a:ea typeface="Roboto" panose="02000000000000000000" pitchFamily="2" charset="0"/>
                            </a:rPr>
                            <a:t>Modus Tollens</a:t>
                          </a:r>
                        </a:p>
                      </a:txBody>
                      <a:tcPr anchor="ctr"/>
                    </a:tc>
                    <a:tc>
                      <a:txBody>
                        <a:bodyPr/>
                        <a:lstStyle/>
                        <a:p>
                          <a:pPr lvl="0" algn="ctr"/>
                          <a14:m>
                            <m:oMathPara xmlns:m="http://schemas.openxmlformats.org/officeDocument/2006/math">
                              <m:oMathParaPr>
                                <m:jc m:val="center"/>
                              </m:oMathParaPr>
                              <m:oMath xmlns:m="http://schemas.openxmlformats.org/officeDocument/2006/math">
                                <m:f>
                                  <m:fPr>
                                    <m:ctrlPr>
                                      <a:rPr lang="es-MX" sz="18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1800" b="0" i="1" smtClean="0">
                                            <a:latin typeface="Cambria Math" panose="02040503050406030204" pitchFamily="18" charset="0"/>
                                            <a:ea typeface="Roboto" panose="02000000000000000000" pitchFamily="2" charset="0"/>
                                          </a:rPr>
                                        </m:ctrlPr>
                                      </m:mPr>
                                      <m:mr>
                                        <m:e>
                                          <m:r>
                                            <m:rPr>
                                              <m:brk m:alnAt="7"/>
                                            </m:rPr>
                                            <a:rPr lang="es-MX" sz="1800" b="0" i="1" smtClean="0">
                                              <a:latin typeface="Cambria Math" panose="02040503050406030204" pitchFamily="18" charset="0"/>
                                              <a:ea typeface="Roboto" panose="02000000000000000000" pitchFamily="2" charset="0"/>
                                            </a:rPr>
                                            <m:t> </m:t>
                                          </m:r>
                                          <m:r>
                                            <a:rPr lang="es-MX" sz="1800" b="0" i="1" smtClean="0">
                                              <a:latin typeface="Cambria Math" panose="02040503050406030204" pitchFamily="18" charset="0"/>
                                              <a:ea typeface="Roboto" panose="02000000000000000000" pitchFamily="2" charset="0"/>
                                            </a:rPr>
                                            <m:t> </m:t>
                                          </m:r>
                                          <m:r>
                                            <a:rPr lang="es-MX" sz="1800" b="0" i="1" smtClean="0">
                                              <a:latin typeface="Cambria Math" panose="02040503050406030204" pitchFamily="18" charset="0"/>
                                              <a:ea typeface="Roboto" panose="02000000000000000000" pitchFamily="2" charset="0"/>
                                            </a:rPr>
                                            <m:t>𝑝</m:t>
                                          </m:r>
                                          <m:r>
                                            <a:rPr lang="es-MX" sz="1800" b="0" i="1" smtClean="0">
                                              <a:latin typeface="Cambria Math" panose="02040503050406030204" pitchFamily="18" charset="0"/>
                                              <a:ea typeface="Roboto" panose="02000000000000000000" pitchFamily="2" charset="0"/>
                                            </a:rPr>
                                            <m:t>→</m:t>
                                          </m:r>
                                          <m:r>
                                            <a:rPr lang="es-MX" sz="1800" b="0" i="1" smtClean="0">
                                              <a:latin typeface="Cambria Math" panose="02040503050406030204" pitchFamily="18" charset="0"/>
                                              <a:ea typeface="Roboto" panose="02000000000000000000" pitchFamily="2" charset="0"/>
                                            </a:rPr>
                                            <m:t>𝑞</m:t>
                                          </m:r>
                                        </m:e>
                                      </m:mr>
                                      <m:mr>
                                        <m:e>
                                          <m:r>
                                            <a:rPr lang="es-MX" sz="1800" b="0" i="1" smtClean="0">
                                              <a:latin typeface="Cambria Math" panose="02040503050406030204" pitchFamily="18" charset="0"/>
                                              <a:ea typeface="Roboto" panose="02000000000000000000" pitchFamily="2" charset="0"/>
                                            </a:rPr>
                                            <m:t>   ¬</m:t>
                                          </m:r>
                                          <m:r>
                                            <a:rPr lang="es-MX" sz="1800" b="0" i="1" smtClean="0">
                                              <a:latin typeface="Cambria Math" panose="02040503050406030204" pitchFamily="18" charset="0"/>
                                              <a:ea typeface="Roboto" panose="02000000000000000000" pitchFamily="2" charset="0"/>
                                            </a:rPr>
                                            <m:t>𝑞</m:t>
                                          </m:r>
                                          <m:r>
                                            <a:rPr lang="es-MX" sz="1800" b="0" i="1" smtClean="0">
                                              <a:latin typeface="Cambria Math" panose="02040503050406030204" pitchFamily="18" charset="0"/>
                                              <a:ea typeface="Roboto" panose="02000000000000000000" pitchFamily="2" charset="0"/>
                                            </a:rPr>
                                            <m:t>         </m:t>
                                          </m:r>
                                        </m:e>
                                      </m:mr>
                                    </m:m>
                                  </m:num>
                                  <m:den>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𝑝</m:t>
                                    </m:r>
                                    <m:r>
                                      <a:rPr lang="es-MX" sz="1800" b="0" i="1" smtClean="0">
                                        <a:latin typeface="Cambria Math" panose="02040503050406030204" pitchFamily="18" charset="0"/>
                                        <a:ea typeface="Roboto" panose="02000000000000000000" pitchFamily="2" charset="0"/>
                                      </a:rPr>
                                      <m:t>         </m:t>
                                    </m:r>
                                  </m:den>
                                </m:f>
                              </m:oMath>
                            </m:oMathPara>
                          </a14:m>
                          <a:endParaRPr lang="es-CO" sz="1800" dirty="0">
                            <a:latin typeface="Roboto" panose="02000000000000000000" pitchFamily="2" charset="0"/>
                            <a:ea typeface="Roboto" panose="02000000000000000000" pitchFamily="2" charset="0"/>
                          </a:endParaRPr>
                        </a:p>
                      </a:txBody>
                      <a:tcPr/>
                    </a:tc>
                    <a:tc>
                      <a:txBody>
                        <a:bodyPr/>
                        <a:lstStyle/>
                        <a:p>
                          <a:r>
                            <a:rPr lang="es-CO" sz="1800" dirty="0">
                              <a:latin typeface="Roboto" panose="02000000000000000000" pitchFamily="2" charset="0"/>
                              <a:ea typeface="Roboto" panose="02000000000000000000" pitchFamily="2" charset="0"/>
                            </a:rPr>
                            <a:t>Conjunción</a:t>
                          </a:r>
                        </a:p>
                      </a:txBody>
                      <a:tcPr anchor="ctr"/>
                    </a:tc>
                    <a:tc>
                      <a:txBody>
                        <a:bodyPr/>
                        <a:lstStyle/>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
                              </m:oMathParaPr>
                              <m:oMath xmlns:m="http://schemas.openxmlformats.org/officeDocument/2006/math">
                                <m:f>
                                  <m:fPr>
                                    <m:ctrlPr>
                                      <a:rPr lang="es-MX" sz="18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1800" b="0" i="1" smtClean="0">
                                            <a:latin typeface="Cambria Math" panose="02040503050406030204" pitchFamily="18" charset="0"/>
                                            <a:ea typeface="Roboto" panose="02000000000000000000" pitchFamily="2" charset="0"/>
                                          </a:rPr>
                                        </m:ctrlPr>
                                      </m:mPr>
                                      <m:mr>
                                        <m:e>
                                          <m:r>
                                            <a:rPr lang="es-MX" sz="1800" b="0" i="1" smtClean="0">
                                              <a:latin typeface="Cambria Math" panose="02040503050406030204" pitchFamily="18" charset="0"/>
                                              <a:ea typeface="Roboto" panose="02000000000000000000" pitchFamily="2" charset="0"/>
                                            </a:rPr>
                                            <m:t>𝑝</m:t>
                                          </m:r>
                                          <m:r>
                                            <a:rPr lang="es-MX" sz="1800" b="0" i="1" smtClean="0">
                                              <a:latin typeface="Cambria Math" panose="02040503050406030204" pitchFamily="18" charset="0"/>
                                              <a:ea typeface="Roboto" panose="02000000000000000000" pitchFamily="2" charset="0"/>
                                            </a:rPr>
                                            <m:t>     </m:t>
                                          </m:r>
                                        </m:e>
                                      </m:mr>
                                      <m:mr>
                                        <m:e>
                                          <m:r>
                                            <a:rPr lang="es-MX" sz="1800" b="0" i="1" smtClean="0">
                                              <a:latin typeface="Cambria Math" panose="02040503050406030204" pitchFamily="18" charset="0"/>
                                              <a:ea typeface="Roboto" panose="02000000000000000000" pitchFamily="2" charset="0"/>
                                            </a:rPr>
                                            <m:t>𝑞</m:t>
                                          </m:r>
                                          <m:r>
                                            <a:rPr lang="es-MX" sz="1800" b="0" i="1" smtClean="0">
                                              <a:latin typeface="Cambria Math" panose="02040503050406030204" pitchFamily="18" charset="0"/>
                                              <a:ea typeface="Roboto" panose="02000000000000000000" pitchFamily="2" charset="0"/>
                                            </a:rPr>
                                            <m:t>     </m:t>
                                          </m:r>
                                        </m:e>
                                      </m:mr>
                                    </m:m>
                                  </m:num>
                                  <m:den>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𝑝</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𝑞</m:t>
                                    </m:r>
                                    <m:r>
                                      <m:rPr>
                                        <m:nor/>
                                      </m:rPr>
                                      <a:rPr lang="es-CO" sz="1800" dirty="0">
                                        <a:latin typeface="Roboto" panose="02000000000000000000" pitchFamily="2" charset="0"/>
                                        <a:ea typeface="Roboto" panose="02000000000000000000" pitchFamily="2" charset="0"/>
                                      </a:rPr>
                                      <m:t> </m:t>
                                    </m:r>
                                  </m:den>
                                </m:f>
                              </m:oMath>
                            </m:oMathPara>
                          </a14:m>
                          <a:endParaRPr lang="es-CO" sz="18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078799334"/>
                      </a:ext>
                    </a:extLst>
                  </a:tr>
                  <a:tr h="483363">
                    <a:tc>
                      <a:txBody>
                        <a:bodyPr/>
                        <a:lstStyle/>
                        <a:p>
                          <a:r>
                            <a:rPr lang="es-CO" sz="1800" dirty="0">
                              <a:latin typeface="Roboto" panose="02000000000000000000" pitchFamily="2" charset="0"/>
                              <a:ea typeface="Roboto" panose="02000000000000000000" pitchFamily="2" charset="0"/>
                            </a:rPr>
                            <a:t>Silogismo hipotético (Transitividad)</a:t>
                          </a:r>
                        </a:p>
                      </a:txBody>
                      <a:tcPr anchor="ctr"/>
                    </a:tc>
                    <a:tc>
                      <a:txBody>
                        <a:bodyPr/>
                        <a:lstStyle/>
                        <a:p>
                          <a:pPr lvl="0" algn="ctr"/>
                          <a14:m>
                            <m:oMathPara xmlns:m="http://schemas.openxmlformats.org/officeDocument/2006/math">
                              <m:oMathParaPr>
                                <m:jc m:val="center"/>
                              </m:oMathParaPr>
                              <m:oMath xmlns:m="http://schemas.openxmlformats.org/officeDocument/2006/math">
                                <m:f>
                                  <m:fPr>
                                    <m:ctrlPr>
                                      <a:rPr lang="es-MX" sz="18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1800" b="0" i="1" smtClean="0">
                                            <a:latin typeface="Cambria Math" panose="02040503050406030204" pitchFamily="18" charset="0"/>
                                            <a:ea typeface="Roboto" panose="02000000000000000000" pitchFamily="2" charset="0"/>
                                          </a:rPr>
                                        </m:ctrlPr>
                                      </m:mPr>
                                      <m:mr>
                                        <m:e>
                                          <m:r>
                                            <m:rPr>
                                              <m:brk m:alnAt="7"/>
                                            </m:rPr>
                                            <a:rPr lang="es-MX" sz="1800" b="0" i="1" smtClean="0">
                                              <a:latin typeface="Cambria Math" panose="02040503050406030204" pitchFamily="18" charset="0"/>
                                              <a:ea typeface="Roboto" panose="02000000000000000000" pitchFamily="2" charset="0"/>
                                            </a:rPr>
                                            <m:t> </m:t>
                                          </m:r>
                                          <m:r>
                                            <a:rPr lang="es-MX" sz="1800" b="0" i="1" smtClean="0">
                                              <a:latin typeface="Cambria Math" panose="02040503050406030204" pitchFamily="18" charset="0"/>
                                              <a:ea typeface="Roboto" panose="02000000000000000000" pitchFamily="2" charset="0"/>
                                            </a:rPr>
                                            <m:t>  </m:t>
                                          </m:r>
                                          <m:r>
                                            <a:rPr lang="es-MX" sz="1800" b="0" i="1" smtClean="0">
                                              <a:latin typeface="Cambria Math" panose="02040503050406030204" pitchFamily="18" charset="0"/>
                                              <a:ea typeface="Roboto" panose="02000000000000000000" pitchFamily="2" charset="0"/>
                                            </a:rPr>
                                            <m:t>𝑝</m:t>
                                          </m:r>
                                          <m:r>
                                            <a:rPr lang="es-MX" sz="1800" b="0" i="1" smtClean="0">
                                              <a:latin typeface="Cambria Math" panose="02040503050406030204" pitchFamily="18" charset="0"/>
                                              <a:ea typeface="Roboto" panose="02000000000000000000" pitchFamily="2" charset="0"/>
                                            </a:rPr>
                                            <m:t>→</m:t>
                                          </m:r>
                                          <m:r>
                                            <a:rPr lang="es-MX" sz="1800" b="0" i="1" smtClean="0">
                                              <a:latin typeface="Cambria Math" panose="02040503050406030204" pitchFamily="18" charset="0"/>
                                              <a:ea typeface="Roboto" panose="02000000000000000000" pitchFamily="2" charset="0"/>
                                            </a:rPr>
                                            <m:t>𝑞</m:t>
                                          </m:r>
                                        </m:e>
                                      </m:mr>
                                      <m:mr>
                                        <m:e>
                                          <m:r>
                                            <a:rPr lang="es-MX" sz="1800" b="0" i="1" smtClean="0">
                                              <a:latin typeface="Cambria Math" panose="02040503050406030204" pitchFamily="18" charset="0"/>
                                              <a:ea typeface="Roboto" panose="02000000000000000000" pitchFamily="2" charset="0"/>
                                            </a:rPr>
                                            <m:t>    </m:t>
                                          </m:r>
                                          <m:r>
                                            <a:rPr lang="es-MX" sz="1800" b="0" i="1" smtClean="0">
                                              <a:latin typeface="Cambria Math" panose="02040503050406030204" pitchFamily="18" charset="0"/>
                                              <a:ea typeface="Roboto" panose="02000000000000000000" pitchFamily="2" charset="0"/>
                                            </a:rPr>
                                            <m:t>𝑞</m:t>
                                          </m:r>
                                          <m:r>
                                            <a:rPr lang="es-MX" sz="1800" b="0" i="1" smtClean="0">
                                              <a:latin typeface="Cambria Math" panose="02040503050406030204" pitchFamily="18" charset="0"/>
                                              <a:ea typeface="Roboto" panose="02000000000000000000" pitchFamily="2" charset="0"/>
                                            </a:rPr>
                                            <m:t>→</m:t>
                                          </m:r>
                                          <m:r>
                                            <a:rPr lang="es-MX" sz="1800" b="0" i="1" smtClean="0">
                                              <a:latin typeface="Cambria Math" panose="02040503050406030204" pitchFamily="18" charset="0"/>
                                              <a:ea typeface="Roboto" panose="02000000000000000000" pitchFamily="2" charset="0"/>
                                            </a:rPr>
                                            <m:t>𝑟</m:t>
                                          </m:r>
                                          <m:r>
                                            <m:rPr>
                                              <m:nor/>
                                            </m:rPr>
                                            <a:rPr lang="es-CO" sz="1800" dirty="0">
                                              <a:latin typeface="Roboto" panose="02000000000000000000" pitchFamily="2" charset="0"/>
                                              <a:ea typeface="Roboto" panose="02000000000000000000" pitchFamily="2" charset="0"/>
                                            </a:rPr>
                                            <m:t> </m:t>
                                          </m:r>
                                        </m:e>
                                      </m:mr>
                                    </m:m>
                                  </m:num>
                                  <m:den>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𝑝</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𝑟</m:t>
                                    </m:r>
                                  </m:den>
                                </m:f>
                              </m:oMath>
                            </m:oMathPara>
                          </a14:m>
                          <a:endParaRPr lang="es-CO" sz="1800" dirty="0">
                            <a:latin typeface="Roboto" panose="02000000000000000000" pitchFamily="2" charset="0"/>
                            <a:ea typeface="Roboto" panose="02000000000000000000" pitchFamily="2" charset="0"/>
                          </a:endParaRPr>
                        </a:p>
                      </a:txBody>
                      <a:tcPr/>
                    </a:tc>
                    <a:tc rowSpan="2">
                      <a:txBody>
                        <a:bodyPr/>
                        <a:lstStyle/>
                        <a:p>
                          <a:r>
                            <a:rPr lang="es-CO" sz="1800" dirty="0">
                              <a:latin typeface="Roboto" panose="02000000000000000000" pitchFamily="2" charset="0"/>
                              <a:ea typeface="Roboto" panose="02000000000000000000" pitchFamily="2" charset="0"/>
                            </a:rPr>
                            <a:t>Prueba de división por casos</a:t>
                          </a:r>
                        </a:p>
                      </a:txBody>
                      <a:tcPr anchor="ctr"/>
                    </a:tc>
                    <a:tc rowSpan="2">
                      <a:txBody>
                        <a:bodyPr/>
                        <a:lstStyle/>
                        <a:p>
                          <a:pPr lvl="1" algn="ctr"/>
                          <a14:m>
                            <m:oMathPara xmlns:m="http://schemas.openxmlformats.org/officeDocument/2006/math">
                              <m:oMathParaPr>
                                <m:jc m:val="left"/>
                              </m:oMathParaPr>
                              <m:oMath xmlns:m="http://schemas.openxmlformats.org/officeDocument/2006/math">
                                <m:f>
                                  <m:fPr>
                                    <m:ctrlPr>
                                      <a:rPr lang="es-MX" sz="18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1800" b="0" i="1" smtClean="0">
                                            <a:latin typeface="Cambria Math" panose="02040503050406030204" pitchFamily="18" charset="0"/>
                                            <a:ea typeface="Roboto" panose="02000000000000000000" pitchFamily="2" charset="0"/>
                                          </a:rPr>
                                        </m:ctrlPr>
                                      </m:mPr>
                                      <m:mr>
                                        <m:e>
                                          <m:r>
                                            <a:rPr lang="es-MX" sz="1800" b="0" i="1" smtClean="0">
                                              <a:latin typeface="Cambria Math" panose="02040503050406030204" pitchFamily="18" charset="0"/>
                                              <a:ea typeface="Roboto" panose="02000000000000000000" pitchFamily="2" charset="0"/>
                                            </a:rPr>
                                            <m:t>𝑝</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Roboto" panose="02000000000000000000" pitchFamily="2" charset="0"/>
                                            </a:rPr>
                                            <m:t>𝑞</m:t>
                                          </m:r>
                                          <m:r>
                                            <a:rPr lang="es-MX" sz="1800" b="0" i="1" smtClean="0">
                                              <a:latin typeface="Cambria Math" panose="02040503050406030204" pitchFamily="18" charset="0"/>
                                              <a:ea typeface="Roboto" panose="02000000000000000000" pitchFamily="2" charset="0"/>
                                            </a:rPr>
                                            <m:t>  </m:t>
                                          </m:r>
                                        </m:e>
                                      </m:mr>
                                      <m:mr>
                                        <m:e>
                                          <m:r>
                                            <a:rPr lang="es-MX" sz="1800" b="0" i="1" smtClean="0">
                                              <a:latin typeface="Cambria Math" panose="02040503050406030204" pitchFamily="18" charset="0"/>
                                              <a:ea typeface="Roboto" panose="02000000000000000000" pitchFamily="2" charset="0"/>
                                            </a:rPr>
                                            <m:t>𝑝</m:t>
                                          </m:r>
                                          <m:r>
                                            <a:rPr lang="es-MX" sz="1800" b="0" i="1" smtClean="0">
                                              <a:latin typeface="Cambria Math" panose="02040503050406030204" pitchFamily="18" charset="0"/>
                                              <a:ea typeface="Roboto" panose="02000000000000000000" pitchFamily="2" charset="0"/>
                                            </a:rPr>
                                            <m:t>→</m:t>
                                          </m:r>
                                          <m:r>
                                            <a:rPr lang="es-MX" sz="1800" b="0" i="1" smtClean="0">
                                              <a:latin typeface="Cambria Math" panose="02040503050406030204" pitchFamily="18" charset="0"/>
                                              <a:ea typeface="Roboto" panose="02000000000000000000" pitchFamily="2" charset="0"/>
                                            </a:rPr>
                                            <m:t>𝑟</m:t>
                                          </m:r>
                                          <m:r>
                                            <m:rPr>
                                              <m:nor/>
                                            </m:rPr>
                                            <a:rPr lang="es-MX" sz="1800" b="0" dirty="0">
                                              <a:latin typeface="Roboto" panose="02000000000000000000" pitchFamily="2" charset="0"/>
                                              <a:ea typeface="Roboto" panose="02000000000000000000" pitchFamily="2" charset="0"/>
                                            </a:rPr>
                                            <m:t> </m:t>
                                          </m:r>
                                        </m:e>
                                      </m:mr>
                                      <m:mr>
                                        <m:e>
                                          <m:r>
                                            <a:rPr lang="es-MX" sz="1800" b="0" i="1" smtClean="0">
                                              <a:latin typeface="Cambria Math" panose="02040503050406030204" pitchFamily="18" charset="0"/>
                                              <a:ea typeface="Roboto" panose="02000000000000000000" pitchFamily="2" charset="0"/>
                                            </a:rPr>
                                            <m:t>𝑞</m:t>
                                          </m:r>
                                          <m:r>
                                            <a:rPr lang="es-MX" sz="1800" b="0" i="1" smtClean="0">
                                              <a:latin typeface="Cambria Math" panose="02040503050406030204" pitchFamily="18" charset="0"/>
                                              <a:ea typeface="Roboto" panose="02000000000000000000" pitchFamily="2" charset="0"/>
                                            </a:rPr>
                                            <m:t>→</m:t>
                                          </m:r>
                                          <m:r>
                                            <a:rPr lang="es-MX" sz="1800" b="0" i="1" smtClean="0">
                                              <a:latin typeface="Cambria Math" panose="02040503050406030204" pitchFamily="18" charset="0"/>
                                              <a:ea typeface="Roboto" panose="02000000000000000000" pitchFamily="2" charset="0"/>
                                            </a:rPr>
                                            <m:t>𝑟</m:t>
                                          </m:r>
                                          <m:r>
                                            <a:rPr lang="es-MX" sz="1800" b="0" i="1" smtClean="0">
                                              <a:latin typeface="Cambria Math" panose="02040503050406030204" pitchFamily="18" charset="0"/>
                                              <a:ea typeface="Roboto" panose="02000000000000000000" pitchFamily="2" charset="0"/>
                                            </a:rPr>
                                            <m:t> </m:t>
                                          </m:r>
                                        </m:e>
                                      </m:mr>
                                    </m:m>
                                  </m:num>
                                  <m:den>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𝑟</m:t>
                                    </m:r>
                                    <m:r>
                                      <a:rPr lang="es-MX" sz="1800" b="0" i="1" smtClean="0">
                                        <a:latin typeface="Cambria Math" panose="02040503050406030204" pitchFamily="18" charset="0"/>
                                        <a:ea typeface="Cambria Math" panose="02040503050406030204" pitchFamily="18" charset="0"/>
                                      </a:rPr>
                                      <m:t>             </m:t>
                                    </m:r>
                                  </m:den>
                                </m:f>
                              </m:oMath>
                            </m:oMathPara>
                          </a14:m>
                          <a:endParaRPr lang="es-CO" sz="1800" dirty="0">
                            <a:latin typeface="Roboto" panose="02000000000000000000" pitchFamily="2" charset="0"/>
                            <a:ea typeface="Roboto" panose="02000000000000000000" pitchFamily="2" charset="0"/>
                          </a:endParaRPr>
                        </a:p>
                      </a:txBody>
                      <a:tcPr anchor="ctr"/>
                    </a:tc>
                    <a:extLst>
                      <a:ext uri="{0D108BD9-81ED-4DB2-BD59-A6C34878D82A}">
                        <a16:rowId xmlns:a16="http://schemas.microsoft.com/office/drawing/2014/main" val="682340052"/>
                      </a:ext>
                    </a:extLst>
                  </a:tr>
                  <a:tr h="494602">
                    <a:tc>
                      <a:txBody>
                        <a:bodyPr/>
                        <a:lstStyle/>
                        <a:p>
                          <a:r>
                            <a:rPr lang="es-CO" sz="1800" dirty="0">
                              <a:latin typeface="Roboto" panose="02000000000000000000" pitchFamily="2" charset="0"/>
                              <a:ea typeface="Roboto" panose="02000000000000000000" pitchFamily="2" charset="0"/>
                            </a:rPr>
                            <a:t>Silogismo disyuntivo (Eliminación)</a:t>
                          </a:r>
                        </a:p>
                      </a:txBody>
                      <a:tcPr anchor="ctr"/>
                    </a:tc>
                    <a:tc>
                      <a:txBody>
                        <a:bodyPr/>
                        <a:lstStyle/>
                        <a:p>
                          <a:pPr lvl="0" algn="ctr"/>
                          <a14:m>
                            <m:oMathPara xmlns:m="http://schemas.openxmlformats.org/officeDocument/2006/math">
                              <m:oMathParaPr>
                                <m:jc m:val="center"/>
                              </m:oMathParaPr>
                              <m:oMath xmlns:m="http://schemas.openxmlformats.org/officeDocument/2006/math">
                                <m:f>
                                  <m:fPr>
                                    <m:ctrlPr>
                                      <a:rPr lang="es-MX" sz="18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1800" b="0" i="1" smtClean="0">
                                            <a:latin typeface="Cambria Math" panose="02040503050406030204" pitchFamily="18" charset="0"/>
                                            <a:ea typeface="Roboto" panose="02000000000000000000" pitchFamily="2" charset="0"/>
                                          </a:rPr>
                                        </m:ctrlPr>
                                      </m:mPr>
                                      <m:mr>
                                        <m:e>
                                          <m:r>
                                            <a:rPr lang="es-MX" sz="1800" b="0" i="1" smtClean="0">
                                              <a:latin typeface="Cambria Math" panose="02040503050406030204" pitchFamily="18" charset="0"/>
                                              <a:ea typeface="Roboto" panose="02000000000000000000" pitchFamily="2" charset="0"/>
                                            </a:rPr>
                                            <m:t>𝑝</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Roboto" panose="02000000000000000000" pitchFamily="2" charset="0"/>
                                            </a:rPr>
                                            <m:t>𝑞</m:t>
                                          </m:r>
                                          <m:r>
                                            <m:rPr>
                                              <m:nor/>
                                            </m:rPr>
                                            <a:rPr lang="es-CO" sz="1800" dirty="0">
                                              <a:latin typeface="Roboto" panose="02000000000000000000" pitchFamily="2" charset="0"/>
                                              <a:ea typeface="Roboto" panose="02000000000000000000" pitchFamily="2" charset="0"/>
                                            </a:rPr>
                                            <m:t> </m:t>
                                          </m:r>
                                        </m:e>
                                      </m:mr>
                                      <m:mr>
                                        <m:e>
                                          <m:r>
                                            <a:rPr lang="es-MX" sz="1800" b="0" i="1" smtClean="0">
                                              <a:latin typeface="Cambria Math" panose="02040503050406030204" pitchFamily="18" charset="0"/>
                                              <a:ea typeface="Roboto" panose="02000000000000000000" pitchFamily="2" charset="0"/>
                                            </a:rPr>
                                            <m:t>¬</m:t>
                                          </m:r>
                                          <m:r>
                                            <a:rPr lang="es-MX" sz="1800" b="0" i="1" smtClean="0">
                                              <a:latin typeface="Cambria Math" panose="02040503050406030204" pitchFamily="18" charset="0"/>
                                              <a:ea typeface="Roboto" panose="02000000000000000000" pitchFamily="2" charset="0"/>
                                            </a:rPr>
                                            <m:t>𝑝</m:t>
                                          </m:r>
                                          <m:r>
                                            <a:rPr lang="es-MX" sz="1800" b="0" i="1" smtClean="0">
                                              <a:latin typeface="Cambria Math" panose="02040503050406030204" pitchFamily="18" charset="0"/>
                                              <a:ea typeface="Roboto" panose="02000000000000000000" pitchFamily="2" charset="0"/>
                                            </a:rPr>
                                            <m:t>       </m:t>
                                          </m:r>
                                        </m:e>
                                      </m:mr>
                                    </m:m>
                                  </m:num>
                                  <m:den>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𝑞</m:t>
                                    </m:r>
                                    <m:r>
                                      <a:rPr lang="es-MX" sz="1800" b="0" i="1" smtClean="0">
                                        <a:latin typeface="Cambria Math" panose="02040503050406030204" pitchFamily="18" charset="0"/>
                                        <a:ea typeface="Cambria Math" panose="02040503050406030204" pitchFamily="18" charset="0"/>
                                      </a:rPr>
                                      <m:t>             </m:t>
                                    </m:r>
                                  </m:den>
                                </m:f>
                              </m:oMath>
                            </m:oMathPara>
                          </a14:m>
                          <a:endParaRPr lang="es-CO" sz="1800" dirty="0">
                            <a:latin typeface="Roboto" panose="02000000000000000000" pitchFamily="2" charset="0"/>
                            <a:ea typeface="Roboto" panose="02000000000000000000" pitchFamily="2" charset="0"/>
                          </a:endParaRPr>
                        </a:p>
                      </a:txBody>
                      <a:tcPr/>
                    </a:tc>
                    <a:tc vMerge="1">
                      <a:txBody>
                        <a:bodyPr/>
                        <a:lstStyle/>
                        <a:p>
                          <a:endParaRPr lang="es-CO" dirty="0">
                            <a:latin typeface="Roboto" panose="02000000000000000000" pitchFamily="2" charset="0"/>
                            <a:ea typeface="Roboto" panose="02000000000000000000" pitchFamily="2" charset="0"/>
                          </a:endParaRPr>
                        </a:p>
                      </a:txBody>
                      <a:tcPr/>
                    </a:tc>
                    <a:tc vMerge="1">
                      <a:txBody>
                        <a:bodyPr/>
                        <a:lstStyle/>
                        <a:p>
                          <a:endParaRPr lang="es-CO"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118226202"/>
                      </a:ext>
                    </a:extLst>
                  </a:tr>
                  <a:tr h="494602">
                    <a:tc>
                      <a:txBody>
                        <a:bodyPr/>
                        <a:lstStyle/>
                        <a:p>
                          <a:r>
                            <a:rPr lang="es-CO" sz="1800" dirty="0">
                              <a:latin typeface="Roboto" panose="02000000000000000000" pitchFamily="2" charset="0"/>
                              <a:ea typeface="Roboto" panose="02000000000000000000" pitchFamily="2" charset="0"/>
                            </a:rPr>
                            <a:t>Adición</a:t>
                          </a:r>
                        </a:p>
                      </a:txBody>
                      <a:tcPr anchor="ctr"/>
                    </a:tc>
                    <a:tc>
                      <a:txBody>
                        <a:bodyPr/>
                        <a:lstStyle/>
                        <a:p>
                          <a:pPr lvl="0" algn="ctr"/>
                          <a14:m>
                            <m:oMathPara xmlns:m="http://schemas.openxmlformats.org/officeDocument/2006/math">
                              <m:oMathParaPr>
                                <m:jc m:val="center"/>
                              </m:oMathParaPr>
                              <m:oMath xmlns:m="http://schemas.openxmlformats.org/officeDocument/2006/math">
                                <m:f>
                                  <m:fPr>
                                    <m:ctrlPr>
                                      <a:rPr lang="es-MX" sz="1800" b="0" i="1" smtClean="0">
                                        <a:latin typeface="Cambria Math" panose="02040503050406030204" pitchFamily="18" charset="0"/>
                                        <a:ea typeface="Roboto" panose="02000000000000000000" pitchFamily="2" charset="0"/>
                                      </a:rPr>
                                    </m:ctrlPr>
                                  </m:fPr>
                                  <m:num>
                                    <m:r>
                                      <a:rPr lang="es-MX" sz="1800" b="0" i="1" smtClean="0">
                                        <a:latin typeface="Cambria Math" panose="02040503050406030204" pitchFamily="18" charset="0"/>
                                        <a:ea typeface="Roboto" panose="02000000000000000000" pitchFamily="2" charset="0"/>
                                      </a:rPr>
                                      <m:t> </m:t>
                                    </m:r>
                                    <m:r>
                                      <a:rPr lang="es-MX" sz="1800" b="0" i="1" smtClean="0">
                                        <a:latin typeface="Cambria Math" panose="02040503050406030204" pitchFamily="18" charset="0"/>
                                        <a:ea typeface="Roboto" panose="02000000000000000000" pitchFamily="2" charset="0"/>
                                      </a:rPr>
                                      <m:t>𝑝</m:t>
                                    </m:r>
                                    <m:r>
                                      <a:rPr lang="es-MX" sz="1800" b="0" i="1" smtClean="0">
                                        <a:latin typeface="Cambria Math" panose="02040503050406030204" pitchFamily="18" charset="0"/>
                                        <a:ea typeface="Roboto" panose="02000000000000000000" pitchFamily="2" charset="0"/>
                                      </a:rPr>
                                      <m:t>    </m:t>
                                    </m:r>
                                  </m:num>
                                  <m:den>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Roboto" panose="02000000000000000000" pitchFamily="2" charset="0"/>
                                      </a:rPr>
                                      <m:t>𝑝</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𝑞</m:t>
                                    </m:r>
                                  </m:den>
                                </m:f>
                              </m:oMath>
                            </m:oMathPara>
                          </a14:m>
                          <a:endParaRPr lang="es-CO" sz="1800" dirty="0">
                            <a:latin typeface="Roboto" panose="02000000000000000000" pitchFamily="2" charset="0"/>
                            <a:ea typeface="Roboto" panose="02000000000000000000" pitchFamily="2" charset="0"/>
                          </a:endParaRPr>
                        </a:p>
                      </a:txBody>
                      <a:tcPr/>
                    </a:tc>
                    <a:tc>
                      <a:txBody>
                        <a:bodyPr/>
                        <a:lstStyle/>
                        <a:p>
                          <a:r>
                            <a:rPr lang="es-CO" sz="1800" dirty="0">
                              <a:latin typeface="Roboto" panose="02000000000000000000" pitchFamily="2" charset="0"/>
                              <a:ea typeface="Roboto" panose="02000000000000000000" pitchFamily="2" charset="0"/>
                            </a:rPr>
                            <a:t>Resolución</a:t>
                          </a:r>
                        </a:p>
                      </a:txBody>
                      <a:tcPr anchor="ctr"/>
                    </a:tc>
                    <a:tc>
                      <a:txBody>
                        <a:bodyPr/>
                        <a:lstStyle/>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
                              </m:oMathParaPr>
                              <m:oMath xmlns:m="http://schemas.openxmlformats.org/officeDocument/2006/math">
                                <m:f>
                                  <m:fPr>
                                    <m:ctrlPr>
                                      <a:rPr lang="es-MX" sz="18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1800" b="0" i="1" smtClean="0">
                                            <a:latin typeface="Cambria Math" panose="02040503050406030204" pitchFamily="18" charset="0"/>
                                            <a:ea typeface="Roboto" panose="02000000000000000000" pitchFamily="2" charset="0"/>
                                          </a:rPr>
                                        </m:ctrlPr>
                                      </m:mPr>
                                      <m:mr>
                                        <m:e>
                                          <m:r>
                                            <a:rPr lang="es-MX" sz="1800" b="0" i="1" smtClean="0">
                                              <a:latin typeface="Cambria Math" panose="02040503050406030204" pitchFamily="18" charset="0"/>
                                              <a:ea typeface="Roboto" panose="02000000000000000000" pitchFamily="2" charset="0"/>
                                            </a:rPr>
                                            <m:t>¬</m:t>
                                          </m:r>
                                          <m:r>
                                            <a:rPr lang="es-MX" sz="1800" b="0" i="1" smtClean="0">
                                              <a:latin typeface="Cambria Math" panose="02040503050406030204" pitchFamily="18" charset="0"/>
                                              <a:ea typeface="Roboto" panose="02000000000000000000" pitchFamily="2" charset="0"/>
                                            </a:rPr>
                                            <m:t>𝑝</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Roboto" panose="02000000000000000000" pitchFamily="2" charset="0"/>
                                            </a:rPr>
                                            <m:t>𝑟</m:t>
                                          </m:r>
                                          <m:r>
                                            <m:rPr>
                                              <m:nor/>
                                            </m:rPr>
                                            <a:rPr lang="es-MX" sz="1800" b="0" dirty="0">
                                              <a:latin typeface="Roboto" panose="02000000000000000000" pitchFamily="2" charset="0"/>
                                              <a:ea typeface="Roboto" panose="02000000000000000000" pitchFamily="2" charset="0"/>
                                            </a:rPr>
                                            <m:t> </m:t>
                                          </m:r>
                                        </m:e>
                                      </m:mr>
                                      <m:mr>
                                        <m:e>
                                          <m:r>
                                            <a:rPr lang="es-MX" sz="1800" b="0" i="1" smtClean="0">
                                              <a:latin typeface="Cambria Math" panose="02040503050406030204" pitchFamily="18" charset="0"/>
                                              <a:ea typeface="Roboto" panose="02000000000000000000" pitchFamily="2" charset="0"/>
                                            </a:rPr>
                                            <m:t>𝑝</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Roboto" panose="02000000000000000000" pitchFamily="2" charset="0"/>
                                            </a:rPr>
                                            <m:t>𝑞</m:t>
                                          </m:r>
                                          <m:r>
                                            <a:rPr lang="es-MX" sz="1800" b="0" i="1" smtClean="0">
                                              <a:latin typeface="Cambria Math" panose="02040503050406030204" pitchFamily="18" charset="0"/>
                                              <a:ea typeface="Roboto" panose="02000000000000000000" pitchFamily="2" charset="0"/>
                                            </a:rPr>
                                            <m:t>    </m:t>
                                          </m:r>
                                        </m:e>
                                      </m:mr>
                                    </m:m>
                                  </m:num>
                                  <m:den>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𝑞</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𝑟</m:t>
                                    </m:r>
                                    <m:r>
                                      <a:rPr lang="es-MX" sz="1800" b="0" i="1" smtClean="0">
                                        <a:latin typeface="Cambria Math" panose="02040503050406030204" pitchFamily="18" charset="0"/>
                                        <a:ea typeface="Cambria Math" panose="02040503050406030204" pitchFamily="18" charset="0"/>
                                      </a:rPr>
                                      <m:t>        </m:t>
                                    </m:r>
                                  </m:den>
                                </m:f>
                              </m:oMath>
                            </m:oMathPara>
                          </a14:m>
                          <a:endParaRPr lang="es-CO" sz="18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217682141"/>
                      </a:ext>
                    </a:extLst>
                  </a:tr>
                </a:tbl>
              </a:graphicData>
            </a:graphic>
          </p:graphicFrame>
        </mc:Choice>
        <mc:Fallback xmlns="">
          <p:graphicFrame>
            <p:nvGraphicFramePr>
              <p:cNvPr id="4" name="Tabla 4">
                <a:extLst>
                  <a:ext uri="{FF2B5EF4-FFF2-40B4-BE49-F238E27FC236}">
                    <a16:creationId xmlns:a16="http://schemas.microsoft.com/office/drawing/2014/main" id="{D4E7BFE4-CEC0-4BDB-8CFB-E118DF5F79F7}"/>
                  </a:ext>
                </a:extLst>
              </p:cNvPr>
              <p:cNvGraphicFramePr>
                <a:graphicFrameLocks noGrp="1"/>
              </p:cNvGraphicFramePr>
              <p:nvPr>
                <p:extLst>
                  <p:ext uri="{D42A27DB-BD31-4B8C-83A1-F6EECF244321}">
                    <p14:modId xmlns:p14="http://schemas.microsoft.com/office/powerpoint/2010/main" val="1384277718"/>
                  </p:ext>
                </p:extLst>
              </p:nvPr>
            </p:nvGraphicFramePr>
            <p:xfrm>
              <a:off x="1530927" y="1901876"/>
              <a:ext cx="9130144" cy="4779582"/>
            </p:xfrm>
            <a:graphic>
              <a:graphicData uri="http://schemas.openxmlformats.org/drawingml/2006/table">
                <a:tbl>
                  <a:tblPr firstRow="1" bandRow="1">
                    <a:tableStyleId>{AD6A3598-7CB8-4345-8D95-17CE05F158A0}</a:tableStyleId>
                  </a:tblPr>
                  <a:tblGrid>
                    <a:gridCol w="2259407">
                      <a:extLst>
                        <a:ext uri="{9D8B030D-6E8A-4147-A177-3AD203B41FA5}">
                          <a16:colId xmlns:a16="http://schemas.microsoft.com/office/drawing/2014/main" val="3517824357"/>
                        </a:ext>
                      </a:extLst>
                    </a:gridCol>
                    <a:gridCol w="2243321">
                      <a:extLst>
                        <a:ext uri="{9D8B030D-6E8A-4147-A177-3AD203B41FA5}">
                          <a16:colId xmlns:a16="http://schemas.microsoft.com/office/drawing/2014/main" val="2212776800"/>
                        </a:ext>
                      </a:extLst>
                    </a:gridCol>
                    <a:gridCol w="2344880">
                      <a:extLst>
                        <a:ext uri="{9D8B030D-6E8A-4147-A177-3AD203B41FA5}">
                          <a16:colId xmlns:a16="http://schemas.microsoft.com/office/drawing/2014/main" val="3724117940"/>
                        </a:ext>
                      </a:extLst>
                    </a:gridCol>
                    <a:gridCol w="2282536">
                      <a:extLst>
                        <a:ext uri="{9D8B030D-6E8A-4147-A177-3AD203B41FA5}">
                          <a16:colId xmlns:a16="http://schemas.microsoft.com/office/drawing/2014/main" val="333003826"/>
                        </a:ext>
                      </a:extLst>
                    </a:gridCol>
                  </a:tblGrid>
                  <a:tr h="365760">
                    <a:tc>
                      <a:txBody>
                        <a:bodyPr/>
                        <a:lstStyle/>
                        <a:p>
                          <a:r>
                            <a:rPr lang="es-CO" sz="1800" b="1" dirty="0">
                              <a:latin typeface="Roboto" panose="02000000000000000000" pitchFamily="2" charset="0"/>
                              <a:ea typeface="Roboto" panose="02000000000000000000" pitchFamily="2" charset="0"/>
                            </a:rPr>
                            <a:t>Nombre</a:t>
                          </a:r>
                        </a:p>
                      </a:txBody>
                      <a:tcPr>
                        <a:solidFill>
                          <a:schemeClr val="bg1">
                            <a:lumMod val="95000"/>
                          </a:schemeClr>
                        </a:solidFill>
                      </a:tcPr>
                    </a:tc>
                    <a:tc>
                      <a:txBody>
                        <a:bodyPr/>
                        <a:lstStyle/>
                        <a:p>
                          <a:r>
                            <a:rPr lang="es-CO" sz="1800" b="1" dirty="0">
                              <a:latin typeface="Roboto" panose="02000000000000000000" pitchFamily="2" charset="0"/>
                              <a:ea typeface="Roboto" panose="02000000000000000000" pitchFamily="2" charset="0"/>
                            </a:rPr>
                            <a:t>Regla de inferencia</a:t>
                          </a:r>
                        </a:p>
                      </a:txBody>
                      <a:tcPr>
                        <a:solidFill>
                          <a:schemeClr val="bg1">
                            <a:lumMod val="95000"/>
                          </a:schemeClr>
                        </a:solidFill>
                      </a:tcPr>
                    </a:tc>
                    <a:tc>
                      <a:txBody>
                        <a:bodyPr/>
                        <a:lstStyle/>
                        <a:p>
                          <a:r>
                            <a:rPr lang="es-CO" sz="1800" b="1" dirty="0">
                              <a:latin typeface="Roboto" panose="02000000000000000000" pitchFamily="2" charset="0"/>
                              <a:ea typeface="Roboto" panose="02000000000000000000" pitchFamily="2" charset="0"/>
                            </a:rPr>
                            <a:t>Nombre</a:t>
                          </a:r>
                        </a:p>
                      </a:txBody>
                      <a:tcPr>
                        <a:solidFill>
                          <a:schemeClr val="bg1">
                            <a:lumMod val="95000"/>
                          </a:schemeClr>
                        </a:solidFill>
                      </a:tcPr>
                    </a:tc>
                    <a:tc>
                      <a:txBody>
                        <a:bodyPr/>
                        <a:lstStyle/>
                        <a:p>
                          <a:r>
                            <a:rPr lang="es-CO" sz="1800" b="1" dirty="0">
                              <a:latin typeface="Roboto" panose="02000000000000000000" pitchFamily="2" charset="0"/>
                              <a:ea typeface="Roboto" panose="02000000000000000000" pitchFamily="2" charset="0"/>
                            </a:rPr>
                            <a:t>Regla de inferencia</a:t>
                          </a:r>
                        </a:p>
                      </a:txBody>
                      <a:tcPr>
                        <a:solidFill>
                          <a:schemeClr val="bg1">
                            <a:lumMod val="95000"/>
                          </a:schemeClr>
                        </a:solidFill>
                      </a:tcPr>
                    </a:tc>
                    <a:extLst>
                      <a:ext uri="{0D108BD9-81ED-4DB2-BD59-A6C34878D82A}">
                        <a16:rowId xmlns:a16="http://schemas.microsoft.com/office/drawing/2014/main" val="3873507432"/>
                      </a:ext>
                    </a:extLst>
                  </a:tr>
                  <a:tr h="854964">
                    <a:tc>
                      <a:txBody>
                        <a:bodyPr/>
                        <a:lstStyle/>
                        <a:p>
                          <a:r>
                            <a:rPr lang="es-CO" sz="1800" dirty="0">
                              <a:latin typeface="Roboto" panose="02000000000000000000" pitchFamily="2" charset="0"/>
                              <a:ea typeface="Roboto" panose="02000000000000000000" pitchFamily="2" charset="0"/>
                            </a:rPr>
                            <a:t>Modus Ponens</a:t>
                          </a:r>
                        </a:p>
                      </a:txBody>
                      <a:tcPr anchor="ctr"/>
                    </a:tc>
                    <a:tc>
                      <a:txBody>
                        <a:bodyPr/>
                        <a:lstStyle/>
                        <a:p>
                          <a:endParaRPr lang="es-CO"/>
                        </a:p>
                      </a:txBody>
                      <a:tcPr>
                        <a:blipFill>
                          <a:blip r:embed="rId3"/>
                          <a:stretch>
                            <a:fillRect l="-101087" t="-45390" r="-206793" b="-415603"/>
                          </a:stretch>
                        </a:blipFill>
                      </a:tcPr>
                    </a:tc>
                    <a:tc>
                      <a:txBody>
                        <a:bodyPr/>
                        <a:lstStyle/>
                        <a:p>
                          <a:r>
                            <a:rPr lang="es-CO" sz="1800" dirty="0">
                              <a:latin typeface="Roboto" panose="02000000000000000000" pitchFamily="2" charset="0"/>
                              <a:ea typeface="Roboto" panose="02000000000000000000" pitchFamily="2" charset="0"/>
                            </a:rPr>
                            <a:t>Simplificación</a:t>
                          </a:r>
                        </a:p>
                      </a:txBody>
                      <a:tcPr anchor="ctr"/>
                    </a:tc>
                    <a:tc>
                      <a:txBody>
                        <a:bodyPr/>
                        <a:lstStyle/>
                        <a:p>
                          <a:endParaRPr lang="es-CO"/>
                        </a:p>
                      </a:txBody>
                      <a:tcPr>
                        <a:blipFill>
                          <a:blip r:embed="rId3"/>
                          <a:stretch>
                            <a:fillRect l="-300802" t="-45390" r="-535" b="-415603"/>
                          </a:stretch>
                        </a:blipFill>
                      </a:tcPr>
                    </a:tc>
                    <a:extLst>
                      <a:ext uri="{0D108BD9-81ED-4DB2-BD59-A6C34878D82A}">
                        <a16:rowId xmlns:a16="http://schemas.microsoft.com/office/drawing/2014/main" val="4259179385"/>
                      </a:ext>
                    </a:extLst>
                  </a:tr>
                  <a:tr h="854964">
                    <a:tc>
                      <a:txBody>
                        <a:bodyPr/>
                        <a:lstStyle/>
                        <a:p>
                          <a:r>
                            <a:rPr lang="es-CO" sz="1800" dirty="0">
                              <a:latin typeface="Roboto" panose="02000000000000000000" pitchFamily="2" charset="0"/>
                              <a:ea typeface="Roboto" panose="02000000000000000000" pitchFamily="2" charset="0"/>
                            </a:rPr>
                            <a:t>Modus Tollens</a:t>
                          </a:r>
                        </a:p>
                      </a:txBody>
                      <a:tcPr anchor="ctr"/>
                    </a:tc>
                    <a:tc>
                      <a:txBody>
                        <a:bodyPr/>
                        <a:lstStyle/>
                        <a:p>
                          <a:endParaRPr lang="es-CO"/>
                        </a:p>
                      </a:txBody>
                      <a:tcPr>
                        <a:blipFill>
                          <a:blip r:embed="rId3"/>
                          <a:stretch>
                            <a:fillRect l="-101087" t="-146429" r="-206793" b="-318571"/>
                          </a:stretch>
                        </a:blipFill>
                      </a:tcPr>
                    </a:tc>
                    <a:tc>
                      <a:txBody>
                        <a:bodyPr/>
                        <a:lstStyle/>
                        <a:p>
                          <a:r>
                            <a:rPr lang="es-CO" sz="1800" dirty="0">
                              <a:latin typeface="Roboto" panose="02000000000000000000" pitchFamily="2" charset="0"/>
                              <a:ea typeface="Roboto" panose="02000000000000000000" pitchFamily="2" charset="0"/>
                            </a:rPr>
                            <a:t>Conjunción</a:t>
                          </a:r>
                        </a:p>
                      </a:txBody>
                      <a:tcPr anchor="ctr"/>
                    </a:tc>
                    <a:tc>
                      <a:txBody>
                        <a:bodyPr/>
                        <a:lstStyle/>
                        <a:p>
                          <a:endParaRPr lang="es-CO"/>
                        </a:p>
                      </a:txBody>
                      <a:tcPr>
                        <a:blipFill>
                          <a:blip r:embed="rId3"/>
                          <a:stretch>
                            <a:fillRect l="-300802" t="-146429" r="-535" b="-318571"/>
                          </a:stretch>
                        </a:blipFill>
                      </a:tcPr>
                    </a:tc>
                    <a:extLst>
                      <a:ext uri="{0D108BD9-81ED-4DB2-BD59-A6C34878D82A}">
                        <a16:rowId xmlns:a16="http://schemas.microsoft.com/office/drawing/2014/main" val="1078799334"/>
                      </a:ext>
                    </a:extLst>
                  </a:tr>
                  <a:tr h="914400">
                    <a:tc>
                      <a:txBody>
                        <a:bodyPr/>
                        <a:lstStyle/>
                        <a:p>
                          <a:r>
                            <a:rPr lang="es-CO" sz="1800" dirty="0">
                              <a:latin typeface="Roboto" panose="02000000000000000000" pitchFamily="2" charset="0"/>
                              <a:ea typeface="Roboto" panose="02000000000000000000" pitchFamily="2" charset="0"/>
                            </a:rPr>
                            <a:t>Silogismo hipotético (Transitividad)</a:t>
                          </a:r>
                        </a:p>
                      </a:txBody>
                      <a:tcPr anchor="ctr"/>
                    </a:tc>
                    <a:tc>
                      <a:txBody>
                        <a:bodyPr/>
                        <a:lstStyle/>
                        <a:p>
                          <a:endParaRPr lang="es-CO"/>
                        </a:p>
                      </a:txBody>
                      <a:tcPr>
                        <a:blipFill>
                          <a:blip r:embed="rId3"/>
                          <a:stretch>
                            <a:fillRect l="-101087" t="-228477" r="-206793" b="-195364"/>
                          </a:stretch>
                        </a:blipFill>
                      </a:tcPr>
                    </a:tc>
                    <a:tc rowSpan="2">
                      <a:txBody>
                        <a:bodyPr/>
                        <a:lstStyle/>
                        <a:p>
                          <a:r>
                            <a:rPr lang="es-CO" sz="1800" dirty="0">
                              <a:latin typeface="Roboto" panose="02000000000000000000" pitchFamily="2" charset="0"/>
                              <a:ea typeface="Roboto" panose="02000000000000000000" pitchFamily="2" charset="0"/>
                            </a:rPr>
                            <a:t>Prueba de división por casos</a:t>
                          </a:r>
                        </a:p>
                      </a:txBody>
                      <a:tcPr anchor="ctr"/>
                    </a:tc>
                    <a:tc rowSpan="2">
                      <a:txBody>
                        <a:bodyPr/>
                        <a:lstStyle/>
                        <a:p>
                          <a:endParaRPr lang="es-CO"/>
                        </a:p>
                      </a:txBody>
                      <a:tcPr anchor="ctr">
                        <a:blipFill>
                          <a:blip r:embed="rId3"/>
                          <a:stretch>
                            <a:fillRect l="-300802" t="-114618" r="-535" b="-48173"/>
                          </a:stretch>
                        </a:blipFill>
                      </a:tcPr>
                    </a:tc>
                    <a:extLst>
                      <a:ext uri="{0D108BD9-81ED-4DB2-BD59-A6C34878D82A}">
                        <a16:rowId xmlns:a16="http://schemas.microsoft.com/office/drawing/2014/main" val="682340052"/>
                      </a:ext>
                    </a:extLst>
                  </a:tr>
                  <a:tr h="914400">
                    <a:tc>
                      <a:txBody>
                        <a:bodyPr/>
                        <a:lstStyle/>
                        <a:p>
                          <a:r>
                            <a:rPr lang="es-CO" sz="1800" dirty="0">
                              <a:latin typeface="Roboto" panose="02000000000000000000" pitchFamily="2" charset="0"/>
                              <a:ea typeface="Roboto" panose="02000000000000000000" pitchFamily="2" charset="0"/>
                            </a:rPr>
                            <a:t>Silogismo disyuntivo (Eliminación)</a:t>
                          </a:r>
                        </a:p>
                      </a:txBody>
                      <a:tcPr anchor="ctr"/>
                    </a:tc>
                    <a:tc>
                      <a:txBody>
                        <a:bodyPr/>
                        <a:lstStyle/>
                        <a:p>
                          <a:endParaRPr lang="es-CO"/>
                        </a:p>
                      </a:txBody>
                      <a:tcPr>
                        <a:blipFill>
                          <a:blip r:embed="rId3"/>
                          <a:stretch>
                            <a:fillRect l="-101087" t="-330667" r="-206793" b="-96667"/>
                          </a:stretch>
                        </a:blipFill>
                      </a:tcPr>
                    </a:tc>
                    <a:tc vMerge="1">
                      <a:txBody>
                        <a:bodyPr/>
                        <a:lstStyle/>
                        <a:p>
                          <a:endParaRPr lang="es-CO" dirty="0">
                            <a:latin typeface="Roboto" panose="02000000000000000000" pitchFamily="2" charset="0"/>
                            <a:ea typeface="Roboto" panose="02000000000000000000" pitchFamily="2" charset="0"/>
                          </a:endParaRPr>
                        </a:p>
                      </a:txBody>
                      <a:tcPr/>
                    </a:tc>
                    <a:tc vMerge="1">
                      <a:txBody>
                        <a:bodyPr/>
                        <a:lstStyle/>
                        <a:p>
                          <a:endParaRPr lang="es-CO"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118226202"/>
                      </a:ext>
                    </a:extLst>
                  </a:tr>
                  <a:tr h="875094">
                    <a:tc>
                      <a:txBody>
                        <a:bodyPr/>
                        <a:lstStyle/>
                        <a:p>
                          <a:r>
                            <a:rPr lang="es-CO" sz="1800" dirty="0">
                              <a:latin typeface="Roboto" panose="02000000000000000000" pitchFamily="2" charset="0"/>
                              <a:ea typeface="Roboto" panose="02000000000000000000" pitchFamily="2" charset="0"/>
                            </a:rPr>
                            <a:t>Adición</a:t>
                          </a:r>
                        </a:p>
                      </a:txBody>
                      <a:tcPr anchor="ctr"/>
                    </a:tc>
                    <a:tc>
                      <a:txBody>
                        <a:bodyPr/>
                        <a:lstStyle/>
                        <a:p>
                          <a:endParaRPr lang="es-CO"/>
                        </a:p>
                      </a:txBody>
                      <a:tcPr>
                        <a:blipFill>
                          <a:blip r:embed="rId3"/>
                          <a:stretch>
                            <a:fillRect l="-101087" t="-448611" r="-206793" b="-694"/>
                          </a:stretch>
                        </a:blipFill>
                      </a:tcPr>
                    </a:tc>
                    <a:tc>
                      <a:txBody>
                        <a:bodyPr/>
                        <a:lstStyle/>
                        <a:p>
                          <a:r>
                            <a:rPr lang="es-CO" sz="1800" dirty="0">
                              <a:latin typeface="Roboto" panose="02000000000000000000" pitchFamily="2" charset="0"/>
                              <a:ea typeface="Roboto" panose="02000000000000000000" pitchFamily="2" charset="0"/>
                            </a:rPr>
                            <a:t>Resolución</a:t>
                          </a:r>
                        </a:p>
                      </a:txBody>
                      <a:tcPr anchor="ctr"/>
                    </a:tc>
                    <a:tc>
                      <a:txBody>
                        <a:bodyPr/>
                        <a:lstStyle/>
                        <a:p>
                          <a:endParaRPr lang="es-CO"/>
                        </a:p>
                      </a:txBody>
                      <a:tcPr>
                        <a:blipFill>
                          <a:blip r:embed="rId3"/>
                          <a:stretch>
                            <a:fillRect l="-300802" t="-448611" r="-535" b="-694"/>
                          </a:stretch>
                        </a:blipFill>
                      </a:tcPr>
                    </a:tc>
                    <a:extLst>
                      <a:ext uri="{0D108BD9-81ED-4DB2-BD59-A6C34878D82A}">
                        <a16:rowId xmlns:a16="http://schemas.microsoft.com/office/drawing/2014/main" val="2217682141"/>
                      </a:ext>
                    </a:extLst>
                  </a:tr>
                </a:tbl>
              </a:graphicData>
            </a:graphic>
          </p:graphicFrame>
        </mc:Fallback>
      </mc:AlternateContent>
    </p:spTree>
    <p:extLst>
      <p:ext uri="{BB962C8B-B14F-4D97-AF65-F5344CB8AC3E}">
        <p14:creationId xmlns:p14="http://schemas.microsoft.com/office/powerpoint/2010/main" val="13436440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231059" y="96038"/>
            <a:ext cx="11331676" cy="949500"/>
          </a:xfrm>
        </p:spPr>
        <p:txBody>
          <a:bodyPr/>
          <a:lstStyle/>
          <a:p>
            <a:r>
              <a:rPr lang="es-ES" dirty="0">
                <a:solidFill>
                  <a:schemeClr val="tx1"/>
                </a:solidFill>
                <a:latin typeface="+mj-lt"/>
              </a:rPr>
              <a:t>Validación de argumentos – Enfoque axiomático</a:t>
            </a:r>
            <a:endParaRPr lang="es-CO" dirty="0">
              <a:solidFill>
                <a:schemeClr val="tx1"/>
              </a:solidFill>
            </a:endParaRPr>
          </a:p>
        </p:txBody>
      </p:sp>
      <p:sp>
        <p:nvSpPr>
          <p:cNvPr id="7" name="CuadroTexto 6">
            <a:extLst>
              <a:ext uri="{FF2B5EF4-FFF2-40B4-BE49-F238E27FC236}">
                <a16:creationId xmlns:a16="http://schemas.microsoft.com/office/drawing/2014/main" id="{3802F684-C638-42EC-9880-5DB2EDF1637D}"/>
              </a:ext>
            </a:extLst>
          </p:cNvPr>
          <p:cNvSpPr txBox="1"/>
          <p:nvPr/>
        </p:nvSpPr>
        <p:spPr>
          <a:xfrm>
            <a:off x="374751" y="1045538"/>
            <a:ext cx="11044291" cy="492443"/>
          </a:xfrm>
          <a:prstGeom prst="rect">
            <a:avLst/>
          </a:prstGeom>
          <a:noFill/>
        </p:spPr>
        <p:txBody>
          <a:bodyPr wrap="square" rtlCol="0">
            <a:spAutoFit/>
          </a:bodyPr>
          <a:lstStyle/>
          <a:p>
            <a:r>
              <a:rPr lang="es-MX" sz="2600" b="1" dirty="0">
                <a:ea typeface="Roboto" panose="02000000000000000000" pitchFamily="2" charset="0"/>
              </a:rPr>
              <a:t>Equivalencias lógicas</a:t>
            </a:r>
          </a:p>
        </p:txBody>
      </p:sp>
      <mc:AlternateContent xmlns:mc="http://schemas.openxmlformats.org/markup-compatibility/2006" xmlns:a14="http://schemas.microsoft.com/office/drawing/2010/main">
        <mc:Choice Requires="a14">
          <p:graphicFrame>
            <p:nvGraphicFramePr>
              <p:cNvPr id="5" name="Tabla 3">
                <a:extLst>
                  <a:ext uri="{FF2B5EF4-FFF2-40B4-BE49-F238E27FC236}">
                    <a16:creationId xmlns:a16="http://schemas.microsoft.com/office/drawing/2014/main" id="{7C15B9EC-F97E-4A83-99B1-4AAEAF857059}"/>
                  </a:ext>
                </a:extLst>
              </p:cNvPr>
              <p:cNvGraphicFramePr>
                <a:graphicFrameLocks noGrp="1"/>
              </p:cNvGraphicFramePr>
              <p:nvPr>
                <p:extLst>
                  <p:ext uri="{D42A27DB-BD31-4B8C-83A1-F6EECF244321}">
                    <p14:modId xmlns:p14="http://schemas.microsoft.com/office/powerpoint/2010/main" val="4148758885"/>
                  </p:ext>
                </p:extLst>
              </p:nvPr>
            </p:nvGraphicFramePr>
            <p:xfrm>
              <a:off x="4387242" y="1205183"/>
              <a:ext cx="7175492" cy="5328412"/>
            </p:xfrm>
            <a:graphic>
              <a:graphicData uri="http://schemas.openxmlformats.org/drawingml/2006/table">
                <a:tbl>
                  <a:tblPr firstRow="1" bandRow="1"/>
                  <a:tblGrid>
                    <a:gridCol w="1835341">
                      <a:extLst>
                        <a:ext uri="{9D8B030D-6E8A-4147-A177-3AD203B41FA5}">
                          <a16:colId xmlns:a16="http://schemas.microsoft.com/office/drawing/2014/main" val="2419793140"/>
                        </a:ext>
                      </a:extLst>
                    </a:gridCol>
                    <a:gridCol w="2610807">
                      <a:extLst>
                        <a:ext uri="{9D8B030D-6E8A-4147-A177-3AD203B41FA5}">
                          <a16:colId xmlns:a16="http://schemas.microsoft.com/office/drawing/2014/main" val="2761119023"/>
                        </a:ext>
                      </a:extLst>
                    </a:gridCol>
                    <a:gridCol w="2729344">
                      <a:extLst>
                        <a:ext uri="{9D8B030D-6E8A-4147-A177-3AD203B41FA5}">
                          <a16:colId xmlns:a16="http://schemas.microsoft.com/office/drawing/2014/main" val="180266477"/>
                        </a:ext>
                      </a:extLst>
                    </a:gridCol>
                  </a:tblGrid>
                  <a:tr h="298833">
                    <a:tc>
                      <a:txBody>
                        <a:bodyPr/>
                        <a:lstStyle/>
                        <a:p>
                          <a:r>
                            <a:rPr lang="es-CO" sz="1800" b="1" dirty="0">
                              <a:latin typeface="+mn-lt"/>
                              <a:ea typeface="Roboto" panose="02000000000000000000" pitchFamily="2" charset="0"/>
                            </a:rPr>
                            <a:t>Nombre</a:t>
                          </a:r>
                        </a:p>
                      </a:txBody>
                      <a:tcPr>
                        <a:solidFill>
                          <a:schemeClr val="bg2"/>
                        </a:solidFill>
                      </a:tcPr>
                    </a:tc>
                    <a:tc gridSpan="2">
                      <a:txBody>
                        <a:bodyPr/>
                        <a:lstStyle/>
                        <a:p>
                          <a:pPr algn="ctr"/>
                          <a:r>
                            <a:rPr lang="es-CO" sz="1800" b="1" dirty="0">
                              <a:latin typeface="+mn-lt"/>
                              <a:ea typeface="Roboto" panose="02000000000000000000" pitchFamily="2" charset="0"/>
                            </a:rPr>
                            <a:t>Equivalencia lógica</a:t>
                          </a:r>
                        </a:p>
                      </a:txBody>
                      <a:tcPr>
                        <a:solidFill>
                          <a:schemeClr val="bg2"/>
                        </a:solidFill>
                      </a:tcPr>
                    </a:tc>
                    <a:tc hMerge="1">
                      <a:txBody>
                        <a:bodyPr/>
                        <a:lstStyle/>
                        <a:p>
                          <a:endParaRPr lang="es-CO"/>
                        </a:p>
                      </a:txBody>
                      <a:tcPr/>
                    </a:tc>
                    <a:extLst>
                      <a:ext uri="{0D108BD9-81ED-4DB2-BD59-A6C34878D82A}">
                        <a16:rowId xmlns:a16="http://schemas.microsoft.com/office/drawing/2014/main" val="1624526593"/>
                      </a:ext>
                    </a:extLst>
                  </a:tr>
                  <a:tr h="273930">
                    <a:tc>
                      <a:txBody>
                        <a:bodyPr/>
                        <a:lstStyle/>
                        <a:p>
                          <a:r>
                            <a:rPr lang="es-CO" sz="1800" b="1" dirty="0">
                              <a:latin typeface="+mn-lt"/>
                              <a:ea typeface="Roboto" panose="02000000000000000000" pitchFamily="2" charset="0"/>
                            </a:rPr>
                            <a:t>Conmutatividad</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154515760"/>
                      </a:ext>
                    </a:extLst>
                  </a:tr>
                  <a:tr h="273930">
                    <a:tc>
                      <a:txBody>
                        <a:bodyPr/>
                        <a:lstStyle/>
                        <a:p>
                          <a:r>
                            <a:rPr lang="es-CO" sz="1800" b="1" dirty="0">
                              <a:latin typeface="+mn-lt"/>
                              <a:ea typeface="Roboto" panose="02000000000000000000" pitchFamily="2" charset="0"/>
                            </a:rPr>
                            <a:t>Asociatividad</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e>
                                </m:d>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oMath>
                            </m:oMathPara>
                          </a14:m>
                          <a:endParaRPr lang="es-CO" sz="16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e>
                                </m:d>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913743916"/>
                      </a:ext>
                    </a:extLst>
                  </a:tr>
                  <a:tr h="273930">
                    <a:tc>
                      <a:txBody>
                        <a:bodyPr/>
                        <a:lstStyle/>
                        <a:p>
                          <a:r>
                            <a:rPr lang="es-CO" sz="1800" b="1" dirty="0">
                              <a:latin typeface="+mn-lt"/>
                              <a:ea typeface="Roboto" panose="02000000000000000000" pitchFamily="2" charset="0"/>
                            </a:rPr>
                            <a:t>Distributividad</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e>
                                </m:d>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e>
                                </m:d>
                              </m:oMath>
                            </m:oMathPara>
                          </a14:m>
                          <a:endParaRPr lang="es-CO" sz="16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e>
                                </m:d>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e>
                                </m:d>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717401643"/>
                      </a:ext>
                    </a:extLst>
                  </a:tr>
                  <a:tr h="273930">
                    <a:tc>
                      <a:txBody>
                        <a:bodyPr/>
                        <a:lstStyle/>
                        <a:p>
                          <a:r>
                            <a:rPr lang="es-CO" sz="1800" b="1" dirty="0">
                              <a:latin typeface="+mn-lt"/>
                              <a:ea typeface="Roboto" panose="02000000000000000000" pitchFamily="2" charset="0"/>
                            </a:rPr>
                            <a:t>Idempotencia</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246818852"/>
                      </a:ext>
                    </a:extLst>
                  </a:tr>
                  <a:tr h="273930">
                    <a:tc>
                      <a:txBody>
                        <a:bodyPr/>
                        <a:lstStyle/>
                        <a:p>
                          <a:r>
                            <a:rPr lang="es-CO" sz="1800" b="1" dirty="0">
                              <a:latin typeface="+mn-lt"/>
                              <a:ea typeface="Roboto" panose="02000000000000000000" pitchFamily="2" charset="0"/>
                            </a:rPr>
                            <a:t>Doble negación</a:t>
                          </a:r>
                        </a:p>
                      </a:txBody>
                      <a:tcPr>
                        <a:solidFill>
                          <a:schemeClr val="bg2"/>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88149062"/>
                      </a:ext>
                    </a:extLst>
                  </a:tr>
                  <a:tr h="273930">
                    <a:tc>
                      <a:txBody>
                        <a:bodyPr/>
                        <a:lstStyle/>
                        <a:p>
                          <a:r>
                            <a:rPr lang="es-CO" sz="1800" b="1" dirty="0">
                              <a:latin typeface="+mn-lt"/>
                              <a:ea typeface="Roboto" panose="02000000000000000000" pitchFamily="2" charset="0"/>
                            </a:rPr>
                            <a:t>Leyes de Morgan</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oMath>
                            </m:oMathPara>
                          </a14:m>
                          <a:endParaRPr lang="es-CO" sz="16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113060234"/>
                      </a:ext>
                    </a:extLst>
                  </a:tr>
                  <a:tr h="273930">
                    <a:tc>
                      <a:txBody>
                        <a:bodyPr/>
                        <a:lstStyle/>
                        <a:p>
                          <a:r>
                            <a:rPr lang="es-CO" sz="1800" b="1" dirty="0">
                              <a:latin typeface="+mn-lt"/>
                              <a:ea typeface="Roboto" panose="02000000000000000000" pitchFamily="2" charset="0"/>
                            </a:rPr>
                            <a:t>Identidad</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𝑽</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𝑭</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494965197"/>
                      </a:ext>
                    </a:extLst>
                  </a:tr>
                  <a:tr h="273930">
                    <a:tc>
                      <a:txBody>
                        <a:bodyPr/>
                        <a:lstStyle/>
                        <a:p>
                          <a:r>
                            <a:rPr lang="es-CO" sz="1800" b="1" dirty="0">
                              <a:latin typeface="+mn-lt"/>
                              <a:ea typeface="Roboto" panose="02000000000000000000" pitchFamily="2" charset="0"/>
                            </a:rPr>
                            <a:t>Dominación</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𝑭</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𝑭</m:t>
                                </m:r>
                              </m:oMath>
                            </m:oMathPara>
                          </a14:m>
                          <a:endParaRPr lang="es-CO" sz="16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𝑽</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𝑽</m:t>
                                </m:r>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707485840"/>
                      </a:ext>
                    </a:extLst>
                  </a:tr>
                  <a:tr h="273930">
                    <a:tc>
                      <a:txBody>
                        <a:bodyPr/>
                        <a:lstStyle/>
                        <a:p>
                          <a:r>
                            <a:rPr lang="es-CO" sz="1800" b="1" dirty="0">
                              <a:latin typeface="+mn-lt"/>
                              <a:ea typeface="Roboto" panose="02000000000000000000" pitchFamily="2" charset="0"/>
                            </a:rPr>
                            <a:t>Absorción</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232652958"/>
                      </a:ext>
                    </a:extLst>
                  </a:tr>
                  <a:tr h="273930">
                    <a:tc>
                      <a:txBody>
                        <a:bodyPr/>
                        <a:lstStyle/>
                        <a:p>
                          <a:r>
                            <a:rPr lang="es-CO" sz="1800" b="1" dirty="0">
                              <a:latin typeface="+mn-lt"/>
                              <a:ea typeface="Roboto" panose="02000000000000000000" pitchFamily="2" charset="0"/>
                            </a:rPr>
                            <a:t>Complemento</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𝑭</m:t>
                                </m:r>
                              </m:oMath>
                            </m:oMathPara>
                          </a14:m>
                          <a:endParaRPr lang="es-CO" sz="1600" b="1"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𝑽</m:t>
                                </m:r>
                              </m:oMath>
                            </m:oMathPara>
                          </a14:m>
                          <a:endParaRPr lang="es-CO" sz="1600" b="1"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770911309"/>
                      </a:ext>
                    </a:extLst>
                  </a:tr>
                  <a:tr h="273930">
                    <a:tc>
                      <a:txBody>
                        <a:bodyPr/>
                        <a:lstStyle/>
                        <a:p>
                          <a:r>
                            <a:rPr lang="es-CO" sz="1800" b="1" dirty="0">
                              <a:latin typeface="+mn-lt"/>
                              <a:ea typeface="Roboto" panose="02000000000000000000" pitchFamily="2" charset="0"/>
                            </a:rPr>
                            <a:t>Implicación</a:t>
                          </a:r>
                        </a:p>
                      </a:txBody>
                      <a:tcPr>
                        <a:solidFill>
                          <a:schemeClr val="bg2"/>
                        </a:solidFill>
                      </a:tcPr>
                    </a:tc>
                    <a:tc gridSpan="2">
                      <a:txBody>
                        <a:bodyPr/>
                        <a:lstStyle/>
                        <a:p>
                          <a:pPr algn="ct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oMath>
                            </m:oMathPara>
                          </a14:m>
                          <a:endParaRPr lang="es-CO" sz="160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3483938044"/>
                      </a:ext>
                    </a:extLst>
                  </a:tr>
                  <a:tr h="273930">
                    <a:tc>
                      <a:txBody>
                        <a:bodyPr/>
                        <a:lstStyle/>
                        <a:p>
                          <a:r>
                            <a:rPr lang="es-CO" sz="1800" b="1" dirty="0">
                              <a:latin typeface="+mn-lt"/>
                              <a:ea typeface="Roboto" panose="02000000000000000000" pitchFamily="2" charset="0"/>
                            </a:rPr>
                            <a:t>Contrarrecíproco</a:t>
                          </a:r>
                        </a:p>
                      </a:txBody>
                      <a:tcPr>
                        <a:solidFill>
                          <a:schemeClr val="bg2"/>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3255506134"/>
                      </a:ext>
                    </a:extLst>
                  </a:tr>
                  <a:tr h="273930">
                    <a:tc>
                      <a:txBody>
                        <a:bodyPr/>
                        <a:lstStyle/>
                        <a:p>
                          <a:r>
                            <a:rPr lang="es-CO" sz="1800" b="1" dirty="0">
                              <a:latin typeface="+mn-lt"/>
                              <a:ea typeface="Roboto" panose="02000000000000000000" pitchFamily="2" charset="0"/>
                            </a:rPr>
                            <a:t>Equivalencia</a:t>
                          </a:r>
                        </a:p>
                      </a:txBody>
                      <a:tcPr>
                        <a:solidFill>
                          <a:schemeClr val="bg2"/>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e>
                                </m:d>
                              </m:oMath>
                            </m:oMathPara>
                          </a14:m>
                          <a:endParaRPr lang="es-CO" sz="160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40457137"/>
                      </a:ext>
                    </a:extLst>
                  </a:tr>
                </a:tbl>
              </a:graphicData>
            </a:graphic>
          </p:graphicFrame>
        </mc:Choice>
        <mc:Fallback xmlns="">
          <p:graphicFrame>
            <p:nvGraphicFramePr>
              <p:cNvPr id="5" name="Tabla 3">
                <a:extLst>
                  <a:ext uri="{FF2B5EF4-FFF2-40B4-BE49-F238E27FC236}">
                    <a16:creationId xmlns:a16="http://schemas.microsoft.com/office/drawing/2014/main" id="{7C15B9EC-F97E-4A83-99B1-4AAEAF857059}"/>
                  </a:ext>
                </a:extLst>
              </p:cNvPr>
              <p:cNvGraphicFramePr>
                <a:graphicFrameLocks noGrp="1"/>
              </p:cNvGraphicFramePr>
              <p:nvPr>
                <p:extLst>
                  <p:ext uri="{D42A27DB-BD31-4B8C-83A1-F6EECF244321}">
                    <p14:modId xmlns:p14="http://schemas.microsoft.com/office/powerpoint/2010/main" val="4148758885"/>
                  </p:ext>
                </p:extLst>
              </p:nvPr>
            </p:nvGraphicFramePr>
            <p:xfrm>
              <a:off x="4387242" y="1205183"/>
              <a:ext cx="7175492" cy="5328412"/>
            </p:xfrm>
            <a:graphic>
              <a:graphicData uri="http://schemas.openxmlformats.org/drawingml/2006/table">
                <a:tbl>
                  <a:tblPr firstRow="1" bandRow="1"/>
                  <a:tblGrid>
                    <a:gridCol w="1835341">
                      <a:extLst>
                        <a:ext uri="{9D8B030D-6E8A-4147-A177-3AD203B41FA5}">
                          <a16:colId xmlns:a16="http://schemas.microsoft.com/office/drawing/2014/main" val="2419793140"/>
                        </a:ext>
                      </a:extLst>
                    </a:gridCol>
                    <a:gridCol w="2610807">
                      <a:extLst>
                        <a:ext uri="{9D8B030D-6E8A-4147-A177-3AD203B41FA5}">
                          <a16:colId xmlns:a16="http://schemas.microsoft.com/office/drawing/2014/main" val="2761119023"/>
                        </a:ext>
                      </a:extLst>
                    </a:gridCol>
                    <a:gridCol w="2729344">
                      <a:extLst>
                        <a:ext uri="{9D8B030D-6E8A-4147-A177-3AD203B41FA5}">
                          <a16:colId xmlns:a16="http://schemas.microsoft.com/office/drawing/2014/main" val="180266477"/>
                        </a:ext>
                      </a:extLst>
                    </a:gridCol>
                  </a:tblGrid>
                  <a:tr h="365760">
                    <a:tc>
                      <a:txBody>
                        <a:bodyPr/>
                        <a:lstStyle/>
                        <a:p>
                          <a:r>
                            <a:rPr lang="es-CO" sz="1800" b="1" dirty="0">
                              <a:latin typeface="+mn-lt"/>
                              <a:ea typeface="Roboto" panose="02000000000000000000" pitchFamily="2" charset="0"/>
                            </a:rPr>
                            <a:t>Nombre</a:t>
                          </a:r>
                        </a:p>
                      </a:txBody>
                      <a:tcPr>
                        <a:solidFill>
                          <a:schemeClr val="bg2"/>
                        </a:solidFill>
                      </a:tcPr>
                    </a:tc>
                    <a:tc gridSpan="2">
                      <a:txBody>
                        <a:bodyPr/>
                        <a:lstStyle/>
                        <a:p>
                          <a:pPr algn="ctr"/>
                          <a:r>
                            <a:rPr lang="es-CO" sz="1800" b="1" dirty="0">
                              <a:latin typeface="+mn-lt"/>
                              <a:ea typeface="Roboto" panose="02000000000000000000" pitchFamily="2" charset="0"/>
                            </a:rPr>
                            <a:t>Equivalencia lógica</a:t>
                          </a:r>
                        </a:p>
                      </a:txBody>
                      <a:tcPr>
                        <a:solidFill>
                          <a:schemeClr val="bg2"/>
                        </a:solidFill>
                      </a:tcPr>
                    </a:tc>
                    <a:tc hMerge="1">
                      <a:txBody>
                        <a:bodyPr/>
                        <a:lstStyle/>
                        <a:p>
                          <a:endParaRPr lang="es-CO"/>
                        </a:p>
                      </a:txBody>
                      <a:tcPr/>
                    </a:tc>
                    <a:extLst>
                      <a:ext uri="{0D108BD9-81ED-4DB2-BD59-A6C34878D82A}">
                        <a16:rowId xmlns:a16="http://schemas.microsoft.com/office/drawing/2014/main" val="1624526593"/>
                      </a:ext>
                    </a:extLst>
                  </a:tr>
                  <a:tr h="365760">
                    <a:tc>
                      <a:txBody>
                        <a:bodyPr/>
                        <a:lstStyle/>
                        <a:p>
                          <a:r>
                            <a:rPr lang="es-CO" sz="1800" b="1" dirty="0">
                              <a:latin typeface="+mn-lt"/>
                              <a:ea typeface="Roboto" panose="02000000000000000000" pitchFamily="2" charset="0"/>
                            </a:rPr>
                            <a:t>Conmutatividad</a:t>
                          </a:r>
                        </a:p>
                      </a:txBody>
                      <a:tcPr>
                        <a:solidFill>
                          <a:schemeClr val="bg2"/>
                        </a:solidFill>
                      </a:tcPr>
                    </a:tc>
                    <a:tc>
                      <a:txBody>
                        <a:bodyPr/>
                        <a:lstStyle/>
                        <a:p>
                          <a:endParaRPr lang="es-CO"/>
                        </a:p>
                      </a:txBody>
                      <a:tcPr>
                        <a:blipFill>
                          <a:blip r:embed="rId3"/>
                          <a:stretch>
                            <a:fillRect l="-70396" t="-108333" r="-104895" b="-1285000"/>
                          </a:stretch>
                        </a:blipFill>
                      </a:tcPr>
                    </a:tc>
                    <a:tc>
                      <a:txBody>
                        <a:bodyPr/>
                        <a:lstStyle/>
                        <a:p>
                          <a:endParaRPr lang="es-CO"/>
                        </a:p>
                      </a:txBody>
                      <a:tcPr>
                        <a:blipFill>
                          <a:blip r:embed="rId3"/>
                          <a:stretch>
                            <a:fillRect l="-163170" t="-108333" r="-446" b="-1285000"/>
                          </a:stretch>
                        </a:blipFill>
                      </a:tcPr>
                    </a:tc>
                    <a:extLst>
                      <a:ext uri="{0D108BD9-81ED-4DB2-BD59-A6C34878D82A}">
                        <a16:rowId xmlns:a16="http://schemas.microsoft.com/office/drawing/2014/main" val="3154515760"/>
                      </a:ext>
                    </a:extLst>
                  </a:tr>
                  <a:tr h="365760">
                    <a:tc>
                      <a:txBody>
                        <a:bodyPr/>
                        <a:lstStyle/>
                        <a:p>
                          <a:r>
                            <a:rPr lang="es-CO" sz="1800" b="1" dirty="0">
                              <a:latin typeface="+mn-lt"/>
                              <a:ea typeface="Roboto" panose="02000000000000000000" pitchFamily="2" charset="0"/>
                            </a:rPr>
                            <a:t>Asociatividad</a:t>
                          </a:r>
                        </a:p>
                      </a:txBody>
                      <a:tcPr>
                        <a:solidFill>
                          <a:schemeClr val="bg2"/>
                        </a:solidFill>
                      </a:tcPr>
                    </a:tc>
                    <a:tc>
                      <a:txBody>
                        <a:bodyPr/>
                        <a:lstStyle/>
                        <a:p>
                          <a:endParaRPr lang="es-CO"/>
                        </a:p>
                      </a:txBody>
                      <a:tcPr>
                        <a:blipFill>
                          <a:blip r:embed="rId3"/>
                          <a:stretch>
                            <a:fillRect l="-70396" t="-208333" r="-104895" b="-1185000"/>
                          </a:stretch>
                        </a:blipFill>
                      </a:tcPr>
                    </a:tc>
                    <a:tc>
                      <a:txBody>
                        <a:bodyPr/>
                        <a:lstStyle/>
                        <a:p>
                          <a:endParaRPr lang="es-CO"/>
                        </a:p>
                      </a:txBody>
                      <a:tcPr>
                        <a:blipFill>
                          <a:blip r:embed="rId3"/>
                          <a:stretch>
                            <a:fillRect l="-163170" t="-208333" r="-446" b="-1185000"/>
                          </a:stretch>
                        </a:blipFill>
                      </a:tcPr>
                    </a:tc>
                    <a:extLst>
                      <a:ext uri="{0D108BD9-81ED-4DB2-BD59-A6C34878D82A}">
                        <a16:rowId xmlns:a16="http://schemas.microsoft.com/office/drawing/2014/main" val="1913743916"/>
                      </a:ext>
                    </a:extLst>
                  </a:tr>
                  <a:tr h="573532">
                    <a:tc>
                      <a:txBody>
                        <a:bodyPr/>
                        <a:lstStyle/>
                        <a:p>
                          <a:r>
                            <a:rPr lang="es-CO" sz="1800" b="1" dirty="0">
                              <a:latin typeface="+mn-lt"/>
                              <a:ea typeface="Roboto" panose="02000000000000000000" pitchFamily="2" charset="0"/>
                            </a:rPr>
                            <a:t>Distributividad</a:t>
                          </a:r>
                        </a:p>
                      </a:txBody>
                      <a:tcPr>
                        <a:solidFill>
                          <a:schemeClr val="bg2"/>
                        </a:solidFill>
                      </a:tcPr>
                    </a:tc>
                    <a:tc>
                      <a:txBody>
                        <a:bodyPr/>
                        <a:lstStyle/>
                        <a:p>
                          <a:endParaRPr lang="es-CO"/>
                        </a:p>
                      </a:txBody>
                      <a:tcPr>
                        <a:blipFill>
                          <a:blip r:embed="rId3"/>
                          <a:stretch>
                            <a:fillRect l="-70396" t="-196809" r="-104895" b="-656383"/>
                          </a:stretch>
                        </a:blipFill>
                      </a:tcPr>
                    </a:tc>
                    <a:tc>
                      <a:txBody>
                        <a:bodyPr/>
                        <a:lstStyle/>
                        <a:p>
                          <a:endParaRPr lang="es-CO"/>
                        </a:p>
                      </a:txBody>
                      <a:tcPr>
                        <a:blipFill>
                          <a:blip r:embed="rId3"/>
                          <a:stretch>
                            <a:fillRect l="-163170" t="-196809" r="-446" b="-656383"/>
                          </a:stretch>
                        </a:blipFill>
                      </a:tcPr>
                    </a:tc>
                    <a:extLst>
                      <a:ext uri="{0D108BD9-81ED-4DB2-BD59-A6C34878D82A}">
                        <a16:rowId xmlns:a16="http://schemas.microsoft.com/office/drawing/2014/main" val="717401643"/>
                      </a:ext>
                    </a:extLst>
                  </a:tr>
                  <a:tr h="365760">
                    <a:tc>
                      <a:txBody>
                        <a:bodyPr/>
                        <a:lstStyle/>
                        <a:p>
                          <a:r>
                            <a:rPr lang="es-CO" sz="1800" b="1" dirty="0">
                              <a:latin typeface="+mn-lt"/>
                              <a:ea typeface="Roboto" panose="02000000000000000000" pitchFamily="2" charset="0"/>
                            </a:rPr>
                            <a:t>Idempotencia</a:t>
                          </a:r>
                        </a:p>
                      </a:txBody>
                      <a:tcPr>
                        <a:solidFill>
                          <a:schemeClr val="bg2"/>
                        </a:solidFill>
                      </a:tcPr>
                    </a:tc>
                    <a:tc>
                      <a:txBody>
                        <a:bodyPr/>
                        <a:lstStyle/>
                        <a:p>
                          <a:endParaRPr lang="es-CO"/>
                        </a:p>
                      </a:txBody>
                      <a:tcPr>
                        <a:blipFill>
                          <a:blip r:embed="rId3"/>
                          <a:stretch>
                            <a:fillRect l="-70396" t="-465000" r="-104895" b="-928333"/>
                          </a:stretch>
                        </a:blipFill>
                      </a:tcPr>
                    </a:tc>
                    <a:tc>
                      <a:txBody>
                        <a:bodyPr/>
                        <a:lstStyle/>
                        <a:p>
                          <a:endParaRPr lang="es-CO"/>
                        </a:p>
                      </a:txBody>
                      <a:tcPr>
                        <a:blipFill>
                          <a:blip r:embed="rId3"/>
                          <a:stretch>
                            <a:fillRect l="-163170" t="-465000" r="-446" b="-928333"/>
                          </a:stretch>
                        </a:blipFill>
                      </a:tcPr>
                    </a:tc>
                    <a:extLst>
                      <a:ext uri="{0D108BD9-81ED-4DB2-BD59-A6C34878D82A}">
                        <a16:rowId xmlns:a16="http://schemas.microsoft.com/office/drawing/2014/main" val="2246818852"/>
                      </a:ext>
                    </a:extLst>
                  </a:tr>
                  <a:tr h="365760">
                    <a:tc>
                      <a:txBody>
                        <a:bodyPr/>
                        <a:lstStyle/>
                        <a:p>
                          <a:r>
                            <a:rPr lang="es-CO" sz="1800" b="1" dirty="0">
                              <a:latin typeface="+mn-lt"/>
                              <a:ea typeface="Roboto" panose="02000000000000000000" pitchFamily="2" charset="0"/>
                            </a:rPr>
                            <a:t>Doble negación</a:t>
                          </a:r>
                        </a:p>
                      </a:txBody>
                      <a:tcPr>
                        <a:solidFill>
                          <a:schemeClr val="bg2"/>
                        </a:solidFill>
                      </a:tcPr>
                    </a:tc>
                    <a:tc gridSpan="2">
                      <a:txBody>
                        <a:bodyPr/>
                        <a:lstStyle/>
                        <a:p>
                          <a:endParaRPr lang="es-CO"/>
                        </a:p>
                      </a:txBody>
                      <a:tcPr>
                        <a:blipFill>
                          <a:blip r:embed="rId3"/>
                          <a:stretch>
                            <a:fillRect l="-34436" t="-565000" r="-228" b="-828333"/>
                          </a:stretch>
                        </a:blipFill>
                      </a:tcPr>
                    </a:tc>
                    <a:tc hMerge="1">
                      <a:txBody>
                        <a:bodyPr/>
                        <a:lstStyle/>
                        <a:p>
                          <a:endParaRPr lang="es-CO"/>
                        </a:p>
                      </a:txBody>
                      <a:tcPr/>
                    </a:tc>
                    <a:extLst>
                      <a:ext uri="{0D108BD9-81ED-4DB2-BD59-A6C34878D82A}">
                        <a16:rowId xmlns:a16="http://schemas.microsoft.com/office/drawing/2014/main" val="88149062"/>
                      </a:ext>
                    </a:extLst>
                  </a:tr>
                  <a:tr h="365760">
                    <a:tc>
                      <a:txBody>
                        <a:bodyPr/>
                        <a:lstStyle/>
                        <a:p>
                          <a:r>
                            <a:rPr lang="es-CO" sz="1800" b="1" dirty="0">
                              <a:latin typeface="+mn-lt"/>
                              <a:ea typeface="Roboto" panose="02000000000000000000" pitchFamily="2" charset="0"/>
                            </a:rPr>
                            <a:t>Leyes de Morgan</a:t>
                          </a:r>
                        </a:p>
                      </a:txBody>
                      <a:tcPr>
                        <a:solidFill>
                          <a:schemeClr val="bg2"/>
                        </a:solidFill>
                      </a:tcPr>
                    </a:tc>
                    <a:tc>
                      <a:txBody>
                        <a:bodyPr/>
                        <a:lstStyle/>
                        <a:p>
                          <a:endParaRPr lang="es-CO"/>
                        </a:p>
                      </a:txBody>
                      <a:tcPr>
                        <a:blipFill>
                          <a:blip r:embed="rId3"/>
                          <a:stretch>
                            <a:fillRect l="-70396" t="-654098" r="-104895" b="-714754"/>
                          </a:stretch>
                        </a:blipFill>
                      </a:tcPr>
                    </a:tc>
                    <a:tc>
                      <a:txBody>
                        <a:bodyPr/>
                        <a:lstStyle/>
                        <a:p>
                          <a:endParaRPr lang="es-CO"/>
                        </a:p>
                      </a:txBody>
                      <a:tcPr>
                        <a:blipFill>
                          <a:blip r:embed="rId3"/>
                          <a:stretch>
                            <a:fillRect l="-163170" t="-654098" r="-446" b="-714754"/>
                          </a:stretch>
                        </a:blipFill>
                      </a:tcPr>
                    </a:tc>
                    <a:extLst>
                      <a:ext uri="{0D108BD9-81ED-4DB2-BD59-A6C34878D82A}">
                        <a16:rowId xmlns:a16="http://schemas.microsoft.com/office/drawing/2014/main" val="2113060234"/>
                      </a:ext>
                    </a:extLst>
                  </a:tr>
                  <a:tr h="365760">
                    <a:tc>
                      <a:txBody>
                        <a:bodyPr/>
                        <a:lstStyle/>
                        <a:p>
                          <a:r>
                            <a:rPr lang="es-CO" sz="1800" b="1" dirty="0">
                              <a:latin typeface="+mn-lt"/>
                              <a:ea typeface="Roboto" panose="02000000000000000000" pitchFamily="2" charset="0"/>
                            </a:rPr>
                            <a:t>Identidad</a:t>
                          </a:r>
                        </a:p>
                      </a:txBody>
                      <a:tcPr>
                        <a:solidFill>
                          <a:schemeClr val="bg2"/>
                        </a:solidFill>
                      </a:tcPr>
                    </a:tc>
                    <a:tc>
                      <a:txBody>
                        <a:bodyPr/>
                        <a:lstStyle/>
                        <a:p>
                          <a:endParaRPr lang="es-CO"/>
                        </a:p>
                      </a:txBody>
                      <a:tcPr>
                        <a:blipFill>
                          <a:blip r:embed="rId3"/>
                          <a:stretch>
                            <a:fillRect l="-70396" t="-766667" r="-104895" b="-626667"/>
                          </a:stretch>
                        </a:blipFill>
                      </a:tcPr>
                    </a:tc>
                    <a:tc>
                      <a:txBody>
                        <a:bodyPr/>
                        <a:lstStyle/>
                        <a:p>
                          <a:endParaRPr lang="es-CO"/>
                        </a:p>
                      </a:txBody>
                      <a:tcPr>
                        <a:blipFill>
                          <a:blip r:embed="rId3"/>
                          <a:stretch>
                            <a:fillRect l="-163170" t="-766667" r="-446" b="-626667"/>
                          </a:stretch>
                        </a:blipFill>
                      </a:tcPr>
                    </a:tc>
                    <a:extLst>
                      <a:ext uri="{0D108BD9-81ED-4DB2-BD59-A6C34878D82A}">
                        <a16:rowId xmlns:a16="http://schemas.microsoft.com/office/drawing/2014/main" val="2494965197"/>
                      </a:ext>
                    </a:extLst>
                  </a:tr>
                  <a:tr h="365760">
                    <a:tc>
                      <a:txBody>
                        <a:bodyPr/>
                        <a:lstStyle/>
                        <a:p>
                          <a:r>
                            <a:rPr lang="es-CO" sz="1800" b="1" dirty="0">
                              <a:latin typeface="+mn-lt"/>
                              <a:ea typeface="Roboto" panose="02000000000000000000" pitchFamily="2" charset="0"/>
                            </a:rPr>
                            <a:t>Dominación</a:t>
                          </a:r>
                        </a:p>
                      </a:txBody>
                      <a:tcPr>
                        <a:solidFill>
                          <a:schemeClr val="bg2"/>
                        </a:solidFill>
                      </a:tcPr>
                    </a:tc>
                    <a:tc>
                      <a:txBody>
                        <a:bodyPr/>
                        <a:lstStyle/>
                        <a:p>
                          <a:endParaRPr lang="es-CO"/>
                        </a:p>
                      </a:txBody>
                      <a:tcPr>
                        <a:blipFill>
                          <a:blip r:embed="rId3"/>
                          <a:stretch>
                            <a:fillRect l="-70396" t="-866667" r="-104895" b="-526667"/>
                          </a:stretch>
                        </a:blipFill>
                      </a:tcPr>
                    </a:tc>
                    <a:tc>
                      <a:txBody>
                        <a:bodyPr/>
                        <a:lstStyle/>
                        <a:p>
                          <a:endParaRPr lang="es-CO"/>
                        </a:p>
                      </a:txBody>
                      <a:tcPr>
                        <a:blipFill>
                          <a:blip r:embed="rId3"/>
                          <a:stretch>
                            <a:fillRect l="-163170" t="-866667" r="-446" b="-526667"/>
                          </a:stretch>
                        </a:blipFill>
                      </a:tcPr>
                    </a:tc>
                    <a:extLst>
                      <a:ext uri="{0D108BD9-81ED-4DB2-BD59-A6C34878D82A}">
                        <a16:rowId xmlns:a16="http://schemas.microsoft.com/office/drawing/2014/main" val="707485840"/>
                      </a:ext>
                    </a:extLst>
                  </a:tr>
                  <a:tr h="365760">
                    <a:tc>
                      <a:txBody>
                        <a:bodyPr/>
                        <a:lstStyle/>
                        <a:p>
                          <a:r>
                            <a:rPr lang="es-CO" sz="1800" b="1" dirty="0">
                              <a:latin typeface="+mn-lt"/>
                              <a:ea typeface="Roboto" panose="02000000000000000000" pitchFamily="2" charset="0"/>
                            </a:rPr>
                            <a:t>Absorción</a:t>
                          </a:r>
                        </a:p>
                      </a:txBody>
                      <a:tcPr>
                        <a:solidFill>
                          <a:schemeClr val="bg2"/>
                        </a:solidFill>
                      </a:tcPr>
                    </a:tc>
                    <a:tc>
                      <a:txBody>
                        <a:bodyPr/>
                        <a:lstStyle/>
                        <a:p>
                          <a:endParaRPr lang="es-CO"/>
                        </a:p>
                      </a:txBody>
                      <a:tcPr>
                        <a:blipFill>
                          <a:blip r:embed="rId3"/>
                          <a:stretch>
                            <a:fillRect l="-70396" t="-966667" r="-104895" b="-426667"/>
                          </a:stretch>
                        </a:blipFill>
                      </a:tcPr>
                    </a:tc>
                    <a:tc>
                      <a:txBody>
                        <a:bodyPr/>
                        <a:lstStyle/>
                        <a:p>
                          <a:endParaRPr lang="es-CO"/>
                        </a:p>
                      </a:txBody>
                      <a:tcPr>
                        <a:blipFill>
                          <a:blip r:embed="rId3"/>
                          <a:stretch>
                            <a:fillRect l="-163170" t="-966667" r="-446" b="-426667"/>
                          </a:stretch>
                        </a:blipFill>
                      </a:tcPr>
                    </a:tc>
                    <a:extLst>
                      <a:ext uri="{0D108BD9-81ED-4DB2-BD59-A6C34878D82A}">
                        <a16:rowId xmlns:a16="http://schemas.microsoft.com/office/drawing/2014/main" val="1232652958"/>
                      </a:ext>
                    </a:extLst>
                  </a:tr>
                  <a:tr h="365760">
                    <a:tc>
                      <a:txBody>
                        <a:bodyPr/>
                        <a:lstStyle/>
                        <a:p>
                          <a:r>
                            <a:rPr lang="es-CO" sz="1800" b="1" dirty="0">
                              <a:latin typeface="+mn-lt"/>
                              <a:ea typeface="Roboto" panose="02000000000000000000" pitchFamily="2" charset="0"/>
                            </a:rPr>
                            <a:t>Complemento</a:t>
                          </a:r>
                        </a:p>
                      </a:txBody>
                      <a:tcPr>
                        <a:solidFill>
                          <a:schemeClr val="bg2"/>
                        </a:solidFill>
                      </a:tcPr>
                    </a:tc>
                    <a:tc>
                      <a:txBody>
                        <a:bodyPr/>
                        <a:lstStyle/>
                        <a:p>
                          <a:endParaRPr lang="es-CO"/>
                        </a:p>
                      </a:txBody>
                      <a:tcPr>
                        <a:blipFill>
                          <a:blip r:embed="rId3"/>
                          <a:stretch>
                            <a:fillRect l="-70396" t="-1066667" r="-104895" b="-326667"/>
                          </a:stretch>
                        </a:blipFill>
                      </a:tcPr>
                    </a:tc>
                    <a:tc>
                      <a:txBody>
                        <a:bodyPr/>
                        <a:lstStyle/>
                        <a:p>
                          <a:endParaRPr lang="es-CO"/>
                        </a:p>
                      </a:txBody>
                      <a:tcPr>
                        <a:blipFill>
                          <a:blip r:embed="rId3"/>
                          <a:stretch>
                            <a:fillRect l="-163170" t="-1066667" r="-446" b="-326667"/>
                          </a:stretch>
                        </a:blipFill>
                      </a:tcPr>
                    </a:tc>
                    <a:extLst>
                      <a:ext uri="{0D108BD9-81ED-4DB2-BD59-A6C34878D82A}">
                        <a16:rowId xmlns:a16="http://schemas.microsoft.com/office/drawing/2014/main" val="3770911309"/>
                      </a:ext>
                    </a:extLst>
                  </a:tr>
                  <a:tr h="365760">
                    <a:tc>
                      <a:txBody>
                        <a:bodyPr/>
                        <a:lstStyle/>
                        <a:p>
                          <a:r>
                            <a:rPr lang="es-CO" sz="1800" b="1" dirty="0">
                              <a:latin typeface="+mn-lt"/>
                              <a:ea typeface="Roboto" panose="02000000000000000000" pitchFamily="2" charset="0"/>
                            </a:rPr>
                            <a:t>Implicación</a:t>
                          </a:r>
                        </a:p>
                      </a:txBody>
                      <a:tcPr>
                        <a:solidFill>
                          <a:schemeClr val="bg2"/>
                        </a:solidFill>
                      </a:tcPr>
                    </a:tc>
                    <a:tc gridSpan="2">
                      <a:txBody>
                        <a:bodyPr/>
                        <a:lstStyle/>
                        <a:p>
                          <a:endParaRPr lang="es-CO"/>
                        </a:p>
                      </a:txBody>
                      <a:tcPr>
                        <a:blipFill>
                          <a:blip r:embed="rId3"/>
                          <a:stretch>
                            <a:fillRect l="-34436" t="-1166667" r="-228" b="-226667"/>
                          </a:stretch>
                        </a:blipFill>
                      </a:tcPr>
                    </a:tc>
                    <a:tc hMerge="1">
                      <a:txBody>
                        <a:bodyPr/>
                        <a:lstStyle/>
                        <a:p>
                          <a:endParaRPr lang="es-CO"/>
                        </a:p>
                      </a:txBody>
                      <a:tcPr/>
                    </a:tc>
                    <a:extLst>
                      <a:ext uri="{0D108BD9-81ED-4DB2-BD59-A6C34878D82A}">
                        <a16:rowId xmlns:a16="http://schemas.microsoft.com/office/drawing/2014/main" val="3483938044"/>
                      </a:ext>
                    </a:extLst>
                  </a:tr>
                  <a:tr h="365760">
                    <a:tc>
                      <a:txBody>
                        <a:bodyPr/>
                        <a:lstStyle/>
                        <a:p>
                          <a:r>
                            <a:rPr lang="es-CO" sz="1800" b="1" dirty="0">
                              <a:latin typeface="+mn-lt"/>
                              <a:ea typeface="Roboto" panose="02000000000000000000" pitchFamily="2" charset="0"/>
                            </a:rPr>
                            <a:t>Contrarrecíproco</a:t>
                          </a:r>
                        </a:p>
                      </a:txBody>
                      <a:tcPr>
                        <a:solidFill>
                          <a:schemeClr val="bg2"/>
                        </a:solidFill>
                      </a:tcPr>
                    </a:tc>
                    <a:tc gridSpan="2">
                      <a:txBody>
                        <a:bodyPr/>
                        <a:lstStyle/>
                        <a:p>
                          <a:endParaRPr lang="es-CO"/>
                        </a:p>
                      </a:txBody>
                      <a:tcPr>
                        <a:blipFill>
                          <a:blip r:embed="rId3"/>
                          <a:stretch>
                            <a:fillRect l="-34436" t="-1266667" r="-228" b="-126667"/>
                          </a:stretch>
                        </a:blipFill>
                      </a:tcPr>
                    </a:tc>
                    <a:tc hMerge="1">
                      <a:txBody>
                        <a:bodyPr/>
                        <a:lstStyle/>
                        <a:p>
                          <a:endParaRPr lang="es-CO"/>
                        </a:p>
                      </a:txBody>
                      <a:tcPr/>
                    </a:tc>
                    <a:extLst>
                      <a:ext uri="{0D108BD9-81ED-4DB2-BD59-A6C34878D82A}">
                        <a16:rowId xmlns:a16="http://schemas.microsoft.com/office/drawing/2014/main" val="3255506134"/>
                      </a:ext>
                    </a:extLst>
                  </a:tr>
                  <a:tr h="365760">
                    <a:tc>
                      <a:txBody>
                        <a:bodyPr/>
                        <a:lstStyle/>
                        <a:p>
                          <a:r>
                            <a:rPr lang="es-CO" sz="1800" b="1" dirty="0">
                              <a:latin typeface="+mn-lt"/>
                              <a:ea typeface="Roboto" panose="02000000000000000000" pitchFamily="2" charset="0"/>
                            </a:rPr>
                            <a:t>Equivalencia</a:t>
                          </a:r>
                        </a:p>
                      </a:txBody>
                      <a:tcPr>
                        <a:solidFill>
                          <a:schemeClr val="bg2"/>
                        </a:solidFill>
                      </a:tcPr>
                    </a:tc>
                    <a:tc gridSpan="2">
                      <a:txBody>
                        <a:bodyPr/>
                        <a:lstStyle/>
                        <a:p>
                          <a:endParaRPr lang="es-CO"/>
                        </a:p>
                      </a:txBody>
                      <a:tcPr>
                        <a:blipFill>
                          <a:blip r:embed="rId3"/>
                          <a:stretch>
                            <a:fillRect l="-34436" t="-1366667" r="-228" b="-26667"/>
                          </a:stretch>
                        </a:blipFill>
                      </a:tcPr>
                    </a:tc>
                    <a:tc hMerge="1">
                      <a:txBody>
                        <a:bodyPr/>
                        <a:lstStyle/>
                        <a:p>
                          <a:endParaRPr lang="es-CO"/>
                        </a:p>
                      </a:txBody>
                      <a:tcPr/>
                    </a:tc>
                    <a:extLst>
                      <a:ext uri="{0D108BD9-81ED-4DB2-BD59-A6C34878D82A}">
                        <a16:rowId xmlns:a16="http://schemas.microsoft.com/office/drawing/2014/main" val="40457137"/>
                      </a:ext>
                    </a:extLst>
                  </a:tr>
                </a:tbl>
              </a:graphicData>
            </a:graphic>
          </p:graphicFrame>
        </mc:Fallback>
      </mc:AlternateContent>
    </p:spTree>
    <p:extLst>
      <p:ext uri="{BB962C8B-B14F-4D97-AF65-F5344CB8AC3E}">
        <p14:creationId xmlns:p14="http://schemas.microsoft.com/office/powerpoint/2010/main" val="26224901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377371" y="96038"/>
            <a:ext cx="11450835" cy="949500"/>
          </a:xfrm>
        </p:spPr>
        <p:txBody>
          <a:bodyPr/>
          <a:lstStyle/>
          <a:p>
            <a:r>
              <a:rPr lang="es-ES" dirty="0">
                <a:solidFill>
                  <a:schemeClr val="tx1"/>
                </a:solidFill>
                <a:latin typeface="+mj-lt"/>
              </a:rPr>
              <a:t>Validación de argumentos – Enfoque axiomático</a:t>
            </a:r>
            <a:endParaRPr lang="es-CO" dirty="0">
              <a:solidFill>
                <a:schemeClr val="tx1"/>
              </a:solidFill>
            </a:endParaRPr>
          </a:p>
        </p:txBody>
      </p:sp>
      <p:sp>
        <p:nvSpPr>
          <p:cNvPr id="7" name="CuadroTexto 6">
            <a:extLst>
              <a:ext uri="{FF2B5EF4-FFF2-40B4-BE49-F238E27FC236}">
                <a16:creationId xmlns:a16="http://schemas.microsoft.com/office/drawing/2014/main" id="{3802F684-C638-42EC-9880-5DB2EDF1637D}"/>
              </a:ext>
            </a:extLst>
          </p:cNvPr>
          <p:cNvSpPr txBox="1"/>
          <p:nvPr/>
        </p:nvSpPr>
        <p:spPr>
          <a:xfrm>
            <a:off x="377371" y="826663"/>
            <a:ext cx="11044291" cy="492443"/>
          </a:xfrm>
          <a:prstGeom prst="rect">
            <a:avLst/>
          </a:prstGeom>
          <a:noFill/>
        </p:spPr>
        <p:txBody>
          <a:bodyPr wrap="square" rtlCol="0">
            <a:spAutoFit/>
          </a:bodyPr>
          <a:lstStyle/>
          <a:p>
            <a:r>
              <a:rPr lang="es-MX" sz="2600" b="1" dirty="0">
                <a:ea typeface="Roboto" panose="02000000000000000000" pitchFamily="2" charset="0"/>
              </a:rPr>
              <a:t>Tabla de reglas de inferencia</a:t>
            </a:r>
          </a:p>
        </p:txBody>
      </p:sp>
      <mc:AlternateContent xmlns:mc="http://schemas.openxmlformats.org/markup-compatibility/2006" xmlns:a14="http://schemas.microsoft.com/office/drawing/2010/main">
        <mc:Choice Requires="a14">
          <p:graphicFrame>
            <p:nvGraphicFramePr>
              <p:cNvPr id="5" name="Tabla 4">
                <a:extLst>
                  <a:ext uri="{FF2B5EF4-FFF2-40B4-BE49-F238E27FC236}">
                    <a16:creationId xmlns:a16="http://schemas.microsoft.com/office/drawing/2014/main" id="{EFFAE407-8F8B-40B9-BA7A-55ACE6E6E15C}"/>
                  </a:ext>
                </a:extLst>
              </p:cNvPr>
              <p:cNvGraphicFramePr>
                <a:graphicFrameLocks noGrp="1"/>
              </p:cNvGraphicFramePr>
              <p:nvPr>
                <p:extLst>
                  <p:ext uri="{D42A27DB-BD31-4B8C-83A1-F6EECF244321}">
                    <p14:modId xmlns:p14="http://schemas.microsoft.com/office/powerpoint/2010/main" val="36386107"/>
                  </p:ext>
                </p:extLst>
              </p:nvPr>
            </p:nvGraphicFramePr>
            <p:xfrm>
              <a:off x="454027" y="1449735"/>
              <a:ext cx="11297522" cy="5140264"/>
            </p:xfrm>
            <a:graphic>
              <a:graphicData uri="http://schemas.openxmlformats.org/drawingml/2006/table">
                <a:tbl>
                  <a:tblPr firstRow="1" bandRow="1">
                    <a:tableStyleId>{AD6A3598-7CB8-4345-8D95-17CE05F158A0}</a:tableStyleId>
                  </a:tblPr>
                  <a:tblGrid>
                    <a:gridCol w="2793087">
                      <a:extLst>
                        <a:ext uri="{9D8B030D-6E8A-4147-A177-3AD203B41FA5}">
                          <a16:colId xmlns:a16="http://schemas.microsoft.com/office/drawing/2014/main" val="3517824357"/>
                        </a:ext>
                      </a:extLst>
                    </a:gridCol>
                    <a:gridCol w="2902858">
                      <a:extLst>
                        <a:ext uri="{9D8B030D-6E8A-4147-A177-3AD203B41FA5}">
                          <a16:colId xmlns:a16="http://schemas.microsoft.com/office/drawing/2014/main" val="2212776800"/>
                        </a:ext>
                      </a:extLst>
                    </a:gridCol>
                    <a:gridCol w="3130497">
                      <a:extLst>
                        <a:ext uri="{9D8B030D-6E8A-4147-A177-3AD203B41FA5}">
                          <a16:colId xmlns:a16="http://schemas.microsoft.com/office/drawing/2014/main" val="3724117940"/>
                        </a:ext>
                      </a:extLst>
                    </a:gridCol>
                    <a:gridCol w="2471080">
                      <a:extLst>
                        <a:ext uri="{9D8B030D-6E8A-4147-A177-3AD203B41FA5}">
                          <a16:colId xmlns:a16="http://schemas.microsoft.com/office/drawing/2014/main" val="333003826"/>
                        </a:ext>
                      </a:extLst>
                    </a:gridCol>
                  </a:tblGrid>
                  <a:tr h="0">
                    <a:tc>
                      <a:txBody>
                        <a:bodyPr/>
                        <a:lstStyle/>
                        <a:p>
                          <a:r>
                            <a:rPr lang="es-CO" sz="2000" b="1" dirty="0">
                              <a:latin typeface="Roboto" panose="02000000000000000000" pitchFamily="2" charset="0"/>
                              <a:ea typeface="Roboto" panose="02000000000000000000" pitchFamily="2" charset="0"/>
                            </a:rPr>
                            <a:t>Nombre</a:t>
                          </a:r>
                        </a:p>
                      </a:txBody>
                      <a:tcPr>
                        <a:solidFill>
                          <a:schemeClr val="bg1">
                            <a:lumMod val="95000"/>
                          </a:schemeClr>
                        </a:solidFill>
                      </a:tcPr>
                    </a:tc>
                    <a:tc>
                      <a:txBody>
                        <a:bodyPr/>
                        <a:lstStyle/>
                        <a:p>
                          <a:r>
                            <a:rPr lang="es-CO" sz="2000" b="1" dirty="0">
                              <a:latin typeface="Roboto" panose="02000000000000000000" pitchFamily="2" charset="0"/>
                              <a:ea typeface="Roboto" panose="02000000000000000000" pitchFamily="2" charset="0"/>
                            </a:rPr>
                            <a:t>Regla de inferencia</a:t>
                          </a:r>
                        </a:p>
                      </a:txBody>
                      <a:tcPr>
                        <a:solidFill>
                          <a:schemeClr val="bg1">
                            <a:lumMod val="95000"/>
                          </a:schemeClr>
                        </a:solidFill>
                      </a:tcPr>
                    </a:tc>
                    <a:tc>
                      <a:txBody>
                        <a:bodyPr/>
                        <a:lstStyle/>
                        <a:p>
                          <a:r>
                            <a:rPr lang="es-CO" sz="2000" b="1" dirty="0">
                              <a:latin typeface="Roboto" panose="02000000000000000000" pitchFamily="2" charset="0"/>
                              <a:ea typeface="Roboto" panose="02000000000000000000" pitchFamily="2" charset="0"/>
                            </a:rPr>
                            <a:t>Nombre</a:t>
                          </a:r>
                        </a:p>
                      </a:txBody>
                      <a:tcPr>
                        <a:solidFill>
                          <a:schemeClr val="bg1">
                            <a:lumMod val="95000"/>
                          </a:schemeClr>
                        </a:solidFill>
                      </a:tcPr>
                    </a:tc>
                    <a:tc>
                      <a:txBody>
                        <a:bodyPr/>
                        <a:lstStyle/>
                        <a:p>
                          <a:r>
                            <a:rPr lang="es-CO" sz="2000" b="1" dirty="0">
                              <a:latin typeface="Roboto" panose="02000000000000000000" pitchFamily="2" charset="0"/>
                              <a:ea typeface="Roboto" panose="02000000000000000000" pitchFamily="2" charset="0"/>
                            </a:rPr>
                            <a:t>Regla de inferencia</a:t>
                          </a:r>
                        </a:p>
                      </a:txBody>
                      <a:tcPr>
                        <a:solidFill>
                          <a:schemeClr val="bg1">
                            <a:lumMod val="95000"/>
                          </a:schemeClr>
                        </a:solidFill>
                      </a:tcPr>
                    </a:tc>
                    <a:extLst>
                      <a:ext uri="{0D108BD9-81ED-4DB2-BD59-A6C34878D82A}">
                        <a16:rowId xmlns:a16="http://schemas.microsoft.com/office/drawing/2014/main" val="3873507432"/>
                      </a:ext>
                    </a:extLst>
                  </a:tr>
                  <a:tr h="243775">
                    <a:tc>
                      <a:txBody>
                        <a:bodyPr/>
                        <a:lstStyle/>
                        <a:p>
                          <a:r>
                            <a:rPr lang="es-CO" sz="2000" dirty="0">
                              <a:latin typeface="Roboto" panose="02000000000000000000" pitchFamily="2" charset="0"/>
                              <a:ea typeface="Roboto" panose="02000000000000000000" pitchFamily="2" charset="0"/>
                            </a:rPr>
                            <a:t>Modus Ponens</a:t>
                          </a:r>
                        </a:p>
                      </a:txBody>
                      <a:tcPr anchor="ctr"/>
                    </a:tc>
                    <a:tc>
                      <a:txBody>
                        <a:bodyPr/>
                        <a:lstStyle/>
                        <a:p>
                          <a:pPr lvl="0" algn="ctr"/>
                          <a14:m>
                            <m:oMathPara xmlns:m="http://schemas.openxmlformats.org/officeDocument/2006/math">
                              <m:oMathParaPr>
                                <m:jc m:val="center"/>
                              </m:oMathParaPr>
                              <m:oMath xmlns:m="http://schemas.openxmlformats.org/officeDocument/2006/math">
                                <m:f>
                                  <m:fPr>
                                    <m:ctrlPr>
                                      <a:rPr lang="es-MX" sz="20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2000" b="0" i="1" smtClean="0">
                                            <a:latin typeface="Cambria Math" panose="02040503050406030204" pitchFamily="18" charset="0"/>
                                            <a:ea typeface="Roboto" panose="02000000000000000000" pitchFamily="2" charset="0"/>
                                          </a:rPr>
                                        </m:ctrlPr>
                                      </m:mPr>
                                      <m:mr>
                                        <m:e>
                                          <m:r>
                                            <m:rPr>
                                              <m:brk m:alnAt="7"/>
                                            </m:rP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𝑞</m:t>
                                          </m:r>
                                        </m:e>
                                      </m:mr>
                                      <m:mr>
                                        <m:e>
                                          <m: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Roboto" panose="02000000000000000000" pitchFamily="2" charset="0"/>
                                            </a:rPr>
                                            <m:t>         </m:t>
                                          </m:r>
                                        </m:e>
                                      </m:mr>
                                    </m:m>
                                  </m:num>
                                  <m:den>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𝑞</m:t>
                                    </m:r>
                                    <m:r>
                                      <a:rPr lang="es-MX" sz="2000" b="0" i="1" smtClean="0">
                                        <a:latin typeface="Cambria Math" panose="02040503050406030204" pitchFamily="18" charset="0"/>
                                        <a:ea typeface="Roboto" panose="02000000000000000000" pitchFamily="2" charset="0"/>
                                      </a:rPr>
                                      <m:t>         </m:t>
                                    </m:r>
                                  </m:den>
                                </m:f>
                              </m:oMath>
                            </m:oMathPara>
                          </a14:m>
                          <a:endParaRPr lang="es-CO" sz="2000" dirty="0">
                            <a:latin typeface="Roboto" panose="02000000000000000000" pitchFamily="2" charset="0"/>
                            <a:ea typeface="Roboto" panose="02000000000000000000" pitchFamily="2" charset="0"/>
                          </a:endParaRPr>
                        </a:p>
                      </a:txBody>
                      <a:tcPr/>
                    </a:tc>
                    <a:tc>
                      <a:txBody>
                        <a:bodyPr/>
                        <a:lstStyle/>
                        <a:p>
                          <a:r>
                            <a:rPr lang="es-CO" sz="2000" dirty="0">
                              <a:latin typeface="Roboto" panose="02000000000000000000" pitchFamily="2" charset="0"/>
                              <a:ea typeface="Roboto" panose="02000000000000000000" pitchFamily="2" charset="0"/>
                            </a:rPr>
                            <a:t>Simplificación</a:t>
                          </a:r>
                        </a:p>
                      </a:txBody>
                      <a:tcPr anchor="ctr"/>
                    </a:tc>
                    <a:tc>
                      <a:txBody>
                        <a:bodyPr/>
                        <a:lstStyle/>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
                              </m:oMathParaPr>
                              <m:oMath xmlns:m="http://schemas.openxmlformats.org/officeDocument/2006/math">
                                <m:f>
                                  <m:fPr>
                                    <m:ctrlPr>
                                      <a:rPr lang="es-MX" sz="2000" b="0" i="1" smtClean="0">
                                        <a:latin typeface="Cambria Math" panose="02040503050406030204" pitchFamily="18" charset="0"/>
                                        <a:ea typeface="Roboto" panose="02000000000000000000" pitchFamily="2" charset="0"/>
                                      </a:rPr>
                                    </m:ctrlPr>
                                  </m:fPr>
                                  <m:num>
                                    <m: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𝑞</m:t>
                                    </m:r>
                                  </m:num>
                                  <m:den>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𝑝</m:t>
                                    </m:r>
                                    <m:r>
                                      <a:rPr lang="es-MX" sz="2000" b="0" i="1" smtClean="0">
                                        <a:latin typeface="Cambria Math" panose="02040503050406030204" pitchFamily="18" charset="0"/>
                                        <a:ea typeface="Roboto" panose="02000000000000000000" pitchFamily="2" charset="0"/>
                                      </a:rPr>
                                      <m:t>         </m:t>
                                    </m:r>
                                  </m:den>
                                </m:f>
                              </m:oMath>
                            </m:oMathPara>
                          </a14:m>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4259179385"/>
                      </a:ext>
                    </a:extLst>
                  </a:tr>
                  <a:tr h="243775">
                    <a:tc>
                      <a:txBody>
                        <a:bodyPr/>
                        <a:lstStyle/>
                        <a:p>
                          <a:r>
                            <a:rPr lang="es-CO" sz="2000" dirty="0">
                              <a:latin typeface="Roboto" panose="02000000000000000000" pitchFamily="2" charset="0"/>
                              <a:ea typeface="Roboto" panose="02000000000000000000" pitchFamily="2" charset="0"/>
                            </a:rPr>
                            <a:t>Modus Tollens</a:t>
                          </a:r>
                        </a:p>
                      </a:txBody>
                      <a:tcPr anchor="ctr"/>
                    </a:tc>
                    <a:tc>
                      <a:txBody>
                        <a:bodyPr/>
                        <a:lstStyle/>
                        <a:p>
                          <a:pPr lvl="0" algn="ctr"/>
                          <a14:m>
                            <m:oMathPara xmlns:m="http://schemas.openxmlformats.org/officeDocument/2006/math">
                              <m:oMathParaPr>
                                <m:jc m:val="center"/>
                              </m:oMathParaPr>
                              <m:oMath xmlns:m="http://schemas.openxmlformats.org/officeDocument/2006/math">
                                <m:f>
                                  <m:fPr>
                                    <m:ctrlPr>
                                      <a:rPr lang="es-MX" sz="20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2000" b="0" i="1" smtClean="0">
                                            <a:latin typeface="Cambria Math" panose="02040503050406030204" pitchFamily="18" charset="0"/>
                                            <a:ea typeface="Roboto" panose="02000000000000000000" pitchFamily="2" charset="0"/>
                                          </a:rPr>
                                        </m:ctrlPr>
                                      </m:mPr>
                                      <m:mr>
                                        <m:e>
                                          <m:r>
                                            <m:rPr>
                                              <m:brk m:alnAt="7"/>
                                            </m:rP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𝑞</m:t>
                                          </m:r>
                                        </m:e>
                                      </m:mr>
                                      <m:mr>
                                        <m:e>
                                          <m: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𝑞</m:t>
                                          </m:r>
                                          <m:r>
                                            <a:rPr lang="es-MX" sz="2000" b="0" i="1" smtClean="0">
                                              <a:latin typeface="Cambria Math" panose="02040503050406030204" pitchFamily="18" charset="0"/>
                                              <a:ea typeface="Roboto" panose="02000000000000000000" pitchFamily="2" charset="0"/>
                                            </a:rPr>
                                            <m:t>         </m:t>
                                          </m:r>
                                        </m:e>
                                      </m:mr>
                                    </m:m>
                                  </m:num>
                                  <m:den>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𝑝</m:t>
                                    </m:r>
                                    <m:r>
                                      <a:rPr lang="es-MX" sz="2000" b="0" i="1" smtClean="0">
                                        <a:latin typeface="Cambria Math" panose="02040503050406030204" pitchFamily="18" charset="0"/>
                                        <a:ea typeface="Roboto" panose="02000000000000000000" pitchFamily="2" charset="0"/>
                                      </a:rPr>
                                      <m:t>         </m:t>
                                    </m:r>
                                  </m:den>
                                </m:f>
                              </m:oMath>
                            </m:oMathPara>
                          </a14:m>
                          <a:endParaRPr lang="es-CO" sz="2000" dirty="0">
                            <a:latin typeface="Roboto" panose="02000000000000000000" pitchFamily="2" charset="0"/>
                            <a:ea typeface="Roboto" panose="02000000000000000000" pitchFamily="2" charset="0"/>
                          </a:endParaRPr>
                        </a:p>
                      </a:txBody>
                      <a:tcPr/>
                    </a:tc>
                    <a:tc>
                      <a:txBody>
                        <a:bodyPr/>
                        <a:lstStyle/>
                        <a:p>
                          <a:r>
                            <a:rPr lang="es-CO" sz="2000" dirty="0">
                              <a:latin typeface="Roboto" panose="02000000000000000000" pitchFamily="2" charset="0"/>
                              <a:ea typeface="Roboto" panose="02000000000000000000" pitchFamily="2" charset="0"/>
                            </a:rPr>
                            <a:t>Conjunción</a:t>
                          </a:r>
                        </a:p>
                      </a:txBody>
                      <a:tcPr anchor="ctr"/>
                    </a:tc>
                    <a:tc>
                      <a:txBody>
                        <a:bodyPr/>
                        <a:lstStyle/>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
                              </m:oMathParaPr>
                              <m:oMath xmlns:m="http://schemas.openxmlformats.org/officeDocument/2006/math">
                                <m:f>
                                  <m:fPr>
                                    <m:ctrlPr>
                                      <a:rPr lang="es-MX" sz="20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2000" b="0" i="1" smtClean="0">
                                            <a:latin typeface="Cambria Math" panose="02040503050406030204" pitchFamily="18" charset="0"/>
                                            <a:ea typeface="Roboto" panose="02000000000000000000" pitchFamily="2" charset="0"/>
                                          </a:rPr>
                                        </m:ctrlPr>
                                      </m:mPr>
                                      <m:mr>
                                        <m:e>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Roboto" panose="02000000000000000000" pitchFamily="2" charset="0"/>
                                            </a:rPr>
                                            <m:t>     </m:t>
                                          </m:r>
                                        </m:e>
                                      </m:mr>
                                      <m:mr>
                                        <m:e>
                                          <m:r>
                                            <a:rPr lang="es-MX" sz="2000" b="0" i="1" smtClean="0">
                                              <a:latin typeface="Cambria Math" panose="02040503050406030204" pitchFamily="18" charset="0"/>
                                              <a:ea typeface="Roboto" panose="02000000000000000000" pitchFamily="2" charset="0"/>
                                            </a:rPr>
                                            <m:t>𝑞</m:t>
                                          </m:r>
                                          <m:r>
                                            <a:rPr lang="es-MX" sz="2000" b="0" i="1" smtClean="0">
                                              <a:latin typeface="Cambria Math" panose="02040503050406030204" pitchFamily="18" charset="0"/>
                                              <a:ea typeface="Roboto" panose="02000000000000000000" pitchFamily="2" charset="0"/>
                                            </a:rPr>
                                            <m:t>     </m:t>
                                          </m:r>
                                        </m:e>
                                      </m:mr>
                                    </m:m>
                                  </m:num>
                                  <m:den>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𝑝</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𝑞</m:t>
                                    </m:r>
                                    <m:r>
                                      <m:rPr>
                                        <m:nor/>
                                      </m:rPr>
                                      <a:rPr lang="es-CO" sz="2000" dirty="0">
                                        <a:latin typeface="Roboto" panose="02000000000000000000" pitchFamily="2" charset="0"/>
                                        <a:ea typeface="Roboto" panose="02000000000000000000" pitchFamily="2" charset="0"/>
                                      </a:rPr>
                                      <m:t> </m:t>
                                    </m:r>
                                  </m:den>
                                </m:f>
                              </m:oMath>
                            </m:oMathPara>
                          </a14:m>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078799334"/>
                      </a:ext>
                    </a:extLst>
                  </a:tr>
                  <a:tr h="243775">
                    <a:tc>
                      <a:txBody>
                        <a:bodyPr/>
                        <a:lstStyle/>
                        <a:p>
                          <a:r>
                            <a:rPr lang="es-CO" sz="2000" dirty="0">
                              <a:latin typeface="Roboto" panose="02000000000000000000" pitchFamily="2" charset="0"/>
                              <a:ea typeface="Roboto" panose="02000000000000000000" pitchFamily="2" charset="0"/>
                            </a:rPr>
                            <a:t>Silogismo hipotético (Transitividad)</a:t>
                          </a:r>
                        </a:p>
                      </a:txBody>
                      <a:tcPr anchor="ctr"/>
                    </a:tc>
                    <a:tc>
                      <a:txBody>
                        <a:bodyPr/>
                        <a:lstStyle/>
                        <a:p>
                          <a:pPr lvl="0" algn="ctr"/>
                          <a14:m>
                            <m:oMathPara xmlns:m="http://schemas.openxmlformats.org/officeDocument/2006/math">
                              <m:oMathParaPr>
                                <m:jc m:val="center"/>
                              </m:oMathParaPr>
                              <m:oMath xmlns:m="http://schemas.openxmlformats.org/officeDocument/2006/math">
                                <m:f>
                                  <m:fPr>
                                    <m:ctrlPr>
                                      <a:rPr lang="es-MX" sz="20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2000" b="0" i="1" smtClean="0">
                                            <a:latin typeface="Cambria Math" panose="02040503050406030204" pitchFamily="18" charset="0"/>
                                            <a:ea typeface="Roboto" panose="02000000000000000000" pitchFamily="2" charset="0"/>
                                          </a:rPr>
                                        </m:ctrlPr>
                                      </m:mPr>
                                      <m:mr>
                                        <m:e>
                                          <m:r>
                                            <m:rPr>
                                              <m:brk m:alnAt="7"/>
                                            </m:rP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𝑞</m:t>
                                          </m:r>
                                        </m:e>
                                      </m:mr>
                                      <m:mr>
                                        <m:e>
                                          <m: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𝑞</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𝑟</m:t>
                                          </m:r>
                                          <m:r>
                                            <m:rPr>
                                              <m:nor/>
                                            </m:rPr>
                                            <a:rPr lang="es-CO" sz="2000" dirty="0">
                                              <a:latin typeface="Roboto" panose="02000000000000000000" pitchFamily="2" charset="0"/>
                                              <a:ea typeface="Roboto" panose="02000000000000000000" pitchFamily="2" charset="0"/>
                                            </a:rPr>
                                            <m:t> </m:t>
                                          </m:r>
                                        </m:e>
                                      </m:mr>
                                    </m:m>
                                  </m:num>
                                  <m:den>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𝑝</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𝑟</m:t>
                                    </m:r>
                                  </m:den>
                                </m:f>
                              </m:oMath>
                            </m:oMathPara>
                          </a14:m>
                          <a:endParaRPr lang="es-CO" sz="2000" dirty="0">
                            <a:latin typeface="Roboto" panose="02000000000000000000" pitchFamily="2" charset="0"/>
                            <a:ea typeface="Roboto" panose="02000000000000000000" pitchFamily="2" charset="0"/>
                          </a:endParaRPr>
                        </a:p>
                      </a:txBody>
                      <a:tcPr/>
                    </a:tc>
                    <a:tc rowSpan="2">
                      <a:txBody>
                        <a:bodyPr/>
                        <a:lstStyle/>
                        <a:p>
                          <a:r>
                            <a:rPr lang="es-CO" sz="2000" dirty="0">
                              <a:latin typeface="Roboto" panose="02000000000000000000" pitchFamily="2" charset="0"/>
                              <a:ea typeface="Roboto" panose="02000000000000000000" pitchFamily="2" charset="0"/>
                            </a:rPr>
                            <a:t>Prueba de división por casos</a:t>
                          </a:r>
                        </a:p>
                      </a:txBody>
                      <a:tcPr anchor="ctr"/>
                    </a:tc>
                    <a:tc rowSpan="2">
                      <a:txBody>
                        <a:bodyPr/>
                        <a:lstStyle/>
                        <a:p>
                          <a:pPr lvl="1" algn="ctr"/>
                          <a14:m>
                            <m:oMathPara xmlns:m="http://schemas.openxmlformats.org/officeDocument/2006/math">
                              <m:oMathParaPr>
                                <m:jc m:val="left"/>
                              </m:oMathParaPr>
                              <m:oMath xmlns:m="http://schemas.openxmlformats.org/officeDocument/2006/math">
                                <m:f>
                                  <m:fPr>
                                    <m:ctrlPr>
                                      <a:rPr lang="es-MX" sz="20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2000" b="0" i="1" smtClean="0">
                                            <a:latin typeface="Cambria Math" panose="02040503050406030204" pitchFamily="18" charset="0"/>
                                            <a:ea typeface="Roboto" panose="02000000000000000000" pitchFamily="2" charset="0"/>
                                          </a:rPr>
                                        </m:ctrlPr>
                                      </m:mPr>
                                      <m:mr>
                                        <m:e>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𝑞</m:t>
                                          </m:r>
                                          <m:r>
                                            <a:rPr lang="es-MX" sz="2000" b="0" i="1" smtClean="0">
                                              <a:latin typeface="Cambria Math" panose="02040503050406030204" pitchFamily="18" charset="0"/>
                                              <a:ea typeface="Roboto" panose="02000000000000000000" pitchFamily="2" charset="0"/>
                                            </a:rPr>
                                            <m:t>  </m:t>
                                          </m:r>
                                        </m:e>
                                      </m:mr>
                                      <m:mr>
                                        <m:e>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𝑟</m:t>
                                          </m:r>
                                          <m:r>
                                            <m:rPr>
                                              <m:nor/>
                                            </m:rPr>
                                            <a:rPr lang="es-MX" sz="2000" b="0" dirty="0">
                                              <a:latin typeface="Roboto" panose="02000000000000000000" pitchFamily="2" charset="0"/>
                                              <a:ea typeface="Roboto" panose="02000000000000000000" pitchFamily="2" charset="0"/>
                                            </a:rPr>
                                            <m:t> </m:t>
                                          </m:r>
                                        </m:e>
                                      </m:mr>
                                      <m:mr>
                                        <m:e>
                                          <m:r>
                                            <a:rPr lang="es-MX" sz="2000" b="0" i="1" smtClean="0">
                                              <a:latin typeface="Cambria Math" panose="02040503050406030204" pitchFamily="18" charset="0"/>
                                              <a:ea typeface="Roboto" panose="02000000000000000000" pitchFamily="2" charset="0"/>
                                            </a:rPr>
                                            <m:t>𝑞</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𝑟</m:t>
                                          </m:r>
                                          <m:r>
                                            <a:rPr lang="es-MX" sz="2000" b="0" i="1" smtClean="0">
                                              <a:latin typeface="Cambria Math" panose="02040503050406030204" pitchFamily="18" charset="0"/>
                                              <a:ea typeface="Roboto" panose="02000000000000000000" pitchFamily="2" charset="0"/>
                                            </a:rPr>
                                            <m:t> </m:t>
                                          </m:r>
                                        </m:e>
                                      </m:mr>
                                    </m:m>
                                  </m:num>
                                  <m:den>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𝑟</m:t>
                                    </m:r>
                                    <m:r>
                                      <a:rPr lang="es-MX" sz="2000" b="0" i="1" smtClean="0">
                                        <a:latin typeface="Cambria Math" panose="02040503050406030204" pitchFamily="18" charset="0"/>
                                        <a:ea typeface="Cambria Math" panose="02040503050406030204" pitchFamily="18" charset="0"/>
                                      </a:rPr>
                                      <m:t>             </m:t>
                                    </m:r>
                                  </m:den>
                                </m:f>
                              </m:oMath>
                            </m:oMathPara>
                          </a14:m>
                          <a:endParaRPr lang="es-CO" sz="2000" dirty="0">
                            <a:latin typeface="Roboto" panose="02000000000000000000" pitchFamily="2" charset="0"/>
                            <a:ea typeface="Roboto" panose="02000000000000000000" pitchFamily="2" charset="0"/>
                          </a:endParaRPr>
                        </a:p>
                      </a:txBody>
                      <a:tcPr anchor="ctr"/>
                    </a:tc>
                    <a:extLst>
                      <a:ext uri="{0D108BD9-81ED-4DB2-BD59-A6C34878D82A}">
                        <a16:rowId xmlns:a16="http://schemas.microsoft.com/office/drawing/2014/main" val="682340052"/>
                      </a:ext>
                    </a:extLst>
                  </a:tr>
                  <a:tr h="243775">
                    <a:tc>
                      <a:txBody>
                        <a:bodyPr/>
                        <a:lstStyle/>
                        <a:p>
                          <a:r>
                            <a:rPr lang="es-CO" sz="2000" dirty="0">
                              <a:latin typeface="Roboto" panose="02000000000000000000" pitchFamily="2" charset="0"/>
                              <a:ea typeface="Roboto" panose="02000000000000000000" pitchFamily="2" charset="0"/>
                            </a:rPr>
                            <a:t>Silogismo disyuntivo (Eliminación)</a:t>
                          </a:r>
                        </a:p>
                      </a:txBody>
                      <a:tcPr anchor="ctr"/>
                    </a:tc>
                    <a:tc>
                      <a:txBody>
                        <a:bodyPr/>
                        <a:lstStyle/>
                        <a:p>
                          <a:pPr lvl="0" algn="ctr"/>
                          <a14:m>
                            <m:oMathPara xmlns:m="http://schemas.openxmlformats.org/officeDocument/2006/math">
                              <m:oMathParaPr>
                                <m:jc m:val="center"/>
                              </m:oMathParaPr>
                              <m:oMath xmlns:m="http://schemas.openxmlformats.org/officeDocument/2006/math">
                                <m:f>
                                  <m:fPr>
                                    <m:ctrlPr>
                                      <a:rPr lang="es-MX" sz="20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2000" b="0" i="1" smtClean="0">
                                            <a:latin typeface="Cambria Math" panose="02040503050406030204" pitchFamily="18" charset="0"/>
                                            <a:ea typeface="Roboto" panose="02000000000000000000" pitchFamily="2" charset="0"/>
                                          </a:rPr>
                                        </m:ctrlPr>
                                      </m:mPr>
                                      <m:mr>
                                        <m:e>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𝑞</m:t>
                                          </m:r>
                                          <m:r>
                                            <m:rPr>
                                              <m:nor/>
                                            </m:rPr>
                                            <a:rPr lang="es-CO" sz="2000" dirty="0">
                                              <a:latin typeface="Roboto" panose="02000000000000000000" pitchFamily="2" charset="0"/>
                                              <a:ea typeface="Roboto" panose="02000000000000000000" pitchFamily="2" charset="0"/>
                                            </a:rPr>
                                            <m:t> </m:t>
                                          </m:r>
                                        </m:e>
                                      </m:mr>
                                      <m:mr>
                                        <m:e>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Roboto" panose="02000000000000000000" pitchFamily="2" charset="0"/>
                                            </a:rPr>
                                            <m:t>       </m:t>
                                          </m:r>
                                        </m:e>
                                      </m:mr>
                                    </m:m>
                                  </m:num>
                                  <m:den>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𝑞</m:t>
                                    </m:r>
                                    <m:r>
                                      <a:rPr lang="es-MX" sz="2000" b="0" i="1" smtClean="0">
                                        <a:latin typeface="Cambria Math" panose="02040503050406030204" pitchFamily="18" charset="0"/>
                                        <a:ea typeface="Cambria Math" panose="02040503050406030204" pitchFamily="18" charset="0"/>
                                      </a:rPr>
                                      <m:t>             </m:t>
                                    </m:r>
                                  </m:den>
                                </m:f>
                              </m:oMath>
                            </m:oMathPara>
                          </a14:m>
                          <a:endParaRPr lang="es-CO" sz="2000" dirty="0">
                            <a:latin typeface="Roboto" panose="02000000000000000000" pitchFamily="2" charset="0"/>
                            <a:ea typeface="Roboto" panose="02000000000000000000" pitchFamily="2" charset="0"/>
                          </a:endParaRPr>
                        </a:p>
                      </a:txBody>
                      <a:tcPr/>
                    </a:tc>
                    <a:tc vMerge="1">
                      <a:txBody>
                        <a:bodyPr/>
                        <a:lstStyle/>
                        <a:p>
                          <a:endParaRPr lang="es-CO" dirty="0">
                            <a:latin typeface="Roboto" panose="02000000000000000000" pitchFamily="2" charset="0"/>
                            <a:ea typeface="Roboto" panose="02000000000000000000" pitchFamily="2" charset="0"/>
                          </a:endParaRPr>
                        </a:p>
                      </a:txBody>
                      <a:tcPr/>
                    </a:tc>
                    <a:tc vMerge="1">
                      <a:txBody>
                        <a:bodyPr/>
                        <a:lstStyle/>
                        <a:p>
                          <a:endParaRPr lang="es-CO"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118226202"/>
                      </a:ext>
                    </a:extLst>
                  </a:tr>
                  <a:tr h="0">
                    <a:tc>
                      <a:txBody>
                        <a:bodyPr/>
                        <a:lstStyle/>
                        <a:p>
                          <a:r>
                            <a:rPr lang="es-CO" sz="2000" dirty="0">
                              <a:latin typeface="Roboto" panose="02000000000000000000" pitchFamily="2" charset="0"/>
                              <a:ea typeface="Roboto" panose="02000000000000000000" pitchFamily="2" charset="0"/>
                            </a:rPr>
                            <a:t>Adición</a:t>
                          </a:r>
                        </a:p>
                      </a:txBody>
                      <a:tcPr anchor="ctr"/>
                    </a:tc>
                    <a:tc>
                      <a:txBody>
                        <a:bodyPr/>
                        <a:lstStyle/>
                        <a:p>
                          <a:pPr lvl="0" algn="ctr"/>
                          <a14:m>
                            <m:oMathPara xmlns:m="http://schemas.openxmlformats.org/officeDocument/2006/math">
                              <m:oMathParaPr>
                                <m:jc m:val="center"/>
                              </m:oMathParaPr>
                              <m:oMath xmlns:m="http://schemas.openxmlformats.org/officeDocument/2006/math">
                                <m:f>
                                  <m:fPr>
                                    <m:ctrlPr>
                                      <a:rPr lang="es-MX" sz="2000" b="0" i="1" smtClean="0">
                                        <a:latin typeface="Cambria Math" panose="02040503050406030204" pitchFamily="18" charset="0"/>
                                        <a:ea typeface="Roboto" panose="02000000000000000000" pitchFamily="2" charset="0"/>
                                      </a:rPr>
                                    </m:ctrlPr>
                                  </m:fPr>
                                  <m:num>
                                    <m: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Roboto" panose="02000000000000000000" pitchFamily="2" charset="0"/>
                                      </a:rPr>
                                      <m:t>    </m:t>
                                    </m:r>
                                  </m:num>
                                  <m:den>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𝑞</m:t>
                                    </m:r>
                                  </m:den>
                                </m:f>
                              </m:oMath>
                            </m:oMathPara>
                          </a14:m>
                          <a:endParaRPr lang="es-CO" sz="2000" dirty="0">
                            <a:latin typeface="Roboto" panose="02000000000000000000" pitchFamily="2" charset="0"/>
                            <a:ea typeface="Roboto" panose="02000000000000000000" pitchFamily="2" charset="0"/>
                          </a:endParaRPr>
                        </a:p>
                      </a:txBody>
                      <a:tcPr/>
                    </a:tc>
                    <a:tc>
                      <a:txBody>
                        <a:bodyPr/>
                        <a:lstStyle/>
                        <a:p>
                          <a:r>
                            <a:rPr lang="es-CO" sz="2000" dirty="0">
                              <a:latin typeface="Roboto" panose="02000000000000000000" pitchFamily="2" charset="0"/>
                              <a:ea typeface="Roboto" panose="02000000000000000000" pitchFamily="2" charset="0"/>
                            </a:rPr>
                            <a:t>Resolución</a:t>
                          </a:r>
                        </a:p>
                      </a:txBody>
                      <a:tcPr anchor="ctr"/>
                    </a:tc>
                    <a:tc>
                      <a:txBody>
                        <a:bodyPr/>
                        <a:lstStyle/>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
                              </m:oMathParaPr>
                              <m:oMath xmlns:m="http://schemas.openxmlformats.org/officeDocument/2006/math">
                                <m:f>
                                  <m:fPr>
                                    <m:ctrlPr>
                                      <a:rPr lang="es-MX" sz="20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2000" b="0" i="1" smtClean="0">
                                            <a:latin typeface="Cambria Math" panose="02040503050406030204" pitchFamily="18" charset="0"/>
                                            <a:ea typeface="Roboto" panose="02000000000000000000" pitchFamily="2" charset="0"/>
                                          </a:rPr>
                                        </m:ctrlPr>
                                      </m:mPr>
                                      <m:mr>
                                        <m:e>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𝑟</m:t>
                                          </m:r>
                                          <m:r>
                                            <m:rPr>
                                              <m:nor/>
                                            </m:rPr>
                                            <a:rPr lang="es-MX" sz="2000" b="0" dirty="0">
                                              <a:latin typeface="Roboto" panose="02000000000000000000" pitchFamily="2" charset="0"/>
                                              <a:ea typeface="Roboto" panose="02000000000000000000" pitchFamily="2" charset="0"/>
                                            </a:rPr>
                                            <m:t> </m:t>
                                          </m:r>
                                        </m:e>
                                      </m:mr>
                                      <m:mr>
                                        <m:e>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𝑞</m:t>
                                          </m:r>
                                          <m:r>
                                            <a:rPr lang="es-MX" sz="2000" b="0" i="1" smtClean="0">
                                              <a:latin typeface="Cambria Math" panose="02040503050406030204" pitchFamily="18" charset="0"/>
                                              <a:ea typeface="Roboto" panose="02000000000000000000" pitchFamily="2" charset="0"/>
                                            </a:rPr>
                                            <m:t>    </m:t>
                                          </m:r>
                                        </m:e>
                                      </m:mr>
                                    </m:m>
                                  </m:num>
                                  <m:den>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𝑞</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𝑟</m:t>
                                    </m:r>
                                    <m:r>
                                      <a:rPr lang="es-MX" sz="2000" b="0" i="1" smtClean="0">
                                        <a:latin typeface="Cambria Math" panose="02040503050406030204" pitchFamily="18" charset="0"/>
                                        <a:ea typeface="Cambria Math" panose="02040503050406030204" pitchFamily="18" charset="0"/>
                                      </a:rPr>
                                      <m:t>        </m:t>
                                    </m:r>
                                  </m:den>
                                </m:f>
                              </m:oMath>
                            </m:oMathPara>
                          </a14:m>
                          <a:endParaRPr lang="es-CO" sz="20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217682141"/>
                      </a:ext>
                    </a:extLst>
                  </a:tr>
                </a:tbl>
              </a:graphicData>
            </a:graphic>
          </p:graphicFrame>
        </mc:Choice>
        <mc:Fallback xmlns="">
          <p:graphicFrame>
            <p:nvGraphicFramePr>
              <p:cNvPr id="5" name="Tabla 4">
                <a:extLst>
                  <a:ext uri="{FF2B5EF4-FFF2-40B4-BE49-F238E27FC236}">
                    <a16:creationId xmlns:a16="http://schemas.microsoft.com/office/drawing/2014/main" id="{EFFAE407-8F8B-40B9-BA7A-55ACE6E6E15C}"/>
                  </a:ext>
                </a:extLst>
              </p:cNvPr>
              <p:cNvGraphicFramePr>
                <a:graphicFrameLocks noGrp="1"/>
              </p:cNvGraphicFramePr>
              <p:nvPr>
                <p:extLst>
                  <p:ext uri="{D42A27DB-BD31-4B8C-83A1-F6EECF244321}">
                    <p14:modId xmlns:p14="http://schemas.microsoft.com/office/powerpoint/2010/main" val="36386107"/>
                  </p:ext>
                </p:extLst>
              </p:nvPr>
            </p:nvGraphicFramePr>
            <p:xfrm>
              <a:off x="454027" y="1449735"/>
              <a:ext cx="11297522" cy="5140264"/>
            </p:xfrm>
            <a:graphic>
              <a:graphicData uri="http://schemas.openxmlformats.org/drawingml/2006/table">
                <a:tbl>
                  <a:tblPr firstRow="1" bandRow="1">
                    <a:tableStyleId>{AD6A3598-7CB8-4345-8D95-17CE05F158A0}</a:tableStyleId>
                  </a:tblPr>
                  <a:tblGrid>
                    <a:gridCol w="2793087">
                      <a:extLst>
                        <a:ext uri="{9D8B030D-6E8A-4147-A177-3AD203B41FA5}">
                          <a16:colId xmlns:a16="http://schemas.microsoft.com/office/drawing/2014/main" val="3517824357"/>
                        </a:ext>
                      </a:extLst>
                    </a:gridCol>
                    <a:gridCol w="2902858">
                      <a:extLst>
                        <a:ext uri="{9D8B030D-6E8A-4147-A177-3AD203B41FA5}">
                          <a16:colId xmlns:a16="http://schemas.microsoft.com/office/drawing/2014/main" val="2212776800"/>
                        </a:ext>
                      </a:extLst>
                    </a:gridCol>
                    <a:gridCol w="3130497">
                      <a:extLst>
                        <a:ext uri="{9D8B030D-6E8A-4147-A177-3AD203B41FA5}">
                          <a16:colId xmlns:a16="http://schemas.microsoft.com/office/drawing/2014/main" val="3724117940"/>
                        </a:ext>
                      </a:extLst>
                    </a:gridCol>
                    <a:gridCol w="2471080">
                      <a:extLst>
                        <a:ext uri="{9D8B030D-6E8A-4147-A177-3AD203B41FA5}">
                          <a16:colId xmlns:a16="http://schemas.microsoft.com/office/drawing/2014/main" val="333003826"/>
                        </a:ext>
                      </a:extLst>
                    </a:gridCol>
                  </a:tblGrid>
                  <a:tr h="396240">
                    <a:tc>
                      <a:txBody>
                        <a:bodyPr/>
                        <a:lstStyle/>
                        <a:p>
                          <a:r>
                            <a:rPr lang="es-CO" sz="2000" b="1" dirty="0">
                              <a:latin typeface="Roboto" panose="02000000000000000000" pitchFamily="2" charset="0"/>
                              <a:ea typeface="Roboto" panose="02000000000000000000" pitchFamily="2" charset="0"/>
                            </a:rPr>
                            <a:t>Nombre</a:t>
                          </a:r>
                        </a:p>
                      </a:txBody>
                      <a:tcPr>
                        <a:solidFill>
                          <a:schemeClr val="bg1">
                            <a:lumMod val="95000"/>
                          </a:schemeClr>
                        </a:solidFill>
                      </a:tcPr>
                    </a:tc>
                    <a:tc>
                      <a:txBody>
                        <a:bodyPr/>
                        <a:lstStyle/>
                        <a:p>
                          <a:r>
                            <a:rPr lang="es-CO" sz="2000" b="1" dirty="0">
                              <a:latin typeface="Roboto" panose="02000000000000000000" pitchFamily="2" charset="0"/>
                              <a:ea typeface="Roboto" panose="02000000000000000000" pitchFamily="2" charset="0"/>
                            </a:rPr>
                            <a:t>Regla de inferencia</a:t>
                          </a:r>
                        </a:p>
                      </a:txBody>
                      <a:tcPr>
                        <a:solidFill>
                          <a:schemeClr val="bg1">
                            <a:lumMod val="95000"/>
                          </a:schemeClr>
                        </a:solidFill>
                      </a:tcPr>
                    </a:tc>
                    <a:tc>
                      <a:txBody>
                        <a:bodyPr/>
                        <a:lstStyle/>
                        <a:p>
                          <a:r>
                            <a:rPr lang="es-CO" sz="2000" b="1" dirty="0">
                              <a:latin typeface="Roboto" panose="02000000000000000000" pitchFamily="2" charset="0"/>
                              <a:ea typeface="Roboto" panose="02000000000000000000" pitchFamily="2" charset="0"/>
                            </a:rPr>
                            <a:t>Nombre</a:t>
                          </a:r>
                        </a:p>
                      </a:txBody>
                      <a:tcPr>
                        <a:solidFill>
                          <a:schemeClr val="bg1">
                            <a:lumMod val="95000"/>
                          </a:schemeClr>
                        </a:solidFill>
                      </a:tcPr>
                    </a:tc>
                    <a:tc>
                      <a:txBody>
                        <a:bodyPr/>
                        <a:lstStyle/>
                        <a:p>
                          <a:r>
                            <a:rPr lang="es-CO" sz="2000" b="1" dirty="0">
                              <a:latin typeface="Roboto" panose="02000000000000000000" pitchFamily="2" charset="0"/>
                              <a:ea typeface="Roboto" panose="02000000000000000000" pitchFamily="2" charset="0"/>
                            </a:rPr>
                            <a:t>Regla de inferencia</a:t>
                          </a:r>
                        </a:p>
                      </a:txBody>
                      <a:tcPr>
                        <a:solidFill>
                          <a:schemeClr val="bg1">
                            <a:lumMod val="95000"/>
                          </a:schemeClr>
                        </a:solidFill>
                      </a:tcPr>
                    </a:tc>
                    <a:extLst>
                      <a:ext uri="{0D108BD9-81ED-4DB2-BD59-A6C34878D82A}">
                        <a16:rowId xmlns:a16="http://schemas.microsoft.com/office/drawing/2014/main" val="3873507432"/>
                      </a:ext>
                    </a:extLst>
                  </a:tr>
                  <a:tr h="939864">
                    <a:tc>
                      <a:txBody>
                        <a:bodyPr/>
                        <a:lstStyle/>
                        <a:p>
                          <a:r>
                            <a:rPr lang="es-CO" sz="2000" dirty="0">
                              <a:latin typeface="Roboto" panose="02000000000000000000" pitchFamily="2" charset="0"/>
                              <a:ea typeface="Roboto" panose="02000000000000000000" pitchFamily="2" charset="0"/>
                            </a:rPr>
                            <a:t>Modus Ponens</a:t>
                          </a:r>
                        </a:p>
                      </a:txBody>
                      <a:tcPr anchor="ctr"/>
                    </a:tc>
                    <a:tc>
                      <a:txBody>
                        <a:bodyPr/>
                        <a:lstStyle/>
                        <a:p>
                          <a:endParaRPr lang="es-CO"/>
                        </a:p>
                      </a:txBody>
                      <a:tcPr>
                        <a:blipFill>
                          <a:blip r:embed="rId3"/>
                          <a:stretch>
                            <a:fillRect l="-96226" t="-44516" r="-193082" b="-403871"/>
                          </a:stretch>
                        </a:blipFill>
                      </a:tcPr>
                    </a:tc>
                    <a:tc>
                      <a:txBody>
                        <a:bodyPr/>
                        <a:lstStyle/>
                        <a:p>
                          <a:r>
                            <a:rPr lang="es-CO" sz="2000" dirty="0">
                              <a:latin typeface="Roboto" panose="02000000000000000000" pitchFamily="2" charset="0"/>
                              <a:ea typeface="Roboto" panose="02000000000000000000" pitchFamily="2" charset="0"/>
                            </a:rPr>
                            <a:t>Simplificación</a:t>
                          </a:r>
                        </a:p>
                      </a:txBody>
                      <a:tcPr anchor="ctr"/>
                    </a:tc>
                    <a:tc>
                      <a:txBody>
                        <a:bodyPr/>
                        <a:lstStyle/>
                        <a:p>
                          <a:endParaRPr lang="es-CO"/>
                        </a:p>
                      </a:txBody>
                      <a:tcPr>
                        <a:blipFill>
                          <a:blip r:embed="rId3"/>
                          <a:stretch>
                            <a:fillRect l="-356897" t="-44516" r="-493" b="-403871"/>
                          </a:stretch>
                        </a:blipFill>
                      </a:tcPr>
                    </a:tc>
                    <a:extLst>
                      <a:ext uri="{0D108BD9-81ED-4DB2-BD59-A6C34878D82A}">
                        <a16:rowId xmlns:a16="http://schemas.microsoft.com/office/drawing/2014/main" val="4259179385"/>
                      </a:ext>
                    </a:extLst>
                  </a:tr>
                  <a:tr h="939864">
                    <a:tc>
                      <a:txBody>
                        <a:bodyPr/>
                        <a:lstStyle/>
                        <a:p>
                          <a:r>
                            <a:rPr lang="es-CO" sz="2000" dirty="0">
                              <a:latin typeface="Roboto" panose="02000000000000000000" pitchFamily="2" charset="0"/>
                              <a:ea typeface="Roboto" panose="02000000000000000000" pitchFamily="2" charset="0"/>
                            </a:rPr>
                            <a:t>Modus Tollens</a:t>
                          </a:r>
                        </a:p>
                      </a:txBody>
                      <a:tcPr anchor="ctr"/>
                    </a:tc>
                    <a:tc>
                      <a:txBody>
                        <a:bodyPr/>
                        <a:lstStyle/>
                        <a:p>
                          <a:endParaRPr lang="es-CO"/>
                        </a:p>
                      </a:txBody>
                      <a:tcPr>
                        <a:blipFill>
                          <a:blip r:embed="rId3"/>
                          <a:stretch>
                            <a:fillRect l="-96226" t="-145455" r="-193082" b="-306494"/>
                          </a:stretch>
                        </a:blipFill>
                      </a:tcPr>
                    </a:tc>
                    <a:tc>
                      <a:txBody>
                        <a:bodyPr/>
                        <a:lstStyle/>
                        <a:p>
                          <a:r>
                            <a:rPr lang="es-CO" sz="2000" dirty="0">
                              <a:latin typeface="Roboto" panose="02000000000000000000" pitchFamily="2" charset="0"/>
                              <a:ea typeface="Roboto" panose="02000000000000000000" pitchFamily="2" charset="0"/>
                            </a:rPr>
                            <a:t>Conjunción</a:t>
                          </a:r>
                        </a:p>
                      </a:txBody>
                      <a:tcPr anchor="ctr"/>
                    </a:tc>
                    <a:tc>
                      <a:txBody>
                        <a:bodyPr/>
                        <a:lstStyle/>
                        <a:p>
                          <a:endParaRPr lang="es-CO"/>
                        </a:p>
                      </a:txBody>
                      <a:tcPr>
                        <a:blipFill>
                          <a:blip r:embed="rId3"/>
                          <a:stretch>
                            <a:fillRect l="-356897" t="-145455" r="-493" b="-306494"/>
                          </a:stretch>
                        </a:blipFill>
                      </a:tcPr>
                    </a:tc>
                    <a:extLst>
                      <a:ext uri="{0D108BD9-81ED-4DB2-BD59-A6C34878D82A}">
                        <a16:rowId xmlns:a16="http://schemas.microsoft.com/office/drawing/2014/main" val="1078799334"/>
                      </a:ext>
                    </a:extLst>
                  </a:tr>
                  <a:tr h="939864">
                    <a:tc>
                      <a:txBody>
                        <a:bodyPr/>
                        <a:lstStyle/>
                        <a:p>
                          <a:r>
                            <a:rPr lang="es-CO" sz="2000" dirty="0">
                              <a:latin typeface="Roboto" panose="02000000000000000000" pitchFamily="2" charset="0"/>
                              <a:ea typeface="Roboto" panose="02000000000000000000" pitchFamily="2" charset="0"/>
                            </a:rPr>
                            <a:t>Silogismo hipotético (Transitividad)</a:t>
                          </a:r>
                        </a:p>
                      </a:txBody>
                      <a:tcPr anchor="ctr"/>
                    </a:tc>
                    <a:tc>
                      <a:txBody>
                        <a:bodyPr/>
                        <a:lstStyle/>
                        <a:p>
                          <a:endParaRPr lang="es-CO"/>
                        </a:p>
                      </a:txBody>
                      <a:tcPr>
                        <a:blipFill>
                          <a:blip r:embed="rId3"/>
                          <a:stretch>
                            <a:fillRect l="-96226" t="-243871" r="-193082" b="-204516"/>
                          </a:stretch>
                        </a:blipFill>
                      </a:tcPr>
                    </a:tc>
                    <a:tc rowSpan="2">
                      <a:txBody>
                        <a:bodyPr/>
                        <a:lstStyle/>
                        <a:p>
                          <a:r>
                            <a:rPr lang="es-CO" sz="2000" dirty="0">
                              <a:latin typeface="Roboto" panose="02000000000000000000" pitchFamily="2" charset="0"/>
                              <a:ea typeface="Roboto" panose="02000000000000000000" pitchFamily="2" charset="0"/>
                            </a:rPr>
                            <a:t>Prueba de división por casos</a:t>
                          </a:r>
                        </a:p>
                      </a:txBody>
                      <a:tcPr anchor="ctr"/>
                    </a:tc>
                    <a:tc rowSpan="2">
                      <a:txBody>
                        <a:bodyPr/>
                        <a:lstStyle/>
                        <a:p>
                          <a:endParaRPr lang="es-CO"/>
                        </a:p>
                      </a:txBody>
                      <a:tcPr anchor="ctr">
                        <a:blipFill>
                          <a:blip r:embed="rId3"/>
                          <a:stretch>
                            <a:fillRect l="-356897" t="-120767" r="-493" b="-50799"/>
                          </a:stretch>
                        </a:blipFill>
                      </a:tcPr>
                    </a:tc>
                    <a:extLst>
                      <a:ext uri="{0D108BD9-81ED-4DB2-BD59-A6C34878D82A}">
                        <a16:rowId xmlns:a16="http://schemas.microsoft.com/office/drawing/2014/main" val="682340052"/>
                      </a:ext>
                    </a:extLst>
                  </a:tr>
                  <a:tr h="962216">
                    <a:tc>
                      <a:txBody>
                        <a:bodyPr/>
                        <a:lstStyle/>
                        <a:p>
                          <a:r>
                            <a:rPr lang="es-CO" sz="2000" dirty="0">
                              <a:latin typeface="Roboto" panose="02000000000000000000" pitchFamily="2" charset="0"/>
                              <a:ea typeface="Roboto" panose="02000000000000000000" pitchFamily="2" charset="0"/>
                            </a:rPr>
                            <a:t>Silogismo disyuntivo (Eliminación)</a:t>
                          </a:r>
                        </a:p>
                      </a:txBody>
                      <a:tcPr anchor="ctr"/>
                    </a:tc>
                    <a:tc>
                      <a:txBody>
                        <a:bodyPr/>
                        <a:lstStyle/>
                        <a:p>
                          <a:endParaRPr lang="es-CO"/>
                        </a:p>
                      </a:txBody>
                      <a:tcPr>
                        <a:blipFill>
                          <a:blip r:embed="rId3"/>
                          <a:stretch>
                            <a:fillRect l="-96226" t="-337342" r="-193082" b="-100633"/>
                          </a:stretch>
                        </a:blipFill>
                      </a:tcPr>
                    </a:tc>
                    <a:tc vMerge="1">
                      <a:txBody>
                        <a:bodyPr/>
                        <a:lstStyle/>
                        <a:p>
                          <a:endParaRPr lang="es-CO" dirty="0">
                            <a:latin typeface="Roboto" panose="02000000000000000000" pitchFamily="2" charset="0"/>
                            <a:ea typeface="Roboto" panose="02000000000000000000" pitchFamily="2" charset="0"/>
                          </a:endParaRPr>
                        </a:p>
                      </a:txBody>
                      <a:tcPr/>
                    </a:tc>
                    <a:tc vMerge="1">
                      <a:txBody>
                        <a:bodyPr/>
                        <a:lstStyle/>
                        <a:p>
                          <a:endParaRPr lang="es-CO"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118226202"/>
                      </a:ext>
                    </a:extLst>
                  </a:tr>
                  <a:tr h="962216">
                    <a:tc>
                      <a:txBody>
                        <a:bodyPr/>
                        <a:lstStyle/>
                        <a:p>
                          <a:r>
                            <a:rPr lang="es-CO" sz="2000" dirty="0">
                              <a:latin typeface="Roboto" panose="02000000000000000000" pitchFamily="2" charset="0"/>
                              <a:ea typeface="Roboto" panose="02000000000000000000" pitchFamily="2" charset="0"/>
                            </a:rPr>
                            <a:t>Adición</a:t>
                          </a:r>
                        </a:p>
                      </a:txBody>
                      <a:tcPr anchor="ctr"/>
                    </a:tc>
                    <a:tc>
                      <a:txBody>
                        <a:bodyPr/>
                        <a:lstStyle/>
                        <a:p>
                          <a:endParaRPr lang="es-CO"/>
                        </a:p>
                      </a:txBody>
                      <a:tcPr>
                        <a:blipFill>
                          <a:blip r:embed="rId3"/>
                          <a:stretch>
                            <a:fillRect l="-96226" t="-437342" r="-193082" b="-633"/>
                          </a:stretch>
                        </a:blipFill>
                      </a:tcPr>
                    </a:tc>
                    <a:tc>
                      <a:txBody>
                        <a:bodyPr/>
                        <a:lstStyle/>
                        <a:p>
                          <a:r>
                            <a:rPr lang="es-CO" sz="2000" dirty="0">
                              <a:latin typeface="Roboto" panose="02000000000000000000" pitchFamily="2" charset="0"/>
                              <a:ea typeface="Roboto" panose="02000000000000000000" pitchFamily="2" charset="0"/>
                            </a:rPr>
                            <a:t>Resolución</a:t>
                          </a:r>
                        </a:p>
                      </a:txBody>
                      <a:tcPr anchor="ctr"/>
                    </a:tc>
                    <a:tc>
                      <a:txBody>
                        <a:bodyPr/>
                        <a:lstStyle/>
                        <a:p>
                          <a:endParaRPr lang="es-CO"/>
                        </a:p>
                      </a:txBody>
                      <a:tcPr>
                        <a:blipFill>
                          <a:blip r:embed="rId3"/>
                          <a:stretch>
                            <a:fillRect l="-356897" t="-437342" r="-493" b="-633"/>
                          </a:stretch>
                        </a:blipFill>
                      </a:tcPr>
                    </a:tc>
                    <a:extLst>
                      <a:ext uri="{0D108BD9-81ED-4DB2-BD59-A6C34878D82A}">
                        <a16:rowId xmlns:a16="http://schemas.microsoft.com/office/drawing/2014/main" val="2217682141"/>
                      </a:ext>
                    </a:extLst>
                  </a:tr>
                </a:tbl>
              </a:graphicData>
            </a:graphic>
          </p:graphicFrame>
        </mc:Fallback>
      </mc:AlternateContent>
    </p:spTree>
    <p:extLst>
      <p:ext uri="{BB962C8B-B14F-4D97-AF65-F5344CB8AC3E}">
        <p14:creationId xmlns:p14="http://schemas.microsoft.com/office/powerpoint/2010/main" val="29033261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363794" y="96038"/>
            <a:ext cx="11464412" cy="949500"/>
          </a:xfrm>
        </p:spPr>
        <p:txBody>
          <a:bodyPr/>
          <a:lstStyle/>
          <a:p>
            <a:r>
              <a:rPr lang="es-ES" dirty="0">
                <a:solidFill>
                  <a:schemeClr val="tx1"/>
                </a:solidFill>
                <a:latin typeface="+mj-lt"/>
              </a:rPr>
              <a:t>Validación de argumentos – Enfoque axiomático</a:t>
            </a:r>
            <a:endParaRPr lang="es-CO" dirty="0">
              <a:solidFill>
                <a:schemeClr val="tx1"/>
              </a:solidFill>
            </a:endParaRPr>
          </a:p>
        </p:txBody>
      </p:sp>
      <p:sp>
        <p:nvSpPr>
          <p:cNvPr id="7" name="CuadroTexto 6">
            <a:extLst>
              <a:ext uri="{FF2B5EF4-FFF2-40B4-BE49-F238E27FC236}">
                <a16:creationId xmlns:a16="http://schemas.microsoft.com/office/drawing/2014/main" id="{3802F684-C638-42EC-9880-5DB2EDF1637D}"/>
              </a:ext>
            </a:extLst>
          </p:cNvPr>
          <p:cNvSpPr txBox="1"/>
          <p:nvPr/>
        </p:nvSpPr>
        <p:spPr>
          <a:xfrm>
            <a:off x="223507" y="840383"/>
            <a:ext cx="11464412" cy="769441"/>
          </a:xfrm>
          <a:prstGeom prst="rect">
            <a:avLst/>
          </a:prstGeom>
          <a:noFill/>
        </p:spPr>
        <p:txBody>
          <a:bodyPr wrap="square" rtlCol="0">
            <a:spAutoFit/>
          </a:bodyPr>
          <a:lstStyle/>
          <a:p>
            <a:r>
              <a:rPr lang="es-MX" sz="2200" i="0" dirty="0">
                <a:effectLst/>
              </a:rPr>
              <a:t>Empleando los axiomas y las reglas de inferencia realizamos el proceso demostrativo empleando como proceso argumentativo el esquema de </a:t>
            </a:r>
            <a:r>
              <a:rPr lang="es-MX" sz="2200" b="1" i="0" dirty="0">
                <a:effectLst/>
              </a:rPr>
              <a:t>afirmación-razón</a:t>
            </a:r>
            <a:r>
              <a:rPr lang="es-MX" sz="2200" i="0" dirty="0">
                <a:effectLst/>
              </a:rPr>
              <a:t>.</a:t>
            </a:r>
          </a:p>
        </p:txBody>
      </p:sp>
      <p:graphicFrame>
        <p:nvGraphicFramePr>
          <p:cNvPr id="6" name="Tabla 6">
            <a:extLst>
              <a:ext uri="{FF2B5EF4-FFF2-40B4-BE49-F238E27FC236}">
                <a16:creationId xmlns:a16="http://schemas.microsoft.com/office/drawing/2014/main" id="{B728E6AC-D550-4A0A-800B-5C1EB215D936}"/>
              </a:ext>
            </a:extLst>
          </p:cNvPr>
          <p:cNvGraphicFramePr>
            <a:graphicFrameLocks noGrp="1"/>
          </p:cNvGraphicFramePr>
          <p:nvPr>
            <p:extLst>
              <p:ext uri="{D42A27DB-BD31-4B8C-83A1-F6EECF244321}">
                <p14:modId xmlns:p14="http://schemas.microsoft.com/office/powerpoint/2010/main" val="269568114"/>
              </p:ext>
            </p:extLst>
          </p:nvPr>
        </p:nvGraphicFramePr>
        <p:xfrm>
          <a:off x="5679500" y="2231571"/>
          <a:ext cx="6359892" cy="3505200"/>
        </p:xfrm>
        <a:graphic>
          <a:graphicData uri="http://schemas.openxmlformats.org/drawingml/2006/table">
            <a:tbl>
              <a:tblPr firstRow="1" bandRow="1">
                <a:tableStyleId>{5940675A-B579-460E-94D1-54222C63F5DA}</a:tableStyleId>
              </a:tblPr>
              <a:tblGrid>
                <a:gridCol w="653143">
                  <a:extLst>
                    <a:ext uri="{9D8B030D-6E8A-4147-A177-3AD203B41FA5}">
                      <a16:colId xmlns:a16="http://schemas.microsoft.com/office/drawing/2014/main" val="2268520492"/>
                    </a:ext>
                  </a:extLst>
                </a:gridCol>
                <a:gridCol w="2467429">
                  <a:extLst>
                    <a:ext uri="{9D8B030D-6E8A-4147-A177-3AD203B41FA5}">
                      <a16:colId xmlns:a16="http://schemas.microsoft.com/office/drawing/2014/main" val="2295907465"/>
                    </a:ext>
                  </a:extLst>
                </a:gridCol>
                <a:gridCol w="3239320">
                  <a:extLst>
                    <a:ext uri="{9D8B030D-6E8A-4147-A177-3AD203B41FA5}">
                      <a16:colId xmlns:a16="http://schemas.microsoft.com/office/drawing/2014/main" val="1814483346"/>
                    </a:ext>
                  </a:extLst>
                </a:gridCol>
              </a:tblGrid>
              <a:tr h="180396">
                <a:tc>
                  <a:txBody>
                    <a:bodyPr/>
                    <a:lstStyle/>
                    <a:p>
                      <a:r>
                        <a:rPr lang="es-CO" sz="2000" b="1" dirty="0"/>
                        <a:t>#</a:t>
                      </a:r>
                    </a:p>
                  </a:txBody>
                  <a:tcPr>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2000" b="1" dirty="0"/>
                        <a:t>Afirmación</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2000" b="1" dirty="0"/>
                        <a:t>Razón</a:t>
                      </a:r>
                    </a:p>
                  </a:txBody>
                  <a:tcPr>
                    <a:lnL w="12700" cap="flat" cmpd="sng" algn="ctr">
                      <a:solidFill>
                        <a:schemeClr val="tx1"/>
                      </a:solidFill>
                      <a:prstDash val="sys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6992406"/>
                  </a:ext>
                </a:extLst>
              </a:tr>
              <a:tr h="370840">
                <a:tc>
                  <a:txBody>
                    <a:bodyPr/>
                    <a:lstStyle/>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txBody>
                  <a:tcPr>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es-CO" dirty="0"/>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es-CO" dirty="0"/>
                    </a:p>
                  </a:txBody>
                  <a:tcPr>
                    <a:lnL w="12700" cap="flat" cmpd="sng" algn="ctr">
                      <a:solidFill>
                        <a:schemeClr val="tx1"/>
                      </a:solidFill>
                      <a:prstDash val="sysDash"/>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29773306"/>
                  </a:ext>
                </a:extLst>
              </a:tr>
            </a:tbl>
          </a:graphicData>
        </a:graphic>
      </p:graphicFrame>
      <p:pic>
        <p:nvPicPr>
          <p:cNvPr id="4" name="Imagen 3">
            <a:extLst>
              <a:ext uri="{FF2B5EF4-FFF2-40B4-BE49-F238E27FC236}">
                <a16:creationId xmlns:a16="http://schemas.microsoft.com/office/drawing/2014/main" id="{B5520E23-15F3-4A93-AC0A-86DE42FFA4C0}"/>
              </a:ext>
            </a:extLst>
          </p:cNvPr>
          <p:cNvPicPr>
            <a:picLocks noChangeAspect="1"/>
          </p:cNvPicPr>
          <p:nvPr/>
        </p:nvPicPr>
        <p:blipFill>
          <a:blip r:embed="rId3"/>
          <a:stretch>
            <a:fillRect/>
          </a:stretch>
        </p:blipFill>
        <p:spPr>
          <a:xfrm>
            <a:off x="97683" y="1609824"/>
            <a:ext cx="4032652" cy="2512233"/>
          </a:xfrm>
          <a:prstGeom prst="rect">
            <a:avLst/>
          </a:prstGeom>
        </p:spPr>
      </p:pic>
      <p:pic>
        <p:nvPicPr>
          <p:cNvPr id="9" name="Imagen 8">
            <a:extLst>
              <a:ext uri="{FF2B5EF4-FFF2-40B4-BE49-F238E27FC236}">
                <a16:creationId xmlns:a16="http://schemas.microsoft.com/office/drawing/2014/main" id="{DD0EBA93-CC47-41A2-9F35-4B72CF572ABF}"/>
              </a:ext>
            </a:extLst>
          </p:cNvPr>
          <p:cNvPicPr>
            <a:picLocks noChangeAspect="1"/>
          </p:cNvPicPr>
          <p:nvPr/>
        </p:nvPicPr>
        <p:blipFill>
          <a:blip r:embed="rId4"/>
          <a:stretch>
            <a:fillRect/>
          </a:stretch>
        </p:blipFill>
        <p:spPr>
          <a:xfrm>
            <a:off x="63849" y="4234656"/>
            <a:ext cx="5543081" cy="2572543"/>
          </a:xfrm>
          <a:prstGeom prst="rect">
            <a:avLst/>
          </a:prstGeom>
        </p:spPr>
      </p:pic>
    </p:spTree>
    <p:extLst>
      <p:ext uri="{BB962C8B-B14F-4D97-AF65-F5344CB8AC3E}">
        <p14:creationId xmlns:p14="http://schemas.microsoft.com/office/powerpoint/2010/main" val="8151760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457200" y="96038"/>
            <a:ext cx="11282516" cy="949500"/>
          </a:xfrm>
        </p:spPr>
        <p:txBody>
          <a:bodyPr/>
          <a:lstStyle/>
          <a:p>
            <a:r>
              <a:rPr lang="es-ES" dirty="0">
                <a:solidFill>
                  <a:schemeClr val="tx1"/>
                </a:solidFill>
                <a:latin typeface="+mj-lt"/>
              </a:rPr>
              <a:t>Validación de argumentos – Enfoque axiomático</a:t>
            </a:r>
            <a:endParaRPr lang="es-CO" dirty="0">
              <a:solidFill>
                <a:schemeClr val="tx1"/>
              </a:solidFill>
            </a:endParaRPr>
          </a:p>
        </p:txBody>
      </p:sp>
      <p:sp>
        <p:nvSpPr>
          <p:cNvPr id="12" name="CuadroTexto 11">
            <a:extLst>
              <a:ext uri="{FF2B5EF4-FFF2-40B4-BE49-F238E27FC236}">
                <a16:creationId xmlns:a16="http://schemas.microsoft.com/office/drawing/2014/main" id="{86124C36-7153-4A0A-AE9D-CDE921828F77}"/>
              </a:ext>
            </a:extLst>
          </p:cNvPr>
          <p:cNvSpPr txBox="1"/>
          <p:nvPr/>
        </p:nvSpPr>
        <p:spPr>
          <a:xfrm>
            <a:off x="186091" y="992218"/>
            <a:ext cx="10947819" cy="430887"/>
          </a:xfrm>
          <a:prstGeom prst="rect">
            <a:avLst/>
          </a:prstGeom>
          <a:noFill/>
        </p:spPr>
        <p:txBody>
          <a:bodyPr wrap="square" rtlCol="0">
            <a:spAutoFit/>
          </a:bodyPr>
          <a:lstStyle/>
          <a:p>
            <a:r>
              <a:rPr lang="es-MX" sz="2200" b="1" dirty="0">
                <a:ea typeface="Roboto" panose="02000000000000000000" pitchFamily="2" charset="0"/>
              </a:rPr>
              <a:t>Ejemplo</a:t>
            </a:r>
            <a:r>
              <a:rPr lang="es-MX" sz="2200" dirty="0">
                <a:ea typeface="Roboto" panose="02000000000000000000" pitchFamily="2" charset="0"/>
              </a:rPr>
              <a:t>: Demuestre que el siguiente argumento lógico es valido:</a:t>
            </a: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616067F6-E156-45E0-A9EC-9EDC8067F677}"/>
                  </a:ext>
                </a:extLst>
              </p:cNvPr>
              <p:cNvSpPr txBox="1"/>
              <p:nvPr/>
            </p:nvSpPr>
            <p:spPr>
              <a:xfrm>
                <a:off x="3224108" y="1586505"/>
                <a:ext cx="487178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𝑝</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𝑝</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𝑞</m:t>
                          </m:r>
                          <m:r>
                            <a:rPr lang="es-MX" sz="2000" i="1">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𝑠</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𝑟</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𝑟</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𝑞</m:t>
                          </m:r>
                          <m:r>
                            <a:rPr lang="es-MX" sz="2000" b="0" i="1" smtClean="0">
                              <a:latin typeface="Cambria Math" panose="02040503050406030204" pitchFamily="18" charset="0"/>
                              <a:ea typeface="Cambria Math" panose="02040503050406030204" pitchFamily="18" charset="0"/>
                            </a:rPr>
                            <m:t>)</m:t>
                          </m:r>
                        </m:e>
                      </m:d>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𝑠</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𝑡</m:t>
                      </m:r>
                      <m:r>
                        <a:rPr lang="es-MX" sz="2000" b="0" i="1" smtClean="0">
                          <a:latin typeface="Cambria Math" panose="02040503050406030204" pitchFamily="18" charset="0"/>
                          <a:ea typeface="Roboto" panose="02000000000000000000" pitchFamily="2" charset="0"/>
                        </a:rPr>
                        <m:t>)</m:t>
                      </m:r>
                    </m:oMath>
                  </m:oMathPara>
                </a14:m>
                <a:endParaRPr lang="es-MX" sz="2000" dirty="0">
                  <a:latin typeface="Roboto" panose="02000000000000000000" pitchFamily="2" charset="0"/>
                  <a:ea typeface="Cambria Math" panose="02040503050406030204" pitchFamily="18" charset="0"/>
                </a:endParaRPr>
              </a:p>
            </p:txBody>
          </p:sp>
        </mc:Choice>
        <mc:Fallback xmlns="">
          <p:sp>
            <p:nvSpPr>
              <p:cNvPr id="14" name="CuadroTexto 13">
                <a:extLst>
                  <a:ext uri="{FF2B5EF4-FFF2-40B4-BE49-F238E27FC236}">
                    <a16:creationId xmlns:a16="http://schemas.microsoft.com/office/drawing/2014/main" id="{616067F6-E156-45E0-A9EC-9EDC8067F677}"/>
                  </a:ext>
                </a:extLst>
              </p:cNvPr>
              <p:cNvSpPr txBox="1">
                <a:spLocks noRot="1" noChangeAspect="1" noMove="1" noResize="1" noEditPoints="1" noAdjustHandles="1" noChangeArrowheads="1" noChangeShapeType="1" noTextEdit="1"/>
              </p:cNvSpPr>
              <p:nvPr/>
            </p:nvSpPr>
            <p:spPr>
              <a:xfrm>
                <a:off x="3224108" y="1586505"/>
                <a:ext cx="4871783" cy="307777"/>
              </a:xfrm>
              <a:prstGeom prst="rect">
                <a:avLst/>
              </a:prstGeom>
              <a:blipFill>
                <a:blip r:embed="rId3"/>
                <a:stretch>
                  <a:fillRect r="-1377" b="-35294"/>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42A50C60-7BBA-467B-8D0C-4A2F34D7303D}"/>
                  </a:ext>
                </a:extLst>
              </p:cNvPr>
              <p:cNvSpPr txBox="1"/>
              <p:nvPr/>
            </p:nvSpPr>
            <p:spPr>
              <a:xfrm>
                <a:off x="329299" y="2855072"/>
                <a:ext cx="487178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𝑝</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𝑝</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𝑞</m:t>
                          </m:r>
                          <m:r>
                            <a:rPr lang="es-MX" sz="2000" i="1">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𝑠</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𝑟</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𝑟</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𝑞</m:t>
                          </m:r>
                          <m:r>
                            <a:rPr lang="es-MX" sz="2000" b="0" i="1" smtClean="0">
                              <a:latin typeface="Cambria Math" panose="02040503050406030204" pitchFamily="18" charset="0"/>
                              <a:ea typeface="Cambria Math" panose="02040503050406030204" pitchFamily="18" charset="0"/>
                            </a:rPr>
                            <m:t>)</m:t>
                          </m:r>
                        </m:e>
                      </m:d>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𝑠</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𝑡</m:t>
                      </m:r>
                      <m:r>
                        <a:rPr lang="es-MX" sz="2000" b="0" i="1" smtClean="0">
                          <a:latin typeface="Cambria Math" panose="02040503050406030204" pitchFamily="18" charset="0"/>
                          <a:ea typeface="Roboto" panose="02000000000000000000" pitchFamily="2" charset="0"/>
                        </a:rPr>
                        <m:t>)</m:t>
                      </m:r>
                    </m:oMath>
                  </m:oMathPara>
                </a14:m>
                <a:endParaRPr lang="es-MX" sz="2000" dirty="0">
                  <a:latin typeface="Roboto" panose="02000000000000000000" pitchFamily="2" charset="0"/>
                  <a:ea typeface="Cambria Math" panose="02040503050406030204" pitchFamily="18" charset="0"/>
                </a:endParaRPr>
              </a:p>
            </p:txBody>
          </p:sp>
        </mc:Choice>
        <mc:Fallback xmlns="">
          <p:sp>
            <p:nvSpPr>
              <p:cNvPr id="6" name="CuadroTexto 5">
                <a:extLst>
                  <a:ext uri="{FF2B5EF4-FFF2-40B4-BE49-F238E27FC236}">
                    <a16:creationId xmlns:a16="http://schemas.microsoft.com/office/drawing/2014/main" id="{42A50C60-7BBA-467B-8D0C-4A2F34D7303D}"/>
                  </a:ext>
                </a:extLst>
              </p:cNvPr>
              <p:cNvSpPr txBox="1">
                <a:spLocks noRot="1" noChangeAspect="1" noMove="1" noResize="1" noEditPoints="1" noAdjustHandles="1" noChangeArrowheads="1" noChangeShapeType="1" noTextEdit="1"/>
              </p:cNvSpPr>
              <p:nvPr/>
            </p:nvSpPr>
            <p:spPr>
              <a:xfrm>
                <a:off x="329299" y="2855072"/>
                <a:ext cx="4871783" cy="307777"/>
              </a:xfrm>
              <a:prstGeom prst="rect">
                <a:avLst/>
              </a:prstGeom>
              <a:blipFill>
                <a:blip r:embed="rId4"/>
                <a:stretch>
                  <a:fillRect r="-1377" b="-35294"/>
                </a:stretch>
              </a:blipFill>
            </p:spPr>
            <p:txBody>
              <a:bodyPr/>
              <a:lstStyle/>
              <a:p>
                <a:r>
                  <a:rPr lang="es-CO">
                    <a:noFill/>
                  </a:rPr>
                  <a:t> </a:t>
                </a:r>
              </a:p>
            </p:txBody>
          </p:sp>
        </mc:Fallback>
      </mc:AlternateContent>
      <p:grpSp>
        <p:nvGrpSpPr>
          <p:cNvPr id="8" name="Grupo 7">
            <a:extLst>
              <a:ext uri="{FF2B5EF4-FFF2-40B4-BE49-F238E27FC236}">
                <a16:creationId xmlns:a16="http://schemas.microsoft.com/office/drawing/2014/main" id="{D0BE68F0-BE12-4829-BD4C-A0B781D62214}"/>
              </a:ext>
            </a:extLst>
          </p:cNvPr>
          <p:cNvGrpSpPr/>
          <p:nvPr/>
        </p:nvGrpSpPr>
        <p:grpSpPr>
          <a:xfrm>
            <a:off x="329299" y="4237411"/>
            <a:ext cx="3269672" cy="1631216"/>
            <a:chOff x="4134911" y="4512927"/>
            <a:chExt cx="3269672" cy="1631216"/>
          </a:xfrm>
        </p:grpSpPr>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B0CCF1CD-37AD-4A7C-B105-0D5B77F95058}"/>
                    </a:ext>
                  </a:extLst>
                </p:cNvPr>
                <p:cNvSpPr txBox="1"/>
                <p:nvPr/>
              </p:nvSpPr>
              <p:spPr>
                <a:xfrm>
                  <a:off x="4134911" y="4512927"/>
                  <a:ext cx="3184297" cy="163121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Roboto" panose="02000000000000000000" pitchFamily="2" charset="0"/>
                          </a:rPr>
                          <m:t>               </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𝑎</m:t>
                            </m:r>
                          </m:e>
                        </m:d>
                      </m:oMath>
                    </m:oMathPara>
                  </a14:m>
                  <a:endParaRPr lang="es-MX" sz="2000" b="0" i="1" dirty="0">
                    <a:latin typeface="Cambria Math" panose="02040503050406030204" pitchFamily="18" charset="0"/>
                    <a:ea typeface="Roboto" panose="02000000000000000000" pitchFamily="2" charset="0"/>
                  </a:endParaRPr>
                </a:p>
                <a:p>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   </m:t>
                        </m:r>
                        <m:r>
                          <a:rPr lang="es-MX" sz="2000" i="1">
                            <a:latin typeface="Cambria Math" panose="02040503050406030204" pitchFamily="18" charset="0"/>
                            <a:ea typeface="Cambria Math" panose="02040503050406030204" pitchFamily="18" charset="0"/>
                          </a:rPr>
                          <m:t>𝑝</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𝑞</m:t>
                        </m:r>
                        <m:r>
                          <a:rPr lang="es-MX" sz="2000" b="0" i="1" smtClean="0">
                            <a:latin typeface="Cambria Math" panose="02040503050406030204" pitchFamily="18" charset="0"/>
                            <a:ea typeface="Cambria Math" panose="02040503050406030204" pitchFamily="18" charset="0"/>
                          </a:rPr>
                          <m:t>      </m:t>
                        </m:r>
                        <m:d>
                          <m:dPr>
                            <m:ctrlPr>
                              <a:rPr lang="es-MX" sz="2000" i="1">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𝑏</m:t>
                            </m:r>
                          </m:e>
                        </m:d>
                      </m:oMath>
                    </m:oMathPara>
                  </a14:m>
                  <a:endParaRPr lang="es-MX" sz="2000" b="0" i="1" dirty="0">
                    <a:latin typeface="Cambria Math" panose="02040503050406030204" pitchFamily="18" charset="0"/>
                    <a:ea typeface="Roboto" panose="02000000000000000000" pitchFamily="2" charset="0"/>
                  </a:endParaRPr>
                </a:p>
                <a:p>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   </m:t>
                        </m:r>
                        <m:r>
                          <a:rPr lang="es-MX" sz="2000" i="1">
                            <a:latin typeface="Cambria Math" panose="02040503050406030204" pitchFamily="18" charset="0"/>
                            <a:ea typeface="Cambria Math" panose="02040503050406030204" pitchFamily="18" charset="0"/>
                          </a:rPr>
                          <m:t>𝑠</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𝑟</m:t>
                        </m:r>
                        <m:r>
                          <a:rPr lang="es-MX" sz="2000" b="0" i="1" smtClean="0">
                            <a:latin typeface="Cambria Math" panose="02040503050406030204" pitchFamily="18" charset="0"/>
                            <a:ea typeface="Cambria Math" panose="02040503050406030204" pitchFamily="18" charset="0"/>
                          </a:rPr>
                          <m:t>        </m:t>
                        </m:r>
                        <m:d>
                          <m:dPr>
                            <m:ctrlPr>
                              <a:rPr lang="es-MX" sz="2000" i="1">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𝑐</m:t>
                            </m:r>
                          </m:e>
                        </m:d>
                        <m:r>
                          <a:rPr lang="es-MX" sz="2000" b="0" i="1" smtClean="0">
                            <a:latin typeface="Cambria Math" panose="02040503050406030204" pitchFamily="18" charset="0"/>
                            <a:ea typeface="Roboto" panose="02000000000000000000" pitchFamily="2" charset="0"/>
                          </a:rPr>
                          <m:t> </m:t>
                        </m:r>
                      </m:oMath>
                    </m:oMathPara>
                  </a14:m>
                  <a:endParaRPr lang="es-MX" sz="20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   </m:t>
                        </m:r>
                        <m:r>
                          <a:rPr lang="es-MX" sz="2000" i="1">
                            <a:latin typeface="Cambria Math" panose="02040503050406030204" pitchFamily="18" charset="0"/>
                            <a:ea typeface="Cambria Math" panose="02040503050406030204" pitchFamily="18" charset="0"/>
                          </a:rPr>
                          <m:t>𝑟</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𝑞</m:t>
                        </m:r>
                        <m:r>
                          <a:rPr lang="es-MX" sz="2000" b="0" i="1" smtClean="0">
                            <a:latin typeface="Cambria Math" panose="02040503050406030204" pitchFamily="18" charset="0"/>
                            <a:ea typeface="Cambria Math" panose="02040503050406030204" pitchFamily="18" charset="0"/>
                          </a:rPr>
                          <m:t>   </m:t>
                        </m:r>
                        <m:d>
                          <m:dPr>
                            <m:ctrlPr>
                              <a:rPr lang="es-MX" sz="2000" i="1">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𝑑</m:t>
                            </m:r>
                          </m:e>
                        </m:d>
                      </m:oMath>
                    </m:oMathPara>
                  </a14:m>
                  <a:endParaRPr lang="es-MX" sz="20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Roboto" panose="02000000000000000000" pitchFamily="2" charset="0"/>
                          </a:rPr>
                          <m:t>𝑠</m:t>
                        </m:r>
                        <m:r>
                          <a:rPr lang="es-MX" sz="2000" i="1">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𝑡</m:t>
                        </m:r>
                      </m:oMath>
                    </m:oMathPara>
                  </a14:m>
                  <a:endParaRPr lang="es-MX" sz="2000" b="0" dirty="0">
                    <a:latin typeface="Roboto" panose="02000000000000000000" pitchFamily="2" charset="0"/>
                    <a:ea typeface="Cambria Math" panose="02040503050406030204" pitchFamily="18" charset="0"/>
                  </a:endParaRPr>
                </a:p>
              </p:txBody>
            </p:sp>
          </mc:Choice>
          <mc:Fallback xmlns="">
            <p:sp>
              <p:nvSpPr>
                <p:cNvPr id="9" name="CuadroTexto 8">
                  <a:extLst>
                    <a:ext uri="{FF2B5EF4-FFF2-40B4-BE49-F238E27FC236}">
                      <a16:creationId xmlns:a16="http://schemas.microsoft.com/office/drawing/2014/main" id="{B0CCF1CD-37AD-4A7C-B105-0D5B77F95058}"/>
                    </a:ext>
                  </a:extLst>
                </p:cNvPr>
                <p:cNvSpPr txBox="1">
                  <a:spLocks noRot="1" noChangeAspect="1" noMove="1" noResize="1" noEditPoints="1" noAdjustHandles="1" noChangeArrowheads="1" noChangeShapeType="1" noTextEdit="1"/>
                </p:cNvSpPr>
                <p:nvPr/>
              </p:nvSpPr>
              <p:spPr>
                <a:xfrm>
                  <a:off x="4134911" y="4512927"/>
                  <a:ext cx="3184297" cy="1631216"/>
                </a:xfrm>
                <a:prstGeom prst="rect">
                  <a:avLst/>
                </a:prstGeom>
                <a:blipFill>
                  <a:blip r:embed="rId5"/>
                  <a:stretch>
                    <a:fillRect/>
                  </a:stretch>
                </a:blipFill>
              </p:spPr>
              <p:txBody>
                <a:bodyPr/>
                <a:lstStyle/>
                <a:p>
                  <a:r>
                    <a:rPr lang="es-CO">
                      <a:noFill/>
                    </a:rPr>
                    <a:t> </a:t>
                  </a:r>
                </a:p>
              </p:txBody>
            </p:sp>
          </mc:Fallback>
        </mc:AlternateContent>
        <p:cxnSp>
          <p:nvCxnSpPr>
            <p:cNvPr id="10" name="Conector recto 9">
              <a:extLst>
                <a:ext uri="{FF2B5EF4-FFF2-40B4-BE49-F238E27FC236}">
                  <a16:creationId xmlns:a16="http://schemas.microsoft.com/office/drawing/2014/main" id="{3C603B32-121F-40DA-9D9D-06CAF852F69C}"/>
                </a:ext>
              </a:extLst>
            </p:cNvPr>
            <p:cNvCxnSpPr/>
            <p:nvPr/>
          </p:nvCxnSpPr>
          <p:spPr>
            <a:xfrm>
              <a:off x="4204183" y="5817166"/>
              <a:ext cx="3200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Google Shape;310;p34">
            <a:extLst>
              <a:ext uri="{FF2B5EF4-FFF2-40B4-BE49-F238E27FC236}">
                <a16:creationId xmlns:a16="http://schemas.microsoft.com/office/drawing/2014/main" id="{479E939A-8648-4A74-A508-50AE2D977FBE}"/>
              </a:ext>
            </a:extLst>
          </p:cNvPr>
          <p:cNvSpPr txBox="1">
            <a:spLocks/>
          </p:cNvSpPr>
          <p:nvPr/>
        </p:nvSpPr>
        <p:spPr>
          <a:xfrm>
            <a:off x="185090" y="2128442"/>
            <a:ext cx="4712557" cy="45705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b="1" dirty="0">
                <a:latin typeface="+mn-lt"/>
                <a:ea typeface="Roboto" panose="02000000000000000000" pitchFamily="2" charset="0"/>
              </a:rPr>
              <a:t>Tautología</a:t>
            </a:r>
          </a:p>
        </p:txBody>
      </p:sp>
      <p:sp>
        <p:nvSpPr>
          <p:cNvPr id="15" name="Google Shape;310;p34">
            <a:extLst>
              <a:ext uri="{FF2B5EF4-FFF2-40B4-BE49-F238E27FC236}">
                <a16:creationId xmlns:a16="http://schemas.microsoft.com/office/drawing/2014/main" id="{F48F2B91-6ADB-4F4A-BA04-B82313D18681}"/>
              </a:ext>
            </a:extLst>
          </p:cNvPr>
          <p:cNvSpPr txBox="1">
            <a:spLocks/>
          </p:cNvSpPr>
          <p:nvPr/>
        </p:nvSpPr>
        <p:spPr>
          <a:xfrm>
            <a:off x="185090" y="3466147"/>
            <a:ext cx="4712557" cy="45705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b="1" dirty="0">
                <a:latin typeface="+mn-lt"/>
                <a:ea typeface="Roboto" panose="02000000000000000000" pitchFamily="2" charset="0"/>
              </a:rPr>
              <a:t>Regla de inferencia</a:t>
            </a:r>
          </a:p>
        </p:txBody>
      </p:sp>
    </p:spTree>
    <p:extLst>
      <p:ext uri="{BB962C8B-B14F-4D97-AF65-F5344CB8AC3E}">
        <p14:creationId xmlns:p14="http://schemas.microsoft.com/office/powerpoint/2010/main" val="17052717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408039" y="64701"/>
            <a:ext cx="11044291" cy="949500"/>
          </a:xfrm>
        </p:spPr>
        <p:txBody>
          <a:bodyPr/>
          <a:lstStyle/>
          <a:p>
            <a:r>
              <a:rPr lang="es-ES" dirty="0">
                <a:solidFill>
                  <a:schemeClr val="tx1"/>
                </a:solidFill>
                <a:latin typeface="+mj-lt"/>
              </a:rPr>
              <a:t>Validación de argumentos – Enfoque axiomático</a:t>
            </a:r>
            <a:endParaRPr lang="es-CO" dirty="0">
              <a:solidFill>
                <a:schemeClr val="tx1"/>
              </a:solidFill>
            </a:endParaRPr>
          </a:p>
        </p:txBody>
      </p:sp>
      <p:grpSp>
        <p:nvGrpSpPr>
          <p:cNvPr id="6" name="Grupo 5">
            <a:extLst>
              <a:ext uri="{FF2B5EF4-FFF2-40B4-BE49-F238E27FC236}">
                <a16:creationId xmlns:a16="http://schemas.microsoft.com/office/drawing/2014/main" id="{0232C276-E45D-47D4-A591-DE07104D9C81}"/>
              </a:ext>
            </a:extLst>
          </p:cNvPr>
          <p:cNvGrpSpPr/>
          <p:nvPr/>
        </p:nvGrpSpPr>
        <p:grpSpPr>
          <a:xfrm>
            <a:off x="982590" y="2385650"/>
            <a:ext cx="3269672" cy="1631216"/>
            <a:chOff x="4134911" y="4512927"/>
            <a:chExt cx="3269672" cy="1631216"/>
          </a:xfrm>
        </p:grpSpPr>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0D9A002A-9A74-4C81-B62F-339313FF26FE}"/>
                    </a:ext>
                  </a:extLst>
                </p:cNvPr>
                <p:cNvSpPr txBox="1"/>
                <p:nvPr/>
              </p:nvSpPr>
              <p:spPr>
                <a:xfrm>
                  <a:off x="4134911" y="4512927"/>
                  <a:ext cx="3184297" cy="163121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Roboto" panose="02000000000000000000" pitchFamily="2" charset="0"/>
                          </a:rPr>
                          <m:t>               </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𝑎</m:t>
                            </m:r>
                          </m:e>
                        </m:d>
                      </m:oMath>
                    </m:oMathPara>
                  </a14:m>
                  <a:endParaRPr lang="es-MX" sz="2000" b="0" i="1" dirty="0">
                    <a:latin typeface="Cambria Math" panose="02040503050406030204" pitchFamily="18" charset="0"/>
                    <a:ea typeface="Roboto" panose="02000000000000000000" pitchFamily="2" charset="0"/>
                  </a:endParaRPr>
                </a:p>
                <a:p>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   </m:t>
                        </m:r>
                        <m:r>
                          <a:rPr lang="es-MX" sz="2000" i="1">
                            <a:latin typeface="Cambria Math" panose="02040503050406030204" pitchFamily="18" charset="0"/>
                            <a:ea typeface="Cambria Math" panose="02040503050406030204" pitchFamily="18" charset="0"/>
                          </a:rPr>
                          <m:t>𝑝</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𝑞</m:t>
                        </m:r>
                        <m:r>
                          <a:rPr lang="es-MX" sz="2000" b="0" i="1" smtClean="0">
                            <a:latin typeface="Cambria Math" panose="02040503050406030204" pitchFamily="18" charset="0"/>
                            <a:ea typeface="Cambria Math" panose="02040503050406030204" pitchFamily="18" charset="0"/>
                          </a:rPr>
                          <m:t>      </m:t>
                        </m:r>
                        <m:d>
                          <m:dPr>
                            <m:ctrlPr>
                              <a:rPr lang="es-MX" sz="2000" i="1">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𝑏</m:t>
                            </m:r>
                          </m:e>
                        </m:d>
                      </m:oMath>
                    </m:oMathPara>
                  </a14:m>
                  <a:endParaRPr lang="es-MX" sz="2000" b="0" i="1" dirty="0">
                    <a:latin typeface="Cambria Math" panose="02040503050406030204" pitchFamily="18" charset="0"/>
                    <a:ea typeface="Roboto" panose="02000000000000000000" pitchFamily="2" charset="0"/>
                  </a:endParaRPr>
                </a:p>
                <a:p>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   </m:t>
                        </m:r>
                        <m:r>
                          <a:rPr lang="es-MX" sz="2000" i="1">
                            <a:latin typeface="Cambria Math" panose="02040503050406030204" pitchFamily="18" charset="0"/>
                            <a:ea typeface="Cambria Math" panose="02040503050406030204" pitchFamily="18" charset="0"/>
                          </a:rPr>
                          <m:t>𝑠</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𝑟</m:t>
                        </m:r>
                        <m:r>
                          <a:rPr lang="es-MX" sz="2000" b="0" i="1" smtClean="0">
                            <a:latin typeface="Cambria Math" panose="02040503050406030204" pitchFamily="18" charset="0"/>
                            <a:ea typeface="Cambria Math" panose="02040503050406030204" pitchFamily="18" charset="0"/>
                          </a:rPr>
                          <m:t>        </m:t>
                        </m:r>
                        <m:d>
                          <m:dPr>
                            <m:ctrlPr>
                              <a:rPr lang="es-MX" sz="2000" i="1">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𝑐</m:t>
                            </m:r>
                          </m:e>
                        </m:d>
                        <m:r>
                          <a:rPr lang="es-MX" sz="2000" b="0" i="1" smtClean="0">
                            <a:latin typeface="Cambria Math" panose="02040503050406030204" pitchFamily="18" charset="0"/>
                            <a:ea typeface="Roboto" panose="02000000000000000000" pitchFamily="2" charset="0"/>
                          </a:rPr>
                          <m:t> </m:t>
                        </m:r>
                      </m:oMath>
                    </m:oMathPara>
                  </a14:m>
                  <a:endParaRPr lang="es-MX" sz="20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   </m:t>
                        </m:r>
                        <m:r>
                          <a:rPr lang="es-MX" sz="2000" i="1">
                            <a:latin typeface="Cambria Math" panose="02040503050406030204" pitchFamily="18" charset="0"/>
                            <a:ea typeface="Cambria Math" panose="02040503050406030204" pitchFamily="18" charset="0"/>
                          </a:rPr>
                          <m:t>𝑟</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𝑞</m:t>
                        </m:r>
                        <m:r>
                          <a:rPr lang="es-MX" sz="2000" b="0" i="1" smtClean="0">
                            <a:latin typeface="Cambria Math" panose="02040503050406030204" pitchFamily="18" charset="0"/>
                            <a:ea typeface="Cambria Math" panose="02040503050406030204" pitchFamily="18" charset="0"/>
                          </a:rPr>
                          <m:t>   </m:t>
                        </m:r>
                        <m:d>
                          <m:dPr>
                            <m:ctrlPr>
                              <a:rPr lang="es-MX" sz="2000" i="1">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𝑑</m:t>
                            </m:r>
                          </m:e>
                        </m:d>
                      </m:oMath>
                    </m:oMathPara>
                  </a14:m>
                  <a:endParaRPr lang="es-MX" sz="20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Roboto" panose="02000000000000000000" pitchFamily="2" charset="0"/>
                          </a:rPr>
                          <m:t>𝑠</m:t>
                        </m:r>
                        <m:r>
                          <a:rPr lang="es-MX" sz="2000" i="1">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𝑡</m:t>
                        </m:r>
                      </m:oMath>
                    </m:oMathPara>
                  </a14:m>
                  <a:endParaRPr lang="es-MX" sz="2000" b="0" dirty="0">
                    <a:latin typeface="Roboto" panose="02000000000000000000" pitchFamily="2" charset="0"/>
                    <a:ea typeface="Cambria Math" panose="02040503050406030204" pitchFamily="18" charset="0"/>
                  </a:endParaRPr>
                </a:p>
              </p:txBody>
            </p:sp>
          </mc:Choice>
          <mc:Fallback xmlns="">
            <p:sp>
              <p:nvSpPr>
                <p:cNvPr id="8" name="CuadroTexto 7">
                  <a:extLst>
                    <a:ext uri="{FF2B5EF4-FFF2-40B4-BE49-F238E27FC236}">
                      <a16:creationId xmlns:a16="http://schemas.microsoft.com/office/drawing/2014/main" id="{0D9A002A-9A74-4C81-B62F-339313FF26FE}"/>
                    </a:ext>
                  </a:extLst>
                </p:cNvPr>
                <p:cNvSpPr txBox="1">
                  <a:spLocks noRot="1" noChangeAspect="1" noMove="1" noResize="1" noEditPoints="1" noAdjustHandles="1" noChangeArrowheads="1" noChangeShapeType="1" noTextEdit="1"/>
                </p:cNvSpPr>
                <p:nvPr/>
              </p:nvSpPr>
              <p:spPr>
                <a:xfrm>
                  <a:off x="4134911" y="4512927"/>
                  <a:ext cx="3184297" cy="1631216"/>
                </a:xfrm>
                <a:prstGeom prst="rect">
                  <a:avLst/>
                </a:prstGeom>
                <a:blipFill>
                  <a:blip r:embed="rId3"/>
                  <a:stretch>
                    <a:fillRect/>
                  </a:stretch>
                </a:blipFill>
              </p:spPr>
              <p:txBody>
                <a:bodyPr/>
                <a:lstStyle/>
                <a:p>
                  <a:r>
                    <a:rPr lang="es-CO">
                      <a:noFill/>
                    </a:rPr>
                    <a:t> </a:t>
                  </a:r>
                </a:p>
              </p:txBody>
            </p:sp>
          </mc:Fallback>
        </mc:AlternateContent>
        <p:cxnSp>
          <p:nvCxnSpPr>
            <p:cNvPr id="9" name="Conector recto 8">
              <a:extLst>
                <a:ext uri="{FF2B5EF4-FFF2-40B4-BE49-F238E27FC236}">
                  <a16:creationId xmlns:a16="http://schemas.microsoft.com/office/drawing/2014/main" id="{7C4C3CE7-E96A-4D92-A7C7-9878A1B6F133}"/>
                </a:ext>
              </a:extLst>
            </p:cNvPr>
            <p:cNvCxnSpPr/>
            <p:nvPr/>
          </p:nvCxnSpPr>
          <p:spPr>
            <a:xfrm>
              <a:off x="4204183" y="5817165"/>
              <a:ext cx="3200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graphicFrame>
            <p:nvGraphicFramePr>
              <p:cNvPr id="10" name="Tabla 2">
                <a:extLst>
                  <a:ext uri="{FF2B5EF4-FFF2-40B4-BE49-F238E27FC236}">
                    <a16:creationId xmlns:a16="http://schemas.microsoft.com/office/drawing/2014/main" id="{946F101F-5C2C-400A-BED8-6B4476E53DC2}"/>
                  </a:ext>
                </a:extLst>
              </p:cNvPr>
              <p:cNvGraphicFramePr>
                <a:graphicFrameLocks noGrp="1"/>
              </p:cNvGraphicFramePr>
              <p:nvPr>
                <p:extLst>
                  <p:ext uri="{D42A27DB-BD31-4B8C-83A1-F6EECF244321}">
                    <p14:modId xmlns:p14="http://schemas.microsoft.com/office/powerpoint/2010/main" val="193085530"/>
                  </p:ext>
                </p:extLst>
              </p:nvPr>
            </p:nvGraphicFramePr>
            <p:xfrm>
              <a:off x="5239657" y="1837546"/>
              <a:ext cx="6444342" cy="4358640"/>
            </p:xfrm>
            <a:graphic>
              <a:graphicData uri="http://schemas.openxmlformats.org/drawingml/2006/table">
                <a:tbl>
                  <a:tblPr firstRow="1" bandRow="1">
                    <a:tableStyleId>{AD6A3598-7CB8-4345-8D95-17CE05F158A0}</a:tableStyleId>
                  </a:tblPr>
                  <a:tblGrid>
                    <a:gridCol w="704486">
                      <a:extLst>
                        <a:ext uri="{9D8B030D-6E8A-4147-A177-3AD203B41FA5}">
                          <a16:colId xmlns:a16="http://schemas.microsoft.com/office/drawing/2014/main" val="1610952478"/>
                        </a:ext>
                      </a:extLst>
                    </a:gridCol>
                    <a:gridCol w="2285458">
                      <a:extLst>
                        <a:ext uri="{9D8B030D-6E8A-4147-A177-3AD203B41FA5}">
                          <a16:colId xmlns:a16="http://schemas.microsoft.com/office/drawing/2014/main" val="605476799"/>
                        </a:ext>
                      </a:extLst>
                    </a:gridCol>
                    <a:gridCol w="3454398">
                      <a:extLst>
                        <a:ext uri="{9D8B030D-6E8A-4147-A177-3AD203B41FA5}">
                          <a16:colId xmlns:a16="http://schemas.microsoft.com/office/drawing/2014/main" val="428185900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a:t>
                          </a:r>
                        </a:p>
                      </a:txBody>
                      <a:tcPr anchor="ctr">
                        <a:lnL w="9525" cap="flat" cmpd="sng">
                          <a:noFill/>
                          <a:prstDash val="solid"/>
                          <a:round/>
                          <a:headEnd type="none" w="sm" len="sm"/>
                          <a:tailEnd type="none" w="sm" len="sm"/>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Afirmación</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Razón</a:t>
                          </a:r>
                        </a:p>
                      </a:txBody>
                      <a:tcPr anchor="ctr">
                        <a:lnL w="12700" cap="flat" cmpd="sng" algn="ctr">
                          <a:solidFill>
                            <a:schemeClr val="tx1"/>
                          </a:solidFill>
                          <a:prstDash val="sysDash"/>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370840">
                    <a:tc>
                      <a:txBody>
                        <a:bodyPr/>
                        <a:lstStyle/>
                        <a:p>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Cambria Math" panose="02040503050406030204" pitchFamily="18" charset="0"/>
                                  </a:rPr>
                                  <m:t>𝟏</m:t>
                                </m:r>
                              </m:oMath>
                            </m:oMathPara>
                          </a14:m>
                          <a:endParaRPr lang="es-CO" sz="2000" b="1" dirty="0">
                            <a:latin typeface="+mn-lt"/>
                          </a:endParaRPr>
                        </a:p>
                      </a:txBody>
                      <a:tcPr anchor="ctr">
                        <a:lnL w="9525" cap="flat" cmpd="sng">
                          <a:noFill/>
                          <a:prstDash val="solid"/>
                          <a:round/>
                          <a:headEnd type="none" w="sm" len="sm"/>
                          <a:tailEnd type="none" w="sm" len="sm"/>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lgn="l"/>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Roboto" panose="02000000000000000000" pitchFamily="2" charset="0"/>
                                  </a:rPr>
                                  <m:t>𝑝</m:t>
                                </m:r>
                              </m:oMath>
                            </m:oMathPara>
                          </a14:m>
                          <a:endParaRPr lang="es-CO" dirty="0">
                            <a:latin typeface="+mn-lt"/>
                          </a:endParaRP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2000" dirty="0">
                              <a:latin typeface="+mn-lt"/>
                              <a:ea typeface="Roboto" panose="02000000000000000000" pitchFamily="2" charset="0"/>
                            </a:rPr>
                            <a:t>Premisa </a:t>
                          </a:r>
                          <a:r>
                            <a:rPr lang="es-CO" sz="2000" b="1" dirty="0">
                              <a:latin typeface="+mn-lt"/>
                              <a:ea typeface="Roboto" panose="02000000000000000000" pitchFamily="2" charset="0"/>
                            </a:rPr>
                            <a:t>a</a:t>
                          </a:r>
                        </a:p>
                      </a:txBody>
                      <a:tcPr anchor="ctr">
                        <a:lnL w="12700" cap="flat" cmpd="sng" algn="ctr">
                          <a:solidFill>
                            <a:schemeClr val="tx1"/>
                          </a:solidFill>
                          <a:prstDash val="sysDash"/>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370840">
                    <a:tc>
                      <a:txBody>
                        <a:bodyPr/>
                        <a:lstStyle/>
                        <a:p>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Cambria Math" panose="02040503050406030204" pitchFamily="18" charset="0"/>
                                  </a:rPr>
                                  <m:t>𝟐</m:t>
                                </m:r>
                              </m:oMath>
                            </m:oMathPara>
                          </a14:m>
                          <a:endParaRPr lang="es-CO" sz="2000" dirty="0">
                            <a:latin typeface="+mn-lt"/>
                          </a:endParaRPr>
                        </a:p>
                      </a:txBody>
                      <a:tcPr anchor="ctr">
                        <a:lnL w="9525" cap="flat" cmpd="sng">
                          <a:noFill/>
                          <a:prstDash val="solid"/>
                          <a:round/>
                          <a:headEnd type="none" w="sm" len="sm"/>
                          <a:tailEnd type="none" w="sm" len="sm"/>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lgn="l"/>
                          <a14:m>
                            <m:oMathPara xmlns:m="http://schemas.openxmlformats.org/officeDocument/2006/math">
                              <m:oMathParaPr>
                                <m:jc m:val="left"/>
                              </m:oMathParaPr>
                              <m:oMath xmlns:m="http://schemas.openxmlformats.org/officeDocument/2006/math">
                                <m:r>
                                  <a:rPr lang="es-MX" sz="2000" i="1" smtClean="0">
                                    <a:latin typeface="Cambria Math" panose="02040503050406030204" pitchFamily="18" charset="0"/>
                                    <a:ea typeface="Cambria Math" panose="02040503050406030204" pitchFamily="18" charset="0"/>
                                  </a:rPr>
                                  <m:t>𝑝</m:t>
                                </m:r>
                                <m:r>
                                  <a:rPr lang="es-MX" sz="2000" i="1" smtClean="0">
                                    <a:latin typeface="Cambria Math" panose="02040503050406030204" pitchFamily="18" charset="0"/>
                                    <a:ea typeface="Cambria Math" panose="02040503050406030204" pitchFamily="18" charset="0"/>
                                  </a:rPr>
                                  <m:t>→</m:t>
                                </m:r>
                                <m:r>
                                  <a:rPr lang="es-MX" sz="2000" i="1" smtClean="0">
                                    <a:latin typeface="Cambria Math" panose="02040503050406030204" pitchFamily="18" charset="0"/>
                                    <a:ea typeface="Cambria Math" panose="02040503050406030204" pitchFamily="18" charset="0"/>
                                  </a:rPr>
                                  <m:t>𝑞</m:t>
                                </m:r>
                              </m:oMath>
                            </m:oMathPara>
                          </a14:m>
                          <a:endParaRPr lang="es-CO" dirty="0">
                            <a:latin typeface="+mn-lt"/>
                          </a:endParaRP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2000" dirty="0">
                              <a:latin typeface="+mn-lt"/>
                              <a:ea typeface="Roboto" panose="02000000000000000000" pitchFamily="2" charset="0"/>
                            </a:rPr>
                            <a:t>Premisa </a:t>
                          </a:r>
                          <a:r>
                            <a:rPr lang="es-CO" sz="2000" b="1" dirty="0">
                              <a:latin typeface="+mn-lt"/>
                              <a:ea typeface="Roboto" panose="02000000000000000000" pitchFamily="2" charset="0"/>
                            </a:rPr>
                            <a:t>b</a:t>
                          </a:r>
                        </a:p>
                      </a:txBody>
                      <a:tcPr anchor="ctr">
                        <a:lnL w="12700" cap="flat" cmpd="sng" algn="ctr">
                          <a:solidFill>
                            <a:schemeClr val="tx1"/>
                          </a:solidFill>
                          <a:prstDash val="sysDash"/>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370840">
                    <a:tc>
                      <a:txBody>
                        <a:bodyPr/>
                        <a:lstStyle/>
                        <a:p>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Cambria Math" panose="02040503050406030204" pitchFamily="18" charset="0"/>
                                  </a:rPr>
                                  <m:t>𝟑</m:t>
                                </m:r>
                              </m:oMath>
                            </m:oMathPara>
                          </a14:m>
                          <a:endParaRPr lang="es-CO" sz="2000" dirty="0">
                            <a:latin typeface="+mn-lt"/>
                          </a:endParaRPr>
                        </a:p>
                      </a:txBody>
                      <a:tcPr anchor="ctr">
                        <a:lnL w="9525" cap="flat" cmpd="sng">
                          <a:noFill/>
                          <a:prstDash val="solid"/>
                          <a:round/>
                          <a:headEnd type="none" w="sm" len="sm"/>
                          <a:tailEnd type="none" w="sm" len="sm"/>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lgn="l"/>
                          <a14:m>
                            <m:oMathPara xmlns:m="http://schemas.openxmlformats.org/officeDocument/2006/math">
                              <m:oMathParaPr>
                                <m:jc m:val="left"/>
                              </m:oMathParaPr>
                              <m:oMath xmlns:m="http://schemas.openxmlformats.org/officeDocument/2006/math">
                                <m:r>
                                  <a:rPr lang="es-MX" sz="2000" i="1" smtClean="0">
                                    <a:latin typeface="Cambria Math" panose="02040503050406030204" pitchFamily="18" charset="0"/>
                                    <a:ea typeface="Cambria Math" panose="02040503050406030204" pitchFamily="18" charset="0"/>
                                  </a:rPr>
                                  <m:t>𝑞</m:t>
                                </m:r>
                              </m:oMath>
                            </m:oMathPara>
                          </a14:m>
                          <a:endParaRPr lang="es-CO" dirty="0">
                            <a:latin typeface="+mn-lt"/>
                          </a:endParaRP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2000" dirty="0">
                              <a:latin typeface="+mn-lt"/>
                              <a:ea typeface="Roboto" panose="02000000000000000000" pitchFamily="2" charset="0"/>
                            </a:rPr>
                            <a:t>Modus ponens </a:t>
                          </a:r>
                          <a:r>
                            <a:rPr lang="es-CO" sz="2000" b="1" dirty="0">
                              <a:latin typeface="+mn-lt"/>
                              <a:ea typeface="Roboto" panose="02000000000000000000" pitchFamily="2" charset="0"/>
                            </a:rPr>
                            <a:t>1 </a:t>
                          </a:r>
                          <a:r>
                            <a:rPr lang="es-CO" sz="2000" b="0" dirty="0">
                              <a:latin typeface="+mn-lt"/>
                              <a:ea typeface="Roboto" panose="02000000000000000000" pitchFamily="2" charset="0"/>
                            </a:rPr>
                            <a:t>y</a:t>
                          </a:r>
                          <a:r>
                            <a:rPr lang="es-CO" sz="2000" b="1" dirty="0">
                              <a:latin typeface="+mn-lt"/>
                              <a:ea typeface="Roboto" panose="02000000000000000000" pitchFamily="2" charset="0"/>
                            </a:rPr>
                            <a:t> 2</a:t>
                          </a:r>
                        </a:p>
                      </a:txBody>
                      <a:tcPr anchor="ctr">
                        <a:lnL w="12700" cap="flat" cmpd="sng" algn="ctr">
                          <a:solidFill>
                            <a:schemeClr val="tx1"/>
                          </a:solidFill>
                          <a:prstDash val="sysDash"/>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370840">
                    <a:tc>
                      <a:txBody>
                        <a:bodyPr/>
                        <a:lstStyle/>
                        <a:p>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Cambria Math" panose="02040503050406030204" pitchFamily="18" charset="0"/>
                                  </a:rPr>
                                  <m:t>𝟒</m:t>
                                </m:r>
                              </m:oMath>
                            </m:oMathPara>
                          </a14:m>
                          <a:endParaRPr lang="es-CO" sz="2000" dirty="0">
                            <a:latin typeface="+mn-lt"/>
                          </a:endParaRPr>
                        </a:p>
                      </a:txBody>
                      <a:tcPr anchor="ctr">
                        <a:lnL w="9525" cap="flat" cmpd="sng">
                          <a:noFill/>
                          <a:prstDash val="solid"/>
                          <a:round/>
                          <a:headEnd type="none" w="sm" len="sm"/>
                          <a:tailEnd type="none" w="sm" len="sm"/>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lgn="l"/>
                          <a14:m>
                            <m:oMathPara xmlns:m="http://schemas.openxmlformats.org/officeDocument/2006/math">
                              <m:oMathParaPr>
                                <m:jc m:val="left"/>
                              </m:oMathParaPr>
                              <m:oMath xmlns:m="http://schemas.openxmlformats.org/officeDocument/2006/math">
                                <m:r>
                                  <a:rPr lang="es-MX" sz="2000" i="1" smtClean="0">
                                    <a:latin typeface="Cambria Math" panose="02040503050406030204" pitchFamily="18" charset="0"/>
                                    <a:ea typeface="Cambria Math" panose="02040503050406030204" pitchFamily="18" charset="0"/>
                                  </a:rPr>
                                  <m:t>𝑟</m:t>
                                </m:r>
                                <m:r>
                                  <a:rPr lang="es-MX" sz="2000" i="1" smtClean="0">
                                    <a:latin typeface="Cambria Math" panose="02040503050406030204" pitchFamily="18" charset="0"/>
                                    <a:ea typeface="Cambria Math" panose="02040503050406030204" pitchFamily="18" charset="0"/>
                                  </a:rPr>
                                  <m:t>→¬</m:t>
                                </m:r>
                                <m:r>
                                  <a:rPr lang="es-MX" sz="2000" i="1" smtClean="0">
                                    <a:latin typeface="Cambria Math" panose="02040503050406030204" pitchFamily="18" charset="0"/>
                                    <a:ea typeface="Cambria Math" panose="02040503050406030204" pitchFamily="18" charset="0"/>
                                  </a:rPr>
                                  <m:t>𝑞</m:t>
                                </m:r>
                              </m:oMath>
                            </m:oMathPara>
                          </a14:m>
                          <a:endParaRPr lang="es-CO" dirty="0">
                            <a:latin typeface="+mn-lt"/>
                          </a:endParaRP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2000" dirty="0">
                              <a:latin typeface="+mn-lt"/>
                              <a:ea typeface="Roboto" panose="02000000000000000000" pitchFamily="2" charset="0"/>
                            </a:rPr>
                            <a:t>Premisa </a:t>
                          </a:r>
                          <a:r>
                            <a:rPr lang="es-CO" sz="2000" b="1" dirty="0">
                              <a:latin typeface="+mn-lt"/>
                              <a:ea typeface="Roboto" panose="02000000000000000000" pitchFamily="2" charset="0"/>
                            </a:rPr>
                            <a:t>d</a:t>
                          </a:r>
                        </a:p>
                      </a:txBody>
                      <a:tcPr anchor="ctr">
                        <a:lnL w="12700" cap="flat" cmpd="sng" algn="ctr">
                          <a:solidFill>
                            <a:schemeClr val="tx1"/>
                          </a:solidFill>
                          <a:prstDash val="sysDash"/>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r h="370840">
                    <a:tc>
                      <a:txBody>
                        <a:bodyPr/>
                        <a:lstStyle/>
                        <a:p>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Cambria Math" panose="02040503050406030204" pitchFamily="18" charset="0"/>
                                  </a:rPr>
                                  <m:t>𝟓</m:t>
                                </m:r>
                              </m:oMath>
                            </m:oMathPara>
                          </a14:m>
                          <a:endParaRPr lang="es-CO" sz="2000" dirty="0">
                            <a:latin typeface="+mn-lt"/>
                          </a:endParaRPr>
                        </a:p>
                      </a:txBody>
                      <a:tcPr anchor="ctr">
                        <a:lnL w="9525" cap="flat" cmpd="sng">
                          <a:noFill/>
                          <a:prstDash val="solid"/>
                          <a:round/>
                          <a:headEnd type="none" w="sm" len="sm"/>
                          <a:tailEnd type="none" w="sm" len="sm"/>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lgn="l"/>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rPr>
                                  <m:t>¬</m:t>
                                </m:r>
                                <m:d>
                                  <m:dPr>
                                    <m:ctrlPr>
                                      <a:rPr lang="es-MX" sz="2000" b="0" i="1" smtClean="0">
                                        <a:latin typeface="Cambria Math" panose="02040503050406030204" pitchFamily="18" charset="0"/>
                                      </a:rPr>
                                    </m:ctrlPr>
                                  </m:dPr>
                                  <m:e>
                                    <m:r>
                                      <a:rPr lang="es-MX" sz="2000" b="0" i="1" smtClean="0">
                                        <a:latin typeface="Cambria Math" panose="02040503050406030204" pitchFamily="18" charset="0"/>
                                      </a:rPr>
                                      <m:t>¬</m:t>
                                    </m:r>
                                    <m:r>
                                      <a:rPr lang="es-MX" sz="2000" b="0" i="1" smtClean="0">
                                        <a:latin typeface="Cambria Math" panose="02040503050406030204" pitchFamily="18" charset="0"/>
                                      </a:rPr>
                                      <m:t>𝑞</m:t>
                                    </m:r>
                                  </m:e>
                                </m:d>
                                <m:r>
                                  <a:rPr lang="es-MX" sz="2000" b="0" i="1" smtClean="0">
                                    <a:latin typeface="Cambria Math" panose="02040503050406030204" pitchFamily="18" charset="0"/>
                                  </a:rPr>
                                  <m:t>→¬</m:t>
                                </m:r>
                                <m:r>
                                  <a:rPr lang="es-MX" sz="2000" b="0" i="1" smtClean="0">
                                    <a:latin typeface="Cambria Math" panose="02040503050406030204" pitchFamily="18" charset="0"/>
                                  </a:rPr>
                                  <m:t>𝑟</m:t>
                                </m:r>
                              </m:oMath>
                            </m:oMathPara>
                          </a14:m>
                          <a:endParaRPr lang="es-CO" dirty="0">
                            <a:latin typeface="+mn-lt"/>
                          </a:endParaRP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2000" dirty="0">
                              <a:latin typeface="+mn-lt"/>
                              <a:ea typeface="Roboto" panose="02000000000000000000" pitchFamily="2" charset="0"/>
                            </a:rPr>
                            <a:t>Contrarrecíproco </a:t>
                          </a:r>
                          <a:r>
                            <a:rPr lang="es-CO" sz="2000" b="1" dirty="0">
                              <a:latin typeface="+mn-lt"/>
                              <a:ea typeface="Roboto" panose="02000000000000000000" pitchFamily="2" charset="0"/>
                            </a:rPr>
                            <a:t>4</a:t>
                          </a:r>
                        </a:p>
                      </a:txBody>
                      <a:tcPr anchor="ctr">
                        <a:lnL w="12700" cap="flat" cmpd="sng" algn="ctr">
                          <a:solidFill>
                            <a:schemeClr val="tx1"/>
                          </a:solidFill>
                          <a:prstDash val="sysDash"/>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006229"/>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Cambria Math" panose="02040503050406030204" pitchFamily="18" charset="0"/>
                                  </a:rPr>
                                  <m:t>𝟔</m:t>
                                </m:r>
                              </m:oMath>
                            </m:oMathPara>
                          </a14:m>
                          <a:endParaRPr lang="es-CO" sz="2000" dirty="0">
                            <a:latin typeface="+mn-lt"/>
                          </a:endParaRPr>
                        </a:p>
                      </a:txBody>
                      <a:tcPr anchor="ctr">
                        <a:lnL w="9525" cap="flat" cmpd="sng">
                          <a:noFill/>
                          <a:prstDash val="solid"/>
                          <a:round/>
                          <a:headEnd type="none" w="sm" len="sm"/>
                          <a:tailEnd type="none" w="sm" len="sm"/>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lgn="l"/>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rPr>
                                  <m:t>𝑞</m:t>
                                </m:r>
                                <m:r>
                                  <a:rPr lang="es-MX" sz="2000" b="0" i="1" smtClean="0">
                                    <a:latin typeface="Cambria Math" panose="02040503050406030204" pitchFamily="18" charset="0"/>
                                  </a:rPr>
                                  <m:t>→¬</m:t>
                                </m:r>
                                <m:r>
                                  <a:rPr lang="es-MX" sz="2000" b="0" i="1" smtClean="0">
                                    <a:latin typeface="Cambria Math" panose="02040503050406030204" pitchFamily="18" charset="0"/>
                                  </a:rPr>
                                  <m:t>𝑟</m:t>
                                </m:r>
                              </m:oMath>
                            </m:oMathPara>
                          </a14:m>
                          <a:endParaRPr lang="es-CO" dirty="0">
                            <a:latin typeface="+mn-lt"/>
                          </a:endParaRP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2000" b="0" i="0" u="none" strike="noStrike" cap="none" dirty="0">
                              <a:solidFill>
                                <a:srgbClr val="000000"/>
                              </a:solidFill>
                              <a:latin typeface="+mn-lt"/>
                              <a:ea typeface="Roboto" panose="02000000000000000000" pitchFamily="2" charset="0"/>
                              <a:cs typeface="Arial"/>
                              <a:sym typeface="Arial"/>
                            </a:rPr>
                            <a:t>Doble negación en </a:t>
                          </a:r>
                          <a:r>
                            <a:rPr lang="es-CO" sz="2000" b="1" i="0" u="none" strike="noStrike" cap="none" dirty="0">
                              <a:solidFill>
                                <a:srgbClr val="000000"/>
                              </a:solidFill>
                              <a:latin typeface="+mn-lt"/>
                              <a:ea typeface="Roboto" panose="02000000000000000000" pitchFamily="2" charset="0"/>
                              <a:cs typeface="Arial"/>
                              <a:sym typeface="Arial"/>
                            </a:rPr>
                            <a:t>5</a:t>
                          </a:r>
                          <a:endParaRPr lang="es-CO" sz="2000" b="1" dirty="0">
                            <a:latin typeface="+mn-lt"/>
                            <a:ea typeface="Roboto" panose="02000000000000000000" pitchFamily="2" charset="0"/>
                          </a:endParaRPr>
                        </a:p>
                      </a:txBody>
                      <a:tcPr anchor="ctr">
                        <a:lnL w="12700" cap="flat" cmpd="sng" algn="ctr">
                          <a:solidFill>
                            <a:schemeClr val="tx1"/>
                          </a:solidFill>
                          <a:prstDash val="sysDash"/>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0261066"/>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Cambria Math" panose="02040503050406030204" pitchFamily="18" charset="0"/>
                                  </a:rPr>
                                  <m:t>𝟕</m:t>
                                </m:r>
                              </m:oMath>
                            </m:oMathPara>
                          </a14:m>
                          <a:endParaRPr lang="es-CO" sz="2000" b="1" dirty="0">
                            <a:latin typeface="+mn-lt"/>
                          </a:endParaRPr>
                        </a:p>
                      </a:txBody>
                      <a:tcPr anchor="ctr">
                        <a:lnL w="9525" cap="flat" cmpd="sng">
                          <a:noFill/>
                          <a:prstDash val="solid"/>
                          <a:round/>
                          <a:headEnd type="none" w="sm" len="sm"/>
                          <a:tailEnd type="none" w="sm" len="sm"/>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lgn="l"/>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𝑟</m:t>
                                </m:r>
                              </m:oMath>
                            </m:oMathPara>
                          </a14:m>
                          <a:endParaRPr lang="es-CO" dirty="0">
                            <a:latin typeface="+mn-lt"/>
                          </a:endParaRP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2000" dirty="0">
                              <a:latin typeface="+mn-lt"/>
                              <a:ea typeface="Roboto" panose="02000000000000000000" pitchFamily="2" charset="0"/>
                            </a:rPr>
                            <a:t>Modus ponens </a:t>
                          </a:r>
                          <a:r>
                            <a:rPr lang="es-CO" sz="2000" b="1" dirty="0">
                              <a:latin typeface="+mn-lt"/>
                              <a:ea typeface="Roboto" panose="02000000000000000000" pitchFamily="2" charset="0"/>
                            </a:rPr>
                            <a:t>3 </a:t>
                          </a:r>
                          <a:r>
                            <a:rPr lang="es-CO" sz="2000" b="0" dirty="0">
                              <a:latin typeface="+mn-lt"/>
                              <a:ea typeface="Roboto" panose="02000000000000000000" pitchFamily="2" charset="0"/>
                            </a:rPr>
                            <a:t>y</a:t>
                          </a:r>
                          <a:r>
                            <a:rPr lang="es-CO" sz="2000" b="1" dirty="0">
                              <a:latin typeface="+mn-lt"/>
                              <a:ea typeface="Roboto" panose="02000000000000000000" pitchFamily="2" charset="0"/>
                            </a:rPr>
                            <a:t> 6</a:t>
                          </a:r>
                        </a:p>
                      </a:txBody>
                      <a:tcPr anchor="ctr">
                        <a:lnL w="12700" cap="flat" cmpd="sng" algn="ctr">
                          <a:solidFill>
                            <a:schemeClr val="tx1"/>
                          </a:solidFill>
                          <a:prstDash val="sysDash"/>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2382845"/>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Cambria Math" panose="02040503050406030204" pitchFamily="18" charset="0"/>
                                  </a:rPr>
                                  <m:t>𝟖</m:t>
                                </m:r>
                              </m:oMath>
                            </m:oMathPara>
                          </a14:m>
                          <a:endParaRPr lang="es-CO" sz="2000" b="1" dirty="0">
                            <a:latin typeface="+mn-lt"/>
                          </a:endParaRPr>
                        </a:p>
                      </a:txBody>
                      <a:tcPr anchor="ctr">
                        <a:lnL w="9525" cap="flat" cmpd="sng">
                          <a:noFill/>
                          <a:prstDash val="solid"/>
                          <a:round/>
                          <a:headEnd type="none" w="sm" len="sm"/>
                          <a:tailEnd type="none" w="sm" len="sm"/>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lgn="l"/>
                          <a14:m>
                            <m:oMathPara xmlns:m="http://schemas.openxmlformats.org/officeDocument/2006/math">
                              <m:oMathParaPr>
                                <m:jc m:val="left"/>
                              </m:oMathParaPr>
                              <m:oMath xmlns:m="http://schemas.openxmlformats.org/officeDocument/2006/math">
                                <m:r>
                                  <a:rPr lang="es-MX" sz="2000" i="1" smtClean="0">
                                    <a:latin typeface="Cambria Math" panose="02040503050406030204" pitchFamily="18" charset="0"/>
                                    <a:ea typeface="Cambria Math" panose="02040503050406030204" pitchFamily="18" charset="0"/>
                                  </a:rPr>
                                  <m:t>𝑠</m:t>
                                </m:r>
                                <m:r>
                                  <a:rPr lang="es-MX" sz="2000" i="1" smtClean="0">
                                    <a:latin typeface="Cambria Math" panose="02040503050406030204" pitchFamily="18" charset="0"/>
                                    <a:ea typeface="Cambria Math" panose="02040503050406030204" pitchFamily="18" charset="0"/>
                                  </a:rPr>
                                  <m:t>∨</m:t>
                                </m:r>
                                <m:r>
                                  <a:rPr lang="es-MX" sz="2000" i="1" smtClean="0">
                                    <a:latin typeface="Cambria Math" panose="02040503050406030204" pitchFamily="18" charset="0"/>
                                    <a:ea typeface="Cambria Math" panose="02040503050406030204" pitchFamily="18" charset="0"/>
                                  </a:rPr>
                                  <m:t>𝑟</m:t>
                                </m:r>
                              </m:oMath>
                            </m:oMathPara>
                          </a14:m>
                          <a:endParaRPr lang="es-CO" dirty="0">
                            <a:latin typeface="+mn-lt"/>
                          </a:endParaRP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dirty="0">
                              <a:latin typeface="+mn-lt"/>
                              <a:ea typeface="Roboto" panose="02000000000000000000" pitchFamily="2" charset="0"/>
                            </a:rPr>
                            <a:t>Premisa </a:t>
                          </a:r>
                          <a:r>
                            <a:rPr lang="es-CO" sz="2000" b="1" dirty="0">
                              <a:latin typeface="+mn-lt"/>
                              <a:ea typeface="Roboto" panose="02000000000000000000" pitchFamily="2" charset="0"/>
                            </a:rPr>
                            <a:t>c</a:t>
                          </a:r>
                        </a:p>
                      </a:txBody>
                      <a:tcPr anchor="ctr">
                        <a:lnL w="12700" cap="flat" cmpd="sng" algn="ctr">
                          <a:solidFill>
                            <a:schemeClr val="tx1"/>
                          </a:solidFill>
                          <a:prstDash val="sysDash"/>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9326235"/>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Cambria Math" panose="02040503050406030204" pitchFamily="18" charset="0"/>
                                  </a:rPr>
                                  <m:t>𝟗</m:t>
                                </m:r>
                              </m:oMath>
                            </m:oMathPara>
                          </a14:m>
                          <a:endParaRPr lang="es-CO" sz="2000" b="1" dirty="0">
                            <a:latin typeface="+mn-lt"/>
                          </a:endParaRPr>
                        </a:p>
                      </a:txBody>
                      <a:tcPr anchor="ctr">
                        <a:lnL w="9525" cap="flat" cmpd="sng">
                          <a:noFill/>
                          <a:prstDash val="solid"/>
                          <a:round/>
                          <a:headEnd type="none" w="sm" len="sm"/>
                          <a:tailEnd type="none" w="sm" len="sm"/>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lgn="l"/>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Roboto" panose="02000000000000000000" pitchFamily="2" charset="0"/>
                                  </a:rPr>
                                  <m:t>𝑠</m:t>
                                </m:r>
                              </m:oMath>
                            </m:oMathPara>
                          </a14:m>
                          <a:endParaRPr lang="es-CO" dirty="0">
                            <a:latin typeface="+mn-lt"/>
                          </a:endParaRP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dirty="0">
                              <a:latin typeface="+mn-lt"/>
                              <a:ea typeface="Roboto" panose="02000000000000000000" pitchFamily="2" charset="0"/>
                            </a:rPr>
                            <a:t>Eliminación </a:t>
                          </a:r>
                          <a:r>
                            <a:rPr lang="es-CO" sz="2000" b="1" dirty="0">
                              <a:latin typeface="+mn-lt"/>
                              <a:ea typeface="Roboto" panose="02000000000000000000" pitchFamily="2" charset="0"/>
                            </a:rPr>
                            <a:t>7</a:t>
                          </a:r>
                          <a:r>
                            <a:rPr lang="es-CO" sz="2000" dirty="0">
                              <a:latin typeface="+mn-lt"/>
                              <a:ea typeface="Roboto" panose="02000000000000000000" pitchFamily="2" charset="0"/>
                            </a:rPr>
                            <a:t> y </a:t>
                          </a:r>
                          <a:r>
                            <a:rPr lang="es-CO" sz="2000" b="1" dirty="0">
                              <a:latin typeface="+mn-lt"/>
                              <a:ea typeface="Roboto" panose="02000000000000000000" pitchFamily="2" charset="0"/>
                            </a:rPr>
                            <a:t>8</a:t>
                          </a:r>
                        </a:p>
                      </a:txBody>
                      <a:tcPr anchor="ctr">
                        <a:lnL w="12700" cap="flat" cmpd="sng" algn="ctr">
                          <a:solidFill>
                            <a:schemeClr val="tx1"/>
                          </a:solidFill>
                          <a:prstDash val="sysDash"/>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2911942"/>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rPr>
                                  <m:t>𝟏𝟎</m:t>
                                </m:r>
                              </m:oMath>
                            </m:oMathPara>
                          </a14:m>
                          <a:endParaRPr lang="es-CO" sz="2000" b="1" dirty="0">
                            <a:latin typeface="+mn-lt"/>
                          </a:endParaRPr>
                        </a:p>
                      </a:txBody>
                      <a:tcPr anchor="ctr">
                        <a:lnL w="9525" cap="flat" cmpd="sng">
                          <a:noFill/>
                          <a:prstDash val="solid"/>
                          <a:round/>
                          <a:headEnd type="none" w="sm" len="sm"/>
                          <a:tailEnd type="none" w="sm" len="sm"/>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lgn="l"/>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m:t>
                                </m:r>
                                <m:r>
                                  <a:rPr lang="es-MX" sz="2000" i="1" smtClean="0">
                                    <a:latin typeface="Cambria Math" panose="02040503050406030204" pitchFamily="18" charset="0"/>
                                    <a:ea typeface="Cambria Math" panose="02040503050406030204" pitchFamily="18" charset="0"/>
                                  </a:rPr>
                                  <m:t>𝑠</m:t>
                                </m:r>
                                <m:r>
                                  <a:rPr lang="es-MX" sz="200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𝑡</m:t>
                                </m:r>
                              </m:oMath>
                            </m:oMathPara>
                          </a14:m>
                          <a:endParaRPr lang="es-CO" dirty="0">
                            <a:latin typeface="+mn-lt"/>
                          </a:endParaRP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dirty="0">
                              <a:latin typeface="+mn-lt"/>
                              <a:ea typeface="Roboto" panose="02000000000000000000" pitchFamily="2" charset="0"/>
                            </a:rPr>
                            <a:t>Adición </a:t>
                          </a:r>
                          <a:r>
                            <a:rPr lang="es-CO" sz="2000" b="1" dirty="0">
                              <a:latin typeface="+mn-lt"/>
                              <a:ea typeface="Roboto" panose="02000000000000000000" pitchFamily="2" charset="0"/>
                            </a:rPr>
                            <a:t>9</a:t>
                          </a:r>
                        </a:p>
                      </a:txBody>
                      <a:tcPr anchor="ctr">
                        <a:lnL w="12700" cap="flat" cmpd="sng" algn="ctr">
                          <a:solidFill>
                            <a:schemeClr val="tx1"/>
                          </a:solidFill>
                          <a:prstDash val="sysDash"/>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39766170"/>
                      </a:ext>
                    </a:extLst>
                  </a:tr>
                </a:tbl>
              </a:graphicData>
            </a:graphic>
          </p:graphicFrame>
        </mc:Choice>
        <mc:Fallback>
          <p:graphicFrame>
            <p:nvGraphicFramePr>
              <p:cNvPr id="10" name="Tabla 2">
                <a:extLst>
                  <a:ext uri="{FF2B5EF4-FFF2-40B4-BE49-F238E27FC236}">
                    <a16:creationId xmlns:a16="http://schemas.microsoft.com/office/drawing/2014/main" id="{946F101F-5C2C-400A-BED8-6B4476E53DC2}"/>
                  </a:ext>
                </a:extLst>
              </p:cNvPr>
              <p:cNvGraphicFramePr>
                <a:graphicFrameLocks noGrp="1"/>
              </p:cNvGraphicFramePr>
              <p:nvPr>
                <p:extLst>
                  <p:ext uri="{D42A27DB-BD31-4B8C-83A1-F6EECF244321}">
                    <p14:modId xmlns:p14="http://schemas.microsoft.com/office/powerpoint/2010/main" val="193085530"/>
                  </p:ext>
                </p:extLst>
              </p:nvPr>
            </p:nvGraphicFramePr>
            <p:xfrm>
              <a:off x="5239657" y="1837546"/>
              <a:ext cx="6444342" cy="4358640"/>
            </p:xfrm>
            <a:graphic>
              <a:graphicData uri="http://schemas.openxmlformats.org/drawingml/2006/table">
                <a:tbl>
                  <a:tblPr firstRow="1" bandRow="1">
                    <a:tableStyleId>{AD6A3598-7CB8-4345-8D95-17CE05F158A0}</a:tableStyleId>
                  </a:tblPr>
                  <a:tblGrid>
                    <a:gridCol w="704486">
                      <a:extLst>
                        <a:ext uri="{9D8B030D-6E8A-4147-A177-3AD203B41FA5}">
                          <a16:colId xmlns:a16="http://schemas.microsoft.com/office/drawing/2014/main" val="1610952478"/>
                        </a:ext>
                      </a:extLst>
                    </a:gridCol>
                    <a:gridCol w="2285458">
                      <a:extLst>
                        <a:ext uri="{9D8B030D-6E8A-4147-A177-3AD203B41FA5}">
                          <a16:colId xmlns:a16="http://schemas.microsoft.com/office/drawing/2014/main" val="605476799"/>
                        </a:ext>
                      </a:extLst>
                    </a:gridCol>
                    <a:gridCol w="3454398">
                      <a:extLst>
                        <a:ext uri="{9D8B030D-6E8A-4147-A177-3AD203B41FA5}">
                          <a16:colId xmlns:a16="http://schemas.microsoft.com/office/drawing/2014/main" val="4281859008"/>
                        </a:ext>
                      </a:extLst>
                    </a:gridCol>
                  </a:tblGrid>
                  <a:tr h="3962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a:t>
                          </a:r>
                        </a:p>
                      </a:txBody>
                      <a:tcPr anchor="ctr">
                        <a:lnL w="9525" cap="flat" cmpd="sng">
                          <a:noFill/>
                          <a:prstDash val="solid"/>
                          <a:round/>
                          <a:headEnd type="none" w="sm" len="sm"/>
                          <a:tailEnd type="none" w="sm" len="sm"/>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Afirmación</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Razón</a:t>
                          </a:r>
                        </a:p>
                      </a:txBody>
                      <a:tcPr anchor="ctr">
                        <a:lnL w="12700" cap="flat" cmpd="sng" algn="ctr">
                          <a:solidFill>
                            <a:schemeClr val="tx1"/>
                          </a:solidFill>
                          <a:prstDash val="sysDash"/>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396240">
                    <a:tc>
                      <a:txBody>
                        <a:bodyPr/>
                        <a:lstStyle/>
                        <a:p>
                          <a:endParaRPr lang="es-CO"/>
                        </a:p>
                      </a:txBody>
                      <a:tcPr anchor="ctr">
                        <a:lnL w="9525" cap="flat" cmpd="sng">
                          <a:noFill/>
                          <a:prstDash val="solid"/>
                          <a:round/>
                          <a:headEnd type="none" w="sm" len="sm"/>
                          <a:tailEnd type="none" w="sm" len="sm"/>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107692" r="-812931" b="-927692"/>
                          </a:stretch>
                        </a:blipFill>
                      </a:tcPr>
                    </a:tc>
                    <a:tc>
                      <a:txBody>
                        <a:bodyPr/>
                        <a:lstStyle/>
                        <a:p>
                          <a:endParaRPr lang="es-CO"/>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30933" t="-107692" r="-151467" b="-927692"/>
                          </a:stretch>
                        </a:blipFill>
                      </a:tcPr>
                    </a:tc>
                    <a:tc>
                      <a:txBody>
                        <a:bodyPr/>
                        <a:lstStyle/>
                        <a:p>
                          <a:r>
                            <a:rPr lang="es-CO" sz="2000" dirty="0">
                              <a:latin typeface="+mn-lt"/>
                              <a:ea typeface="Roboto" panose="02000000000000000000" pitchFamily="2" charset="0"/>
                            </a:rPr>
                            <a:t>Premisa </a:t>
                          </a:r>
                          <a:r>
                            <a:rPr lang="es-CO" sz="2000" b="1" dirty="0">
                              <a:latin typeface="+mn-lt"/>
                              <a:ea typeface="Roboto" panose="02000000000000000000" pitchFamily="2" charset="0"/>
                            </a:rPr>
                            <a:t>a</a:t>
                          </a:r>
                        </a:p>
                      </a:txBody>
                      <a:tcPr anchor="ctr">
                        <a:lnL w="12700" cap="flat" cmpd="sng" algn="ctr">
                          <a:solidFill>
                            <a:schemeClr val="tx1"/>
                          </a:solidFill>
                          <a:prstDash val="sysDash"/>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396240">
                    <a:tc>
                      <a:txBody>
                        <a:bodyPr/>
                        <a:lstStyle/>
                        <a:p>
                          <a:endParaRPr lang="es-CO"/>
                        </a:p>
                      </a:txBody>
                      <a:tcPr anchor="ctr">
                        <a:lnL w="9525" cap="flat" cmpd="sng">
                          <a:noFill/>
                          <a:prstDash val="solid"/>
                          <a:round/>
                          <a:headEnd type="none" w="sm" len="sm"/>
                          <a:tailEnd type="none" w="sm" len="sm"/>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207692" r="-812931" b="-827692"/>
                          </a:stretch>
                        </a:blipFill>
                      </a:tcPr>
                    </a:tc>
                    <a:tc>
                      <a:txBody>
                        <a:bodyPr/>
                        <a:lstStyle/>
                        <a:p>
                          <a:endParaRPr lang="es-CO"/>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30933" t="-207692" r="-151467" b="-827692"/>
                          </a:stretch>
                        </a:blipFill>
                      </a:tcPr>
                    </a:tc>
                    <a:tc>
                      <a:txBody>
                        <a:bodyPr/>
                        <a:lstStyle/>
                        <a:p>
                          <a:r>
                            <a:rPr lang="es-CO" sz="2000" dirty="0">
                              <a:latin typeface="+mn-lt"/>
                              <a:ea typeface="Roboto" panose="02000000000000000000" pitchFamily="2" charset="0"/>
                            </a:rPr>
                            <a:t>Premisa </a:t>
                          </a:r>
                          <a:r>
                            <a:rPr lang="es-CO" sz="2000" b="1" dirty="0">
                              <a:latin typeface="+mn-lt"/>
                              <a:ea typeface="Roboto" panose="02000000000000000000" pitchFamily="2" charset="0"/>
                            </a:rPr>
                            <a:t>b</a:t>
                          </a:r>
                        </a:p>
                      </a:txBody>
                      <a:tcPr anchor="ctr">
                        <a:lnL w="12700" cap="flat" cmpd="sng" algn="ctr">
                          <a:solidFill>
                            <a:schemeClr val="tx1"/>
                          </a:solidFill>
                          <a:prstDash val="sysDash"/>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396240">
                    <a:tc>
                      <a:txBody>
                        <a:bodyPr/>
                        <a:lstStyle/>
                        <a:p>
                          <a:endParaRPr lang="es-CO"/>
                        </a:p>
                      </a:txBody>
                      <a:tcPr anchor="ctr">
                        <a:lnL w="9525" cap="flat" cmpd="sng">
                          <a:noFill/>
                          <a:prstDash val="solid"/>
                          <a:round/>
                          <a:headEnd type="none" w="sm" len="sm"/>
                          <a:tailEnd type="none" w="sm" len="sm"/>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307692" r="-812931" b="-727692"/>
                          </a:stretch>
                        </a:blipFill>
                      </a:tcPr>
                    </a:tc>
                    <a:tc>
                      <a:txBody>
                        <a:bodyPr/>
                        <a:lstStyle/>
                        <a:p>
                          <a:endParaRPr lang="es-CO"/>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30933" t="-307692" r="-151467" b="-727692"/>
                          </a:stretch>
                        </a:blipFill>
                      </a:tcPr>
                    </a:tc>
                    <a:tc>
                      <a:txBody>
                        <a:bodyPr/>
                        <a:lstStyle/>
                        <a:p>
                          <a:r>
                            <a:rPr lang="es-CO" sz="2000" dirty="0">
                              <a:latin typeface="+mn-lt"/>
                              <a:ea typeface="Roboto" panose="02000000000000000000" pitchFamily="2" charset="0"/>
                            </a:rPr>
                            <a:t>Modus ponens </a:t>
                          </a:r>
                          <a:r>
                            <a:rPr lang="es-CO" sz="2000" b="1" dirty="0">
                              <a:latin typeface="+mn-lt"/>
                              <a:ea typeface="Roboto" panose="02000000000000000000" pitchFamily="2" charset="0"/>
                            </a:rPr>
                            <a:t>1 </a:t>
                          </a:r>
                          <a:r>
                            <a:rPr lang="es-CO" sz="2000" b="0" dirty="0">
                              <a:latin typeface="+mn-lt"/>
                              <a:ea typeface="Roboto" panose="02000000000000000000" pitchFamily="2" charset="0"/>
                            </a:rPr>
                            <a:t>y</a:t>
                          </a:r>
                          <a:r>
                            <a:rPr lang="es-CO" sz="2000" b="1" dirty="0">
                              <a:latin typeface="+mn-lt"/>
                              <a:ea typeface="Roboto" panose="02000000000000000000" pitchFamily="2" charset="0"/>
                            </a:rPr>
                            <a:t> 2</a:t>
                          </a:r>
                        </a:p>
                      </a:txBody>
                      <a:tcPr anchor="ctr">
                        <a:lnL w="12700" cap="flat" cmpd="sng" algn="ctr">
                          <a:solidFill>
                            <a:schemeClr val="tx1"/>
                          </a:solidFill>
                          <a:prstDash val="sysDash"/>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396240">
                    <a:tc>
                      <a:txBody>
                        <a:bodyPr/>
                        <a:lstStyle/>
                        <a:p>
                          <a:endParaRPr lang="es-CO"/>
                        </a:p>
                      </a:txBody>
                      <a:tcPr anchor="ctr">
                        <a:lnL w="9525" cap="flat" cmpd="sng">
                          <a:noFill/>
                          <a:prstDash val="solid"/>
                          <a:round/>
                          <a:headEnd type="none" w="sm" len="sm"/>
                          <a:tailEnd type="none" w="sm" len="sm"/>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407692" r="-812931" b="-627692"/>
                          </a:stretch>
                        </a:blipFill>
                      </a:tcPr>
                    </a:tc>
                    <a:tc>
                      <a:txBody>
                        <a:bodyPr/>
                        <a:lstStyle/>
                        <a:p>
                          <a:endParaRPr lang="es-CO"/>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30933" t="-407692" r="-151467" b="-627692"/>
                          </a:stretch>
                        </a:blipFill>
                      </a:tcPr>
                    </a:tc>
                    <a:tc>
                      <a:txBody>
                        <a:bodyPr/>
                        <a:lstStyle/>
                        <a:p>
                          <a:r>
                            <a:rPr lang="es-CO" sz="2000" dirty="0">
                              <a:latin typeface="+mn-lt"/>
                              <a:ea typeface="Roboto" panose="02000000000000000000" pitchFamily="2" charset="0"/>
                            </a:rPr>
                            <a:t>Premisa </a:t>
                          </a:r>
                          <a:r>
                            <a:rPr lang="es-CO" sz="2000" b="1" dirty="0">
                              <a:latin typeface="+mn-lt"/>
                              <a:ea typeface="Roboto" panose="02000000000000000000" pitchFamily="2" charset="0"/>
                            </a:rPr>
                            <a:t>d</a:t>
                          </a:r>
                        </a:p>
                      </a:txBody>
                      <a:tcPr anchor="ctr">
                        <a:lnL w="12700" cap="flat" cmpd="sng" algn="ctr">
                          <a:solidFill>
                            <a:schemeClr val="tx1"/>
                          </a:solidFill>
                          <a:prstDash val="sysDash"/>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r h="396240">
                    <a:tc>
                      <a:txBody>
                        <a:bodyPr/>
                        <a:lstStyle/>
                        <a:p>
                          <a:endParaRPr lang="es-CO"/>
                        </a:p>
                      </a:txBody>
                      <a:tcPr anchor="ctr">
                        <a:lnL w="9525" cap="flat" cmpd="sng">
                          <a:noFill/>
                          <a:prstDash val="solid"/>
                          <a:round/>
                          <a:headEnd type="none" w="sm" len="sm"/>
                          <a:tailEnd type="none" w="sm" len="sm"/>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500000" r="-812931" b="-518182"/>
                          </a:stretch>
                        </a:blipFill>
                      </a:tcPr>
                    </a:tc>
                    <a:tc>
                      <a:txBody>
                        <a:bodyPr/>
                        <a:lstStyle/>
                        <a:p>
                          <a:endParaRPr lang="es-CO"/>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30933" t="-500000" r="-151467" b="-518182"/>
                          </a:stretch>
                        </a:blipFill>
                      </a:tcPr>
                    </a:tc>
                    <a:tc>
                      <a:txBody>
                        <a:bodyPr/>
                        <a:lstStyle/>
                        <a:p>
                          <a:r>
                            <a:rPr lang="es-CO" sz="2000" dirty="0">
                              <a:latin typeface="+mn-lt"/>
                              <a:ea typeface="Roboto" panose="02000000000000000000" pitchFamily="2" charset="0"/>
                            </a:rPr>
                            <a:t>Contrarrecíproco </a:t>
                          </a:r>
                          <a:r>
                            <a:rPr lang="es-CO" sz="2000" b="1" dirty="0">
                              <a:latin typeface="+mn-lt"/>
                              <a:ea typeface="Roboto" panose="02000000000000000000" pitchFamily="2" charset="0"/>
                            </a:rPr>
                            <a:t>4</a:t>
                          </a:r>
                        </a:p>
                      </a:txBody>
                      <a:tcPr anchor="ctr">
                        <a:lnL w="12700" cap="flat" cmpd="sng" algn="ctr">
                          <a:solidFill>
                            <a:schemeClr val="tx1"/>
                          </a:solidFill>
                          <a:prstDash val="sysDash"/>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006229"/>
                      </a:ext>
                    </a:extLst>
                  </a:tr>
                  <a:tr h="396240">
                    <a:tc>
                      <a:txBody>
                        <a:bodyPr/>
                        <a:lstStyle/>
                        <a:p>
                          <a:endParaRPr lang="es-CO"/>
                        </a:p>
                      </a:txBody>
                      <a:tcPr anchor="ctr">
                        <a:lnL w="9525" cap="flat" cmpd="sng">
                          <a:noFill/>
                          <a:prstDash val="solid"/>
                          <a:round/>
                          <a:headEnd type="none" w="sm" len="sm"/>
                          <a:tailEnd type="none" w="sm" len="sm"/>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609231" r="-812931" b="-426154"/>
                          </a:stretch>
                        </a:blipFill>
                      </a:tcPr>
                    </a:tc>
                    <a:tc>
                      <a:txBody>
                        <a:bodyPr/>
                        <a:lstStyle/>
                        <a:p>
                          <a:endParaRPr lang="es-CO"/>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30933" t="-609231" r="-151467" b="-426154"/>
                          </a:stretch>
                        </a:blipFill>
                      </a:tcPr>
                    </a:tc>
                    <a:tc>
                      <a:txBody>
                        <a:bodyPr/>
                        <a:lstStyle/>
                        <a:p>
                          <a:r>
                            <a:rPr lang="es-CO" sz="2000" b="0" i="0" u="none" strike="noStrike" cap="none" dirty="0">
                              <a:solidFill>
                                <a:srgbClr val="000000"/>
                              </a:solidFill>
                              <a:latin typeface="+mn-lt"/>
                              <a:ea typeface="Roboto" panose="02000000000000000000" pitchFamily="2" charset="0"/>
                              <a:cs typeface="Arial"/>
                              <a:sym typeface="Arial"/>
                            </a:rPr>
                            <a:t>Doble negación en </a:t>
                          </a:r>
                          <a:r>
                            <a:rPr lang="es-CO" sz="2000" b="1" i="0" u="none" strike="noStrike" cap="none" dirty="0">
                              <a:solidFill>
                                <a:srgbClr val="000000"/>
                              </a:solidFill>
                              <a:latin typeface="+mn-lt"/>
                              <a:ea typeface="Roboto" panose="02000000000000000000" pitchFamily="2" charset="0"/>
                              <a:cs typeface="Arial"/>
                              <a:sym typeface="Arial"/>
                            </a:rPr>
                            <a:t>5</a:t>
                          </a:r>
                          <a:endParaRPr lang="es-CO" sz="2000" b="1" dirty="0">
                            <a:latin typeface="+mn-lt"/>
                            <a:ea typeface="Roboto" panose="02000000000000000000" pitchFamily="2" charset="0"/>
                          </a:endParaRPr>
                        </a:p>
                      </a:txBody>
                      <a:tcPr anchor="ctr">
                        <a:lnL w="12700" cap="flat" cmpd="sng" algn="ctr">
                          <a:solidFill>
                            <a:schemeClr val="tx1"/>
                          </a:solidFill>
                          <a:prstDash val="sysDash"/>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0261066"/>
                      </a:ext>
                    </a:extLst>
                  </a:tr>
                  <a:tr h="396240">
                    <a:tc>
                      <a:txBody>
                        <a:bodyPr/>
                        <a:lstStyle/>
                        <a:p>
                          <a:endParaRPr lang="es-CO"/>
                        </a:p>
                      </a:txBody>
                      <a:tcPr anchor="ctr">
                        <a:lnL w="9525" cap="flat" cmpd="sng">
                          <a:noFill/>
                          <a:prstDash val="solid"/>
                          <a:round/>
                          <a:headEnd type="none" w="sm" len="sm"/>
                          <a:tailEnd type="none" w="sm" len="sm"/>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709231" r="-812931" b="-326154"/>
                          </a:stretch>
                        </a:blipFill>
                      </a:tcPr>
                    </a:tc>
                    <a:tc>
                      <a:txBody>
                        <a:bodyPr/>
                        <a:lstStyle/>
                        <a:p>
                          <a:endParaRPr lang="es-CO"/>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30933" t="-709231" r="-151467" b="-326154"/>
                          </a:stretch>
                        </a:blipFill>
                      </a:tcPr>
                    </a:tc>
                    <a:tc>
                      <a:txBody>
                        <a:bodyPr/>
                        <a:lstStyle/>
                        <a:p>
                          <a:r>
                            <a:rPr lang="es-CO" sz="2000" dirty="0">
                              <a:latin typeface="+mn-lt"/>
                              <a:ea typeface="Roboto" panose="02000000000000000000" pitchFamily="2" charset="0"/>
                            </a:rPr>
                            <a:t>Modus ponens </a:t>
                          </a:r>
                          <a:r>
                            <a:rPr lang="es-CO" sz="2000" b="1" dirty="0">
                              <a:latin typeface="+mn-lt"/>
                              <a:ea typeface="Roboto" panose="02000000000000000000" pitchFamily="2" charset="0"/>
                            </a:rPr>
                            <a:t>3 </a:t>
                          </a:r>
                          <a:r>
                            <a:rPr lang="es-CO" sz="2000" b="0" dirty="0">
                              <a:latin typeface="+mn-lt"/>
                              <a:ea typeface="Roboto" panose="02000000000000000000" pitchFamily="2" charset="0"/>
                            </a:rPr>
                            <a:t>y</a:t>
                          </a:r>
                          <a:r>
                            <a:rPr lang="es-CO" sz="2000" b="1" dirty="0">
                              <a:latin typeface="+mn-lt"/>
                              <a:ea typeface="Roboto" panose="02000000000000000000" pitchFamily="2" charset="0"/>
                            </a:rPr>
                            <a:t> 6</a:t>
                          </a:r>
                        </a:p>
                      </a:txBody>
                      <a:tcPr anchor="ctr">
                        <a:lnL w="12700" cap="flat" cmpd="sng" algn="ctr">
                          <a:solidFill>
                            <a:schemeClr val="tx1"/>
                          </a:solidFill>
                          <a:prstDash val="sysDash"/>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2382845"/>
                      </a:ext>
                    </a:extLst>
                  </a:tr>
                  <a:tr h="396240">
                    <a:tc>
                      <a:txBody>
                        <a:bodyPr/>
                        <a:lstStyle/>
                        <a:p>
                          <a:endParaRPr lang="es-CO"/>
                        </a:p>
                      </a:txBody>
                      <a:tcPr anchor="ctr">
                        <a:lnL w="9525" cap="flat" cmpd="sng">
                          <a:noFill/>
                          <a:prstDash val="solid"/>
                          <a:round/>
                          <a:headEnd type="none" w="sm" len="sm"/>
                          <a:tailEnd type="none" w="sm" len="sm"/>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809231" r="-812931" b="-226154"/>
                          </a:stretch>
                        </a:blipFill>
                      </a:tcPr>
                    </a:tc>
                    <a:tc>
                      <a:txBody>
                        <a:bodyPr/>
                        <a:lstStyle/>
                        <a:p>
                          <a:endParaRPr lang="es-CO"/>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30933" t="-809231" r="-151467" b="-226154"/>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dirty="0">
                              <a:latin typeface="+mn-lt"/>
                              <a:ea typeface="Roboto" panose="02000000000000000000" pitchFamily="2" charset="0"/>
                            </a:rPr>
                            <a:t>Premisa </a:t>
                          </a:r>
                          <a:r>
                            <a:rPr lang="es-CO" sz="2000" b="1" dirty="0">
                              <a:latin typeface="+mn-lt"/>
                              <a:ea typeface="Roboto" panose="02000000000000000000" pitchFamily="2" charset="0"/>
                            </a:rPr>
                            <a:t>c</a:t>
                          </a:r>
                        </a:p>
                      </a:txBody>
                      <a:tcPr anchor="ctr">
                        <a:lnL w="12700" cap="flat" cmpd="sng" algn="ctr">
                          <a:solidFill>
                            <a:schemeClr val="tx1"/>
                          </a:solidFill>
                          <a:prstDash val="sysDash"/>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9326235"/>
                      </a:ext>
                    </a:extLst>
                  </a:tr>
                  <a:tr h="396240">
                    <a:tc>
                      <a:txBody>
                        <a:bodyPr/>
                        <a:lstStyle/>
                        <a:p>
                          <a:endParaRPr lang="es-CO"/>
                        </a:p>
                      </a:txBody>
                      <a:tcPr anchor="ctr">
                        <a:lnL w="9525" cap="flat" cmpd="sng">
                          <a:noFill/>
                          <a:prstDash val="solid"/>
                          <a:round/>
                          <a:headEnd type="none" w="sm" len="sm"/>
                          <a:tailEnd type="none" w="sm" len="sm"/>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909231" r="-812931" b="-126154"/>
                          </a:stretch>
                        </a:blipFill>
                      </a:tcPr>
                    </a:tc>
                    <a:tc>
                      <a:txBody>
                        <a:bodyPr/>
                        <a:lstStyle/>
                        <a:p>
                          <a:endParaRPr lang="es-CO"/>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30933" t="-909231" r="-151467" b="-126154"/>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dirty="0">
                              <a:latin typeface="+mn-lt"/>
                              <a:ea typeface="Roboto" panose="02000000000000000000" pitchFamily="2" charset="0"/>
                            </a:rPr>
                            <a:t>Eliminación </a:t>
                          </a:r>
                          <a:r>
                            <a:rPr lang="es-CO" sz="2000" b="1" dirty="0">
                              <a:latin typeface="+mn-lt"/>
                              <a:ea typeface="Roboto" panose="02000000000000000000" pitchFamily="2" charset="0"/>
                            </a:rPr>
                            <a:t>7</a:t>
                          </a:r>
                          <a:r>
                            <a:rPr lang="es-CO" sz="2000" dirty="0">
                              <a:latin typeface="+mn-lt"/>
                              <a:ea typeface="Roboto" panose="02000000000000000000" pitchFamily="2" charset="0"/>
                            </a:rPr>
                            <a:t> y </a:t>
                          </a:r>
                          <a:r>
                            <a:rPr lang="es-CO" sz="2000" b="1" dirty="0">
                              <a:latin typeface="+mn-lt"/>
                              <a:ea typeface="Roboto" panose="02000000000000000000" pitchFamily="2" charset="0"/>
                            </a:rPr>
                            <a:t>8</a:t>
                          </a:r>
                        </a:p>
                      </a:txBody>
                      <a:tcPr anchor="ctr">
                        <a:lnL w="12700" cap="flat" cmpd="sng" algn="ctr">
                          <a:solidFill>
                            <a:schemeClr val="tx1"/>
                          </a:solidFill>
                          <a:prstDash val="sysDash"/>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2911942"/>
                      </a:ext>
                    </a:extLst>
                  </a:tr>
                  <a:tr h="396240">
                    <a:tc>
                      <a:txBody>
                        <a:bodyPr/>
                        <a:lstStyle/>
                        <a:p>
                          <a:endParaRPr lang="es-CO"/>
                        </a:p>
                      </a:txBody>
                      <a:tcPr anchor="ctr">
                        <a:lnL w="9525" cap="flat" cmpd="sng">
                          <a:noFill/>
                          <a:prstDash val="solid"/>
                          <a:round/>
                          <a:headEnd type="none" w="sm" len="sm"/>
                          <a:tailEnd type="none" w="sm" len="sm"/>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1009231" r="-812931" b="-26154"/>
                          </a:stretch>
                        </a:blipFill>
                      </a:tcPr>
                    </a:tc>
                    <a:tc>
                      <a:txBody>
                        <a:bodyPr/>
                        <a:lstStyle/>
                        <a:p>
                          <a:endParaRPr lang="es-CO"/>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30933" t="-1009231" r="-151467" b="-26154"/>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dirty="0">
                              <a:latin typeface="+mn-lt"/>
                              <a:ea typeface="Roboto" panose="02000000000000000000" pitchFamily="2" charset="0"/>
                            </a:rPr>
                            <a:t>Adición </a:t>
                          </a:r>
                          <a:r>
                            <a:rPr lang="es-CO" sz="2000" b="1" dirty="0">
                              <a:latin typeface="+mn-lt"/>
                              <a:ea typeface="Roboto" panose="02000000000000000000" pitchFamily="2" charset="0"/>
                            </a:rPr>
                            <a:t>9</a:t>
                          </a:r>
                        </a:p>
                      </a:txBody>
                      <a:tcPr anchor="ctr">
                        <a:lnL w="12700" cap="flat" cmpd="sng" algn="ctr">
                          <a:solidFill>
                            <a:schemeClr val="tx1"/>
                          </a:solidFill>
                          <a:prstDash val="sysDash"/>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39766170"/>
                      </a:ext>
                    </a:extLst>
                  </a:tr>
                </a:tbl>
              </a:graphicData>
            </a:graphic>
          </p:graphicFrame>
        </mc:Fallback>
      </mc:AlternateContent>
    </p:spTree>
    <p:extLst>
      <p:ext uri="{BB962C8B-B14F-4D97-AF65-F5344CB8AC3E}">
        <p14:creationId xmlns:p14="http://schemas.microsoft.com/office/powerpoint/2010/main" val="17668970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231059" y="83011"/>
            <a:ext cx="10825316" cy="949500"/>
          </a:xfrm>
        </p:spPr>
        <p:txBody>
          <a:bodyPr/>
          <a:lstStyle/>
          <a:p>
            <a:r>
              <a:rPr lang="es-ES" dirty="0">
                <a:solidFill>
                  <a:schemeClr val="tx1"/>
                </a:solidFill>
                <a:latin typeface="+mj-lt"/>
              </a:rPr>
              <a:t>Validación de argumentos – Enfoque axiomático</a:t>
            </a:r>
            <a:endParaRPr lang="es-CO" dirty="0">
              <a:solidFill>
                <a:schemeClr val="tx1"/>
              </a:solidFill>
            </a:endParaRPr>
          </a:p>
        </p:txBody>
      </p:sp>
      <p:sp>
        <p:nvSpPr>
          <p:cNvPr id="12" name="CuadroTexto 11">
            <a:extLst>
              <a:ext uri="{FF2B5EF4-FFF2-40B4-BE49-F238E27FC236}">
                <a16:creationId xmlns:a16="http://schemas.microsoft.com/office/drawing/2014/main" id="{86124C36-7153-4A0A-AE9D-CDE921828F77}"/>
              </a:ext>
            </a:extLst>
          </p:cNvPr>
          <p:cNvSpPr txBox="1"/>
          <p:nvPr/>
        </p:nvSpPr>
        <p:spPr>
          <a:xfrm>
            <a:off x="370960" y="999702"/>
            <a:ext cx="10947819" cy="430887"/>
          </a:xfrm>
          <a:prstGeom prst="rect">
            <a:avLst/>
          </a:prstGeom>
          <a:noFill/>
        </p:spPr>
        <p:txBody>
          <a:bodyPr wrap="square" rtlCol="0">
            <a:spAutoFit/>
          </a:bodyPr>
          <a:lstStyle/>
          <a:p>
            <a:r>
              <a:rPr lang="es-MX" sz="2200" b="1" dirty="0">
                <a:ea typeface="Roboto" panose="02000000000000000000" pitchFamily="2" charset="0"/>
              </a:rPr>
              <a:t>Ejemplo 1</a:t>
            </a:r>
            <a:r>
              <a:rPr lang="es-MX" sz="2200" dirty="0">
                <a:ea typeface="Roboto" panose="02000000000000000000" pitchFamily="2" charset="0"/>
              </a:rPr>
              <a:t>: Demuestre que el siguiente argumento lógico es valido:</a:t>
            </a:r>
          </a:p>
        </p:txBody>
      </p:sp>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BECB0184-D812-4D8B-ADCF-616FE57DFB83}"/>
                  </a:ext>
                </a:extLst>
              </p:cNvPr>
              <p:cNvSpPr txBox="1"/>
              <p:nvPr/>
            </p:nvSpPr>
            <p:spPr>
              <a:xfrm>
                <a:off x="4773152" y="4081133"/>
                <a:ext cx="1725561" cy="21507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MX" sz="1800" b="0" i="1" smtClean="0">
                              <a:latin typeface="Cambria Math" panose="02040503050406030204" pitchFamily="18" charset="0"/>
                              <a:ea typeface="Roboto" panose="02000000000000000000" pitchFamily="2" charset="0"/>
                            </a:rPr>
                          </m:ctrlPr>
                        </m:fPr>
                        <m:num>
                          <m:eqArr>
                            <m:eqArrPr>
                              <m:ctrlPr>
                                <a:rPr lang="es-MX" sz="1800" b="0" i="1" smtClean="0">
                                  <a:latin typeface="Cambria Math" panose="02040503050406030204" pitchFamily="18" charset="0"/>
                                  <a:ea typeface="Roboto" panose="02000000000000000000" pitchFamily="2" charset="0"/>
                                </a:rPr>
                              </m:ctrlPr>
                            </m:eqArrPr>
                            <m:e>
                              <m:r>
                                <a:rPr lang="es-MX" sz="1800" b="0" i="1" smtClean="0">
                                  <a:latin typeface="Cambria Math" panose="02040503050406030204" pitchFamily="18" charset="0"/>
                                  <a:ea typeface="Roboto" panose="02000000000000000000" pitchFamily="2" charset="0"/>
                                </a:rPr>
                                <m:t>𝑝</m:t>
                              </m:r>
                              <m:r>
                                <a:rPr lang="es-MX" sz="1800" b="0" i="1" smtClean="0">
                                  <a:latin typeface="Cambria Math" panose="02040503050406030204" pitchFamily="18" charset="0"/>
                                  <a:ea typeface="Roboto" panose="02000000000000000000" pitchFamily="2" charset="0"/>
                                </a:rPr>
                                <m:t>→</m:t>
                              </m:r>
                              <m:r>
                                <a:rPr lang="es-MX" sz="1800" b="0" i="1" smtClean="0">
                                  <a:latin typeface="Cambria Math" panose="02040503050406030204" pitchFamily="18" charset="0"/>
                                  <a:ea typeface="Roboto" panose="02000000000000000000" pitchFamily="2" charset="0"/>
                                </a:rPr>
                                <m:t>𝑞</m:t>
                              </m:r>
                              <m:r>
                                <a:rPr lang="es-MX" sz="1800" b="0" i="1" smtClean="0">
                                  <a:latin typeface="Cambria Math" panose="02040503050406030204" pitchFamily="18" charset="0"/>
                                  <a:ea typeface="Roboto" panose="02000000000000000000" pitchFamily="2" charset="0"/>
                                </a:rPr>
                                <m:t>         </m:t>
                              </m:r>
                            </m:e>
                            <m:e>
                              <m:r>
                                <a:rPr lang="es-MX" b="0" i="1" smtClean="0">
                                  <a:latin typeface="Cambria Math" panose="02040503050406030204" pitchFamily="18" charset="0"/>
                                </a:rPr>
                                <m:t>𝑟</m:t>
                              </m:r>
                              <m:r>
                                <a:rPr lang="es-MX" b="0" i="1" smtClean="0">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𝑠</m:t>
                              </m:r>
                              <m:r>
                                <a:rPr lang="es-MX" b="0" i="1" smtClean="0">
                                  <a:latin typeface="Cambria Math" panose="02040503050406030204" pitchFamily="18" charset="0"/>
                                  <a:ea typeface="Cambria Math" panose="02040503050406030204" pitchFamily="18" charset="0"/>
                                </a:rPr>
                                <m:t>           </m:t>
                              </m:r>
                            </m:e>
                            <m:e>
                              <m:r>
                                <a:rPr lang="es-MX" b="0" i="1" smtClean="0">
                                  <a:latin typeface="Cambria Math" panose="02040503050406030204" pitchFamily="18" charset="0"/>
                                </a:rPr>
                                <m:t>¬</m:t>
                              </m:r>
                              <m:r>
                                <a:rPr lang="es-MX" b="0" i="1" smtClean="0">
                                  <a:latin typeface="Cambria Math" panose="02040503050406030204" pitchFamily="18" charset="0"/>
                                </a:rPr>
                                <m:t>𝑠</m:t>
                              </m:r>
                              <m:r>
                                <a:rPr lang="es-MX" b="0" i="1" smtClean="0">
                                  <a:latin typeface="Cambria Math" panose="02040503050406030204" pitchFamily="18" charset="0"/>
                                </a:rPr>
                                <m:t>→¬</m:t>
                              </m:r>
                              <m:r>
                                <a:rPr lang="es-MX" b="0" i="1" smtClean="0">
                                  <a:latin typeface="Cambria Math" panose="02040503050406030204" pitchFamily="18" charset="0"/>
                                </a:rPr>
                                <m:t>𝑡</m:t>
                              </m:r>
                              <m:r>
                                <a:rPr lang="es-MX" b="0" i="1" smtClean="0">
                                  <a:latin typeface="Cambria Math" panose="02040503050406030204" pitchFamily="18" charset="0"/>
                                </a:rPr>
                                <m:t>   </m:t>
                              </m:r>
                            </m:e>
                            <m:e>
                              <m:r>
                                <a:rPr lang="es-MX" b="0" i="1" smtClean="0">
                                  <a:latin typeface="Cambria Math" panose="02040503050406030204" pitchFamily="18" charset="0"/>
                                </a:rPr>
                                <m:t>¬</m:t>
                              </m:r>
                              <m:r>
                                <a:rPr lang="es-MX" b="0" i="1" smtClean="0">
                                  <a:latin typeface="Cambria Math" panose="02040503050406030204" pitchFamily="18" charset="0"/>
                                </a:rPr>
                                <m:t>𝑞</m:t>
                              </m:r>
                              <m:r>
                                <a:rPr lang="es-MX" b="0" i="1" smtClean="0">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𝑠</m:t>
                              </m:r>
                              <m:r>
                                <a:rPr lang="es-MX" b="0" i="1" smtClean="0">
                                  <a:latin typeface="Cambria Math" panose="02040503050406030204" pitchFamily="18" charset="0"/>
                                  <a:ea typeface="Cambria Math" panose="02040503050406030204" pitchFamily="18" charset="0"/>
                                </a:rPr>
                                <m:t>       </m:t>
                              </m:r>
                            </m:e>
                            <m:e>
                              <m:r>
                                <a:rPr lang="es-MX" b="0" i="1" smtClean="0">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𝑠</m:t>
                              </m:r>
                              <m:r>
                                <a:rPr lang="es-MX" b="0" i="1" smtClean="0">
                                  <a:latin typeface="Cambria Math" panose="02040503050406030204" pitchFamily="18" charset="0"/>
                                  <a:ea typeface="Cambria Math" panose="02040503050406030204" pitchFamily="18" charset="0"/>
                                </a:rPr>
                                <m:t>               </m:t>
                              </m:r>
                            </m:e>
                            <m:e>
                              <m:r>
                                <a:rPr lang="es-MX" b="0" i="1" smtClean="0">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𝑝</m:t>
                              </m:r>
                              <m:r>
                                <a:rPr lang="es-MX" b="0" i="1" smtClean="0">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𝑟</m:t>
                              </m:r>
                              <m:r>
                                <a:rPr lang="es-MX" b="0" i="1" smtClean="0">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𝑢</m:t>
                              </m:r>
                            </m:e>
                            <m:e>
                              <m:r>
                                <a:rPr lang="es-MX" b="0" i="1" smtClean="0">
                                  <a:latin typeface="Cambria Math" panose="02040503050406030204" pitchFamily="18" charset="0"/>
                                  <a:ea typeface="Cambria Math" panose="02040503050406030204" pitchFamily="18" charset="0"/>
                                </a:rPr>
                                <m:t>𝑤</m:t>
                              </m:r>
                              <m:r>
                                <a:rPr lang="es-MX" b="0" i="1" smtClean="0">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𝑡</m:t>
                              </m:r>
                              <m:r>
                                <a:rPr lang="es-MX" b="0" i="1" smtClean="0">
                                  <a:latin typeface="Cambria Math" panose="02040503050406030204" pitchFamily="18" charset="0"/>
                                  <a:ea typeface="Cambria Math" panose="02040503050406030204" pitchFamily="18" charset="0"/>
                                </a:rPr>
                                <m:t>           </m:t>
                              </m:r>
                            </m:e>
                          </m:eqArr>
                        </m:num>
                        <m:den>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𝑢</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𝑟</m:t>
                          </m:r>
                          <m:r>
                            <a:rPr lang="es-MX" sz="1800" b="0" i="1" smtClean="0">
                              <a:latin typeface="Cambria Math" panose="02040503050406030204" pitchFamily="18" charset="0"/>
                              <a:ea typeface="Cambria Math" panose="02040503050406030204" pitchFamily="18" charset="0"/>
                            </a:rPr>
                            <m:t>               </m:t>
                          </m:r>
                        </m:den>
                      </m:f>
                    </m:oMath>
                  </m:oMathPara>
                </a14:m>
                <a:endParaRPr lang="es-CO" dirty="0"/>
              </a:p>
            </p:txBody>
          </p:sp>
        </mc:Choice>
        <mc:Fallback xmlns="">
          <p:sp>
            <p:nvSpPr>
              <p:cNvPr id="11" name="CuadroTexto 10">
                <a:extLst>
                  <a:ext uri="{FF2B5EF4-FFF2-40B4-BE49-F238E27FC236}">
                    <a16:creationId xmlns:a16="http://schemas.microsoft.com/office/drawing/2014/main" id="{BECB0184-D812-4D8B-ADCF-616FE57DFB83}"/>
                  </a:ext>
                </a:extLst>
              </p:cNvPr>
              <p:cNvSpPr txBox="1">
                <a:spLocks noRot="1" noChangeAspect="1" noMove="1" noResize="1" noEditPoints="1" noAdjustHandles="1" noChangeArrowheads="1" noChangeShapeType="1" noTextEdit="1"/>
              </p:cNvSpPr>
              <p:nvPr/>
            </p:nvSpPr>
            <p:spPr>
              <a:xfrm>
                <a:off x="4773152" y="4081133"/>
                <a:ext cx="1725561" cy="2150717"/>
              </a:xfrm>
              <a:prstGeom prst="rect">
                <a:avLst/>
              </a:prstGeom>
              <a:blipFill>
                <a:blip r:embed="rId3"/>
                <a:stretch>
                  <a:fillRect/>
                </a:stretch>
              </a:blipFill>
            </p:spPr>
            <p:txBody>
              <a:bodyPr/>
              <a:lstStyle/>
              <a:p>
                <a:r>
                  <a:rPr lang="es-CO">
                    <a:noFill/>
                  </a:rPr>
                  <a:t> </a:t>
                </a:r>
              </a:p>
            </p:txBody>
          </p:sp>
        </mc:Fallback>
      </mc:AlternateContent>
      <p:sp>
        <p:nvSpPr>
          <p:cNvPr id="13" name="CuadroTexto 12">
            <a:extLst>
              <a:ext uri="{FF2B5EF4-FFF2-40B4-BE49-F238E27FC236}">
                <a16:creationId xmlns:a16="http://schemas.microsoft.com/office/drawing/2014/main" id="{B8A7437C-D05E-48CB-9E60-61D0A78293AF}"/>
              </a:ext>
            </a:extLst>
          </p:cNvPr>
          <p:cNvSpPr txBox="1"/>
          <p:nvPr/>
        </p:nvSpPr>
        <p:spPr>
          <a:xfrm>
            <a:off x="361128" y="3446323"/>
            <a:ext cx="10947819" cy="430887"/>
          </a:xfrm>
          <a:prstGeom prst="rect">
            <a:avLst/>
          </a:prstGeom>
          <a:noFill/>
        </p:spPr>
        <p:txBody>
          <a:bodyPr wrap="square" rtlCol="0">
            <a:spAutoFit/>
          </a:bodyPr>
          <a:lstStyle/>
          <a:p>
            <a:r>
              <a:rPr lang="es-MX" sz="2200" b="1" dirty="0">
                <a:ea typeface="Roboto" panose="02000000000000000000" pitchFamily="2" charset="0"/>
              </a:rPr>
              <a:t>Ejemplo 2</a:t>
            </a:r>
            <a:r>
              <a:rPr lang="es-MX" sz="2200" dirty="0">
                <a:ea typeface="Roboto" panose="02000000000000000000" pitchFamily="2" charset="0"/>
              </a:rPr>
              <a:t>: Demuestre que el siguiente argumento lógico es valido:</a:t>
            </a: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C7CCC950-E8DA-4EC0-B0B2-3FF5E2F2780D}"/>
                  </a:ext>
                </a:extLst>
              </p:cNvPr>
              <p:cNvSpPr txBox="1"/>
              <p:nvPr/>
            </p:nvSpPr>
            <p:spPr>
              <a:xfrm>
                <a:off x="4773153" y="1516031"/>
                <a:ext cx="1725561" cy="169559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MX" sz="1800" b="0" i="1" smtClean="0">
                              <a:latin typeface="Cambria Math" panose="02040503050406030204" pitchFamily="18" charset="0"/>
                              <a:ea typeface="Roboto" panose="02000000000000000000" pitchFamily="2" charset="0"/>
                            </a:rPr>
                          </m:ctrlPr>
                        </m:fPr>
                        <m:num>
                          <m:eqArr>
                            <m:eqArrPr>
                              <m:ctrlPr>
                                <a:rPr lang="es-MX" b="0" i="1" smtClean="0">
                                  <a:latin typeface="Cambria Math" panose="02040503050406030204" pitchFamily="18" charset="0"/>
                                </a:rPr>
                              </m:ctrlPr>
                            </m:eqArrPr>
                            <m:e>
                              <m:r>
                                <a:rPr lang="es-MX" b="0" i="1" smtClean="0">
                                  <a:latin typeface="Cambria Math" panose="02040503050406030204" pitchFamily="18" charset="0"/>
                                </a:rPr>
                                <m:t>¬</m:t>
                              </m:r>
                              <m:r>
                                <a:rPr lang="es-MX" b="0" i="1" smtClean="0">
                                  <a:latin typeface="Cambria Math" panose="02040503050406030204" pitchFamily="18" charset="0"/>
                                </a:rPr>
                                <m:t>𝑝</m:t>
                              </m:r>
                              <m:r>
                                <a:rPr lang="es-MX" b="0" i="1" smtClean="0">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𝑞</m:t>
                              </m:r>
                              <m:r>
                                <a:rPr lang="es-MX" b="0" i="1" smtClean="0">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𝑟</m:t>
                              </m:r>
                              <m:r>
                                <a:rPr lang="es-MX" b="0" i="1" smtClean="0">
                                  <a:latin typeface="Cambria Math" panose="02040503050406030204" pitchFamily="18" charset="0"/>
                                  <a:ea typeface="Cambria Math" panose="02040503050406030204" pitchFamily="18" charset="0"/>
                                </a:rPr>
                                <m:t>   </m:t>
                              </m:r>
                            </m:e>
                            <m:e>
                              <m:r>
                                <a:rPr lang="es-MX" b="0" i="1" smtClean="0">
                                  <a:latin typeface="Cambria Math" panose="02040503050406030204" pitchFamily="18" charset="0"/>
                                  <a:ea typeface="Cambria Math" panose="02040503050406030204" pitchFamily="18" charset="0"/>
                                </a:rPr>
                                <m:t>𝑠</m:t>
                              </m:r>
                              <m:r>
                                <a:rPr lang="es-MX" b="0" i="1" smtClean="0">
                                  <a:latin typeface="Cambria Math" panose="02040503050406030204" pitchFamily="18" charset="0"/>
                                  <a:ea typeface="Cambria Math" panose="02040503050406030204" pitchFamily="18" charset="0"/>
                                </a:rPr>
                                <m:t>∨¬ </m:t>
                              </m:r>
                              <m:r>
                                <a:rPr lang="es-MX" b="0" i="1" smtClean="0">
                                  <a:latin typeface="Cambria Math" panose="02040503050406030204" pitchFamily="18" charset="0"/>
                                  <a:ea typeface="Cambria Math" panose="02040503050406030204" pitchFamily="18" charset="0"/>
                                </a:rPr>
                                <m:t>𝑞</m:t>
                              </m:r>
                              <m:r>
                                <a:rPr lang="es-MX" b="0" i="1" smtClean="0">
                                  <a:latin typeface="Cambria Math" panose="02040503050406030204" pitchFamily="18" charset="0"/>
                                  <a:ea typeface="Cambria Math" panose="02040503050406030204" pitchFamily="18" charset="0"/>
                                </a:rPr>
                                <m:t>          </m:t>
                              </m:r>
                            </m:e>
                            <m:e>
                              <m:r>
                                <a:rPr lang="es-MX" b="0" i="1" smtClean="0">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𝑡</m:t>
                              </m:r>
                              <m:r>
                                <a:rPr lang="es-MX" b="0" i="1" smtClean="0">
                                  <a:latin typeface="Cambria Math" panose="02040503050406030204" pitchFamily="18" charset="0"/>
                                  <a:ea typeface="Cambria Math" panose="02040503050406030204" pitchFamily="18" charset="0"/>
                                </a:rPr>
                                <m:t>                  </m:t>
                              </m:r>
                            </m:e>
                            <m:e>
                              <m:r>
                                <a:rPr lang="es-MX" b="0" i="1" smtClean="0">
                                  <a:latin typeface="Cambria Math" panose="02040503050406030204" pitchFamily="18" charset="0"/>
                                  <a:ea typeface="Cambria Math" panose="02040503050406030204" pitchFamily="18" charset="0"/>
                                </a:rPr>
                                <m:t>𝑝</m:t>
                              </m:r>
                              <m:r>
                                <a:rPr lang="es-MX" b="0" i="1" smtClean="0">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𝑡</m:t>
                              </m:r>
                              <m:r>
                                <a:rPr lang="es-MX" b="0" i="1" smtClean="0">
                                  <a:latin typeface="Cambria Math" panose="02040503050406030204" pitchFamily="18" charset="0"/>
                                  <a:ea typeface="Cambria Math" panose="02040503050406030204" pitchFamily="18" charset="0"/>
                                </a:rPr>
                                <m:t>             </m:t>
                              </m:r>
                            </m:e>
                            <m:e>
                              <m:r>
                                <a:rPr lang="es-MX" b="0" i="1" smtClean="0">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𝑝</m:t>
                              </m:r>
                              <m:r>
                                <a:rPr lang="es-MX" i="1">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𝑟</m:t>
                              </m:r>
                              <m:r>
                                <a:rPr lang="es-MX" b="0" i="1" smtClean="0">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𝑠</m:t>
                              </m:r>
                            </m:e>
                          </m:eqArr>
                        </m:num>
                        <m:den>
                          <m:r>
                            <a:rPr lang="es-MX" sz="1800" b="0" i="1" smtClean="0">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 </m:t>
                          </m:r>
                          <m:r>
                            <a:rPr lang="es-MX" b="0" i="1" smtClean="0">
                              <a:latin typeface="Cambria Math" panose="02040503050406030204" pitchFamily="18" charset="0"/>
                              <a:ea typeface="Cambria Math" panose="02040503050406030204" pitchFamily="18" charset="0"/>
                            </a:rPr>
                            <m:t>𝑞</m:t>
                          </m:r>
                          <m:r>
                            <a:rPr lang="es-MX" b="0" i="1" smtClean="0">
                              <a:latin typeface="Cambria Math" panose="02040503050406030204" pitchFamily="18" charset="0"/>
                              <a:ea typeface="Cambria Math" panose="02040503050406030204" pitchFamily="18" charset="0"/>
                            </a:rPr>
                            <m:t>                      </m:t>
                          </m:r>
                        </m:den>
                      </m:f>
                    </m:oMath>
                  </m:oMathPara>
                </a14:m>
                <a:endParaRPr lang="es-CO" dirty="0"/>
              </a:p>
            </p:txBody>
          </p:sp>
        </mc:Choice>
        <mc:Fallback xmlns="">
          <p:sp>
            <p:nvSpPr>
              <p:cNvPr id="14" name="CuadroTexto 13">
                <a:extLst>
                  <a:ext uri="{FF2B5EF4-FFF2-40B4-BE49-F238E27FC236}">
                    <a16:creationId xmlns:a16="http://schemas.microsoft.com/office/drawing/2014/main" id="{C7CCC950-E8DA-4EC0-B0B2-3FF5E2F2780D}"/>
                  </a:ext>
                </a:extLst>
              </p:cNvPr>
              <p:cNvSpPr txBox="1">
                <a:spLocks noRot="1" noChangeAspect="1" noMove="1" noResize="1" noEditPoints="1" noAdjustHandles="1" noChangeArrowheads="1" noChangeShapeType="1" noTextEdit="1"/>
              </p:cNvSpPr>
              <p:nvPr/>
            </p:nvSpPr>
            <p:spPr>
              <a:xfrm>
                <a:off x="4773153" y="1516031"/>
                <a:ext cx="1725561" cy="1695592"/>
              </a:xfrm>
              <a:prstGeom prst="rect">
                <a:avLst/>
              </a:prstGeom>
              <a:blipFill>
                <a:blip r:embed="rId4"/>
                <a:stretch>
                  <a:fillRect r="-1767"/>
                </a:stretch>
              </a:blipFill>
            </p:spPr>
            <p:txBody>
              <a:bodyPr/>
              <a:lstStyle/>
              <a:p>
                <a:r>
                  <a:rPr lang="es-CO">
                    <a:noFill/>
                  </a:rPr>
                  <a:t> </a:t>
                </a:r>
              </a:p>
            </p:txBody>
          </p:sp>
        </mc:Fallback>
      </mc:AlternateContent>
    </p:spTree>
    <p:extLst>
      <p:ext uri="{BB962C8B-B14F-4D97-AF65-F5344CB8AC3E}">
        <p14:creationId xmlns:p14="http://schemas.microsoft.com/office/powerpoint/2010/main" val="12534822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231059" y="83011"/>
            <a:ext cx="10825316" cy="949500"/>
          </a:xfrm>
        </p:spPr>
        <p:txBody>
          <a:bodyPr/>
          <a:lstStyle/>
          <a:p>
            <a:r>
              <a:rPr lang="es-ES" dirty="0">
                <a:solidFill>
                  <a:schemeClr val="tx1"/>
                </a:solidFill>
                <a:latin typeface="+mj-lt"/>
              </a:rPr>
              <a:t>Validación de argumentos – Enfoque axiomático</a:t>
            </a:r>
            <a:endParaRPr lang="es-CO" dirty="0">
              <a:solidFill>
                <a:schemeClr val="tx1"/>
              </a:solidFill>
            </a:endParaRPr>
          </a:p>
        </p:txBody>
      </p:sp>
      <p:sp>
        <p:nvSpPr>
          <p:cNvPr id="12" name="CuadroTexto 11">
            <a:extLst>
              <a:ext uri="{FF2B5EF4-FFF2-40B4-BE49-F238E27FC236}">
                <a16:creationId xmlns:a16="http://schemas.microsoft.com/office/drawing/2014/main" id="{86124C36-7153-4A0A-AE9D-CDE921828F77}"/>
              </a:ext>
            </a:extLst>
          </p:cNvPr>
          <p:cNvSpPr txBox="1"/>
          <p:nvPr/>
        </p:nvSpPr>
        <p:spPr>
          <a:xfrm>
            <a:off x="370960" y="999702"/>
            <a:ext cx="10947819" cy="430887"/>
          </a:xfrm>
          <a:prstGeom prst="rect">
            <a:avLst/>
          </a:prstGeom>
          <a:noFill/>
        </p:spPr>
        <p:txBody>
          <a:bodyPr wrap="square" rtlCol="0">
            <a:spAutoFit/>
          </a:bodyPr>
          <a:lstStyle/>
          <a:p>
            <a:r>
              <a:rPr lang="es-MX" sz="2200" b="1" dirty="0">
                <a:ea typeface="Roboto" panose="02000000000000000000" pitchFamily="2" charset="0"/>
              </a:rPr>
              <a:t>Ejemplo 3</a:t>
            </a:r>
            <a:r>
              <a:rPr lang="es-MX" sz="2200" dirty="0">
                <a:ea typeface="Roboto" panose="02000000000000000000" pitchFamily="2" charset="0"/>
              </a:rPr>
              <a:t>: Considerar el siguiente argumento:</a:t>
            </a:r>
          </a:p>
        </p:txBody>
      </p:sp>
      <p:sp>
        <p:nvSpPr>
          <p:cNvPr id="7" name="Google Shape;310;p34">
            <a:extLst>
              <a:ext uri="{FF2B5EF4-FFF2-40B4-BE49-F238E27FC236}">
                <a16:creationId xmlns:a16="http://schemas.microsoft.com/office/drawing/2014/main" id="{EF23AEF8-F868-4AE1-9061-EB0A90B8858A}"/>
              </a:ext>
            </a:extLst>
          </p:cNvPr>
          <p:cNvSpPr txBox="1">
            <a:spLocks/>
          </p:cNvSpPr>
          <p:nvPr/>
        </p:nvSpPr>
        <p:spPr>
          <a:xfrm>
            <a:off x="517562" y="1542834"/>
            <a:ext cx="10801217" cy="1291475"/>
          </a:xfrm>
          <a:prstGeom prst="rect">
            <a:avLst/>
          </a:prstGeom>
          <a:noFill/>
          <a:ln>
            <a:solidFill>
              <a:schemeClr val="tx1"/>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57150" indent="0">
              <a:buSzPts val="2700"/>
              <a:buNone/>
            </a:pPr>
            <a:r>
              <a:rPr lang="es-MX" sz="2000" dirty="0">
                <a:latin typeface="+mn-lt"/>
                <a:ea typeface="Roboto" panose="02000000000000000000" pitchFamily="2" charset="0"/>
              </a:rPr>
              <a:t>Si Superman fuera capaz y estuviera dispuesto a prevenir el mal, lo haría. Si Superman fuera incapaz de prevenir el mal, sería impotente; si no estuviera dispuesto a prevenir el mal, sería malévolo. Superman no previene el mal. Si Superman existe, no es ni malévolo ni impotente; por lo tanto, Superman no existe.</a:t>
            </a:r>
          </a:p>
        </p:txBody>
      </p:sp>
      <p:sp>
        <p:nvSpPr>
          <p:cNvPr id="8" name="Google Shape;310;p34">
            <a:extLst>
              <a:ext uri="{FF2B5EF4-FFF2-40B4-BE49-F238E27FC236}">
                <a16:creationId xmlns:a16="http://schemas.microsoft.com/office/drawing/2014/main" id="{E7D1E39F-0FE3-42C6-A4F2-B6F978927B3A}"/>
              </a:ext>
            </a:extLst>
          </p:cNvPr>
          <p:cNvSpPr txBox="1">
            <a:spLocks/>
          </p:cNvSpPr>
          <p:nvPr/>
        </p:nvSpPr>
        <p:spPr>
          <a:xfrm>
            <a:off x="517561" y="2950669"/>
            <a:ext cx="10947819" cy="47833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57150" indent="0">
              <a:buSzPts val="2700"/>
              <a:buNone/>
            </a:pPr>
            <a:r>
              <a:rPr lang="es-MX" sz="2000" dirty="0">
                <a:latin typeface="+mn-lt"/>
                <a:ea typeface="Roboto" panose="02000000000000000000" pitchFamily="2" charset="0"/>
              </a:rPr>
              <a:t>Verificar su validez por la prueba formal de validez.</a:t>
            </a:r>
          </a:p>
        </p:txBody>
      </p:sp>
    </p:spTree>
    <p:extLst>
      <p:ext uri="{BB962C8B-B14F-4D97-AF65-F5344CB8AC3E}">
        <p14:creationId xmlns:p14="http://schemas.microsoft.com/office/powerpoint/2010/main" val="41799435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231059" y="83011"/>
            <a:ext cx="10825316" cy="949500"/>
          </a:xfrm>
        </p:spPr>
        <p:txBody>
          <a:bodyPr/>
          <a:lstStyle/>
          <a:p>
            <a:r>
              <a:rPr lang="es-ES" dirty="0">
                <a:solidFill>
                  <a:schemeClr val="tx1"/>
                </a:solidFill>
                <a:latin typeface="+mj-lt"/>
              </a:rPr>
              <a:t>Validación de argumentos – Enfoque axiomático</a:t>
            </a:r>
            <a:endParaRPr lang="es-CO" dirty="0">
              <a:solidFill>
                <a:schemeClr val="tx1"/>
              </a:solidFill>
            </a:endParaRPr>
          </a:p>
        </p:txBody>
      </p:sp>
      <p:sp>
        <p:nvSpPr>
          <p:cNvPr id="12" name="CuadroTexto 11">
            <a:extLst>
              <a:ext uri="{FF2B5EF4-FFF2-40B4-BE49-F238E27FC236}">
                <a16:creationId xmlns:a16="http://schemas.microsoft.com/office/drawing/2014/main" id="{86124C36-7153-4A0A-AE9D-CDE921828F77}"/>
              </a:ext>
            </a:extLst>
          </p:cNvPr>
          <p:cNvSpPr txBox="1"/>
          <p:nvPr/>
        </p:nvSpPr>
        <p:spPr>
          <a:xfrm>
            <a:off x="174171" y="999702"/>
            <a:ext cx="11144609" cy="430887"/>
          </a:xfrm>
          <a:prstGeom prst="rect">
            <a:avLst/>
          </a:prstGeom>
          <a:noFill/>
        </p:spPr>
        <p:txBody>
          <a:bodyPr wrap="square" rtlCol="0">
            <a:spAutoFit/>
          </a:bodyPr>
          <a:lstStyle/>
          <a:p>
            <a:r>
              <a:rPr lang="es-MX" sz="2200" b="1" dirty="0">
                <a:ea typeface="Roboto" panose="02000000000000000000" pitchFamily="2" charset="0"/>
              </a:rPr>
              <a:t>Ejemplo 1</a:t>
            </a:r>
            <a:r>
              <a:rPr lang="es-MX" sz="2200" dirty="0">
                <a:ea typeface="Roboto" panose="02000000000000000000" pitchFamily="2" charset="0"/>
              </a:rPr>
              <a:t>: Demuestre que el siguiente argumento lógico es valido:</a:t>
            </a: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C7CCC950-E8DA-4EC0-B0B2-3FF5E2F2780D}"/>
                  </a:ext>
                </a:extLst>
              </p:cNvPr>
              <p:cNvSpPr txBox="1"/>
              <p:nvPr/>
            </p:nvSpPr>
            <p:spPr>
              <a:xfrm>
                <a:off x="4148336" y="1904789"/>
                <a:ext cx="1573569" cy="156465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MX" sz="1600" b="0" i="1" smtClean="0">
                              <a:latin typeface="Cambria Math" panose="02040503050406030204" pitchFamily="18" charset="0"/>
                              <a:ea typeface="Roboto" panose="02000000000000000000" pitchFamily="2" charset="0"/>
                            </a:rPr>
                          </m:ctrlPr>
                        </m:fPr>
                        <m:num>
                          <m:eqArr>
                            <m:eqArrPr>
                              <m:ctrlPr>
                                <a:rPr lang="es-MX" sz="1600" b="0" i="1" smtClean="0">
                                  <a:latin typeface="Cambria Math" panose="02040503050406030204" pitchFamily="18" charset="0"/>
                                </a:rPr>
                              </m:ctrlPr>
                            </m:eqArrPr>
                            <m:e>
                              <m:r>
                                <a:rPr lang="es-MX" sz="1600" b="0" i="1" smtClean="0">
                                  <a:latin typeface="Cambria Math" panose="02040503050406030204" pitchFamily="18" charset="0"/>
                                </a:rPr>
                                <m:t>¬</m:t>
                              </m:r>
                              <m:r>
                                <a:rPr lang="es-MX" sz="1600" b="0" i="1" smtClean="0">
                                  <a:latin typeface="Cambria Math" panose="02040503050406030204" pitchFamily="18" charset="0"/>
                                </a:rPr>
                                <m:t>𝑝</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𝑞</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𝑟</m:t>
                              </m:r>
                              <m:r>
                                <a:rPr lang="es-MX" sz="1600" b="0" i="1" smtClean="0">
                                  <a:latin typeface="Cambria Math" panose="02040503050406030204" pitchFamily="18" charset="0"/>
                                  <a:ea typeface="Cambria Math" panose="02040503050406030204" pitchFamily="18" charset="0"/>
                                </a:rPr>
                                <m:t>   </m:t>
                              </m:r>
                            </m:e>
                            <m:e>
                              <m:r>
                                <a:rPr lang="es-MX" sz="1600" b="0" i="1" smtClean="0">
                                  <a:latin typeface="Cambria Math" panose="02040503050406030204" pitchFamily="18" charset="0"/>
                                  <a:ea typeface="Cambria Math" panose="02040503050406030204" pitchFamily="18" charset="0"/>
                                </a:rPr>
                                <m:t>𝑠</m:t>
                              </m:r>
                              <m:r>
                                <a:rPr lang="es-MX" sz="1600" b="0" i="1" smtClean="0">
                                  <a:latin typeface="Cambria Math" panose="02040503050406030204" pitchFamily="18" charset="0"/>
                                  <a:ea typeface="Cambria Math" panose="02040503050406030204" pitchFamily="18" charset="0"/>
                                </a:rPr>
                                <m:t>∨¬ </m:t>
                              </m:r>
                              <m:r>
                                <a:rPr lang="es-MX" sz="1600" b="0" i="1" smtClean="0">
                                  <a:latin typeface="Cambria Math" panose="02040503050406030204" pitchFamily="18" charset="0"/>
                                  <a:ea typeface="Cambria Math" panose="02040503050406030204" pitchFamily="18" charset="0"/>
                                </a:rPr>
                                <m:t>𝑞</m:t>
                              </m:r>
                              <m:r>
                                <a:rPr lang="es-MX" sz="1600" b="0" i="1" smtClean="0">
                                  <a:latin typeface="Cambria Math" panose="02040503050406030204" pitchFamily="18" charset="0"/>
                                  <a:ea typeface="Cambria Math" panose="02040503050406030204" pitchFamily="18" charset="0"/>
                                </a:rPr>
                                <m:t>          </m:t>
                              </m:r>
                            </m:e>
                            <m:e>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𝑡</m:t>
                              </m:r>
                              <m:r>
                                <a:rPr lang="es-MX" sz="1600" b="0" i="1" smtClean="0">
                                  <a:latin typeface="Cambria Math" panose="02040503050406030204" pitchFamily="18" charset="0"/>
                                  <a:ea typeface="Cambria Math" panose="02040503050406030204" pitchFamily="18" charset="0"/>
                                </a:rPr>
                                <m:t>                  </m:t>
                              </m:r>
                            </m:e>
                            <m:e>
                              <m:r>
                                <a:rPr lang="es-MX" sz="1600" b="0" i="1" smtClean="0">
                                  <a:latin typeface="Cambria Math" panose="02040503050406030204" pitchFamily="18" charset="0"/>
                                  <a:ea typeface="Cambria Math" panose="02040503050406030204" pitchFamily="18" charset="0"/>
                                </a:rPr>
                                <m:t>𝑝</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𝑡</m:t>
                              </m:r>
                              <m:r>
                                <a:rPr lang="es-MX" sz="1600" b="0" i="1" smtClean="0">
                                  <a:latin typeface="Cambria Math" panose="02040503050406030204" pitchFamily="18" charset="0"/>
                                  <a:ea typeface="Cambria Math" panose="02040503050406030204" pitchFamily="18" charset="0"/>
                                </a:rPr>
                                <m:t>             </m:t>
                              </m:r>
                            </m:e>
                            <m:e>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𝑝</m:t>
                              </m:r>
                              <m:r>
                                <a:rPr lang="es-MX" sz="1600" i="1">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𝑟</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𝑠</m:t>
                              </m:r>
                            </m:e>
                          </m:eqArr>
                        </m:num>
                        <m:den>
                          <m:r>
                            <a:rPr lang="es-MX" sz="1600" b="0" i="1" smtClean="0">
                              <a:latin typeface="Cambria Math" panose="02040503050406030204" pitchFamily="18" charset="0"/>
                              <a:ea typeface="Cambria Math" panose="02040503050406030204" pitchFamily="18" charset="0"/>
                            </a:rPr>
                            <m:t>∴¬ </m:t>
                          </m:r>
                          <m:r>
                            <a:rPr lang="es-MX" sz="1600" b="0" i="1" smtClean="0">
                              <a:latin typeface="Cambria Math" panose="02040503050406030204" pitchFamily="18" charset="0"/>
                              <a:ea typeface="Cambria Math" panose="02040503050406030204" pitchFamily="18" charset="0"/>
                            </a:rPr>
                            <m:t>𝑞</m:t>
                          </m:r>
                          <m:r>
                            <a:rPr lang="es-MX" sz="1600" b="0" i="1" smtClean="0">
                              <a:latin typeface="Cambria Math" panose="02040503050406030204" pitchFamily="18" charset="0"/>
                              <a:ea typeface="Cambria Math" panose="02040503050406030204" pitchFamily="18" charset="0"/>
                            </a:rPr>
                            <m:t>                      </m:t>
                          </m:r>
                        </m:den>
                      </m:f>
                    </m:oMath>
                  </m:oMathPara>
                </a14:m>
                <a:endParaRPr lang="es-CO" sz="1600" dirty="0"/>
              </a:p>
            </p:txBody>
          </p:sp>
        </mc:Choice>
        <mc:Fallback xmlns="">
          <p:sp>
            <p:nvSpPr>
              <p:cNvPr id="14" name="CuadroTexto 13">
                <a:extLst>
                  <a:ext uri="{FF2B5EF4-FFF2-40B4-BE49-F238E27FC236}">
                    <a16:creationId xmlns:a16="http://schemas.microsoft.com/office/drawing/2014/main" id="{C7CCC950-E8DA-4EC0-B0B2-3FF5E2F2780D}"/>
                  </a:ext>
                </a:extLst>
              </p:cNvPr>
              <p:cNvSpPr txBox="1">
                <a:spLocks noRot="1" noChangeAspect="1" noMove="1" noResize="1" noEditPoints="1" noAdjustHandles="1" noChangeArrowheads="1" noChangeShapeType="1" noTextEdit="1"/>
              </p:cNvSpPr>
              <p:nvPr/>
            </p:nvSpPr>
            <p:spPr>
              <a:xfrm>
                <a:off x="4148336" y="1904789"/>
                <a:ext cx="1573569" cy="1564659"/>
              </a:xfrm>
              <a:prstGeom prst="rect">
                <a:avLst/>
              </a:prstGeom>
              <a:blipFill>
                <a:blip r:embed="rId3"/>
                <a:stretch>
                  <a:fillRect/>
                </a:stretch>
              </a:blipFill>
            </p:spPr>
            <p:txBody>
              <a:bodyPr/>
              <a:lstStyle/>
              <a:p>
                <a:r>
                  <a:rPr lang="es-CO">
                    <a:noFill/>
                  </a:rPr>
                  <a:t> </a:t>
                </a:r>
              </a:p>
            </p:txBody>
          </p:sp>
        </mc:Fallback>
      </mc:AlternateContent>
      <p:graphicFrame>
        <p:nvGraphicFramePr>
          <p:cNvPr id="9" name="Tabla 6">
            <a:extLst>
              <a:ext uri="{FF2B5EF4-FFF2-40B4-BE49-F238E27FC236}">
                <a16:creationId xmlns:a16="http://schemas.microsoft.com/office/drawing/2014/main" id="{DCAE20F6-2315-4B6B-B041-F212E4C1C786}"/>
              </a:ext>
            </a:extLst>
          </p:cNvPr>
          <p:cNvGraphicFramePr>
            <a:graphicFrameLocks noGrp="1"/>
          </p:cNvGraphicFramePr>
          <p:nvPr>
            <p:extLst>
              <p:ext uri="{D42A27DB-BD31-4B8C-83A1-F6EECF244321}">
                <p14:modId xmlns:p14="http://schemas.microsoft.com/office/powerpoint/2010/main" val="3567079986"/>
              </p:ext>
            </p:extLst>
          </p:nvPr>
        </p:nvGraphicFramePr>
        <p:xfrm>
          <a:off x="5765447" y="1668489"/>
          <a:ext cx="6359892" cy="4851400"/>
        </p:xfrm>
        <a:graphic>
          <a:graphicData uri="http://schemas.openxmlformats.org/drawingml/2006/table">
            <a:tbl>
              <a:tblPr firstRow="1" bandRow="1">
                <a:tableStyleId>{5940675A-B579-460E-94D1-54222C63F5DA}</a:tableStyleId>
              </a:tblPr>
              <a:tblGrid>
                <a:gridCol w="516194">
                  <a:extLst>
                    <a:ext uri="{9D8B030D-6E8A-4147-A177-3AD203B41FA5}">
                      <a16:colId xmlns:a16="http://schemas.microsoft.com/office/drawing/2014/main" val="2268520492"/>
                    </a:ext>
                  </a:extLst>
                </a:gridCol>
                <a:gridCol w="2604378">
                  <a:extLst>
                    <a:ext uri="{9D8B030D-6E8A-4147-A177-3AD203B41FA5}">
                      <a16:colId xmlns:a16="http://schemas.microsoft.com/office/drawing/2014/main" val="2295907465"/>
                    </a:ext>
                  </a:extLst>
                </a:gridCol>
                <a:gridCol w="3239320">
                  <a:extLst>
                    <a:ext uri="{9D8B030D-6E8A-4147-A177-3AD203B41FA5}">
                      <a16:colId xmlns:a16="http://schemas.microsoft.com/office/drawing/2014/main" val="1814483346"/>
                    </a:ext>
                  </a:extLst>
                </a:gridCol>
              </a:tblGrid>
              <a:tr h="370840">
                <a:tc>
                  <a:txBody>
                    <a:bodyPr/>
                    <a:lstStyle/>
                    <a:p>
                      <a:r>
                        <a:rPr lang="es-CO" b="1" dirty="0"/>
                        <a:t>#</a:t>
                      </a:r>
                    </a:p>
                  </a:txBody>
                  <a:tcPr>
                    <a:lnL w="12700" cap="flat" cmpd="sng" algn="ctr">
                      <a:noFill/>
                      <a:prstDash val="solid"/>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b="1" dirty="0"/>
                        <a:t>Afirmación</a:t>
                      </a:r>
                    </a:p>
                  </a:txBody>
                  <a:tcP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b="1" dirty="0"/>
                        <a:t>Razón</a:t>
                      </a:r>
                    </a:p>
                  </a:txBody>
                  <a:tcPr>
                    <a:lnL w="12700" cap="flat" cmpd="sng" algn="ctr">
                      <a:solidFill>
                        <a:schemeClr val="tx1"/>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6992406"/>
                  </a:ext>
                </a:extLst>
              </a:tr>
              <a:tr h="370840">
                <a:tc>
                  <a:txBody>
                    <a:bodyPr/>
                    <a:lstStyle/>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txBody>
                  <a:tcPr>
                    <a:lnL w="12700" cap="flat" cmpd="sng" algn="ctr">
                      <a:noFill/>
                      <a:prstDash val="solid"/>
                      <a:round/>
                      <a:headEnd type="none" w="med" len="med"/>
                      <a:tailEnd type="none" w="med" len="med"/>
                    </a:lnL>
                    <a:lnR w="12700" cap="flat" cmpd="sng" algn="ctr">
                      <a:solidFill>
                        <a:schemeClr val="tx1"/>
                      </a:solidFill>
                      <a:prstDash val="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txBody>
                  <a:tcP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es-CO" dirty="0"/>
                    </a:p>
                  </a:txBody>
                  <a:tcPr>
                    <a:lnL w="12700" cap="flat" cmpd="sng" algn="ctr">
                      <a:solidFill>
                        <a:schemeClr val="tx1"/>
                      </a:solidFill>
                      <a:prstDash val="dash"/>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29773306"/>
                  </a:ext>
                </a:extLst>
              </a:tr>
            </a:tbl>
          </a:graphicData>
        </a:graphic>
      </p:graphicFrame>
      <p:pic>
        <p:nvPicPr>
          <p:cNvPr id="10" name="Imagen 9">
            <a:extLst>
              <a:ext uri="{FF2B5EF4-FFF2-40B4-BE49-F238E27FC236}">
                <a16:creationId xmlns:a16="http://schemas.microsoft.com/office/drawing/2014/main" id="{079E3DB2-4FA3-4A80-9126-3A2027998A1D}"/>
              </a:ext>
            </a:extLst>
          </p:cNvPr>
          <p:cNvPicPr>
            <a:picLocks noChangeAspect="1"/>
          </p:cNvPicPr>
          <p:nvPr/>
        </p:nvPicPr>
        <p:blipFill>
          <a:blip r:embed="rId4"/>
          <a:stretch>
            <a:fillRect/>
          </a:stretch>
        </p:blipFill>
        <p:spPr>
          <a:xfrm>
            <a:off x="95689" y="1581956"/>
            <a:ext cx="4032652" cy="2512233"/>
          </a:xfrm>
          <a:prstGeom prst="rect">
            <a:avLst/>
          </a:prstGeom>
        </p:spPr>
      </p:pic>
      <p:pic>
        <p:nvPicPr>
          <p:cNvPr id="11" name="Imagen 10">
            <a:extLst>
              <a:ext uri="{FF2B5EF4-FFF2-40B4-BE49-F238E27FC236}">
                <a16:creationId xmlns:a16="http://schemas.microsoft.com/office/drawing/2014/main" id="{64A5734F-F9A7-49BA-B4E9-800772D71E04}"/>
              </a:ext>
            </a:extLst>
          </p:cNvPr>
          <p:cNvPicPr>
            <a:picLocks noChangeAspect="1"/>
          </p:cNvPicPr>
          <p:nvPr/>
        </p:nvPicPr>
        <p:blipFill>
          <a:blip r:embed="rId5"/>
          <a:stretch>
            <a:fillRect/>
          </a:stretch>
        </p:blipFill>
        <p:spPr>
          <a:xfrm>
            <a:off x="63849" y="4234656"/>
            <a:ext cx="5543081" cy="2572543"/>
          </a:xfrm>
          <a:prstGeom prst="rect">
            <a:avLst/>
          </a:prstGeom>
        </p:spPr>
      </p:pic>
    </p:spTree>
    <p:extLst>
      <p:ext uri="{BB962C8B-B14F-4D97-AF65-F5344CB8AC3E}">
        <p14:creationId xmlns:p14="http://schemas.microsoft.com/office/powerpoint/2010/main" val="3458973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231059" y="83011"/>
            <a:ext cx="10825316" cy="949500"/>
          </a:xfrm>
        </p:spPr>
        <p:txBody>
          <a:bodyPr/>
          <a:lstStyle/>
          <a:p>
            <a:r>
              <a:rPr lang="es-ES" dirty="0">
                <a:solidFill>
                  <a:schemeClr val="tx1"/>
                </a:solidFill>
                <a:latin typeface="+mj-lt"/>
              </a:rPr>
              <a:t>Validación de argumentos – Enfoque axiomático</a:t>
            </a:r>
            <a:endParaRPr lang="es-CO" dirty="0">
              <a:solidFill>
                <a:schemeClr val="tx1"/>
              </a:solidFill>
            </a:endParaRPr>
          </a:p>
        </p:txBody>
      </p:sp>
      <p:sp>
        <p:nvSpPr>
          <p:cNvPr id="12" name="CuadroTexto 11">
            <a:extLst>
              <a:ext uri="{FF2B5EF4-FFF2-40B4-BE49-F238E27FC236}">
                <a16:creationId xmlns:a16="http://schemas.microsoft.com/office/drawing/2014/main" id="{86124C36-7153-4A0A-AE9D-CDE921828F77}"/>
              </a:ext>
            </a:extLst>
          </p:cNvPr>
          <p:cNvSpPr txBox="1"/>
          <p:nvPr/>
        </p:nvSpPr>
        <p:spPr>
          <a:xfrm>
            <a:off x="83170" y="999702"/>
            <a:ext cx="11877771" cy="430887"/>
          </a:xfrm>
          <a:prstGeom prst="rect">
            <a:avLst/>
          </a:prstGeom>
          <a:noFill/>
        </p:spPr>
        <p:txBody>
          <a:bodyPr wrap="square" rtlCol="0">
            <a:spAutoFit/>
          </a:bodyPr>
          <a:lstStyle/>
          <a:p>
            <a:r>
              <a:rPr lang="es-MX" sz="2200" b="1" dirty="0">
                <a:ea typeface="Roboto" panose="02000000000000000000" pitchFamily="2" charset="0"/>
              </a:rPr>
              <a:t>Ejemplo 2</a:t>
            </a:r>
            <a:r>
              <a:rPr lang="es-MX" sz="2200" dirty="0">
                <a:ea typeface="Roboto" panose="02000000000000000000" pitchFamily="2" charset="0"/>
              </a:rPr>
              <a:t>: Demuestre que el siguiente argumento lógico es valido:</a:t>
            </a:r>
          </a:p>
        </p:txBody>
      </p:sp>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BECB0184-D812-4D8B-ADCF-616FE57DFB83}"/>
                  </a:ext>
                </a:extLst>
              </p:cNvPr>
              <p:cNvSpPr txBox="1"/>
              <p:nvPr/>
            </p:nvSpPr>
            <p:spPr>
              <a:xfrm>
                <a:off x="4115822" y="1809896"/>
                <a:ext cx="1486778" cy="19078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MX" sz="1600" b="0" i="1" smtClean="0">
                              <a:latin typeface="Cambria Math" panose="02040503050406030204" pitchFamily="18" charset="0"/>
                              <a:ea typeface="Roboto" panose="02000000000000000000" pitchFamily="2" charset="0"/>
                            </a:rPr>
                          </m:ctrlPr>
                        </m:fPr>
                        <m:num>
                          <m:eqArr>
                            <m:eqArrPr>
                              <m:ctrlPr>
                                <a:rPr lang="es-MX" sz="1600" b="0" i="1" smtClean="0">
                                  <a:latin typeface="Cambria Math" panose="02040503050406030204" pitchFamily="18" charset="0"/>
                                  <a:ea typeface="Roboto" panose="02000000000000000000" pitchFamily="2" charset="0"/>
                                </a:rPr>
                              </m:ctrlPr>
                            </m:eqArrPr>
                            <m:e>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𝑞</m:t>
                              </m:r>
                              <m:r>
                                <a:rPr lang="es-MX" sz="1600" b="0" i="1" smtClean="0">
                                  <a:latin typeface="Cambria Math" panose="02040503050406030204" pitchFamily="18" charset="0"/>
                                  <a:ea typeface="Roboto" panose="02000000000000000000" pitchFamily="2" charset="0"/>
                                </a:rPr>
                                <m:t>         </m:t>
                              </m:r>
                            </m:e>
                            <m:e>
                              <m:r>
                                <a:rPr lang="es-MX" sz="1600" b="0" i="1" smtClean="0">
                                  <a:latin typeface="Cambria Math" panose="02040503050406030204" pitchFamily="18" charset="0"/>
                                </a:rPr>
                                <m:t>𝑟</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𝑠</m:t>
                              </m:r>
                              <m:r>
                                <a:rPr lang="es-MX" sz="1600" b="0" i="1" smtClean="0">
                                  <a:latin typeface="Cambria Math" panose="02040503050406030204" pitchFamily="18" charset="0"/>
                                  <a:ea typeface="Cambria Math" panose="02040503050406030204" pitchFamily="18" charset="0"/>
                                </a:rPr>
                                <m:t>           </m:t>
                              </m:r>
                            </m:e>
                            <m:e>
                              <m:r>
                                <a:rPr lang="es-MX" sz="1600" b="0" i="1" smtClean="0">
                                  <a:latin typeface="Cambria Math" panose="02040503050406030204" pitchFamily="18" charset="0"/>
                                </a:rPr>
                                <m:t>¬</m:t>
                              </m:r>
                              <m:r>
                                <a:rPr lang="es-MX" sz="1600" b="0" i="1" smtClean="0">
                                  <a:latin typeface="Cambria Math" panose="02040503050406030204" pitchFamily="18" charset="0"/>
                                </a:rPr>
                                <m:t>𝑠</m:t>
                              </m:r>
                              <m:r>
                                <a:rPr lang="es-MX" sz="1600" b="0" i="1" smtClean="0">
                                  <a:latin typeface="Cambria Math" panose="02040503050406030204" pitchFamily="18" charset="0"/>
                                </a:rPr>
                                <m:t>→¬</m:t>
                              </m:r>
                              <m:r>
                                <a:rPr lang="es-MX" sz="1600" b="0" i="1" smtClean="0">
                                  <a:latin typeface="Cambria Math" panose="02040503050406030204" pitchFamily="18" charset="0"/>
                                </a:rPr>
                                <m:t>𝑡</m:t>
                              </m:r>
                              <m:r>
                                <a:rPr lang="es-MX" sz="1600" b="0" i="1" smtClean="0">
                                  <a:latin typeface="Cambria Math" panose="02040503050406030204" pitchFamily="18" charset="0"/>
                                </a:rPr>
                                <m:t>   </m:t>
                              </m:r>
                            </m:e>
                            <m:e>
                              <m:r>
                                <a:rPr lang="es-MX" sz="1600" b="0" i="1" smtClean="0">
                                  <a:latin typeface="Cambria Math" panose="02040503050406030204" pitchFamily="18" charset="0"/>
                                </a:rPr>
                                <m:t>¬</m:t>
                              </m:r>
                              <m:r>
                                <a:rPr lang="es-MX" sz="1600" b="0" i="1" smtClean="0">
                                  <a:latin typeface="Cambria Math" panose="02040503050406030204" pitchFamily="18" charset="0"/>
                                </a:rPr>
                                <m:t>𝑞</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𝑠</m:t>
                              </m:r>
                              <m:r>
                                <a:rPr lang="es-MX" sz="1600" b="0" i="1" smtClean="0">
                                  <a:latin typeface="Cambria Math" panose="02040503050406030204" pitchFamily="18" charset="0"/>
                                  <a:ea typeface="Cambria Math" panose="02040503050406030204" pitchFamily="18" charset="0"/>
                                </a:rPr>
                                <m:t>       </m:t>
                              </m:r>
                            </m:e>
                            <m:e>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𝑠</m:t>
                              </m:r>
                              <m:r>
                                <a:rPr lang="es-MX" sz="1600" b="0" i="1" smtClean="0">
                                  <a:latin typeface="Cambria Math" panose="02040503050406030204" pitchFamily="18" charset="0"/>
                                  <a:ea typeface="Cambria Math" panose="02040503050406030204" pitchFamily="18" charset="0"/>
                                </a:rPr>
                                <m:t>               </m:t>
                              </m:r>
                            </m:e>
                            <m:e>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𝑝</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𝑟</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𝑢</m:t>
                              </m:r>
                            </m:e>
                            <m:e>
                              <m:r>
                                <a:rPr lang="es-MX" sz="1600" b="0" i="1" smtClean="0">
                                  <a:latin typeface="Cambria Math" panose="02040503050406030204" pitchFamily="18" charset="0"/>
                                  <a:ea typeface="Cambria Math" panose="02040503050406030204" pitchFamily="18" charset="0"/>
                                </a:rPr>
                                <m:t>𝑤</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𝑡</m:t>
                              </m:r>
                              <m:r>
                                <a:rPr lang="es-MX" sz="1600" b="0" i="1" smtClean="0">
                                  <a:latin typeface="Cambria Math" panose="02040503050406030204" pitchFamily="18" charset="0"/>
                                  <a:ea typeface="Cambria Math" panose="02040503050406030204" pitchFamily="18" charset="0"/>
                                </a:rPr>
                                <m:t>           </m:t>
                              </m:r>
                            </m:e>
                          </m:eqArr>
                        </m:num>
                        <m:den>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𝑢</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𝑟</m:t>
                          </m:r>
                          <m:r>
                            <a:rPr lang="es-MX" sz="1600" b="0" i="1" smtClean="0">
                              <a:latin typeface="Cambria Math" panose="02040503050406030204" pitchFamily="18" charset="0"/>
                              <a:ea typeface="Cambria Math" panose="02040503050406030204" pitchFamily="18" charset="0"/>
                            </a:rPr>
                            <m:t>               </m:t>
                          </m:r>
                        </m:den>
                      </m:f>
                    </m:oMath>
                  </m:oMathPara>
                </a14:m>
                <a:endParaRPr lang="es-CO" sz="1600" dirty="0"/>
              </a:p>
            </p:txBody>
          </p:sp>
        </mc:Choice>
        <mc:Fallback xmlns="">
          <p:sp>
            <p:nvSpPr>
              <p:cNvPr id="11" name="CuadroTexto 10">
                <a:extLst>
                  <a:ext uri="{FF2B5EF4-FFF2-40B4-BE49-F238E27FC236}">
                    <a16:creationId xmlns:a16="http://schemas.microsoft.com/office/drawing/2014/main" id="{BECB0184-D812-4D8B-ADCF-616FE57DFB83}"/>
                  </a:ext>
                </a:extLst>
              </p:cNvPr>
              <p:cNvSpPr txBox="1">
                <a:spLocks noRot="1" noChangeAspect="1" noMove="1" noResize="1" noEditPoints="1" noAdjustHandles="1" noChangeArrowheads="1" noChangeShapeType="1" noTextEdit="1"/>
              </p:cNvSpPr>
              <p:nvPr/>
            </p:nvSpPr>
            <p:spPr>
              <a:xfrm>
                <a:off x="4115822" y="1809896"/>
                <a:ext cx="1486778" cy="1907830"/>
              </a:xfrm>
              <a:prstGeom prst="rect">
                <a:avLst/>
              </a:prstGeom>
              <a:blipFill>
                <a:blip r:embed="rId3"/>
                <a:stretch>
                  <a:fillRect/>
                </a:stretch>
              </a:blipFill>
            </p:spPr>
            <p:txBody>
              <a:bodyPr/>
              <a:lstStyle/>
              <a:p>
                <a:r>
                  <a:rPr lang="es-CO">
                    <a:noFill/>
                  </a:rPr>
                  <a:t> </a:t>
                </a:r>
              </a:p>
            </p:txBody>
          </p:sp>
        </mc:Fallback>
      </mc:AlternateContent>
      <p:graphicFrame>
        <p:nvGraphicFramePr>
          <p:cNvPr id="9" name="Tabla 6">
            <a:extLst>
              <a:ext uri="{FF2B5EF4-FFF2-40B4-BE49-F238E27FC236}">
                <a16:creationId xmlns:a16="http://schemas.microsoft.com/office/drawing/2014/main" id="{1CD97D00-0F52-46E9-B35B-33EC9261E587}"/>
              </a:ext>
            </a:extLst>
          </p:cNvPr>
          <p:cNvGraphicFramePr>
            <a:graphicFrameLocks noGrp="1"/>
          </p:cNvGraphicFramePr>
          <p:nvPr>
            <p:extLst>
              <p:ext uri="{D42A27DB-BD31-4B8C-83A1-F6EECF244321}">
                <p14:modId xmlns:p14="http://schemas.microsoft.com/office/powerpoint/2010/main" val="783643215"/>
              </p:ext>
            </p:extLst>
          </p:nvPr>
        </p:nvGraphicFramePr>
        <p:xfrm>
          <a:off x="5692877" y="1668489"/>
          <a:ext cx="6359892" cy="4851400"/>
        </p:xfrm>
        <a:graphic>
          <a:graphicData uri="http://schemas.openxmlformats.org/drawingml/2006/table">
            <a:tbl>
              <a:tblPr firstRow="1" bandRow="1">
                <a:tableStyleId>{5940675A-B579-460E-94D1-54222C63F5DA}</a:tableStyleId>
              </a:tblPr>
              <a:tblGrid>
                <a:gridCol w="516194">
                  <a:extLst>
                    <a:ext uri="{9D8B030D-6E8A-4147-A177-3AD203B41FA5}">
                      <a16:colId xmlns:a16="http://schemas.microsoft.com/office/drawing/2014/main" val="2268520492"/>
                    </a:ext>
                  </a:extLst>
                </a:gridCol>
                <a:gridCol w="2604378">
                  <a:extLst>
                    <a:ext uri="{9D8B030D-6E8A-4147-A177-3AD203B41FA5}">
                      <a16:colId xmlns:a16="http://schemas.microsoft.com/office/drawing/2014/main" val="2295907465"/>
                    </a:ext>
                  </a:extLst>
                </a:gridCol>
                <a:gridCol w="3239320">
                  <a:extLst>
                    <a:ext uri="{9D8B030D-6E8A-4147-A177-3AD203B41FA5}">
                      <a16:colId xmlns:a16="http://schemas.microsoft.com/office/drawing/2014/main" val="1814483346"/>
                    </a:ext>
                  </a:extLst>
                </a:gridCol>
              </a:tblGrid>
              <a:tr h="370840">
                <a:tc>
                  <a:txBody>
                    <a:bodyPr/>
                    <a:lstStyle/>
                    <a:p>
                      <a:r>
                        <a:rPr lang="es-CO" b="1" dirty="0"/>
                        <a:t>#</a:t>
                      </a:r>
                    </a:p>
                  </a:txBody>
                  <a:tcPr>
                    <a:lnL w="12700" cap="flat" cmpd="sng" algn="ctr">
                      <a:noFill/>
                      <a:prstDash val="solid"/>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b="1" dirty="0"/>
                        <a:t>Afirmación</a:t>
                      </a:r>
                    </a:p>
                  </a:txBody>
                  <a:tcP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b="1" dirty="0"/>
                        <a:t>Razón</a:t>
                      </a:r>
                    </a:p>
                  </a:txBody>
                  <a:tcPr>
                    <a:lnL w="12700" cap="flat" cmpd="sng" algn="ctr">
                      <a:solidFill>
                        <a:schemeClr val="tx1"/>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6992406"/>
                  </a:ext>
                </a:extLst>
              </a:tr>
              <a:tr h="370840">
                <a:tc>
                  <a:txBody>
                    <a:bodyPr/>
                    <a:lstStyle/>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txBody>
                  <a:tcPr>
                    <a:lnL w="12700" cap="flat" cmpd="sng" algn="ctr">
                      <a:noFill/>
                      <a:prstDash val="solid"/>
                      <a:round/>
                      <a:headEnd type="none" w="med" len="med"/>
                      <a:tailEnd type="none" w="med" len="med"/>
                    </a:lnL>
                    <a:lnR w="12700" cap="flat" cmpd="sng" algn="ctr">
                      <a:solidFill>
                        <a:schemeClr val="tx1"/>
                      </a:solidFill>
                      <a:prstDash val="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txBody>
                  <a:tcP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es-CO" dirty="0"/>
                    </a:p>
                  </a:txBody>
                  <a:tcPr>
                    <a:lnL w="12700" cap="flat" cmpd="sng" algn="ctr">
                      <a:solidFill>
                        <a:schemeClr val="tx1"/>
                      </a:solidFill>
                      <a:prstDash val="dash"/>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29773306"/>
                  </a:ext>
                </a:extLst>
              </a:tr>
            </a:tbl>
          </a:graphicData>
        </a:graphic>
      </p:graphicFrame>
      <p:pic>
        <p:nvPicPr>
          <p:cNvPr id="10" name="Imagen 9">
            <a:extLst>
              <a:ext uri="{FF2B5EF4-FFF2-40B4-BE49-F238E27FC236}">
                <a16:creationId xmlns:a16="http://schemas.microsoft.com/office/drawing/2014/main" id="{EBB6239E-D41B-4C0A-A664-53FB8D152AD8}"/>
              </a:ext>
            </a:extLst>
          </p:cNvPr>
          <p:cNvPicPr>
            <a:picLocks noChangeAspect="1"/>
          </p:cNvPicPr>
          <p:nvPr/>
        </p:nvPicPr>
        <p:blipFill>
          <a:blip r:embed="rId4"/>
          <a:stretch>
            <a:fillRect/>
          </a:stretch>
        </p:blipFill>
        <p:spPr>
          <a:xfrm>
            <a:off x="83170" y="1609824"/>
            <a:ext cx="4032652" cy="2512233"/>
          </a:xfrm>
          <a:prstGeom prst="rect">
            <a:avLst/>
          </a:prstGeom>
        </p:spPr>
      </p:pic>
      <p:pic>
        <p:nvPicPr>
          <p:cNvPr id="13" name="Imagen 12">
            <a:extLst>
              <a:ext uri="{FF2B5EF4-FFF2-40B4-BE49-F238E27FC236}">
                <a16:creationId xmlns:a16="http://schemas.microsoft.com/office/drawing/2014/main" id="{268BF80F-16D4-4F94-87F2-793B50DD851D}"/>
              </a:ext>
            </a:extLst>
          </p:cNvPr>
          <p:cNvPicPr>
            <a:picLocks noChangeAspect="1"/>
          </p:cNvPicPr>
          <p:nvPr/>
        </p:nvPicPr>
        <p:blipFill>
          <a:blip r:embed="rId5"/>
          <a:stretch>
            <a:fillRect/>
          </a:stretch>
        </p:blipFill>
        <p:spPr>
          <a:xfrm>
            <a:off x="63849" y="4234656"/>
            <a:ext cx="5543081" cy="2572543"/>
          </a:xfrm>
          <a:prstGeom prst="rect">
            <a:avLst/>
          </a:prstGeom>
        </p:spPr>
      </p:pic>
    </p:spTree>
    <p:extLst>
      <p:ext uri="{BB962C8B-B14F-4D97-AF65-F5344CB8AC3E}">
        <p14:creationId xmlns:p14="http://schemas.microsoft.com/office/powerpoint/2010/main" val="973132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231059" y="83011"/>
            <a:ext cx="10825316" cy="949500"/>
          </a:xfrm>
        </p:spPr>
        <p:txBody>
          <a:bodyPr/>
          <a:lstStyle/>
          <a:p>
            <a:r>
              <a:rPr lang="es-ES" dirty="0">
                <a:solidFill>
                  <a:schemeClr val="tx1"/>
                </a:solidFill>
                <a:latin typeface="+mj-lt"/>
              </a:rPr>
              <a:t>Validación de argumentos – Enfoque axiomático</a:t>
            </a:r>
            <a:endParaRPr lang="es-CO" dirty="0">
              <a:solidFill>
                <a:schemeClr val="tx1"/>
              </a:solidFill>
            </a:endParaRPr>
          </a:p>
        </p:txBody>
      </p:sp>
      <p:sp>
        <p:nvSpPr>
          <p:cNvPr id="12" name="CuadroTexto 11">
            <a:extLst>
              <a:ext uri="{FF2B5EF4-FFF2-40B4-BE49-F238E27FC236}">
                <a16:creationId xmlns:a16="http://schemas.microsoft.com/office/drawing/2014/main" id="{86124C36-7153-4A0A-AE9D-CDE921828F77}"/>
              </a:ext>
            </a:extLst>
          </p:cNvPr>
          <p:cNvSpPr txBox="1"/>
          <p:nvPr/>
        </p:nvSpPr>
        <p:spPr>
          <a:xfrm>
            <a:off x="370960" y="927131"/>
            <a:ext cx="10947819" cy="430887"/>
          </a:xfrm>
          <a:prstGeom prst="rect">
            <a:avLst/>
          </a:prstGeom>
          <a:noFill/>
        </p:spPr>
        <p:txBody>
          <a:bodyPr wrap="square" rtlCol="0">
            <a:spAutoFit/>
          </a:bodyPr>
          <a:lstStyle/>
          <a:p>
            <a:r>
              <a:rPr lang="es-MX" sz="2200" b="1" dirty="0">
                <a:ea typeface="Roboto" panose="02000000000000000000" pitchFamily="2" charset="0"/>
              </a:rPr>
              <a:t>Ejemplo 3</a:t>
            </a:r>
            <a:r>
              <a:rPr lang="es-MX" sz="2200" dirty="0">
                <a:ea typeface="Roboto" panose="02000000000000000000" pitchFamily="2" charset="0"/>
              </a:rPr>
              <a:t>:</a:t>
            </a:r>
          </a:p>
        </p:txBody>
      </p:sp>
      <p:sp>
        <p:nvSpPr>
          <p:cNvPr id="10" name="Google Shape;310;p34">
            <a:extLst>
              <a:ext uri="{FF2B5EF4-FFF2-40B4-BE49-F238E27FC236}">
                <a16:creationId xmlns:a16="http://schemas.microsoft.com/office/drawing/2014/main" id="{C0489D8D-2F95-4BB5-90CB-2D2B1990DF26}"/>
              </a:ext>
            </a:extLst>
          </p:cNvPr>
          <p:cNvSpPr txBox="1">
            <a:spLocks/>
          </p:cNvSpPr>
          <p:nvPr/>
        </p:nvSpPr>
        <p:spPr>
          <a:xfrm>
            <a:off x="707041" y="1399812"/>
            <a:ext cx="10611738" cy="1291475"/>
          </a:xfrm>
          <a:prstGeom prst="rect">
            <a:avLst/>
          </a:prstGeom>
          <a:noFill/>
          <a:ln>
            <a:solidFill>
              <a:schemeClr val="tx1"/>
            </a:solid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57150" indent="0">
              <a:buSzPts val="2700"/>
              <a:buNone/>
            </a:pPr>
            <a:r>
              <a:rPr lang="es-MX" sz="2000" dirty="0">
                <a:latin typeface="+mn-lt"/>
                <a:ea typeface="Roboto" panose="02000000000000000000" pitchFamily="2" charset="0"/>
              </a:rPr>
              <a:t>Si Superman fuera capaz y estuviera dispuesto a prevenir el mal, lo haría. Si Superman fuera incapaz de prevenir el mal, sería impotente; si no estuviera dispuesto a prevenir el mal, sería malévolo. Superman no previene el mal. Si Superman existe, no es ni malévolo ni impotente; por lo tanto, Superman no existe.</a:t>
            </a:r>
          </a:p>
        </p:txBody>
      </p:sp>
    </p:spTree>
    <p:extLst>
      <p:ext uri="{BB962C8B-B14F-4D97-AF65-F5344CB8AC3E}">
        <p14:creationId xmlns:p14="http://schemas.microsoft.com/office/powerpoint/2010/main" val="19008250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231059" y="83011"/>
            <a:ext cx="10825316" cy="949500"/>
          </a:xfrm>
        </p:spPr>
        <p:txBody>
          <a:bodyPr/>
          <a:lstStyle/>
          <a:p>
            <a:r>
              <a:rPr lang="es-ES" dirty="0">
                <a:solidFill>
                  <a:schemeClr val="tx1"/>
                </a:solidFill>
                <a:latin typeface="+mj-lt"/>
              </a:rPr>
              <a:t>Validación de argumentos – Enfoque axiomático</a:t>
            </a:r>
            <a:endParaRPr lang="es-CO" dirty="0">
              <a:solidFill>
                <a:schemeClr val="tx1"/>
              </a:solidFill>
            </a:endParaRPr>
          </a:p>
        </p:txBody>
      </p:sp>
      <p:sp>
        <p:nvSpPr>
          <p:cNvPr id="12" name="CuadroTexto 11">
            <a:extLst>
              <a:ext uri="{FF2B5EF4-FFF2-40B4-BE49-F238E27FC236}">
                <a16:creationId xmlns:a16="http://schemas.microsoft.com/office/drawing/2014/main" id="{86124C36-7153-4A0A-AE9D-CDE921828F77}"/>
              </a:ext>
            </a:extLst>
          </p:cNvPr>
          <p:cNvSpPr txBox="1"/>
          <p:nvPr/>
        </p:nvSpPr>
        <p:spPr>
          <a:xfrm>
            <a:off x="169807" y="1032511"/>
            <a:ext cx="10947819" cy="430887"/>
          </a:xfrm>
          <a:prstGeom prst="rect">
            <a:avLst/>
          </a:prstGeom>
          <a:noFill/>
        </p:spPr>
        <p:txBody>
          <a:bodyPr wrap="square" rtlCol="0">
            <a:spAutoFit/>
          </a:bodyPr>
          <a:lstStyle/>
          <a:p>
            <a:r>
              <a:rPr lang="es-MX" sz="2200" b="1" dirty="0">
                <a:ea typeface="Roboto" panose="02000000000000000000" pitchFamily="2" charset="0"/>
              </a:rPr>
              <a:t>Ejemplo 3</a:t>
            </a:r>
            <a:r>
              <a:rPr lang="es-MX" sz="2200" dirty="0">
                <a:ea typeface="Roboto" panose="02000000000000000000" pitchFamily="2" charset="0"/>
              </a:rPr>
              <a:t>: Demuestre que el siguiente argumento lógico es valido:</a:t>
            </a:r>
          </a:p>
        </p:txBody>
      </p:sp>
      <p:graphicFrame>
        <p:nvGraphicFramePr>
          <p:cNvPr id="9" name="Tabla 6">
            <a:extLst>
              <a:ext uri="{FF2B5EF4-FFF2-40B4-BE49-F238E27FC236}">
                <a16:creationId xmlns:a16="http://schemas.microsoft.com/office/drawing/2014/main" id="{1CD97D00-0F52-46E9-B35B-33EC9261E587}"/>
              </a:ext>
            </a:extLst>
          </p:cNvPr>
          <p:cNvGraphicFramePr>
            <a:graphicFrameLocks noGrp="1"/>
          </p:cNvGraphicFramePr>
          <p:nvPr/>
        </p:nvGraphicFramePr>
        <p:xfrm>
          <a:off x="5692877" y="1668489"/>
          <a:ext cx="6359892" cy="4851400"/>
        </p:xfrm>
        <a:graphic>
          <a:graphicData uri="http://schemas.openxmlformats.org/drawingml/2006/table">
            <a:tbl>
              <a:tblPr firstRow="1" bandRow="1">
                <a:tableStyleId>{5940675A-B579-460E-94D1-54222C63F5DA}</a:tableStyleId>
              </a:tblPr>
              <a:tblGrid>
                <a:gridCol w="516194">
                  <a:extLst>
                    <a:ext uri="{9D8B030D-6E8A-4147-A177-3AD203B41FA5}">
                      <a16:colId xmlns:a16="http://schemas.microsoft.com/office/drawing/2014/main" val="2268520492"/>
                    </a:ext>
                  </a:extLst>
                </a:gridCol>
                <a:gridCol w="2604378">
                  <a:extLst>
                    <a:ext uri="{9D8B030D-6E8A-4147-A177-3AD203B41FA5}">
                      <a16:colId xmlns:a16="http://schemas.microsoft.com/office/drawing/2014/main" val="2295907465"/>
                    </a:ext>
                  </a:extLst>
                </a:gridCol>
                <a:gridCol w="3239320">
                  <a:extLst>
                    <a:ext uri="{9D8B030D-6E8A-4147-A177-3AD203B41FA5}">
                      <a16:colId xmlns:a16="http://schemas.microsoft.com/office/drawing/2014/main" val="1814483346"/>
                    </a:ext>
                  </a:extLst>
                </a:gridCol>
              </a:tblGrid>
              <a:tr h="370840">
                <a:tc>
                  <a:txBody>
                    <a:bodyPr/>
                    <a:lstStyle/>
                    <a:p>
                      <a:r>
                        <a:rPr lang="es-CO" b="1" dirty="0"/>
                        <a:t>#</a:t>
                      </a:r>
                    </a:p>
                  </a:txBody>
                  <a:tcPr>
                    <a:lnL w="12700" cap="flat" cmpd="sng" algn="ctr">
                      <a:noFill/>
                      <a:prstDash val="solid"/>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b="1" dirty="0"/>
                        <a:t>Afirmación</a:t>
                      </a:r>
                    </a:p>
                  </a:txBody>
                  <a:tcP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b="1" dirty="0"/>
                        <a:t>Razón</a:t>
                      </a:r>
                    </a:p>
                  </a:txBody>
                  <a:tcPr>
                    <a:lnL w="12700" cap="flat" cmpd="sng" algn="ctr">
                      <a:solidFill>
                        <a:schemeClr val="tx1"/>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6992406"/>
                  </a:ext>
                </a:extLst>
              </a:tr>
              <a:tr h="370840">
                <a:tc>
                  <a:txBody>
                    <a:bodyPr/>
                    <a:lstStyle/>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txBody>
                  <a:tcPr>
                    <a:lnL w="12700" cap="flat" cmpd="sng" algn="ctr">
                      <a:noFill/>
                      <a:prstDash val="solid"/>
                      <a:round/>
                      <a:headEnd type="none" w="med" len="med"/>
                      <a:tailEnd type="none" w="med" len="med"/>
                    </a:lnL>
                    <a:lnR w="12700" cap="flat" cmpd="sng" algn="ctr">
                      <a:solidFill>
                        <a:schemeClr val="tx1"/>
                      </a:solidFill>
                      <a:prstDash val="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p>
                      <a:endParaRPr lang="es-CO" dirty="0"/>
                    </a:p>
                  </a:txBody>
                  <a:tcP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es-CO" dirty="0"/>
                    </a:p>
                  </a:txBody>
                  <a:tcPr>
                    <a:lnL w="12700" cap="flat" cmpd="sng" algn="ctr">
                      <a:solidFill>
                        <a:schemeClr val="tx1"/>
                      </a:solidFill>
                      <a:prstDash val="dash"/>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29773306"/>
                  </a:ext>
                </a:extLst>
              </a:tr>
            </a:tbl>
          </a:graphicData>
        </a:graphic>
      </p:graphicFrame>
      <p:pic>
        <p:nvPicPr>
          <p:cNvPr id="10" name="Imagen 9">
            <a:extLst>
              <a:ext uri="{FF2B5EF4-FFF2-40B4-BE49-F238E27FC236}">
                <a16:creationId xmlns:a16="http://schemas.microsoft.com/office/drawing/2014/main" id="{33A17C26-5238-400D-8109-2837246421BA}"/>
              </a:ext>
            </a:extLst>
          </p:cNvPr>
          <p:cNvPicPr>
            <a:picLocks noChangeAspect="1"/>
          </p:cNvPicPr>
          <p:nvPr/>
        </p:nvPicPr>
        <p:blipFill>
          <a:blip r:embed="rId3"/>
          <a:stretch>
            <a:fillRect/>
          </a:stretch>
        </p:blipFill>
        <p:spPr>
          <a:xfrm>
            <a:off x="97682" y="1609824"/>
            <a:ext cx="4032652" cy="2512233"/>
          </a:xfrm>
          <a:prstGeom prst="rect">
            <a:avLst/>
          </a:prstGeom>
        </p:spPr>
      </p:pic>
      <p:pic>
        <p:nvPicPr>
          <p:cNvPr id="11" name="Imagen 10">
            <a:extLst>
              <a:ext uri="{FF2B5EF4-FFF2-40B4-BE49-F238E27FC236}">
                <a16:creationId xmlns:a16="http://schemas.microsoft.com/office/drawing/2014/main" id="{4AFB2202-FDD7-481B-BB24-B93C25521ABA}"/>
              </a:ext>
            </a:extLst>
          </p:cNvPr>
          <p:cNvPicPr>
            <a:picLocks noChangeAspect="1"/>
          </p:cNvPicPr>
          <p:nvPr/>
        </p:nvPicPr>
        <p:blipFill>
          <a:blip r:embed="rId4"/>
          <a:stretch>
            <a:fillRect/>
          </a:stretch>
        </p:blipFill>
        <p:spPr>
          <a:xfrm>
            <a:off x="63849" y="4234656"/>
            <a:ext cx="5543081" cy="2572543"/>
          </a:xfrm>
          <a:prstGeom prst="rect">
            <a:avLst/>
          </a:prstGeom>
        </p:spPr>
      </p:pic>
    </p:spTree>
    <p:extLst>
      <p:ext uri="{BB962C8B-B14F-4D97-AF65-F5344CB8AC3E}">
        <p14:creationId xmlns:p14="http://schemas.microsoft.com/office/powerpoint/2010/main" val="3930410937"/>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14893</TotalTime>
  <Words>3004</Words>
  <Application>Microsoft Office PowerPoint</Application>
  <PresentationFormat>Panorámica</PresentationFormat>
  <Paragraphs>894</Paragraphs>
  <Slides>36</Slides>
  <Notes>35</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36</vt:i4>
      </vt:variant>
    </vt:vector>
  </HeadingPairs>
  <TitlesOfParts>
    <vt:vector size="43" baseType="lpstr">
      <vt:lpstr>Calibri Light</vt:lpstr>
      <vt:lpstr>Roboto Slab</vt:lpstr>
      <vt:lpstr>Cambria Math</vt:lpstr>
      <vt:lpstr>Roboto</vt:lpstr>
      <vt:lpstr>Calibri</vt:lpstr>
      <vt:lpstr>Arial</vt:lpstr>
      <vt:lpstr>Tema de Office</vt:lpstr>
      <vt:lpstr>Matemáticas Discretas I</vt:lpstr>
      <vt:lpstr>Repaso clase anterior</vt:lpstr>
      <vt:lpstr>Repaso clase anterior</vt:lpstr>
      <vt:lpstr>Demostraciones</vt:lpstr>
      <vt:lpstr>Validación de argumentos</vt:lpstr>
      <vt:lpstr>Validación de argumentos</vt:lpstr>
      <vt:lpstr>Validación de argumentos</vt:lpstr>
      <vt:lpstr>Validación de argumentos</vt:lpstr>
      <vt:lpstr>Validación de argumentos</vt:lpstr>
      <vt:lpstr>Validación de argumentos – Tablas de verdad</vt:lpstr>
      <vt:lpstr>Validación de argumentos – Tablas de verdad</vt:lpstr>
      <vt:lpstr>Validación de argumentos – Tablas de verdad</vt:lpstr>
      <vt:lpstr>Validación de argumentos – Tablas de verdad</vt:lpstr>
      <vt:lpstr>Validación de argumentos – Tablas de verdad</vt:lpstr>
      <vt:lpstr>Validación de argumentos – Tablas de verdad</vt:lpstr>
      <vt:lpstr>Identificación de premisas y conclusión</vt:lpstr>
      <vt:lpstr>Validación de argumentos – Tablas de verdad</vt:lpstr>
      <vt:lpstr>Validación de argumentos – Tablas de verdad</vt:lpstr>
      <vt:lpstr>Validación de argumentos – Tablas de verdad</vt:lpstr>
      <vt:lpstr>Validación de argumentos – Tablas de verdad</vt:lpstr>
      <vt:lpstr>Validación de argumentos – Tablas de verdad</vt:lpstr>
      <vt:lpstr>Validación de argumentos – Tablas de verdad</vt:lpstr>
      <vt:lpstr>Silogismo</vt:lpstr>
      <vt:lpstr>Reglas de inferencia</vt:lpstr>
      <vt:lpstr>Reglas de inferencia</vt:lpstr>
      <vt:lpstr>Validación de argumentos – Enfoque axiomático</vt:lpstr>
      <vt:lpstr>Validación de argumentos – Enfoque axiomático</vt:lpstr>
      <vt:lpstr>Validación de argumentos – Enfoque axiomático</vt:lpstr>
      <vt:lpstr>Validación de argumentos – Enfoque axiomático</vt:lpstr>
      <vt:lpstr>Validación de argumentos – Enfoque axiomático</vt:lpstr>
      <vt:lpstr>Validación de argumentos – Enfoque axiomático</vt:lpstr>
      <vt:lpstr>Validación de argumentos – Enfoque axiomático</vt:lpstr>
      <vt:lpstr>Validación de argumentos – Enfoque axiomático</vt:lpstr>
      <vt:lpstr>Validación de argumentos – Enfoque axiomático</vt:lpstr>
      <vt:lpstr>Validación de argumentos – Enfoque axiomático</vt:lpstr>
      <vt:lpstr>Validación de argumentos – Enfoque axiomático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Curso Matemáticas Discretas I</dc:title>
  <dc:creator>Usuario</dc:creator>
  <cp:lastModifiedBy>HENRY ALBERTO ARCILA RAMIREZ</cp:lastModifiedBy>
  <cp:revision>126</cp:revision>
  <dcterms:modified xsi:type="dcterms:W3CDTF">2026-08-25T04:26:01Z</dcterms:modified>
</cp:coreProperties>
</file>