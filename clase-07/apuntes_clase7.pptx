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50"/>
  </p:notesMasterIdLst>
  <p:sldIdLst>
    <p:sldId id="256" r:id="rId2"/>
    <p:sldId id="469" r:id="rId3"/>
    <p:sldId id="554" r:id="rId4"/>
    <p:sldId id="372" r:id="rId5"/>
    <p:sldId id="555" r:id="rId6"/>
    <p:sldId id="468" r:id="rId7"/>
    <p:sldId id="265" r:id="rId8"/>
    <p:sldId id="470" r:id="rId9"/>
    <p:sldId id="472" r:id="rId10"/>
    <p:sldId id="473" r:id="rId11"/>
    <p:sldId id="474" r:id="rId12"/>
    <p:sldId id="475" r:id="rId13"/>
    <p:sldId id="476" r:id="rId14"/>
    <p:sldId id="477" r:id="rId15"/>
    <p:sldId id="478" r:id="rId16"/>
    <p:sldId id="384" r:id="rId17"/>
    <p:sldId id="410" r:id="rId18"/>
    <p:sldId id="479" r:id="rId19"/>
    <p:sldId id="481" r:id="rId20"/>
    <p:sldId id="483" r:id="rId21"/>
    <p:sldId id="484" r:id="rId22"/>
    <p:sldId id="556" r:id="rId23"/>
    <p:sldId id="482" r:id="rId24"/>
    <p:sldId id="485" r:id="rId25"/>
    <p:sldId id="489" r:id="rId26"/>
    <p:sldId id="487" r:id="rId27"/>
    <p:sldId id="486" r:id="rId28"/>
    <p:sldId id="557" r:id="rId29"/>
    <p:sldId id="540" r:id="rId30"/>
    <p:sldId id="558" r:id="rId31"/>
    <p:sldId id="480" r:id="rId32"/>
    <p:sldId id="521" r:id="rId33"/>
    <p:sldId id="541" r:id="rId34"/>
    <p:sldId id="548" r:id="rId35"/>
    <p:sldId id="549" r:id="rId36"/>
    <p:sldId id="559" r:id="rId37"/>
    <p:sldId id="560" r:id="rId38"/>
    <p:sldId id="542" r:id="rId39"/>
    <p:sldId id="561" r:id="rId40"/>
    <p:sldId id="562" r:id="rId41"/>
    <p:sldId id="550" r:id="rId42"/>
    <p:sldId id="563" r:id="rId43"/>
    <p:sldId id="564" r:id="rId44"/>
    <p:sldId id="551" r:id="rId45"/>
    <p:sldId id="565" r:id="rId46"/>
    <p:sldId id="566" r:id="rId47"/>
    <p:sldId id="552" r:id="rId48"/>
    <p:sldId id="553" r:id="rId49"/>
  </p:sldIdLst>
  <p:sldSz cx="12192000" cy="6858000"/>
  <p:notesSz cx="6858000" cy="9144000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Calibri Light" panose="020F0302020204030204" pitchFamily="34" charset="0"/>
      <p:regular r:id="rId55"/>
      <p:italic r:id="rId56"/>
    </p:embeddedFont>
    <p:embeddedFont>
      <p:font typeface="Cambria Math" panose="02040503050406030204" pitchFamily="18" charset="0"/>
      <p:regular r:id="rId57"/>
    </p:embeddedFon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Roboto" panose="02000000000000000000" pitchFamily="2" charset="0"/>
      <p:regular r:id="rId62"/>
      <p:bold r:id="rId63"/>
      <p:italic r:id="rId64"/>
      <p:boldItalic r:id="rId65"/>
    </p:embeddedFont>
    <p:embeddedFont>
      <p:font typeface="Roboto Slab" panose="020B0604020202020204" charset="0"/>
      <p:regular r:id="rId66"/>
      <p:bold r:id="rId67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6A3598-7CB8-4345-8D95-17CE05F158A0}">
  <a:tblStyle styleId="{AD6A3598-7CB8-4345-8D95-17CE05F158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4291" autoAdjust="0"/>
  </p:normalViewPr>
  <p:slideViewPr>
    <p:cSldViewPr snapToGrid="0">
      <p:cViewPr>
        <p:scale>
          <a:sx n="66" d="100"/>
          <a:sy n="66" d="100"/>
        </p:scale>
        <p:origin x="73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3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font" Target="fonts/font16.fntdata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666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7459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8364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8457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892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10893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965471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68556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288990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757748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742633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430900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07208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835515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36583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104799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786877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98079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81012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555934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075996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615075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2020917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38924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152710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023115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339382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226851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922387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0843265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7421983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981862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046890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585933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2912532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5812137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0215107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402378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4933374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505193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541340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213512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92024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4300939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8139393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5980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E8EB1-3E1A-40FF-96E2-CCF84B75B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762B60-B3E6-4259-ACDE-909CF27C3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EDFA4F-DD5F-4C28-AE97-9DFF3642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DEC5DE-1D58-448E-9DEC-574AA61E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99E108-6572-424B-A193-39B737FD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99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8B3B7-2ED4-4401-9A34-CF7D8265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9C807B-5189-449D-9AAF-559FD6BB1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20C9DA-51C2-4199-9C2E-C0811E0A8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B9C7B1-B7FF-4670-A336-FACBF6EB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4FE06E-A7DC-4220-AF94-32229338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92256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8D423-E042-44A4-AF0A-5D875D9B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39AD90-F7C6-4C17-8DBC-F6AA86A19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6BD32A-D49B-4F23-A905-8936C640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489A24-7494-4059-894B-E203B199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E54968-8738-4B53-B919-4B3C3AEF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935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2D922-1CB7-4E16-8A5C-5FA92669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0D4C5-98F7-4649-8E15-671AE740B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DCB659-ECC3-4E5D-ABA4-2DEDD90F4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6D26A2-BF5B-4D1F-BB50-BC83ED76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6791BB-08C4-4CBA-A30A-5A27DFBD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634AF5-EA1B-47EA-AC15-65D01705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192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84086-8B37-43F4-9AE8-902CC24B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70F8CD-18F6-4390-8392-1EB65924E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A5E2A5-F7E5-4A2D-8D9F-9140AFE6B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6E4715-C18C-4604-9B5D-596DF3005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AD35C7-384C-4671-BCA8-135CDCFC4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27254D6-0FD1-4AC8-9D45-5B4A28DC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99498EC-6B75-4A30-95CD-B60182A1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F888573-6699-465C-ACF4-ADDDFE5C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594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70731-44CF-4FFA-8130-8C219873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A64AF3-38AA-48CA-815A-CAB0DE973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654EBC-12B6-400B-BA61-977B01D12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CD5DD4-0820-495F-952A-DB8ECEDD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401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A7B6EF-0AB5-4820-81BF-BD628F8D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C60F7B-141B-4773-A440-DD01158C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A452F3-E638-47A5-84DB-538E227C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138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FEB3D-9544-4320-9479-4A0EC1D6A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4DE8CB-E474-4909-8EBF-A4DF12C73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8132E3-9D1F-4224-8BE7-D520A22B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59A804-0AB5-462F-A94E-CA7CB634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73B427-A08F-49C4-AF65-D82B87E1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0F2116-4448-4427-95B4-CA29F6168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536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AF078-36BA-4722-9002-CA539BC6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A182711-5EEC-4206-A648-4207720A1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E200B7-6A33-4244-BC03-6370F50CB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86E6DF-B5F2-4197-8E55-C0EDEA92C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894967-520B-48E7-B535-ED0566F2F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3C3B05-B73A-4435-9C8B-4E7DAB93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69417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F0125-79B9-40A6-A2F1-4E88A9DF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1CA0A6-91A0-44B2-A2F7-4F1451AAA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E257D4-8D4F-4DF1-9E15-C64E068C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F60459-FC65-4A99-9405-90B55BF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CCAF31-DCAB-4A68-8084-6128EC87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002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9F9DD5-5E52-4A87-B04D-038F8FE30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7721F1-A85F-41EB-9CD8-C089DAD97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AE0935-AC92-45D9-AD7A-7548E2D9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5B3D9B-D9CC-4207-9572-3254833A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5898DC-C291-47C3-AD06-66C59DA4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668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2275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755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6637F2-415E-47DB-816C-B373042FB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1337EC-EB85-4578-9487-E1947C9FE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C27344-9F94-42A5-9B38-E7A8E7ECD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63E868-E827-41F6-B26B-AA78A084A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D13110-5379-4CE5-8A63-0C44F2435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30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10.png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youtube.com/watch?v=J68JctiqW5w" TargetMode="Externa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46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jpeg"/><Relationship Id="rId4" Type="http://schemas.openxmlformats.org/officeDocument/2006/relationships/image" Target="../media/image41.jpeg"/><Relationship Id="rId9" Type="http://schemas.openxmlformats.org/officeDocument/2006/relationships/image" Target="../media/image70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2.png"/><Relationship Id="rId7" Type="http://schemas.openxmlformats.org/officeDocument/2006/relationships/image" Target="../media/image79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2.png"/><Relationship Id="rId11" Type="http://schemas.openxmlformats.org/officeDocument/2006/relationships/image" Target="../media/image86.png"/><Relationship Id="rId5" Type="http://schemas.openxmlformats.org/officeDocument/2006/relationships/image" Target="../media/image71.jpeg"/><Relationship Id="rId10" Type="http://schemas.openxmlformats.org/officeDocument/2006/relationships/image" Target="../media/image75.png"/><Relationship Id="rId4" Type="http://schemas.openxmlformats.org/officeDocument/2006/relationships/image" Target="../media/image83.png"/><Relationship Id="rId9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2.png"/><Relationship Id="rId5" Type="http://schemas.openxmlformats.org/officeDocument/2006/relationships/image" Target="../media/image71.jpeg"/><Relationship Id="rId4" Type="http://schemas.openxmlformats.org/officeDocument/2006/relationships/image" Target="../media/image9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8.png"/><Relationship Id="rId5" Type="http://schemas.openxmlformats.org/officeDocument/2006/relationships/hyperlink" Target="https://en.wikipedia.org/wiki/Charles_Proteus_Steinmetz" TargetMode="External"/><Relationship Id="rId4" Type="http://schemas.openxmlformats.org/officeDocument/2006/relationships/image" Target="../media/image9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147399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dirty="0"/>
              <a:t>Matemáticas Discretas I</a:t>
            </a:r>
            <a:endParaRPr sz="3200" dirty="0"/>
          </a:p>
        </p:txBody>
      </p:sp>
      <p:sp>
        <p:nvSpPr>
          <p:cNvPr id="7" name="Google Shape;140;p17">
            <a:extLst>
              <a:ext uri="{FF2B5EF4-FFF2-40B4-BE49-F238E27FC236}">
                <a16:creationId xmlns:a16="http://schemas.microsoft.com/office/drawing/2014/main" id="{5B51442D-5986-4CD4-A3CF-E2D2427A800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8200" y="3602038"/>
            <a:ext cx="10576560" cy="243300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600" b="1" dirty="0"/>
              <a:t>Clase 07 – Introducción a la Lógica cuantificacional</a:t>
            </a:r>
          </a:p>
          <a:p>
            <a:r>
              <a:rPr lang="es-CO" sz="2800" dirty="0"/>
              <a:t>Universidad de Antioquia</a:t>
            </a:r>
          </a:p>
          <a:p>
            <a:r>
              <a:rPr lang="es-CO" sz="2800" dirty="0"/>
              <a:t>Facultad de Ingeniería</a:t>
            </a:r>
          </a:p>
          <a:p>
            <a:r>
              <a:rPr lang="es-CO" sz="2800" dirty="0"/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255100"/>
            <a:ext cx="11493062" cy="949500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  <a:latin typeface="+mj-lt"/>
              </a:rPr>
              <a:t>Resumen rápido lógica proposicional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2248" y="1067262"/>
                <a:ext cx="11493062" cy="3420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Rama de la lógica que estudia las proposiciones y las relaciones lógicas entre ellas.</a:t>
                </a:r>
              </a:p>
              <a:p>
                <a:pPr lvl="1"/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Proposición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: Enunciado que puede ser cierto o falso pero no ambos a la vez.</a:t>
                </a:r>
              </a:p>
              <a:p>
                <a:pPr lvl="1"/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Relaciones lógicas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: Conectores lógicos (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→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)</a:t>
                </a:r>
              </a:p>
              <a:p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Otros nombres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: Lógica de enunciados o lógica sentencial</a:t>
                </a:r>
              </a:p>
              <a:p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En la lógica proposicional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No interesa el contenido de las frases.</a:t>
                </a: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Solo importa la estructura lógica y su valor de verdad.</a:t>
                </a: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Se estudian reglas de inferencia (cómo deducir nuevas verdades).</a:t>
                </a: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Se usan tablas de verdad para analizar las proposiciones.</a:t>
                </a:r>
              </a:p>
              <a:p>
                <a:endParaRPr lang="es-MX" sz="24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8" y="1067262"/>
                <a:ext cx="11493062" cy="3420182"/>
              </a:xfrm>
              <a:prstGeom prst="rect">
                <a:avLst/>
              </a:prstGeom>
              <a:blipFill>
                <a:blip r:embed="rId3"/>
                <a:stretch>
                  <a:fillRect b="-80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50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255100"/>
            <a:ext cx="11493062" cy="949500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  <a:latin typeface="+mj-lt"/>
              </a:rPr>
              <a:t>Resumen rápido lógica proposicional</a:t>
            </a:r>
          </a:p>
        </p:txBody>
      </p:sp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78146662-92BC-4B5F-A914-12A25273420E}"/>
              </a:ext>
            </a:extLst>
          </p:cNvPr>
          <p:cNvSpPr txBox="1">
            <a:spLocks/>
          </p:cNvSpPr>
          <p:nvPr/>
        </p:nvSpPr>
        <p:spPr>
          <a:xfrm>
            <a:off x="252248" y="1352498"/>
            <a:ext cx="8112102" cy="2945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  <a:ea typeface="Roboto" panose="02000000000000000000" pitchFamily="2" charset="0"/>
              </a:rPr>
              <a:t>Ejemplo de repaso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: Exprese en lenguaje formal el siguiente enunciado:</a:t>
            </a: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pPr marL="127000" indent="0" algn="ctr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“Si doña Florinda no se encuentra con el profesor Jirafales, entonces fue que se voló con don Ramon”</a:t>
            </a: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  <a:p>
            <a:pPr marL="127000" indent="0">
              <a:buNone/>
            </a:pPr>
            <a:r>
              <a:rPr lang="es-MX" sz="2200" b="1" dirty="0">
                <a:latin typeface="+mn-lt"/>
                <a:ea typeface="Roboto" panose="02000000000000000000" pitchFamily="2" charset="0"/>
              </a:rPr>
              <a:t>Solución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:</a:t>
            </a:r>
          </a:p>
          <a:p>
            <a:endParaRPr lang="es-MX" sz="2400" dirty="0">
              <a:latin typeface="+mn-lt"/>
              <a:ea typeface="Roboto" panose="02000000000000000000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0FCD0C-064B-46D8-AC81-C26464830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412" y="1612294"/>
            <a:ext cx="2828533" cy="20765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FF8DD295-6DA0-472D-B1C5-2B7263C1A665}"/>
                  </a:ext>
                </a:extLst>
              </p:cNvPr>
              <p:cNvSpPr txBox="1"/>
              <p:nvPr/>
            </p:nvSpPr>
            <p:spPr>
              <a:xfrm>
                <a:off x="566055" y="5362188"/>
                <a:ext cx="6908356" cy="104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2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Proposiciones simples</a:t>
                </a:r>
                <a:r>
                  <a:rPr lang="es-MX" sz="2200" dirty="0">
                    <a:latin typeface="Roboto" panose="02000000000000000000" pitchFamily="2" charset="0"/>
                    <a:ea typeface="Roboto" panose="02000000000000000000" pitchFamily="2" charset="0"/>
                  </a:rPr>
                  <a:t>:</a:t>
                </a:r>
                <a:endParaRPr lang="es-CO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Do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ñ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Florinda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se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encuentra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con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el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profesor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Jirafales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s-MX" sz="2000" b="0" i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Do</m:t>
                    </m:r>
                    <m: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ñ</m:t>
                    </m:r>
                    <m:r>
                      <m:rPr>
                        <m:sty m:val="p"/>
                      </m:rP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Florinda</m:t>
                    </m:r>
                    <m: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se</m:t>
                    </m:r>
                    <m: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volo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con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don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Ramon</m:t>
                    </m:r>
                    <m: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s-MX" sz="20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FF8DD295-6DA0-472D-B1C5-2B7263C1A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55" y="5362188"/>
                <a:ext cx="6908356" cy="1046440"/>
              </a:xfrm>
              <a:prstGeom prst="rect">
                <a:avLst/>
              </a:prstGeom>
              <a:blipFill>
                <a:blip r:embed="rId4"/>
                <a:stretch>
                  <a:fillRect l="-1147" t="-4094" b="-760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07459F8-D7E1-4F12-96A8-41A6A1C2C08A}"/>
                  </a:ext>
                </a:extLst>
              </p:cNvPr>
              <p:cNvSpPr txBox="1"/>
              <p:nvPr/>
            </p:nvSpPr>
            <p:spPr>
              <a:xfrm>
                <a:off x="9008669" y="5907750"/>
                <a:ext cx="1262744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s-MX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s-MX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MX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s-MX" sz="2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07459F8-D7E1-4F12-96A8-41A6A1C2C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669" y="5907750"/>
                <a:ext cx="1262744" cy="461665"/>
              </a:xfrm>
              <a:prstGeom prst="rect">
                <a:avLst/>
              </a:prstGeom>
              <a:blipFill>
                <a:blip r:embed="rId5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964C6E77-5F7A-4A35-AFD0-696B614C2CAE}"/>
              </a:ext>
            </a:extLst>
          </p:cNvPr>
          <p:cNvSpPr txBox="1"/>
          <p:nvPr/>
        </p:nvSpPr>
        <p:spPr>
          <a:xfrm>
            <a:off x="252248" y="4445578"/>
            <a:ext cx="113736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ea typeface="Roboto" panose="02000000000000000000" pitchFamily="2" charset="0"/>
              </a:rPr>
              <a:t>Si</a:t>
            </a:r>
            <a:r>
              <a:rPr lang="es-MX" sz="2000" dirty="0">
                <a:ea typeface="Roboto" panose="02000000000000000000" pitchFamily="2" charset="0"/>
              </a:rPr>
              <a:t> </a:t>
            </a:r>
            <a:r>
              <a:rPr lang="es-MX" sz="2000" u="sng" dirty="0">
                <a:ea typeface="Roboto" panose="02000000000000000000" pitchFamily="2" charset="0"/>
              </a:rPr>
              <a:t>doña Florinda no se encuentra con el profesor Jirafales</a:t>
            </a:r>
            <a:r>
              <a:rPr lang="es-MX" sz="2000" dirty="0">
                <a:ea typeface="Roboto" panose="02000000000000000000" pitchFamily="2" charset="0"/>
              </a:rPr>
              <a:t>, </a:t>
            </a:r>
            <a:r>
              <a:rPr lang="es-MX" sz="2000" b="1" dirty="0">
                <a:ea typeface="Roboto" panose="02000000000000000000" pitchFamily="2" charset="0"/>
              </a:rPr>
              <a:t>entonces</a:t>
            </a:r>
            <a:r>
              <a:rPr lang="es-MX" sz="2000" dirty="0">
                <a:ea typeface="Roboto" panose="02000000000000000000" pitchFamily="2" charset="0"/>
              </a:rPr>
              <a:t> </a:t>
            </a:r>
            <a:r>
              <a:rPr lang="es-MX" sz="2000" u="sng" dirty="0">
                <a:ea typeface="Roboto" panose="02000000000000000000" pitchFamily="2" charset="0"/>
              </a:rPr>
              <a:t>fue que se voló con don Ramon</a:t>
            </a:r>
            <a:r>
              <a:rPr lang="es-MX" sz="2000" dirty="0">
                <a:ea typeface="Roboto" panose="02000000000000000000" pitchFamily="2" charset="0"/>
              </a:rPr>
              <a:t>.</a:t>
            </a:r>
            <a:endParaRPr lang="es-CO" sz="20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DBDAF86-B3E5-484A-93F7-F5B7DFDE1506}"/>
              </a:ext>
            </a:extLst>
          </p:cNvPr>
          <p:cNvSpPr txBox="1"/>
          <p:nvPr/>
        </p:nvSpPr>
        <p:spPr>
          <a:xfrm>
            <a:off x="8364350" y="5303010"/>
            <a:ext cx="2551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200" b="1" dirty="0">
                <a:ea typeface="Roboto" panose="02000000000000000000" pitchFamily="2" charset="0"/>
              </a:rPr>
              <a:t>Expresión lógica</a:t>
            </a:r>
            <a:endParaRPr lang="es-CO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9D44E4A-8C81-4E04-8FB5-42125D63BA13}"/>
                  </a:ext>
                </a:extLst>
              </p:cNvPr>
              <p:cNvSpPr txBox="1"/>
              <p:nvPr/>
            </p:nvSpPr>
            <p:spPr>
              <a:xfrm>
                <a:off x="3623330" y="4795178"/>
                <a:ext cx="21640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s-CO" sz="2000" b="1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9D44E4A-8C81-4E04-8FB5-42125D63B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330" y="4795178"/>
                <a:ext cx="216406" cy="307777"/>
              </a:xfrm>
              <a:prstGeom prst="rect">
                <a:avLst/>
              </a:prstGeom>
              <a:blipFill>
                <a:blip r:embed="rId6"/>
                <a:stretch>
                  <a:fillRect l="-27778" r="-30556" b="-2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1835B74-6C80-4CB9-997E-E2232B043246}"/>
                  </a:ext>
                </a:extLst>
              </p:cNvPr>
              <p:cNvSpPr txBox="1"/>
              <p:nvPr/>
            </p:nvSpPr>
            <p:spPr>
              <a:xfrm>
                <a:off x="9305672" y="4795177"/>
                <a:ext cx="21319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s-CO" sz="2000" b="1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1835B74-6C80-4CB9-997E-E2232B043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672" y="4795177"/>
                <a:ext cx="213199" cy="307777"/>
              </a:xfrm>
              <a:prstGeom prst="rect">
                <a:avLst/>
              </a:prstGeom>
              <a:blipFill>
                <a:blip r:embed="rId7"/>
                <a:stretch>
                  <a:fillRect l="-32353" r="-32353" b="-2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28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tx1"/>
                </a:solidFill>
                <a:latin typeface="+mj-lt"/>
              </a:rPr>
              <a:t>Resumen rápido lógica proposicional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490979" y="1045538"/>
            <a:ext cx="326742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Tablas de verdad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E978B171-4FC4-41C8-AFE8-D368D596E8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2780807"/>
                  </p:ext>
                </p:extLst>
              </p:nvPr>
            </p:nvGraphicFramePr>
            <p:xfrm>
              <a:off x="2546584" y="1982620"/>
              <a:ext cx="828660" cy="11887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41433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414330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E978B171-4FC4-41C8-AFE8-D368D596E8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2780807"/>
                  </p:ext>
                </p:extLst>
              </p:nvPr>
            </p:nvGraphicFramePr>
            <p:xfrm>
              <a:off x="2546584" y="1982620"/>
              <a:ext cx="828660" cy="11887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41433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414330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1538" r="-101449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2941" t="-1538" r="-2941" b="-2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100000" r="-10144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2941" t="-100000" r="-2941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203077" r="-101449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2941" t="-203077" r="-2941" b="-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D34D94B4-2DFA-4D64-803B-968A7536FF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0426177"/>
                  </p:ext>
                </p:extLst>
              </p:nvPr>
            </p:nvGraphicFramePr>
            <p:xfrm>
              <a:off x="4504731" y="1616860"/>
              <a:ext cx="5555014" cy="1981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483312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83312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17678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917678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917678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917678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917678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D34D94B4-2DFA-4D64-803B-968A7536FF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0426177"/>
                  </p:ext>
                </p:extLst>
              </p:nvPr>
            </p:nvGraphicFramePr>
            <p:xfrm>
              <a:off x="4504731" y="1616860"/>
              <a:ext cx="5555014" cy="1981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483312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83312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17678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917678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917678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917678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917678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t="-1538" r="-1056962" b="-4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8750" t="-1538" r="-943750" b="-4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5298" t="-1538" r="-400000" b="-4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5298" t="-1538" r="-300000" b="-4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7333" t="-1538" r="-202000" b="-4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04636" t="-1538" r="-100662" b="-4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504636" t="-1538" r="-662" b="-4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t="-101538" r="-1056962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8750" t="-101538" r="-943750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5298" t="-101538" r="-400000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5298" t="-101538" r="-300000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7333" t="-101538" r="-202000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04636" t="-101538" r="-100662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504636" t="-101538" r="-662" b="-3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t="-198485" r="-1056962" b="-19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8750" t="-198485" r="-943750" b="-19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5298" t="-198485" r="-400000" b="-19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5298" t="-198485" r="-300000" b="-19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7333" t="-198485" r="-202000" b="-19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04636" t="-198485" r="-100662" b="-19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504636" t="-198485" r="-662" b="-198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t="-303077" r="-1056962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8750" t="-303077" r="-943750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5298" t="-303077" r="-400000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5298" t="-303077" r="-300000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7333" t="-303077" r="-202000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04636" t="-303077" r="-100662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504636" t="-303077" r="-662" b="-10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t="-403077" r="-1056962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8750" t="-403077" r="-94375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5298" t="-403077" r="-40000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5298" t="-403077" r="-30000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7333" t="-403077" r="-20200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04636" t="-403077" r="-100662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504636" t="-403077" r="-662" b="-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9E84B761-24BE-4D49-B136-64B8BC2CE9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335114"/>
                  </p:ext>
                </p:extLst>
              </p:nvPr>
            </p:nvGraphicFramePr>
            <p:xfrm>
              <a:off x="4504730" y="3960980"/>
              <a:ext cx="5690424" cy="277368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664018">
                      <a:extLst>
                        <a:ext uri="{9D8B030D-6E8A-4147-A177-3AD203B41FA5}">
                          <a16:colId xmlns:a16="http://schemas.microsoft.com/office/drawing/2014/main" val="2912375319"/>
                        </a:ext>
                      </a:extLst>
                    </a:gridCol>
                    <a:gridCol w="1458622">
                      <a:extLst>
                        <a:ext uri="{9D8B030D-6E8A-4147-A177-3AD203B41FA5}">
                          <a16:colId xmlns:a16="http://schemas.microsoft.com/office/drawing/2014/main" val="2830172176"/>
                        </a:ext>
                      </a:extLst>
                    </a:gridCol>
                    <a:gridCol w="2567784">
                      <a:extLst>
                        <a:ext uri="{9D8B030D-6E8A-4147-A177-3AD203B41FA5}">
                          <a16:colId xmlns:a16="http://schemas.microsoft.com/office/drawing/2014/main" val="1817285552"/>
                        </a:ext>
                      </a:extLst>
                    </a:gridCol>
                  </a:tblGrid>
                  <a:tr h="3250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Prioridad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Operador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271441"/>
                      </a:ext>
                    </a:extLst>
                  </a:tr>
                  <a:tr h="32507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 (mas alta)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 aplica (unitario)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2419328"/>
                      </a:ext>
                    </a:extLst>
                  </a:tr>
                  <a:tr h="32507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588756"/>
                      </a:ext>
                    </a:extLst>
                  </a:tr>
                  <a:tr h="32507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7133619"/>
                      </a:ext>
                    </a:extLst>
                  </a:tr>
                  <a:tr h="32507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104284"/>
                      </a:ext>
                    </a:extLst>
                  </a:tr>
                  <a:tr h="32507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0495079"/>
                      </a:ext>
                    </a:extLst>
                  </a:tr>
                  <a:tr h="32507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6 (mas baja)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84206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9E84B761-24BE-4D49-B136-64B8BC2CE9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335114"/>
                  </p:ext>
                </p:extLst>
              </p:nvPr>
            </p:nvGraphicFramePr>
            <p:xfrm>
              <a:off x="4504730" y="3960980"/>
              <a:ext cx="5690424" cy="277368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664018">
                      <a:extLst>
                        <a:ext uri="{9D8B030D-6E8A-4147-A177-3AD203B41FA5}">
                          <a16:colId xmlns:a16="http://schemas.microsoft.com/office/drawing/2014/main" val="2912375319"/>
                        </a:ext>
                      </a:extLst>
                    </a:gridCol>
                    <a:gridCol w="1458622">
                      <a:extLst>
                        <a:ext uri="{9D8B030D-6E8A-4147-A177-3AD203B41FA5}">
                          <a16:colId xmlns:a16="http://schemas.microsoft.com/office/drawing/2014/main" val="2830172176"/>
                        </a:ext>
                      </a:extLst>
                    </a:gridCol>
                    <a:gridCol w="2567784">
                      <a:extLst>
                        <a:ext uri="{9D8B030D-6E8A-4147-A177-3AD203B41FA5}">
                          <a16:colId xmlns:a16="http://schemas.microsoft.com/office/drawing/2014/main" val="181728555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Prioridad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Operador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27144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 (mas alta)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3750" t="-106154" r="-176250" b="-5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 aplica (unitario)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24193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3750" t="-206154" r="-176250" b="-4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21564" t="-206154" r="-237" b="-4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8875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3750" t="-301515" r="-176250" b="-3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21564" t="-301515" r="-237" b="-32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1336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3750" t="-407692" r="-176250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21564" t="-407692" r="-237" b="-2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10428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3750" t="-507692" r="-176250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21564" t="-507692" r="-237" b="-1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049507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6 (mas baja)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3750" t="-607692" r="-176250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21564" t="-607692" r="-237" b="-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84206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8579163D-AC79-4B98-B83C-8F6B7F68F8F6}"/>
              </a:ext>
            </a:extLst>
          </p:cNvPr>
          <p:cNvSpPr txBox="1"/>
          <p:nvPr/>
        </p:nvSpPr>
        <p:spPr>
          <a:xfrm>
            <a:off x="490978" y="3960980"/>
            <a:ext cx="326742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Reglas de prioridad</a:t>
            </a:r>
          </a:p>
        </p:txBody>
      </p:sp>
    </p:spTree>
    <p:extLst>
      <p:ext uri="{BB962C8B-B14F-4D97-AF65-F5344CB8AC3E}">
        <p14:creationId xmlns:p14="http://schemas.microsoft.com/office/powerpoint/2010/main" val="3117404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18" y="96038"/>
            <a:ext cx="8490836" cy="949500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  <a:latin typeface="+mj-lt"/>
              </a:rPr>
              <a:t>Resumen rápido lógica proposicional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9C6E9F-BCCF-4FD4-8EC3-574D66199786}"/>
              </a:ext>
            </a:extLst>
          </p:cNvPr>
          <p:cNvSpPr txBox="1"/>
          <p:nvPr/>
        </p:nvSpPr>
        <p:spPr>
          <a:xfrm>
            <a:off x="353962" y="1045538"/>
            <a:ext cx="37903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Equivalencias lógicas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075DC26-43EB-48D3-B1DF-367538A6AC44}"/>
              </a:ext>
            </a:extLst>
          </p:cNvPr>
          <p:cNvSpPr txBox="1"/>
          <p:nvPr/>
        </p:nvSpPr>
        <p:spPr>
          <a:xfrm>
            <a:off x="353962" y="3500081"/>
            <a:ext cx="3377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Construcción de equivalencias lógicas</a:t>
            </a:r>
            <a:endParaRPr lang="es-CO" sz="24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8137D60-1D77-4A06-87FE-EFA5D72FA8A8}"/>
              </a:ext>
            </a:extLst>
          </p:cNvPr>
          <p:cNvSpPr txBox="1"/>
          <p:nvPr/>
        </p:nvSpPr>
        <p:spPr>
          <a:xfrm>
            <a:off x="353962" y="1636747"/>
            <a:ext cx="2727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Equivalencia lógica</a:t>
            </a:r>
            <a:endParaRPr lang="es-CO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040C416C-830C-48D2-B138-A448E2A9E9C5}"/>
                  </a:ext>
                </a:extLst>
              </p:cNvPr>
              <p:cNvSpPr txBox="1"/>
              <p:nvPr/>
            </p:nvSpPr>
            <p:spPr>
              <a:xfrm>
                <a:off x="387018" y="2212132"/>
                <a:ext cx="3759823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Dos proposiciones compuestas </a:t>
                </a:r>
                <a14:m>
                  <m:oMath xmlns:m="http://schemas.openxmlformats.org/officeDocument/2006/math">
                    <m:r>
                      <a:rPr lang="es-MX" sz="2000" b="1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</m:oMath>
                </a14:m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1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𝒒</m:t>
                    </m:r>
                  </m:oMath>
                </a14:m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 son equivalentes si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 es una tautología.</a:t>
                </a:r>
                <a:endParaRPr lang="es-CO" sz="20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040C416C-830C-48D2-B138-A448E2A9E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18" y="2212132"/>
                <a:ext cx="3759823" cy="1015663"/>
              </a:xfrm>
              <a:prstGeom prst="rect">
                <a:avLst/>
              </a:prstGeom>
              <a:blipFill>
                <a:blip r:embed="rId3"/>
                <a:stretch>
                  <a:fillRect l="-1621" t="-3012" r="-2917" b="-10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a 3">
                <a:extLst>
                  <a:ext uri="{FF2B5EF4-FFF2-40B4-BE49-F238E27FC236}">
                    <a16:creationId xmlns:a16="http://schemas.microsoft.com/office/drawing/2014/main" id="{C596B25B-8353-4A20-AC46-6CF2D48EBE6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42653" y="1142678"/>
              <a:ext cx="7175492" cy="532841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835341">
                      <a:extLst>
                        <a:ext uri="{9D8B030D-6E8A-4147-A177-3AD203B41FA5}">
                          <a16:colId xmlns:a16="http://schemas.microsoft.com/office/drawing/2014/main" val="2419793140"/>
                        </a:ext>
                      </a:extLst>
                    </a:gridCol>
                    <a:gridCol w="2610807">
                      <a:extLst>
                        <a:ext uri="{9D8B030D-6E8A-4147-A177-3AD203B41FA5}">
                          <a16:colId xmlns:a16="http://schemas.microsoft.com/office/drawing/2014/main" val="2761119023"/>
                        </a:ext>
                      </a:extLst>
                    </a:gridCol>
                    <a:gridCol w="2729344">
                      <a:extLst>
                        <a:ext uri="{9D8B030D-6E8A-4147-A177-3AD203B41FA5}">
                          <a16:colId xmlns:a16="http://schemas.microsoft.com/office/drawing/2014/main" val="180266477"/>
                        </a:ext>
                      </a:extLst>
                    </a:gridCol>
                  </a:tblGrid>
                  <a:tr h="298833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526593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Conmutatividad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4515760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3743916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Distributividad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401643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Idempotencia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6818852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Doble negación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49062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Leyes de Morgan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3060234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Identidad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4965197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Dominación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485840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Absorción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2652958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Complemento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0911309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Implicación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3938044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5506134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57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a 3">
                <a:extLst>
                  <a:ext uri="{FF2B5EF4-FFF2-40B4-BE49-F238E27FC236}">
                    <a16:creationId xmlns:a16="http://schemas.microsoft.com/office/drawing/2014/main" id="{C596B25B-8353-4A20-AC46-6CF2D48EBE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2614869"/>
                  </p:ext>
                </p:extLst>
              </p:nvPr>
            </p:nvGraphicFramePr>
            <p:xfrm>
              <a:off x="4442653" y="1142678"/>
              <a:ext cx="7175492" cy="532841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835341">
                      <a:extLst>
                        <a:ext uri="{9D8B030D-6E8A-4147-A177-3AD203B41FA5}">
                          <a16:colId xmlns:a16="http://schemas.microsoft.com/office/drawing/2014/main" val="2419793140"/>
                        </a:ext>
                      </a:extLst>
                    </a:gridCol>
                    <a:gridCol w="2610807">
                      <a:extLst>
                        <a:ext uri="{9D8B030D-6E8A-4147-A177-3AD203B41FA5}">
                          <a16:colId xmlns:a16="http://schemas.microsoft.com/office/drawing/2014/main" val="2761119023"/>
                        </a:ext>
                      </a:extLst>
                    </a:gridCol>
                    <a:gridCol w="2729344">
                      <a:extLst>
                        <a:ext uri="{9D8B030D-6E8A-4147-A177-3AD203B41FA5}">
                          <a16:colId xmlns:a16="http://schemas.microsoft.com/office/drawing/2014/main" val="18026647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52659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Conmutatividad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108333" r="-104895" b="-12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108333" r="-446" b="-128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45157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208333" r="-104895" b="-11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208333" r="-446" b="-118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3743916"/>
                      </a:ext>
                    </a:extLst>
                  </a:tr>
                  <a:tr h="573532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Distributividad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196809" r="-104895" b="-656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196809" r="-446" b="-6563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40164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Idempotencia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465000" r="-104895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465000" r="-446" b="-9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8188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Doble negación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436" t="-565000" r="-228" b="-82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490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Leyes de Morgan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654098" r="-104895" b="-7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654098" r="-446" b="-7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30602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Identidad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766667" r="-10489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766667" r="-446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49651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Dominación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866667" r="-104895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866667" r="-446" b="-5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4858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Absorción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966667" r="-104895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966667" r="-446" b="-4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5295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Complemento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1066667" r="-10489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1066667" r="-446" b="-3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091130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Implicación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436" t="-1166667" r="-228" b="-2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39380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436" t="-1266667" r="-228" b="-1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55061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436" t="-1366667" r="-228" b="-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57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74E54F4-403A-4326-992F-72044EAA308A}"/>
                  </a:ext>
                </a:extLst>
              </p:cNvPr>
              <p:cNvSpPr txBox="1"/>
              <p:nvPr/>
            </p:nvSpPr>
            <p:spPr>
              <a:xfrm>
                <a:off x="573854" y="4763662"/>
                <a:ext cx="986573" cy="1534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b="1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s-MX" b="1" i="1">
                                        <a:latin typeface="Cambria Math" panose="02040503050406030204" pitchFamily="18" charset="0"/>
                                      </a:rPr>
                                      <m:t> ≡</m:t>
                                    </m:r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s-MX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s-MX" b="1" i="1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  <m:r>
                                      <a:rPr lang="es-MX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≡</m:t>
                                    </m:r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s-MX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s-MX" b="1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b="1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  <m:r>
                                      <a:rPr lang="es-MX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s-MX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</m:t>
                                    </m:r>
                                    <m:r>
                                      <a:rPr lang="es-MX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≡</m:t>
                                    </m:r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s-MX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s-MX" b="1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s-MX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</m:mr>
                          </m:m>
                        </m:num>
                        <m:den>
                          <m:r>
                            <a:rPr lang="es-MX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s-MX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r>
                            <a:rPr lang="es-MX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m:rPr>
                              <m:nor/>
                            </m:rPr>
                            <a:rPr lang="es-CO" dirty="0"/>
                            <m:t> 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74E54F4-403A-4326-992F-72044EAA3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54" y="4763662"/>
                <a:ext cx="986573" cy="15343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3D045B4-76BC-4E95-8AB3-FD79017383CD}"/>
              </a:ext>
            </a:extLst>
          </p:cNvPr>
          <p:cNvCxnSpPr>
            <a:cxnSpLocks/>
          </p:cNvCxnSpPr>
          <p:nvPr/>
        </p:nvCxnSpPr>
        <p:spPr>
          <a:xfrm>
            <a:off x="1637454" y="4919240"/>
            <a:ext cx="0" cy="1074058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7111FF-1899-48D4-9B21-E308F50EEDE9}"/>
              </a:ext>
            </a:extLst>
          </p:cNvPr>
          <p:cNvSpPr txBox="1"/>
          <p:nvPr/>
        </p:nvSpPr>
        <p:spPr>
          <a:xfrm>
            <a:off x="1791472" y="4977635"/>
            <a:ext cx="2420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rgbClr val="002060"/>
                </a:solidFill>
              </a:rPr>
              <a:t>Transformaciones usando axiomas (Identidades Lógicas)</a:t>
            </a:r>
          </a:p>
        </p:txBody>
      </p:sp>
    </p:spTree>
    <p:extLst>
      <p:ext uri="{BB962C8B-B14F-4D97-AF65-F5344CB8AC3E}">
        <p14:creationId xmlns:p14="http://schemas.microsoft.com/office/powerpoint/2010/main" val="3579933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41" y="96038"/>
            <a:ext cx="10405241" cy="949500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  <a:latin typeface="+mj-lt"/>
              </a:rPr>
              <a:t>Resumen rápido lógica proposicional</a:t>
            </a:r>
            <a:endParaRPr lang="es-CO" dirty="0">
              <a:latin typeface="+mn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9C6E9F-BCCF-4FD4-8EC3-574D66199786}"/>
              </a:ext>
            </a:extLst>
          </p:cNvPr>
          <p:cNvSpPr txBox="1"/>
          <p:nvPr/>
        </p:nvSpPr>
        <p:spPr>
          <a:xfrm>
            <a:off x="145135" y="967839"/>
            <a:ext cx="31475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Reglas de inferencia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8137D60-1D77-4A06-87FE-EFA5D72FA8A8}"/>
              </a:ext>
            </a:extLst>
          </p:cNvPr>
          <p:cNvSpPr txBox="1"/>
          <p:nvPr/>
        </p:nvSpPr>
        <p:spPr>
          <a:xfrm>
            <a:off x="142991" y="2706914"/>
            <a:ext cx="32641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Validez lógica</a:t>
            </a:r>
            <a:endParaRPr lang="es-CO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8F60C65C-9C30-4FDC-8EF9-FF38D651B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0088743"/>
                  </p:ext>
                </p:extLst>
              </p:nvPr>
            </p:nvGraphicFramePr>
            <p:xfrm>
              <a:off x="3912201" y="1129463"/>
              <a:ext cx="8173077" cy="4779582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777399">
                      <a:extLst>
                        <a:ext uri="{9D8B030D-6E8A-4147-A177-3AD203B41FA5}">
                          <a16:colId xmlns:a16="http://schemas.microsoft.com/office/drawing/2014/main" val="3517824357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212776800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3724117940"/>
                        </a:ext>
                      </a:extLst>
                    </a:gridCol>
                    <a:gridCol w="2471378">
                      <a:extLst>
                        <a:ext uri="{9D8B030D-6E8A-4147-A177-3AD203B41FA5}">
                          <a16:colId xmlns:a16="http://schemas.microsoft.com/office/drawing/2014/main" val="33300382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Regla de inferencia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Regla de inferencia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507432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Modus Ponens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    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𝑞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Simplificación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9179385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Modus Tollens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¬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    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∴¬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Conjunción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s-CO" sz="1800" dirty="0">
                                        <a:latin typeface="Roboto" panose="02000000000000000000" pitchFamily="2" charset="0"/>
                                        <a:ea typeface="Roboto" panose="02000000000000000000" pitchFamily="2" charset="0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8799334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Silogismo hipotético (Transitividad)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𝑟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s-CO" sz="1800" dirty="0">
                                              <a:latin typeface="Roboto" panose="02000000000000000000" pitchFamily="2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Prueba de división por casos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lvl="1"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𝑟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s-MX" sz="1800" b="0" dirty="0">
                                              <a:latin typeface="Roboto" panose="02000000000000000000" pitchFamily="2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82340052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Silogismo disyuntivo (Eliminación)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s-CO" sz="1800" dirty="0">
                                              <a:latin typeface="Roboto" panose="02000000000000000000" pitchFamily="2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¬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  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8226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Adición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   </m:t>
                                    </m:r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Resolución</a:t>
                          </a:r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¬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𝑟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s-MX" sz="1800" b="0" dirty="0">
                                              <a:latin typeface="Roboto" panose="02000000000000000000" pitchFamily="2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1768214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8F60C65C-9C30-4FDC-8EF9-FF38D651B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0088743"/>
                  </p:ext>
                </p:extLst>
              </p:nvPr>
            </p:nvGraphicFramePr>
            <p:xfrm>
              <a:off x="3912201" y="1129463"/>
              <a:ext cx="8173077" cy="4779582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777399">
                      <a:extLst>
                        <a:ext uri="{9D8B030D-6E8A-4147-A177-3AD203B41FA5}">
                          <a16:colId xmlns:a16="http://schemas.microsoft.com/office/drawing/2014/main" val="3517824357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212776800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3724117940"/>
                        </a:ext>
                      </a:extLst>
                    </a:gridCol>
                    <a:gridCol w="2471378">
                      <a:extLst>
                        <a:ext uri="{9D8B030D-6E8A-4147-A177-3AD203B41FA5}">
                          <a16:colId xmlns:a16="http://schemas.microsoft.com/office/drawing/2014/main" val="33300382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Regla de inferencia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Regla de inferencia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507432"/>
                      </a:ext>
                    </a:extLst>
                  </a:tr>
                  <a:tr h="854964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Modus Ponens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16" t="-45714" r="-189807" b="-41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Simplificación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0788" t="-45714" r="-493" b="-41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79385"/>
                      </a:ext>
                    </a:extLst>
                  </a:tr>
                  <a:tr h="854964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Modus Tollens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16" t="-144681" r="-189807" b="-316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Conjunción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0788" t="-144681" r="-493" b="-3163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879933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Silogismo hipotético (Transitividad)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16" t="-230000" r="-189807" b="-197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Prueba de división por casos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0788" t="-115000" r="-493" b="-4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234005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Silogismo disyuntivo (Eliminación)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16" t="-330000" r="-189807" b="-97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8226202"/>
                      </a:ext>
                    </a:extLst>
                  </a:tr>
                  <a:tr h="875094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Adición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16" t="-447917" r="-189807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Resolución</a:t>
                          </a:r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0788" t="-447917" r="-493" b="-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6821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766A6E70-1209-4AD5-9CCB-ED15054B1380}"/>
              </a:ext>
            </a:extLst>
          </p:cNvPr>
          <p:cNvSpPr txBox="1"/>
          <p:nvPr/>
        </p:nvSpPr>
        <p:spPr>
          <a:xfrm>
            <a:off x="194974" y="1431487"/>
            <a:ext cx="32641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Argumento</a:t>
            </a:r>
            <a:endParaRPr lang="es-CO" sz="2400" b="1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FC25073-4A3A-4F53-B171-F23F49253A77}"/>
              </a:ext>
            </a:extLst>
          </p:cNvPr>
          <p:cNvGrpSpPr/>
          <p:nvPr/>
        </p:nvGrpSpPr>
        <p:grpSpPr>
          <a:xfrm>
            <a:off x="520318" y="1957846"/>
            <a:ext cx="3082183" cy="790720"/>
            <a:chOff x="916649" y="2013618"/>
            <a:chExt cx="3082183" cy="790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2C595E4D-AD7F-4E0D-9EE7-8F58CC09D53A}"/>
                    </a:ext>
                  </a:extLst>
                </p:cNvPr>
                <p:cNvSpPr txBox="1"/>
                <p:nvPr/>
              </p:nvSpPr>
              <p:spPr>
                <a:xfrm>
                  <a:off x="916649" y="2013618"/>
                  <a:ext cx="277090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2C595E4D-AD7F-4E0D-9EE7-8F58CC09D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649" y="2013618"/>
                  <a:ext cx="2770909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2352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Abrir llave 14">
              <a:extLst>
                <a:ext uri="{FF2B5EF4-FFF2-40B4-BE49-F238E27FC236}">
                  <a16:creationId xmlns:a16="http://schemas.microsoft.com/office/drawing/2014/main" id="{A317FA01-1F53-4625-9ED1-F1329FEC289D}"/>
                </a:ext>
              </a:extLst>
            </p:cNvPr>
            <p:cNvSpPr/>
            <p:nvPr/>
          </p:nvSpPr>
          <p:spPr>
            <a:xfrm rot="16200000">
              <a:off x="1937299" y="1409156"/>
              <a:ext cx="193549" cy="1857372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C00000"/>
                </a:solidFill>
              </a:endParaRPr>
            </a:p>
          </p:txBody>
        </p:sp>
        <p:sp>
          <p:nvSpPr>
            <p:cNvPr id="16" name="Abrir llave 15">
              <a:extLst>
                <a:ext uri="{FF2B5EF4-FFF2-40B4-BE49-F238E27FC236}">
                  <a16:creationId xmlns:a16="http://schemas.microsoft.com/office/drawing/2014/main" id="{03F04D56-20D6-4CEB-8633-F9195D3624F0}"/>
                </a:ext>
              </a:extLst>
            </p:cNvPr>
            <p:cNvSpPr/>
            <p:nvPr/>
          </p:nvSpPr>
          <p:spPr>
            <a:xfrm rot="16028215">
              <a:off x="3299101" y="2222401"/>
              <a:ext cx="136106" cy="230884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59B3F10-2954-4230-B0DE-8BFE56A8D28C}"/>
                </a:ext>
              </a:extLst>
            </p:cNvPr>
            <p:cNvSpPr txBox="1"/>
            <p:nvPr/>
          </p:nvSpPr>
          <p:spPr>
            <a:xfrm>
              <a:off x="1437732" y="2465784"/>
              <a:ext cx="11133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Premisas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63D818A-AA41-4757-9702-ADF865F55DEF}"/>
                </a:ext>
              </a:extLst>
            </p:cNvPr>
            <p:cNvSpPr txBox="1"/>
            <p:nvPr/>
          </p:nvSpPr>
          <p:spPr>
            <a:xfrm>
              <a:off x="2780229" y="2459525"/>
              <a:ext cx="12186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600" b="1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Conclusión</a:t>
              </a: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E3E32EF1-B0C7-4E34-97D3-CAACA8B6C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904" y="4115274"/>
            <a:ext cx="1481157" cy="2647877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505B6727-30CB-4F65-93EA-E09C9CAE177B}"/>
              </a:ext>
            </a:extLst>
          </p:cNvPr>
          <p:cNvSpPr txBox="1"/>
          <p:nvPr/>
        </p:nvSpPr>
        <p:spPr>
          <a:xfrm>
            <a:off x="264745" y="3183598"/>
            <a:ext cx="36792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Un argumento de </a:t>
            </a:r>
            <a:r>
              <a:rPr lang="es-MX" b="1" dirty="0">
                <a:latin typeface="Roboto" panose="02000000000000000000" pitchFamily="2" charset="0"/>
                <a:ea typeface="Roboto" panose="02000000000000000000" pitchFamily="2" charset="0"/>
              </a:rPr>
              <a:t>valido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si la </a:t>
            </a:r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conclusión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es verdadera cuando las premisas son verdaderas.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2619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25345" y="170880"/>
            <a:ext cx="10515600" cy="82975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Limitaciones de la lógica proposicional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26734148-1D4E-4018-B203-B1040E425A9F}"/>
              </a:ext>
            </a:extLst>
          </p:cNvPr>
          <p:cNvSpPr txBox="1">
            <a:spLocks/>
          </p:cNvSpPr>
          <p:nvPr/>
        </p:nvSpPr>
        <p:spPr>
          <a:xfrm>
            <a:off x="425345" y="906360"/>
            <a:ext cx="9590437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tx1"/>
                </a:solidFill>
                <a:latin typeface="+mn-lt"/>
              </a:rPr>
              <a:t>Limitaciones de la lógica proposicional</a:t>
            </a:r>
            <a:endParaRPr lang="es-MX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A69D80-4215-44D1-9CB9-5B1960D5F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89" y="1551805"/>
            <a:ext cx="3596122" cy="2311793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716D561-65F2-468E-BD3D-EDD008F29246}"/>
              </a:ext>
            </a:extLst>
          </p:cNvPr>
          <p:cNvSpPr txBox="1"/>
          <p:nvPr/>
        </p:nvSpPr>
        <p:spPr>
          <a:xfrm>
            <a:off x="798744" y="4063316"/>
            <a:ext cx="10594512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200" dirty="0">
                <a:ea typeface="Roboto" panose="02000000000000000000" pitchFamily="2" charset="0"/>
              </a:rPr>
              <a:t>Todos los computadores del LIS están funcionando correctamente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2FC7B12-1F13-4D07-8169-D132CE4074DA}"/>
              </a:ext>
            </a:extLst>
          </p:cNvPr>
          <p:cNvGrpSpPr/>
          <p:nvPr/>
        </p:nvGrpSpPr>
        <p:grpSpPr>
          <a:xfrm>
            <a:off x="1173289" y="1783700"/>
            <a:ext cx="4173414" cy="1984295"/>
            <a:chOff x="1650437" y="2560144"/>
            <a:chExt cx="4173414" cy="1984295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A9F774B-44E5-4F61-8CCF-6E5176AC6304}"/>
                </a:ext>
              </a:extLst>
            </p:cNvPr>
            <p:cNvGrpSpPr/>
            <p:nvPr/>
          </p:nvGrpSpPr>
          <p:grpSpPr>
            <a:xfrm>
              <a:off x="1916341" y="2629078"/>
              <a:ext cx="3907510" cy="1915361"/>
              <a:chOff x="1916341" y="2629078"/>
              <a:chExt cx="3907510" cy="1915361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A91458E0-0946-4A50-BE24-F196CE4E42F7}"/>
                  </a:ext>
                </a:extLst>
              </p:cNvPr>
              <p:cNvGrpSpPr/>
              <p:nvPr/>
            </p:nvGrpSpPr>
            <p:grpSpPr>
              <a:xfrm>
                <a:off x="1916341" y="2629078"/>
                <a:ext cx="667104" cy="951843"/>
                <a:chOff x="1916341" y="2629078"/>
                <a:chExt cx="667104" cy="951843"/>
              </a:xfrm>
            </p:grpSpPr>
            <p:pic>
              <p:nvPicPr>
                <p:cNvPr id="1030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FC31EF95-9F9B-451D-9C82-AD788AC18D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C5514F9D-4996-4CFB-9F9B-5B4B373B280F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rgbClr val="00206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L1</a:t>
                  </a:r>
                </a:p>
              </p:txBody>
            </p:sp>
          </p:grpSp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D811F25F-AF61-4948-BC74-3B29E439E772}"/>
                  </a:ext>
                </a:extLst>
              </p:cNvPr>
              <p:cNvGrpSpPr/>
              <p:nvPr/>
            </p:nvGrpSpPr>
            <p:grpSpPr>
              <a:xfrm>
                <a:off x="2997656" y="2629078"/>
                <a:ext cx="667104" cy="890288"/>
                <a:chOff x="1916341" y="2629078"/>
                <a:chExt cx="667104" cy="890288"/>
              </a:xfrm>
            </p:grpSpPr>
            <p:pic>
              <p:nvPicPr>
                <p:cNvPr id="35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BC5B925B-3131-4B04-8D6E-490EAB354A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BB5A41D7-B925-46AA-B113-05F19F891A49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L2</a:t>
                  </a:r>
                </a:p>
              </p:txBody>
            </p:sp>
          </p:grpSp>
          <p:grpSp>
            <p:nvGrpSpPr>
              <p:cNvPr id="37" name="Grupo 36">
                <a:extLst>
                  <a:ext uri="{FF2B5EF4-FFF2-40B4-BE49-F238E27FC236}">
                    <a16:creationId xmlns:a16="http://schemas.microsoft.com/office/drawing/2014/main" id="{C45C797D-FD1C-47EF-BBEB-08C0A008EEEA}"/>
                  </a:ext>
                </a:extLst>
              </p:cNvPr>
              <p:cNvGrpSpPr/>
              <p:nvPr/>
            </p:nvGrpSpPr>
            <p:grpSpPr>
              <a:xfrm>
                <a:off x="4078971" y="2631529"/>
                <a:ext cx="667104" cy="890288"/>
                <a:chOff x="1916341" y="2629078"/>
                <a:chExt cx="667104" cy="890288"/>
              </a:xfrm>
            </p:grpSpPr>
            <p:pic>
              <p:nvPicPr>
                <p:cNvPr id="38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DDA86885-C72A-4A1C-8CBE-EEF4E6B1D1A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7D5A5C1E-7A8F-4445-A5DA-DA459F7FEBDA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L3</a:t>
                  </a:r>
                </a:p>
              </p:txBody>
            </p:sp>
          </p:grpSp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CD404D61-B65F-4245-A6D1-472F117943F5}"/>
                  </a:ext>
                </a:extLst>
              </p:cNvPr>
              <p:cNvGrpSpPr/>
              <p:nvPr/>
            </p:nvGrpSpPr>
            <p:grpSpPr>
              <a:xfrm>
                <a:off x="5156747" y="2644181"/>
                <a:ext cx="667104" cy="951843"/>
                <a:chOff x="1916341" y="2629078"/>
                <a:chExt cx="667104" cy="951843"/>
              </a:xfrm>
            </p:grpSpPr>
            <p:pic>
              <p:nvPicPr>
                <p:cNvPr id="43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A52BDEEE-A497-49B7-98E2-2D5265163AF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5F6501DC-884E-48F5-8E40-F8A192985118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rgbClr val="C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L4</a:t>
                  </a:r>
                </a:p>
              </p:txBody>
            </p:sp>
          </p:grpSp>
          <p:grpSp>
            <p:nvGrpSpPr>
              <p:cNvPr id="45" name="Grupo 44">
                <a:extLst>
                  <a:ext uri="{FF2B5EF4-FFF2-40B4-BE49-F238E27FC236}">
                    <a16:creationId xmlns:a16="http://schemas.microsoft.com/office/drawing/2014/main" id="{7CF16A4D-CBA9-41C1-84CB-32AFBFF72A2A}"/>
                  </a:ext>
                </a:extLst>
              </p:cNvPr>
              <p:cNvGrpSpPr/>
              <p:nvPr/>
            </p:nvGrpSpPr>
            <p:grpSpPr>
              <a:xfrm>
                <a:off x="1916341" y="3590145"/>
                <a:ext cx="667104" cy="951843"/>
                <a:chOff x="1916341" y="2629078"/>
                <a:chExt cx="667104" cy="951843"/>
              </a:xfrm>
            </p:grpSpPr>
            <p:pic>
              <p:nvPicPr>
                <p:cNvPr id="46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8FAE67EE-DEB0-4E41-A11D-F19F4B56EDE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42DA8776-739C-4279-AC07-87973BBFA6BD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rgbClr val="C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L5</a:t>
                  </a:r>
                </a:p>
              </p:txBody>
            </p:sp>
          </p:grpSp>
          <p:grpSp>
            <p:nvGrpSpPr>
              <p:cNvPr id="48" name="Grupo 47">
                <a:extLst>
                  <a:ext uri="{FF2B5EF4-FFF2-40B4-BE49-F238E27FC236}">
                    <a16:creationId xmlns:a16="http://schemas.microsoft.com/office/drawing/2014/main" id="{C174A800-5F6D-4635-A35F-89DA99BD1A6A}"/>
                  </a:ext>
                </a:extLst>
              </p:cNvPr>
              <p:cNvGrpSpPr/>
              <p:nvPr/>
            </p:nvGrpSpPr>
            <p:grpSpPr>
              <a:xfrm>
                <a:off x="2997656" y="3590145"/>
                <a:ext cx="667104" cy="890288"/>
                <a:chOff x="1916341" y="2629078"/>
                <a:chExt cx="667104" cy="890288"/>
              </a:xfrm>
            </p:grpSpPr>
            <p:pic>
              <p:nvPicPr>
                <p:cNvPr id="49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979C3555-0BCE-42A7-833C-C8C3DA62B81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8DF5170B-48AE-483B-9C84-6E51C8F2EFC2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L6</a:t>
                  </a:r>
                </a:p>
              </p:txBody>
            </p:sp>
          </p:grpSp>
          <p:grpSp>
            <p:nvGrpSpPr>
              <p:cNvPr id="51" name="Grupo 50">
                <a:extLst>
                  <a:ext uri="{FF2B5EF4-FFF2-40B4-BE49-F238E27FC236}">
                    <a16:creationId xmlns:a16="http://schemas.microsoft.com/office/drawing/2014/main" id="{1AF25E43-D922-40FC-BC22-ABFA151CCA53}"/>
                  </a:ext>
                </a:extLst>
              </p:cNvPr>
              <p:cNvGrpSpPr/>
              <p:nvPr/>
            </p:nvGrpSpPr>
            <p:grpSpPr>
              <a:xfrm>
                <a:off x="4078971" y="3592596"/>
                <a:ext cx="667104" cy="951843"/>
                <a:chOff x="1916341" y="2629078"/>
                <a:chExt cx="667104" cy="951843"/>
              </a:xfrm>
            </p:grpSpPr>
            <p:pic>
              <p:nvPicPr>
                <p:cNvPr id="52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EC0E9EC2-1ABA-44F3-9D6C-68D4B23A2E6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B7E97764-456B-4E8C-A4B7-80DD32C2D1CC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rgbClr val="C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L7</a:t>
                  </a:r>
                </a:p>
              </p:txBody>
            </p:sp>
          </p:grpSp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75A471A5-8781-4BE1-B06C-7F5FB9962E65}"/>
                  </a:ext>
                </a:extLst>
              </p:cNvPr>
              <p:cNvGrpSpPr/>
              <p:nvPr/>
            </p:nvGrpSpPr>
            <p:grpSpPr>
              <a:xfrm>
                <a:off x="5156747" y="3605248"/>
                <a:ext cx="667104" cy="890288"/>
                <a:chOff x="1916341" y="2629078"/>
                <a:chExt cx="667104" cy="890288"/>
              </a:xfrm>
            </p:grpSpPr>
            <p:pic>
              <p:nvPicPr>
                <p:cNvPr id="55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35DBF1D7-F2B5-4D8B-9011-146A26CA21A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E7F6362C-1B82-4BC1-84F9-7012F2C5A3FD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L8</a:t>
                  </a:r>
                </a:p>
              </p:txBody>
            </p:sp>
          </p:grpSp>
        </p:grpSp>
        <p:pic>
          <p:nvPicPr>
            <p:cNvPr id="1034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AD707E88-F338-4819-8D8A-A38AFBC550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0437" y="2584277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EA616233-19FE-4679-A1B7-69BC9C6FBB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9721" y="2560144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B4FEB79F-0D04-4E25-A437-155B9718F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6607" y="2560144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716A99A6-0B1D-4840-BFF7-FCC6939DEF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3862" y="2560144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853BEC0D-2F50-4A45-80C4-839A3BA762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1330" y="3523730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D5D442C8-6506-4A74-94CB-C684B6D770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9982" y="3523730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4C845B71-259A-49AE-BAD8-758A556EA5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528" y="3519366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55B2FBBA-CF81-41FD-A7BE-5F0F15EE7A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1492" y="3519366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6" name="CuadroTexto 65">
            <a:extLst>
              <a:ext uri="{FF2B5EF4-FFF2-40B4-BE49-F238E27FC236}">
                <a16:creationId xmlns:a16="http://schemas.microsoft.com/office/drawing/2014/main" id="{9DCD9734-CBB7-4DE8-9C64-73299BA854A2}"/>
              </a:ext>
            </a:extLst>
          </p:cNvPr>
          <p:cNvSpPr txBox="1"/>
          <p:nvPr/>
        </p:nvSpPr>
        <p:spPr>
          <a:xfrm>
            <a:off x="425345" y="4704974"/>
            <a:ext cx="959043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200" dirty="0">
                <a:ea typeface="Roboto" panose="02000000000000000000" pitchFamily="2" charset="0"/>
              </a:rPr>
              <a:t>Con base en el anterior enunciado </a:t>
            </a:r>
            <a:r>
              <a:rPr lang="es-MX" sz="2200" b="1" dirty="0">
                <a:solidFill>
                  <a:srgbClr val="C00000"/>
                </a:solidFill>
                <a:ea typeface="Roboto" panose="02000000000000000000" pitchFamily="2" charset="0"/>
              </a:rPr>
              <a:t>no se pueden</a:t>
            </a:r>
            <a:r>
              <a:rPr lang="es-MX" sz="2200" dirty="0">
                <a:ea typeface="Roboto" panose="02000000000000000000" pitchFamily="2" charset="0"/>
              </a:rPr>
              <a:t> concluir lo siguiente: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ea typeface="Roboto" panose="02000000000000000000" pitchFamily="2" charset="0"/>
              </a:rPr>
              <a:t>El computador L1 esta funcionando correctamente.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ea typeface="Roboto" panose="02000000000000000000" pitchFamily="2" charset="0"/>
              </a:rPr>
              <a:t>El computador L4 tiene el sistema operativo malo.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ea typeface="Roboto" panose="02000000000000000000" pitchFamily="2" charset="0"/>
              </a:rPr>
              <a:t>El computador L5 tiene un virus.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ea typeface="Roboto" panose="02000000000000000000" pitchFamily="2" charset="0"/>
              </a:rPr>
              <a:t>El computador L7 no tiene teclado.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193452" y="161409"/>
            <a:ext cx="10928455" cy="875668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Limitaciones de la lógica proposicional</a:t>
            </a:r>
            <a:endParaRPr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6EDCFA-5B28-4E68-A63F-D832EEF47272}"/>
              </a:ext>
            </a:extLst>
          </p:cNvPr>
          <p:cNvSpPr txBox="1"/>
          <p:nvPr/>
        </p:nvSpPr>
        <p:spPr>
          <a:xfrm>
            <a:off x="193451" y="938585"/>
            <a:ext cx="109284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200" dirty="0">
                <a:ea typeface="Roboto" panose="02000000000000000000" pitchFamily="2" charset="0"/>
              </a:rPr>
              <a:t>Analizando el ejemplo con lo que sabemos de lógica proposicional tenemos: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724132F-8D42-4B97-A92D-7D1BDD568C58}"/>
              </a:ext>
            </a:extLst>
          </p:cNvPr>
          <p:cNvGrpSpPr/>
          <p:nvPr/>
        </p:nvGrpSpPr>
        <p:grpSpPr>
          <a:xfrm>
            <a:off x="193451" y="2460780"/>
            <a:ext cx="7128596" cy="856644"/>
            <a:chOff x="756127" y="2079632"/>
            <a:chExt cx="7128596" cy="856644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6716D561-65F2-468E-BD3D-EDD008F29246}"/>
                </a:ext>
              </a:extLst>
            </p:cNvPr>
            <p:cNvSpPr txBox="1"/>
            <p:nvPr/>
          </p:nvSpPr>
          <p:spPr>
            <a:xfrm>
              <a:off x="756127" y="2079632"/>
              <a:ext cx="71285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ea typeface="Roboto" panose="02000000000000000000" pitchFamily="2" charset="0"/>
                </a:rPr>
                <a:t>Todos los computadores del LIS están funcionando correctamente</a:t>
              </a:r>
            </a:p>
          </p:txBody>
        </p:sp>
        <p:sp>
          <p:nvSpPr>
            <p:cNvPr id="65" name="Abrir llave 64">
              <a:extLst>
                <a:ext uri="{FF2B5EF4-FFF2-40B4-BE49-F238E27FC236}">
                  <a16:creationId xmlns:a16="http://schemas.microsoft.com/office/drawing/2014/main" id="{BDB71791-2430-4A3B-96D5-E2E01FD330A1}"/>
                </a:ext>
              </a:extLst>
            </p:cNvPr>
            <p:cNvSpPr/>
            <p:nvPr/>
          </p:nvSpPr>
          <p:spPr>
            <a:xfrm rot="16200000">
              <a:off x="4109114" y="-1015582"/>
              <a:ext cx="211733" cy="6917708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99566764-25F0-46E4-B181-0664CC69C3B3}"/>
                    </a:ext>
                  </a:extLst>
                </p:cNvPr>
                <p:cNvSpPr txBox="1"/>
                <p:nvPr/>
              </p:nvSpPr>
              <p:spPr>
                <a:xfrm>
                  <a:off x="4105728" y="2628499"/>
                  <a:ext cx="21640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s-CO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99566764-25F0-46E4-B181-0664CC69C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5728" y="2628499"/>
                  <a:ext cx="216406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27778" r="-30556" b="-26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BAC1E7E-18A4-45B2-8B25-C59DF9164D92}"/>
              </a:ext>
            </a:extLst>
          </p:cNvPr>
          <p:cNvGrpSpPr/>
          <p:nvPr/>
        </p:nvGrpSpPr>
        <p:grpSpPr>
          <a:xfrm>
            <a:off x="10736781" y="4148454"/>
            <a:ext cx="862653" cy="951843"/>
            <a:chOff x="7758326" y="3784022"/>
            <a:chExt cx="862653" cy="951843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8C6B76AC-883C-4024-8D84-896EE6165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8326" y="3784743"/>
              <a:ext cx="142750" cy="132880"/>
            </a:xfrm>
            <a:prstGeom prst="rect">
              <a:avLst/>
            </a:prstGeom>
          </p:spPr>
        </p:pic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B1D21367-1A09-4E97-AAC1-87A12586BBB5}"/>
                </a:ext>
              </a:extLst>
            </p:cNvPr>
            <p:cNvGrpSpPr/>
            <p:nvPr/>
          </p:nvGrpSpPr>
          <p:grpSpPr>
            <a:xfrm>
              <a:off x="7953875" y="3784022"/>
              <a:ext cx="667104" cy="951843"/>
              <a:chOff x="5832278" y="2160558"/>
              <a:chExt cx="667104" cy="951843"/>
            </a:xfrm>
          </p:grpSpPr>
          <p:pic>
            <p:nvPicPr>
              <p:cNvPr id="72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2AC7672A-9F4F-4F58-AA7B-8D19038424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32278" y="216055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FB1D29D4-C412-472B-ADA9-2EF0A0AE2490}"/>
                  </a:ext>
                </a:extLst>
              </p:cNvPr>
              <p:cNvSpPr txBox="1"/>
              <p:nvPr/>
            </p:nvSpPr>
            <p:spPr>
              <a:xfrm>
                <a:off x="5832278" y="2743069"/>
                <a:ext cx="667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C0000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L4</a:t>
                </a:r>
              </a:p>
            </p:txBody>
          </p:sp>
        </p:grp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88863BD0-79DC-480A-83D7-95C0E1E0E2DD}"/>
              </a:ext>
            </a:extLst>
          </p:cNvPr>
          <p:cNvGrpSpPr/>
          <p:nvPr/>
        </p:nvGrpSpPr>
        <p:grpSpPr>
          <a:xfrm>
            <a:off x="346307" y="5518330"/>
            <a:ext cx="862653" cy="890288"/>
            <a:chOff x="7758326" y="3784022"/>
            <a:chExt cx="862653" cy="890288"/>
          </a:xfrm>
        </p:grpSpPr>
        <p:pic>
          <p:nvPicPr>
            <p:cNvPr id="75" name="Imagen 74">
              <a:extLst>
                <a:ext uri="{FF2B5EF4-FFF2-40B4-BE49-F238E27FC236}">
                  <a16:creationId xmlns:a16="http://schemas.microsoft.com/office/drawing/2014/main" id="{134C9935-62BC-4120-B9EF-D12EDA5E1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8326" y="3784743"/>
              <a:ext cx="142750" cy="132880"/>
            </a:xfrm>
            <a:prstGeom prst="rect">
              <a:avLst/>
            </a:prstGeom>
          </p:spPr>
        </p:pic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32D02CD8-1A63-45F0-9268-C6A579D3A895}"/>
                </a:ext>
              </a:extLst>
            </p:cNvPr>
            <p:cNvGrpSpPr/>
            <p:nvPr/>
          </p:nvGrpSpPr>
          <p:grpSpPr>
            <a:xfrm>
              <a:off x="7953875" y="3784022"/>
              <a:ext cx="667104" cy="890288"/>
              <a:chOff x="5832278" y="2160558"/>
              <a:chExt cx="667104" cy="890288"/>
            </a:xfrm>
          </p:grpSpPr>
          <p:pic>
            <p:nvPicPr>
              <p:cNvPr id="77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42DE7A1C-E466-44E5-BBDA-E99C97E78C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32278" y="216055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7B0242F2-5309-4C5B-8338-BFB2947934C4}"/>
                  </a:ext>
                </a:extLst>
              </p:cNvPr>
              <p:cNvSpPr txBox="1"/>
              <p:nvPr/>
            </p:nvSpPr>
            <p:spPr>
              <a:xfrm>
                <a:off x="5832278" y="274306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L5</a:t>
                </a:r>
              </a:p>
            </p:txBody>
          </p:sp>
        </p:grp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291B3CB6-F89F-4946-9E4E-E6913E92CACE}"/>
              </a:ext>
            </a:extLst>
          </p:cNvPr>
          <p:cNvGrpSpPr/>
          <p:nvPr/>
        </p:nvGrpSpPr>
        <p:grpSpPr>
          <a:xfrm>
            <a:off x="10757654" y="5499870"/>
            <a:ext cx="862653" cy="951843"/>
            <a:chOff x="7758326" y="3784022"/>
            <a:chExt cx="862653" cy="951843"/>
          </a:xfrm>
        </p:grpSpPr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E5F9EDBB-4952-4446-A6B8-E28E3E93D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8326" y="3784743"/>
              <a:ext cx="142750" cy="132880"/>
            </a:xfrm>
            <a:prstGeom prst="rect">
              <a:avLst/>
            </a:prstGeom>
          </p:spPr>
        </p:pic>
        <p:grpSp>
          <p:nvGrpSpPr>
            <p:cNvPr id="81" name="Grupo 80">
              <a:extLst>
                <a:ext uri="{FF2B5EF4-FFF2-40B4-BE49-F238E27FC236}">
                  <a16:creationId xmlns:a16="http://schemas.microsoft.com/office/drawing/2014/main" id="{532CCBBC-190D-48D6-A5DD-E4815D518F75}"/>
                </a:ext>
              </a:extLst>
            </p:cNvPr>
            <p:cNvGrpSpPr/>
            <p:nvPr/>
          </p:nvGrpSpPr>
          <p:grpSpPr>
            <a:xfrm>
              <a:off x="7953875" y="3784022"/>
              <a:ext cx="667104" cy="951843"/>
              <a:chOff x="5832278" y="2160558"/>
              <a:chExt cx="667104" cy="951843"/>
            </a:xfrm>
          </p:grpSpPr>
          <p:pic>
            <p:nvPicPr>
              <p:cNvPr id="82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35511415-47A7-4460-85D3-FA03024FCD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32278" y="216055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4812FFCB-6537-4FE0-B7B6-16B050106C61}"/>
                  </a:ext>
                </a:extLst>
              </p:cNvPr>
              <p:cNvSpPr txBox="1"/>
              <p:nvPr/>
            </p:nvSpPr>
            <p:spPr>
              <a:xfrm>
                <a:off x="5832278" y="2743069"/>
                <a:ext cx="667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C0000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L7</a:t>
                </a:r>
              </a:p>
            </p:txBody>
          </p:sp>
        </p:grp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3A4D47F-D19B-443B-90CB-101D30A184CC}"/>
              </a:ext>
            </a:extLst>
          </p:cNvPr>
          <p:cNvGrpSpPr/>
          <p:nvPr/>
        </p:nvGrpSpPr>
        <p:grpSpPr>
          <a:xfrm>
            <a:off x="241035" y="4201514"/>
            <a:ext cx="933008" cy="935089"/>
            <a:chOff x="2325968" y="2100654"/>
            <a:chExt cx="933008" cy="935089"/>
          </a:xfrm>
        </p:grpSpPr>
        <p:pic>
          <p:nvPicPr>
            <p:cNvPr id="84" name="Picture 6" descr="Iconos gratuitos de Computadora diseñados por DinosoftLabs">
              <a:extLst>
                <a:ext uri="{FF2B5EF4-FFF2-40B4-BE49-F238E27FC236}">
                  <a16:creationId xmlns:a16="http://schemas.microsoft.com/office/drawing/2014/main" id="{25D7685B-E95B-4F51-AB03-74C4A10F60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1872" y="2145455"/>
              <a:ext cx="667104" cy="667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4DA3A4CC-320B-4D0D-B953-ACD289111D8B}"/>
                </a:ext>
              </a:extLst>
            </p:cNvPr>
            <p:cNvSpPr txBox="1"/>
            <p:nvPr/>
          </p:nvSpPr>
          <p:spPr>
            <a:xfrm>
              <a:off x="2591872" y="2727966"/>
              <a:ext cx="667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>
                  <a:solidFill>
                    <a:srgbClr val="00B050"/>
                  </a:solidFill>
                  <a:latin typeface="Consolas" panose="020B0609020204030204" pitchFamily="49" charset="0"/>
                  <a:ea typeface="Roboto" panose="02000000000000000000" pitchFamily="2" charset="0"/>
                </a:rPr>
                <a:t>L1</a:t>
              </a:r>
            </a:p>
          </p:txBody>
        </p:sp>
        <p:pic>
          <p:nvPicPr>
            <p:cNvPr id="86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0093A5D2-BC5E-4B5D-9FFF-9AA54D9CD2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5968" y="2100654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E8128005-9267-4C6E-94E9-B1975E153A3F}"/>
              </a:ext>
            </a:extLst>
          </p:cNvPr>
          <p:cNvGrpSpPr/>
          <p:nvPr/>
        </p:nvGrpSpPr>
        <p:grpSpPr>
          <a:xfrm>
            <a:off x="7555274" y="1817266"/>
            <a:ext cx="4173414" cy="1984295"/>
            <a:chOff x="1650437" y="2560144"/>
            <a:chExt cx="4173414" cy="1984295"/>
          </a:xfrm>
        </p:grpSpPr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2BDA291A-1A50-4581-9EFD-4444C8F3B7C9}"/>
                </a:ext>
              </a:extLst>
            </p:cNvPr>
            <p:cNvGrpSpPr/>
            <p:nvPr/>
          </p:nvGrpSpPr>
          <p:grpSpPr>
            <a:xfrm>
              <a:off x="1916341" y="2629078"/>
              <a:ext cx="3907510" cy="1915361"/>
              <a:chOff x="1916341" y="2629078"/>
              <a:chExt cx="3907510" cy="1915361"/>
            </a:xfrm>
          </p:grpSpPr>
          <p:grpSp>
            <p:nvGrpSpPr>
              <p:cNvPr id="97" name="Grupo 96">
                <a:extLst>
                  <a:ext uri="{FF2B5EF4-FFF2-40B4-BE49-F238E27FC236}">
                    <a16:creationId xmlns:a16="http://schemas.microsoft.com/office/drawing/2014/main" id="{E8A1BDB2-8326-462B-BC7A-FEE0F0074498}"/>
                  </a:ext>
                </a:extLst>
              </p:cNvPr>
              <p:cNvGrpSpPr/>
              <p:nvPr/>
            </p:nvGrpSpPr>
            <p:grpSpPr>
              <a:xfrm>
                <a:off x="1916341" y="2629078"/>
                <a:ext cx="667104" cy="951843"/>
                <a:chOff x="1916341" y="2629078"/>
                <a:chExt cx="667104" cy="951843"/>
              </a:xfrm>
            </p:grpSpPr>
            <p:pic>
              <p:nvPicPr>
                <p:cNvPr id="119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4F6CE210-F894-424B-88EA-79BD822E23F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0" name="CuadroTexto 119">
                  <a:extLst>
                    <a:ext uri="{FF2B5EF4-FFF2-40B4-BE49-F238E27FC236}">
                      <a16:creationId xmlns:a16="http://schemas.microsoft.com/office/drawing/2014/main" id="{2C93CF19-A9DA-4F44-A611-B79B4CC6121F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rgbClr val="0070C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L1</a:t>
                  </a:r>
                </a:p>
              </p:txBody>
            </p:sp>
          </p:grpSp>
          <p:grpSp>
            <p:nvGrpSpPr>
              <p:cNvPr id="98" name="Grupo 97">
                <a:extLst>
                  <a:ext uri="{FF2B5EF4-FFF2-40B4-BE49-F238E27FC236}">
                    <a16:creationId xmlns:a16="http://schemas.microsoft.com/office/drawing/2014/main" id="{F830EE90-28CB-4937-BA60-536C279B1D08}"/>
                  </a:ext>
                </a:extLst>
              </p:cNvPr>
              <p:cNvGrpSpPr/>
              <p:nvPr/>
            </p:nvGrpSpPr>
            <p:grpSpPr>
              <a:xfrm>
                <a:off x="2997656" y="2629078"/>
                <a:ext cx="667104" cy="890288"/>
                <a:chOff x="1916341" y="2629078"/>
                <a:chExt cx="667104" cy="890288"/>
              </a:xfrm>
            </p:grpSpPr>
            <p:pic>
              <p:nvPicPr>
                <p:cNvPr id="117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F718EC7A-139A-4A13-B0CE-0AC9BE507B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8" name="CuadroTexto 117">
                  <a:extLst>
                    <a:ext uri="{FF2B5EF4-FFF2-40B4-BE49-F238E27FC236}">
                      <a16:creationId xmlns:a16="http://schemas.microsoft.com/office/drawing/2014/main" id="{B1517024-E5B9-4FBC-A2DD-D3068CB7E852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L2</a:t>
                  </a:r>
                </a:p>
              </p:txBody>
            </p:sp>
          </p:grpSp>
          <p:grpSp>
            <p:nvGrpSpPr>
              <p:cNvPr id="99" name="Grupo 98">
                <a:extLst>
                  <a:ext uri="{FF2B5EF4-FFF2-40B4-BE49-F238E27FC236}">
                    <a16:creationId xmlns:a16="http://schemas.microsoft.com/office/drawing/2014/main" id="{F61DC107-2AFC-4487-8D0D-A40526573F99}"/>
                  </a:ext>
                </a:extLst>
              </p:cNvPr>
              <p:cNvGrpSpPr/>
              <p:nvPr/>
            </p:nvGrpSpPr>
            <p:grpSpPr>
              <a:xfrm>
                <a:off x="4078971" y="2631529"/>
                <a:ext cx="667104" cy="890288"/>
                <a:chOff x="1916341" y="2629078"/>
                <a:chExt cx="667104" cy="890288"/>
              </a:xfrm>
            </p:grpSpPr>
            <p:pic>
              <p:nvPicPr>
                <p:cNvPr id="115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DA17AA76-E203-4FCE-941B-25368D0F551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6" name="CuadroTexto 115">
                  <a:extLst>
                    <a:ext uri="{FF2B5EF4-FFF2-40B4-BE49-F238E27FC236}">
                      <a16:creationId xmlns:a16="http://schemas.microsoft.com/office/drawing/2014/main" id="{57DC107B-60EC-476A-90AF-F637D963D3DC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L3</a:t>
                  </a:r>
                </a:p>
              </p:txBody>
            </p:sp>
          </p:grpSp>
          <p:grpSp>
            <p:nvGrpSpPr>
              <p:cNvPr id="100" name="Grupo 99">
                <a:extLst>
                  <a:ext uri="{FF2B5EF4-FFF2-40B4-BE49-F238E27FC236}">
                    <a16:creationId xmlns:a16="http://schemas.microsoft.com/office/drawing/2014/main" id="{344563D1-FD37-44CF-81F1-46BC2FA11BB2}"/>
                  </a:ext>
                </a:extLst>
              </p:cNvPr>
              <p:cNvGrpSpPr/>
              <p:nvPr/>
            </p:nvGrpSpPr>
            <p:grpSpPr>
              <a:xfrm>
                <a:off x="5156747" y="2644181"/>
                <a:ext cx="667104" cy="951843"/>
                <a:chOff x="1916341" y="2629078"/>
                <a:chExt cx="667104" cy="951843"/>
              </a:xfrm>
            </p:grpSpPr>
            <p:pic>
              <p:nvPicPr>
                <p:cNvPr id="113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375E39FB-65D3-4D61-A96C-97CB309D05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4" name="CuadroTexto 113">
                  <a:extLst>
                    <a:ext uri="{FF2B5EF4-FFF2-40B4-BE49-F238E27FC236}">
                      <a16:creationId xmlns:a16="http://schemas.microsoft.com/office/drawing/2014/main" id="{BD0B85B7-D6EC-4068-8EF5-2D59A2EEF5DA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rgbClr val="C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L4</a:t>
                  </a:r>
                </a:p>
              </p:txBody>
            </p:sp>
          </p:grpSp>
          <p:grpSp>
            <p:nvGrpSpPr>
              <p:cNvPr id="101" name="Grupo 100">
                <a:extLst>
                  <a:ext uri="{FF2B5EF4-FFF2-40B4-BE49-F238E27FC236}">
                    <a16:creationId xmlns:a16="http://schemas.microsoft.com/office/drawing/2014/main" id="{9010C3DB-238E-4592-9088-BCC3ECE4643F}"/>
                  </a:ext>
                </a:extLst>
              </p:cNvPr>
              <p:cNvGrpSpPr/>
              <p:nvPr/>
            </p:nvGrpSpPr>
            <p:grpSpPr>
              <a:xfrm>
                <a:off x="1916341" y="3590145"/>
                <a:ext cx="667104" cy="951843"/>
                <a:chOff x="1916341" y="2629078"/>
                <a:chExt cx="667104" cy="951843"/>
              </a:xfrm>
            </p:grpSpPr>
            <p:pic>
              <p:nvPicPr>
                <p:cNvPr id="111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59D888E9-4E81-4A8D-9561-B3EFABAD63D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2" name="CuadroTexto 111">
                  <a:extLst>
                    <a:ext uri="{FF2B5EF4-FFF2-40B4-BE49-F238E27FC236}">
                      <a16:creationId xmlns:a16="http://schemas.microsoft.com/office/drawing/2014/main" id="{12307B1D-89A9-4D7D-A547-986A108C97BD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rgbClr val="C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L5</a:t>
                  </a:r>
                </a:p>
              </p:txBody>
            </p:sp>
          </p:grpSp>
          <p:grpSp>
            <p:nvGrpSpPr>
              <p:cNvPr id="102" name="Grupo 101">
                <a:extLst>
                  <a:ext uri="{FF2B5EF4-FFF2-40B4-BE49-F238E27FC236}">
                    <a16:creationId xmlns:a16="http://schemas.microsoft.com/office/drawing/2014/main" id="{F2C82A66-A0DD-42D6-AE05-86D4A1A874E7}"/>
                  </a:ext>
                </a:extLst>
              </p:cNvPr>
              <p:cNvGrpSpPr/>
              <p:nvPr/>
            </p:nvGrpSpPr>
            <p:grpSpPr>
              <a:xfrm>
                <a:off x="2997656" y="3590145"/>
                <a:ext cx="667104" cy="890288"/>
                <a:chOff x="1916341" y="2629078"/>
                <a:chExt cx="667104" cy="890288"/>
              </a:xfrm>
            </p:grpSpPr>
            <p:pic>
              <p:nvPicPr>
                <p:cNvPr id="109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E7B44704-49C4-4128-B8F6-ECA2D396869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7997D486-69E5-4BF9-9BF6-EAF3D0697F79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L6</a:t>
                  </a:r>
                </a:p>
              </p:txBody>
            </p:sp>
          </p:grpSp>
          <p:grpSp>
            <p:nvGrpSpPr>
              <p:cNvPr id="103" name="Grupo 102">
                <a:extLst>
                  <a:ext uri="{FF2B5EF4-FFF2-40B4-BE49-F238E27FC236}">
                    <a16:creationId xmlns:a16="http://schemas.microsoft.com/office/drawing/2014/main" id="{DA2949A1-5163-4142-9865-0B48F794E487}"/>
                  </a:ext>
                </a:extLst>
              </p:cNvPr>
              <p:cNvGrpSpPr/>
              <p:nvPr/>
            </p:nvGrpSpPr>
            <p:grpSpPr>
              <a:xfrm>
                <a:off x="4078971" y="3592596"/>
                <a:ext cx="667104" cy="951843"/>
                <a:chOff x="1916341" y="2629078"/>
                <a:chExt cx="667104" cy="951843"/>
              </a:xfrm>
            </p:grpSpPr>
            <p:pic>
              <p:nvPicPr>
                <p:cNvPr id="107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1B1A721A-CE26-4054-98BE-C12F7D5B5E6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8" name="CuadroTexto 107">
                  <a:extLst>
                    <a:ext uri="{FF2B5EF4-FFF2-40B4-BE49-F238E27FC236}">
                      <a16:creationId xmlns:a16="http://schemas.microsoft.com/office/drawing/2014/main" id="{06D16747-94DA-488D-B09D-142EFB91661B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rgbClr val="C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L7</a:t>
                  </a:r>
                </a:p>
              </p:txBody>
            </p:sp>
          </p:grpSp>
          <p:grpSp>
            <p:nvGrpSpPr>
              <p:cNvPr id="104" name="Grupo 103">
                <a:extLst>
                  <a:ext uri="{FF2B5EF4-FFF2-40B4-BE49-F238E27FC236}">
                    <a16:creationId xmlns:a16="http://schemas.microsoft.com/office/drawing/2014/main" id="{C3536D24-684F-4F58-B336-006D07DA328B}"/>
                  </a:ext>
                </a:extLst>
              </p:cNvPr>
              <p:cNvGrpSpPr/>
              <p:nvPr/>
            </p:nvGrpSpPr>
            <p:grpSpPr>
              <a:xfrm>
                <a:off x="5156747" y="3605248"/>
                <a:ext cx="667104" cy="890288"/>
                <a:chOff x="1916341" y="2629078"/>
                <a:chExt cx="667104" cy="890288"/>
              </a:xfrm>
            </p:grpSpPr>
            <p:pic>
              <p:nvPicPr>
                <p:cNvPr id="105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82A36812-22A0-49F9-AA0A-2FF804393BF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6" name="CuadroTexto 105">
                  <a:extLst>
                    <a:ext uri="{FF2B5EF4-FFF2-40B4-BE49-F238E27FC236}">
                      <a16:creationId xmlns:a16="http://schemas.microsoft.com/office/drawing/2014/main" id="{E1A72198-F7E5-4DD5-AA7C-AE82376C6F8B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L8</a:t>
                  </a:r>
                </a:p>
              </p:txBody>
            </p:sp>
          </p:grpSp>
        </p:grpSp>
        <p:pic>
          <p:nvPicPr>
            <p:cNvPr id="89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E94A6A7D-88F4-4B11-B9A3-5548CE6806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0437" y="2584277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BD4CF00C-CD0A-439C-A237-F01E2DEFAB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9721" y="2560144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F69393E1-6C79-40B3-9BBA-B06EDD3DEF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6607" y="2560144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15E5CEDB-4B5C-483D-83C3-9A74D5185B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3862" y="2560144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5C17CECC-B181-4575-9F44-B7BAE46686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1330" y="3523730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F4ED5E26-6F86-4B95-89AE-64EAFE2E33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9982" y="3523730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21A7C9F6-10C8-4E17-87F6-35BE1451E3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528" y="3519366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779DC705-961A-4AE0-996F-28E51D7DE8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1492" y="3519366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1CFB98B3-F53A-4901-B03E-375857FC243D}"/>
              </a:ext>
            </a:extLst>
          </p:cNvPr>
          <p:cNvGrpSpPr/>
          <p:nvPr/>
        </p:nvGrpSpPr>
        <p:grpSpPr>
          <a:xfrm>
            <a:off x="1316321" y="3892372"/>
            <a:ext cx="4565650" cy="1324569"/>
            <a:chOff x="1935685" y="3926068"/>
            <a:chExt cx="4565650" cy="1324569"/>
          </a:xfrm>
        </p:grpSpPr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6E72488B-B651-4DEA-A8D6-4D51F3F4BAE8}"/>
                </a:ext>
              </a:extLst>
            </p:cNvPr>
            <p:cNvSpPr txBox="1"/>
            <p:nvPr/>
          </p:nvSpPr>
          <p:spPr>
            <a:xfrm>
              <a:off x="1935685" y="3926068"/>
              <a:ext cx="45656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ea typeface="Roboto" panose="02000000000000000000" pitchFamily="2" charset="0"/>
                </a:rPr>
                <a:t>El computador L1 esta funcionando correctamente</a:t>
              </a:r>
            </a:p>
          </p:txBody>
        </p:sp>
        <p:sp>
          <p:nvSpPr>
            <p:cNvPr id="121" name="Abrir llave 120">
              <a:extLst>
                <a:ext uri="{FF2B5EF4-FFF2-40B4-BE49-F238E27FC236}">
                  <a16:creationId xmlns:a16="http://schemas.microsoft.com/office/drawing/2014/main" id="{30FBA58D-8745-46CF-B1BD-7522F9CDF667}"/>
                </a:ext>
              </a:extLst>
            </p:cNvPr>
            <p:cNvSpPr/>
            <p:nvPr/>
          </p:nvSpPr>
          <p:spPr>
            <a:xfrm rot="16200000">
              <a:off x="3713408" y="2727263"/>
              <a:ext cx="242393" cy="3780324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CuadroTexto 121">
                  <a:extLst>
                    <a:ext uri="{FF2B5EF4-FFF2-40B4-BE49-F238E27FC236}">
                      <a16:creationId xmlns:a16="http://schemas.microsoft.com/office/drawing/2014/main" id="{DC38DC0D-C57D-4906-A52F-54E7368A8463}"/>
                    </a:ext>
                  </a:extLst>
                </p:cNvPr>
                <p:cNvSpPr txBox="1"/>
                <p:nvPr/>
              </p:nvSpPr>
              <p:spPr>
                <a:xfrm>
                  <a:off x="3718196" y="4942860"/>
                  <a:ext cx="21320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s-CO" sz="24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122" name="CuadroTexto 121">
                  <a:extLst>
                    <a:ext uri="{FF2B5EF4-FFF2-40B4-BE49-F238E27FC236}">
                      <a16:creationId xmlns:a16="http://schemas.microsoft.com/office/drawing/2014/main" id="{DC38DC0D-C57D-4906-A52F-54E7368A84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196" y="4942860"/>
                  <a:ext cx="213200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28571" r="-31429" b="-2549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3B2A788-97C4-4330-A720-08165FB913EB}"/>
              </a:ext>
            </a:extLst>
          </p:cNvPr>
          <p:cNvGrpSpPr/>
          <p:nvPr/>
        </p:nvGrpSpPr>
        <p:grpSpPr>
          <a:xfrm>
            <a:off x="6158171" y="3970988"/>
            <a:ext cx="4290024" cy="1199488"/>
            <a:chOff x="6409731" y="3858926"/>
            <a:chExt cx="4290024" cy="1199488"/>
          </a:xfrm>
        </p:grpSpPr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6480B1F3-7FF4-4DD5-8E65-84692846AD84}"/>
                </a:ext>
              </a:extLst>
            </p:cNvPr>
            <p:cNvSpPr txBox="1"/>
            <p:nvPr/>
          </p:nvSpPr>
          <p:spPr>
            <a:xfrm>
              <a:off x="6409731" y="3858926"/>
              <a:ext cx="429002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ea typeface="Roboto" panose="02000000000000000000" pitchFamily="2" charset="0"/>
                </a:rPr>
                <a:t>El computador L4 tiene el sistema operativo malo</a:t>
              </a:r>
            </a:p>
          </p:txBody>
        </p:sp>
        <p:sp>
          <p:nvSpPr>
            <p:cNvPr id="123" name="Abrir llave 122">
              <a:extLst>
                <a:ext uri="{FF2B5EF4-FFF2-40B4-BE49-F238E27FC236}">
                  <a16:creationId xmlns:a16="http://schemas.microsoft.com/office/drawing/2014/main" id="{030C5594-FB1E-4670-8830-171D38398816}"/>
                </a:ext>
              </a:extLst>
            </p:cNvPr>
            <p:cNvSpPr/>
            <p:nvPr/>
          </p:nvSpPr>
          <p:spPr>
            <a:xfrm rot="16200000">
              <a:off x="8157720" y="2769450"/>
              <a:ext cx="116254" cy="3569812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CuadroTexto 123">
                  <a:extLst>
                    <a:ext uri="{FF2B5EF4-FFF2-40B4-BE49-F238E27FC236}">
                      <a16:creationId xmlns:a16="http://schemas.microsoft.com/office/drawing/2014/main" id="{6E6B5DA6-72F1-4B6B-B341-58C4B3537564}"/>
                    </a:ext>
                  </a:extLst>
                </p:cNvPr>
                <p:cNvSpPr txBox="1"/>
                <p:nvPr/>
              </p:nvSpPr>
              <p:spPr>
                <a:xfrm>
                  <a:off x="8117502" y="4750637"/>
                  <a:ext cx="19556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es-CO" sz="24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124" name="CuadroTexto 123">
                  <a:extLst>
                    <a:ext uri="{FF2B5EF4-FFF2-40B4-BE49-F238E27FC236}">
                      <a16:creationId xmlns:a16="http://schemas.microsoft.com/office/drawing/2014/main" id="{6E6B5DA6-72F1-4B6B-B341-58C4B3537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7502" y="4750637"/>
                  <a:ext cx="195566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18750" r="-2187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F847B7DB-C97B-4BFE-852D-BA5CAF600A9E}"/>
              </a:ext>
            </a:extLst>
          </p:cNvPr>
          <p:cNvGrpSpPr/>
          <p:nvPr/>
        </p:nvGrpSpPr>
        <p:grpSpPr>
          <a:xfrm>
            <a:off x="1498841" y="5541230"/>
            <a:ext cx="3626382" cy="890307"/>
            <a:chOff x="1909344" y="5372605"/>
            <a:chExt cx="3134152" cy="890307"/>
          </a:xfrm>
        </p:grpSpPr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2ECE35F6-85E5-44BF-A68E-283958405B11}"/>
                </a:ext>
              </a:extLst>
            </p:cNvPr>
            <p:cNvSpPr txBox="1"/>
            <p:nvPr/>
          </p:nvSpPr>
          <p:spPr>
            <a:xfrm>
              <a:off x="1909344" y="5372605"/>
              <a:ext cx="31341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ea typeface="Roboto" panose="02000000000000000000" pitchFamily="2" charset="0"/>
                </a:rPr>
                <a:t>El computador L5 tiene un virus</a:t>
              </a:r>
            </a:p>
          </p:txBody>
        </p:sp>
        <p:sp>
          <p:nvSpPr>
            <p:cNvPr id="125" name="Abrir llave 124">
              <a:extLst>
                <a:ext uri="{FF2B5EF4-FFF2-40B4-BE49-F238E27FC236}">
                  <a16:creationId xmlns:a16="http://schemas.microsoft.com/office/drawing/2014/main" id="{16D3AC74-2009-43D1-88CC-137B4CC1E2CF}"/>
                </a:ext>
              </a:extLst>
            </p:cNvPr>
            <p:cNvSpPr/>
            <p:nvPr/>
          </p:nvSpPr>
          <p:spPr>
            <a:xfrm rot="16200000">
              <a:off x="3321586" y="4306537"/>
              <a:ext cx="161547" cy="2903131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CuadroTexto 125">
                  <a:extLst>
                    <a:ext uri="{FF2B5EF4-FFF2-40B4-BE49-F238E27FC236}">
                      <a16:creationId xmlns:a16="http://schemas.microsoft.com/office/drawing/2014/main" id="{3DB01109-67BE-4D0E-AD69-201141101553}"/>
                    </a:ext>
                  </a:extLst>
                </p:cNvPr>
                <p:cNvSpPr txBox="1"/>
                <p:nvPr/>
              </p:nvSpPr>
              <p:spPr>
                <a:xfrm>
                  <a:off x="3313362" y="5955135"/>
                  <a:ext cx="17799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oMath>
                    </m:oMathPara>
                  </a14:m>
                  <a:endParaRPr lang="es-CO" sz="2400" b="1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126" name="CuadroTexto 125">
                  <a:extLst>
                    <a:ext uri="{FF2B5EF4-FFF2-40B4-BE49-F238E27FC236}">
                      <a16:creationId xmlns:a16="http://schemas.microsoft.com/office/drawing/2014/main" id="{3DB01109-67BE-4D0E-AD69-2011411015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3362" y="5955135"/>
                  <a:ext cx="177995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4706" r="-1176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D773CF63-9B9A-441F-8934-93ACC6AD4863}"/>
              </a:ext>
            </a:extLst>
          </p:cNvPr>
          <p:cNvGrpSpPr/>
          <p:nvPr/>
        </p:nvGrpSpPr>
        <p:grpSpPr>
          <a:xfrm>
            <a:off x="6339996" y="5518330"/>
            <a:ext cx="3846193" cy="942888"/>
            <a:chOff x="6809109" y="5249387"/>
            <a:chExt cx="3846193" cy="942888"/>
          </a:xfrm>
        </p:grpSpPr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953EEFCF-3B1F-4CC7-BEB1-1A2F9E5C7B39}"/>
                </a:ext>
              </a:extLst>
            </p:cNvPr>
            <p:cNvSpPr txBox="1"/>
            <p:nvPr/>
          </p:nvSpPr>
          <p:spPr>
            <a:xfrm>
              <a:off x="6809109" y="5249387"/>
              <a:ext cx="38461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ea typeface="Roboto" panose="02000000000000000000" pitchFamily="2" charset="0"/>
                </a:rPr>
                <a:t>El computador L7 no tiene teclado</a:t>
              </a:r>
            </a:p>
          </p:txBody>
        </p:sp>
        <p:sp>
          <p:nvSpPr>
            <p:cNvPr id="127" name="Abrir llave 126">
              <a:extLst>
                <a:ext uri="{FF2B5EF4-FFF2-40B4-BE49-F238E27FC236}">
                  <a16:creationId xmlns:a16="http://schemas.microsoft.com/office/drawing/2014/main" id="{2F62EA29-DA27-411E-8962-DCA0F53093C0}"/>
                </a:ext>
              </a:extLst>
            </p:cNvPr>
            <p:cNvSpPr/>
            <p:nvPr/>
          </p:nvSpPr>
          <p:spPr>
            <a:xfrm rot="16200000">
              <a:off x="8632149" y="3752692"/>
              <a:ext cx="200116" cy="3846190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sz="16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CuadroTexto 127">
                  <a:extLst>
                    <a:ext uri="{FF2B5EF4-FFF2-40B4-BE49-F238E27FC236}">
                      <a16:creationId xmlns:a16="http://schemas.microsoft.com/office/drawing/2014/main" id="{7E4D0AAD-EC6F-48B7-83C4-AED8C3498F28}"/>
                    </a:ext>
                  </a:extLst>
                </p:cNvPr>
                <p:cNvSpPr txBox="1"/>
                <p:nvPr/>
              </p:nvSpPr>
              <p:spPr>
                <a:xfrm>
                  <a:off x="8633835" y="5884498"/>
                  <a:ext cx="188051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es-CO" sz="24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28" name="CuadroTexto 127">
                  <a:extLst>
                    <a:ext uri="{FF2B5EF4-FFF2-40B4-BE49-F238E27FC236}">
                      <a16:creationId xmlns:a16="http://schemas.microsoft.com/office/drawing/2014/main" id="{7E4D0AAD-EC6F-48B7-83C4-AED8C3498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835" y="5884498"/>
                  <a:ext cx="188051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19355" r="-25806" b="-392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184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63018" y="204987"/>
            <a:ext cx="10890782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Sujeto y predicado (Lenguaje Natural)</a:t>
            </a:r>
            <a:endParaRPr dirty="0"/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80802F65-F57F-42A1-8833-82BCD59B9EB8}"/>
              </a:ext>
            </a:extLst>
          </p:cNvPr>
          <p:cNvSpPr txBox="1">
            <a:spLocks/>
          </p:cNvSpPr>
          <p:nvPr/>
        </p:nvSpPr>
        <p:spPr>
          <a:xfrm>
            <a:off x="210308" y="1344312"/>
            <a:ext cx="11054592" cy="171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En cualquier idioma toda oración (conjunto de palabras que expresa una idea completa y tiene sentido por sí sola) están formadas por:</a:t>
            </a:r>
          </a:p>
          <a:p>
            <a:r>
              <a:rPr lang="es-MX" sz="2200" b="1" dirty="0">
                <a:latin typeface="+mn-lt"/>
                <a:ea typeface="Roboto" panose="02000000000000000000" pitchFamily="2" charset="0"/>
              </a:rPr>
              <a:t>Sujeto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: De quién o de qué se habla.</a:t>
            </a:r>
          </a:p>
          <a:p>
            <a:r>
              <a:rPr lang="es-MX" sz="2200" b="1" dirty="0">
                <a:latin typeface="+mn-lt"/>
                <a:ea typeface="Roboto" panose="02000000000000000000" pitchFamily="2" charset="0"/>
              </a:rPr>
              <a:t>Predicado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: Lo que se dice del sujeto. 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7C72750-039F-49D2-9DA1-108C504860AF}"/>
              </a:ext>
            </a:extLst>
          </p:cNvPr>
          <p:cNvGrpSpPr/>
          <p:nvPr/>
        </p:nvGrpSpPr>
        <p:grpSpPr>
          <a:xfrm>
            <a:off x="2917522" y="3385222"/>
            <a:ext cx="1354572" cy="1284972"/>
            <a:chOff x="1899706" y="3251200"/>
            <a:chExt cx="1354572" cy="1284972"/>
          </a:xfrm>
        </p:grpSpPr>
        <p:pic>
          <p:nvPicPr>
            <p:cNvPr id="10" name="Picture 6" descr="Iconos gratuitos de Computadora diseñados por DinosoftLabs">
              <a:extLst>
                <a:ext uri="{FF2B5EF4-FFF2-40B4-BE49-F238E27FC236}">
                  <a16:creationId xmlns:a16="http://schemas.microsoft.com/office/drawing/2014/main" id="{DFA6BD92-378D-43CA-AAEE-C846C3DE85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5602" y="3251200"/>
              <a:ext cx="1078676" cy="1078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4F6E58D-DEB8-44B3-8E29-6ACCFACE869D}"/>
                </a:ext>
              </a:extLst>
            </p:cNvPr>
            <p:cNvSpPr txBox="1"/>
            <p:nvPr/>
          </p:nvSpPr>
          <p:spPr>
            <a:xfrm>
              <a:off x="2381388" y="4228395"/>
              <a:ext cx="667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>
                  <a:solidFill>
                    <a:srgbClr val="00B050"/>
                  </a:solidFill>
                  <a:latin typeface="Consolas" panose="020B0609020204030204" pitchFamily="49" charset="0"/>
                  <a:ea typeface="Roboto" panose="02000000000000000000" pitchFamily="2" charset="0"/>
                </a:rPr>
                <a:t>L1</a:t>
              </a:r>
            </a:p>
          </p:txBody>
        </p:sp>
        <p:pic>
          <p:nvPicPr>
            <p:cNvPr id="12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0A445767-E2F9-43B8-9686-52526C89C4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9706" y="3347907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0" name="Picture 2" descr="Santa's Little Helper | Simpson Wiki en Español | Fandom">
            <a:extLst>
              <a:ext uri="{FF2B5EF4-FFF2-40B4-BE49-F238E27FC236}">
                <a16:creationId xmlns:a16="http://schemas.microsoft.com/office/drawing/2014/main" id="{2D00995B-B374-4757-8AA9-AAFC769FD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204" y="5040614"/>
            <a:ext cx="1153325" cy="115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14F59F9D-8854-46E9-A7A7-78496C3D24BF}"/>
              </a:ext>
            </a:extLst>
          </p:cNvPr>
          <p:cNvGrpSpPr/>
          <p:nvPr/>
        </p:nvGrpSpPr>
        <p:grpSpPr>
          <a:xfrm>
            <a:off x="4667479" y="3730954"/>
            <a:ext cx="5685487" cy="925133"/>
            <a:chOff x="3738563" y="3527756"/>
            <a:chExt cx="5685487" cy="925133"/>
          </a:xfrm>
        </p:grpSpPr>
        <p:sp>
          <p:nvSpPr>
            <p:cNvPr id="15" name="Abrir llave 14">
              <a:extLst>
                <a:ext uri="{FF2B5EF4-FFF2-40B4-BE49-F238E27FC236}">
                  <a16:creationId xmlns:a16="http://schemas.microsoft.com/office/drawing/2014/main" id="{3EFA21E2-C623-4FD5-9CF7-40811CBC2854}"/>
                </a:ext>
              </a:extLst>
            </p:cNvPr>
            <p:cNvSpPr/>
            <p:nvPr/>
          </p:nvSpPr>
          <p:spPr>
            <a:xfrm rot="16200000">
              <a:off x="4606348" y="2998848"/>
              <a:ext cx="240870" cy="1804990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BAEC5A5-A6B0-4514-B37D-05D0ADF46588}"/>
                </a:ext>
              </a:extLst>
            </p:cNvPr>
            <p:cNvSpPr txBox="1"/>
            <p:nvPr/>
          </p:nvSpPr>
          <p:spPr>
            <a:xfrm>
              <a:off x="3738563" y="3527756"/>
              <a:ext cx="56854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ea typeface="Roboto" panose="02000000000000000000" pitchFamily="2" charset="0"/>
                </a:rPr>
                <a:t>El computador L1 esta funcionando correctamente</a:t>
              </a:r>
            </a:p>
          </p:txBody>
        </p:sp>
        <p:sp>
          <p:nvSpPr>
            <p:cNvPr id="22" name="Abrir llave 21">
              <a:extLst>
                <a:ext uri="{FF2B5EF4-FFF2-40B4-BE49-F238E27FC236}">
                  <a16:creationId xmlns:a16="http://schemas.microsoft.com/office/drawing/2014/main" id="{03D9A327-0D93-42B3-941F-1B46EA15577F}"/>
                </a:ext>
              </a:extLst>
            </p:cNvPr>
            <p:cNvSpPr/>
            <p:nvPr/>
          </p:nvSpPr>
          <p:spPr>
            <a:xfrm rot="16200000">
              <a:off x="7265818" y="2194230"/>
              <a:ext cx="240871" cy="3410260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27A567C-7213-42F4-A1D4-87528BB170B9}"/>
                </a:ext>
              </a:extLst>
            </p:cNvPr>
            <p:cNvSpPr txBox="1"/>
            <p:nvPr/>
          </p:nvSpPr>
          <p:spPr>
            <a:xfrm>
              <a:off x="4098132" y="4052779"/>
              <a:ext cx="12573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000" b="1" dirty="0">
                  <a:solidFill>
                    <a:schemeClr val="accent5">
                      <a:lumMod val="50000"/>
                    </a:schemeClr>
                  </a:solidFill>
                  <a:ea typeface="Roboto" panose="02000000000000000000" pitchFamily="2" charset="0"/>
                </a:rPr>
                <a:t>Sujeto</a:t>
              </a:r>
              <a:endParaRPr lang="es-CO" sz="20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70EF3F59-1713-455E-AC6F-7B2E0309C01F}"/>
                </a:ext>
              </a:extLst>
            </p:cNvPr>
            <p:cNvSpPr txBox="1"/>
            <p:nvPr/>
          </p:nvSpPr>
          <p:spPr>
            <a:xfrm>
              <a:off x="6726762" y="4025169"/>
              <a:ext cx="12573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000" b="1" dirty="0">
                  <a:solidFill>
                    <a:srgbClr val="C00000"/>
                  </a:solidFill>
                  <a:ea typeface="Roboto" panose="02000000000000000000" pitchFamily="2" charset="0"/>
                </a:rPr>
                <a:t>Predicado</a:t>
              </a:r>
              <a:endParaRPr lang="es-CO" sz="20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C1A167CF-7257-41B6-B666-F303F0F0E65D}"/>
              </a:ext>
            </a:extLst>
          </p:cNvPr>
          <p:cNvGrpSpPr/>
          <p:nvPr/>
        </p:nvGrpSpPr>
        <p:grpSpPr>
          <a:xfrm>
            <a:off x="5091811" y="5125912"/>
            <a:ext cx="4836821" cy="927952"/>
            <a:chOff x="3815165" y="4953898"/>
            <a:chExt cx="4836821" cy="927952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391CBA3-749D-4F17-AC67-DB4EC1D01AF9}"/>
                </a:ext>
              </a:extLst>
            </p:cNvPr>
            <p:cNvSpPr txBox="1"/>
            <p:nvPr/>
          </p:nvSpPr>
          <p:spPr>
            <a:xfrm>
              <a:off x="3815165" y="4953898"/>
              <a:ext cx="4836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ea typeface="Roboto" panose="02000000000000000000" pitchFamily="2" charset="0"/>
                </a:rPr>
                <a:t>El perro de Bart se llama ayudante de Santa</a:t>
              </a:r>
            </a:p>
          </p:txBody>
        </p:sp>
        <p:sp>
          <p:nvSpPr>
            <p:cNvPr id="19" name="Abrir llave 18">
              <a:extLst>
                <a:ext uri="{FF2B5EF4-FFF2-40B4-BE49-F238E27FC236}">
                  <a16:creationId xmlns:a16="http://schemas.microsoft.com/office/drawing/2014/main" id="{2B73FED8-57AF-4534-A227-FE8A248488E7}"/>
                </a:ext>
              </a:extLst>
            </p:cNvPr>
            <p:cNvSpPr/>
            <p:nvPr/>
          </p:nvSpPr>
          <p:spPr>
            <a:xfrm rot="16200000">
              <a:off x="4597871" y="4444606"/>
              <a:ext cx="151712" cy="1708124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Abrir llave 22">
              <a:extLst>
                <a:ext uri="{FF2B5EF4-FFF2-40B4-BE49-F238E27FC236}">
                  <a16:creationId xmlns:a16="http://schemas.microsoft.com/office/drawing/2014/main" id="{EF62A7C7-DF0A-44BE-8AFD-03E5420E8BF9}"/>
                </a:ext>
              </a:extLst>
            </p:cNvPr>
            <p:cNvSpPr/>
            <p:nvPr/>
          </p:nvSpPr>
          <p:spPr>
            <a:xfrm rot="16200000">
              <a:off x="6926487" y="3858575"/>
              <a:ext cx="186264" cy="2902784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05152945-844E-4268-AA30-6E2233CBEE9B}"/>
                </a:ext>
              </a:extLst>
            </p:cNvPr>
            <p:cNvSpPr txBox="1"/>
            <p:nvPr/>
          </p:nvSpPr>
          <p:spPr>
            <a:xfrm>
              <a:off x="4045076" y="5481740"/>
              <a:ext cx="12573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000" b="1" dirty="0">
                  <a:solidFill>
                    <a:schemeClr val="accent5">
                      <a:lumMod val="50000"/>
                    </a:schemeClr>
                  </a:solidFill>
                  <a:ea typeface="Roboto" panose="02000000000000000000" pitchFamily="2" charset="0"/>
                </a:rPr>
                <a:t>Sujeto</a:t>
              </a:r>
              <a:endParaRPr lang="es-CO" sz="20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D2793A61-802B-496D-8F88-A08BBFEFF667}"/>
                </a:ext>
              </a:extLst>
            </p:cNvPr>
            <p:cNvSpPr txBox="1"/>
            <p:nvPr/>
          </p:nvSpPr>
          <p:spPr>
            <a:xfrm>
              <a:off x="6314351" y="5450962"/>
              <a:ext cx="12573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000" b="1" dirty="0">
                  <a:solidFill>
                    <a:srgbClr val="C00000"/>
                  </a:solidFill>
                  <a:ea typeface="Roboto" panose="02000000000000000000" pitchFamily="2" charset="0"/>
                </a:rPr>
                <a:t>Predicado</a:t>
              </a:r>
              <a:endParaRPr lang="es-CO" sz="2000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73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80802F65-F57F-42A1-8833-82BCD59B9EB8}"/>
              </a:ext>
            </a:extLst>
          </p:cNvPr>
          <p:cNvSpPr txBox="1">
            <a:spLocks/>
          </p:cNvSpPr>
          <p:nvPr/>
        </p:nvSpPr>
        <p:spPr>
          <a:xfrm>
            <a:off x="184782" y="2816503"/>
            <a:ext cx="11778617" cy="162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En 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lógica proposicional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, teniendo en cuenta que la unidad fundamental es la proposición, todo lo anterior se representa mediante una proposición.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Solo interesa si lo que se dice es verdadero o falso.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No interesa saber que es cosas como “computador” y “funcionando”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2A954EAB-449E-4831-925A-EF74B784CA4B}"/>
              </a:ext>
            </a:extLst>
          </p:cNvPr>
          <p:cNvGrpSpPr/>
          <p:nvPr/>
        </p:nvGrpSpPr>
        <p:grpSpPr>
          <a:xfrm>
            <a:off x="2136019" y="1461121"/>
            <a:ext cx="7320944" cy="1346527"/>
            <a:chOff x="2828622" y="3454398"/>
            <a:chExt cx="7320944" cy="1346527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B7C72750-039F-49D2-9DA1-108C504860AF}"/>
                </a:ext>
              </a:extLst>
            </p:cNvPr>
            <p:cNvGrpSpPr/>
            <p:nvPr/>
          </p:nvGrpSpPr>
          <p:grpSpPr>
            <a:xfrm>
              <a:off x="2828622" y="3454398"/>
              <a:ext cx="1354572" cy="1346527"/>
              <a:chOff x="1899706" y="3251200"/>
              <a:chExt cx="1354572" cy="1346527"/>
            </a:xfrm>
          </p:grpSpPr>
          <p:pic>
            <p:nvPicPr>
              <p:cNvPr id="10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DFA6BD92-378D-43CA-AAEE-C846C3DE85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75602" y="3251200"/>
                <a:ext cx="1078676" cy="10786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4F6E58D-DEB8-44B3-8E29-6ACCFACE869D}"/>
                  </a:ext>
                </a:extLst>
              </p:cNvPr>
              <p:cNvSpPr txBox="1"/>
              <p:nvPr/>
            </p:nvSpPr>
            <p:spPr>
              <a:xfrm>
                <a:off x="2381388" y="4228395"/>
                <a:ext cx="667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00B050"/>
                    </a:solidFill>
                    <a:ea typeface="Roboto" panose="02000000000000000000" pitchFamily="2" charset="0"/>
                  </a:rPr>
                  <a:t>L1</a:t>
                </a:r>
              </a:p>
            </p:txBody>
          </p:sp>
          <p:pic>
            <p:nvPicPr>
              <p:cNvPr id="12" name="Picture 10" descr="Check Mark Clip Art Icon PNG Transparent Background, Free Download #45005 -  FreeIconsPNG">
                <a:extLst>
                  <a:ext uri="{FF2B5EF4-FFF2-40B4-BE49-F238E27FC236}">
                    <a16:creationId xmlns:a16="http://schemas.microsoft.com/office/drawing/2014/main" id="{0A445767-E2F9-43B8-9686-52526C89C4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99706" y="3347907"/>
                <a:ext cx="238825" cy="2117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14F59F9D-8854-46E9-A7A7-78496C3D24BF}"/>
                </a:ext>
              </a:extLst>
            </p:cNvPr>
            <p:cNvGrpSpPr/>
            <p:nvPr/>
          </p:nvGrpSpPr>
          <p:grpSpPr>
            <a:xfrm>
              <a:off x="4682629" y="3727911"/>
              <a:ext cx="5466937" cy="919904"/>
              <a:chOff x="3753713" y="3524713"/>
              <a:chExt cx="5466937" cy="919904"/>
            </a:xfrm>
          </p:grpSpPr>
          <p:sp>
            <p:nvSpPr>
              <p:cNvPr id="15" name="Abrir llave 14">
                <a:extLst>
                  <a:ext uri="{FF2B5EF4-FFF2-40B4-BE49-F238E27FC236}">
                    <a16:creationId xmlns:a16="http://schemas.microsoft.com/office/drawing/2014/main" id="{3EFA21E2-C623-4FD5-9CF7-40811CBC2854}"/>
                  </a:ext>
                </a:extLst>
              </p:cNvPr>
              <p:cNvSpPr/>
              <p:nvPr/>
            </p:nvSpPr>
            <p:spPr>
              <a:xfrm rot="16200000">
                <a:off x="4484780" y="3120418"/>
                <a:ext cx="228646" cy="1549626"/>
              </a:xfrm>
              <a:prstGeom prst="leftBrace">
                <a:avLst>
                  <a:gd name="adj1" fmla="val 27595"/>
                  <a:gd name="adj2" fmla="val 50000"/>
                </a:avLst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BAEC5A5-A6B0-4514-B37D-05D0ADF46588}"/>
                  </a:ext>
                </a:extLst>
              </p:cNvPr>
              <p:cNvSpPr txBox="1"/>
              <p:nvPr/>
            </p:nvSpPr>
            <p:spPr>
              <a:xfrm>
                <a:off x="3753713" y="3524713"/>
                <a:ext cx="54669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000" dirty="0">
                    <a:ea typeface="Roboto" panose="02000000000000000000" pitchFamily="2" charset="0"/>
                  </a:rPr>
                  <a:t>El computador L1 esta funcionando correctamente</a:t>
                </a:r>
              </a:p>
            </p:txBody>
          </p:sp>
          <p:sp>
            <p:nvSpPr>
              <p:cNvPr id="22" name="Abrir llave 21">
                <a:extLst>
                  <a:ext uri="{FF2B5EF4-FFF2-40B4-BE49-F238E27FC236}">
                    <a16:creationId xmlns:a16="http://schemas.microsoft.com/office/drawing/2014/main" id="{03D9A327-0D93-42B3-941F-1B46EA15577F}"/>
                  </a:ext>
                </a:extLst>
              </p:cNvPr>
              <p:cNvSpPr/>
              <p:nvPr/>
            </p:nvSpPr>
            <p:spPr>
              <a:xfrm rot="16200000">
                <a:off x="7139861" y="2041552"/>
                <a:ext cx="230480" cy="3686172"/>
              </a:xfrm>
              <a:prstGeom prst="leftBrace">
                <a:avLst>
                  <a:gd name="adj1" fmla="val 27595"/>
                  <a:gd name="adj2" fmla="val 50000"/>
                </a:avLst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027A567C-7213-42F4-A1D4-87528BB170B9}"/>
                  </a:ext>
                </a:extLst>
              </p:cNvPr>
              <p:cNvSpPr txBox="1"/>
              <p:nvPr/>
            </p:nvSpPr>
            <p:spPr>
              <a:xfrm>
                <a:off x="3970452" y="4044507"/>
                <a:ext cx="125730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000" b="1" dirty="0">
                    <a:solidFill>
                      <a:srgbClr val="002060"/>
                    </a:solidFill>
                    <a:ea typeface="Roboto" panose="02000000000000000000" pitchFamily="2" charset="0"/>
                  </a:rPr>
                  <a:t>Sujeto</a:t>
                </a:r>
                <a:endParaRPr lang="es-CO" sz="2000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70EF3F59-1713-455E-AC6F-7B2E0309C01F}"/>
                  </a:ext>
                </a:extLst>
              </p:cNvPr>
              <p:cNvSpPr txBox="1"/>
              <p:nvPr/>
            </p:nvSpPr>
            <p:spPr>
              <a:xfrm>
                <a:off x="6626450" y="4044507"/>
                <a:ext cx="125730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000" b="1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Predicado</a:t>
                </a:r>
                <a:endParaRPr lang="es-CO" sz="2000" b="1" dirty="0">
                  <a:solidFill>
                    <a:srgbClr val="C00000"/>
                  </a:solidFill>
                </a:endParaRPr>
              </a:p>
            </p:txBody>
          </p:sp>
        </p:grp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B2B661A0-2782-48E6-9901-41370B37372E}"/>
              </a:ext>
            </a:extLst>
          </p:cNvPr>
          <p:cNvGrpSpPr/>
          <p:nvPr/>
        </p:nvGrpSpPr>
        <p:grpSpPr>
          <a:xfrm>
            <a:off x="2063554" y="4605573"/>
            <a:ext cx="7601709" cy="982636"/>
            <a:chOff x="1871826" y="4812048"/>
            <a:chExt cx="7601709" cy="98263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02EB0077-F72D-4544-B9E6-69D34A3C035E}"/>
                    </a:ext>
                  </a:extLst>
                </p:cNvPr>
                <p:cNvSpPr txBox="1"/>
                <p:nvPr/>
              </p:nvSpPr>
              <p:spPr>
                <a:xfrm>
                  <a:off x="8548253" y="4812048"/>
                  <a:ext cx="925282" cy="43088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02EB0077-F72D-4544-B9E6-69D34A3C0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8253" y="4812048"/>
                  <a:ext cx="925282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E878C292-EA1C-4AF9-8C11-3C1A736DEFF0}"/>
                </a:ext>
              </a:extLst>
            </p:cNvPr>
            <p:cNvGrpSpPr/>
            <p:nvPr/>
          </p:nvGrpSpPr>
          <p:grpSpPr>
            <a:xfrm>
              <a:off x="1871826" y="4812048"/>
              <a:ext cx="5466937" cy="982636"/>
              <a:chOff x="1827582" y="5180758"/>
              <a:chExt cx="5466937" cy="982636"/>
            </a:xfrm>
          </p:grpSpPr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C79FD4BF-8AFB-4F43-9BAF-D7B3B9A5CA79}"/>
                  </a:ext>
                </a:extLst>
              </p:cNvPr>
              <p:cNvSpPr txBox="1"/>
              <p:nvPr/>
            </p:nvSpPr>
            <p:spPr>
              <a:xfrm>
                <a:off x="1827582" y="5180758"/>
                <a:ext cx="54669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000" dirty="0">
                    <a:ea typeface="Roboto" panose="02000000000000000000" pitchFamily="2" charset="0"/>
                  </a:rPr>
                  <a:t>El computador L1 esta funcionando correctamente</a:t>
                </a:r>
              </a:p>
            </p:txBody>
          </p:sp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C365A5D5-2045-4D2F-94AC-ECF77A1B20C8}"/>
                  </a:ext>
                </a:extLst>
              </p:cNvPr>
              <p:cNvGrpSpPr/>
              <p:nvPr/>
            </p:nvGrpSpPr>
            <p:grpSpPr>
              <a:xfrm>
                <a:off x="1827584" y="5468572"/>
                <a:ext cx="5346897" cy="694822"/>
                <a:chOff x="1827584" y="5468572"/>
                <a:chExt cx="5346897" cy="694822"/>
              </a:xfrm>
            </p:grpSpPr>
            <p:sp>
              <p:nvSpPr>
                <p:cNvPr id="30" name="Abrir llave 29">
                  <a:extLst>
                    <a:ext uri="{FF2B5EF4-FFF2-40B4-BE49-F238E27FC236}">
                      <a16:creationId xmlns:a16="http://schemas.microsoft.com/office/drawing/2014/main" id="{A08D9099-4EC6-4EBB-8431-2F4AD3E065D3}"/>
                    </a:ext>
                  </a:extLst>
                </p:cNvPr>
                <p:cNvSpPr/>
                <p:nvPr/>
              </p:nvSpPr>
              <p:spPr>
                <a:xfrm rot="16200000">
                  <a:off x="4388615" y="2907541"/>
                  <a:ext cx="224835" cy="5346897"/>
                </a:xfrm>
                <a:prstGeom prst="leftBrace">
                  <a:avLst>
                    <a:gd name="adj1" fmla="val 27595"/>
                    <a:gd name="adj2" fmla="val 50000"/>
                  </a:avLst>
                </a:prstGeom>
                <a:ln w="190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9540B21A-BFCF-41BB-9354-CBD16626B15C}"/>
                    </a:ext>
                  </a:extLst>
                </p:cNvPr>
                <p:cNvSpPr txBox="1"/>
                <p:nvPr/>
              </p:nvSpPr>
              <p:spPr>
                <a:xfrm>
                  <a:off x="3563897" y="5763284"/>
                  <a:ext cx="184845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s-MX" sz="2000" b="1" dirty="0">
                      <a:solidFill>
                        <a:srgbClr val="002060"/>
                      </a:solidFill>
                      <a:ea typeface="Roboto" panose="02000000000000000000" pitchFamily="2" charset="0"/>
                    </a:rPr>
                    <a:t>Proposición</a:t>
                  </a:r>
                  <a:endParaRPr lang="es-CO" sz="2000" b="1" dirty="0">
                    <a:solidFill>
                      <a:srgbClr val="002060"/>
                    </a:solidFill>
                  </a:endParaRPr>
                </a:p>
              </p:txBody>
            </p:sp>
          </p:grpSp>
        </p:grp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0839D51F-A5EB-4067-AE14-19121028F1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2306" y="4996714"/>
              <a:ext cx="958213" cy="11228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EEACEF6-2844-4F8B-90EA-41C0993BB6A5}"/>
              </a:ext>
            </a:extLst>
          </p:cNvPr>
          <p:cNvSpPr txBox="1"/>
          <p:nvPr/>
        </p:nvSpPr>
        <p:spPr>
          <a:xfrm>
            <a:off x="293366" y="5700748"/>
            <a:ext cx="11504934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2200" b="1" dirty="0">
                <a:ea typeface="Roboto" panose="02000000000000000000" pitchFamily="2" charset="0"/>
              </a:rPr>
              <a:t>Conclusión</a:t>
            </a:r>
            <a:r>
              <a:rPr lang="es-MX" sz="2200" dirty="0">
                <a:ea typeface="Roboto" panose="02000000000000000000" pitchFamily="2" charset="0"/>
              </a:rPr>
              <a:t>:</a:t>
            </a:r>
            <a:r>
              <a:rPr lang="es-MX" sz="2200" b="1" dirty="0">
                <a:ea typeface="Roboto" panose="02000000000000000000" pitchFamily="2" charset="0"/>
              </a:rPr>
              <a:t> </a:t>
            </a:r>
            <a:r>
              <a:rPr lang="es-MX" sz="2200" dirty="0">
                <a:ea typeface="Roboto" panose="02000000000000000000" pitchFamily="2" charset="0"/>
              </a:rPr>
              <a:t>La lógica proposicional se queda corta en representar la realidad por lo que se necesita otro tipo de lógica: </a:t>
            </a:r>
            <a:r>
              <a:rPr lang="es-MX" sz="2200" b="1" dirty="0">
                <a:ea typeface="Roboto" panose="02000000000000000000" pitchFamily="2" charset="0"/>
              </a:rPr>
              <a:t>La lógica de predicados</a:t>
            </a:r>
            <a:r>
              <a:rPr lang="es-MX" sz="2200" dirty="0">
                <a:ea typeface="Roboto" panose="02000000000000000000" pitchFamily="2" charset="0"/>
              </a:rPr>
              <a:t>. </a:t>
            </a:r>
          </a:p>
        </p:txBody>
      </p:sp>
      <p:sp>
        <p:nvSpPr>
          <p:cNvPr id="28" name="Google Shape;208;p26">
            <a:extLst>
              <a:ext uri="{FF2B5EF4-FFF2-40B4-BE49-F238E27FC236}">
                <a16:creationId xmlns:a16="http://schemas.microsoft.com/office/drawing/2014/main" id="{CB33CF75-7140-4D05-9F20-7EA75A4609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4891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Sujeto y predicado (Lenguaje Natural)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8075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629063" y="204828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Lógica de predicados (Lógica cuantificacional)</a:t>
            </a:r>
            <a:endParaRPr dirty="0"/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80802F65-F57F-42A1-8833-82BCD59B9EB8}"/>
              </a:ext>
            </a:extLst>
          </p:cNvPr>
          <p:cNvSpPr txBox="1">
            <a:spLocks/>
          </p:cNvSpPr>
          <p:nvPr/>
        </p:nvSpPr>
        <p:spPr>
          <a:xfrm>
            <a:off x="247650" y="2776122"/>
            <a:ext cx="11063992" cy="143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En 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lógica de predicados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se separa el sujeto del predicado y se modelan formalmente:</a:t>
            </a:r>
          </a:p>
          <a:p>
            <a:r>
              <a:rPr lang="es-MX" sz="2200" b="1" dirty="0">
                <a:latin typeface="+mn-lt"/>
                <a:ea typeface="Roboto" panose="02000000000000000000" pitchFamily="2" charset="0"/>
              </a:rPr>
              <a:t>Sujeto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: Se representa como un </a:t>
            </a:r>
            <a:r>
              <a:rPr lang="es-MX" sz="2200" b="1" i="1" dirty="0">
                <a:latin typeface="+mn-lt"/>
                <a:ea typeface="Roboto" panose="02000000000000000000" pitchFamily="2" charset="0"/>
              </a:rPr>
              <a:t>objeto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o </a:t>
            </a:r>
            <a:r>
              <a:rPr lang="es-MX" sz="2200" b="1" i="1" dirty="0">
                <a:latin typeface="+mn-lt"/>
                <a:ea typeface="Roboto" panose="02000000000000000000" pitchFamily="2" charset="0"/>
              </a:rPr>
              <a:t>individuo</a:t>
            </a:r>
          </a:p>
          <a:p>
            <a:r>
              <a:rPr lang="es-MX" sz="2200" b="1" dirty="0">
                <a:latin typeface="+mn-lt"/>
                <a:ea typeface="Roboto" panose="02000000000000000000" pitchFamily="2" charset="0"/>
              </a:rPr>
              <a:t>Predicado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: Se representa como una </a:t>
            </a:r>
            <a:r>
              <a:rPr lang="es-MX" sz="2200" b="1" i="1" dirty="0">
                <a:latin typeface="+mn-lt"/>
                <a:ea typeface="Roboto" panose="02000000000000000000" pitchFamily="2" charset="0"/>
              </a:rPr>
              <a:t>propiedad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o </a:t>
            </a:r>
            <a:r>
              <a:rPr lang="es-MX" sz="2200" b="1" i="1" dirty="0">
                <a:latin typeface="+mn-lt"/>
                <a:ea typeface="Roboto" panose="02000000000000000000" pitchFamily="2" charset="0"/>
              </a:rPr>
              <a:t>relación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2EB0077-F72D-4544-B9E6-69D34A3C035E}"/>
                  </a:ext>
                </a:extLst>
              </p:cNvPr>
              <p:cNvSpPr txBox="1"/>
              <p:nvPr/>
            </p:nvSpPr>
            <p:spPr>
              <a:xfrm>
                <a:off x="1422877" y="6176179"/>
                <a:ext cx="203015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𝑓𝑢𝑛𝑐𝑖𝑜𝑛𝑎</m:t>
                      </m:r>
                      <m:d>
                        <m:dPr>
                          <m:ctrlPr>
                            <a:rPr lang="es-MX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CO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2EB0077-F72D-4544-B9E6-69D34A3C0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877" y="6176179"/>
                <a:ext cx="2030151" cy="307777"/>
              </a:xfrm>
              <a:prstGeom prst="rect">
                <a:avLst/>
              </a:prstGeom>
              <a:blipFill>
                <a:blip r:embed="rId3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839D51F-A5EB-4067-AE14-19121028F1C9}"/>
              </a:ext>
            </a:extLst>
          </p:cNvPr>
          <p:cNvCxnSpPr>
            <a:cxnSpLocks/>
          </p:cNvCxnSpPr>
          <p:nvPr/>
        </p:nvCxnSpPr>
        <p:spPr>
          <a:xfrm>
            <a:off x="2437953" y="4737100"/>
            <a:ext cx="36950" cy="13684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543BC2AF-00E2-49F9-9171-4151A4FAA7EB}"/>
                  </a:ext>
                </a:extLst>
              </p:cNvPr>
              <p:cNvSpPr txBox="1"/>
              <p:nvPr/>
            </p:nvSpPr>
            <p:spPr>
              <a:xfrm>
                <a:off x="2474903" y="5256894"/>
                <a:ext cx="839629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- Objeto</a:t>
                </a:r>
                <a:r>
                  <a:rPr lang="es-CO" sz="20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 </a:t>
                </a:r>
                <a:r>
                  <a:rPr lang="es-CO" sz="2000" dirty="0">
                    <a:solidFill>
                      <a:schemeClr val="tx1"/>
                    </a:solidFill>
                    <a:ea typeface="Roboto" panose="02000000000000000000" pitchFamily="2" charset="0"/>
                    <a:sym typeface="Wingdings" panose="05000000000000000000" pitchFamily="2" charset="2"/>
                  </a:rPr>
                  <a:t>-</a:t>
                </a:r>
                <a:r>
                  <a:rPr lang="es-CO" sz="20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𝑳</m:t>
                    </m:r>
                    <m:r>
                      <a:rPr lang="es-MX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𝟏</m:t>
                    </m:r>
                  </m:oMath>
                </a14:m>
                <a:r>
                  <a:rPr lang="es-CO" sz="20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: Computador L1</a:t>
                </a:r>
              </a:p>
              <a:p>
                <a:r>
                  <a:rPr lang="es-CO" sz="2000" b="1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- Predicado</a:t>
                </a:r>
                <a:r>
                  <a:rPr lang="es-CO" sz="20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 - </a:t>
                </a:r>
                <a14:m>
                  <m:oMath xmlns:m="http://schemas.openxmlformats.org/officeDocument/2006/math">
                    <m:r>
                      <a:rPr lang="es-MX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𝒇𝒖𝒏𝒄𝒊𝒐𝒏𝒂</m:t>
                    </m:r>
                    <m:d>
                      <m:dPr>
                        <m:ctrlP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s-CO" sz="20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CO" sz="20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 esta funcionando correctamente</a:t>
                </a:r>
              </a:p>
            </p:txBody>
          </p:sp>
        </mc:Choice>
        <mc:Fallback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543BC2AF-00E2-49F9-9171-4151A4FAA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903" y="5256894"/>
                <a:ext cx="8396297" cy="707886"/>
              </a:xfrm>
              <a:prstGeom prst="rect">
                <a:avLst/>
              </a:prstGeom>
              <a:blipFill>
                <a:blip r:embed="rId4"/>
                <a:stretch>
                  <a:fillRect l="-799" t="-4310" b="-1465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upo 23">
            <a:extLst>
              <a:ext uri="{FF2B5EF4-FFF2-40B4-BE49-F238E27FC236}">
                <a16:creationId xmlns:a16="http://schemas.microsoft.com/office/drawing/2014/main" id="{299F362D-B5DF-4C08-A835-6CB1C065C404}"/>
              </a:ext>
            </a:extLst>
          </p:cNvPr>
          <p:cNvGrpSpPr/>
          <p:nvPr/>
        </p:nvGrpSpPr>
        <p:grpSpPr>
          <a:xfrm>
            <a:off x="2136019" y="1432093"/>
            <a:ext cx="7320944" cy="1346527"/>
            <a:chOff x="2828622" y="3454398"/>
            <a:chExt cx="7320944" cy="1346527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89BA420B-23D4-4B9B-A0F6-2A3FDC677CDB}"/>
                </a:ext>
              </a:extLst>
            </p:cNvPr>
            <p:cNvGrpSpPr/>
            <p:nvPr/>
          </p:nvGrpSpPr>
          <p:grpSpPr>
            <a:xfrm>
              <a:off x="2828622" y="3454398"/>
              <a:ext cx="1354572" cy="1346527"/>
              <a:chOff x="1899706" y="3251200"/>
              <a:chExt cx="1354572" cy="1346527"/>
            </a:xfrm>
          </p:grpSpPr>
          <p:pic>
            <p:nvPicPr>
              <p:cNvPr id="40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730DDE98-E46B-4E29-821B-82AD802685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75602" y="3251200"/>
                <a:ext cx="1078676" cy="10786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5437881-D1A4-486B-9237-B6D97420FC85}"/>
                  </a:ext>
                </a:extLst>
              </p:cNvPr>
              <p:cNvSpPr txBox="1"/>
              <p:nvPr/>
            </p:nvSpPr>
            <p:spPr>
              <a:xfrm>
                <a:off x="2381388" y="4228395"/>
                <a:ext cx="667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00B050"/>
                    </a:solidFill>
                    <a:ea typeface="Roboto" panose="02000000000000000000" pitchFamily="2" charset="0"/>
                  </a:rPr>
                  <a:t>L1</a:t>
                </a:r>
              </a:p>
            </p:txBody>
          </p:sp>
          <p:pic>
            <p:nvPicPr>
              <p:cNvPr id="42" name="Picture 10" descr="Check Mark Clip Art Icon PNG Transparent Background, Free Download #45005 -  FreeIconsPNG">
                <a:extLst>
                  <a:ext uri="{FF2B5EF4-FFF2-40B4-BE49-F238E27FC236}">
                    <a16:creationId xmlns:a16="http://schemas.microsoft.com/office/drawing/2014/main" id="{34654E6C-42D6-4B3F-A8AC-565E33FA16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99706" y="3347907"/>
                <a:ext cx="238825" cy="2117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56DE4E9A-2829-488E-88EA-6FF9EB95A08E}"/>
                </a:ext>
              </a:extLst>
            </p:cNvPr>
            <p:cNvGrpSpPr/>
            <p:nvPr/>
          </p:nvGrpSpPr>
          <p:grpSpPr>
            <a:xfrm>
              <a:off x="4682629" y="3727911"/>
              <a:ext cx="5466937" cy="919904"/>
              <a:chOff x="3753713" y="3524713"/>
              <a:chExt cx="5466937" cy="919904"/>
            </a:xfrm>
          </p:grpSpPr>
          <p:sp>
            <p:nvSpPr>
              <p:cNvPr id="29" name="Abrir llave 28">
                <a:extLst>
                  <a:ext uri="{FF2B5EF4-FFF2-40B4-BE49-F238E27FC236}">
                    <a16:creationId xmlns:a16="http://schemas.microsoft.com/office/drawing/2014/main" id="{2D9C88EA-976E-4192-B3C3-B2E45A9D27E4}"/>
                  </a:ext>
                </a:extLst>
              </p:cNvPr>
              <p:cNvSpPr/>
              <p:nvPr/>
            </p:nvSpPr>
            <p:spPr>
              <a:xfrm rot="16200000">
                <a:off x="4484780" y="3120418"/>
                <a:ext cx="228646" cy="1549626"/>
              </a:xfrm>
              <a:prstGeom prst="leftBrace">
                <a:avLst>
                  <a:gd name="adj1" fmla="val 27595"/>
                  <a:gd name="adj2" fmla="val 50000"/>
                </a:avLst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E567BDDE-0FF1-45EC-9F94-FC6467F7E9F4}"/>
                  </a:ext>
                </a:extLst>
              </p:cNvPr>
              <p:cNvSpPr txBox="1"/>
              <p:nvPr/>
            </p:nvSpPr>
            <p:spPr>
              <a:xfrm>
                <a:off x="3753713" y="3524713"/>
                <a:ext cx="54669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000" dirty="0">
                    <a:ea typeface="Roboto" panose="02000000000000000000" pitchFamily="2" charset="0"/>
                  </a:rPr>
                  <a:t>El computador L1 esta funcionando correctamente</a:t>
                </a:r>
              </a:p>
            </p:txBody>
          </p:sp>
          <p:sp>
            <p:nvSpPr>
              <p:cNvPr id="31" name="Abrir llave 30">
                <a:extLst>
                  <a:ext uri="{FF2B5EF4-FFF2-40B4-BE49-F238E27FC236}">
                    <a16:creationId xmlns:a16="http://schemas.microsoft.com/office/drawing/2014/main" id="{1B44BF7C-201E-40A3-8730-C6C5C8F20469}"/>
                  </a:ext>
                </a:extLst>
              </p:cNvPr>
              <p:cNvSpPr/>
              <p:nvPr/>
            </p:nvSpPr>
            <p:spPr>
              <a:xfrm rot="16200000">
                <a:off x="7139861" y="2041552"/>
                <a:ext cx="230480" cy="3686172"/>
              </a:xfrm>
              <a:prstGeom prst="leftBrace">
                <a:avLst>
                  <a:gd name="adj1" fmla="val 27595"/>
                  <a:gd name="adj2" fmla="val 50000"/>
                </a:avLst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1E2F058-115D-4DE0-854B-6C036A820B63}"/>
                  </a:ext>
                </a:extLst>
              </p:cNvPr>
              <p:cNvSpPr txBox="1"/>
              <p:nvPr/>
            </p:nvSpPr>
            <p:spPr>
              <a:xfrm>
                <a:off x="3970452" y="4044507"/>
                <a:ext cx="125730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000" b="1" dirty="0">
                    <a:solidFill>
                      <a:srgbClr val="002060"/>
                    </a:solidFill>
                    <a:ea typeface="Roboto" panose="02000000000000000000" pitchFamily="2" charset="0"/>
                  </a:rPr>
                  <a:t>Sujeto</a:t>
                </a:r>
                <a:endParaRPr lang="es-CO" sz="2000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B2BC2897-5497-4B0B-8583-E26C24D153FA}"/>
                  </a:ext>
                </a:extLst>
              </p:cNvPr>
              <p:cNvSpPr txBox="1"/>
              <p:nvPr/>
            </p:nvSpPr>
            <p:spPr>
              <a:xfrm>
                <a:off x="6626450" y="4044507"/>
                <a:ext cx="125730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000" b="1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Predicado</a:t>
                </a:r>
                <a:endParaRPr lang="es-CO" sz="2000" b="1" dirty="0">
                  <a:solidFill>
                    <a:srgbClr val="C00000"/>
                  </a:solidFill>
                </a:endParaRPr>
              </a:p>
            </p:txBody>
          </p:sp>
        </p:grp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1B14E39-7CB7-4C9E-AD4C-D797B522FEA2}"/>
              </a:ext>
            </a:extLst>
          </p:cNvPr>
          <p:cNvGrpSpPr/>
          <p:nvPr/>
        </p:nvGrpSpPr>
        <p:grpSpPr>
          <a:xfrm>
            <a:off x="806925" y="4256311"/>
            <a:ext cx="5466937" cy="919904"/>
            <a:chOff x="3753713" y="3524713"/>
            <a:chExt cx="5466937" cy="919904"/>
          </a:xfrm>
        </p:grpSpPr>
        <p:sp>
          <p:nvSpPr>
            <p:cNvPr id="47" name="Abrir llave 46">
              <a:extLst>
                <a:ext uri="{FF2B5EF4-FFF2-40B4-BE49-F238E27FC236}">
                  <a16:creationId xmlns:a16="http://schemas.microsoft.com/office/drawing/2014/main" id="{C2527F15-87C8-4898-8233-036A33272BF0}"/>
                </a:ext>
              </a:extLst>
            </p:cNvPr>
            <p:cNvSpPr/>
            <p:nvPr/>
          </p:nvSpPr>
          <p:spPr>
            <a:xfrm rot="16200000">
              <a:off x="4484780" y="3120418"/>
              <a:ext cx="228646" cy="1549626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DCF6A9C3-E05C-4CE0-8DA6-D40BC1554D6C}"/>
                </a:ext>
              </a:extLst>
            </p:cNvPr>
            <p:cNvSpPr txBox="1"/>
            <p:nvPr/>
          </p:nvSpPr>
          <p:spPr>
            <a:xfrm>
              <a:off x="3753713" y="3524713"/>
              <a:ext cx="54669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ea typeface="Roboto" panose="02000000000000000000" pitchFamily="2" charset="0"/>
                </a:rPr>
                <a:t>El computador L1 esta funcionando correctamente</a:t>
              </a:r>
            </a:p>
          </p:txBody>
        </p:sp>
        <p:sp>
          <p:nvSpPr>
            <p:cNvPr id="49" name="Abrir llave 48">
              <a:extLst>
                <a:ext uri="{FF2B5EF4-FFF2-40B4-BE49-F238E27FC236}">
                  <a16:creationId xmlns:a16="http://schemas.microsoft.com/office/drawing/2014/main" id="{2BADB141-4B47-41F4-A020-275EF29887D5}"/>
                </a:ext>
              </a:extLst>
            </p:cNvPr>
            <p:cNvSpPr/>
            <p:nvPr/>
          </p:nvSpPr>
          <p:spPr>
            <a:xfrm rot="16200000">
              <a:off x="7139861" y="2041552"/>
              <a:ext cx="230480" cy="3686172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9D735934-3571-4BB9-B906-6C8B73E8F662}"/>
                </a:ext>
              </a:extLst>
            </p:cNvPr>
            <p:cNvSpPr txBox="1"/>
            <p:nvPr/>
          </p:nvSpPr>
          <p:spPr>
            <a:xfrm>
              <a:off x="3970452" y="4044507"/>
              <a:ext cx="12573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000" b="1" dirty="0">
                  <a:solidFill>
                    <a:srgbClr val="002060"/>
                  </a:solidFill>
                  <a:ea typeface="Roboto" panose="02000000000000000000" pitchFamily="2" charset="0"/>
                </a:rPr>
                <a:t>Sujeto</a:t>
              </a:r>
              <a:endParaRPr lang="es-CO" sz="2000" b="1" dirty="0">
                <a:solidFill>
                  <a:srgbClr val="002060"/>
                </a:solidFill>
              </a:endParaRP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6FA55031-E054-48A8-B348-29EA7FCB9E35}"/>
                </a:ext>
              </a:extLst>
            </p:cNvPr>
            <p:cNvSpPr txBox="1"/>
            <p:nvPr/>
          </p:nvSpPr>
          <p:spPr>
            <a:xfrm>
              <a:off x="6626450" y="4044507"/>
              <a:ext cx="12573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000" b="1" dirty="0">
                  <a:solidFill>
                    <a:srgbClr val="C00000"/>
                  </a:solidFill>
                  <a:ea typeface="Roboto" panose="02000000000000000000" pitchFamily="2" charset="0"/>
                </a:rPr>
                <a:t>Predicado</a:t>
              </a:r>
              <a:endParaRPr lang="es-CO" sz="2000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5043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80802F65-F57F-42A1-8833-82BCD59B9EB8}"/>
              </a:ext>
            </a:extLst>
          </p:cNvPr>
          <p:cNvSpPr txBox="1">
            <a:spLocks/>
          </p:cNvSpPr>
          <p:nvPr/>
        </p:nvSpPr>
        <p:spPr>
          <a:xfrm>
            <a:off x="215181" y="1219200"/>
            <a:ext cx="10890782" cy="15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La separación del sujeto del predicado posibilita: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Hablar de uno o varios individuos.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Definir reglas generales.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Realizar inferencias lógicas mas potentes.</a:t>
            </a:r>
          </a:p>
        </p:txBody>
      </p:sp>
      <p:graphicFrame>
        <p:nvGraphicFramePr>
          <p:cNvPr id="30" name="Tabla 3">
            <a:extLst>
              <a:ext uri="{FF2B5EF4-FFF2-40B4-BE49-F238E27FC236}">
                <a16:creationId xmlns:a16="http://schemas.microsoft.com/office/drawing/2014/main" id="{F8C4CC28-8D07-440D-973B-E0BF3419E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3574"/>
              </p:ext>
            </p:extLst>
          </p:nvPr>
        </p:nvGraphicFramePr>
        <p:xfrm>
          <a:off x="323382" y="3259710"/>
          <a:ext cx="11545235" cy="3291840"/>
        </p:xfrm>
        <a:graphic>
          <a:graphicData uri="http://schemas.openxmlformats.org/drawingml/2006/table">
            <a:tbl>
              <a:tblPr firstRow="1" bandRow="1">
                <a:tableStyleId>{AD6A3598-7CB8-4345-8D95-17CE05F158A0}</a:tableStyleId>
              </a:tblPr>
              <a:tblGrid>
                <a:gridCol w="4748705">
                  <a:extLst>
                    <a:ext uri="{9D8B030D-6E8A-4147-A177-3AD203B41FA5}">
                      <a16:colId xmlns:a16="http://schemas.microsoft.com/office/drawing/2014/main" val="2057099001"/>
                    </a:ext>
                  </a:extLst>
                </a:gridCol>
                <a:gridCol w="2896256">
                  <a:extLst>
                    <a:ext uri="{9D8B030D-6E8A-4147-A177-3AD203B41FA5}">
                      <a16:colId xmlns:a16="http://schemas.microsoft.com/office/drawing/2014/main" val="2721384015"/>
                    </a:ext>
                  </a:extLst>
                </a:gridCol>
                <a:gridCol w="3900274">
                  <a:extLst>
                    <a:ext uri="{9D8B030D-6E8A-4147-A177-3AD203B41FA5}">
                      <a16:colId xmlns:a16="http://schemas.microsoft.com/office/drawing/2014/main" val="3804441368"/>
                    </a:ext>
                  </a:extLst>
                </a:gridCol>
              </a:tblGrid>
              <a:tr h="249048">
                <a:tc>
                  <a:txBody>
                    <a:bodyPr/>
                    <a:lstStyle/>
                    <a:p>
                      <a:r>
                        <a:rPr lang="es-CO" sz="2000" b="1" dirty="0">
                          <a:solidFill>
                            <a:schemeClr val="bg1"/>
                          </a:solidFill>
                          <a:latin typeface="+mn-lt"/>
                          <a:ea typeface="Roboto" panose="02000000000000000000" pitchFamily="2" charset="0"/>
                        </a:rPr>
                        <a:t>Enunciado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>
                          <a:solidFill>
                            <a:schemeClr val="bg1"/>
                          </a:solidFill>
                          <a:latin typeface="+mn-lt"/>
                          <a:ea typeface="Roboto" panose="02000000000000000000" pitchFamily="2" charset="0"/>
                        </a:rPr>
                        <a:t>Sujeto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>
                          <a:solidFill>
                            <a:schemeClr val="bg1"/>
                          </a:solidFill>
                          <a:latin typeface="+mn-lt"/>
                          <a:ea typeface="Roboto" panose="02000000000000000000" pitchFamily="2" charset="0"/>
                        </a:rPr>
                        <a:t>Predicado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282906"/>
                  </a:ext>
                </a:extLst>
              </a:tr>
              <a:tr h="4301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Todos los computadores del LIS están funcionando correctamente</a:t>
                      </a:r>
                      <a:endParaRPr lang="es-CO" sz="200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u="sng" dirty="0">
                          <a:solidFill>
                            <a:srgbClr val="C00000"/>
                          </a:solidFill>
                          <a:latin typeface="+mn-lt"/>
                          <a:ea typeface="Roboto" panose="02000000000000000000" pitchFamily="2" charset="0"/>
                        </a:rPr>
                        <a:t>Todos</a:t>
                      </a: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 los computadores del LIS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están funcionando correctamente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829917"/>
                  </a:ext>
                </a:extLst>
              </a:tr>
              <a:tr h="249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El computador L1 esta funcionando correctamente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El computador L1</a:t>
                      </a:r>
                      <a:endParaRPr lang="es-MX" sz="2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esta funcionando correctamente</a:t>
                      </a:r>
                      <a:endParaRPr lang="es-MX" sz="2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296453"/>
                  </a:ext>
                </a:extLst>
              </a:tr>
              <a:tr h="249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El computador L4 tiene el sistema operativo malo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El computador L4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tiene el sistema operativo malo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990816"/>
                  </a:ext>
                </a:extLst>
              </a:tr>
              <a:tr h="249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El computador L5 tiene un virus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El computador L5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tiene un virus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287454"/>
                  </a:ext>
                </a:extLst>
              </a:tr>
              <a:tr h="249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El computador L7 no tiene teclado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El computador L7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2000" dirty="0">
                          <a:latin typeface="+mn-lt"/>
                          <a:ea typeface="Roboto" panose="02000000000000000000" pitchFamily="2" charset="0"/>
                        </a:rPr>
                        <a:t>no tiene teclado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503458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4C3D7DD2-65DA-422C-8B78-9C812AA7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057275"/>
          </a:xfrm>
        </p:spPr>
        <p:txBody>
          <a:bodyPr/>
          <a:lstStyle/>
          <a:p>
            <a:r>
              <a:rPr lang="es-ES" dirty="0"/>
              <a:t>Lógica de predicados (Lógica cuantificacional)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46269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310;p34">
            <a:extLst>
              <a:ext uri="{FF2B5EF4-FFF2-40B4-BE49-F238E27FC236}">
                <a16:creationId xmlns:a16="http://schemas.microsoft.com/office/drawing/2014/main" id="{6BB4C882-7357-4179-87B0-EF46F79A1455}"/>
              </a:ext>
            </a:extLst>
          </p:cNvPr>
          <p:cNvSpPr txBox="1">
            <a:spLocks/>
          </p:cNvSpPr>
          <p:nvPr/>
        </p:nvSpPr>
        <p:spPr>
          <a:xfrm>
            <a:off x="448424" y="1148749"/>
            <a:ext cx="10890782" cy="542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En lógica de predicados es necesario tener claridad con los siguientes conceptos claves: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Google Shape;310;p34">
                <a:extLst>
                  <a:ext uri="{FF2B5EF4-FFF2-40B4-BE49-F238E27FC236}">
                    <a16:creationId xmlns:a16="http://schemas.microsoft.com/office/drawing/2014/main" id="{0BF292DE-7B79-4AF4-BAB9-9C18AFB9B6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085" y="1636804"/>
                <a:ext cx="6058198" cy="49196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Universo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Todos los computadores del LIS: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𝐿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1, 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𝐿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2, 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𝐿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3,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𝐿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4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𝐿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5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𝐿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6, 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𝐿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7, 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𝐿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Variable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Un computador cualquiera del LIS: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b="1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3" name="Google Shape;310;p34">
                <a:extLst>
                  <a:ext uri="{FF2B5EF4-FFF2-40B4-BE49-F238E27FC236}">
                    <a16:creationId xmlns:a16="http://schemas.microsoft.com/office/drawing/2014/main" id="{0BF292DE-7B79-4AF4-BAB9-9C18AFB9B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85" y="1636804"/>
                <a:ext cx="6058198" cy="49196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Google Shape;310;p34">
                <a:extLst>
                  <a:ext uri="{FF2B5EF4-FFF2-40B4-BE49-F238E27FC236}">
                    <a16:creationId xmlns:a16="http://schemas.microsoft.com/office/drawing/2014/main" id="{6CD6DC6E-EB7C-405D-9CE4-0539801CAA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5283" y="1687604"/>
                <a:ext cx="5228293" cy="49196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Individuo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Computadores específicos: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𝐿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𝐿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o cualquier otro.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Predicado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El computador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funciona correctamente: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𝑓𝑢𝑛𝑐𝑖𝑜𝑛𝑎</m:t>
                    </m:r>
                    <m:r>
                      <a:rPr lang="es-MX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</a:t>
                </a:r>
              </a:p>
              <a:p>
                <a:pPr marL="127000" indent="0">
                  <a:buNone/>
                </a:pPr>
                <a:endParaRPr lang="es-MX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84" name="Google Shape;310;p34">
                <a:extLst>
                  <a:ext uri="{FF2B5EF4-FFF2-40B4-BE49-F238E27FC236}">
                    <a16:creationId xmlns:a16="http://schemas.microsoft.com/office/drawing/2014/main" id="{6CD6DC6E-EB7C-405D-9CE4-0539801CA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283" y="1687604"/>
                <a:ext cx="5228293" cy="49196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Grupo 84">
            <a:extLst>
              <a:ext uri="{FF2B5EF4-FFF2-40B4-BE49-F238E27FC236}">
                <a16:creationId xmlns:a16="http://schemas.microsoft.com/office/drawing/2014/main" id="{9FC570A8-B931-44DE-A8CD-E57C2AED9406}"/>
              </a:ext>
            </a:extLst>
          </p:cNvPr>
          <p:cNvGrpSpPr/>
          <p:nvPr/>
        </p:nvGrpSpPr>
        <p:grpSpPr>
          <a:xfrm>
            <a:off x="1627530" y="2516147"/>
            <a:ext cx="4318000" cy="2101234"/>
            <a:chOff x="1587500" y="3727483"/>
            <a:chExt cx="4318000" cy="2101234"/>
          </a:xfrm>
        </p:grpSpPr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3F75694F-167C-4B15-9F11-E445BBEB257E}"/>
                </a:ext>
              </a:extLst>
            </p:cNvPr>
            <p:cNvGrpSpPr/>
            <p:nvPr/>
          </p:nvGrpSpPr>
          <p:grpSpPr>
            <a:xfrm>
              <a:off x="1755858" y="3905934"/>
              <a:ext cx="3907510" cy="1866458"/>
              <a:chOff x="1916341" y="2629078"/>
              <a:chExt cx="3907510" cy="1866458"/>
            </a:xfrm>
          </p:grpSpPr>
          <p:grpSp>
            <p:nvGrpSpPr>
              <p:cNvPr id="88" name="Grupo 87">
                <a:extLst>
                  <a:ext uri="{FF2B5EF4-FFF2-40B4-BE49-F238E27FC236}">
                    <a16:creationId xmlns:a16="http://schemas.microsoft.com/office/drawing/2014/main" id="{B1A92B87-4725-4887-B367-4D8055455512}"/>
                  </a:ext>
                </a:extLst>
              </p:cNvPr>
              <p:cNvGrpSpPr/>
              <p:nvPr/>
            </p:nvGrpSpPr>
            <p:grpSpPr>
              <a:xfrm>
                <a:off x="1916341" y="2629078"/>
                <a:ext cx="667104" cy="890288"/>
                <a:chOff x="1916341" y="2629078"/>
                <a:chExt cx="667104" cy="890288"/>
              </a:xfrm>
            </p:grpSpPr>
            <p:pic>
              <p:nvPicPr>
                <p:cNvPr id="110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6CCE2B71-801C-4AAE-B91B-3E05F69DF7D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EA16DA22-F4A3-424E-AF0D-0DA9E48AEA71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L1</a:t>
                  </a:r>
                </a:p>
              </p:txBody>
            </p:sp>
          </p:grpSp>
          <p:grpSp>
            <p:nvGrpSpPr>
              <p:cNvPr id="89" name="Grupo 88">
                <a:extLst>
                  <a:ext uri="{FF2B5EF4-FFF2-40B4-BE49-F238E27FC236}">
                    <a16:creationId xmlns:a16="http://schemas.microsoft.com/office/drawing/2014/main" id="{A5D166B4-C489-44A8-9761-44FA1A2AB15F}"/>
                  </a:ext>
                </a:extLst>
              </p:cNvPr>
              <p:cNvGrpSpPr/>
              <p:nvPr/>
            </p:nvGrpSpPr>
            <p:grpSpPr>
              <a:xfrm>
                <a:off x="2997656" y="2629078"/>
                <a:ext cx="667104" cy="890288"/>
                <a:chOff x="1916341" y="2629078"/>
                <a:chExt cx="667104" cy="890288"/>
              </a:xfrm>
            </p:grpSpPr>
            <p:pic>
              <p:nvPicPr>
                <p:cNvPr id="108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428F32F6-C784-4E31-AA32-3B89C2B0F65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08DC9A8E-FFAC-4AB7-9A8C-E75C9CD56172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L2</a:t>
                  </a:r>
                </a:p>
              </p:txBody>
            </p:sp>
          </p:grpSp>
          <p:grpSp>
            <p:nvGrpSpPr>
              <p:cNvPr id="90" name="Grupo 89">
                <a:extLst>
                  <a:ext uri="{FF2B5EF4-FFF2-40B4-BE49-F238E27FC236}">
                    <a16:creationId xmlns:a16="http://schemas.microsoft.com/office/drawing/2014/main" id="{75CCC88D-019C-4F4C-8A04-90E9FCB8161C}"/>
                  </a:ext>
                </a:extLst>
              </p:cNvPr>
              <p:cNvGrpSpPr/>
              <p:nvPr/>
            </p:nvGrpSpPr>
            <p:grpSpPr>
              <a:xfrm>
                <a:off x="4078971" y="2631529"/>
                <a:ext cx="667104" cy="890288"/>
                <a:chOff x="1916341" y="2629078"/>
                <a:chExt cx="667104" cy="890288"/>
              </a:xfrm>
            </p:grpSpPr>
            <p:pic>
              <p:nvPicPr>
                <p:cNvPr id="106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F1DFD154-6FC2-4BFF-9270-E747A34F93E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7" name="CuadroTexto 106">
                  <a:extLst>
                    <a:ext uri="{FF2B5EF4-FFF2-40B4-BE49-F238E27FC236}">
                      <a16:creationId xmlns:a16="http://schemas.microsoft.com/office/drawing/2014/main" id="{9C127E52-583E-4031-8A82-CD716F301E5A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L3</a:t>
                  </a:r>
                </a:p>
              </p:txBody>
            </p:sp>
          </p:grpSp>
          <p:grpSp>
            <p:nvGrpSpPr>
              <p:cNvPr id="91" name="Grupo 90">
                <a:extLst>
                  <a:ext uri="{FF2B5EF4-FFF2-40B4-BE49-F238E27FC236}">
                    <a16:creationId xmlns:a16="http://schemas.microsoft.com/office/drawing/2014/main" id="{29682D7D-D81A-46C5-A107-EE078E36380B}"/>
                  </a:ext>
                </a:extLst>
              </p:cNvPr>
              <p:cNvGrpSpPr/>
              <p:nvPr/>
            </p:nvGrpSpPr>
            <p:grpSpPr>
              <a:xfrm>
                <a:off x="5156747" y="2644181"/>
                <a:ext cx="667104" cy="890288"/>
                <a:chOff x="1916341" y="2629078"/>
                <a:chExt cx="667104" cy="890288"/>
              </a:xfrm>
            </p:grpSpPr>
            <p:pic>
              <p:nvPicPr>
                <p:cNvPr id="104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D70950B6-E6BE-467B-BA99-B54F0684A64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5" name="CuadroTexto 104">
                  <a:extLst>
                    <a:ext uri="{FF2B5EF4-FFF2-40B4-BE49-F238E27FC236}">
                      <a16:creationId xmlns:a16="http://schemas.microsoft.com/office/drawing/2014/main" id="{E6BD9481-45CB-462E-B2B4-916238FC010A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L4</a:t>
                  </a:r>
                </a:p>
              </p:txBody>
            </p:sp>
          </p:grpSp>
          <p:grpSp>
            <p:nvGrpSpPr>
              <p:cNvPr id="92" name="Grupo 91">
                <a:extLst>
                  <a:ext uri="{FF2B5EF4-FFF2-40B4-BE49-F238E27FC236}">
                    <a16:creationId xmlns:a16="http://schemas.microsoft.com/office/drawing/2014/main" id="{9EE18E85-D23A-4C74-A1BB-60B00DDB6FE6}"/>
                  </a:ext>
                </a:extLst>
              </p:cNvPr>
              <p:cNvGrpSpPr/>
              <p:nvPr/>
            </p:nvGrpSpPr>
            <p:grpSpPr>
              <a:xfrm>
                <a:off x="1916341" y="3590145"/>
                <a:ext cx="667104" cy="890288"/>
                <a:chOff x="1916341" y="2629078"/>
                <a:chExt cx="667104" cy="890288"/>
              </a:xfrm>
            </p:grpSpPr>
            <p:pic>
              <p:nvPicPr>
                <p:cNvPr id="102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11FBD4CE-3F68-48A4-9099-D816926F2F5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3" name="CuadroTexto 102">
                  <a:extLst>
                    <a:ext uri="{FF2B5EF4-FFF2-40B4-BE49-F238E27FC236}">
                      <a16:creationId xmlns:a16="http://schemas.microsoft.com/office/drawing/2014/main" id="{EA51B22A-8A49-442A-B272-4F3F9D7D7196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L5</a:t>
                  </a:r>
                </a:p>
              </p:txBody>
            </p:sp>
          </p:grpSp>
          <p:grpSp>
            <p:nvGrpSpPr>
              <p:cNvPr id="93" name="Grupo 92">
                <a:extLst>
                  <a:ext uri="{FF2B5EF4-FFF2-40B4-BE49-F238E27FC236}">
                    <a16:creationId xmlns:a16="http://schemas.microsoft.com/office/drawing/2014/main" id="{3EC58626-DE09-4007-8FCC-24CE7EC2EC63}"/>
                  </a:ext>
                </a:extLst>
              </p:cNvPr>
              <p:cNvGrpSpPr/>
              <p:nvPr/>
            </p:nvGrpSpPr>
            <p:grpSpPr>
              <a:xfrm>
                <a:off x="2997656" y="3590145"/>
                <a:ext cx="667104" cy="890288"/>
                <a:chOff x="1916341" y="2629078"/>
                <a:chExt cx="667104" cy="890288"/>
              </a:xfrm>
            </p:grpSpPr>
            <p:pic>
              <p:nvPicPr>
                <p:cNvPr id="100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833B1C84-94AC-4433-B26D-8903DB446D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1" name="CuadroTexto 100">
                  <a:extLst>
                    <a:ext uri="{FF2B5EF4-FFF2-40B4-BE49-F238E27FC236}">
                      <a16:creationId xmlns:a16="http://schemas.microsoft.com/office/drawing/2014/main" id="{4A25BF80-E4A2-4423-B3C4-560B19D9F6CE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L6</a:t>
                  </a:r>
                </a:p>
              </p:txBody>
            </p:sp>
          </p:grpSp>
          <p:grpSp>
            <p:nvGrpSpPr>
              <p:cNvPr id="94" name="Grupo 93">
                <a:extLst>
                  <a:ext uri="{FF2B5EF4-FFF2-40B4-BE49-F238E27FC236}">
                    <a16:creationId xmlns:a16="http://schemas.microsoft.com/office/drawing/2014/main" id="{C65616D1-CCFF-4BA1-8CE1-0E461E8C0DAF}"/>
                  </a:ext>
                </a:extLst>
              </p:cNvPr>
              <p:cNvGrpSpPr/>
              <p:nvPr/>
            </p:nvGrpSpPr>
            <p:grpSpPr>
              <a:xfrm>
                <a:off x="4078971" y="3592596"/>
                <a:ext cx="667104" cy="890288"/>
                <a:chOff x="1916341" y="2629078"/>
                <a:chExt cx="667104" cy="890288"/>
              </a:xfrm>
            </p:grpSpPr>
            <p:pic>
              <p:nvPicPr>
                <p:cNvPr id="98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683BA5F7-F6C2-48E7-BA9C-20283AD80C0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99" name="CuadroTexto 98">
                  <a:extLst>
                    <a:ext uri="{FF2B5EF4-FFF2-40B4-BE49-F238E27FC236}">
                      <a16:creationId xmlns:a16="http://schemas.microsoft.com/office/drawing/2014/main" id="{E60639E7-28D4-42B6-8BC1-3ACC5E08F5C3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L7</a:t>
                  </a:r>
                </a:p>
              </p:txBody>
            </p:sp>
          </p:grp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B605472A-1281-4746-82A7-48446B38D347}"/>
                  </a:ext>
                </a:extLst>
              </p:cNvPr>
              <p:cNvGrpSpPr/>
              <p:nvPr/>
            </p:nvGrpSpPr>
            <p:grpSpPr>
              <a:xfrm>
                <a:off x="5156747" y="3605248"/>
                <a:ext cx="667104" cy="890288"/>
                <a:chOff x="1916341" y="2629078"/>
                <a:chExt cx="667104" cy="890288"/>
              </a:xfrm>
            </p:grpSpPr>
            <p:pic>
              <p:nvPicPr>
                <p:cNvPr id="96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671F6EBD-6299-46F1-9BD6-8703DC4D9D4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A0954D0F-1FC0-4012-8E4E-31CBCCC7494D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L8</a:t>
                  </a:r>
                </a:p>
              </p:txBody>
            </p:sp>
          </p:grpSp>
        </p:grpSp>
        <p:sp>
          <p:nvSpPr>
            <p:cNvPr id="87" name="Rectángulo: esquinas redondeadas 86">
              <a:extLst>
                <a:ext uri="{FF2B5EF4-FFF2-40B4-BE49-F238E27FC236}">
                  <a16:creationId xmlns:a16="http://schemas.microsoft.com/office/drawing/2014/main" id="{436C39B2-EDB6-47F9-A8D6-1458F4677D1F}"/>
                </a:ext>
              </a:extLst>
            </p:cNvPr>
            <p:cNvSpPr/>
            <p:nvPr/>
          </p:nvSpPr>
          <p:spPr>
            <a:xfrm>
              <a:off x="1587500" y="3727483"/>
              <a:ext cx="4318000" cy="2101234"/>
            </a:xfrm>
            <a:prstGeom prst="roundRect">
              <a:avLst>
                <a:gd name="adj" fmla="val 1122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7FCAADEE-DE49-42DB-8B7E-730DCE5F9206}"/>
              </a:ext>
            </a:extLst>
          </p:cNvPr>
          <p:cNvGrpSpPr/>
          <p:nvPr/>
        </p:nvGrpSpPr>
        <p:grpSpPr>
          <a:xfrm>
            <a:off x="3199869" y="5440894"/>
            <a:ext cx="1092201" cy="1001564"/>
            <a:chOff x="6692899" y="4008683"/>
            <a:chExt cx="1092201" cy="1001564"/>
          </a:xfrm>
        </p:grpSpPr>
        <p:grpSp>
          <p:nvGrpSpPr>
            <p:cNvPr id="113" name="Grupo 112">
              <a:extLst>
                <a:ext uri="{FF2B5EF4-FFF2-40B4-BE49-F238E27FC236}">
                  <a16:creationId xmlns:a16="http://schemas.microsoft.com/office/drawing/2014/main" id="{C78481B3-EBF3-412B-A4A1-AF8DC50DC29F}"/>
                </a:ext>
              </a:extLst>
            </p:cNvPr>
            <p:cNvGrpSpPr/>
            <p:nvPr/>
          </p:nvGrpSpPr>
          <p:grpSpPr>
            <a:xfrm>
              <a:off x="6913041" y="4058404"/>
              <a:ext cx="667104" cy="951843"/>
              <a:chOff x="1916341" y="2629078"/>
              <a:chExt cx="667104" cy="951843"/>
            </a:xfrm>
          </p:grpSpPr>
          <p:pic>
            <p:nvPicPr>
              <p:cNvPr id="115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5220CA89-F053-4CD0-8B87-86B0FDFE1E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6" name="CuadroTexto 115">
                <a:extLst>
                  <a:ext uri="{FF2B5EF4-FFF2-40B4-BE49-F238E27FC236}">
                    <a16:creationId xmlns:a16="http://schemas.microsoft.com/office/drawing/2014/main" id="{F7364613-DEC2-476C-B0D3-CD6F873CC4FB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00206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x</a:t>
                </a:r>
              </a:p>
            </p:txBody>
          </p:sp>
        </p:grpSp>
        <p:sp>
          <p:nvSpPr>
            <p:cNvPr id="114" name="Rectángulo: esquinas redondeadas 113">
              <a:extLst>
                <a:ext uri="{FF2B5EF4-FFF2-40B4-BE49-F238E27FC236}">
                  <a16:creationId xmlns:a16="http://schemas.microsoft.com/office/drawing/2014/main" id="{D07319FA-773B-4845-975F-214CCE692D8E}"/>
                </a:ext>
              </a:extLst>
            </p:cNvPr>
            <p:cNvSpPr/>
            <p:nvPr/>
          </p:nvSpPr>
          <p:spPr>
            <a:xfrm>
              <a:off x="6692899" y="4008683"/>
              <a:ext cx="1092201" cy="940009"/>
            </a:xfrm>
            <a:prstGeom prst="roundRect">
              <a:avLst>
                <a:gd name="adj" fmla="val 1122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4C5CDC7A-A936-47DD-A27E-55FE7077382E}"/>
              </a:ext>
            </a:extLst>
          </p:cNvPr>
          <p:cNvGrpSpPr/>
          <p:nvPr/>
        </p:nvGrpSpPr>
        <p:grpSpPr>
          <a:xfrm>
            <a:off x="8710328" y="2731099"/>
            <a:ext cx="1092201" cy="989554"/>
            <a:chOff x="8583328" y="2334127"/>
            <a:chExt cx="1092201" cy="989554"/>
          </a:xfrm>
        </p:grpSpPr>
        <p:grpSp>
          <p:nvGrpSpPr>
            <p:cNvPr id="117" name="Grupo 116">
              <a:extLst>
                <a:ext uri="{FF2B5EF4-FFF2-40B4-BE49-F238E27FC236}">
                  <a16:creationId xmlns:a16="http://schemas.microsoft.com/office/drawing/2014/main" id="{C4B6CF3C-10E7-4AB7-BDE9-8858FCA6820A}"/>
                </a:ext>
              </a:extLst>
            </p:cNvPr>
            <p:cNvGrpSpPr/>
            <p:nvPr/>
          </p:nvGrpSpPr>
          <p:grpSpPr>
            <a:xfrm>
              <a:off x="8795877" y="2334127"/>
              <a:ext cx="667104" cy="989554"/>
              <a:chOff x="1916341" y="2529812"/>
              <a:chExt cx="667104" cy="989554"/>
            </a:xfrm>
          </p:grpSpPr>
          <p:pic>
            <p:nvPicPr>
              <p:cNvPr id="118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BA44BE48-051F-4B7A-B726-824007B48D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529812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E7F89622-D0CD-417A-A947-1A338E245E1A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00B05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L1</a:t>
                </a:r>
              </a:p>
            </p:txBody>
          </p:sp>
        </p:grpSp>
        <p:sp>
          <p:nvSpPr>
            <p:cNvPr id="121" name="Rectángulo: esquinas redondeadas 120">
              <a:extLst>
                <a:ext uri="{FF2B5EF4-FFF2-40B4-BE49-F238E27FC236}">
                  <a16:creationId xmlns:a16="http://schemas.microsoft.com/office/drawing/2014/main" id="{64FC0A28-9FF0-4A82-8715-709CCC41ED57}"/>
                </a:ext>
              </a:extLst>
            </p:cNvPr>
            <p:cNvSpPr/>
            <p:nvPr/>
          </p:nvSpPr>
          <p:spPr>
            <a:xfrm>
              <a:off x="8583328" y="2378345"/>
              <a:ext cx="1092201" cy="940009"/>
            </a:xfrm>
            <a:prstGeom prst="roundRect">
              <a:avLst>
                <a:gd name="adj" fmla="val 1122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127CDAC1-2C60-48A5-9BB0-C8A593A04D7C}"/>
              </a:ext>
            </a:extLst>
          </p:cNvPr>
          <p:cNvGrpSpPr/>
          <p:nvPr/>
        </p:nvGrpSpPr>
        <p:grpSpPr>
          <a:xfrm>
            <a:off x="7985318" y="5124779"/>
            <a:ext cx="2037092" cy="1001564"/>
            <a:chOff x="7624926" y="4334107"/>
            <a:chExt cx="2037092" cy="1001564"/>
          </a:xfrm>
        </p:grpSpPr>
        <p:pic>
          <p:nvPicPr>
            <p:cNvPr id="122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AD69CB0D-129E-453C-962A-A7F83AF28A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4926" y="4478687"/>
              <a:ext cx="739936" cy="655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3" name="Grupo 122">
              <a:extLst>
                <a:ext uri="{FF2B5EF4-FFF2-40B4-BE49-F238E27FC236}">
                  <a16:creationId xmlns:a16="http://schemas.microsoft.com/office/drawing/2014/main" id="{49E8BFCB-8567-424D-8A99-6603679CC316}"/>
                </a:ext>
              </a:extLst>
            </p:cNvPr>
            <p:cNvGrpSpPr/>
            <p:nvPr/>
          </p:nvGrpSpPr>
          <p:grpSpPr>
            <a:xfrm>
              <a:off x="8569817" y="4334107"/>
              <a:ext cx="1092201" cy="1001564"/>
              <a:chOff x="6692899" y="4008683"/>
              <a:chExt cx="1092201" cy="1001564"/>
            </a:xfrm>
          </p:grpSpPr>
          <p:grpSp>
            <p:nvGrpSpPr>
              <p:cNvPr id="124" name="Grupo 123">
                <a:extLst>
                  <a:ext uri="{FF2B5EF4-FFF2-40B4-BE49-F238E27FC236}">
                    <a16:creationId xmlns:a16="http://schemas.microsoft.com/office/drawing/2014/main" id="{0BB2C648-5436-40C0-B148-F2C70D481F49}"/>
                  </a:ext>
                </a:extLst>
              </p:cNvPr>
              <p:cNvGrpSpPr/>
              <p:nvPr/>
            </p:nvGrpSpPr>
            <p:grpSpPr>
              <a:xfrm>
                <a:off x="6913041" y="4058404"/>
                <a:ext cx="667104" cy="951843"/>
                <a:chOff x="1916341" y="2629078"/>
                <a:chExt cx="667104" cy="951843"/>
              </a:xfrm>
            </p:grpSpPr>
            <p:pic>
              <p:nvPicPr>
                <p:cNvPr id="126" name="Picture 6" descr="Iconos gratuitos de Computadora diseñados por DinosoftLabs">
                  <a:extLst>
                    <a:ext uri="{FF2B5EF4-FFF2-40B4-BE49-F238E27FC236}">
                      <a16:creationId xmlns:a16="http://schemas.microsoft.com/office/drawing/2014/main" id="{E49420A2-B63C-48AC-8E92-FD98CA89E18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16341" y="2629078"/>
                  <a:ext cx="667104" cy="6671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7" name="CuadroTexto 126">
                  <a:extLst>
                    <a:ext uri="{FF2B5EF4-FFF2-40B4-BE49-F238E27FC236}">
                      <a16:creationId xmlns:a16="http://schemas.microsoft.com/office/drawing/2014/main" id="{C2D4D5A6-EC55-48F2-BCB5-AFF33C83E8A7}"/>
                    </a:ext>
                  </a:extLst>
                </p:cNvPr>
                <p:cNvSpPr txBox="1"/>
                <p:nvPr/>
              </p:nvSpPr>
              <p:spPr>
                <a:xfrm>
                  <a:off x="1916341" y="3211589"/>
                  <a:ext cx="667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MX" b="1" dirty="0">
                      <a:solidFill>
                        <a:srgbClr val="00206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</a:rPr>
                    <a:t>x</a:t>
                  </a:r>
                </a:p>
              </p:txBody>
            </p:sp>
          </p:grpSp>
          <p:sp>
            <p:nvSpPr>
              <p:cNvPr id="125" name="Rectángulo: esquinas redondeadas 124">
                <a:extLst>
                  <a:ext uri="{FF2B5EF4-FFF2-40B4-BE49-F238E27FC236}">
                    <a16:creationId xmlns:a16="http://schemas.microsoft.com/office/drawing/2014/main" id="{E09C3567-D57D-45AB-91C7-55A5385BDEB3}"/>
                  </a:ext>
                </a:extLst>
              </p:cNvPr>
              <p:cNvSpPr/>
              <p:nvPr/>
            </p:nvSpPr>
            <p:spPr>
              <a:xfrm>
                <a:off x="6692899" y="4008683"/>
                <a:ext cx="1092201" cy="940009"/>
              </a:xfrm>
              <a:prstGeom prst="roundRect">
                <a:avLst>
                  <a:gd name="adj" fmla="val 11227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3C43D8ED-B6F5-448A-AC54-B077D57CB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3" y="117419"/>
            <a:ext cx="10515600" cy="1059648"/>
          </a:xfrm>
        </p:spPr>
        <p:txBody>
          <a:bodyPr/>
          <a:lstStyle/>
          <a:p>
            <a:r>
              <a:rPr lang="es-ES" dirty="0"/>
              <a:t>Lógica de predicados (Lógica cuantificacional)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22177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733740" y="89355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Lógica de predicados (Lógica cuantificacional)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la 3">
                <a:extLst>
                  <a:ext uri="{FF2B5EF4-FFF2-40B4-BE49-F238E27FC236}">
                    <a16:creationId xmlns:a16="http://schemas.microsoft.com/office/drawing/2014/main" id="{F8C4CC28-8D07-440D-973B-E0BF3419E9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6009042"/>
                  </p:ext>
                </p:extLst>
              </p:nvPr>
            </p:nvGraphicFramePr>
            <p:xfrm>
              <a:off x="653057" y="2302442"/>
              <a:ext cx="11088999" cy="44196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553114">
                      <a:extLst>
                        <a:ext uri="{9D8B030D-6E8A-4147-A177-3AD203B41FA5}">
                          <a16:colId xmlns:a16="http://schemas.microsoft.com/office/drawing/2014/main" val="2057099001"/>
                        </a:ext>
                      </a:extLst>
                    </a:gridCol>
                    <a:gridCol w="2583543">
                      <a:extLst>
                        <a:ext uri="{9D8B030D-6E8A-4147-A177-3AD203B41FA5}">
                          <a16:colId xmlns:a16="http://schemas.microsoft.com/office/drawing/2014/main" val="2721384015"/>
                        </a:ext>
                      </a:extLst>
                    </a:gridCol>
                    <a:gridCol w="2922749">
                      <a:extLst>
                        <a:ext uri="{9D8B030D-6E8A-4147-A177-3AD203B41FA5}">
                          <a16:colId xmlns:a16="http://schemas.microsoft.com/office/drawing/2014/main" val="3804441368"/>
                        </a:ext>
                      </a:extLst>
                    </a:gridCol>
                    <a:gridCol w="4029593">
                      <a:extLst>
                        <a:ext uri="{9D8B030D-6E8A-4147-A177-3AD203B41FA5}">
                          <a16:colId xmlns:a16="http://schemas.microsoft.com/office/drawing/2014/main" val="34323145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Elemento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Tipo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Ejemplo / Definición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Interpretación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282906"/>
                      </a:ext>
                    </a:extLst>
                  </a:tr>
                  <a:tr h="36171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8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Universo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Conjunto de referencia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𝐿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1, 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𝐿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2,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𝐿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3,…,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𝐿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8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Todos los computadores del LIS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2829917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Variable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800" dirty="0">
                              <a:latin typeface="+mn-lt"/>
                            </a:rPr>
                            <a:t>Variable individual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800" dirty="0">
                              <a:latin typeface="+mn-lt"/>
                            </a:rPr>
                            <a:t>Un computador cualquiera del LIS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75296453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Individuos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Elementos concretos del universo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𝐿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1, 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𝐿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4, 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𝐿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5, 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𝐿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Computadores específicos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9990816"/>
                      </a:ext>
                    </a:extLst>
                  </a:tr>
                  <a:tr h="276552">
                    <a:tc row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Predicado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Propiedad o relación sobre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𝑓𝑢𝑛𝑐𝑖𝑜𝑛𝑎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"El computador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 funciona correctamente"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6287454"/>
                      </a:ext>
                    </a:extLst>
                  </a:tr>
                  <a:tr h="276552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𝑡𝑖𝑒𝑛𝑒</m:t>
                                </m:r>
                                <m:r>
                                  <m:rPr>
                                    <m:lit/>
                                  </m:rP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_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𝑂𝑆</m:t>
                                </m:r>
                                <m:r>
                                  <m:rPr>
                                    <m:lit/>
                                  </m:rP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_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𝑚𝑎𝑙𝑜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"El computador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 tiene el sistema operativo malo"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07503458"/>
                      </a:ext>
                    </a:extLst>
                  </a:tr>
                  <a:tr h="276552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𝑡𝑖𝑒𝑛𝑒</m:t>
                                </m:r>
                                <m:r>
                                  <m:rPr>
                                    <m:lit/>
                                  </m:rP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_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𝑣𝑖𝑟𝑢𝑠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"El computador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 tiene un virus"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6094361"/>
                      </a:ext>
                    </a:extLst>
                  </a:tr>
                  <a:tr h="276552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𝑠𝑖𝑛</m:t>
                                </m:r>
                                <m:r>
                                  <m:rPr>
                                    <m:lit/>
                                  </m:rP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_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𝑡𝑒𝑐𝑙𝑎𝑑𝑜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"El computador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 no tiene teclado"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4153076"/>
                      </a:ext>
                    </a:extLst>
                  </a:tr>
                  <a:tr h="276552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𝑐𝑜𝑚𝑝𝑢𝑡𝑎𝑑𝑜𝑟</m:t>
                                </m:r>
                                <m:r>
                                  <m:rPr>
                                    <m:lit/>
                                  </m:rP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_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𝐿𝐼𝑆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"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 pertenece al LIS" (opcional, si se quiere restringir universo)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299071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la 3">
                <a:extLst>
                  <a:ext uri="{FF2B5EF4-FFF2-40B4-BE49-F238E27FC236}">
                    <a16:creationId xmlns:a16="http://schemas.microsoft.com/office/drawing/2014/main" id="{F8C4CC28-8D07-440D-973B-E0BF3419E9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6009042"/>
                  </p:ext>
                </p:extLst>
              </p:nvPr>
            </p:nvGraphicFramePr>
            <p:xfrm>
              <a:off x="653057" y="2302442"/>
              <a:ext cx="11088999" cy="44196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553114">
                      <a:extLst>
                        <a:ext uri="{9D8B030D-6E8A-4147-A177-3AD203B41FA5}">
                          <a16:colId xmlns:a16="http://schemas.microsoft.com/office/drawing/2014/main" val="2057099001"/>
                        </a:ext>
                      </a:extLst>
                    </a:gridCol>
                    <a:gridCol w="2583543">
                      <a:extLst>
                        <a:ext uri="{9D8B030D-6E8A-4147-A177-3AD203B41FA5}">
                          <a16:colId xmlns:a16="http://schemas.microsoft.com/office/drawing/2014/main" val="2721384015"/>
                        </a:ext>
                      </a:extLst>
                    </a:gridCol>
                    <a:gridCol w="2922749">
                      <a:extLst>
                        <a:ext uri="{9D8B030D-6E8A-4147-A177-3AD203B41FA5}">
                          <a16:colId xmlns:a16="http://schemas.microsoft.com/office/drawing/2014/main" val="3804441368"/>
                        </a:ext>
                      </a:extLst>
                    </a:gridCol>
                    <a:gridCol w="4029593">
                      <a:extLst>
                        <a:ext uri="{9D8B030D-6E8A-4147-A177-3AD203B41FA5}">
                          <a16:colId xmlns:a16="http://schemas.microsoft.com/office/drawing/2014/main" val="34323145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Elemento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Tipo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Ejemplo / Definición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Interpretación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2829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8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Universo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Conjunto de referencia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1667" t="-116667" r="-138125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Todos los computadores del LIS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28299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Variable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800" dirty="0">
                              <a:latin typeface="+mn-lt"/>
                            </a:rPr>
                            <a:t>Variable individual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1667" t="-216667" r="-138125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800" dirty="0">
                              <a:latin typeface="+mn-lt"/>
                            </a:rPr>
                            <a:t>Un computador cualquiera del LIS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7529645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Individuos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Elementos concretos del universo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1667" t="-180952" r="-138125" b="-43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Computadores específicos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9990816"/>
                      </a:ext>
                    </a:extLst>
                  </a:tr>
                  <a:tr h="640080">
                    <a:tc row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Predicado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377" t="-67661" r="-269575" b="-36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1667" t="-278302" r="-138125" b="-3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5492" t="-278302" r="-303" b="-326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287454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1667" t="-381905" r="-138125" b="-22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5492" t="-381905" r="-303" b="-2295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7503458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1667" t="-843333" r="-138125" b="-3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5492" t="-843333" r="-303" b="-30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6094361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1667" t="-943333" r="-138125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5492" t="-943333" r="-303" b="-20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4153076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1667" t="-596190" r="-138125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5492" t="-596190" r="-303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99071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Grupo 1">
            <a:extLst>
              <a:ext uri="{FF2B5EF4-FFF2-40B4-BE49-F238E27FC236}">
                <a16:creationId xmlns:a16="http://schemas.microsoft.com/office/drawing/2014/main" id="{14EF79DE-5891-46CF-9360-C1D48488D5A7}"/>
              </a:ext>
            </a:extLst>
          </p:cNvPr>
          <p:cNvGrpSpPr/>
          <p:nvPr/>
        </p:nvGrpSpPr>
        <p:grpSpPr>
          <a:xfrm>
            <a:off x="1444760" y="1207667"/>
            <a:ext cx="8583421" cy="981164"/>
            <a:chOff x="1604417" y="1294752"/>
            <a:chExt cx="8583421" cy="981164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2A9AE93D-0B94-4F7D-91A4-64F7085B91D2}"/>
                </a:ext>
              </a:extLst>
            </p:cNvPr>
            <p:cNvGrpSpPr/>
            <p:nvPr/>
          </p:nvGrpSpPr>
          <p:grpSpPr>
            <a:xfrm>
              <a:off x="1870321" y="1363686"/>
              <a:ext cx="667104" cy="890288"/>
              <a:chOff x="1916341" y="2629078"/>
              <a:chExt cx="667104" cy="890288"/>
            </a:xfrm>
          </p:grpSpPr>
          <p:pic>
            <p:nvPicPr>
              <p:cNvPr id="42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80092400-661C-45A9-AB5F-8CAE00381B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EC9D5EC2-9D3B-4EF3-A2F2-6C029EAEB3C5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00B05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L1</a:t>
                </a:r>
              </a:p>
            </p:txBody>
          </p: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ECCF3BFB-7C7F-413B-B7C2-2635D3F7A448}"/>
                </a:ext>
              </a:extLst>
            </p:cNvPr>
            <p:cNvGrpSpPr/>
            <p:nvPr/>
          </p:nvGrpSpPr>
          <p:grpSpPr>
            <a:xfrm>
              <a:off x="2951636" y="1363686"/>
              <a:ext cx="667104" cy="890288"/>
              <a:chOff x="1916341" y="2629078"/>
              <a:chExt cx="667104" cy="890288"/>
            </a:xfrm>
          </p:grpSpPr>
          <p:pic>
            <p:nvPicPr>
              <p:cNvPr id="40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1C41327E-2D7F-47CB-BFA0-F2B86F1EE4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4B87EE5B-A747-4F2A-83EE-478378065C56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L2</a:t>
                </a:r>
              </a:p>
            </p:txBody>
          </p: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5507186A-D60F-4537-9413-90F10B3A2429}"/>
                </a:ext>
              </a:extLst>
            </p:cNvPr>
            <p:cNvGrpSpPr/>
            <p:nvPr/>
          </p:nvGrpSpPr>
          <p:grpSpPr>
            <a:xfrm>
              <a:off x="4032951" y="1366137"/>
              <a:ext cx="667104" cy="890288"/>
              <a:chOff x="1916341" y="2629078"/>
              <a:chExt cx="667104" cy="890288"/>
            </a:xfrm>
          </p:grpSpPr>
          <p:pic>
            <p:nvPicPr>
              <p:cNvPr id="38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E74C5BF7-CA13-477A-97A7-58DBEB1658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F4FFDC7F-A6B2-4338-950D-DB87909B072C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L3</a:t>
                </a:r>
              </a:p>
            </p:txBody>
          </p:sp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9F917BD3-FF75-44F1-BE70-01B3105DDCB6}"/>
                </a:ext>
              </a:extLst>
            </p:cNvPr>
            <p:cNvGrpSpPr/>
            <p:nvPr/>
          </p:nvGrpSpPr>
          <p:grpSpPr>
            <a:xfrm>
              <a:off x="5110727" y="1378789"/>
              <a:ext cx="667104" cy="890288"/>
              <a:chOff x="1916341" y="2629078"/>
              <a:chExt cx="667104" cy="890288"/>
            </a:xfrm>
          </p:grpSpPr>
          <p:pic>
            <p:nvPicPr>
              <p:cNvPr id="36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83CB6EFF-330E-426A-928B-FA54F8D965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3A166BD-AE68-445C-9BE7-2BDDEE348436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L4</a:t>
                </a:r>
              </a:p>
            </p:txBody>
          </p:sp>
        </p:grp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24A5FE25-BB22-4D1B-AA49-ACF3C825F260}"/>
                </a:ext>
              </a:extLst>
            </p:cNvPr>
            <p:cNvGrpSpPr/>
            <p:nvPr/>
          </p:nvGrpSpPr>
          <p:grpSpPr>
            <a:xfrm>
              <a:off x="6280328" y="1370525"/>
              <a:ext cx="667104" cy="890288"/>
              <a:chOff x="1916341" y="2629078"/>
              <a:chExt cx="667104" cy="890288"/>
            </a:xfrm>
          </p:grpSpPr>
          <p:pic>
            <p:nvPicPr>
              <p:cNvPr id="34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A3FEB742-D1ED-43B0-BC5D-134056663B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479A132-8225-49EE-B926-5AE095E46F90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L5</a:t>
                </a:r>
              </a:p>
            </p:txBody>
          </p: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8E698E62-8F4C-4ABC-AEBD-4032CF097BA2}"/>
                </a:ext>
              </a:extLst>
            </p:cNvPr>
            <p:cNvGrpSpPr/>
            <p:nvPr/>
          </p:nvGrpSpPr>
          <p:grpSpPr>
            <a:xfrm>
              <a:off x="7361643" y="1370525"/>
              <a:ext cx="667104" cy="890288"/>
              <a:chOff x="1916341" y="2629078"/>
              <a:chExt cx="667104" cy="890288"/>
            </a:xfrm>
          </p:grpSpPr>
          <p:pic>
            <p:nvPicPr>
              <p:cNvPr id="32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E72CD02F-17CE-40B4-A6FB-746D3DC76F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49FD53A-6C82-45D0-9752-BEC4AC0E9BB6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L6</a:t>
                </a:r>
              </a:p>
            </p:txBody>
          </p:sp>
        </p:grp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73C61C5C-AB5C-4904-9758-844401F640C7}"/>
                </a:ext>
              </a:extLst>
            </p:cNvPr>
            <p:cNvGrpSpPr/>
            <p:nvPr/>
          </p:nvGrpSpPr>
          <p:grpSpPr>
            <a:xfrm>
              <a:off x="8442958" y="1372976"/>
              <a:ext cx="667104" cy="890288"/>
              <a:chOff x="1916341" y="2629078"/>
              <a:chExt cx="667104" cy="890288"/>
            </a:xfrm>
          </p:grpSpPr>
          <p:pic>
            <p:nvPicPr>
              <p:cNvPr id="28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E068F96A-F727-43DF-9C78-2394A03EE6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0C4A2AD1-637E-4E84-9242-90542D713755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L7</a:t>
                </a:r>
              </a:p>
            </p:txBody>
          </p: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4E8249F0-A417-4CFB-93DF-BE6A1D544D11}"/>
                </a:ext>
              </a:extLst>
            </p:cNvPr>
            <p:cNvGrpSpPr/>
            <p:nvPr/>
          </p:nvGrpSpPr>
          <p:grpSpPr>
            <a:xfrm>
              <a:off x="9520734" y="1385628"/>
              <a:ext cx="667104" cy="890288"/>
              <a:chOff x="1916341" y="2629078"/>
              <a:chExt cx="667104" cy="890288"/>
            </a:xfrm>
          </p:grpSpPr>
          <p:pic>
            <p:nvPicPr>
              <p:cNvPr id="26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044346E2-AA85-4FD6-913A-9C6ED74C3B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7280C15-1926-4322-A5EF-4CC9992EE51E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L8</a:t>
                </a:r>
              </a:p>
            </p:txBody>
          </p:sp>
        </p:grpSp>
        <p:pic>
          <p:nvPicPr>
            <p:cNvPr id="10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BF42EFC8-555B-470C-BBAE-7EA52865D2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4417" y="1318885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0D53F418-0D58-4359-9902-FF321C85E7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3701" y="1294752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C6D2CB53-BC9A-46DA-BE14-F26C65767B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0587" y="1294752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433786B5-375B-4A5F-9AE8-8DA5DD6824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7842" y="1309266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B75D51B5-3AA2-4098-B763-542BE47167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5317" y="1304110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FFB0E7D6-FEAD-4AD5-97C1-551040E877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3969" y="1304110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735E522B-E6E6-4BBC-8816-828B2E547E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3515" y="1299746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77BC02E2-E44E-42A1-B394-97B0A9F5C0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5479" y="1299746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63993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838200" y="249012"/>
            <a:ext cx="10515600" cy="92791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Lógica de predicados (Lógica cuantificacional)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la 3">
                <a:extLst>
                  <a:ext uri="{FF2B5EF4-FFF2-40B4-BE49-F238E27FC236}">
                    <a16:creationId xmlns:a16="http://schemas.microsoft.com/office/drawing/2014/main" id="{F8C4CC28-8D07-440D-973B-E0BF3419E9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2342489"/>
                  </p:ext>
                </p:extLst>
              </p:nvPr>
            </p:nvGraphicFramePr>
            <p:xfrm>
              <a:off x="547186" y="2671358"/>
              <a:ext cx="11146970" cy="38709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514072">
                      <a:extLst>
                        <a:ext uri="{9D8B030D-6E8A-4147-A177-3AD203B41FA5}">
                          <a16:colId xmlns:a16="http://schemas.microsoft.com/office/drawing/2014/main" val="2057099001"/>
                        </a:ext>
                      </a:extLst>
                    </a:gridCol>
                    <a:gridCol w="2867755">
                      <a:extLst>
                        <a:ext uri="{9D8B030D-6E8A-4147-A177-3AD203B41FA5}">
                          <a16:colId xmlns:a16="http://schemas.microsoft.com/office/drawing/2014/main" val="2721384015"/>
                        </a:ext>
                      </a:extLst>
                    </a:gridCol>
                    <a:gridCol w="4630057">
                      <a:extLst>
                        <a:ext uri="{9D8B030D-6E8A-4147-A177-3AD203B41FA5}">
                          <a16:colId xmlns:a16="http://schemas.microsoft.com/office/drawing/2014/main" val="3804441368"/>
                        </a:ext>
                      </a:extLst>
                    </a:gridCol>
                    <a:gridCol w="3135086">
                      <a:extLst>
                        <a:ext uri="{9D8B030D-6E8A-4147-A177-3AD203B41FA5}">
                          <a16:colId xmlns:a16="http://schemas.microsoft.com/office/drawing/2014/main" val="343231459"/>
                        </a:ext>
                      </a:extLst>
                    </a:gridCol>
                  </a:tblGrid>
                  <a:tr h="276552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#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Enunciado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Representación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Interpretación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282906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800" dirty="0">
                              <a:latin typeface="+mn-lt"/>
                              <a:ea typeface="Roboto" panose="02000000000000000000" pitchFamily="2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Todos los computadores del LIS están funcionando correctamente</a:t>
                          </a:r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𝑐𝑜𝑚𝑝𝑢𝑡𝑎𝑑𝑜𝑟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𝐿𝐼𝑆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𝑓𝑢𝑛𝑐𝑖𝑜𝑛𝑎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+mn-lt"/>
                            </a:rPr>
                            <a:t>Para todo computador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1800" dirty="0">
                              <a:latin typeface="+mn-lt"/>
                            </a:rPr>
                            <a:t> del LIS,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1800" dirty="0">
                              <a:latin typeface="+mn-lt"/>
                            </a:rPr>
                            <a:t> funciona correctamente</a:t>
                          </a:r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2829917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El computador L1 esta funcionando correctamente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𝑓𝑢𝑛𝑐𝑖𝑜𝑛𝑎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𝐿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L1 esta funcionando correctamente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75296453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El computador L4 tiene el sistema operativo malo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𝑡𝑖𝑒𝑛𝑒</m:t>
                                </m:r>
                                <m:r>
                                  <m:rPr>
                                    <m:lit/>
                                  </m:rP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_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𝑂𝑆</m:t>
                                </m:r>
                                <m:r>
                                  <m:rPr>
                                    <m:lit/>
                                  </m:rP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_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𝑚𝑎𝑙𝑜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𝐿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L4 tiene el sistema operativo malo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9990816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El computador L5 tiene un virus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𝑡𝑖𝑒𝑛𝑒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_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𝑣𝑖𝑟𝑢𝑠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𝐿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L5 tiene un virus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0412116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El computador L7 no tiene teclado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𝑠𝑖𝑛</m:t>
                                </m:r>
                                <m:r>
                                  <m:rPr>
                                    <m:lit/>
                                  </m:rP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_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𝑡𝑒𝑐𝑙𝑎𝑑𝑜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𝐿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L7 no tiene teclado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46397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la 3">
                <a:extLst>
                  <a:ext uri="{FF2B5EF4-FFF2-40B4-BE49-F238E27FC236}">
                    <a16:creationId xmlns:a16="http://schemas.microsoft.com/office/drawing/2014/main" id="{F8C4CC28-8D07-440D-973B-E0BF3419E9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2342489"/>
                  </p:ext>
                </p:extLst>
              </p:nvPr>
            </p:nvGraphicFramePr>
            <p:xfrm>
              <a:off x="547186" y="2671358"/>
              <a:ext cx="11146970" cy="38709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514072">
                      <a:extLst>
                        <a:ext uri="{9D8B030D-6E8A-4147-A177-3AD203B41FA5}">
                          <a16:colId xmlns:a16="http://schemas.microsoft.com/office/drawing/2014/main" val="2057099001"/>
                        </a:ext>
                      </a:extLst>
                    </a:gridCol>
                    <a:gridCol w="2867755">
                      <a:extLst>
                        <a:ext uri="{9D8B030D-6E8A-4147-A177-3AD203B41FA5}">
                          <a16:colId xmlns:a16="http://schemas.microsoft.com/office/drawing/2014/main" val="2721384015"/>
                        </a:ext>
                      </a:extLst>
                    </a:gridCol>
                    <a:gridCol w="4630057">
                      <a:extLst>
                        <a:ext uri="{9D8B030D-6E8A-4147-A177-3AD203B41FA5}">
                          <a16:colId xmlns:a16="http://schemas.microsoft.com/office/drawing/2014/main" val="3804441368"/>
                        </a:ext>
                      </a:extLst>
                    </a:gridCol>
                    <a:gridCol w="3135086">
                      <a:extLst>
                        <a:ext uri="{9D8B030D-6E8A-4147-A177-3AD203B41FA5}">
                          <a16:colId xmlns:a16="http://schemas.microsoft.com/office/drawing/2014/main" val="34323145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#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Enunciado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Representación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Interpretación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282906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800" dirty="0">
                              <a:latin typeface="+mn-lt"/>
                              <a:ea typeface="Roboto" panose="02000000000000000000" pitchFamily="2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Todos los computadores del LIS están funcionando correctamente</a:t>
                          </a:r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158" t="-46667" r="-68026" b="-29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5534" t="-46667" r="-388" b="-29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282991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El computador L1 esta funcionando correctamente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158" t="-207547" r="-68026" b="-3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L1 esta funcionando correctamente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7529645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El computador L4 tiene el sistema operativo malo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158" t="-310476" r="-68026" b="-2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L4 tiene el sistema operativo malo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999081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El computador L5 tiene un virus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158" t="-410476" r="-68026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L5 tiene un virus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041211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El computador L7 no tiene teclado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158" t="-510476" r="-68026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L7 no tiene teclado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463971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upo 5">
            <a:extLst>
              <a:ext uri="{FF2B5EF4-FFF2-40B4-BE49-F238E27FC236}">
                <a16:creationId xmlns:a16="http://schemas.microsoft.com/office/drawing/2014/main" id="{F5BE4276-1D5E-433C-AB2D-BAC0802146B9}"/>
              </a:ext>
            </a:extLst>
          </p:cNvPr>
          <p:cNvGrpSpPr/>
          <p:nvPr/>
        </p:nvGrpSpPr>
        <p:grpSpPr>
          <a:xfrm>
            <a:off x="1444760" y="1352809"/>
            <a:ext cx="8583421" cy="981164"/>
            <a:chOff x="1604417" y="1294752"/>
            <a:chExt cx="8583421" cy="981164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410C48E5-27DA-42E7-9425-743608AC6378}"/>
                </a:ext>
              </a:extLst>
            </p:cNvPr>
            <p:cNvGrpSpPr/>
            <p:nvPr/>
          </p:nvGrpSpPr>
          <p:grpSpPr>
            <a:xfrm>
              <a:off x="1870321" y="1363686"/>
              <a:ext cx="667104" cy="890288"/>
              <a:chOff x="1916341" y="2629078"/>
              <a:chExt cx="667104" cy="890288"/>
            </a:xfrm>
          </p:grpSpPr>
          <p:pic>
            <p:nvPicPr>
              <p:cNvPr id="40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22861ABD-CA5B-42E3-B1BA-0A9D577057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3FCBAB40-F3C5-48DD-B12F-8B592ABFCE11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00B05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L1</a:t>
                </a: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04F74C4-E07C-4DBA-B2EC-DC6C0A6EE7B1}"/>
                </a:ext>
              </a:extLst>
            </p:cNvPr>
            <p:cNvGrpSpPr/>
            <p:nvPr/>
          </p:nvGrpSpPr>
          <p:grpSpPr>
            <a:xfrm>
              <a:off x="2951636" y="1363686"/>
              <a:ext cx="667104" cy="890288"/>
              <a:chOff x="1916341" y="2629078"/>
              <a:chExt cx="667104" cy="890288"/>
            </a:xfrm>
          </p:grpSpPr>
          <p:pic>
            <p:nvPicPr>
              <p:cNvPr id="38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1E4B6F3D-5056-4BDC-93D7-2C5BF65910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CCFA4ED-9C80-45D3-B790-6F38E69BAF9D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L2</a:t>
                </a: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79E08755-09F9-4B12-A99F-B2517C82694B}"/>
                </a:ext>
              </a:extLst>
            </p:cNvPr>
            <p:cNvGrpSpPr/>
            <p:nvPr/>
          </p:nvGrpSpPr>
          <p:grpSpPr>
            <a:xfrm>
              <a:off x="4032951" y="1366137"/>
              <a:ext cx="667104" cy="890288"/>
              <a:chOff x="1916341" y="2629078"/>
              <a:chExt cx="667104" cy="890288"/>
            </a:xfrm>
          </p:grpSpPr>
          <p:pic>
            <p:nvPicPr>
              <p:cNvPr id="36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175E0988-8E80-4AB0-B97A-3E30060DC4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30C575F-2277-411F-BDFF-BE38D7B7A662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L3</a:t>
                </a: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E1CC8992-B8F6-4536-9374-2EBC3EFB0EBA}"/>
                </a:ext>
              </a:extLst>
            </p:cNvPr>
            <p:cNvGrpSpPr/>
            <p:nvPr/>
          </p:nvGrpSpPr>
          <p:grpSpPr>
            <a:xfrm>
              <a:off x="5110727" y="1378789"/>
              <a:ext cx="667104" cy="890288"/>
              <a:chOff x="1916341" y="2629078"/>
              <a:chExt cx="667104" cy="890288"/>
            </a:xfrm>
          </p:grpSpPr>
          <p:pic>
            <p:nvPicPr>
              <p:cNvPr id="34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EE27C93B-8BFB-4C80-98D8-6F617C9D1B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C57E640-6F7E-4C1B-A06C-1E0613FE0EF8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L4</a:t>
                </a: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3C85C146-A629-4987-AD85-033C392DA7DF}"/>
                </a:ext>
              </a:extLst>
            </p:cNvPr>
            <p:cNvGrpSpPr/>
            <p:nvPr/>
          </p:nvGrpSpPr>
          <p:grpSpPr>
            <a:xfrm>
              <a:off x="6280328" y="1370525"/>
              <a:ext cx="667104" cy="890288"/>
              <a:chOff x="1916341" y="2629078"/>
              <a:chExt cx="667104" cy="890288"/>
            </a:xfrm>
          </p:grpSpPr>
          <p:pic>
            <p:nvPicPr>
              <p:cNvPr id="32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EE59BBF6-AF9D-4CA4-A7BB-4A53571D31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DA4344F1-12A6-47B2-BA42-65AB306345B5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L5</a:t>
                </a: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C1C52968-88BA-4737-BF92-AA383ED99E6A}"/>
                </a:ext>
              </a:extLst>
            </p:cNvPr>
            <p:cNvGrpSpPr/>
            <p:nvPr/>
          </p:nvGrpSpPr>
          <p:grpSpPr>
            <a:xfrm>
              <a:off x="7361643" y="1370525"/>
              <a:ext cx="667104" cy="890288"/>
              <a:chOff x="1916341" y="2629078"/>
              <a:chExt cx="667104" cy="890288"/>
            </a:xfrm>
          </p:grpSpPr>
          <p:pic>
            <p:nvPicPr>
              <p:cNvPr id="28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005ED4E2-A5D4-491F-8EB1-E2558809CD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A054D1F5-7040-4D0F-A10B-BDAAEE3BEDDD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L6</a:t>
                </a:r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63B77102-3B52-4CE9-ABF0-E350AB62464E}"/>
                </a:ext>
              </a:extLst>
            </p:cNvPr>
            <p:cNvGrpSpPr/>
            <p:nvPr/>
          </p:nvGrpSpPr>
          <p:grpSpPr>
            <a:xfrm>
              <a:off x="8442958" y="1372976"/>
              <a:ext cx="667104" cy="890288"/>
              <a:chOff x="1916341" y="2629078"/>
              <a:chExt cx="667104" cy="890288"/>
            </a:xfrm>
          </p:grpSpPr>
          <p:pic>
            <p:nvPicPr>
              <p:cNvPr id="26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89E19FDA-D4C5-49FB-A293-05F6FF5605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BB94D316-D3BA-4DAC-A035-87F88872B925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L7</a:t>
                </a:r>
              </a:p>
            </p:txBody>
          </p:sp>
        </p:grp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7807EA0D-9EE2-4535-805E-03ED24796C04}"/>
                </a:ext>
              </a:extLst>
            </p:cNvPr>
            <p:cNvGrpSpPr/>
            <p:nvPr/>
          </p:nvGrpSpPr>
          <p:grpSpPr>
            <a:xfrm>
              <a:off x="9520734" y="1385628"/>
              <a:ext cx="667104" cy="890288"/>
              <a:chOff x="1916341" y="2629078"/>
              <a:chExt cx="667104" cy="890288"/>
            </a:xfrm>
          </p:grpSpPr>
          <p:pic>
            <p:nvPicPr>
              <p:cNvPr id="24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7CBBE708-9A8F-4CE2-AAF7-95CAC70F92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629078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7F0FE641-910C-44F3-A5C0-F36B676C1545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L8</a:t>
                </a:r>
              </a:p>
            </p:txBody>
          </p:sp>
        </p:grpSp>
        <p:pic>
          <p:nvPicPr>
            <p:cNvPr id="16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3AF96B34-430C-4B69-9035-B1283075AD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4417" y="1318885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9E39F16D-6E32-4885-A697-BF6425CE99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3701" y="1294752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634D06FF-AFD4-4240-A6FD-D4648878A8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0587" y="1294752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FABF60D7-80B3-4C92-B600-DB974F853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7842" y="1309266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3201739B-FB72-474A-887B-674D42037B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5317" y="1304110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1F41343A-AEAC-4270-B2E7-D8103012A9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3969" y="1304110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14014D85-7C2B-4BBD-BB17-F7A0F5ED9B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3515" y="1299746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0" descr="Check Mark Clip Art Icon PNG Transparent Background, Free Download #45005 -  FreeIconsPNG">
              <a:extLst>
                <a:ext uri="{FF2B5EF4-FFF2-40B4-BE49-F238E27FC236}">
                  <a16:creationId xmlns:a16="http://schemas.microsoft.com/office/drawing/2014/main" id="{A1FC86DC-254E-4BD3-BB24-DD63828F52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5479" y="1299746"/>
              <a:ext cx="238825" cy="21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57492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20914" y="140215"/>
            <a:ext cx="11350172" cy="78343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Lógica de predicados (Lógica cuantificacional)</a:t>
            </a:r>
            <a:endParaRPr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9C51E8-7566-429D-B26E-F2B15C296B59}"/>
              </a:ext>
            </a:extLst>
          </p:cNvPr>
          <p:cNvSpPr txBox="1"/>
          <p:nvPr/>
        </p:nvSpPr>
        <p:spPr>
          <a:xfrm>
            <a:off x="278018" y="1233550"/>
            <a:ext cx="1162369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202122"/>
                </a:solidFill>
                <a:ea typeface="Roboto" panose="02000000000000000000" pitchFamily="2" charset="0"/>
              </a:rPr>
              <a:t>La lógica de primer orden (</a:t>
            </a:r>
            <a:r>
              <a:rPr lang="es-MX" sz="2200" b="1" dirty="0">
                <a:solidFill>
                  <a:srgbClr val="202122"/>
                </a:solidFill>
                <a:ea typeface="Roboto" panose="02000000000000000000" pitchFamily="2" charset="0"/>
              </a:rPr>
              <a:t>FOL</a:t>
            </a:r>
            <a:r>
              <a:rPr lang="es-MX" sz="2200" dirty="0">
                <a:solidFill>
                  <a:srgbClr val="202122"/>
                </a:solidFill>
                <a:ea typeface="Roboto" panose="02000000000000000000" pitchFamily="2" charset="0"/>
              </a:rPr>
              <a:t>: First Order Logic) es una extensión de la </a:t>
            </a:r>
            <a:r>
              <a:rPr lang="es-MX" sz="2200" b="1" dirty="0">
                <a:solidFill>
                  <a:srgbClr val="202122"/>
                </a:solidFill>
                <a:ea typeface="Roboto" panose="02000000000000000000" pitchFamily="2" charset="0"/>
              </a:rPr>
              <a:t>lógica proposicional</a:t>
            </a:r>
            <a:r>
              <a:rPr lang="es-MX" sz="2200" dirty="0">
                <a:solidFill>
                  <a:srgbClr val="202122"/>
                </a:solidFill>
                <a:ea typeface="Roboto" panose="02000000000000000000" pitchFamily="2" charset="0"/>
              </a:rPr>
              <a:t> que permite razonar sobre objetos individuales y sus propiedades o relaciones.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202122"/>
                </a:solidFill>
                <a:ea typeface="Roboto" panose="02000000000000000000" pitchFamily="2" charset="0"/>
              </a:rPr>
              <a:t>La siguiente tabla muestra lo que se agrega respecto a la lógica proposicional:</a:t>
            </a:r>
            <a:endParaRPr lang="es-CO" sz="2200" dirty="0">
              <a:ea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F4FC2B08-F1BB-47CF-97FA-0BA29A9DF1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7530184"/>
                  </p:ext>
                </p:extLst>
              </p:nvPr>
            </p:nvGraphicFramePr>
            <p:xfrm>
              <a:off x="725716" y="2694988"/>
              <a:ext cx="10972800" cy="21945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4470400">
                      <a:extLst>
                        <a:ext uri="{9D8B030D-6E8A-4147-A177-3AD203B41FA5}">
                          <a16:colId xmlns:a16="http://schemas.microsoft.com/office/drawing/2014/main" val="1253868152"/>
                        </a:ext>
                      </a:extLst>
                    </a:gridCol>
                    <a:gridCol w="6502400">
                      <a:extLst>
                        <a:ext uri="{9D8B030D-6E8A-4147-A177-3AD203B41FA5}">
                          <a16:colId xmlns:a16="http://schemas.microsoft.com/office/drawing/2014/main" val="1515885172"/>
                        </a:ext>
                      </a:extLst>
                    </a:gridCol>
                  </a:tblGrid>
                  <a:tr h="276552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Lógica proposicional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Lógica de predicados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2258764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Solo proposiciones completas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,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𝑟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.  </a:t>
                          </a: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Objetos, propiedades, relaciones y reglas generales.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7657402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No sabe </a:t>
                          </a:r>
                          <a:r>
                            <a:rPr lang="es-MX" sz="2000" i="1" dirty="0">
                              <a:latin typeface="+mn-lt"/>
                              <a:ea typeface="Roboto" panose="02000000000000000000" pitchFamily="2" charset="0"/>
                            </a:rPr>
                            <a:t>qué hay dentro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de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𝑝</m:t>
                              </m:r>
                            </m:oMath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Puede decir cosas de </a:t>
                          </a:r>
                          <a:r>
                            <a:rPr lang="es-MX" sz="2000" i="1" dirty="0">
                              <a:latin typeface="+mn-lt"/>
                              <a:ea typeface="Roboto" panose="02000000000000000000" pitchFamily="2" charset="0"/>
                            </a:rPr>
                            <a:t>cada objeto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8588839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No usa cuantificadores.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Usa cuantificadores:</a:t>
                          </a: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: Para todo.</a:t>
                          </a: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: Existe</a:t>
                          </a: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77732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F4FC2B08-F1BB-47CF-97FA-0BA29A9DF1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7530184"/>
                  </p:ext>
                </p:extLst>
              </p:nvPr>
            </p:nvGraphicFramePr>
            <p:xfrm>
              <a:off x="725716" y="2694988"/>
              <a:ext cx="10972800" cy="21945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4470400">
                      <a:extLst>
                        <a:ext uri="{9D8B030D-6E8A-4147-A177-3AD203B41FA5}">
                          <a16:colId xmlns:a16="http://schemas.microsoft.com/office/drawing/2014/main" val="1253868152"/>
                        </a:ext>
                      </a:extLst>
                    </a:gridCol>
                    <a:gridCol w="6502400">
                      <a:extLst>
                        <a:ext uri="{9D8B030D-6E8A-4147-A177-3AD203B41FA5}">
                          <a16:colId xmlns:a16="http://schemas.microsoft.com/office/drawing/2014/main" val="151588517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Lógica proposicional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Lógica de predicados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225876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6" t="-107692" r="-145640" b="-38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Objetos, propiedades, relaciones y reglas generales.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76574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6" t="-204545" r="-145640" b="-27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Puede decir cosas de </a:t>
                          </a:r>
                          <a:r>
                            <a:rPr lang="es-MX" sz="2000" i="1" dirty="0">
                              <a:latin typeface="+mn-lt"/>
                              <a:ea typeface="Roboto" panose="02000000000000000000" pitchFamily="2" charset="0"/>
                            </a:rPr>
                            <a:t>cada objeto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8588839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No usa cuantificadores.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8885" t="-121818" r="-187" b="-10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77732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7DFA77D8-607B-4D63-8A87-5F997ABD3549}"/>
              </a:ext>
            </a:extLst>
          </p:cNvPr>
          <p:cNvSpPr txBox="1"/>
          <p:nvPr/>
        </p:nvSpPr>
        <p:spPr>
          <a:xfrm>
            <a:off x="278018" y="5337000"/>
            <a:ext cx="1097494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202122"/>
                </a:solidFill>
                <a:ea typeface="Roboto" panose="02000000000000000000" pitchFamily="2" charset="0"/>
              </a:rPr>
              <a:t>La comprensión de conceptos de lógica de primer orden el clave en disciplinas como: inteligencia artificial, sistemas expertos, lenguajes como prolog y representación del conocimiento entre otras.</a:t>
            </a:r>
            <a:endParaRPr lang="es-CO" sz="2200" dirty="0"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58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17714" y="96038"/>
            <a:ext cx="1126308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- Modelo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C5528C-608A-4CD6-94E9-BEACC091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111" y="926582"/>
            <a:ext cx="4049486" cy="3106747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84D6AE52-E3EE-4167-972D-BCC146F2AC49}"/>
              </a:ext>
            </a:extLst>
          </p:cNvPr>
          <p:cNvSpPr txBox="1"/>
          <p:nvPr/>
        </p:nvSpPr>
        <p:spPr>
          <a:xfrm>
            <a:off x="187321" y="1102126"/>
            <a:ext cx="618445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>
                <a:ea typeface="Roboto" panose="02000000000000000000" pitchFamily="2" charset="0"/>
              </a:rPr>
              <a:t>Un </a:t>
            </a:r>
            <a:r>
              <a:rPr lang="es-MX" sz="2200" b="1" dirty="0">
                <a:ea typeface="Roboto" panose="02000000000000000000" pitchFamily="2" charset="0"/>
              </a:rPr>
              <a:t>modelo</a:t>
            </a:r>
            <a:r>
              <a:rPr lang="es-MX" sz="2200" dirty="0">
                <a:ea typeface="Roboto" panose="02000000000000000000" pitchFamily="2" charset="0"/>
              </a:rPr>
              <a:t> es una representación de la realidad construido a partir de ciertos elementos y reglas.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>
                <a:ea typeface="Roboto" panose="02000000000000000000" pitchFamily="2" charset="0"/>
              </a:rPr>
              <a:t>Un modelo permite analizar o explicar un fenómeno.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>
                <a:ea typeface="Roboto" panose="02000000000000000000" pitchFamily="2" charset="0"/>
              </a:rPr>
              <a:t>En lógica, un modelo es una interpretación que asigna significado a los símbolos de un lenguaje lógico, y que hace que un conjunto de fórmulas sea verdadero.</a:t>
            </a:r>
            <a:endParaRPr lang="es-CO" sz="2200" dirty="0"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62A68180-F1AB-4F9F-AE4B-4FE3770D98A1}"/>
                  </a:ext>
                </a:extLst>
              </p:cNvPr>
              <p:cNvSpPr txBox="1"/>
              <p:nvPr/>
            </p:nvSpPr>
            <p:spPr>
              <a:xfrm>
                <a:off x="422038" y="4287477"/>
                <a:ext cx="1085443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000" b="1" dirty="0">
                    <a:ea typeface="Roboto" panose="02000000000000000000" pitchFamily="2" charset="0"/>
                  </a:rPr>
                  <a:t>Lógica proposicional</a:t>
                </a:r>
                <a:r>
                  <a:rPr lang="es-MX" sz="2000" dirty="0">
                    <a:ea typeface="Roboto" panose="02000000000000000000" pitchFamily="2" charset="0"/>
                  </a:rPr>
                  <a:t>: El modelo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𝑤</m:t>
                    </m:r>
                  </m:oMath>
                </a14:m>
                <a:r>
                  <a:rPr lang="es-CO" sz="2000" dirty="0">
                    <a:ea typeface="Roboto" panose="02000000000000000000" pitchFamily="2" charset="0"/>
                  </a:rPr>
                  <a:t> mapea símbolos proposicionales a tablas de verdad.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62A68180-F1AB-4F9F-AE4B-4FE3770D9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38" y="4287477"/>
                <a:ext cx="10854438" cy="400110"/>
              </a:xfrm>
              <a:prstGeom prst="rect">
                <a:avLst/>
              </a:prstGeom>
              <a:blipFill>
                <a:blip r:embed="rId4"/>
                <a:stretch>
                  <a:fillRect l="-561" t="-7576" b="-2575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uadroTexto 32">
            <a:extLst>
              <a:ext uri="{FF2B5EF4-FFF2-40B4-BE49-F238E27FC236}">
                <a16:creationId xmlns:a16="http://schemas.microsoft.com/office/drawing/2014/main" id="{10E6944A-785E-417E-8E7F-618569A08008}"/>
              </a:ext>
            </a:extLst>
          </p:cNvPr>
          <p:cNvSpPr txBox="1"/>
          <p:nvPr/>
        </p:nvSpPr>
        <p:spPr>
          <a:xfrm>
            <a:off x="383035" y="5755874"/>
            <a:ext cx="10854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a typeface="Roboto" panose="02000000000000000000" pitchFamily="2" charset="0"/>
              </a:rPr>
              <a:t>Lógica cuantificacional</a:t>
            </a:r>
            <a:r>
              <a:rPr lang="es-MX" sz="2000" dirty="0">
                <a:ea typeface="Roboto" panose="02000000000000000000" pitchFamily="2" charset="0"/>
              </a:rPr>
              <a:t>: </a:t>
            </a:r>
            <a:r>
              <a:rPr lang="es-CO" sz="2000" dirty="0"/>
              <a:t>Eso es lo que veremos en esta clase.</a:t>
            </a:r>
            <a:endParaRPr lang="es-CO" sz="2000" dirty="0">
              <a:ea typeface="Roboto" panose="02000000000000000000" pitchFamily="2" charset="0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59FDB969-5A58-4198-8E78-BCCECF310405}"/>
              </a:ext>
            </a:extLst>
          </p:cNvPr>
          <p:cNvGrpSpPr/>
          <p:nvPr/>
        </p:nvGrpSpPr>
        <p:grpSpPr>
          <a:xfrm>
            <a:off x="1857829" y="4873550"/>
            <a:ext cx="8490857" cy="790872"/>
            <a:chOff x="1631052" y="5373233"/>
            <a:chExt cx="8490857" cy="7908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06A7F82F-5DD2-4545-B60C-6E2CA4CF14A1}"/>
                    </a:ext>
                  </a:extLst>
                </p:cNvPr>
                <p:cNvSpPr txBox="1"/>
                <p:nvPr/>
              </p:nvSpPr>
              <p:spPr>
                <a:xfrm>
                  <a:off x="1631052" y="5373233"/>
                  <a:ext cx="849085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𝑤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𝐶𝑙𝑜𝑡𝑖𝑙𝑑𝑒𝐷𝑜𝑚𝑖𝑛𝑎𝐶𝑎𝑙𝑐𝑢𝑙𝑜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:1, 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𝑅𝑎𝑚𝑜𝑛𝐷𝑜𝑚𝑖𝑛𝑎𝐶𝑎𝑙𝑐𝑢𝑙𝑜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:0</m:t>
                            </m:r>
                          </m:e>
                        </m:d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={</m:t>
                        </m:r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𝑝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,¬</m:t>
                        </m:r>
                        <m:r>
                          <a:rPr lang="es-MX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𝑞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}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06A7F82F-5DD2-4545-B60C-6E2CA4CF14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052" y="5373233"/>
                  <a:ext cx="8490857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1B3F406E-716A-4E91-AC47-8624527F3EA5}"/>
                    </a:ext>
                  </a:extLst>
                </p:cNvPr>
                <p:cNvSpPr txBox="1"/>
                <p:nvPr/>
              </p:nvSpPr>
              <p:spPr>
                <a:xfrm>
                  <a:off x="4039139" y="5836195"/>
                  <a:ext cx="20351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s-CO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1B3F406E-716A-4E91-AC47-8624527F3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9139" y="5836195"/>
                  <a:ext cx="203517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30303" r="-30303" b="-2352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3D52DEFC-E610-485B-9670-0C98900AA93D}"/>
                    </a:ext>
                  </a:extLst>
                </p:cNvPr>
                <p:cNvSpPr txBox="1"/>
                <p:nvPr/>
              </p:nvSpPr>
              <p:spPr>
                <a:xfrm>
                  <a:off x="6996392" y="5856328"/>
                  <a:ext cx="20332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s-CO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3D52DEFC-E610-485B-9670-0C98900AA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392" y="5856328"/>
                  <a:ext cx="203325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30303" r="-30303" b="-26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Abrir llave 10">
              <a:extLst>
                <a:ext uri="{FF2B5EF4-FFF2-40B4-BE49-F238E27FC236}">
                  <a16:creationId xmlns:a16="http://schemas.microsoft.com/office/drawing/2014/main" id="{AD188EAD-860D-44F5-B838-65971361FF9C}"/>
                </a:ext>
              </a:extLst>
            </p:cNvPr>
            <p:cNvSpPr/>
            <p:nvPr/>
          </p:nvSpPr>
          <p:spPr>
            <a:xfrm rot="16200000">
              <a:off x="4037591" y="4259220"/>
              <a:ext cx="177119" cy="2914652"/>
            </a:xfrm>
            <a:prstGeom prst="leftBrace">
              <a:avLst>
                <a:gd name="adj1" fmla="val 47807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5" name="Abrir llave 34">
              <a:extLst>
                <a:ext uri="{FF2B5EF4-FFF2-40B4-BE49-F238E27FC236}">
                  <a16:creationId xmlns:a16="http://schemas.microsoft.com/office/drawing/2014/main" id="{FB589D23-FE6E-4806-8853-F10EA6444949}"/>
                </a:ext>
              </a:extLst>
            </p:cNvPr>
            <p:cNvSpPr/>
            <p:nvPr/>
          </p:nvSpPr>
          <p:spPr>
            <a:xfrm rot="16200000">
              <a:off x="7016171" y="4304105"/>
              <a:ext cx="134979" cy="2809875"/>
            </a:xfrm>
            <a:prstGeom prst="leftBrace">
              <a:avLst>
                <a:gd name="adj1" fmla="val 47807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633780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33829" y="104808"/>
            <a:ext cx="113792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Conceptos importantes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232330" y="799219"/>
            <a:ext cx="11480697" cy="525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La lógica cuantificacional (lógica de primer orden o lógica de predicados) es un sistema lógico para razonar sobre las propiedades de los objetos.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Complementa los conectores lógicos de la lógica proposicional con:</a:t>
            </a:r>
          </a:p>
          <a:p>
            <a:pPr lvl="1"/>
            <a:r>
              <a:rPr lang="es-MX" dirty="0">
                <a:latin typeface="+mn-lt"/>
                <a:ea typeface="Roboto" panose="02000000000000000000" pitchFamily="2" charset="0"/>
              </a:rPr>
              <a:t>Predicados que describen las propiedades de los objetos</a:t>
            </a:r>
          </a:p>
          <a:p>
            <a:pPr lvl="1"/>
            <a:endParaRPr lang="es-MX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latin typeface="+mn-lt"/>
              <a:ea typeface="Roboto" panose="02000000000000000000" pitchFamily="2" charset="0"/>
            </a:endParaRPr>
          </a:p>
          <a:p>
            <a:pPr lvl="1"/>
            <a:r>
              <a:rPr lang="es-MX" dirty="0">
                <a:latin typeface="+mn-lt"/>
                <a:ea typeface="Roboto" panose="02000000000000000000" pitchFamily="2" charset="0"/>
              </a:rPr>
              <a:t>Cuantificadores que permiten razonar sobre múltiples objetos</a:t>
            </a:r>
          </a:p>
          <a:p>
            <a:pPr lvl="1"/>
            <a:endParaRPr lang="es-MX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latin typeface="+mn-lt"/>
              <a:ea typeface="Roboto" panose="02000000000000000000" pitchFamily="2" charset="0"/>
            </a:endParaRPr>
          </a:p>
          <a:p>
            <a:pPr lvl="1"/>
            <a:r>
              <a:rPr lang="es-MX" dirty="0">
                <a:latin typeface="+mn-lt"/>
                <a:ea typeface="Roboto" panose="02000000000000000000" pitchFamily="2" charset="0"/>
              </a:rPr>
              <a:t>Funciones que relacionan objetos entre si.</a:t>
            </a: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  <p:pic>
        <p:nvPicPr>
          <p:cNvPr id="1026" name="Picture 2" descr="Cut Down in His Optimus Prime | Robot Chicken Wiki | Fandom">
            <a:extLst>
              <a:ext uri="{FF2B5EF4-FFF2-40B4-BE49-F238E27FC236}">
                <a16:creationId xmlns:a16="http://schemas.microsoft.com/office/drawing/2014/main" id="{DAB8B55C-0B4F-4335-83D9-06F1C4CCD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205" y="2553872"/>
            <a:ext cx="1265602" cy="947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310;p34">
            <a:extLst>
              <a:ext uri="{FF2B5EF4-FFF2-40B4-BE49-F238E27FC236}">
                <a16:creationId xmlns:a16="http://schemas.microsoft.com/office/drawing/2014/main" id="{A95C159E-F267-4822-943D-78E61DFCF90A}"/>
              </a:ext>
            </a:extLst>
          </p:cNvPr>
          <p:cNvSpPr txBox="1">
            <a:spLocks/>
          </p:cNvSpPr>
          <p:nvPr/>
        </p:nvSpPr>
        <p:spPr>
          <a:xfrm>
            <a:off x="1749634" y="2639331"/>
            <a:ext cx="422304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Optimus Prime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</a:t>
            </a:r>
            <a:r>
              <a:rPr lang="es-MX" sz="2000" i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esta enfermo</a:t>
            </a:r>
          </a:p>
        </p:txBody>
      </p:sp>
      <p:sp>
        <p:nvSpPr>
          <p:cNvPr id="20" name="Google Shape;310;p34">
            <a:extLst>
              <a:ext uri="{FF2B5EF4-FFF2-40B4-BE49-F238E27FC236}">
                <a16:creationId xmlns:a16="http://schemas.microsoft.com/office/drawing/2014/main" id="{3F2CCBEA-B5CF-4EFB-B67E-499E700E45B1}"/>
              </a:ext>
            </a:extLst>
          </p:cNvPr>
          <p:cNvSpPr txBox="1">
            <a:spLocks/>
          </p:cNvSpPr>
          <p:nvPr/>
        </p:nvSpPr>
        <p:spPr>
          <a:xfrm>
            <a:off x="1551994" y="5452858"/>
            <a:ext cx="7750628" cy="46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Ratchet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</a:t>
            </a:r>
            <a:r>
              <a:rPr lang="es-MX" sz="2000" i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es el medico de Optimus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</a:t>
            </a:r>
            <a:r>
              <a:rPr lang="es-MX" sz="2000" b="1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y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</a:t>
            </a:r>
            <a:r>
              <a:rPr lang="es-MX" sz="2000" i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le dijo que tiene cancer de próstata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BE2FDF-2B98-4665-8B2E-92DFBEE25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191" y="5204378"/>
            <a:ext cx="1265601" cy="949870"/>
          </a:xfrm>
          <a:prstGeom prst="rect">
            <a:avLst/>
          </a:prstGeom>
        </p:spPr>
      </p:pic>
      <p:pic>
        <p:nvPicPr>
          <p:cNvPr id="1030" name="Picture 6" descr="The World Is Safe - S4 EP16 - Robot Chicken">
            <a:extLst>
              <a:ext uri="{FF2B5EF4-FFF2-40B4-BE49-F238E27FC236}">
                <a16:creationId xmlns:a16="http://schemas.microsoft.com/office/drawing/2014/main" id="{81836BC6-A8F0-4E60-BC48-8FEECCC03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220" y="3923035"/>
            <a:ext cx="1511572" cy="85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Google Shape;310;p34">
            <a:extLst>
              <a:ext uri="{FF2B5EF4-FFF2-40B4-BE49-F238E27FC236}">
                <a16:creationId xmlns:a16="http://schemas.microsoft.com/office/drawing/2014/main" id="{F5E557B1-A824-402E-9442-D52C204646CB}"/>
              </a:ext>
            </a:extLst>
          </p:cNvPr>
          <p:cNvSpPr txBox="1">
            <a:spLocks/>
          </p:cNvSpPr>
          <p:nvPr/>
        </p:nvSpPr>
        <p:spPr>
          <a:xfrm>
            <a:off x="1551994" y="4102294"/>
            <a:ext cx="635215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u="sng" dirty="0">
                <a:solidFill>
                  <a:srgbClr val="FF0000"/>
                </a:solidFill>
                <a:latin typeface="+mn-lt"/>
                <a:ea typeface="Roboto" panose="02000000000000000000" pitchFamily="2" charset="0"/>
              </a:rPr>
              <a:t>Todos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</a:t>
            </a:r>
            <a:r>
              <a:rPr lang="es-MX" sz="2000" b="1" dirty="0">
                <a:latin typeface="+mn-lt"/>
                <a:ea typeface="Roboto" panose="02000000000000000000" pitchFamily="2" charset="0"/>
              </a:rPr>
              <a:t>los autobots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</a:t>
            </a:r>
            <a:r>
              <a:rPr lang="es-MX" sz="2000" i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defienden a la tierra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AE802F3-3726-4973-B26C-9979D49B5FBB}"/>
              </a:ext>
            </a:extLst>
          </p:cNvPr>
          <p:cNvSpPr txBox="1"/>
          <p:nvPr/>
        </p:nvSpPr>
        <p:spPr>
          <a:xfrm>
            <a:off x="104791" y="6414638"/>
            <a:ext cx="3814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b="1" dirty="0">
                <a:ea typeface="Roboto" panose="02000000000000000000" pitchFamily="2" charset="0"/>
              </a:rPr>
              <a:t>Nota</a:t>
            </a:r>
            <a:r>
              <a:rPr lang="es-CO" sz="1600" dirty="0">
                <a:ea typeface="Roboto" panose="02000000000000000000" pitchFamily="2" charset="0"/>
              </a:rPr>
              <a:t>: Para contexto ver el siguiente </a:t>
            </a:r>
            <a:r>
              <a:rPr lang="es-CO" sz="1600" dirty="0">
                <a:ea typeface="Roboto" panose="02000000000000000000" pitchFamily="2" charset="0"/>
                <a:hlinkClick r:id="rId6"/>
              </a:rPr>
              <a:t>link</a:t>
            </a:r>
            <a:endParaRPr lang="es-CO" sz="1600" dirty="0"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564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96038"/>
            <a:ext cx="1110562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Conceptos importantes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73746" y="915291"/>
            <a:ext cx="1089078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En lógica de predicados es importante tener claros los siguientes conceptos:</a:t>
            </a:r>
          </a:p>
        </p:txBody>
      </p:sp>
      <p:pic>
        <p:nvPicPr>
          <p:cNvPr id="15" name="Picture 2" descr="Cut Down in His Optimus Prime | Robot Chicken Wiki | Fandom">
            <a:extLst>
              <a:ext uri="{FF2B5EF4-FFF2-40B4-BE49-F238E27FC236}">
                <a16:creationId xmlns:a16="http://schemas.microsoft.com/office/drawing/2014/main" id="{62C323E1-551E-4348-A17C-D1C2D4958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19" y="4621125"/>
            <a:ext cx="2017052" cy="1510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310;p34">
            <a:extLst>
              <a:ext uri="{FF2B5EF4-FFF2-40B4-BE49-F238E27FC236}">
                <a16:creationId xmlns:a16="http://schemas.microsoft.com/office/drawing/2014/main" id="{55E02E8D-7984-4AD3-8416-DFDD9DAE8ACC}"/>
              </a:ext>
            </a:extLst>
          </p:cNvPr>
          <p:cNvSpPr txBox="1">
            <a:spLocks/>
          </p:cNvSpPr>
          <p:nvPr/>
        </p:nvSpPr>
        <p:spPr>
          <a:xfrm>
            <a:off x="242570" y="6131967"/>
            <a:ext cx="340324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Optimus Prime </a:t>
            </a:r>
            <a:r>
              <a:rPr lang="es-MX" sz="2000" dirty="0">
                <a:solidFill>
                  <a:srgbClr val="C00000"/>
                </a:solidFill>
                <a:latin typeface="+mn-lt"/>
                <a:ea typeface="Roboto" panose="02000000000000000000" pitchFamily="2" charset="0"/>
              </a:rPr>
              <a:t>esta enfermo</a:t>
            </a:r>
          </a:p>
        </p:txBody>
      </p:sp>
      <p:sp>
        <p:nvSpPr>
          <p:cNvPr id="22" name="Google Shape;310;p34">
            <a:extLst>
              <a:ext uri="{FF2B5EF4-FFF2-40B4-BE49-F238E27FC236}">
                <a16:creationId xmlns:a16="http://schemas.microsoft.com/office/drawing/2014/main" id="{0FB22924-A6F9-40AC-944E-F6F20444CF9B}"/>
              </a:ext>
            </a:extLst>
          </p:cNvPr>
          <p:cNvSpPr txBox="1">
            <a:spLocks/>
          </p:cNvSpPr>
          <p:nvPr/>
        </p:nvSpPr>
        <p:spPr>
          <a:xfrm>
            <a:off x="36527" y="1420252"/>
            <a:ext cx="4081579" cy="3084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Universo o dominio</a:t>
            </a:r>
          </a:p>
          <a:p>
            <a:r>
              <a:rPr lang="es-MX" sz="2200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Objetos o individuos</a:t>
            </a:r>
          </a:p>
          <a:p>
            <a:r>
              <a:rPr lang="es-MX" sz="2200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Predicados</a:t>
            </a:r>
          </a:p>
          <a:p>
            <a:r>
              <a:rPr lang="es-MX" sz="2200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Variables</a:t>
            </a:r>
          </a:p>
          <a:p>
            <a:r>
              <a:rPr lang="es-MX" sz="2200" dirty="0">
                <a:solidFill>
                  <a:srgbClr val="C00000"/>
                </a:solidFill>
                <a:latin typeface="+mn-lt"/>
                <a:ea typeface="Roboto" panose="02000000000000000000" pitchFamily="2" charset="0"/>
              </a:rPr>
              <a:t>Conjunto de verdad</a:t>
            </a:r>
          </a:p>
          <a:p>
            <a:r>
              <a:rPr lang="es-MX" sz="2200" dirty="0">
                <a:solidFill>
                  <a:srgbClr val="C00000"/>
                </a:solidFill>
                <a:latin typeface="+mn-lt"/>
                <a:ea typeface="Roboto" panose="02000000000000000000" pitchFamily="2" charset="0"/>
              </a:rPr>
              <a:t>Cuantificadores.</a:t>
            </a:r>
          </a:p>
          <a:p>
            <a:r>
              <a:rPr lang="es-MX" sz="2200" dirty="0">
                <a:solidFill>
                  <a:srgbClr val="C00000"/>
                </a:solidFill>
                <a:latin typeface="+mn-lt"/>
                <a:ea typeface="Roboto" panose="02000000000000000000" pitchFamily="2" charset="0"/>
              </a:rPr>
              <a:t>Funciones proposicionales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2751426C-0489-41C9-9B0C-D7BE451225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4290991"/>
                  </p:ext>
                </p:extLst>
              </p:nvPr>
            </p:nvGraphicFramePr>
            <p:xfrm>
              <a:off x="3778287" y="4233546"/>
              <a:ext cx="8254055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71207">
                      <a:extLst>
                        <a:ext uri="{9D8B030D-6E8A-4147-A177-3AD203B41FA5}">
                          <a16:colId xmlns:a16="http://schemas.microsoft.com/office/drawing/2014/main" val="1162124380"/>
                        </a:ext>
                      </a:extLst>
                    </a:gridCol>
                    <a:gridCol w="2976905">
                      <a:extLst>
                        <a:ext uri="{9D8B030D-6E8A-4147-A177-3AD203B41FA5}">
                          <a16:colId xmlns:a16="http://schemas.microsoft.com/office/drawing/2014/main" val="1595205971"/>
                        </a:ext>
                      </a:extLst>
                    </a:gridCol>
                    <a:gridCol w="4005943">
                      <a:extLst>
                        <a:ext uri="{9D8B030D-6E8A-4147-A177-3AD203B41FA5}">
                          <a16:colId xmlns:a16="http://schemas.microsoft.com/office/drawing/2014/main" val="1776074947"/>
                        </a:ext>
                      </a:extLst>
                    </a:gridCol>
                  </a:tblGrid>
                  <a:tr h="276552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Concepto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Representación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7804505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Universo</a:t>
                          </a:r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Transformers (Autobots y Decepticons)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𝑈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={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𝑂𝑝𝑡𝑖𝑚𝑢𝑠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,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𝐵𝑢𝑏𝑢𝑚𝑏𝑙𝑒𝑏𝑒𝑒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,…}</m:t>
                                </m:r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7720013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Objeto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Optimus Prime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𝑂𝑝𝑡𝑖𝑚𝑢𝑠</m:t>
                                </m:r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5900105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</a:rPr>
                            <a:t> está enfermo</a:t>
                          </a: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𝑒𝑛𝑓𝑒𝑟𝑚𝑜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solidFill>
                              <a:srgbClr val="C00000"/>
                            </a:solidFill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956890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Cualquier transformer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5915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2751426C-0489-41C9-9B0C-D7BE451225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4290991"/>
                  </p:ext>
                </p:extLst>
              </p:nvPr>
            </p:nvGraphicFramePr>
            <p:xfrm>
              <a:off x="3778287" y="4233546"/>
              <a:ext cx="8254055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71207">
                      <a:extLst>
                        <a:ext uri="{9D8B030D-6E8A-4147-A177-3AD203B41FA5}">
                          <a16:colId xmlns:a16="http://schemas.microsoft.com/office/drawing/2014/main" val="1162124380"/>
                        </a:ext>
                      </a:extLst>
                    </a:gridCol>
                    <a:gridCol w="2976905">
                      <a:extLst>
                        <a:ext uri="{9D8B030D-6E8A-4147-A177-3AD203B41FA5}">
                          <a16:colId xmlns:a16="http://schemas.microsoft.com/office/drawing/2014/main" val="1595205971"/>
                        </a:ext>
                      </a:extLst>
                    </a:gridCol>
                    <a:gridCol w="4005943">
                      <a:extLst>
                        <a:ext uri="{9D8B030D-6E8A-4147-A177-3AD203B41FA5}">
                          <a16:colId xmlns:a16="http://schemas.microsoft.com/office/drawing/2014/main" val="177607494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Concepto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Representación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780450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Universo</a:t>
                          </a:r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Transformers (Autobots y Decepticons)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927" t="-60870" r="-304" b="-18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772001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Objeto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Optimus Prime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927" t="-280303" r="-304" b="-2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59001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2828" t="-386154" r="-135246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927" t="-386154" r="-304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9568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Cualquier transformer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927" t="-486154" r="-304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591502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496A8341-CA9E-441A-A8DE-C39619078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743" y="2545442"/>
            <a:ext cx="3443302" cy="89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nsignia - Transformers Wiki">
            <a:extLst>
              <a:ext uri="{FF2B5EF4-FFF2-40B4-BE49-F238E27FC236}">
                <a16:creationId xmlns:a16="http://schemas.microsoft.com/office/drawing/2014/main" id="{FBFA257D-24AD-49CD-A004-96E53176A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490" y="2523737"/>
            <a:ext cx="2111682" cy="110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808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88686" y="96038"/>
            <a:ext cx="90319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Universo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188686" y="929874"/>
            <a:ext cx="11814628" cy="1441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El 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universo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(también llamado 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dominio del discurso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) es el conjunto de todos los objetos sobre los que estamos razonando dentro de una teoría lógica. En otras palabras, es el mundo que se esta modelando.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El universo es definido por quien modela el problema, por lo tanto tiene contexto.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E5C0E5-1FD7-4FD6-A9AD-DB07BAD6C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54" y="2545756"/>
            <a:ext cx="2964369" cy="24585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C34A92-405F-4DF5-BB98-FDC18CD34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86" y="5100549"/>
            <a:ext cx="3310306" cy="1655153"/>
          </a:xfrm>
          <a:prstGeom prst="rect">
            <a:avLst/>
          </a:prstGeom>
        </p:spPr>
      </p:pic>
      <p:pic>
        <p:nvPicPr>
          <p:cNvPr id="9218" name="Picture 2" descr="Family Guy - Why Judas Hates Jesus">
            <a:extLst>
              <a:ext uri="{FF2B5EF4-FFF2-40B4-BE49-F238E27FC236}">
                <a16:creationId xmlns:a16="http://schemas.microsoft.com/office/drawing/2014/main" id="{531D73E6-7836-4D3D-882C-B90159ECC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081" y="5100549"/>
            <a:ext cx="2562090" cy="144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69FA105E-1CB4-4256-8AC3-0AF815F9F9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6280223"/>
                  </p:ext>
                </p:extLst>
              </p:nvPr>
            </p:nvGraphicFramePr>
            <p:xfrm>
              <a:off x="6475260" y="2964846"/>
              <a:ext cx="5528054" cy="26822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160740">
                      <a:extLst>
                        <a:ext uri="{9D8B030D-6E8A-4147-A177-3AD203B41FA5}">
                          <a16:colId xmlns:a16="http://schemas.microsoft.com/office/drawing/2014/main" val="119943523"/>
                        </a:ext>
                      </a:extLst>
                    </a:gridCol>
                    <a:gridCol w="3367314">
                      <a:extLst>
                        <a:ext uri="{9D8B030D-6E8A-4147-A177-3AD203B41FA5}">
                          <a16:colId xmlns:a16="http://schemas.microsoft.com/office/drawing/2014/main" val="3400431318"/>
                        </a:ext>
                      </a:extLst>
                    </a:gridCol>
                  </a:tblGrid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Contexto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Universo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6474683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Computadores del LIS	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3,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4,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5,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6,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7,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8}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5827961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Transformers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𝑀𝑒𝑔𝑎𝑡𝑟𝑜𝑛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𝑂𝑝𝑡𝑖𝑚𝑢𝑠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,…}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66727044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Números reales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(−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.+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9878549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Apóstoles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𝑃𝑒𝑑𝑟𝑜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𝐽𝑢𝑎𝑛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𝑆𝑎𝑛𝑡𝑖𝑎𝑔𝑜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,…}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227372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Números enteros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{−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,−2,−1,0,1,2,…,+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017054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69FA105E-1CB4-4256-8AC3-0AF815F9F9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6280223"/>
                  </p:ext>
                </p:extLst>
              </p:nvPr>
            </p:nvGraphicFramePr>
            <p:xfrm>
              <a:off x="6475260" y="2964846"/>
              <a:ext cx="5528054" cy="26822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160740">
                      <a:extLst>
                        <a:ext uri="{9D8B030D-6E8A-4147-A177-3AD203B41FA5}">
                          <a16:colId xmlns:a16="http://schemas.microsoft.com/office/drawing/2014/main" val="119943523"/>
                        </a:ext>
                      </a:extLst>
                    </a:gridCol>
                    <a:gridCol w="3367314">
                      <a:extLst>
                        <a:ext uri="{9D8B030D-6E8A-4147-A177-3AD203B41FA5}">
                          <a16:colId xmlns:a16="http://schemas.microsoft.com/office/drawing/2014/main" val="340043131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Contexto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Universo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647468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Computadores del LIS	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4376" t="-60870" r="-362" b="-24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58279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Transformers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4376" t="-280303" r="-362" b="-3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67270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Números reales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4376" t="-386154" r="-362" b="-2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987854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Apóstoles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4376" t="-486154" r="-362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22737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Números enteros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4376" t="-586154" r="-362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7054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6" descr="Insignia - Transformers Wiki">
            <a:extLst>
              <a:ext uri="{FF2B5EF4-FFF2-40B4-BE49-F238E27FC236}">
                <a16:creationId xmlns:a16="http://schemas.microsoft.com/office/drawing/2014/main" id="{B19A3502-679C-4771-9189-139AB7114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53" y="3430799"/>
            <a:ext cx="1311377" cy="68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586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Objeto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217714" y="915331"/>
            <a:ext cx="11582400" cy="865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Un objeto (también llamado 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individuo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o 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elemento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) es un miembro concreto del universo o dominio sobre el cual se esta razonando.</a:t>
            </a: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a 6">
                <a:extLst>
                  <a:ext uri="{FF2B5EF4-FFF2-40B4-BE49-F238E27FC236}">
                    <a16:creationId xmlns:a16="http://schemas.microsoft.com/office/drawing/2014/main" id="{0B920E00-10AB-416D-9FA6-BC22B8CE09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0937443"/>
                  </p:ext>
                </p:extLst>
              </p:nvPr>
            </p:nvGraphicFramePr>
            <p:xfrm>
              <a:off x="4585636" y="1818718"/>
              <a:ext cx="6823223" cy="26822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121596">
                      <a:extLst>
                        <a:ext uri="{9D8B030D-6E8A-4147-A177-3AD203B41FA5}">
                          <a16:colId xmlns:a16="http://schemas.microsoft.com/office/drawing/2014/main" val="119943523"/>
                        </a:ext>
                      </a:extLst>
                    </a:gridCol>
                    <a:gridCol w="3185669">
                      <a:extLst>
                        <a:ext uri="{9D8B030D-6E8A-4147-A177-3AD203B41FA5}">
                          <a16:colId xmlns:a16="http://schemas.microsoft.com/office/drawing/2014/main" val="3400431318"/>
                        </a:ext>
                      </a:extLst>
                    </a:gridCol>
                    <a:gridCol w="1515958">
                      <a:extLst>
                        <a:ext uri="{9D8B030D-6E8A-4147-A177-3AD203B41FA5}">
                          <a16:colId xmlns:a16="http://schemas.microsoft.com/office/drawing/2014/main" val="715837649"/>
                        </a:ext>
                      </a:extLst>
                    </a:gridCol>
                  </a:tblGrid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Contexto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Universo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Objeto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6474683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Computadores del LIS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3,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4,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5,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6,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7,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8}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5827961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Transformers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𝑀𝑒𝑔𝑎𝑡𝑟𝑜𝑛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𝑂𝑝𝑡𝑖𝑚𝑢𝑠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,…}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𝑒𝑙𝑖𝑡𝑎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𝑜𝑛𝑒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66727044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Números reales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(−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.+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9878549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Apóstoles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𝑃𝑒𝑑𝑟𝑜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𝐽𝑢𝑎𝑛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𝑆𝑎𝑛𝑡𝑖𝑎𝑔𝑜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,…}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𝑃𝑒𝑑𝑟𝑜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227372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Números enteros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{−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,−2,−1,0,1,2,…,+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017054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a 6">
                <a:extLst>
                  <a:ext uri="{FF2B5EF4-FFF2-40B4-BE49-F238E27FC236}">
                    <a16:creationId xmlns:a16="http://schemas.microsoft.com/office/drawing/2014/main" id="{0B920E00-10AB-416D-9FA6-BC22B8CE09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0937443"/>
                  </p:ext>
                </p:extLst>
              </p:nvPr>
            </p:nvGraphicFramePr>
            <p:xfrm>
              <a:off x="4585636" y="1818718"/>
              <a:ext cx="6823223" cy="26822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121596">
                      <a:extLst>
                        <a:ext uri="{9D8B030D-6E8A-4147-A177-3AD203B41FA5}">
                          <a16:colId xmlns:a16="http://schemas.microsoft.com/office/drawing/2014/main" val="119943523"/>
                        </a:ext>
                      </a:extLst>
                    </a:gridCol>
                    <a:gridCol w="3185669">
                      <a:extLst>
                        <a:ext uri="{9D8B030D-6E8A-4147-A177-3AD203B41FA5}">
                          <a16:colId xmlns:a16="http://schemas.microsoft.com/office/drawing/2014/main" val="3400431318"/>
                        </a:ext>
                      </a:extLst>
                    </a:gridCol>
                    <a:gridCol w="1515958">
                      <a:extLst>
                        <a:ext uri="{9D8B030D-6E8A-4147-A177-3AD203B41FA5}">
                          <a16:colId xmlns:a16="http://schemas.microsoft.com/office/drawing/2014/main" val="71583764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Contexto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Universo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Objeto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647468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Computadores del LIS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730" t="-60870" r="-47992" b="-24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0201" t="-60870" r="-803" b="-24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58279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Transformers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730" t="-280303" r="-47992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0201" t="-280303" r="-803" b="-3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67270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Números reales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730" t="-386154" r="-47992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0201" t="-386154" r="-803" b="-2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987854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Apóstoles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730" t="-486154" r="-47992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0201" t="-486154" r="-803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22737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Números enteros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730" t="-586154" r="-47992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0201" t="-586154" r="-803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7054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194" name="Picture 2" descr="Saint Peter | Family Guy Wiki | Fandom">
            <a:extLst>
              <a:ext uri="{FF2B5EF4-FFF2-40B4-BE49-F238E27FC236}">
                <a16:creationId xmlns:a16="http://schemas.microsoft.com/office/drawing/2014/main" id="{B7EAE6DB-0D05-4F6F-9418-A2347FE11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8398" y="4812990"/>
            <a:ext cx="2397449" cy="179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Sésamo: Contando el número 4 con El Conde Contar.">
            <a:extLst>
              <a:ext uri="{FF2B5EF4-FFF2-40B4-BE49-F238E27FC236}">
                <a16:creationId xmlns:a16="http://schemas.microsoft.com/office/drawing/2014/main" id="{50501567-F5ED-4650-9E72-27FE4C27A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650" y="4940231"/>
            <a:ext cx="2814237" cy="158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Full name Pi By miguelmorales | Education &amp; Tech Cartoon | TOONPOOL">
            <a:extLst>
              <a:ext uri="{FF2B5EF4-FFF2-40B4-BE49-F238E27FC236}">
                <a16:creationId xmlns:a16="http://schemas.microsoft.com/office/drawing/2014/main" id="{D00EED63-5FCC-436A-8752-43D1742B9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637" y="4280708"/>
            <a:ext cx="2397450" cy="169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9C4C742B-3F59-47D5-9CA8-A4007BDB459F}"/>
              </a:ext>
            </a:extLst>
          </p:cNvPr>
          <p:cNvGrpSpPr/>
          <p:nvPr/>
        </p:nvGrpSpPr>
        <p:grpSpPr>
          <a:xfrm>
            <a:off x="2678960" y="2830304"/>
            <a:ext cx="1092201" cy="989554"/>
            <a:chOff x="8583328" y="2334127"/>
            <a:chExt cx="1092201" cy="989554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085D120E-02AF-4422-A9AD-DEA8CAA36F53}"/>
                </a:ext>
              </a:extLst>
            </p:cNvPr>
            <p:cNvGrpSpPr/>
            <p:nvPr/>
          </p:nvGrpSpPr>
          <p:grpSpPr>
            <a:xfrm>
              <a:off x="8795877" y="2334127"/>
              <a:ext cx="667104" cy="989554"/>
              <a:chOff x="1916341" y="2529812"/>
              <a:chExt cx="667104" cy="989554"/>
            </a:xfrm>
          </p:grpSpPr>
          <p:pic>
            <p:nvPicPr>
              <p:cNvPr id="18" name="Picture 6" descr="Iconos gratuitos de Computadora diseñados por DinosoftLabs">
                <a:extLst>
                  <a:ext uri="{FF2B5EF4-FFF2-40B4-BE49-F238E27FC236}">
                    <a16:creationId xmlns:a16="http://schemas.microsoft.com/office/drawing/2014/main" id="{AD675536-C429-4EBC-83E4-051D63226B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6341" y="2529812"/>
                <a:ext cx="667104" cy="667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790B910-1756-4C4E-AB13-1A3FBA50F525}"/>
                  </a:ext>
                </a:extLst>
              </p:cNvPr>
              <p:cNvSpPr txBox="1"/>
              <p:nvPr/>
            </p:nvSpPr>
            <p:spPr>
              <a:xfrm>
                <a:off x="1916341" y="3211589"/>
                <a:ext cx="667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</a:rPr>
                  <a:t>L6</a:t>
                </a:r>
              </a:p>
            </p:txBody>
          </p:sp>
        </p:grpSp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8DBECA44-9246-4FA0-A46B-82EBB5D55CC4}"/>
                </a:ext>
              </a:extLst>
            </p:cNvPr>
            <p:cNvSpPr/>
            <p:nvPr/>
          </p:nvSpPr>
          <p:spPr>
            <a:xfrm>
              <a:off x="8583328" y="2378345"/>
              <a:ext cx="1092201" cy="940009"/>
            </a:xfrm>
            <a:prstGeom prst="roundRect">
              <a:avLst>
                <a:gd name="adj" fmla="val 11227"/>
              </a:avLst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8200" name="Picture 8" descr="Elita-One (G1) | Wiki Transformers | Fandom">
            <a:extLst>
              <a:ext uri="{FF2B5EF4-FFF2-40B4-BE49-F238E27FC236}">
                <a16:creationId xmlns:a16="http://schemas.microsoft.com/office/drawing/2014/main" id="{21AFE7DB-B373-4E0D-94AD-0B21AD378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41" y="2031188"/>
            <a:ext cx="1293893" cy="258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147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464457" y="96038"/>
            <a:ext cx="1113559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Predicado</a:t>
            </a:r>
            <a:endParaRPr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3851" y="831842"/>
                <a:ext cx="11633257" cy="2914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Un predicado es una </a:t>
                </a:r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función lógica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que expresa una propiedad de un objeto o una relación entre objetos dentro del universo.</a:t>
                </a: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Permite describir qué es cierto respecto a los elementos del universo lógico.</a:t>
                </a: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Para representar un predicado se usan </a:t>
                </a:r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funciones proposicionales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 A continuación, se muestran algunos ejemplos:</a:t>
                </a:r>
              </a:p>
              <a:p>
                <a:pPr lvl="1"/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Unitario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 – Propiedad de un objeto</a:t>
                </a:r>
              </a:p>
              <a:p>
                <a:pPr lvl="1"/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Binario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𝑄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 – Relación entre dos objetos</a:t>
                </a:r>
              </a:p>
              <a:p>
                <a:pPr lvl="1"/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Ternario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𝑅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𝑧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 – Relación entre tres objetos. </a:t>
                </a:r>
              </a:p>
              <a:p>
                <a:pPr lvl="1"/>
                <a:endParaRPr lang="es-MX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51" y="831842"/>
                <a:ext cx="11633257" cy="2914376"/>
              </a:xfrm>
              <a:prstGeom prst="rect">
                <a:avLst/>
              </a:prstGeom>
              <a:blipFill>
                <a:blip r:embed="rId3"/>
                <a:stretch>
                  <a:fillRect r="-1152" b="-98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7C726F6E-7A2B-4AAA-87E4-22CA28CD26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4990545"/>
                  </p:ext>
                </p:extLst>
              </p:nvPr>
            </p:nvGraphicFramePr>
            <p:xfrm>
              <a:off x="6160479" y="4482022"/>
              <a:ext cx="4766646" cy="15849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063929">
                      <a:extLst>
                        <a:ext uri="{9D8B030D-6E8A-4147-A177-3AD203B41FA5}">
                          <a16:colId xmlns:a16="http://schemas.microsoft.com/office/drawing/2014/main" val="119943523"/>
                        </a:ext>
                      </a:extLst>
                    </a:gridCol>
                    <a:gridCol w="1607856">
                      <a:extLst>
                        <a:ext uri="{9D8B030D-6E8A-4147-A177-3AD203B41FA5}">
                          <a16:colId xmlns:a16="http://schemas.microsoft.com/office/drawing/2014/main" val="3400431318"/>
                        </a:ext>
                      </a:extLst>
                    </a:gridCol>
                    <a:gridCol w="2094861">
                      <a:extLst>
                        <a:ext uri="{9D8B030D-6E8A-4147-A177-3AD203B41FA5}">
                          <a16:colId xmlns:a16="http://schemas.microsoft.com/office/drawing/2014/main" val="715837649"/>
                        </a:ext>
                      </a:extLst>
                    </a:gridCol>
                  </a:tblGrid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Tipo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Predicado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Objeto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6474683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Unitario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𝑒𝑛𝑓𝑒𝑟𝑚𝑜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</a:rPr>
                            <a:t> esta enfermo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5827961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Binario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𝑚𝑒𝑑𝑖𝑐𝑜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</a:rPr>
                            <a:t> es medico de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66727044"/>
                      </a:ext>
                    </a:extLst>
                  </a:tr>
                  <a:tr h="280616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Ternario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𝑑𝑖𝑗𝑜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</a:rPr>
                            <a:t> le dijo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</a:rPr>
                            <a:t> que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98785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7C726F6E-7A2B-4AAA-87E4-22CA28CD26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4990545"/>
                  </p:ext>
                </p:extLst>
              </p:nvPr>
            </p:nvGraphicFramePr>
            <p:xfrm>
              <a:off x="6160479" y="4482022"/>
              <a:ext cx="4766646" cy="15849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063929">
                      <a:extLst>
                        <a:ext uri="{9D8B030D-6E8A-4147-A177-3AD203B41FA5}">
                          <a16:colId xmlns:a16="http://schemas.microsoft.com/office/drawing/2014/main" val="119943523"/>
                        </a:ext>
                      </a:extLst>
                    </a:gridCol>
                    <a:gridCol w="1607856">
                      <a:extLst>
                        <a:ext uri="{9D8B030D-6E8A-4147-A177-3AD203B41FA5}">
                          <a16:colId xmlns:a16="http://schemas.microsoft.com/office/drawing/2014/main" val="3400431318"/>
                        </a:ext>
                      </a:extLst>
                    </a:gridCol>
                    <a:gridCol w="2094861">
                      <a:extLst>
                        <a:ext uri="{9D8B030D-6E8A-4147-A177-3AD203B41FA5}">
                          <a16:colId xmlns:a16="http://schemas.microsoft.com/office/drawing/2014/main" val="71583764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Tipo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Predicado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Objeto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647468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Unitario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667" t="-106061" r="-131061" b="-2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7907" t="-106061" r="-581" b="-2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58279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Binario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667" t="-209231" r="-131061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7907" t="-209231" r="-581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67270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Ternario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667" t="-309231" r="-131061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7907" t="-309231" r="-581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987854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4" name="Imagen 23">
            <a:extLst>
              <a:ext uri="{FF2B5EF4-FFF2-40B4-BE49-F238E27FC236}">
                <a16:creationId xmlns:a16="http://schemas.microsoft.com/office/drawing/2014/main" id="{B8838851-A8C3-48B6-972C-753E596CF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762" y="4233976"/>
            <a:ext cx="3053295" cy="22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95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464457" y="96038"/>
            <a:ext cx="1113559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Predicado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87394" y="831842"/>
            <a:ext cx="1210460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  <a:ea typeface="Roboto" panose="02000000000000000000" pitchFamily="2" charset="0"/>
              </a:rPr>
              <a:t>Ejemplo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: A continuación se muestran algunos ejemplos con funciones proposicionales obtenidas a partir de la proposición: “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Ratchet le dijo a Optimus que  esta enfermo”</a:t>
            </a: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9E0D850-6190-4D46-9AD4-5EB0CBEF7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938" y="1796637"/>
            <a:ext cx="3389372" cy="2543821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154C0DA6-F860-401E-A59A-18E6FBEBE5CC}"/>
              </a:ext>
            </a:extLst>
          </p:cNvPr>
          <p:cNvGrpSpPr/>
          <p:nvPr/>
        </p:nvGrpSpPr>
        <p:grpSpPr>
          <a:xfrm>
            <a:off x="869835" y="3129528"/>
            <a:ext cx="5619302" cy="903630"/>
            <a:chOff x="4600096" y="4570111"/>
            <a:chExt cx="5619302" cy="903630"/>
          </a:xfrm>
        </p:grpSpPr>
        <p:sp>
          <p:nvSpPr>
            <p:cNvPr id="12" name="Google Shape;310;p34">
              <a:extLst>
                <a:ext uri="{FF2B5EF4-FFF2-40B4-BE49-F238E27FC236}">
                  <a16:creationId xmlns:a16="http://schemas.microsoft.com/office/drawing/2014/main" id="{77817031-E712-4519-9C12-8EAF9206F858}"/>
                </a:ext>
              </a:extLst>
            </p:cNvPr>
            <p:cNvSpPr txBox="1">
              <a:spLocks/>
            </p:cNvSpPr>
            <p:nvPr/>
          </p:nvSpPr>
          <p:spPr>
            <a:xfrm>
              <a:off x="4600096" y="4570111"/>
              <a:ext cx="5619302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3020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Roboto"/>
                <a:buChar char="●"/>
                <a:defRPr sz="26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302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Roboto"/>
                <a:buChar char="○"/>
                <a:defRPr sz="2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boto"/>
                <a:buChar char="■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boto"/>
                <a:buChar char="●"/>
                <a:defRPr sz="16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boto"/>
                <a:buChar char="○"/>
                <a:defRPr sz="16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boto"/>
                <a:buChar char="■"/>
                <a:defRPr sz="16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boto"/>
                <a:buChar char="●"/>
                <a:defRPr sz="16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boto"/>
                <a:buChar char="○"/>
                <a:defRPr sz="16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boto"/>
                <a:buChar char="■"/>
                <a:defRPr sz="16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127000" indent="0">
                <a:buNone/>
              </a:pPr>
              <a:r>
                <a:rPr lang="es-MX" sz="2000" b="1" dirty="0">
                  <a:solidFill>
                    <a:srgbClr val="002060"/>
                  </a:solidFill>
                  <a:latin typeface="+mn-lt"/>
                  <a:ea typeface="Roboto" panose="02000000000000000000" pitchFamily="2" charset="0"/>
                </a:rPr>
                <a:t>Ratchet</a:t>
              </a:r>
              <a:r>
                <a:rPr lang="es-MX" sz="2000" dirty="0">
                  <a:solidFill>
                    <a:schemeClr val="tx1"/>
                  </a:solidFill>
                  <a:latin typeface="+mn-lt"/>
                  <a:ea typeface="Roboto" panose="02000000000000000000" pitchFamily="2" charset="0"/>
                </a:rPr>
                <a:t> le dijo a </a:t>
              </a:r>
              <a:r>
                <a:rPr lang="es-MX" sz="2000" b="1" dirty="0">
                  <a:solidFill>
                    <a:srgbClr val="C00000"/>
                  </a:solidFill>
                  <a:latin typeface="+mn-lt"/>
                  <a:ea typeface="Roboto" panose="02000000000000000000" pitchFamily="2" charset="0"/>
                </a:rPr>
                <a:t>Optimus</a:t>
              </a:r>
              <a:r>
                <a:rPr lang="es-MX" sz="2000" dirty="0">
                  <a:solidFill>
                    <a:schemeClr val="tx1"/>
                  </a:solidFill>
                  <a:latin typeface="+mn-lt"/>
                  <a:ea typeface="Roboto" panose="02000000000000000000" pitchFamily="2" charset="0"/>
                </a:rPr>
                <a:t> que  esta enfermo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D21A714E-4C73-49B3-A2D5-710514866F04}"/>
                    </a:ext>
                  </a:extLst>
                </p:cNvPr>
                <p:cNvSpPr txBox="1"/>
                <p:nvPr/>
              </p:nvSpPr>
              <p:spPr>
                <a:xfrm>
                  <a:off x="5101835" y="5149841"/>
                  <a:ext cx="2017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O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D21A714E-4C73-49B3-A2D5-710514866F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1835" y="5149841"/>
                  <a:ext cx="201722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18182" r="-12121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Abrir llave 17">
              <a:extLst>
                <a:ext uri="{FF2B5EF4-FFF2-40B4-BE49-F238E27FC236}">
                  <a16:creationId xmlns:a16="http://schemas.microsoft.com/office/drawing/2014/main" id="{A4CED35A-19B6-4F50-824D-8441362C4509}"/>
                </a:ext>
              </a:extLst>
            </p:cNvPr>
            <p:cNvSpPr/>
            <p:nvPr/>
          </p:nvSpPr>
          <p:spPr>
            <a:xfrm rot="16200000">
              <a:off x="5146956" y="4554646"/>
              <a:ext cx="123451" cy="892364"/>
            </a:xfrm>
            <a:prstGeom prst="leftBrace">
              <a:avLst>
                <a:gd name="adj1" fmla="val 47807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B76AB9DA-0717-4422-9D0F-D6599EAC9C20}"/>
                    </a:ext>
                  </a:extLst>
                </p:cNvPr>
                <p:cNvSpPr txBox="1"/>
                <p:nvPr/>
              </p:nvSpPr>
              <p:spPr>
                <a:xfrm>
                  <a:off x="6865402" y="5134545"/>
                  <a:ext cx="2063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O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B76AB9DA-0717-4422-9D0F-D6599EAC9C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5402" y="5134545"/>
                  <a:ext cx="206339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29412" r="-29412" b="-26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64549B64-3EB7-4978-87F3-F1A1560700E0}"/>
                    </a:ext>
                  </a:extLst>
                </p:cNvPr>
                <p:cNvSpPr txBox="1"/>
                <p:nvPr/>
              </p:nvSpPr>
              <p:spPr>
                <a:xfrm>
                  <a:off x="7732460" y="5165964"/>
                  <a:ext cx="189628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MX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𝑒𝑛𝑓𝑒𝑟𝑚𝑜</m:t>
                        </m:r>
                        <m:r>
                          <a:rPr lang="es-MX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2000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64549B64-3EB7-4978-87F3-F1A1560700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460" y="5165964"/>
                  <a:ext cx="1896288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608" t="-1961" r="-4502" b="-3333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Abrir llave 20">
              <a:extLst>
                <a:ext uri="{FF2B5EF4-FFF2-40B4-BE49-F238E27FC236}">
                  <a16:creationId xmlns:a16="http://schemas.microsoft.com/office/drawing/2014/main" id="{D1DADBBF-3C21-4B69-AB73-AEF0E643815C}"/>
                </a:ext>
              </a:extLst>
            </p:cNvPr>
            <p:cNvSpPr/>
            <p:nvPr/>
          </p:nvSpPr>
          <p:spPr>
            <a:xfrm rot="16200000">
              <a:off x="6916804" y="4595072"/>
              <a:ext cx="104327" cy="911414"/>
            </a:xfrm>
            <a:prstGeom prst="leftBrace">
              <a:avLst>
                <a:gd name="adj1" fmla="val 47807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Abrir llave 21">
              <a:extLst>
                <a:ext uri="{FF2B5EF4-FFF2-40B4-BE49-F238E27FC236}">
                  <a16:creationId xmlns:a16="http://schemas.microsoft.com/office/drawing/2014/main" id="{5B914813-FBAC-4E17-B20D-46BEE8D7486F}"/>
                </a:ext>
              </a:extLst>
            </p:cNvPr>
            <p:cNvSpPr/>
            <p:nvPr/>
          </p:nvSpPr>
          <p:spPr>
            <a:xfrm rot="16200000">
              <a:off x="8619497" y="4270848"/>
              <a:ext cx="86028" cy="1441002"/>
            </a:xfrm>
            <a:prstGeom prst="leftBrace">
              <a:avLst>
                <a:gd name="adj1" fmla="val 47807"/>
                <a:gd name="adj2" fmla="val 50000"/>
              </a:avLst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accent2"/>
                </a:solidFill>
              </a:endParaRPr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B7CEAA7-4856-477A-B8E1-D12FFDCDCA8D}"/>
              </a:ext>
            </a:extLst>
          </p:cNvPr>
          <p:cNvSpPr txBox="1"/>
          <p:nvPr/>
        </p:nvSpPr>
        <p:spPr>
          <a:xfrm>
            <a:off x="365166" y="2271299"/>
            <a:ext cx="3124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200" b="1" dirty="0">
                <a:ea typeface="Roboto" panose="02000000000000000000" pitchFamily="2" charset="0"/>
              </a:rPr>
              <a:t>Frase en lenguaje natural</a:t>
            </a:r>
            <a:endParaRPr lang="es-CO" sz="2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" name="Tabla 6">
                <a:extLst>
                  <a:ext uri="{FF2B5EF4-FFF2-40B4-BE49-F238E27FC236}">
                    <a16:creationId xmlns:a16="http://schemas.microsoft.com/office/drawing/2014/main" id="{ADDF95EF-F72F-4190-BDC3-EBB44C4C95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6285758"/>
                  </p:ext>
                </p:extLst>
              </p:nvPr>
            </p:nvGraphicFramePr>
            <p:xfrm>
              <a:off x="1654363" y="4768962"/>
              <a:ext cx="8233748" cy="1219948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86516">
                      <a:extLst>
                        <a:ext uri="{9D8B030D-6E8A-4147-A177-3AD203B41FA5}">
                          <a16:colId xmlns:a16="http://schemas.microsoft.com/office/drawing/2014/main" val="119943523"/>
                        </a:ext>
                      </a:extLst>
                    </a:gridCol>
                    <a:gridCol w="2059332">
                      <a:extLst>
                        <a:ext uri="{9D8B030D-6E8A-4147-A177-3AD203B41FA5}">
                          <a16:colId xmlns:a16="http://schemas.microsoft.com/office/drawing/2014/main" val="3400431318"/>
                        </a:ext>
                      </a:extLst>
                    </a:gridCol>
                    <a:gridCol w="4687900">
                      <a:extLst>
                        <a:ext uri="{9D8B030D-6E8A-4147-A177-3AD203B41FA5}">
                          <a16:colId xmlns:a16="http://schemas.microsoft.com/office/drawing/2014/main" val="75621104"/>
                        </a:ext>
                      </a:extLst>
                    </a:gridCol>
                  </a:tblGrid>
                  <a:tr h="366508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  <a:ea typeface="Roboto" panose="02000000000000000000" pitchFamily="2" charset="0"/>
                            </a:rPr>
                            <a:t>Objetos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  <a:ea typeface="Roboto" panose="02000000000000000000" pitchFamily="2" charset="0"/>
                            </a:rPr>
                            <a:t>Expresión lógica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6474683"/>
                      </a:ext>
                    </a:extLst>
                  </a:tr>
                  <a:tr h="199371"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s-MX" sz="1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𝑎𝑡𝑐h𝑒𝑡</m:t>
                              </m:r>
                            </m:oMath>
                          </a14:m>
                          <a:endParaRPr lang="es-MX" sz="1800" b="0" dirty="0">
                            <a:solidFill>
                              <a:srgbClr val="002060"/>
                            </a:solidFill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s-MX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𝑝𝑡𝑖𝑚𝑢𝑠</m:t>
                              </m:r>
                            </m:oMath>
                          </a14:m>
                          <a:endParaRPr lang="es-CO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𝑒𝑛𝑓𝑒𝑟𝑚𝑜</m:t>
                              </m:r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endParaRPr lang="es-MX" b="0" dirty="0"/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𝑑𝑖𝑗𝑜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CO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endParaRPr lang="es-MX" sz="14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𝑑𝑖𝑗𝑜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𝑎𝑡𝑐h𝑒𝑡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𝑝𝑡𝑖𝑚𝑢𝑠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 pitchFamily="18" charset="0"/>
                                      </a:rPr>
                                      <m:t>𝑒𝑛𝑓𝑒𝑟𝑚𝑜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 pitchFamily="18" charset="0"/>
                                      </a:rPr>
                                      <m:t>𝑂𝑝𝑡𝑖𝑚𝑢𝑠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endParaRPr lang="es-CO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58279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" name="Tabla 6">
                <a:extLst>
                  <a:ext uri="{FF2B5EF4-FFF2-40B4-BE49-F238E27FC236}">
                    <a16:creationId xmlns:a16="http://schemas.microsoft.com/office/drawing/2014/main" id="{ADDF95EF-F72F-4190-BDC3-EBB44C4C95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6285758"/>
                  </p:ext>
                </p:extLst>
              </p:nvPr>
            </p:nvGraphicFramePr>
            <p:xfrm>
              <a:off x="1654363" y="4768962"/>
              <a:ext cx="8233748" cy="1219948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86516">
                      <a:extLst>
                        <a:ext uri="{9D8B030D-6E8A-4147-A177-3AD203B41FA5}">
                          <a16:colId xmlns:a16="http://schemas.microsoft.com/office/drawing/2014/main" val="119943523"/>
                        </a:ext>
                      </a:extLst>
                    </a:gridCol>
                    <a:gridCol w="2059332">
                      <a:extLst>
                        <a:ext uri="{9D8B030D-6E8A-4147-A177-3AD203B41FA5}">
                          <a16:colId xmlns:a16="http://schemas.microsoft.com/office/drawing/2014/main" val="3400431318"/>
                        </a:ext>
                      </a:extLst>
                    </a:gridCol>
                    <a:gridCol w="4687900">
                      <a:extLst>
                        <a:ext uri="{9D8B030D-6E8A-4147-A177-3AD203B41FA5}">
                          <a16:colId xmlns:a16="http://schemas.microsoft.com/office/drawing/2014/main" val="75621104"/>
                        </a:ext>
                      </a:extLst>
                    </a:gridCol>
                  </a:tblGrid>
                  <a:tr h="366508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  <a:ea typeface="Roboto" panose="02000000000000000000" pitchFamily="2" charset="0"/>
                            </a:rPr>
                            <a:t>Objetos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  <a:ea typeface="Roboto" panose="02000000000000000000" pitchFamily="2" charset="0"/>
                            </a:rPr>
                            <a:t>Expresión lógica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6474683"/>
                      </a:ext>
                    </a:extLst>
                  </a:tr>
                  <a:tr h="8534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10" t="-46099" r="-454508" b="-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72485" t="-46099" r="-228107" b="-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75714" t="-46099" r="-130" b="-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58279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A3435F68-99F4-421C-941A-3DCB3C46A380}"/>
              </a:ext>
            </a:extLst>
          </p:cNvPr>
          <p:cNvSpPr txBox="1"/>
          <p:nvPr/>
        </p:nvSpPr>
        <p:spPr>
          <a:xfrm>
            <a:off x="87394" y="6177187"/>
            <a:ext cx="118897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/>
              <a:t>Nota</a:t>
            </a:r>
            <a:r>
              <a:rPr lang="es-MX" sz="1600" dirty="0"/>
              <a:t>: En LPO (Lógica de primer orden) estricta, el </a:t>
            </a:r>
            <a:r>
              <a:rPr lang="es-MX" sz="1600" dirty="0">
                <a:highlight>
                  <a:srgbClr val="FFFF00"/>
                </a:highlight>
              </a:rPr>
              <a:t>tercer argumento</a:t>
            </a:r>
            <a:r>
              <a:rPr lang="es-MX" sz="1600" dirty="0"/>
              <a:t> sería una fórmula, no un término. Aquí lo usamos de forma informal para ilustrar la idea.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43334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96038"/>
            <a:ext cx="108907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Variables y constantes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360659" y="983326"/>
            <a:ext cx="11470682" cy="165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Una variable es un símbolo que representa 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cualquier objeto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(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no específico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) dentro del universo o dominio del discurso.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No tienen un valor fijo por sí solas, sino que pueden tomar cualquier valor posible del conjunto del dominio.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FF06A736-7140-4A14-9D80-63DA386E5E14}"/>
              </a:ext>
            </a:extLst>
          </p:cNvPr>
          <p:cNvGrpSpPr/>
          <p:nvPr/>
        </p:nvGrpSpPr>
        <p:grpSpPr>
          <a:xfrm>
            <a:off x="797730" y="2714219"/>
            <a:ext cx="7544334" cy="1685851"/>
            <a:chOff x="304717" y="3379097"/>
            <a:chExt cx="4911092" cy="1685851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82907B2-3F02-479E-A255-5CA9AA073ADF}"/>
                </a:ext>
              </a:extLst>
            </p:cNvPr>
            <p:cNvGrpSpPr/>
            <p:nvPr/>
          </p:nvGrpSpPr>
          <p:grpSpPr>
            <a:xfrm>
              <a:off x="1426339" y="3379097"/>
              <a:ext cx="3789470" cy="1685851"/>
              <a:chOff x="1333042" y="3255768"/>
              <a:chExt cx="3789470" cy="168585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C97869B3-8974-46E3-8BC6-9AFC966EE75A}"/>
                      </a:ext>
                    </a:extLst>
                  </p:cNvPr>
                  <p:cNvSpPr txBox="1"/>
                  <p:nvPr/>
                </p:nvSpPr>
                <p:spPr>
                  <a:xfrm>
                    <a:off x="2435118" y="4326066"/>
                    <a:ext cx="2687394" cy="6155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a14:m>
                    <a:r>
                      <a:rPr lang="es-CO" sz="2000" dirty="0">
                        <a:ea typeface="Roboto" panose="02000000000000000000" pitchFamily="2" charset="0"/>
                      </a:rPr>
                      <a:t>: Es una </a:t>
                    </a:r>
                    <a:r>
                      <a:rPr lang="es-CO" sz="2000" b="1" dirty="0">
                        <a:ea typeface="Roboto" panose="02000000000000000000" pitchFamily="2" charset="0"/>
                      </a:rPr>
                      <a:t>variable</a:t>
                    </a:r>
                    <a:r>
                      <a:rPr lang="es-CO" sz="2000" dirty="0">
                        <a:ea typeface="Roboto" panose="02000000000000000000" pitchFamily="2" charset="0"/>
                      </a:rPr>
                      <a:t>, no sabemos quien es, puede cambiar</a:t>
                    </a:r>
                    <a:endParaRPr lang="es-CO" dirty="0">
                      <a:ea typeface="Roboto" panose="02000000000000000000" pitchFamily="2" charset="0"/>
                    </a:endParaRPr>
                  </a:p>
                </p:txBody>
              </p:sp>
            </mc:Choice>
            <mc:Fallback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C97869B3-8974-46E3-8BC6-9AFC966EE7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5118" y="4326066"/>
                    <a:ext cx="2687394" cy="61555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693" t="-12871" b="-23762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Google Shape;310;p34">
                    <a:extLst>
                      <a:ext uri="{FF2B5EF4-FFF2-40B4-BE49-F238E27FC236}">
                        <a16:creationId xmlns:a16="http://schemas.microsoft.com/office/drawing/2014/main" id="{2F97E700-FA2F-45C7-8F80-0B6130C218C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333042" y="3255768"/>
                    <a:ext cx="3150836" cy="49244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l" rtl="0">
                      <a:lnSpc>
                        <a:spcPct val="90000"/>
                      </a:lnSpc>
                      <a:spcBef>
                        <a:spcPts val="10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Roboto"/>
                      <a:buChar char="●"/>
                      <a:defRPr sz="2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1pPr>
                    <a:lvl2pPr marL="914400" marR="0" lvl="1" indent="-3302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Roboto"/>
                      <a:buChar char="○"/>
                      <a:defRPr sz="22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2pPr>
                    <a:lvl3pPr marL="1371600" marR="0" lvl="2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■"/>
                      <a:defRPr sz="18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3pPr>
                    <a:lvl4pPr marL="1828800" marR="0" lvl="3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●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4pPr>
                    <a:lvl5pPr marL="2286000" marR="0" lvl="4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○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5pPr>
                    <a:lvl6pPr marL="2743200" marR="0" lvl="5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■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6pPr>
                    <a:lvl7pPr marL="3200400" marR="0" lvl="6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●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7pPr>
                    <a:lvl8pPr marL="3657600" marR="0" lvl="7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○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8pPr>
                    <a:lvl9pPr marL="4114800" marR="0" lvl="8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■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9pPr>
                  </a:lstStyle>
                  <a:p>
                    <a:pPr marL="127000" indent="0">
                      <a:buNone/>
                    </a:pPr>
                    <a14:m>
                      <m:oMath xmlns:m="http://schemas.openxmlformats.org/officeDocument/2006/math">
                        <m:r>
                          <a:rPr lang="es-MX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s-CO" sz="2200" dirty="0">
                        <a:latin typeface="+mn-lt"/>
                      </a:rPr>
                      <a:t> </a:t>
                    </a:r>
                    <a:r>
                      <a:rPr lang="es-CO" sz="2200" dirty="0">
                        <a:solidFill>
                          <a:srgbClr val="C00000"/>
                        </a:solidFill>
                        <a:latin typeface="+mn-lt"/>
                      </a:rPr>
                      <a:t>es una persona</a:t>
                    </a:r>
                  </a:p>
                </p:txBody>
              </p:sp>
            </mc:Choice>
            <mc:Fallback>
              <p:sp>
                <p:nvSpPr>
                  <p:cNvPr id="26" name="Google Shape;310;p34">
                    <a:extLst>
                      <a:ext uri="{FF2B5EF4-FFF2-40B4-BE49-F238E27FC236}">
                        <a16:creationId xmlns:a16="http://schemas.microsoft.com/office/drawing/2014/main" id="{2F97E700-FA2F-45C7-8F80-0B6130C218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3042" y="3255768"/>
                    <a:ext cx="3150836" cy="49244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086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3E4AE4F6-9CFB-4B5D-90C6-32275AF36434}"/>
                      </a:ext>
                    </a:extLst>
                  </p:cNvPr>
                  <p:cNvSpPr txBox="1"/>
                  <p:nvPr/>
                </p:nvSpPr>
                <p:spPr>
                  <a:xfrm>
                    <a:off x="2699640" y="3932229"/>
                    <a:ext cx="2013224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𝒑𝒆𝒓𝒔𝒐𝒏𝒂</m:t>
                        </m:r>
                        <m:r>
                          <a:rPr lang="es-MX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MX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s-CO" sz="2000" dirty="0"/>
                      <a:t>: Predicado</a:t>
                    </a:r>
                  </a:p>
                </p:txBody>
              </p:sp>
            </mc:Choice>
            <mc:Fallback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3E4AE4F6-9CFB-4B5D-90C6-32275AF364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99640" y="3932229"/>
                    <a:ext cx="201322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7" t="-7576" b="-25758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Abrir llave 30">
                <a:extLst>
                  <a:ext uri="{FF2B5EF4-FFF2-40B4-BE49-F238E27FC236}">
                    <a16:creationId xmlns:a16="http://schemas.microsoft.com/office/drawing/2014/main" id="{CD17BFB7-4662-46EE-93CF-676B628AD5C2}"/>
                  </a:ext>
                </a:extLst>
              </p:cNvPr>
              <p:cNvSpPr/>
              <p:nvPr/>
            </p:nvSpPr>
            <p:spPr>
              <a:xfrm rot="16200000">
                <a:off x="1444425" y="3685257"/>
                <a:ext cx="128198" cy="183360"/>
              </a:xfrm>
              <a:prstGeom prst="leftBrace">
                <a:avLst>
                  <a:gd name="adj1" fmla="val 16716"/>
                  <a:gd name="adj2" fmla="val 50001"/>
                </a:avLst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2" name="Abrir llave 31">
                <a:extLst>
                  <a:ext uri="{FF2B5EF4-FFF2-40B4-BE49-F238E27FC236}">
                    <a16:creationId xmlns:a16="http://schemas.microsoft.com/office/drawing/2014/main" id="{E0164DD1-53ED-4866-A2AD-B567868BE212}"/>
                  </a:ext>
                </a:extLst>
              </p:cNvPr>
              <p:cNvSpPr/>
              <p:nvPr/>
            </p:nvSpPr>
            <p:spPr>
              <a:xfrm rot="16200000">
                <a:off x="2368349" y="2980549"/>
                <a:ext cx="133538" cy="1598114"/>
              </a:xfrm>
              <a:prstGeom prst="leftBrace">
                <a:avLst>
                  <a:gd name="adj1" fmla="val 16716"/>
                  <a:gd name="adj2" fmla="val 50001"/>
                </a:avLst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4" name="Conector: angular 3">
                <a:extLst>
                  <a:ext uri="{FF2B5EF4-FFF2-40B4-BE49-F238E27FC236}">
                    <a16:creationId xmlns:a16="http://schemas.microsoft.com/office/drawing/2014/main" id="{9CDFB36A-678D-420D-B25F-104BCC2B0335}"/>
                  </a:ext>
                </a:extLst>
              </p:cNvPr>
              <p:cNvCxnSpPr>
                <a:cxnSpLocks/>
                <a:stCxn id="32" idx="1"/>
                <a:endCxn id="30" idx="1"/>
              </p:cNvCxnSpPr>
              <p:nvPr/>
            </p:nvCxnSpPr>
            <p:spPr>
              <a:xfrm rot="16200000" flipH="1">
                <a:off x="2424433" y="3857076"/>
                <a:ext cx="285909" cy="264506"/>
              </a:xfrm>
              <a:prstGeom prst="bentConnector4">
                <a:avLst>
                  <a:gd name="adj1" fmla="val 99945"/>
                  <a:gd name="adj2" fmla="val 58213"/>
                </a:avLst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: angular 35">
                <a:extLst>
                  <a:ext uri="{FF2B5EF4-FFF2-40B4-BE49-F238E27FC236}">
                    <a16:creationId xmlns:a16="http://schemas.microsoft.com/office/drawing/2014/main" id="{A5EA025D-BF75-4ADA-9FAF-928D906410AD}"/>
                  </a:ext>
                </a:extLst>
              </p:cNvPr>
              <p:cNvCxnSpPr>
                <a:cxnSpLocks/>
                <a:endCxn id="25" idx="1"/>
              </p:cNvCxnSpPr>
              <p:nvPr/>
            </p:nvCxnSpPr>
            <p:spPr>
              <a:xfrm>
                <a:off x="1508526" y="3841036"/>
                <a:ext cx="926592" cy="792807"/>
              </a:xfrm>
              <a:prstGeom prst="bentConnector3">
                <a:avLst>
                  <a:gd name="adj1" fmla="val 36"/>
                </a:avLst>
              </a:prstGeom>
              <a:ln w="19050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1" name="Picture 2" descr="Hombre - Iconos gratis de personas">
              <a:extLst>
                <a:ext uri="{FF2B5EF4-FFF2-40B4-BE49-F238E27FC236}">
                  <a16:creationId xmlns:a16="http://schemas.microsoft.com/office/drawing/2014/main" id="{0D583BA5-8CAB-4874-A5B0-10572B7840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717" y="3466834"/>
              <a:ext cx="982884" cy="1598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FC4FE34-DC9E-4CB0-8A07-3F11AA14E5BB}"/>
              </a:ext>
            </a:extLst>
          </p:cNvPr>
          <p:cNvGrpSpPr/>
          <p:nvPr/>
        </p:nvGrpSpPr>
        <p:grpSpPr>
          <a:xfrm>
            <a:off x="1045449" y="4785192"/>
            <a:ext cx="10101101" cy="1620936"/>
            <a:chOff x="1858860" y="4664965"/>
            <a:chExt cx="10101101" cy="1620936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D2C862EA-76B6-43C9-A385-970A5318253D}"/>
                </a:ext>
              </a:extLst>
            </p:cNvPr>
            <p:cNvGrpSpPr/>
            <p:nvPr/>
          </p:nvGrpSpPr>
          <p:grpSpPr>
            <a:xfrm>
              <a:off x="3468430" y="4664965"/>
              <a:ext cx="8491531" cy="1620936"/>
              <a:chOff x="1230159" y="3343505"/>
              <a:chExt cx="8491531" cy="162093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CuadroTexto 40">
                    <a:extLst>
                      <a:ext uri="{FF2B5EF4-FFF2-40B4-BE49-F238E27FC236}">
                        <a16:creationId xmlns:a16="http://schemas.microsoft.com/office/drawing/2014/main" id="{9592148F-DBCC-4AEB-9949-C82102731D84}"/>
                      </a:ext>
                    </a:extLst>
                  </p:cNvPr>
                  <p:cNvSpPr txBox="1"/>
                  <p:nvPr/>
                </p:nvSpPr>
                <p:spPr>
                  <a:xfrm>
                    <a:off x="4112719" y="4348888"/>
                    <a:ext cx="5608971" cy="6155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𝒐𝒎𝒆𝒓𝒐</m:t>
                        </m:r>
                      </m:oMath>
                    </a14:m>
                    <a:r>
                      <a:rPr lang="es-CO" sz="2000" dirty="0">
                        <a:ea typeface="Roboto" panose="02000000000000000000" pitchFamily="2" charset="0"/>
                      </a:rPr>
                      <a:t>: Es una </a:t>
                    </a:r>
                    <a:r>
                      <a:rPr lang="es-CO" sz="2000" b="1" dirty="0">
                        <a:ea typeface="Roboto" panose="02000000000000000000" pitchFamily="2" charset="0"/>
                      </a:rPr>
                      <a:t>constante</a:t>
                    </a:r>
                    <a:r>
                      <a:rPr lang="es-CO" sz="2000" dirty="0">
                        <a:ea typeface="Roboto" panose="02000000000000000000" pitchFamily="2" charset="0"/>
                      </a:rPr>
                      <a:t>, se refiere a un individuo especifico del universo</a:t>
                    </a:r>
                  </a:p>
                </p:txBody>
              </p:sp>
            </mc:Choice>
            <mc:Fallback>
              <p:sp>
                <p:nvSpPr>
                  <p:cNvPr id="41" name="CuadroTexto 40">
                    <a:extLst>
                      <a:ext uri="{FF2B5EF4-FFF2-40B4-BE49-F238E27FC236}">
                        <a16:creationId xmlns:a16="http://schemas.microsoft.com/office/drawing/2014/main" id="{9592148F-DBCC-4AEB-9949-C82102731D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2719" y="4348888"/>
                    <a:ext cx="5608971" cy="61555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714" t="-12871" r="-1846" b="-23762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Google Shape;310;p34">
                    <a:extLst>
                      <a:ext uri="{FF2B5EF4-FFF2-40B4-BE49-F238E27FC236}">
                        <a16:creationId xmlns:a16="http://schemas.microsoft.com/office/drawing/2014/main" id="{FD314004-7437-4DA5-8247-EA156ADF788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230159" y="3343505"/>
                    <a:ext cx="3599120" cy="49244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l" rtl="0">
                      <a:lnSpc>
                        <a:spcPct val="90000"/>
                      </a:lnSpc>
                      <a:spcBef>
                        <a:spcPts val="10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Roboto"/>
                      <a:buChar char="●"/>
                      <a:defRPr sz="2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1pPr>
                    <a:lvl2pPr marL="914400" marR="0" lvl="1" indent="-3302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Roboto"/>
                      <a:buChar char="○"/>
                      <a:defRPr sz="22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2pPr>
                    <a:lvl3pPr marL="1371600" marR="0" lvl="2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■"/>
                      <a:defRPr sz="18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3pPr>
                    <a:lvl4pPr marL="1828800" marR="0" lvl="3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●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4pPr>
                    <a:lvl5pPr marL="2286000" marR="0" lvl="4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○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5pPr>
                    <a:lvl6pPr marL="2743200" marR="0" lvl="5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■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6pPr>
                    <a:lvl7pPr marL="3200400" marR="0" lvl="6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●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7pPr>
                    <a:lvl8pPr marL="3657600" marR="0" lvl="7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○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8pPr>
                    <a:lvl9pPr marL="4114800" marR="0" lvl="8" indent="-342900" algn="l" rtl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Roboto"/>
                      <a:buChar char="■"/>
                      <a:defRPr sz="1600" b="0" i="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defRPr>
                    </a:lvl9pPr>
                  </a:lstStyle>
                  <a:p>
                    <a:pPr marL="127000" indent="0">
                      <a:buNone/>
                    </a:pPr>
                    <a14:m>
                      <m:oMath xmlns:m="http://schemas.openxmlformats.org/officeDocument/2006/math">
                        <m:r>
                          <a:rPr lang="es-MX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𝐻𝑜𝑚𝑒𝑟𝑜</m:t>
                        </m:r>
                      </m:oMath>
                    </a14:m>
                    <a:r>
                      <a:rPr lang="es-CO" sz="2200" dirty="0">
                        <a:latin typeface="+mn-lt"/>
                      </a:rPr>
                      <a:t> </a:t>
                    </a:r>
                    <a:r>
                      <a:rPr lang="es-CO" sz="2200" dirty="0">
                        <a:solidFill>
                          <a:srgbClr val="C00000"/>
                        </a:solidFill>
                        <a:latin typeface="+mn-lt"/>
                      </a:rPr>
                      <a:t>es una persona</a:t>
                    </a:r>
                  </a:p>
                </p:txBody>
              </p:sp>
            </mc:Choice>
            <mc:Fallback>
              <p:sp>
                <p:nvSpPr>
                  <p:cNvPr id="42" name="Google Shape;310;p34">
                    <a:extLst>
                      <a:ext uri="{FF2B5EF4-FFF2-40B4-BE49-F238E27FC236}">
                        <a16:creationId xmlns:a16="http://schemas.microsoft.com/office/drawing/2014/main" id="{FD314004-7437-4DA5-8247-EA156ADF78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30159" y="3343505"/>
                    <a:ext cx="3599120" cy="4924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963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" name="CuadroTexto 42">
                    <a:extLst>
                      <a:ext uri="{FF2B5EF4-FFF2-40B4-BE49-F238E27FC236}">
                        <a16:creationId xmlns:a16="http://schemas.microsoft.com/office/drawing/2014/main" id="{6C3B69BF-C477-41CD-9959-04F1E5C20EDD}"/>
                      </a:ext>
                    </a:extLst>
                  </p:cNvPr>
                  <p:cNvSpPr txBox="1"/>
                  <p:nvPr/>
                </p:nvSpPr>
                <p:spPr>
                  <a:xfrm>
                    <a:off x="4047152" y="3882397"/>
                    <a:ext cx="380155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𝒑𝒆𝒓𝒔𝒐𝒏𝒂</m:t>
                        </m:r>
                        <m:r>
                          <a:rPr lang="es-MX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𝑯𝒐𝒎𝒆𝒓𝒐</m:t>
                        </m:r>
                        <m:r>
                          <a:rPr lang="es-MX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s-CO" sz="2000" dirty="0"/>
                      <a:t>: Predicado</a:t>
                    </a:r>
                  </a:p>
                </p:txBody>
              </p:sp>
            </mc:Choice>
            <mc:Fallback>
              <p:sp>
                <p:nvSpPr>
                  <p:cNvPr id="43" name="CuadroTexto 42">
                    <a:extLst>
                      <a:ext uri="{FF2B5EF4-FFF2-40B4-BE49-F238E27FC236}">
                        <a16:creationId xmlns:a16="http://schemas.microsoft.com/office/drawing/2014/main" id="{6C3B69BF-C477-41CD-9959-04F1E5C20E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47152" y="3882397"/>
                    <a:ext cx="3801552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61" t="-7576" b="-25758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Abrir llave 43">
                <a:extLst>
                  <a:ext uri="{FF2B5EF4-FFF2-40B4-BE49-F238E27FC236}">
                    <a16:creationId xmlns:a16="http://schemas.microsoft.com/office/drawing/2014/main" id="{54A179F9-0D8D-4310-8BFB-6D4E147B0729}"/>
                  </a:ext>
                </a:extLst>
              </p:cNvPr>
              <p:cNvSpPr/>
              <p:nvPr/>
            </p:nvSpPr>
            <p:spPr>
              <a:xfrm rot="16200000">
                <a:off x="1871451" y="3258229"/>
                <a:ext cx="121969" cy="1031185"/>
              </a:xfrm>
              <a:prstGeom prst="leftBrace">
                <a:avLst>
                  <a:gd name="adj1" fmla="val 16716"/>
                  <a:gd name="adj2" fmla="val 50001"/>
                </a:avLst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45" name="Abrir llave 44">
                <a:extLst>
                  <a:ext uri="{FF2B5EF4-FFF2-40B4-BE49-F238E27FC236}">
                    <a16:creationId xmlns:a16="http://schemas.microsoft.com/office/drawing/2014/main" id="{7C88BC37-F889-4770-93BE-7BECE5A04EF7}"/>
                  </a:ext>
                </a:extLst>
              </p:cNvPr>
              <p:cNvSpPr/>
              <p:nvPr/>
            </p:nvSpPr>
            <p:spPr>
              <a:xfrm rot="16200000">
                <a:off x="3322185" y="2899214"/>
                <a:ext cx="121972" cy="1749216"/>
              </a:xfrm>
              <a:prstGeom prst="leftBrace">
                <a:avLst>
                  <a:gd name="adj1" fmla="val 16716"/>
                  <a:gd name="adj2" fmla="val 50001"/>
                </a:avLst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cxnSp>
            <p:nvCxnSpPr>
              <p:cNvPr id="46" name="Conector: angular 45">
                <a:extLst>
                  <a:ext uri="{FF2B5EF4-FFF2-40B4-BE49-F238E27FC236}">
                    <a16:creationId xmlns:a16="http://schemas.microsoft.com/office/drawing/2014/main" id="{897F71DE-E160-41A5-9EF1-EE8202014F0A}"/>
                  </a:ext>
                </a:extLst>
              </p:cNvPr>
              <p:cNvCxnSpPr>
                <a:cxnSpLocks/>
                <a:stCxn id="45" idx="1"/>
                <a:endCxn id="43" idx="1"/>
              </p:cNvCxnSpPr>
              <p:nvPr/>
            </p:nvCxnSpPr>
            <p:spPr>
              <a:xfrm rot="16200000" flipH="1">
                <a:off x="3591348" y="3626648"/>
                <a:ext cx="247644" cy="663964"/>
              </a:xfrm>
              <a:prstGeom prst="bentConnector4">
                <a:avLst>
                  <a:gd name="adj1" fmla="val 100002"/>
                  <a:gd name="adj2" fmla="val 54591"/>
                </a:avLst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: angular 46">
                <a:extLst>
                  <a:ext uri="{FF2B5EF4-FFF2-40B4-BE49-F238E27FC236}">
                    <a16:creationId xmlns:a16="http://schemas.microsoft.com/office/drawing/2014/main" id="{A48756C3-CCBF-46C9-B9B0-D8BEBD194DDF}"/>
                  </a:ext>
                </a:extLst>
              </p:cNvPr>
              <p:cNvCxnSpPr>
                <a:cxnSpLocks/>
                <a:stCxn id="44" idx="1"/>
                <a:endCxn id="41" idx="1"/>
              </p:cNvCxnSpPr>
              <p:nvPr/>
            </p:nvCxnSpPr>
            <p:spPr>
              <a:xfrm rot="16200000" flipH="1">
                <a:off x="2611653" y="3155598"/>
                <a:ext cx="821859" cy="2180273"/>
              </a:xfrm>
              <a:prstGeom prst="bentConnector2">
                <a:avLst/>
              </a:prstGeom>
              <a:ln w="19050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2" name="Picture 4" descr="Homero Simpson | Padre de Familia Wiki | Fandom">
              <a:extLst>
                <a:ext uri="{FF2B5EF4-FFF2-40B4-BE49-F238E27FC236}">
                  <a16:creationId xmlns:a16="http://schemas.microsoft.com/office/drawing/2014/main" id="{9B29ABAE-5A44-4D00-BE0F-9B6BA74457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8860" y="4682687"/>
              <a:ext cx="962925" cy="1575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90750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546100" y="96038"/>
            <a:ext cx="1138618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Conjunto de verdad</a:t>
            </a:r>
            <a:endParaRPr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720" y="931611"/>
                <a:ext cx="11083336" cy="1441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El conjunto de verdad de un predicado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es el subconjunto del dominio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𝐷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formado por todos los elementos para los cuales el predicado es verdadero, es decir:</a:t>
                </a:r>
              </a:p>
              <a:p>
                <a:endParaRPr lang="es-MX" sz="22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lang="es-MX" sz="22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  <m:r>
                            <a:rPr lang="es-MX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s-MX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s-MX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s-MX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es</m:t>
                      </m:r>
                      <m:r>
                        <a:rPr lang="es-MX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verdadero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}</m:t>
                      </m:r>
                    </m:oMath>
                  </m:oMathPara>
                </a14:m>
                <a:endParaRPr lang="es-MX" sz="22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2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2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20" y="931611"/>
                <a:ext cx="11083336" cy="1441176"/>
              </a:xfrm>
              <a:prstGeom prst="rect">
                <a:avLst/>
              </a:prstGeom>
              <a:blipFill>
                <a:blip r:embed="rId3"/>
                <a:stretch>
                  <a:fillRect b="-131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6" descr="Insignia - Transformers Wiki">
            <a:extLst>
              <a:ext uri="{FF2B5EF4-FFF2-40B4-BE49-F238E27FC236}">
                <a16:creationId xmlns:a16="http://schemas.microsoft.com/office/drawing/2014/main" id="{B19A3502-679C-4771-9189-139AB7114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084" y="3516540"/>
            <a:ext cx="1753714" cy="9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5F43923-3C8C-4B6B-9512-F740DCE7339B}"/>
                  </a:ext>
                </a:extLst>
              </p:cNvPr>
              <p:cNvSpPr txBox="1"/>
              <p:nvPr/>
            </p:nvSpPr>
            <p:spPr>
              <a:xfrm>
                <a:off x="383458" y="2623385"/>
                <a:ext cx="11665974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200" b="1" dirty="0">
                    <a:ea typeface="Roboto" panose="02000000000000000000" pitchFamily="2" charset="0"/>
                  </a:rPr>
                  <a:t>Ejemplo</a:t>
                </a:r>
                <a:r>
                  <a:rPr lang="es-MX" sz="2200" dirty="0">
                    <a:ea typeface="Roboto" panose="02000000000000000000" pitchFamily="2" charset="0"/>
                  </a:rPr>
                  <a:t>: Si definimos </a:t>
                </a: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s-MX" sz="2200" dirty="0">
                    <a:ea typeface="Roboto" panose="02000000000000000000" pitchFamily="2" charset="0"/>
                  </a:rPr>
                  <a:t> como el dominio de todos los Transformers (Autobots y Decepticons)  y tenemos como predicado </a:t>
                </a:r>
                <a14:m>
                  <m:oMath xmlns:m="http://schemas.openxmlformats.org/officeDocument/2006/math">
                    <m:r>
                      <a:rPr lang="es-MX" sz="2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𝒂𝒖𝒕𝒐𝒃𝒐𝒕</m:t>
                    </m:r>
                    <m:d>
                      <m:dPr>
                        <m:ctrlPr>
                          <a:rPr lang="es-MX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𝒙</m:t>
                        </m:r>
                      </m:e>
                    </m:d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2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𝒙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es</m:t>
                    </m:r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un</m:t>
                    </m:r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autobot</m:t>
                    </m:r>
                  </m:oMath>
                </a14:m>
                <a:r>
                  <a:rPr lang="es-CO" sz="2200" b="1" dirty="0"/>
                  <a:t> </a:t>
                </a:r>
                <a:r>
                  <a:rPr lang="es-CO" sz="2200" dirty="0">
                    <a:ea typeface="Roboto" panose="02000000000000000000" pitchFamily="2" charset="0"/>
                  </a:rPr>
                  <a:t>el dominio será</a:t>
                </a:r>
                <a:endParaRPr lang="es-CO" sz="2200" b="1" dirty="0"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5F43923-3C8C-4B6B-9512-F740DCE73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58" y="2623385"/>
                <a:ext cx="11665974" cy="769441"/>
              </a:xfrm>
              <a:prstGeom prst="rect">
                <a:avLst/>
              </a:prstGeom>
              <a:blipFill>
                <a:blip r:embed="rId5"/>
                <a:stretch>
                  <a:fillRect l="-679" t="-4724" b="-1496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3856001-D40F-4F29-92D6-91F956679595}"/>
                  </a:ext>
                </a:extLst>
              </p:cNvPr>
              <p:cNvSpPr txBox="1"/>
              <p:nvPr/>
            </p:nvSpPr>
            <p:spPr>
              <a:xfrm>
                <a:off x="5629404" y="3784976"/>
                <a:ext cx="29327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s-MX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s-MX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  <m:r>
                            <a:rPr lang="es-MX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s-MX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𝒂𝒖𝒕𝒐𝒃𝒐𝒕</m:t>
                          </m:r>
                          <m:d>
                            <m:dPr>
                              <m:ctrlPr>
                                <a:rPr lang="es-MX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3856001-D40F-4F29-92D6-91F956679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404" y="3784976"/>
                <a:ext cx="2932726" cy="369332"/>
              </a:xfrm>
              <a:prstGeom prst="rect">
                <a:avLst/>
              </a:prstGeom>
              <a:blipFill>
                <a:blip r:embed="rId6"/>
                <a:stretch>
                  <a:fillRect b="-3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1857F8A-0FAD-4166-90A4-2D6A0246DF2B}"/>
                  </a:ext>
                </a:extLst>
              </p:cNvPr>
              <p:cNvSpPr txBox="1"/>
              <p:nvPr/>
            </p:nvSpPr>
            <p:spPr>
              <a:xfrm>
                <a:off x="1929253" y="6319541"/>
                <a:ext cx="396531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𝒂𝒖𝒕𝒐𝒃𝒐𝒕</m:t>
                      </m:r>
                      <m:d>
                        <m:dPr>
                          <m:ctrlPr>
                            <a:rPr lang="es-MX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𝑶𝒑𝒕𝒊𝒎𝒖𝒔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𝐕𝐞𝐫𝐝𝐚𝐝𝐞𝐫𝐨</m:t>
                      </m:r>
                    </m:oMath>
                  </m:oMathPara>
                </a14:m>
                <a:endParaRPr lang="es-CO" sz="20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1857F8A-0FAD-4166-90A4-2D6A0246D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253" y="6319541"/>
                <a:ext cx="3965316" cy="307777"/>
              </a:xfrm>
              <a:prstGeom prst="rect">
                <a:avLst/>
              </a:prstGeom>
              <a:blipFill>
                <a:blip r:embed="rId7"/>
                <a:stretch>
                  <a:fillRect l="-1075" r="-1382" b="-34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829881B-A8F2-4293-A241-B4C1D54F0F14}"/>
                  </a:ext>
                </a:extLst>
              </p:cNvPr>
              <p:cNvSpPr txBox="1"/>
              <p:nvPr/>
            </p:nvSpPr>
            <p:spPr>
              <a:xfrm>
                <a:off x="8022143" y="6267312"/>
                <a:ext cx="350204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𝒂𝒖𝒕𝒐𝒃𝒐𝒕</m:t>
                      </m:r>
                      <m:d>
                        <m:dPr>
                          <m:ctrlPr>
                            <a:rPr lang="es-MX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𝑴𝒆𝒈𝒂𝒕𝒓𝒐𝒏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𝐅𝐚𝐥𝐬𝐨</m:t>
                      </m:r>
                    </m:oMath>
                  </m:oMathPara>
                </a14:m>
                <a:endParaRPr lang="es-CO" sz="20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829881B-A8F2-4293-A241-B4C1D54F0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143" y="6267312"/>
                <a:ext cx="3502049" cy="307777"/>
              </a:xfrm>
              <a:prstGeom prst="rect">
                <a:avLst/>
              </a:prstGeom>
              <a:blipFill>
                <a:blip r:embed="rId8"/>
                <a:stretch>
                  <a:fillRect l="-1568" r="-1568" b="-3137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60470DF8-42B8-441A-A12E-CB22665C7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274" y="5193613"/>
            <a:ext cx="1160556" cy="162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timus Prime (G1 Serie) | Primuspedia | Fandom">
            <a:extLst>
              <a:ext uri="{FF2B5EF4-FFF2-40B4-BE49-F238E27FC236}">
                <a16:creationId xmlns:a16="http://schemas.microsoft.com/office/drawing/2014/main" id="{55FF26D4-869F-44FC-ACCE-70920F77A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53" y="5162397"/>
            <a:ext cx="1286796" cy="157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9A45F39-9992-40FF-B278-4B5F58EF2C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5799" y="5000586"/>
            <a:ext cx="868878" cy="100541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B36B8C2-6861-4A4C-A7DE-614EE0A9B9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7822" y="4978760"/>
            <a:ext cx="964605" cy="102724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87D2E10-61A0-4C93-A74A-5FCA846892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8904" y="4219707"/>
            <a:ext cx="518421" cy="59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4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74850" y="96038"/>
            <a:ext cx="10912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Cuantificador</a:t>
            </a:r>
            <a:endParaRPr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850" y="886701"/>
                <a:ext cx="11674250" cy="2203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Los cuantificadores son </a:t>
                </a:r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símbolos lógicos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que se usan para </a:t>
                </a:r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indicar cuántos elementos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del dominio cumplen una determinada propiedad (expresada por un predicado o una función proposicional).</a:t>
                </a: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Existen dos clases de cuantificadores: </a:t>
                </a:r>
              </a:p>
              <a:p>
                <a:pPr lvl="1"/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Cuantificador universal (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)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: Para todo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Cuantificador existencial (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)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: Existe al menos un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s-MX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50" y="886701"/>
                <a:ext cx="11674250" cy="2203176"/>
              </a:xfrm>
              <a:prstGeom prst="rect">
                <a:avLst/>
              </a:prstGeom>
              <a:blipFill>
                <a:blip r:embed="rId3"/>
                <a:stretch>
                  <a:fillRect b="-93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id="{B2A5E74D-EFA9-4DC3-84C2-342815804C22}"/>
              </a:ext>
            </a:extLst>
          </p:cNvPr>
          <p:cNvGrpSpPr/>
          <p:nvPr/>
        </p:nvGrpSpPr>
        <p:grpSpPr>
          <a:xfrm>
            <a:off x="3469825" y="3587824"/>
            <a:ext cx="3915087" cy="2725195"/>
            <a:chOff x="3484573" y="3510053"/>
            <a:chExt cx="3915087" cy="2725195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4368278A-20E3-47DA-910D-3B8E42FC6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44767" y="4088142"/>
              <a:ext cx="3194698" cy="1650672"/>
            </a:xfrm>
            <a:prstGeom prst="rect">
              <a:avLst/>
            </a:prstGeom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7DDCCF0-5E04-4899-A22E-A4E4D05EE1F4}"/>
                </a:ext>
              </a:extLst>
            </p:cNvPr>
            <p:cNvSpPr txBox="1"/>
            <p:nvPr/>
          </p:nvSpPr>
          <p:spPr>
            <a:xfrm>
              <a:off x="3484573" y="3510053"/>
              <a:ext cx="39150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400" b="1" dirty="0">
                  <a:latin typeface="Roboto" panose="02000000000000000000" pitchFamily="2" charset="0"/>
                  <a:ea typeface="Roboto" panose="02000000000000000000" pitchFamily="2" charset="0"/>
                </a:rPr>
                <a:t>Cuantificador existencial</a:t>
              </a:r>
              <a:endParaRPr lang="es-CO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1CEEA24C-5B3E-43E2-BA98-ED919BF836A7}"/>
                    </a:ext>
                  </a:extLst>
                </p:cNvPr>
                <p:cNvSpPr txBox="1"/>
                <p:nvPr/>
              </p:nvSpPr>
              <p:spPr>
                <a:xfrm>
                  <a:off x="4639614" y="5865916"/>
                  <a:ext cx="198272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s-MX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MX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𝑠𝑚𝑖𝑙𝑖𝑛𝑔</m:t>
                        </m:r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1CEEA24C-5B3E-43E2-BA98-ED919BF83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9614" y="5865916"/>
                  <a:ext cx="1982722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769" r="-4923" b="-3442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7219E9A8-2963-4E7A-9CDB-A4C54C7A7306}"/>
              </a:ext>
            </a:extLst>
          </p:cNvPr>
          <p:cNvGrpSpPr/>
          <p:nvPr/>
        </p:nvGrpSpPr>
        <p:grpSpPr>
          <a:xfrm>
            <a:off x="7744895" y="3595596"/>
            <a:ext cx="3915087" cy="2733335"/>
            <a:chOff x="7871893" y="3501913"/>
            <a:chExt cx="3915087" cy="273333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B8C835-2605-4504-9628-116A07E6F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52743" y="4015402"/>
              <a:ext cx="3153386" cy="1650672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BF149C0B-6B4C-4B0E-80EA-A3F00A5E2E41}"/>
                </a:ext>
              </a:extLst>
            </p:cNvPr>
            <p:cNvSpPr txBox="1"/>
            <p:nvPr/>
          </p:nvSpPr>
          <p:spPr>
            <a:xfrm>
              <a:off x="7871893" y="3501913"/>
              <a:ext cx="39150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400" b="1" dirty="0">
                  <a:latin typeface="Roboto" panose="02000000000000000000" pitchFamily="2" charset="0"/>
                  <a:ea typeface="Roboto" panose="02000000000000000000" pitchFamily="2" charset="0"/>
                </a:rPr>
                <a:t>Cuantificador universal</a:t>
              </a:r>
              <a:endParaRPr lang="es-CO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A4424DA6-24CC-40B9-A2D5-6979FC33DD55}"/>
                    </a:ext>
                  </a:extLst>
                </p:cNvPr>
                <p:cNvSpPr txBox="1"/>
                <p:nvPr/>
              </p:nvSpPr>
              <p:spPr>
                <a:xfrm>
                  <a:off x="8964399" y="5865916"/>
                  <a:ext cx="199554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s-MX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MX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𝑠𝑚𝑖𝑙𝑖𝑛𝑔</m:t>
                        </m:r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A4424DA6-24CC-40B9-A2D5-6979FC33D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4399" y="5865916"/>
                  <a:ext cx="199554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752" r="-4893" b="-35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B575173E-735F-4C01-9BA8-FFFE8F0BE950}"/>
              </a:ext>
            </a:extLst>
          </p:cNvPr>
          <p:cNvGrpSpPr/>
          <p:nvPr/>
        </p:nvGrpSpPr>
        <p:grpSpPr>
          <a:xfrm>
            <a:off x="600067" y="3918491"/>
            <a:ext cx="2439550" cy="2145516"/>
            <a:chOff x="916650" y="3882230"/>
            <a:chExt cx="2439550" cy="2145516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B145E9F8-10E3-465A-9BC5-A3B866A15EDD}"/>
                </a:ext>
              </a:extLst>
            </p:cNvPr>
            <p:cNvSpPr/>
            <p:nvPr/>
          </p:nvSpPr>
          <p:spPr>
            <a:xfrm>
              <a:off x="1105419" y="3882230"/>
              <a:ext cx="571500" cy="56072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42225158-4AC0-434F-BA43-77DACD208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6650" y="5157796"/>
              <a:ext cx="949037" cy="86995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5B31AA3B-77BD-49F2-BBE5-9A448DFD3F26}"/>
                    </a:ext>
                  </a:extLst>
                </p:cNvPr>
                <p:cNvSpPr txBox="1"/>
                <p:nvPr/>
              </p:nvSpPr>
              <p:spPr>
                <a:xfrm>
                  <a:off x="1865687" y="4015402"/>
                  <a:ext cx="24173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5B31AA3B-77BD-49F2-BBE5-9A448DFD3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5687" y="4015402"/>
                  <a:ext cx="241733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5000" r="-15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3AD7AF51-89A4-4CE9-AC92-5102CCA44514}"/>
                    </a:ext>
                  </a:extLst>
                </p:cNvPr>
                <p:cNvSpPr txBox="1"/>
                <p:nvPr/>
              </p:nvSpPr>
              <p:spPr>
                <a:xfrm>
                  <a:off x="1794747" y="5408105"/>
                  <a:ext cx="15614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𝑠𝑚𝑖𝑙𝑖𝑛𝑔</m:t>
                        </m:r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3AD7AF51-89A4-4CE9-AC92-5102CCA445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4747" y="5408105"/>
                  <a:ext cx="1561453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6226" r="-6226" b="-3442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F490CB1A-455D-4464-BF20-F6A47214513A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1391169" y="4550056"/>
              <a:ext cx="0" cy="60774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4782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86051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Función proposicional</a:t>
            </a:r>
            <a:endParaRPr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584" y="846771"/>
                <a:ext cx="11470715" cy="57310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Una </a:t>
                </a:r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función proposicional 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es una expresión lógica que contiene variables libres (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, etc.), y que todavía no es una proposición completa.</a:t>
                </a: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Una función proposicional se convierten en proposición cuando:</a:t>
                </a:r>
              </a:p>
              <a:p>
                <a:pPr lvl="1"/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Se le asignan valores a sus variables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  <a:p>
                <a:pPr lvl="1"/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Se le aplica un cuantificador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</p:txBody>
          </p:sp>
        </mc:Choice>
        <mc:Fallback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84" y="846771"/>
                <a:ext cx="11470715" cy="57310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id="{6878CE7F-340C-402B-8F4D-997736828E38}"/>
              </a:ext>
            </a:extLst>
          </p:cNvPr>
          <p:cNvGrpSpPr/>
          <p:nvPr/>
        </p:nvGrpSpPr>
        <p:grpSpPr>
          <a:xfrm>
            <a:off x="3712127" y="2508651"/>
            <a:ext cx="5345438" cy="1347983"/>
            <a:chOff x="5793644" y="2679119"/>
            <a:chExt cx="5345438" cy="13479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E94F62F7-71A2-4A01-BB06-77C58167F6D9}"/>
                    </a:ext>
                  </a:extLst>
                </p:cNvPr>
                <p:cNvSpPr txBox="1"/>
                <p:nvPr/>
              </p:nvSpPr>
              <p:spPr>
                <a:xfrm>
                  <a:off x="5793644" y="3657770"/>
                  <a:ext cx="534543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𝒂𝒖𝒕𝒐𝒃𝒐𝒕</m:t>
                        </m:r>
                        <m:d>
                          <m:dPr>
                            <m:ctrlPr>
                              <a:rPr lang="es-MX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s-MX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MX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𝑶𝒑𝒕𝒊𝒎𝒖𝒔</m:t>
                            </m:r>
                          </m:e>
                        </m:d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2400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𝐕𝐞𝐫𝐝𝐚𝐝𝐞𝐫𝐨</m:t>
                        </m:r>
                      </m:oMath>
                    </m:oMathPara>
                  </a14:m>
                  <a:endParaRPr lang="es-CO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E94F62F7-71A2-4A01-BB06-77C58167F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3644" y="3657770"/>
                  <a:ext cx="5345438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026" r="-912" b="-32787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Picture 4" descr="Optimus Prime (G1 Serie) | Primuspedia | Fandom">
              <a:extLst>
                <a:ext uri="{FF2B5EF4-FFF2-40B4-BE49-F238E27FC236}">
                  <a16:creationId xmlns:a16="http://schemas.microsoft.com/office/drawing/2014/main" id="{D0816083-175E-44C1-8B76-56A223BDFB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8204" y="3061152"/>
              <a:ext cx="440440" cy="538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666178E-CA33-44BF-9C3A-22830D150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12922" y="2679119"/>
              <a:ext cx="820556" cy="949500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F2B0A20-4DD5-4A01-A756-D7B091D658D8}"/>
              </a:ext>
            </a:extLst>
          </p:cNvPr>
          <p:cNvGrpSpPr/>
          <p:nvPr/>
        </p:nvGrpSpPr>
        <p:grpSpPr>
          <a:xfrm>
            <a:off x="1134655" y="4432264"/>
            <a:ext cx="2439550" cy="2145516"/>
            <a:chOff x="916650" y="3882230"/>
            <a:chExt cx="2439550" cy="2145516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8909382A-08C5-4C88-994A-19643F92CC82}"/>
                </a:ext>
              </a:extLst>
            </p:cNvPr>
            <p:cNvSpPr/>
            <p:nvPr/>
          </p:nvSpPr>
          <p:spPr>
            <a:xfrm>
              <a:off x="1105419" y="3882230"/>
              <a:ext cx="571500" cy="56072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D7CCF129-D3F3-43BA-B6E0-AF8877D5B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6650" y="5157796"/>
              <a:ext cx="949037" cy="86995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2B3ED2F7-507A-412D-B9D6-2ACF38E4B8A4}"/>
                    </a:ext>
                  </a:extLst>
                </p:cNvPr>
                <p:cNvSpPr txBox="1"/>
                <p:nvPr/>
              </p:nvSpPr>
              <p:spPr>
                <a:xfrm>
                  <a:off x="1865687" y="4015402"/>
                  <a:ext cx="24173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2B3ED2F7-507A-412D-B9D6-2ACF38E4B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5687" y="4015402"/>
                  <a:ext cx="241733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7949" r="-1538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7C34A037-50A5-4719-B2B3-65183BF17EBF}"/>
                    </a:ext>
                  </a:extLst>
                </p:cNvPr>
                <p:cNvSpPr txBox="1"/>
                <p:nvPr/>
              </p:nvSpPr>
              <p:spPr>
                <a:xfrm>
                  <a:off x="1794747" y="5408105"/>
                  <a:ext cx="15614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𝑠𝑚𝑖𝑙𝑖𝑛𝑔</m:t>
                        </m:r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7C34A037-50A5-4719-B2B3-65183BF17E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4747" y="5408105"/>
                  <a:ext cx="1561453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6250" r="-6641" b="-3442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6B442E5C-AD2F-4963-9CDA-D34442E3B73B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1391169" y="4550056"/>
              <a:ext cx="0" cy="60774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7353E118-9BD7-4979-AC1D-5E3EF989C3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5941" y="4109432"/>
            <a:ext cx="3194698" cy="16506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FD440E1A-C7C7-4E26-8832-9D5CD24AFE10}"/>
                  </a:ext>
                </a:extLst>
              </p:cNvPr>
              <p:cNvSpPr txBox="1"/>
              <p:nvPr/>
            </p:nvSpPr>
            <p:spPr>
              <a:xfrm>
                <a:off x="6730788" y="5887206"/>
                <a:ext cx="3917547" cy="3608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MX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𝑠𝑚𝑖𝑙𝑖𝑛𝑔</m:t>
                    </m:r>
                    <m:d>
                      <m:dPr>
                        <m:ctrlPr>
                          <a:rPr lang="es-MX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1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𝐕𝐞𝐫𝐝𝐚𝐝𝐞𝐫𝐨</m:t>
                    </m:r>
                  </m:oMath>
                </a14:m>
                <a:r>
                  <a:rPr lang="es-CO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FD440E1A-C7C7-4E26-8832-9D5CD24AF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788" y="5887206"/>
                <a:ext cx="3917547" cy="360804"/>
              </a:xfrm>
              <a:prstGeom prst="rect">
                <a:avLst/>
              </a:prstGeom>
              <a:blipFill>
                <a:blip r:embed="rId11"/>
                <a:stretch>
                  <a:fillRect l="-2488" r="-622" b="-3898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51CE25F-1F12-40D2-9E16-C743EF2110B1}"/>
                  </a:ext>
                </a:extLst>
              </p:cNvPr>
              <p:cNvSpPr txBox="1"/>
              <p:nvPr/>
            </p:nvSpPr>
            <p:spPr>
              <a:xfrm>
                <a:off x="7003669" y="6317330"/>
                <a:ext cx="32282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s-MX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MX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𝑠𝑚𝑖𝑙𝑖𝑛𝑔</m:t>
                      </m:r>
                      <m:d>
                        <m:dPr>
                          <m:ctrlPr>
                            <a:rPr lang="es-MX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𝐅𝐚𝐥𝐬𝐨</m:t>
                      </m:r>
                    </m:oMath>
                  </m:oMathPara>
                </a14:m>
                <a:endParaRPr lang="es-CO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51CE25F-1F12-40D2-9E16-C743EF211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669" y="6317330"/>
                <a:ext cx="3228255" cy="369332"/>
              </a:xfrm>
              <a:prstGeom prst="rect">
                <a:avLst/>
              </a:prstGeom>
              <a:blipFill>
                <a:blip r:embed="rId12"/>
                <a:stretch>
                  <a:fillRect l="-567" r="-756" b="-344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639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86051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Función proposicional</a:t>
            </a:r>
            <a:endParaRPr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14526AC-BD86-40EC-AA9F-CD661C3263EC}"/>
                  </a:ext>
                </a:extLst>
              </p:cNvPr>
              <p:cNvSpPr txBox="1"/>
              <p:nvPr/>
            </p:nvSpPr>
            <p:spPr>
              <a:xfrm>
                <a:off x="305779" y="1114997"/>
                <a:ext cx="1147138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200" b="1" dirty="0">
                    <a:ea typeface="Roboto" panose="02000000000000000000" pitchFamily="2" charset="0"/>
                  </a:rPr>
                  <a:t>Ejemplos</a:t>
                </a:r>
                <a:r>
                  <a:rPr lang="es-MX" sz="2200" dirty="0">
                    <a:ea typeface="Roboto" panose="02000000000000000000" pitchFamily="2" charset="0"/>
                  </a:rPr>
                  <a:t>: En ambos casos asuma que el universo </a:t>
                </a: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𝑼</m:t>
                    </m:r>
                  </m:oMath>
                </a14:m>
                <a:r>
                  <a:rPr lang="es-CO" sz="2200" dirty="0"/>
                  <a:t> para las variables involucradas son los enteros</a:t>
                </a: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14526AC-BD86-40EC-AA9F-CD661C326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79" y="1114997"/>
                <a:ext cx="11471387" cy="430887"/>
              </a:xfrm>
              <a:prstGeom prst="rect">
                <a:avLst/>
              </a:prstGeom>
              <a:blipFill>
                <a:blip r:embed="rId3"/>
                <a:stretch>
                  <a:fillRect l="-691" t="-9859" b="-2676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Google Shape;310;p34">
                <a:extLst>
                  <a:ext uri="{FF2B5EF4-FFF2-40B4-BE49-F238E27FC236}">
                    <a16:creationId xmlns:a16="http://schemas.microsoft.com/office/drawing/2014/main" id="{973E62EC-5160-4AD4-9FF8-BE7DC89E5B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7195" y="1803458"/>
                <a:ext cx="386960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 algn="ctr">
                  <a:buNone/>
                </a:pPr>
                <a14:m>
                  <m:oMath xmlns:m="http://schemas.openxmlformats.org/officeDocument/2006/math"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200" dirty="0">
                    <a:solidFill>
                      <a:schemeClr val="tx1"/>
                    </a:solidFill>
                    <a:latin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2200" dirty="0">
                    <a:solidFill>
                      <a:schemeClr val="tx1"/>
                    </a:solidFill>
                    <a:latin typeface="+mn-lt"/>
                  </a:rPr>
                  <a:t>es mayor que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s-CO" sz="2200" dirty="0">
                  <a:solidFill>
                    <a:schemeClr val="accent2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18" name="Google Shape;310;p34">
                <a:extLst>
                  <a:ext uri="{FF2B5EF4-FFF2-40B4-BE49-F238E27FC236}">
                    <a16:creationId xmlns:a16="http://schemas.microsoft.com/office/drawing/2014/main" id="{973E62EC-5160-4AD4-9FF8-BE7DC89E5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195" y="1803458"/>
                <a:ext cx="3869600" cy="492443"/>
              </a:xfrm>
              <a:prstGeom prst="rect">
                <a:avLst/>
              </a:prstGeom>
              <a:blipFill>
                <a:blip r:embed="rId4"/>
                <a:stretch>
                  <a:fillRect b="-296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2">
                <a:extLst>
                  <a:ext uri="{FF2B5EF4-FFF2-40B4-BE49-F238E27FC236}">
                    <a16:creationId xmlns:a16="http://schemas.microsoft.com/office/drawing/2014/main" id="{7B98A56E-CFE9-40CA-A4FB-09E6027365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0878660"/>
                  </p:ext>
                </p:extLst>
              </p:nvPr>
            </p:nvGraphicFramePr>
            <p:xfrm>
              <a:off x="414834" y="2651109"/>
              <a:ext cx="5154322" cy="1981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318922">
                      <a:extLst>
                        <a:ext uri="{9D8B030D-6E8A-4147-A177-3AD203B41FA5}">
                          <a16:colId xmlns:a16="http://schemas.microsoft.com/office/drawing/2014/main" val="2185296956"/>
                        </a:ext>
                      </a:extLst>
                    </a:gridCol>
                    <a:gridCol w="3835400">
                      <a:extLst>
                        <a:ext uri="{9D8B030D-6E8A-4147-A177-3AD203B41FA5}">
                          <a16:colId xmlns:a16="http://schemas.microsoft.com/office/drawing/2014/main" val="3656414578"/>
                        </a:ext>
                      </a:extLst>
                    </a:gridCol>
                  </a:tblGrid>
                  <a:tr h="177626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Concepto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1708595"/>
                      </a:ext>
                    </a:extLst>
                  </a:tr>
                  <a:tr h="1776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Función proposicional (1 variable)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7142799"/>
                      </a:ext>
                    </a:extLst>
                  </a:tr>
                  <a:tr h="17762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(7)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Proposición Verdadera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6489730"/>
                      </a:ext>
                    </a:extLst>
                  </a:tr>
                  <a:tr h="17762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(3)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Proposición Falsa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3985982"/>
                      </a:ext>
                    </a:extLst>
                  </a:tr>
                  <a:tr h="17762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Proposición general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72318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2">
                <a:extLst>
                  <a:ext uri="{FF2B5EF4-FFF2-40B4-BE49-F238E27FC236}">
                    <a16:creationId xmlns:a16="http://schemas.microsoft.com/office/drawing/2014/main" id="{7B98A56E-CFE9-40CA-A4FB-09E6027365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0878660"/>
                  </p:ext>
                </p:extLst>
              </p:nvPr>
            </p:nvGraphicFramePr>
            <p:xfrm>
              <a:off x="414834" y="2651109"/>
              <a:ext cx="5154322" cy="1981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318922">
                      <a:extLst>
                        <a:ext uri="{9D8B030D-6E8A-4147-A177-3AD203B41FA5}">
                          <a16:colId xmlns:a16="http://schemas.microsoft.com/office/drawing/2014/main" val="2185296956"/>
                        </a:ext>
                      </a:extLst>
                    </a:gridCol>
                    <a:gridCol w="3835400">
                      <a:extLst>
                        <a:ext uri="{9D8B030D-6E8A-4147-A177-3AD203B41FA5}">
                          <a16:colId xmlns:a16="http://schemas.microsoft.com/office/drawing/2014/main" val="365641457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Concepto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170859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3" t="-107692" r="-292593" b="-3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Función proposicional (1 variable)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71427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3" t="-204545" r="-292593" b="-2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Proposición Verdadera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64897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3" t="-309231" r="-292593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Proposición Falsa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39859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3" t="-409231" r="-292593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Proposición general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72318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Google Shape;310;p34">
                <a:extLst>
                  <a:ext uri="{FF2B5EF4-FFF2-40B4-BE49-F238E27FC236}">
                    <a16:creationId xmlns:a16="http://schemas.microsoft.com/office/drawing/2014/main" id="{44202133-B28F-406B-AB1D-F0B408B350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2301" y="1726922"/>
                <a:ext cx="2868891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 algn="ctr">
                  <a:buNone/>
                </a:pPr>
                <a14:m>
                  <m:oMath xmlns:m="http://schemas.openxmlformats.org/officeDocument/2006/math"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s-MX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200" dirty="0">
                    <a:solidFill>
                      <a:schemeClr val="tx1"/>
                    </a:solidFill>
                    <a:latin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s-CO" sz="2200" dirty="0">
                  <a:solidFill>
                    <a:schemeClr val="accent2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19" name="Google Shape;310;p34">
                <a:extLst>
                  <a:ext uri="{FF2B5EF4-FFF2-40B4-BE49-F238E27FC236}">
                    <a16:creationId xmlns:a16="http://schemas.microsoft.com/office/drawing/2014/main" id="{44202133-B28F-406B-AB1D-F0B408B35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301" y="1726922"/>
                <a:ext cx="2868891" cy="492443"/>
              </a:xfrm>
              <a:prstGeom prst="rect">
                <a:avLst/>
              </a:prstGeom>
              <a:blipFill>
                <a:blip r:embed="rId6"/>
                <a:stretch>
                  <a:fillRect b="-30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Tabla 2">
                <a:extLst>
                  <a:ext uri="{FF2B5EF4-FFF2-40B4-BE49-F238E27FC236}">
                    <a16:creationId xmlns:a16="http://schemas.microsoft.com/office/drawing/2014/main" id="{82DC5A4B-1F2F-49BB-A078-D25C62B2FA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3890130"/>
                  </p:ext>
                </p:extLst>
              </p:nvPr>
            </p:nvGraphicFramePr>
            <p:xfrm>
              <a:off x="6201129" y="2651109"/>
              <a:ext cx="5735694" cy="1981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591228">
                      <a:extLst>
                        <a:ext uri="{9D8B030D-6E8A-4147-A177-3AD203B41FA5}">
                          <a16:colId xmlns:a16="http://schemas.microsoft.com/office/drawing/2014/main" val="2185296956"/>
                        </a:ext>
                      </a:extLst>
                    </a:gridCol>
                    <a:gridCol w="4144466">
                      <a:extLst>
                        <a:ext uri="{9D8B030D-6E8A-4147-A177-3AD203B41FA5}">
                          <a16:colId xmlns:a16="http://schemas.microsoft.com/office/drawing/2014/main" val="3656414578"/>
                        </a:ext>
                      </a:extLst>
                    </a:gridCol>
                  </a:tblGrid>
                  <a:tr h="225346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Concepto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1708595"/>
                      </a:ext>
                    </a:extLst>
                  </a:tr>
                  <a:tr h="22534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Función proposicional (3 variables)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7142799"/>
                      </a:ext>
                    </a:extLst>
                  </a:tr>
                  <a:tr h="22534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(2,−1,5)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Proposición Falsa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6489730"/>
                      </a:ext>
                    </a:extLst>
                  </a:tr>
                  <a:tr h="22534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(3,4,7)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Proposición Verdera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3985982"/>
                      </a:ext>
                    </a:extLst>
                  </a:tr>
                  <a:tr h="22534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,3,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Función proposicional (2 variables)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72318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Tabla 2">
                <a:extLst>
                  <a:ext uri="{FF2B5EF4-FFF2-40B4-BE49-F238E27FC236}">
                    <a16:creationId xmlns:a16="http://schemas.microsoft.com/office/drawing/2014/main" id="{82DC5A4B-1F2F-49BB-A078-D25C62B2FA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3890130"/>
                  </p:ext>
                </p:extLst>
              </p:nvPr>
            </p:nvGraphicFramePr>
            <p:xfrm>
              <a:off x="6201129" y="2651109"/>
              <a:ext cx="5735694" cy="1981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591228">
                      <a:extLst>
                        <a:ext uri="{9D8B030D-6E8A-4147-A177-3AD203B41FA5}">
                          <a16:colId xmlns:a16="http://schemas.microsoft.com/office/drawing/2014/main" val="2185296956"/>
                        </a:ext>
                      </a:extLst>
                    </a:gridCol>
                    <a:gridCol w="4144466">
                      <a:extLst>
                        <a:ext uri="{9D8B030D-6E8A-4147-A177-3AD203B41FA5}">
                          <a16:colId xmlns:a16="http://schemas.microsoft.com/office/drawing/2014/main" val="365641457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Concepto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170859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83" t="-107692" r="-261686" b="-3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Función proposicional (3 variables)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71427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83" t="-204545" r="-261686" b="-2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Proposición Falsa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64897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83" t="-309231" r="-261686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Proposición Verdera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39859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83" t="-409231" r="-26168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Función proposicional (2 variables)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72318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9C5B1725-81E2-42BD-9E4B-D420D56BAB50}"/>
              </a:ext>
            </a:extLst>
          </p:cNvPr>
          <p:cNvSpPr txBox="1"/>
          <p:nvPr/>
        </p:nvSpPr>
        <p:spPr>
          <a:xfrm rot="10800000" flipH="1" flipV="1">
            <a:off x="414833" y="4956333"/>
            <a:ext cx="11471387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27000" indent="0">
              <a:buNone/>
            </a:pPr>
            <a:r>
              <a:rPr lang="es-MX" sz="2000" b="1" dirty="0">
                <a:ea typeface="Roboto" panose="02000000000000000000" pitchFamily="2" charset="0"/>
              </a:rPr>
              <a:t>Observación importante</a:t>
            </a:r>
            <a:r>
              <a:rPr lang="es-MX" sz="2000" dirty="0">
                <a:ea typeface="Roboto" panose="02000000000000000000" pitchFamily="2" charset="0"/>
              </a:rPr>
              <a:t>: </a:t>
            </a:r>
          </a:p>
          <a:p>
            <a:pPr marL="412750" indent="-285750">
              <a:buFont typeface="Arial" panose="020B0604020202020204" pitchFamily="34" charset="0"/>
              <a:buChar char="•"/>
            </a:pPr>
            <a:r>
              <a:rPr lang="es-MX" sz="2000" dirty="0">
                <a:ea typeface="Roboto" panose="02000000000000000000" pitchFamily="2" charset="0"/>
              </a:rPr>
              <a:t>Muchos textos usan ambos términos (predicado y función proposicional) como equivalentes, especialmente en cursos introductorios.</a:t>
            </a:r>
          </a:p>
          <a:p>
            <a:pPr marL="412750" indent="-285750">
              <a:buFont typeface="Arial" panose="020B0604020202020204" pitchFamily="34" charset="0"/>
              <a:buChar char="•"/>
            </a:pPr>
            <a:r>
              <a:rPr lang="es-MX" sz="2000" dirty="0"/>
              <a:t>Formalmente, </a:t>
            </a:r>
            <a:r>
              <a:rPr lang="es-MX" sz="2000" b="1" dirty="0"/>
              <a:t>predicado</a:t>
            </a:r>
            <a:r>
              <a:rPr lang="es-MX" sz="2000" dirty="0"/>
              <a:t> es el término más usado en lógica de primer orden.</a:t>
            </a:r>
          </a:p>
        </p:txBody>
      </p:sp>
    </p:spTree>
    <p:extLst>
      <p:ext uri="{BB962C8B-B14F-4D97-AF65-F5344CB8AC3E}">
        <p14:creationId xmlns:p14="http://schemas.microsoft.com/office/powerpoint/2010/main" val="2733952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7" y="96038"/>
            <a:ext cx="1132334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Expresiones compuestas</a:t>
            </a:r>
            <a:endParaRPr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8727" y="957620"/>
                <a:ext cx="11612616" cy="37304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200" dirty="0">
                    <a:latin typeface="+mn-lt"/>
                  </a:rPr>
                  <a:t>Son </a:t>
                </a:r>
                <a:r>
                  <a:rPr lang="es-MX" sz="2200" b="1" dirty="0">
                    <a:latin typeface="+mn-lt"/>
                  </a:rPr>
                  <a:t>fórmulas lógicas</a:t>
                </a:r>
                <a:r>
                  <a:rPr lang="es-MX" sz="2200" dirty="0">
                    <a:latin typeface="+mn-lt"/>
                  </a:rPr>
                  <a:t> formadas al combinar </a:t>
                </a:r>
                <a:r>
                  <a:rPr lang="es-MX" sz="2200" b="1" dirty="0">
                    <a:latin typeface="+mn-lt"/>
                  </a:rPr>
                  <a:t>predicados, funciones y cuantificadores</a:t>
                </a:r>
                <a:r>
                  <a:rPr lang="es-MX" sz="2200" dirty="0">
                    <a:latin typeface="+mn-lt"/>
                  </a:rPr>
                  <a:t> mediante </a:t>
                </a:r>
                <a:r>
                  <a:rPr lang="es-MX" sz="2200" b="1" dirty="0">
                    <a:latin typeface="+mn-lt"/>
                  </a:rPr>
                  <a:t>conectivos lógicos </a:t>
                </a:r>
                <a:r>
                  <a:rPr lang="es-MX" sz="22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</a:rPr>
                          <m:t>¬,  </m:t>
                        </m:r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∧,  ∨,  →,  ↔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</a:rPr>
                  <a:t>.</a:t>
                </a: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Estas expresiones permiten construir afirmaciones complejas que pueden involucrar múltiples objetos, relaciones y condiciones dentro de un mismo razonamiento lógico.</a:t>
                </a: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Las expresiones con variables no son proposiciones y por lo tanto no tienen valores de verdad.</a:t>
                </a: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Cuando se las expresiones se usan con cuantificadores, estas expresiones (funciones proposicionales) se convierten en proposiciones.</a:t>
                </a:r>
              </a:p>
              <a:p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Ejemplo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: La proposición compuesta “Optimus es un autobot </a:t>
                </a:r>
                <a:r>
                  <a:rPr lang="es-MX" sz="2200" b="1" u="sng" dirty="0">
                    <a:latin typeface="+mn-lt"/>
                    <a:ea typeface="Roboto" panose="02000000000000000000" pitchFamily="2" charset="0"/>
                  </a:rPr>
                  <a:t>que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tiene </a:t>
                </a:r>
                <a:r>
                  <a:rPr lang="es-MX" sz="2200" dirty="0" err="1">
                    <a:latin typeface="+mn-lt"/>
                    <a:ea typeface="Roboto" panose="02000000000000000000" pitchFamily="2" charset="0"/>
                  </a:rPr>
                  <a:t>cancer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” se puede expresar de la siguiente manera:</a:t>
                </a:r>
              </a:p>
            </p:txBody>
          </p:sp>
        </mc:Choice>
        <mc:Fallback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27" y="957620"/>
                <a:ext cx="11612616" cy="3730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id="{C5244FC5-EE1E-4F38-A251-8306D67EA2EA}"/>
              </a:ext>
            </a:extLst>
          </p:cNvPr>
          <p:cNvGrpSpPr/>
          <p:nvPr/>
        </p:nvGrpSpPr>
        <p:grpSpPr>
          <a:xfrm>
            <a:off x="3423549" y="4431682"/>
            <a:ext cx="5722271" cy="2236026"/>
            <a:chOff x="3234864" y="4361591"/>
            <a:chExt cx="5722271" cy="223602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2BAF7767-47B6-4717-BB39-25D37A6476F1}"/>
                    </a:ext>
                  </a:extLst>
                </p:cNvPr>
                <p:cNvSpPr txBox="1"/>
                <p:nvPr/>
              </p:nvSpPr>
              <p:spPr>
                <a:xfrm>
                  <a:off x="3234864" y="5612575"/>
                  <a:ext cx="572227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𝒂𝒖𝒕𝒐𝒃𝒐𝒕</m:t>
                        </m:r>
                        <m:d>
                          <m:dPr>
                            <m:ctrlPr>
                              <a:rPr lang="es-MX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𝑶𝒑𝒕𝒊𝒎𝒖𝒔</m:t>
                            </m:r>
                          </m:e>
                        </m:d>
                        <m:r>
                          <a:rPr lang="es-MX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𝒄𝒂𝒏𝒄𝒆𝒓</m:t>
                        </m:r>
                        <m:r>
                          <a:rPr lang="es-MX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MX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𝑶𝒑𝒕𝒊𝒎𝒖𝒔</m:t>
                        </m:r>
                        <m:r>
                          <a:rPr lang="es-MX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2BAF7767-47B6-4717-BB39-25D37A647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4864" y="5612575"/>
                  <a:ext cx="5722271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59" r="-1493" b="-3442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Picture 4" descr="Optimus Prime (G1 Serie) | Primuspedia | Fandom">
              <a:extLst>
                <a:ext uri="{FF2B5EF4-FFF2-40B4-BE49-F238E27FC236}">
                  <a16:creationId xmlns:a16="http://schemas.microsoft.com/office/drawing/2014/main" id="{EB4363D7-3930-4900-94F9-30F6B1BA42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9846" y="6044787"/>
              <a:ext cx="440440" cy="538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7A91D4A7-FE43-4746-82F4-C49037A24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15251" y="4361591"/>
              <a:ext cx="1026757" cy="1188104"/>
            </a:xfrm>
            <a:prstGeom prst="rect">
              <a:avLst/>
            </a:prstGeom>
          </p:spPr>
        </p:pic>
        <p:pic>
          <p:nvPicPr>
            <p:cNvPr id="16" name="Picture 4" descr="Optimus Prime (G1 Serie) | Primuspedia | Fandom">
              <a:extLst>
                <a:ext uri="{FF2B5EF4-FFF2-40B4-BE49-F238E27FC236}">
                  <a16:creationId xmlns:a16="http://schemas.microsoft.com/office/drawing/2014/main" id="{38D092AA-8D9C-48A9-98A7-CC4AC9479C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075" y="6059301"/>
              <a:ext cx="440440" cy="538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C2722C14-45E0-4E7C-8AF0-3411C4DA8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57525" y="4644154"/>
              <a:ext cx="778345" cy="949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2194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7" y="96038"/>
            <a:ext cx="1132334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Expresiones compuestas</a:t>
            </a:r>
            <a:endParaRPr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14526AC-BD86-40EC-AA9F-CD661C3263EC}"/>
                  </a:ext>
                </a:extLst>
              </p:cNvPr>
              <p:cNvSpPr txBox="1"/>
              <p:nvPr/>
            </p:nvSpPr>
            <p:spPr>
              <a:xfrm>
                <a:off x="360659" y="1045538"/>
                <a:ext cx="6954542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200" b="1" dirty="0">
                    <a:ea typeface="Roboto" panose="02000000000000000000" pitchFamily="2" charset="0"/>
                  </a:rPr>
                  <a:t>Ejemplos</a:t>
                </a:r>
                <a:r>
                  <a:rPr lang="es-MX" sz="2200" dirty="0">
                    <a:ea typeface="Roboto" panose="02000000000000000000" pitchFamily="2" charset="0"/>
                  </a:rPr>
                  <a:t>: Suponga que se tienen los siguiente predicados: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s-MX" sz="2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:"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es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un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profesor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endParaRPr lang="es-CO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𝑸</m:t>
                    </m:r>
                    <m:d>
                      <m:dPr>
                        <m:ctrlPr>
                          <a:rPr lang="es-MX" sz="2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:"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es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un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ingeniero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endParaRPr lang="es-CO" sz="2200" dirty="0"/>
              </a:p>
              <a:p>
                <a:endParaRPr lang="es-CO" sz="2200" dirty="0"/>
              </a:p>
              <a:p>
                <a:r>
                  <a:rPr lang="es-CO" sz="2200" dirty="0"/>
                  <a:t>Una expresión compuesta podría ser: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es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un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profesor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>
                        <a:latin typeface="Cambria Math" panose="02040503050406030204" pitchFamily="18" charset="0"/>
                      </a:rPr>
                      <m:t>es</m:t>
                    </m:r>
                    <m:r>
                      <a:rPr lang="es-MX" sz="22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>
                        <a:latin typeface="Cambria Math" panose="02040503050406030204" pitchFamily="18" charset="0"/>
                      </a:rPr>
                      <m:t>un</m:t>
                    </m:r>
                    <m:r>
                      <a:rPr lang="es-MX" sz="22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>
                        <a:latin typeface="Cambria Math" panose="02040503050406030204" pitchFamily="18" charset="0"/>
                      </a:rPr>
                      <m:t>ingeniero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s-CO" sz="2200" dirty="0"/>
                  <a:t> y se escribe como:</a:t>
                </a:r>
              </a:p>
              <a:p>
                <a:endParaRPr lang="es-CO" sz="2200" dirty="0"/>
              </a:p>
              <a:p>
                <a:endParaRPr lang="es-CO" sz="2200" dirty="0"/>
              </a:p>
              <a:p>
                <a:endParaRPr lang="es-CO" sz="2200" dirty="0"/>
              </a:p>
              <a:p>
                <a:r>
                  <a:rPr lang="es-CO" sz="2200" dirty="0"/>
                  <a:t>Si en la expresión anterior, se reemplaza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sz="2200" dirty="0"/>
                  <a:t> por un objeto especifico como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CPH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MX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MX" sz="2200" i="0">
                            <a:latin typeface="Cambria Math" panose="02040503050406030204" pitchFamily="18" charset="0"/>
                          </a:rPr>
                          <m:t>Charles</m:t>
                        </m:r>
                        <m:r>
                          <a:rPr lang="es-MX" sz="22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2200" i="0">
                            <a:latin typeface="Cambria Math" panose="02040503050406030204" pitchFamily="18" charset="0"/>
                          </a:rPr>
                          <m:t>Proteus</m:t>
                        </m:r>
                        <m:r>
                          <a:rPr lang="es-MX" sz="22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2200" i="0">
                            <a:latin typeface="Cambria Math" panose="02040503050406030204" pitchFamily="18" charset="0"/>
                          </a:rPr>
                          <m:t>Steinmetz</m:t>
                        </m:r>
                      </m:e>
                    </m:d>
                  </m:oMath>
                </a14:m>
                <a:r>
                  <a:rPr lang="es-CO" sz="2200" dirty="0"/>
                  <a:t> la expresión se convierte en la siguiente proposición:</a:t>
                </a: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14526AC-BD86-40EC-AA9F-CD661C326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59" y="1045538"/>
                <a:ext cx="6954542" cy="4154984"/>
              </a:xfrm>
              <a:prstGeom prst="rect">
                <a:avLst/>
              </a:prstGeom>
              <a:blipFill>
                <a:blip r:embed="rId3"/>
                <a:stretch>
                  <a:fillRect l="-1139" t="-1028" b="-20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458" name="Picture 2" descr="The Inspiring Feats of Charles Steinmetz, the “Engineer's Engineer” - News">
            <a:extLst>
              <a:ext uri="{FF2B5EF4-FFF2-40B4-BE49-F238E27FC236}">
                <a16:creationId xmlns:a16="http://schemas.microsoft.com/office/drawing/2014/main" id="{15531A54-AE80-4415-AEE4-5BE4712BE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5341" y="1533154"/>
            <a:ext cx="4354719" cy="437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BD64D8B-9CFA-4D5E-8C28-134573504840}"/>
              </a:ext>
            </a:extLst>
          </p:cNvPr>
          <p:cNvSpPr txBox="1"/>
          <p:nvPr/>
        </p:nvSpPr>
        <p:spPr>
          <a:xfrm>
            <a:off x="8411193" y="5965356"/>
            <a:ext cx="24235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</a:rPr>
              <a:t>Charles Proteus Steinmetz (</a:t>
            </a:r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  <a:hlinkClick r:id="rId5"/>
              </a:rPr>
              <a:t>link</a:t>
            </a:r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3ED5C9B-74AB-423E-BFE7-75D2DBE84CD3}"/>
                  </a:ext>
                </a:extLst>
              </p:cNvPr>
              <p:cNvSpPr txBox="1"/>
              <p:nvPr/>
            </p:nvSpPr>
            <p:spPr>
              <a:xfrm>
                <a:off x="2826685" y="3429000"/>
                <a:ext cx="21626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3ED5C9B-74AB-423E-BFE7-75D2DBE84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685" y="3429000"/>
                <a:ext cx="2162629" cy="461665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93D5323-426E-4C5E-9F24-4CEC4F88E66A}"/>
                  </a:ext>
                </a:extLst>
              </p:cNvPr>
              <p:cNvSpPr txBox="1"/>
              <p:nvPr/>
            </p:nvSpPr>
            <p:spPr>
              <a:xfrm>
                <a:off x="2562380" y="5747626"/>
                <a:ext cx="26912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2400" b="0" i="0" smtClean="0">
                              <a:latin typeface="Cambria Math" panose="02040503050406030204" pitchFamily="18" charset="0"/>
                            </a:rPr>
                            <m:t>CPH</m:t>
                          </m:r>
                        </m:e>
                      </m:d>
                      <m:r>
                        <a:rPr lang="es-MX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2400" i="0">
                              <a:latin typeface="Cambria Math" panose="02040503050406030204" pitchFamily="18" charset="0"/>
                            </a:rPr>
                            <m:t>CPH</m:t>
                          </m:r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93D5323-426E-4C5E-9F24-4CEC4F88E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380" y="5747626"/>
                <a:ext cx="2691238" cy="461665"/>
              </a:xfrm>
              <a:prstGeom prst="rect">
                <a:avLst/>
              </a:prstGeom>
              <a:blipFill>
                <a:blip r:embed="rId7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1495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72574" y="96038"/>
            <a:ext cx="1201782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Tabla de verificación de tipos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174171" y="1045538"/>
            <a:ext cx="11567886" cy="166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Muy útil en problemas de lógica de primer orden. Esta tabla tabla describe tres tipos de componentes lógicos: conectores, predicados y funciones, y explica: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Sobre que operan (Tipo de entrada)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Que producen (Tipo de salida)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0B0317C9-47F3-4C5D-9FE6-A0C2E960F6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4883452"/>
                  </p:ext>
                </p:extLst>
              </p:nvPr>
            </p:nvGraphicFramePr>
            <p:xfrm>
              <a:off x="478972" y="3249496"/>
              <a:ext cx="10958284" cy="1584960"/>
            </p:xfrm>
            <a:graphic>
              <a:graphicData uri="http://schemas.openxmlformats.org/drawingml/2006/table">
                <a:tbl>
                  <a:tblPr/>
                  <a:tblGrid>
                    <a:gridCol w="2921179">
                      <a:extLst>
                        <a:ext uri="{9D8B030D-6E8A-4147-A177-3AD203B41FA5}">
                          <a16:colId xmlns:a16="http://schemas.microsoft.com/office/drawing/2014/main" val="405060489"/>
                        </a:ext>
                      </a:extLst>
                    </a:gridCol>
                    <a:gridCol w="1824993">
                      <a:extLst>
                        <a:ext uri="{9D8B030D-6E8A-4147-A177-3AD203B41FA5}">
                          <a16:colId xmlns:a16="http://schemas.microsoft.com/office/drawing/2014/main" val="2971188620"/>
                        </a:ext>
                      </a:extLst>
                    </a:gridCol>
                    <a:gridCol w="1959428">
                      <a:extLst>
                        <a:ext uri="{9D8B030D-6E8A-4147-A177-3AD203B41FA5}">
                          <a16:colId xmlns:a16="http://schemas.microsoft.com/office/drawing/2014/main" val="3889618071"/>
                        </a:ext>
                      </a:extLst>
                    </a:gridCol>
                    <a:gridCol w="4252684">
                      <a:extLst>
                        <a:ext uri="{9D8B030D-6E8A-4147-A177-3AD203B41FA5}">
                          <a16:colId xmlns:a16="http://schemas.microsoft.com/office/drawing/2014/main" val="282814732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Elemento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Opera sobre...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Produce...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73762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Conectivos </a:t>
                          </a:r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</m:oMath>
                          </a14:m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…</m:t>
                              </m:r>
                            </m:oMath>
                          </a14:m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Proposiciones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Una proposición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,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¬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669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&lt;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,)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Objetos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Una proposición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𝑚𝑎𝑦𝑜𝑟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_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𝑞𝑢𝑒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,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=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𝑝𝑎𝑟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92735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Funciones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Objetos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 objeto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𝑑𝑜𝑏𝑙𝑒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𝑝𝑎𝑑𝑟𝑒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_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𝑑𝑒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𝑠𝑢𝑚𝑎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,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94744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0B0317C9-47F3-4C5D-9FE6-A0C2E960F6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4883452"/>
                  </p:ext>
                </p:extLst>
              </p:nvPr>
            </p:nvGraphicFramePr>
            <p:xfrm>
              <a:off x="478972" y="3249496"/>
              <a:ext cx="10958284" cy="1584960"/>
            </p:xfrm>
            <a:graphic>
              <a:graphicData uri="http://schemas.openxmlformats.org/drawingml/2006/table">
                <a:tbl>
                  <a:tblPr/>
                  <a:tblGrid>
                    <a:gridCol w="2921179">
                      <a:extLst>
                        <a:ext uri="{9D8B030D-6E8A-4147-A177-3AD203B41FA5}">
                          <a16:colId xmlns:a16="http://schemas.microsoft.com/office/drawing/2014/main" val="405060489"/>
                        </a:ext>
                      </a:extLst>
                    </a:gridCol>
                    <a:gridCol w="1824993">
                      <a:extLst>
                        <a:ext uri="{9D8B030D-6E8A-4147-A177-3AD203B41FA5}">
                          <a16:colId xmlns:a16="http://schemas.microsoft.com/office/drawing/2014/main" val="2971188620"/>
                        </a:ext>
                      </a:extLst>
                    </a:gridCol>
                    <a:gridCol w="1959428">
                      <a:extLst>
                        <a:ext uri="{9D8B030D-6E8A-4147-A177-3AD203B41FA5}">
                          <a16:colId xmlns:a16="http://schemas.microsoft.com/office/drawing/2014/main" val="3889618071"/>
                        </a:ext>
                      </a:extLst>
                    </a:gridCol>
                    <a:gridCol w="4252684">
                      <a:extLst>
                        <a:ext uri="{9D8B030D-6E8A-4147-A177-3AD203B41FA5}">
                          <a16:colId xmlns:a16="http://schemas.microsoft.com/office/drawing/2014/main" val="282814732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Elemento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Opera sobre...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Produce...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737628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" t="-106061" r="-275208" b="-2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Proposiciones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Una proposición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880" t="-106061" r="-287" b="-2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978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" t="-209231" r="-275208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Objetos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Una proposición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880" t="-209231" r="-287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92735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Funciones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Objetos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 objeto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880" t="-309231" r="-287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4744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9498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6743" y="232658"/>
            <a:ext cx="1155483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Lenguaje formal .vs. lenguaje informal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246743" y="1044524"/>
            <a:ext cx="11323324" cy="1441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Es importante poder traducir del lenguaje informal al formal cuando se trata de dar sentido a conceptos matemáticos nuevos. 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También, es igualmente importante poder traducir del lenguaje informal al formal cuando se analiza un problema complicado.</a:t>
            </a:r>
          </a:p>
        </p:txBody>
      </p:sp>
      <p:pic>
        <p:nvPicPr>
          <p:cNvPr id="4098" name="Picture 2" descr="Homero pensando : r/simpsonsshitposting">
            <a:extLst>
              <a:ext uri="{FF2B5EF4-FFF2-40B4-BE49-F238E27FC236}">
                <a16:creationId xmlns:a16="http://schemas.microsoft.com/office/drawing/2014/main" id="{3D057AE8-C16C-4B7C-BBD0-9137158A5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143" y="3881062"/>
            <a:ext cx="1623171" cy="2885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ocadillo nube: nube 3">
            <a:extLst>
              <a:ext uri="{FF2B5EF4-FFF2-40B4-BE49-F238E27FC236}">
                <a16:creationId xmlns:a16="http://schemas.microsoft.com/office/drawing/2014/main" id="{BDF53D84-ACF7-42D5-8485-AF7563621F86}"/>
              </a:ext>
            </a:extLst>
          </p:cNvPr>
          <p:cNvSpPr/>
          <p:nvPr/>
        </p:nvSpPr>
        <p:spPr>
          <a:xfrm>
            <a:off x="621933" y="2970765"/>
            <a:ext cx="3120813" cy="1526062"/>
          </a:xfrm>
          <a:prstGeom prst="cloudCallout">
            <a:avLst>
              <a:gd name="adj1" fmla="val 70727"/>
              <a:gd name="adj2" fmla="val 464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dirty="0">
                <a:solidFill>
                  <a:schemeClr val="tx1"/>
                </a:solidFill>
                <a:ea typeface="Roboto" panose="02000000000000000000" pitchFamily="2" charset="0"/>
              </a:rPr>
              <a:t>Sin Tele y sin cerveza Homero pierde la cabeza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Bocadillo nube: nube 14">
                <a:extLst>
                  <a:ext uri="{FF2B5EF4-FFF2-40B4-BE49-F238E27FC236}">
                    <a16:creationId xmlns:a16="http://schemas.microsoft.com/office/drawing/2014/main" id="{1A35AA3A-3D23-4734-8649-DD91D630F9AC}"/>
                  </a:ext>
                </a:extLst>
              </p:cNvPr>
              <p:cNvSpPr/>
              <p:nvPr/>
            </p:nvSpPr>
            <p:spPr>
              <a:xfrm>
                <a:off x="5963314" y="2624930"/>
                <a:ext cx="5606753" cy="1434523"/>
              </a:xfrm>
              <a:prstGeom prst="cloudCallout">
                <a:avLst>
                  <a:gd name="adj1" fmla="val -46904"/>
                  <a:gd name="adj2" fmla="val 87088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¬</m:t>
                          </m:r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𝑥𝐶</m:t>
                          </m:r>
                          <m:d>
                            <m:dPr>
                              <m:ctrlPr>
                                <a:rPr lang="es-MX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s-MX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¬</m:t>
                          </m:r>
                          <m:r>
                            <a:rPr lang="es-MX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𝑦𝑇</m:t>
                          </m:r>
                          <m:d>
                            <m:dPr>
                              <m:ctrlPr>
                                <a:rPr lang="es-MX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→</m:t>
                      </m:r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(</m:t>
                      </m:r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h</m:t>
                      </m:r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)</m:t>
                      </m:r>
                    </m:oMath>
                  </m:oMathPara>
                </a14:m>
                <a:endParaRPr lang="es-CO" sz="20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15" name="Bocadillo nube: nube 14">
                <a:extLst>
                  <a:ext uri="{FF2B5EF4-FFF2-40B4-BE49-F238E27FC236}">
                    <a16:creationId xmlns:a16="http://schemas.microsoft.com/office/drawing/2014/main" id="{1A35AA3A-3D23-4734-8649-DD91D630F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314" y="2624930"/>
                <a:ext cx="5606753" cy="1434523"/>
              </a:xfrm>
              <a:prstGeom prst="cloudCallout">
                <a:avLst>
                  <a:gd name="adj1" fmla="val -46904"/>
                  <a:gd name="adj2" fmla="val 87088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a 8">
                <a:extLst>
                  <a:ext uri="{FF2B5EF4-FFF2-40B4-BE49-F238E27FC236}">
                    <a16:creationId xmlns:a16="http://schemas.microsoft.com/office/drawing/2014/main" id="{EDCFF84E-7678-41F0-ACE3-8D5187F99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6301468"/>
                  </p:ext>
                </p:extLst>
              </p:nvPr>
            </p:nvGraphicFramePr>
            <p:xfrm>
              <a:off x="7634515" y="4496827"/>
              <a:ext cx="4399289" cy="21945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4399289">
                      <a:extLst>
                        <a:ext uri="{9D8B030D-6E8A-4147-A177-3AD203B41FA5}">
                          <a16:colId xmlns:a16="http://schemas.microsoft.com/office/drawing/2014/main" val="181278623"/>
                        </a:ext>
                      </a:extLst>
                    </a:gridCol>
                  </a:tblGrid>
                  <a:tr h="153829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Funciones proposicionales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4669776"/>
                      </a:ext>
                    </a:extLst>
                  </a:tr>
                  <a:tr h="358934"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d>
                                <m:dPr>
                                  <m:ctrlPr>
                                    <a:rPr lang="es-MX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: "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</a:rPr>
                                <m:t>es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</a:rPr>
                                <m:t>cerveza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"</m:t>
                              </m:r>
                            </m:oMath>
                          </a14:m>
                          <a:endParaRPr lang="es-MX" sz="2000" b="0" dirty="0">
                            <a:latin typeface="+mn-lt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s-MX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: "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es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tele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"</m:t>
                              </m:r>
                            </m:oMath>
                          </a14:m>
                          <a:endParaRPr lang="es-CO" sz="2000" dirty="0">
                            <a:latin typeface="+mn-lt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s-MX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: "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pierde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la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cabeza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"</m:t>
                              </m:r>
                            </m:oMath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67836059"/>
                      </a:ext>
                    </a:extLst>
                  </a:tr>
                  <a:tr h="1538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Afirmaciones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3056750"/>
                      </a:ext>
                    </a:extLst>
                  </a:tr>
                  <a:tr h="153829"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s-MX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1" i="1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: "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Homero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pierde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la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</a:rPr>
                                <m:t>cabeza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"</m:t>
                              </m:r>
                            </m:oMath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01818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a 8">
                <a:extLst>
                  <a:ext uri="{FF2B5EF4-FFF2-40B4-BE49-F238E27FC236}">
                    <a16:creationId xmlns:a16="http://schemas.microsoft.com/office/drawing/2014/main" id="{EDCFF84E-7678-41F0-ACE3-8D5187F99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6301468"/>
                  </p:ext>
                </p:extLst>
              </p:nvPr>
            </p:nvGraphicFramePr>
            <p:xfrm>
              <a:off x="7634515" y="4496827"/>
              <a:ext cx="4399289" cy="21945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4399289">
                      <a:extLst>
                        <a:ext uri="{9D8B030D-6E8A-4147-A177-3AD203B41FA5}">
                          <a16:colId xmlns:a16="http://schemas.microsoft.com/office/drawing/2014/main" val="18127862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Funciones proposicionales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466977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8" t="-42169" r="-277" b="-867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783605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Afirmaciones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305675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8" t="-463077" r="-277" b="-2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181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937820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1920" y="96038"/>
            <a:ext cx="1181036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s-ES" dirty="0">
                <a:solidFill>
                  <a:schemeClr val="tx1"/>
                </a:solidFill>
                <a:latin typeface="+mj-lt"/>
              </a:rPr>
              <a:t>Proceso de traducción de lenguaje natural a formal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259720" y="877898"/>
            <a:ext cx="11672560" cy="357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A continuación se listan algunos pasos para traducir enunciados del lenguaje natural a lógica de primer orden: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b="1" dirty="0">
                <a:latin typeface="+mn-lt"/>
                <a:ea typeface="Roboto" panose="02000000000000000000" pitchFamily="2" charset="0"/>
              </a:rPr>
              <a:t>Identificar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las proposiciones simples o propiedades involucradas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b="1" dirty="0">
                <a:latin typeface="+mn-lt"/>
                <a:ea typeface="Roboto" panose="02000000000000000000" pitchFamily="2" charset="0"/>
              </a:rPr>
              <a:t>Definir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las funciones proposicionales y constantes (el "diccionario")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b="1" dirty="0">
                <a:latin typeface="+mn-lt"/>
                <a:ea typeface="Roboto" panose="02000000000000000000" pitchFamily="2" charset="0"/>
              </a:rPr>
              <a:t>Determinar el dominio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de discurso (¿sobre qué universo hablamos?)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b="1" dirty="0">
                <a:latin typeface="+mn-lt"/>
                <a:ea typeface="Roboto" panose="02000000000000000000" pitchFamily="2" charset="0"/>
              </a:rPr>
              <a:t>Identificar la estructura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de la oración: ¿es universal, existencial, negada, condicional?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b="1" dirty="0">
                <a:latin typeface="+mn-lt"/>
                <a:ea typeface="Roboto" panose="02000000000000000000" pitchFamily="2" charset="0"/>
              </a:rPr>
              <a:t>Aplicar la forma aristotélica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correspondiente </a:t>
            </a:r>
            <a:r>
              <a:rPr lang="es-MX" sz="2200" b="1" u="sng" dirty="0">
                <a:solidFill>
                  <a:srgbClr val="C00000"/>
                </a:solidFill>
                <a:latin typeface="+mn-lt"/>
                <a:ea typeface="Roboto" panose="02000000000000000000" pitchFamily="2" charset="0"/>
              </a:rPr>
              <a:t>si aplica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b="1" dirty="0">
                <a:latin typeface="+mn-lt"/>
                <a:ea typeface="Roboto" panose="02000000000000000000" pitchFamily="2" charset="0"/>
              </a:rPr>
              <a:t>Escribir la expresión 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en Lógica de predicados y verificar que captura el significado original</a:t>
            </a:r>
          </a:p>
          <a:p>
            <a:pPr lvl="2"/>
            <a:endParaRPr lang="es-MX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096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1920" y="96038"/>
            <a:ext cx="1181036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s-ES" dirty="0">
                <a:solidFill>
                  <a:schemeClr val="tx1"/>
                </a:solidFill>
                <a:latin typeface="+mj-lt"/>
              </a:rPr>
              <a:t>Proceso de traducción de lenguaje natural a formal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F8BF374-96BD-402A-B495-128545198BB4}"/>
              </a:ext>
            </a:extLst>
          </p:cNvPr>
          <p:cNvSpPr txBox="1"/>
          <p:nvPr/>
        </p:nvSpPr>
        <p:spPr>
          <a:xfrm>
            <a:off x="121920" y="822814"/>
            <a:ext cx="10914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Formas Aristotélicas</a:t>
            </a:r>
          </a:p>
        </p:txBody>
      </p:sp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302406F3-BCDD-409B-9EC9-AEFCB1DE196F}"/>
              </a:ext>
            </a:extLst>
          </p:cNvPr>
          <p:cNvSpPr txBox="1">
            <a:spLocks/>
          </p:cNvSpPr>
          <p:nvPr/>
        </p:nvSpPr>
        <p:spPr>
          <a:xfrm>
            <a:off x="121920" y="1246595"/>
            <a:ext cx="11672560" cy="156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Las cuatro formas aristotélicas (A, E, I, O) son muy útiles en lógica de primer orden principalmente como plantillas de traducción del lenguaje natural al lenguaje de predicados.</a:t>
            </a: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Es importante tener en cuenta que las formas aristotélicas son una guía, pero el lenguaje natural puede ser más complejo y requerir combinarlas.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749798DC-A9DF-404D-8657-CBDC7FF442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732" y="4799843"/>
                <a:ext cx="11518536" cy="100598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</a:rPr>
                  <a:t>Error común:</a:t>
                </a:r>
                <a:r>
                  <a:rPr lang="es-MX" sz="2000" dirty="0">
                    <a:latin typeface="+mn-lt"/>
                  </a:rPr>
                  <a:t> Para la forma </a:t>
                </a:r>
                <a:r>
                  <a:rPr lang="es-MX" sz="2000" b="1" dirty="0">
                    <a:latin typeface="+mn-lt"/>
                  </a:rPr>
                  <a:t>I</a:t>
                </a:r>
                <a:r>
                  <a:rPr lang="es-MX" sz="2000" dirty="0">
                    <a:latin typeface="+mn-lt"/>
                  </a:rPr>
                  <a:t>, a veces se tiende a escribir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 →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MX" sz="2000" dirty="0">
                    <a:latin typeface="+mn-lt"/>
                  </a:rPr>
                  <a:t> en lugar de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MX" sz="2000" dirty="0">
                    <a:latin typeface="+mn-lt"/>
                  </a:rPr>
                  <a:t>. Con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sz="2000" dirty="0">
                    <a:latin typeface="+mn-lt"/>
                  </a:rPr>
                  <a:t>, la expresión sería verdadera trivialmente cuando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</a:rPr>
                  <a:t> es falso para algún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</a:rPr>
                  <a:t>, lo cual no captura el significado de "algún S es P".</a:t>
                </a:r>
                <a:endParaRPr lang="es-MX" sz="32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749798DC-A9DF-404D-8657-CBDC7FF44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32" y="4799843"/>
                <a:ext cx="11518536" cy="1005988"/>
              </a:xfrm>
              <a:prstGeom prst="rect">
                <a:avLst/>
              </a:prstGeom>
              <a:blipFill>
                <a:blip r:embed="rId3"/>
                <a:stretch>
                  <a:fillRect b="-145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C4130B07-F685-467A-B812-C7B0B639F9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845643"/>
                  </p:ext>
                </p:extLst>
              </p:nvPr>
            </p:nvGraphicFramePr>
            <p:xfrm>
              <a:off x="1030585" y="2438400"/>
              <a:ext cx="9993029" cy="1981200"/>
            </p:xfrm>
            <a:graphic>
              <a:graphicData uri="http://schemas.openxmlformats.org/drawingml/2006/table">
                <a:tbl>
                  <a:tblPr/>
                  <a:tblGrid>
                    <a:gridCol w="911606">
                      <a:extLst>
                        <a:ext uri="{9D8B030D-6E8A-4147-A177-3AD203B41FA5}">
                          <a16:colId xmlns:a16="http://schemas.microsoft.com/office/drawing/2014/main" val="3503387764"/>
                        </a:ext>
                      </a:extLst>
                    </a:gridCol>
                    <a:gridCol w="2307769">
                      <a:extLst>
                        <a:ext uri="{9D8B030D-6E8A-4147-A177-3AD203B41FA5}">
                          <a16:colId xmlns:a16="http://schemas.microsoft.com/office/drawing/2014/main" val="1705867755"/>
                        </a:ext>
                      </a:extLst>
                    </a:gridCol>
                    <a:gridCol w="2006918">
                      <a:extLst>
                        <a:ext uri="{9D8B030D-6E8A-4147-A177-3AD203B41FA5}">
                          <a16:colId xmlns:a16="http://schemas.microsoft.com/office/drawing/2014/main" val="4193806714"/>
                        </a:ext>
                      </a:extLst>
                    </a:gridCol>
                    <a:gridCol w="2471166">
                      <a:extLst>
                        <a:ext uri="{9D8B030D-6E8A-4147-A177-3AD203B41FA5}">
                          <a16:colId xmlns:a16="http://schemas.microsoft.com/office/drawing/2014/main" val="3214856386"/>
                        </a:ext>
                      </a:extLst>
                    </a:gridCol>
                    <a:gridCol w="2295570">
                      <a:extLst>
                        <a:ext uri="{9D8B030D-6E8A-4147-A177-3AD203B41FA5}">
                          <a16:colId xmlns:a16="http://schemas.microsoft.com/office/drawing/2014/main" val="424597107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</a:rPr>
                            <a:t>Forma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>
                              <a:solidFill>
                                <a:schemeClr val="bg1"/>
                              </a:solidFill>
                            </a:rPr>
                            <a:t>Nombre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>
                              <a:solidFill>
                                <a:schemeClr val="bg1"/>
                              </a:solidFill>
                            </a:rPr>
                            <a:t>Enunciado típico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>
                              <a:solidFill>
                                <a:schemeClr val="bg1"/>
                              </a:solidFill>
                            </a:rPr>
                            <a:t>Traducción en LPO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</a:rPr>
                            <a:t>Conectivo clave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84614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A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Universal afirmativa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"Todo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 → 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</m:oMath>
                          </a14:m>
                          <a:r>
                            <a:rPr lang="es-CO" sz="2000" dirty="0"/>
                            <a:t> con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195686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E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Universal negativa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"Ningún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 → ¬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</m:oMath>
                          </a14:m>
                          <a:r>
                            <a:rPr lang="es-CO" sz="2000" dirty="0"/>
                            <a:t> con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s-CO" sz="2000" dirty="0"/>
                            <a:t> y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</m:oMath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757031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I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Particular afirmativa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"Algún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 ∧ 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</m:oMath>
                          </a14:m>
                          <a:r>
                            <a:rPr lang="es-CO" sz="2000" dirty="0"/>
                            <a:t> con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724557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O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Particular negativa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"Algún S no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 ∧ ¬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</m:oMath>
                          </a14:m>
                          <a:r>
                            <a:rPr lang="es-CO" sz="2000" dirty="0"/>
                            <a:t> con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es-CO" sz="2000" dirty="0"/>
                            <a:t> y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</m:oMath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806657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C4130B07-F685-467A-B812-C7B0B639F9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845643"/>
                  </p:ext>
                </p:extLst>
              </p:nvPr>
            </p:nvGraphicFramePr>
            <p:xfrm>
              <a:off x="1030585" y="2438400"/>
              <a:ext cx="9993029" cy="1981200"/>
            </p:xfrm>
            <a:graphic>
              <a:graphicData uri="http://schemas.openxmlformats.org/drawingml/2006/table">
                <a:tbl>
                  <a:tblPr/>
                  <a:tblGrid>
                    <a:gridCol w="911606">
                      <a:extLst>
                        <a:ext uri="{9D8B030D-6E8A-4147-A177-3AD203B41FA5}">
                          <a16:colId xmlns:a16="http://schemas.microsoft.com/office/drawing/2014/main" val="3503387764"/>
                        </a:ext>
                      </a:extLst>
                    </a:gridCol>
                    <a:gridCol w="2307769">
                      <a:extLst>
                        <a:ext uri="{9D8B030D-6E8A-4147-A177-3AD203B41FA5}">
                          <a16:colId xmlns:a16="http://schemas.microsoft.com/office/drawing/2014/main" val="1705867755"/>
                        </a:ext>
                      </a:extLst>
                    </a:gridCol>
                    <a:gridCol w="2006918">
                      <a:extLst>
                        <a:ext uri="{9D8B030D-6E8A-4147-A177-3AD203B41FA5}">
                          <a16:colId xmlns:a16="http://schemas.microsoft.com/office/drawing/2014/main" val="4193806714"/>
                        </a:ext>
                      </a:extLst>
                    </a:gridCol>
                    <a:gridCol w="2471166">
                      <a:extLst>
                        <a:ext uri="{9D8B030D-6E8A-4147-A177-3AD203B41FA5}">
                          <a16:colId xmlns:a16="http://schemas.microsoft.com/office/drawing/2014/main" val="3214856386"/>
                        </a:ext>
                      </a:extLst>
                    </a:gridCol>
                    <a:gridCol w="2295570">
                      <a:extLst>
                        <a:ext uri="{9D8B030D-6E8A-4147-A177-3AD203B41FA5}">
                          <a16:colId xmlns:a16="http://schemas.microsoft.com/office/drawing/2014/main" val="424597107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</a:rPr>
                            <a:t>Forma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>
                              <a:solidFill>
                                <a:schemeClr val="bg1"/>
                              </a:solidFill>
                            </a:rPr>
                            <a:t>Nombre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>
                              <a:solidFill>
                                <a:schemeClr val="bg1"/>
                              </a:solidFill>
                            </a:rPr>
                            <a:t>Enunciado típico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>
                              <a:solidFill>
                                <a:schemeClr val="bg1"/>
                              </a:solidFill>
                            </a:rPr>
                            <a:t>Traducción en LPO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</a:rPr>
                            <a:t>Conectivo clave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846145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A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Universal afirmativa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"Todo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2099" t="-107692" r="-93580" b="-3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5279" t="-107692" r="-531" b="-3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956865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E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Universal negativa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"Ningún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2099" t="-207692" r="-93580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5279" t="-207692" r="-531" b="-2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57031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I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Particular afirmativa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"Algún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2099" t="-307692" r="-93580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5279" t="-307692" r="-531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245579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O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Particular negativa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"Algún S no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2099" t="-407692" r="-9358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5279" t="-407692" r="-531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6657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44629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1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9D83EFC9-4BFE-49EF-A130-A966529D4D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3840" y="1045538"/>
                <a:ext cx="11672560" cy="51114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200" dirty="0">
                    <a:latin typeface="+mn-lt"/>
                  </a:rPr>
                  <a:t>Considere el siguiente enunciado:</a:t>
                </a:r>
              </a:p>
              <a:p>
                <a:pPr marL="127000" indent="0">
                  <a:buNone/>
                </a:pPr>
                <a:endParaRPr lang="es-MX" sz="2200" dirty="0">
                  <a:latin typeface="+mn-lt"/>
                </a:endParaRPr>
              </a:p>
              <a:p>
                <a:pPr marL="127000" indent="0" algn="ctr">
                  <a:buNone/>
                </a:pPr>
                <a:r>
                  <a:rPr lang="es-MX" sz="2200" b="1" dirty="0">
                    <a:latin typeface="+mn-lt"/>
                  </a:rPr>
                  <a:t>Para todo jugador de baloncesto </a:t>
                </a:r>
                <a14:m>
                  <m:oMath xmlns:m="http://schemas.openxmlformats.org/officeDocument/2006/math">
                    <m:r>
                      <a:rPr lang="es-MX" sz="22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MX" sz="2200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2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MX" sz="2200" b="1" dirty="0">
                    <a:latin typeface="+mn-lt"/>
                  </a:rPr>
                  <a:t> es alto.</a:t>
                </a:r>
                <a:endParaRPr lang="es-MX" sz="2200" dirty="0">
                  <a:latin typeface="+mn-lt"/>
                </a:endParaRPr>
              </a:p>
              <a:p>
                <a:pPr marL="127000" indent="0">
                  <a:buNone/>
                </a:pPr>
                <a:endParaRPr lang="es-MX" sz="2200" dirty="0">
                  <a:latin typeface="+mn-lt"/>
                </a:endParaRPr>
              </a:p>
              <a:p>
                <a:pPr marL="127000" indent="0">
                  <a:buNone/>
                </a:pPr>
                <a:r>
                  <a:rPr lang="es-MX" sz="2200" dirty="0">
                    <a:latin typeface="+mn-lt"/>
                  </a:rPr>
                  <a:t>¿Cuál de las siguientes formas de expresión son equivalentes de este enunciado?</a:t>
                </a:r>
              </a:p>
              <a:p>
                <a:pPr marL="584200" indent="-457200">
                  <a:buAutoNum type="alphaLcPeriod"/>
                </a:pPr>
                <a:r>
                  <a:rPr lang="es-MX" sz="2200" dirty="0">
                    <a:latin typeface="+mn-lt"/>
                  </a:rPr>
                  <a:t>Todo jugador de baloncesto es alto.</a:t>
                </a:r>
              </a:p>
              <a:p>
                <a:pPr marL="584200" indent="-457200">
                  <a:buAutoNum type="alphaLcPeriod"/>
                </a:pPr>
                <a:r>
                  <a:rPr lang="es-MX" sz="2200" dirty="0">
                    <a:latin typeface="+mn-lt"/>
                  </a:rPr>
                  <a:t>Entre todos los jugadores de baloncesto, algunos son altos.</a:t>
                </a:r>
              </a:p>
              <a:p>
                <a:pPr marL="584200" indent="-457200">
                  <a:buAutoNum type="alphaLcPeriod"/>
                </a:pPr>
                <a:r>
                  <a:rPr lang="es-MX" sz="2200" dirty="0">
                    <a:latin typeface="+mn-lt"/>
                  </a:rPr>
                  <a:t>Algunas de las personas altas son jugadores de baloncesto.</a:t>
                </a:r>
              </a:p>
              <a:p>
                <a:pPr marL="584200" indent="-457200">
                  <a:buAutoNum type="alphaLcPeriod"/>
                </a:pPr>
                <a:r>
                  <a:rPr lang="es-MX" sz="2200" dirty="0">
                    <a:latin typeface="+mn-lt"/>
                  </a:rPr>
                  <a:t>Cualquier persona alta es un jugador de baloncesto.</a:t>
                </a:r>
              </a:p>
              <a:p>
                <a:pPr marL="584200" indent="-457200">
                  <a:buAutoNum type="alphaLcPeriod"/>
                </a:pPr>
                <a:r>
                  <a:rPr lang="es-MX" sz="2200" dirty="0">
                    <a:latin typeface="+mn-lt"/>
                  </a:rPr>
                  <a:t>Todas las personas que son jugadores de baloncesto son altos.</a:t>
                </a:r>
              </a:p>
              <a:p>
                <a:pPr marL="584200" indent="-457200">
                  <a:buAutoNum type="alphaLcPeriod"/>
                </a:pPr>
                <a:r>
                  <a:rPr lang="es-MX" sz="2200" dirty="0">
                    <a:latin typeface="+mn-lt"/>
                  </a:rPr>
                  <a:t>Cualquier persona que es un jugador de baloncesto es una persona alta.</a:t>
                </a:r>
              </a:p>
              <a:p>
                <a:pPr marL="127000" indent="0">
                  <a:buNone/>
                </a:pPr>
                <a:endParaRPr lang="es-MX" sz="22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9D83EFC9-4BFE-49EF-A130-A966529D4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1045538"/>
                <a:ext cx="11672560" cy="51114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396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1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9D83EFC9-4BFE-49EF-A130-A966529D4DA6}"/>
              </a:ext>
            </a:extLst>
          </p:cNvPr>
          <p:cNvSpPr txBox="1">
            <a:spLocks/>
          </p:cNvSpPr>
          <p:nvPr/>
        </p:nvSpPr>
        <p:spPr>
          <a:xfrm>
            <a:off x="243840" y="1045538"/>
            <a:ext cx="11672560" cy="51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</a:rPr>
              <a:t>Solución</a:t>
            </a:r>
            <a:r>
              <a:rPr lang="es-MX" sz="2200" dirty="0">
                <a:latin typeface="+mn-lt"/>
              </a:rPr>
              <a:t>:</a:t>
            </a:r>
          </a:p>
          <a:p>
            <a:pPr marL="127000" indent="0">
              <a:buNone/>
            </a:pPr>
            <a:endParaRPr lang="es-MX" sz="2200" dirty="0">
              <a:latin typeface="+mn-lt"/>
            </a:endParaRP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073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1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9D83EFC9-4BFE-49EF-A130-A966529D4DA6}"/>
              </a:ext>
            </a:extLst>
          </p:cNvPr>
          <p:cNvSpPr txBox="1">
            <a:spLocks/>
          </p:cNvSpPr>
          <p:nvPr/>
        </p:nvSpPr>
        <p:spPr>
          <a:xfrm>
            <a:off x="243840" y="1045538"/>
            <a:ext cx="11672560" cy="51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</a:rPr>
              <a:t>Solución</a:t>
            </a:r>
            <a:r>
              <a:rPr lang="es-MX" sz="2200" dirty="0">
                <a:latin typeface="+mn-lt"/>
              </a:rPr>
              <a:t>:</a:t>
            </a:r>
          </a:p>
          <a:p>
            <a:pPr marL="127000" indent="0">
              <a:buNone/>
            </a:pPr>
            <a:endParaRPr lang="es-MX" sz="2200" dirty="0">
              <a:latin typeface="+mn-lt"/>
            </a:endParaRP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5866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2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9D83EFC9-4BFE-49EF-A130-A966529D4DA6}"/>
              </a:ext>
            </a:extLst>
          </p:cNvPr>
          <p:cNvSpPr txBox="1">
            <a:spLocks/>
          </p:cNvSpPr>
          <p:nvPr/>
        </p:nvSpPr>
        <p:spPr>
          <a:xfrm>
            <a:off x="243840" y="893138"/>
            <a:ext cx="11672560" cy="5644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Suponga que existe un zoológico con siete perros de color café, dos perros de color negro, seis gatos grises, diez gatos negros, cinco pájaros azules, seis pájaros amarillos y un pájaro negro.</a:t>
            </a:r>
          </a:p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Suponiendo que se tienen los siguientes enunciados:</a:t>
            </a:r>
          </a:p>
          <a:p>
            <a:pPr marL="584200" indent="-457200">
              <a:buAutoNum type="alphaL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Hay un animal en el zoológico que es rojo.</a:t>
            </a:r>
          </a:p>
          <a:p>
            <a:pPr marL="584200" indent="-457200">
              <a:buAutoNum type="alphaL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b. Todo animal en el zoológico o es un ave o es un mamífero.</a:t>
            </a:r>
          </a:p>
          <a:p>
            <a:pPr marL="584200" indent="-457200">
              <a:buAutoNum type="alphaL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Todo animal en el zoológico es de color café, gris o negro.</a:t>
            </a:r>
          </a:p>
          <a:p>
            <a:pPr marL="584200" indent="-457200">
              <a:buAutoNum type="alphaL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Hay un animal en el zoológico que no es ni un gato ni perro.</a:t>
            </a:r>
          </a:p>
          <a:p>
            <a:pPr marL="584200" indent="-457200">
              <a:buAutoNum type="alphaL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Ningún animal en el zoológico es de color azul.</a:t>
            </a:r>
          </a:p>
          <a:p>
            <a:pPr marL="584200" indent="-457200">
              <a:buAutoNum type="alphaL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Hay en el zoológico un perro, un gato y un pájaro que todos tienen el mismo color.</a:t>
            </a:r>
          </a:p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Se pide: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Defina el universo de discurso.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Traduzca a lenguaje formal cada uno de los enunciados.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Determine el valor de verdad de cada enunciado.</a:t>
            </a: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566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2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9D83EFC9-4BFE-49EF-A130-A966529D4DA6}"/>
              </a:ext>
            </a:extLst>
          </p:cNvPr>
          <p:cNvSpPr txBox="1">
            <a:spLocks/>
          </p:cNvSpPr>
          <p:nvPr/>
        </p:nvSpPr>
        <p:spPr>
          <a:xfrm>
            <a:off x="243840" y="1045538"/>
            <a:ext cx="11672560" cy="51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</a:rPr>
              <a:t>Solución</a:t>
            </a:r>
            <a:r>
              <a:rPr lang="es-MX" sz="2200" dirty="0">
                <a:latin typeface="+mn-lt"/>
              </a:rPr>
              <a:t>:</a:t>
            </a:r>
          </a:p>
          <a:p>
            <a:pPr marL="127000" indent="0">
              <a:buNone/>
            </a:pPr>
            <a:endParaRPr lang="es-MX" sz="2200" dirty="0">
              <a:latin typeface="+mn-lt"/>
            </a:endParaRP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4324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2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9D83EFC9-4BFE-49EF-A130-A966529D4DA6}"/>
              </a:ext>
            </a:extLst>
          </p:cNvPr>
          <p:cNvSpPr txBox="1">
            <a:spLocks/>
          </p:cNvSpPr>
          <p:nvPr/>
        </p:nvSpPr>
        <p:spPr>
          <a:xfrm>
            <a:off x="243840" y="1045538"/>
            <a:ext cx="11672560" cy="51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</a:rPr>
              <a:t>Solución</a:t>
            </a:r>
            <a:r>
              <a:rPr lang="es-MX" sz="2200" dirty="0">
                <a:latin typeface="+mn-lt"/>
              </a:rPr>
              <a:t>:</a:t>
            </a:r>
          </a:p>
          <a:p>
            <a:pPr marL="127000" indent="0">
              <a:buNone/>
            </a:pPr>
            <a:endParaRPr lang="es-MX" sz="2200" dirty="0">
              <a:latin typeface="+mn-lt"/>
            </a:endParaRP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5299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3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9D83EFC9-4BFE-49EF-A130-A966529D4D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3840" y="873289"/>
                <a:ext cx="11672560" cy="51114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200" dirty="0">
                    <a:latin typeface="+mn-lt"/>
                  </a:rPr>
                  <a:t>Traduzca las siguientes afirmaciones a lenguaje natural, donde </a:t>
                </a:r>
                <a14:m>
                  <m:oMath xmlns:m="http://schemas.openxmlformats.org/officeDocument/2006/math"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200" dirty="0">
                    <a:latin typeface="+mn-lt"/>
                  </a:rPr>
                  <a:t> es "</a:t>
                </a:r>
                <a:r>
                  <a:rPr lang="es-MX" sz="2200" i="1" dirty="0">
                    <a:latin typeface="+mn-lt"/>
                  </a:rPr>
                  <a:t>x</a:t>
                </a:r>
                <a:r>
                  <a:rPr lang="es-MX" sz="2200" dirty="0">
                    <a:latin typeface="+mn-lt"/>
                  </a:rPr>
                  <a:t> es un comediante" y </a:t>
                </a:r>
                <a14:m>
                  <m:oMath xmlns:m="http://schemas.openxmlformats.org/officeDocument/2006/math"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200" dirty="0">
                    <a:latin typeface="+mn-lt"/>
                  </a:rPr>
                  <a:t> es "</a:t>
                </a:r>
                <a:r>
                  <a:rPr lang="es-MX" sz="2200" i="1" dirty="0">
                    <a:latin typeface="+mn-lt"/>
                  </a:rPr>
                  <a:t>x</a:t>
                </a:r>
                <a:r>
                  <a:rPr lang="es-MX" sz="2200" dirty="0">
                    <a:latin typeface="+mn-lt"/>
                  </a:rPr>
                  <a:t> es gracioso" y el dominio consiste en todas las personas.</a:t>
                </a:r>
              </a:p>
              <a:p>
                <a:pPr marL="584200" indent="-457200">
                  <a:buAutoNum type="alphaLcPeriod"/>
                </a:pPr>
                <a14:m>
                  <m:oMath xmlns:m="http://schemas.openxmlformats.org/officeDocument/2006/math"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) → 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s-MX" sz="2200" dirty="0">
                  <a:latin typeface="+mn-lt"/>
                </a:endParaRPr>
              </a:p>
              <a:p>
                <a:pPr marL="584200" indent="-457200">
                  <a:buAutoNum type="alphaLcPeriod"/>
                </a:pPr>
                <a14:m>
                  <m:oMath xmlns:m="http://schemas.openxmlformats.org/officeDocument/2006/math"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s-MX" sz="2200" dirty="0">
                  <a:latin typeface="+mn-lt"/>
                </a:endParaRPr>
              </a:p>
              <a:p>
                <a:pPr marL="584200" indent="-457200">
                  <a:buAutoNum type="alphaLcPeriod"/>
                </a:pPr>
                <a14:m>
                  <m:oMath xmlns:m="http://schemas.openxmlformats.org/officeDocument/2006/math"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) → 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s-MX" sz="2200" dirty="0">
                  <a:latin typeface="+mn-lt"/>
                </a:endParaRPr>
              </a:p>
              <a:p>
                <a:pPr marL="584200" indent="-457200">
                  <a:buAutoNum type="alphaLcPeriod"/>
                </a:pPr>
                <a14:m>
                  <m:oMath xmlns:m="http://schemas.openxmlformats.org/officeDocument/2006/math"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s-MX" sz="2200" dirty="0">
                  <a:latin typeface="+mn-lt"/>
                </a:endParaRPr>
              </a:p>
              <a:p>
                <a:pPr marL="127000" indent="0">
                  <a:buNone/>
                </a:pPr>
                <a:endParaRPr lang="es-MX" sz="22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9D83EFC9-4BFE-49EF-A130-A966529D4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873289"/>
                <a:ext cx="11672560" cy="51114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012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3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9D83EFC9-4BFE-49EF-A130-A966529D4DA6}"/>
              </a:ext>
            </a:extLst>
          </p:cNvPr>
          <p:cNvSpPr txBox="1">
            <a:spLocks/>
          </p:cNvSpPr>
          <p:nvPr/>
        </p:nvSpPr>
        <p:spPr>
          <a:xfrm>
            <a:off x="243840" y="1045538"/>
            <a:ext cx="11672560" cy="51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</a:rPr>
              <a:t>Solución</a:t>
            </a:r>
            <a:r>
              <a:rPr lang="es-MX" sz="2200" dirty="0">
                <a:latin typeface="+mn-lt"/>
              </a:rPr>
              <a:t>:</a:t>
            </a:r>
          </a:p>
          <a:p>
            <a:pPr marL="127000" indent="0">
              <a:buNone/>
            </a:pPr>
            <a:endParaRPr lang="es-MX" sz="2200" dirty="0">
              <a:latin typeface="+mn-lt"/>
            </a:endParaRP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9766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3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9D83EFC9-4BFE-49EF-A130-A966529D4DA6}"/>
              </a:ext>
            </a:extLst>
          </p:cNvPr>
          <p:cNvSpPr txBox="1">
            <a:spLocks/>
          </p:cNvSpPr>
          <p:nvPr/>
        </p:nvSpPr>
        <p:spPr>
          <a:xfrm>
            <a:off x="243840" y="1045538"/>
            <a:ext cx="11672560" cy="51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</a:rPr>
              <a:t>Solución</a:t>
            </a:r>
            <a:r>
              <a:rPr lang="es-MX" sz="2200" dirty="0">
                <a:latin typeface="+mn-lt"/>
              </a:rPr>
              <a:t>:</a:t>
            </a:r>
          </a:p>
          <a:p>
            <a:pPr marL="127000" indent="0">
              <a:buNone/>
            </a:pPr>
            <a:endParaRPr lang="es-MX" sz="2200" dirty="0">
              <a:latin typeface="+mn-lt"/>
            </a:endParaRP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192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4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9D83EFC9-4BFE-49EF-A130-A966529D4DA6}"/>
              </a:ext>
            </a:extLst>
          </p:cNvPr>
          <p:cNvSpPr txBox="1">
            <a:spLocks/>
          </p:cNvSpPr>
          <p:nvPr/>
        </p:nvSpPr>
        <p:spPr>
          <a:xfrm>
            <a:off x="243840" y="873289"/>
            <a:ext cx="11353800" cy="2555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</a:rPr>
              <a:t>Para cada una de las siguientes afirmaciones, encuentre un dominio para el cual la afirmación sea verdadera y un dominio para el cual la afirmación sea falsa.</a:t>
            </a:r>
          </a:p>
          <a:p>
            <a:pPr marL="584200" indent="-457200">
              <a:buAutoNum type="alphaLcPeriod"/>
            </a:pPr>
            <a:r>
              <a:rPr lang="es-MX" sz="2200" dirty="0">
                <a:latin typeface="+mn-lt"/>
              </a:rPr>
              <a:t>Todos hablan hindi.</a:t>
            </a:r>
          </a:p>
          <a:p>
            <a:pPr marL="584200" indent="-457200">
              <a:buAutoNum type="alphaLcPeriod"/>
            </a:pPr>
            <a:r>
              <a:rPr lang="es-MX" sz="2200" dirty="0">
                <a:latin typeface="+mn-lt"/>
              </a:rPr>
              <a:t>Hay alguien mayor de 21 años.</a:t>
            </a:r>
          </a:p>
          <a:p>
            <a:pPr marL="584200" indent="-457200">
              <a:buAutoNum type="alphaLcPeriod"/>
            </a:pPr>
            <a:r>
              <a:rPr lang="es-MX" sz="2200" dirty="0">
                <a:latin typeface="+mn-lt"/>
              </a:rPr>
              <a:t>Cada dos personas tienen el mismo nombre.</a:t>
            </a:r>
          </a:p>
          <a:p>
            <a:pPr marL="584200" indent="-457200">
              <a:buAutoNum type="alphaLcPeriod"/>
            </a:pPr>
            <a:r>
              <a:rPr lang="es-MX" sz="2200" dirty="0">
                <a:latin typeface="+mn-lt"/>
              </a:rPr>
              <a:t>Alguien conoce a más de otras dos personas.</a:t>
            </a: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0393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4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9D83EFC9-4BFE-49EF-A130-A966529D4DA6}"/>
              </a:ext>
            </a:extLst>
          </p:cNvPr>
          <p:cNvSpPr txBox="1">
            <a:spLocks/>
          </p:cNvSpPr>
          <p:nvPr/>
        </p:nvSpPr>
        <p:spPr>
          <a:xfrm>
            <a:off x="243840" y="1045538"/>
            <a:ext cx="11672560" cy="51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</a:rPr>
              <a:t>Solución</a:t>
            </a:r>
            <a:r>
              <a:rPr lang="es-MX" sz="2200" dirty="0">
                <a:latin typeface="+mn-lt"/>
              </a:rPr>
              <a:t>:</a:t>
            </a:r>
          </a:p>
          <a:p>
            <a:pPr marL="127000" indent="0">
              <a:buNone/>
            </a:pPr>
            <a:endParaRPr lang="es-MX" sz="2200" dirty="0">
              <a:latin typeface="+mn-lt"/>
            </a:endParaRP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5006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Ejemplo 4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9D83EFC9-4BFE-49EF-A130-A966529D4DA6}"/>
              </a:ext>
            </a:extLst>
          </p:cNvPr>
          <p:cNvSpPr txBox="1">
            <a:spLocks/>
          </p:cNvSpPr>
          <p:nvPr/>
        </p:nvSpPr>
        <p:spPr>
          <a:xfrm>
            <a:off x="243840" y="1045538"/>
            <a:ext cx="11672560" cy="51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</a:rPr>
              <a:t>Solución</a:t>
            </a:r>
            <a:r>
              <a:rPr lang="es-MX" sz="2200" dirty="0">
                <a:latin typeface="+mn-lt"/>
              </a:rPr>
              <a:t>:</a:t>
            </a:r>
          </a:p>
          <a:p>
            <a:pPr marL="127000" indent="0">
              <a:buNone/>
            </a:pPr>
            <a:endParaRPr lang="es-MX" sz="2200" dirty="0">
              <a:latin typeface="+mn-lt"/>
            </a:endParaRP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605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>
                <a:solidFill>
                  <a:schemeClr val="tx1"/>
                </a:solidFill>
                <a:latin typeface="+mj-lt"/>
                <a:cs typeface="Segoe UI" panose="020B0502040204020203" pitchFamily="34" charset="0"/>
              </a:rPr>
              <a:t>Lógica cuantificacional – Resumen de conceptos</a:t>
            </a:r>
            <a:endParaRPr dirty="0">
              <a:solidFill>
                <a:schemeClr val="tx1"/>
              </a:solidFill>
              <a:latin typeface="+mj-lt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FC86CBA7-5836-4239-960D-A410FD6F3C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44238"/>
                  </p:ext>
                </p:extLst>
              </p:nvPr>
            </p:nvGraphicFramePr>
            <p:xfrm>
              <a:off x="1079075" y="1278193"/>
              <a:ext cx="9244221" cy="4755348"/>
            </p:xfrm>
            <a:graphic>
              <a:graphicData uri="http://schemas.openxmlformats.org/drawingml/2006/table">
                <a:tbl>
                  <a:tblPr/>
                  <a:tblGrid>
                    <a:gridCol w="2259222">
                      <a:extLst>
                        <a:ext uri="{9D8B030D-6E8A-4147-A177-3AD203B41FA5}">
                          <a16:colId xmlns:a16="http://schemas.microsoft.com/office/drawing/2014/main" val="3035315068"/>
                        </a:ext>
                      </a:extLst>
                    </a:gridCol>
                    <a:gridCol w="3903592">
                      <a:extLst>
                        <a:ext uri="{9D8B030D-6E8A-4147-A177-3AD203B41FA5}">
                          <a16:colId xmlns:a16="http://schemas.microsoft.com/office/drawing/2014/main" val="3295431845"/>
                        </a:ext>
                      </a:extLst>
                    </a:gridCol>
                    <a:gridCol w="3081407">
                      <a:extLst>
                        <a:ext uri="{9D8B030D-6E8A-4147-A177-3AD203B41FA5}">
                          <a16:colId xmlns:a16="http://schemas.microsoft.com/office/drawing/2014/main" val="438959150"/>
                        </a:ext>
                      </a:extLst>
                    </a:gridCol>
                  </a:tblGrid>
                  <a:tr h="267775">
                    <a:tc>
                      <a:txBody>
                        <a:bodyPr/>
                        <a:lstStyle/>
                        <a:p>
                          <a:r>
                            <a:rPr lang="es-CO" sz="1600" b="1"/>
                            <a:t>Concepto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/>
                            <a:t>¿Qué es?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/>
                            <a:t>Ejemplo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404475"/>
                      </a:ext>
                    </a:extLst>
                  </a:tr>
                  <a:tr h="468606">
                    <a:tc>
                      <a:txBody>
                        <a:bodyPr/>
                        <a:lstStyle/>
                        <a:p>
                          <a:r>
                            <a:rPr lang="es-CO" sz="1500" b="1" dirty="0"/>
                            <a:t>Universo / Dominio</a:t>
                          </a:r>
                          <a:endParaRPr lang="es-CO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Conjunto de todos los objetos sobre los que se razona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2, …, 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8}</m:t>
                                </m:r>
                              </m:oMath>
                            </m:oMathPara>
                          </a14:m>
                          <a:endParaRPr lang="es-CO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7971559"/>
                      </a:ext>
                    </a:extLst>
                  </a:tr>
                  <a:tr h="267775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Objeto / Individuo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500"/>
                            <a:t>Elemento concreto del universo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𝑂𝑝𝑡𝑖𝑚𝑢𝑠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l-GR" sz="1500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l-GR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49901259"/>
                      </a:ext>
                    </a:extLst>
                  </a:tr>
                  <a:tr h="468606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Constante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Símbolo que nombra un objeto específico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h𝑜𝑚𝑒𝑟𝑜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CO" sz="1500" i="1" dirty="0" err="1">
                                    <a:latin typeface="Cambria Math" panose="02040503050406030204" pitchFamily="18" charset="0"/>
                                  </a:rPr>
                                  <m:t>𝑟𝑎𝑡𝑐h𝑒𝑡</m:t>
                                </m:r>
                              </m:oMath>
                            </m:oMathPara>
                          </a14:m>
                          <a:endParaRPr lang="es-CO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4456685"/>
                      </a:ext>
                    </a:extLst>
                  </a:tr>
                  <a:tr h="468606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Variable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Símbolo que representa cualquier objeto del dominio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s-CO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7027161"/>
                      </a:ext>
                    </a:extLst>
                  </a:tr>
                  <a:tr h="468606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Predicado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Propiedad o relación sobre objetos; produce V o F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500" i="1" dirty="0" smtClean="0">
                                    <a:latin typeface="Cambria Math" panose="02040503050406030204" pitchFamily="18" charset="0"/>
                                  </a:rPr>
                                  <m:t>𝑓𝑢𝑛𝑐𝑖𝑜𝑛𝑎</m:t>
                                </m:r>
                                <m:r>
                                  <a:rPr lang="es-MX" sz="15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5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500" i="1" dirty="0" smtClean="0">
                                    <a:latin typeface="Cambria Math" panose="02040503050406030204" pitchFamily="18" charset="0"/>
                                  </a:rPr>
                                  <m:t>), </m:t>
                                </m:r>
                                <m:r>
                                  <a:rPr lang="es-MX" sz="1500" i="1" dirty="0" smtClean="0">
                                    <a:latin typeface="Cambria Math" panose="02040503050406030204" pitchFamily="18" charset="0"/>
                                  </a:rPr>
                                  <m:t>𝑚𝑒𝑑𝑖𝑐𝑜</m:t>
                                </m:r>
                                <m:r>
                                  <a:rPr lang="es-MX" sz="15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500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500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MX" sz="1500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MX" sz="15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7421905"/>
                      </a:ext>
                    </a:extLst>
                  </a:tr>
                  <a:tr h="468606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Función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Operación sobre objetos; produce otro objeto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500" i="1" dirty="0" smtClean="0">
                                    <a:latin typeface="Cambria Math" panose="02040503050406030204" pitchFamily="18" charset="0"/>
                                  </a:rPr>
                                  <m:t>𝑑𝑜𝑏𝑙𝑒</m:t>
                                </m:r>
                                <m:r>
                                  <a:rPr lang="es-MX" sz="15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5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500" i="1" dirty="0" smtClean="0">
                                    <a:latin typeface="Cambria Math" panose="02040503050406030204" pitchFamily="18" charset="0"/>
                                  </a:rPr>
                                  <m:t>), </m:t>
                                </m:r>
                                <m:r>
                                  <a:rPr lang="es-MX" sz="1500" i="1" dirty="0" err="1">
                                    <a:latin typeface="Cambria Math" panose="02040503050406030204" pitchFamily="18" charset="0"/>
                                  </a:rPr>
                                  <m:t>𝑝𝑎𝑑𝑟𝑒</m:t>
                                </m:r>
                                <m:r>
                                  <a:rPr lang="es-MX" sz="1500" i="1" dirty="0" err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s-MX" sz="1500" i="1" dirty="0" err="1">
                                    <a:latin typeface="Cambria Math" panose="02040503050406030204" pitchFamily="18" charset="0"/>
                                  </a:rPr>
                                  <m:t>𝑑𝑒</m:t>
                                </m:r>
                                <m:r>
                                  <a:rPr lang="es-MX" sz="15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5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5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71363949"/>
                      </a:ext>
                    </a:extLst>
                  </a:tr>
                  <a:tr h="468606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Función proposicional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Expresión con variables libres; aún no es proposición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) ∧ 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3285404"/>
                      </a:ext>
                    </a:extLst>
                  </a:tr>
                  <a:tr h="468606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Conjunto de verdad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Subconjunto del dominio donde el predicado es verdadero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 ∈ 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 | </m:t>
                                </m:r>
                                <m:r>
                                  <a:rPr lang="es-CO" sz="1500" i="1" dirty="0" err="1">
                                    <a:latin typeface="Cambria Math" panose="02040503050406030204" pitchFamily="18" charset="0"/>
                                  </a:rPr>
                                  <m:t>𝑎𝑢𝑡𝑜𝑏𝑜𝑡</m:t>
                                </m:r>
                                <m:r>
                                  <a:rPr lang="es-CO" sz="15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5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500" i="1" dirty="0">
                                    <a:latin typeface="Cambria Math" panose="02040503050406030204" pitchFamily="18" charset="0"/>
                                  </a:rPr>
                                  <m:t>)}</m:t>
                                </m:r>
                              </m:oMath>
                            </m:oMathPara>
                          </a14:m>
                          <a:endParaRPr lang="es-CO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48041626"/>
                      </a:ext>
                    </a:extLst>
                  </a:tr>
                  <a:tr h="267775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Cuantificador universal ∀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"Para todo x del dominio..."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𝑓𝑢𝑛𝑐𝑖𝑜𝑛𝑎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47645328"/>
                      </a:ext>
                    </a:extLst>
                  </a:tr>
                  <a:tr h="267775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Cuantificador existencial ∃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 dirty="0"/>
                            <a:t>"Existe al menos un x tal que..."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5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CO" sz="1500" i="1" dirty="0" err="1">
                                    <a:latin typeface="Cambria Math" panose="02040503050406030204" pitchFamily="18" charset="0"/>
                                  </a:rPr>
                                  <m:t>𝑡𝑖𝑒𝑛𝑒</m:t>
                                </m:r>
                                <m:r>
                                  <a:rPr lang="es-CO" sz="1500" i="1" dirty="0" err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s-CO" sz="1500" i="1" dirty="0" err="1">
                                    <a:latin typeface="Cambria Math" panose="02040503050406030204" pitchFamily="18" charset="0"/>
                                  </a:rPr>
                                  <m:t>𝑣𝑖𝑟𝑢𝑠</m:t>
                                </m:r>
                                <m:r>
                                  <a:rPr lang="es-CO" sz="15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5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5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38668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FC86CBA7-5836-4239-960D-A410FD6F3C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44238"/>
                  </p:ext>
                </p:extLst>
              </p:nvPr>
            </p:nvGraphicFramePr>
            <p:xfrm>
              <a:off x="1079075" y="1278193"/>
              <a:ext cx="9244221" cy="4755348"/>
            </p:xfrm>
            <a:graphic>
              <a:graphicData uri="http://schemas.openxmlformats.org/drawingml/2006/table">
                <a:tbl>
                  <a:tblPr/>
                  <a:tblGrid>
                    <a:gridCol w="2259222">
                      <a:extLst>
                        <a:ext uri="{9D8B030D-6E8A-4147-A177-3AD203B41FA5}">
                          <a16:colId xmlns:a16="http://schemas.microsoft.com/office/drawing/2014/main" val="3035315068"/>
                        </a:ext>
                      </a:extLst>
                    </a:gridCol>
                    <a:gridCol w="3903592">
                      <a:extLst>
                        <a:ext uri="{9D8B030D-6E8A-4147-A177-3AD203B41FA5}">
                          <a16:colId xmlns:a16="http://schemas.microsoft.com/office/drawing/2014/main" val="3295431845"/>
                        </a:ext>
                      </a:extLst>
                    </a:gridCol>
                    <a:gridCol w="3081407">
                      <a:extLst>
                        <a:ext uri="{9D8B030D-6E8A-4147-A177-3AD203B41FA5}">
                          <a16:colId xmlns:a16="http://schemas.microsoft.com/office/drawing/2014/main" val="438959150"/>
                        </a:ext>
                      </a:extLst>
                    </a:gridCol>
                  </a:tblGrid>
                  <a:tr h="310784">
                    <a:tc>
                      <a:txBody>
                        <a:bodyPr/>
                        <a:lstStyle/>
                        <a:p>
                          <a:r>
                            <a:rPr lang="es-CO" sz="1600" b="1"/>
                            <a:t>Concepto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/>
                            <a:t>¿Qué es?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/>
                            <a:t>Ejemplo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404475"/>
                      </a:ext>
                    </a:extLst>
                  </a:tr>
                  <a:tr h="524144">
                    <a:tc>
                      <a:txBody>
                        <a:bodyPr/>
                        <a:lstStyle/>
                        <a:p>
                          <a:r>
                            <a:rPr lang="es-CO" sz="1500" b="1" dirty="0"/>
                            <a:t>Universo / Dominio</a:t>
                          </a:r>
                          <a:endParaRPr lang="es-CO" sz="1500" dirty="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Conjunto de todos los objetos sobre los que se razona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198" t="-63953" r="-395" b="-76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7971559"/>
                      </a:ext>
                    </a:extLst>
                  </a:tr>
                  <a:tr h="295544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Objeto / Individuo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500"/>
                            <a:t>Elemento concreto del universo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198" t="-287755" r="-395" b="-12408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9901259"/>
                      </a:ext>
                    </a:extLst>
                  </a:tr>
                  <a:tr h="468606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Constante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Símbolo que nombra un objeto específico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198" t="-246753" r="-395" b="-6896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4456685"/>
                      </a:ext>
                    </a:extLst>
                  </a:tr>
                  <a:tr h="524144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Variable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Símbolo que representa cualquier objeto del dominio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198" t="-310465" r="-395" b="-5174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7027161"/>
                      </a:ext>
                    </a:extLst>
                  </a:tr>
                  <a:tr h="524144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Predicado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Propiedad o relación sobre objetos; produce V o F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198" t="-410465" r="-395" b="-4174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7421905"/>
                      </a:ext>
                    </a:extLst>
                  </a:tr>
                  <a:tr h="468606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Función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Operación sobre objetos; produce otro objeto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198" t="-570130" r="-395" b="-3662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1363949"/>
                      </a:ext>
                    </a:extLst>
                  </a:tr>
                  <a:tr h="524144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Función proposicional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Expresión con variables libres; aún no es proposición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198" t="-600000" r="-395" b="-2279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3285404"/>
                      </a:ext>
                    </a:extLst>
                  </a:tr>
                  <a:tr h="524144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Conjunto de verdad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Subconjunto del dominio donde el predicado es verdadero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198" t="-700000" r="-395" b="-1279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8041626"/>
                      </a:ext>
                    </a:extLst>
                  </a:tr>
                  <a:tr h="295544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Cuantificador universal ∀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/>
                            <a:t>"Para todo x del dominio..."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198" t="-1433333" r="-395" b="-12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7645328"/>
                      </a:ext>
                    </a:extLst>
                  </a:tr>
                  <a:tr h="295544">
                    <a:tc>
                      <a:txBody>
                        <a:bodyPr/>
                        <a:lstStyle/>
                        <a:p>
                          <a:r>
                            <a:rPr lang="es-CO" sz="1500" b="1"/>
                            <a:t>Cuantificador existencial ∃</a:t>
                          </a:r>
                          <a:endParaRPr lang="es-CO" sz="1500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500" dirty="0"/>
                            <a:t>"Existe al menos un x tal que..."</a:t>
                          </a:r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L="66944" marR="66944" marT="33472" marB="3347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198" t="-1502041" r="-395" b="-26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38668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7E5E8D35-C2B2-4538-9072-28E32FBAD6CC}"/>
              </a:ext>
            </a:extLst>
          </p:cNvPr>
          <p:cNvSpPr txBox="1"/>
          <p:nvPr/>
        </p:nvSpPr>
        <p:spPr>
          <a:xfrm>
            <a:off x="258354" y="816528"/>
            <a:ext cx="10914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Los bloques fundamentales de la lógica de primer orden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4609AC-1E48-4468-B69F-C481FECFAE14}"/>
              </a:ext>
            </a:extLst>
          </p:cNvPr>
          <p:cNvSpPr txBox="1"/>
          <p:nvPr/>
        </p:nvSpPr>
        <p:spPr>
          <a:xfrm>
            <a:off x="171270" y="6096247"/>
            <a:ext cx="1194816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dirty="0"/>
              <a:t>Una </a:t>
            </a:r>
            <a:r>
              <a:rPr lang="es-MX" sz="2000" b="1" dirty="0"/>
              <a:t>fórmula bien formada (FBF)</a:t>
            </a:r>
            <a:r>
              <a:rPr lang="es-MX" sz="2000" dirty="0"/>
              <a:t> en lógica de primer orden combina estos elementos. Una función proposicional se convierte en </a:t>
            </a:r>
            <a:r>
              <a:rPr lang="es-MX" sz="2000" b="1" dirty="0"/>
              <a:t>proposición</a:t>
            </a:r>
            <a:r>
              <a:rPr lang="es-MX" sz="2000" dirty="0"/>
              <a:t> cuando se le asigna un valor a la variable o se le aplica un cuantificador.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808801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43840" y="96038"/>
            <a:ext cx="113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>
                <a:latin typeface="+mj-lt"/>
                <a:cs typeface="Segoe UI" panose="020B0502040204020203" pitchFamily="34" charset="0"/>
              </a:rPr>
              <a:t>Fin de clase</a:t>
            </a:r>
            <a:endParaRPr dirty="0"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2D263B-7906-4057-A7B5-41F47B0BF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72" y="1045538"/>
            <a:ext cx="11562735" cy="247264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06CEF-C562-4CDC-9795-E4FE0B1CD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808" y="3663346"/>
            <a:ext cx="4442384" cy="281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315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24747</TotalTime>
  <Words>4280</Words>
  <Application>Microsoft Office PowerPoint</Application>
  <PresentationFormat>Panorámica</PresentationFormat>
  <Paragraphs>793</Paragraphs>
  <Slides>48</Slides>
  <Notes>48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6" baseType="lpstr">
      <vt:lpstr>Roboto Slab</vt:lpstr>
      <vt:lpstr>Consolas</vt:lpstr>
      <vt:lpstr>Roboto</vt:lpstr>
      <vt:lpstr>Calibri</vt:lpstr>
      <vt:lpstr>Arial</vt:lpstr>
      <vt:lpstr>Calibri Light</vt:lpstr>
      <vt:lpstr>Cambria Math</vt:lpstr>
      <vt:lpstr>Tema de Office</vt:lpstr>
      <vt:lpstr>Matemáticas Discretas I</vt:lpstr>
      <vt:lpstr>Resumen rápido lógica proposicional</vt:lpstr>
      <vt:lpstr>Resumen rápido lógica proposicional</vt:lpstr>
      <vt:lpstr>Resumen rápido lógica proposicional</vt:lpstr>
      <vt:lpstr>Resumen rápido lógica proposicional</vt:lpstr>
      <vt:lpstr>Resumen rápido lógica proposicional</vt:lpstr>
      <vt:lpstr>Limitaciones de la lógica proposicional</vt:lpstr>
      <vt:lpstr>Limitaciones de la lógica proposicional</vt:lpstr>
      <vt:lpstr>Sujeto y predicado (Lenguaje Natural)</vt:lpstr>
      <vt:lpstr>Sujeto y predicado (Lenguaje Natural)</vt:lpstr>
      <vt:lpstr>Lógica de predicados (Lógica cuantificacional)</vt:lpstr>
      <vt:lpstr>Lógica de predicados (Lógica cuantificacional)</vt:lpstr>
      <vt:lpstr>Lógica de predicados (Lógica cuantificacional)</vt:lpstr>
      <vt:lpstr>Lógica de predicados (Lógica cuantificacional)</vt:lpstr>
      <vt:lpstr>Lógica de predicados (Lógica cuantificacional)</vt:lpstr>
      <vt:lpstr>Lógica de predicados (Lógica cuantificacional)</vt:lpstr>
      <vt:lpstr>Lógica cuantificacional - Modelo</vt:lpstr>
      <vt:lpstr>Lógica cuantificacional – Conceptos importantes</vt:lpstr>
      <vt:lpstr>Lógica cuantificacional – Conceptos importantes</vt:lpstr>
      <vt:lpstr>Lógica cuantificacional – Universo</vt:lpstr>
      <vt:lpstr>Lógica cuantificacional – Objeto</vt:lpstr>
      <vt:lpstr>Lógica cuantificacional – Predicado</vt:lpstr>
      <vt:lpstr>Lógica cuantificacional – Predicado</vt:lpstr>
      <vt:lpstr>Lógica cuantificacional – Variables y constantes</vt:lpstr>
      <vt:lpstr>Lógica cuantificacional – Conjunto de verdad</vt:lpstr>
      <vt:lpstr>Lógica cuantificacional – Cuantificador</vt:lpstr>
      <vt:lpstr>Lógica cuantificacional – Función proposicional</vt:lpstr>
      <vt:lpstr>Lógica cuantificacional – Función proposicional</vt:lpstr>
      <vt:lpstr>Lógica cuantificacional – Expresiones compuestas</vt:lpstr>
      <vt:lpstr>Lógica cuantificacional – Expresiones compuestas</vt:lpstr>
      <vt:lpstr>Lógica cuantificacional – Tabla de verificación de tipos</vt:lpstr>
      <vt:lpstr>Lenguaje formal .vs. lenguaje informal</vt:lpstr>
      <vt:lpstr>Proceso de traducción de lenguaje natural a formal</vt:lpstr>
      <vt:lpstr>Proceso de traducción de lenguaje natural a formal</vt:lpstr>
      <vt:lpstr>Ejemplo 1</vt:lpstr>
      <vt:lpstr>Ejemplo 1</vt:lpstr>
      <vt:lpstr>Ejemplo 1</vt:lpstr>
      <vt:lpstr>Ejemplo 2</vt:lpstr>
      <vt:lpstr>Ejemplo 2</vt:lpstr>
      <vt:lpstr>Ejemplo 2</vt:lpstr>
      <vt:lpstr>Ejemplo 3</vt:lpstr>
      <vt:lpstr>Ejemplo 3</vt:lpstr>
      <vt:lpstr>Ejemplo 3</vt:lpstr>
      <vt:lpstr>Ejemplo 4</vt:lpstr>
      <vt:lpstr>Ejemplo 4</vt:lpstr>
      <vt:lpstr>Ejemplo 4</vt:lpstr>
      <vt:lpstr>Lógica cuantificacional – Resumen de conceptos</vt:lpstr>
      <vt:lpstr>Fin de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Matemáticas Discretas I</dc:title>
  <dc:creator>Usuario</dc:creator>
  <cp:lastModifiedBy>HENRY ALBERTO ARCILA RAMIREZ</cp:lastModifiedBy>
  <cp:revision>290</cp:revision>
  <dcterms:modified xsi:type="dcterms:W3CDTF">2026-09-03T03:38:40Z</dcterms:modified>
</cp:coreProperties>
</file>