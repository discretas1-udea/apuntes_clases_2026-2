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5" r:id="rId1"/>
  </p:sldMasterIdLst>
  <p:notesMasterIdLst>
    <p:notesMasterId r:id="rId49"/>
  </p:notesMasterIdLst>
  <p:sldIdLst>
    <p:sldId id="256" r:id="rId2"/>
    <p:sldId id="402" r:id="rId3"/>
    <p:sldId id="484" r:id="rId4"/>
    <p:sldId id="619" r:id="rId5"/>
    <p:sldId id="468" r:id="rId6"/>
    <p:sldId id="486" r:id="rId7"/>
    <p:sldId id="485" r:id="rId8"/>
    <p:sldId id="404" r:id="rId9"/>
    <p:sldId id="491" r:id="rId10"/>
    <p:sldId id="488" r:id="rId11"/>
    <p:sldId id="620" r:id="rId12"/>
    <p:sldId id="497" r:id="rId13"/>
    <p:sldId id="495" r:id="rId14"/>
    <p:sldId id="496" r:id="rId15"/>
    <p:sldId id="494" r:id="rId16"/>
    <p:sldId id="621" r:id="rId17"/>
    <p:sldId id="492" r:id="rId18"/>
    <p:sldId id="487" r:id="rId19"/>
    <p:sldId id="500" r:id="rId20"/>
    <p:sldId id="617" r:id="rId21"/>
    <p:sldId id="502" r:id="rId22"/>
    <p:sldId id="622" r:id="rId23"/>
    <p:sldId id="503" r:id="rId24"/>
    <p:sldId id="618" r:id="rId25"/>
    <p:sldId id="623" r:id="rId26"/>
    <p:sldId id="501" r:id="rId27"/>
    <p:sldId id="624" r:id="rId28"/>
    <p:sldId id="505" r:id="rId29"/>
    <p:sldId id="625" r:id="rId30"/>
    <p:sldId id="506" r:id="rId31"/>
    <p:sldId id="542" r:id="rId32"/>
    <p:sldId id="544" r:id="rId33"/>
    <p:sldId id="507" r:id="rId34"/>
    <p:sldId id="508" r:id="rId35"/>
    <p:sldId id="626" r:id="rId36"/>
    <p:sldId id="509" r:id="rId37"/>
    <p:sldId id="510" r:id="rId38"/>
    <p:sldId id="627" r:id="rId39"/>
    <p:sldId id="513" r:id="rId40"/>
    <p:sldId id="512" r:id="rId41"/>
    <p:sldId id="628" r:id="rId42"/>
    <p:sldId id="514" r:id="rId43"/>
    <p:sldId id="629" r:id="rId44"/>
    <p:sldId id="526" r:id="rId45"/>
    <p:sldId id="630" r:id="rId46"/>
    <p:sldId id="527" r:id="rId47"/>
    <p:sldId id="631" r:id="rId48"/>
  </p:sldIdLst>
  <p:sldSz cx="12192000" cy="6858000"/>
  <p:notesSz cx="6858000" cy="9144000"/>
  <p:embeddedFontLst>
    <p:embeddedFont>
      <p:font typeface="Calibri" panose="020F0502020204030204" pitchFamily="34" charset="0"/>
      <p:regular r:id="rId50"/>
      <p:bold r:id="rId51"/>
      <p:italic r:id="rId52"/>
      <p:boldItalic r:id="rId53"/>
    </p:embeddedFont>
    <p:embeddedFont>
      <p:font typeface="Calibri Light" panose="020F0302020204030204" pitchFamily="34" charset="0"/>
      <p:regular r:id="rId54"/>
      <p:italic r:id="rId55"/>
    </p:embeddedFont>
    <p:embeddedFont>
      <p:font typeface="Cambria Math" panose="02040503050406030204" pitchFamily="18" charset="0"/>
      <p:regular r:id="rId56"/>
    </p:embeddedFont>
    <p:embeddedFont>
      <p:font typeface="Consolas" panose="020B0609020204030204" pitchFamily="49" charset="0"/>
      <p:regular r:id="rId57"/>
      <p:bold r:id="rId58"/>
      <p:italic r:id="rId59"/>
      <p:boldItalic r:id="rId60"/>
    </p:embeddedFont>
    <p:embeddedFont>
      <p:font typeface="Roboto" panose="02000000000000000000" pitchFamily="2" charset="0"/>
      <p:regular r:id="rId61"/>
      <p:bold r:id="rId62"/>
      <p:italic r:id="rId63"/>
      <p:boldItalic r:id="rId64"/>
    </p:embeddedFont>
    <p:embeddedFont>
      <p:font typeface="Roboto Slab" panose="020B0604020202020204" charset="0"/>
      <p:regular r:id="rId65"/>
      <p:bold r:id="rId66"/>
    </p:embeddedFont>
  </p:embeddedFontLst>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D6A3598-7CB8-4345-8D95-17CE05F158A0}">
  <a:tblStyle styleId="{AD6A3598-7CB8-4345-8D95-17CE05F158A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04" autoAdjust="0"/>
    <p:restoredTop sz="94291" autoAdjust="0"/>
  </p:normalViewPr>
  <p:slideViewPr>
    <p:cSldViewPr snapToGrid="0">
      <p:cViewPr varScale="1">
        <p:scale>
          <a:sx n="65" d="100"/>
          <a:sy n="65" d="100"/>
        </p:scale>
        <p:origin x="77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14.fntdata"/><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4.fntdata"/><Relationship Id="rId58" Type="http://schemas.openxmlformats.org/officeDocument/2006/relationships/font" Target="fonts/font9.fntdata"/><Relationship Id="rId66" Type="http://schemas.openxmlformats.org/officeDocument/2006/relationships/font" Target="fonts/font17.fntdata"/><Relationship Id="rId5" Type="http://schemas.openxmlformats.org/officeDocument/2006/relationships/slide" Target="slides/slide4.xml"/><Relationship Id="rId61" Type="http://schemas.openxmlformats.org/officeDocument/2006/relationships/font" Target="fonts/font12.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7.fntdata"/><Relationship Id="rId64" Type="http://schemas.openxmlformats.org/officeDocument/2006/relationships/font" Target="fonts/font15.fntdata"/><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font" Target="fonts/font2.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10.fntdata"/><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5.fntdata"/><Relationship Id="rId62" Type="http://schemas.openxmlformats.org/officeDocument/2006/relationships/font" Target="fonts/font13.fntdata"/><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 Id="rId57" Type="http://schemas.openxmlformats.org/officeDocument/2006/relationships/font" Target="fonts/font8.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3.fntdata"/><Relationship Id="rId60" Type="http://schemas.openxmlformats.org/officeDocument/2006/relationships/font" Target="fonts/font11.fntdata"/><Relationship Id="rId65" Type="http://schemas.openxmlformats.org/officeDocument/2006/relationships/font" Target="fonts/font16.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font" Target="fonts/font1.fntdata"/><Relationship Id="rId55"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78358aba08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78358aba08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926a7ab31e_0_4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90000"/>
              </a:lnSpc>
              <a:spcBef>
                <a:spcPts val="1000"/>
              </a:spcBef>
              <a:spcAft>
                <a:spcPts val="0"/>
              </a:spcAft>
              <a:buNone/>
            </a:pPr>
            <a:endParaRPr sz="2400" dirty="0">
              <a:solidFill>
                <a:schemeClr val="dk1"/>
              </a:solidFill>
              <a:latin typeface="Roboto"/>
              <a:ea typeface="Roboto"/>
              <a:cs typeface="Roboto"/>
              <a:sym typeface="Roboto"/>
            </a:endParaRPr>
          </a:p>
          <a:p>
            <a:pPr marL="457200" lvl="0" indent="-381000" algn="l" rtl="0">
              <a:lnSpc>
                <a:spcPct val="90000"/>
              </a:lnSpc>
              <a:spcBef>
                <a:spcPts val="500"/>
              </a:spcBef>
              <a:spcAft>
                <a:spcPts val="0"/>
              </a:spcAft>
              <a:buClr>
                <a:schemeClr val="dk1"/>
              </a:buClr>
              <a:buSzPts val="2400"/>
              <a:buFont typeface="Roboto"/>
              <a:buChar char="●"/>
            </a:pPr>
            <a:endParaRPr sz="2400" dirty="0">
              <a:solidFill>
                <a:schemeClr val="dk1"/>
              </a:solidFill>
              <a:latin typeface="Roboto"/>
              <a:ea typeface="Roboto"/>
              <a:cs typeface="Roboto"/>
              <a:sym typeface="Roboto"/>
            </a:endParaRPr>
          </a:p>
          <a:p>
            <a:pPr marL="0" lvl="0" indent="0" algn="l" rtl="0">
              <a:spcBef>
                <a:spcPts val="0"/>
              </a:spcBef>
              <a:spcAft>
                <a:spcPts val="0"/>
              </a:spcAft>
              <a:buNone/>
            </a:pPr>
            <a:endParaRPr sz="2400" dirty="0"/>
          </a:p>
        </p:txBody>
      </p:sp>
      <p:sp>
        <p:nvSpPr>
          <p:cNvPr id="664" name="Google Shape;664;g926a7ab31e_0_4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284579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926a7ab31e_0_4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90000"/>
              </a:lnSpc>
              <a:spcBef>
                <a:spcPts val="1000"/>
              </a:spcBef>
              <a:spcAft>
                <a:spcPts val="0"/>
              </a:spcAft>
              <a:buNone/>
            </a:pPr>
            <a:endParaRPr sz="2400" dirty="0">
              <a:solidFill>
                <a:schemeClr val="dk1"/>
              </a:solidFill>
              <a:latin typeface="Roboto"/>
              <a:ea typeface="Roboto"/>
              <a:cs typeface="Roboto"/>
              <a:sym typeface="Roboto"/>
            </a:endParaRPr>
          </a:p>
          <a:p>
            <a:pPr marL="457200" lvl="0" indent="-381000" algn="l" rtl="0">
              <a:lnSpc>
                <a:spcPct val="90000"/>
              </a:lnSpc>
              <a:spcBef>
                <a:spcPts val="500"/>
              </a:spcBef>
              <a:spcAft>
                <a:spcPts val="0"/>
              </a:spcAft>
              <a:buClr>
                <a:schemeClr val="dk1"/>
              </a:buClr>
              <a:buSzPts val="2400"/>
              <a:buFont typeface="Roboto"/>
              <a:buChar char="●"/>
            </a:pPr>
            <a:endParaRPr sz="2400" dirty="0">
              <a:solidFill>
                <a:schemeClr val="dk1"/>
              </a:solidFill>
              <a:latin typeface="Roboto"/>
              <a:ea typeface="Roboto"/>
              <a:cs typeface="Roboto"/>
              <a:sym typeface="Roboto"/>
            </a:endParaRPr>
          </a:p>
          <a:p>
            <a:pPr marL="0" lvl="0" indent="0" algn="l" rtl="0">
              <a:spcBef>
                <a:spcPts val="0"/>
              </a:spcBef>
              <a:spcAft>
                <a:spcPts val="0"/>
              </a:spcAft>
              <a:buNone/>
            </a:pPr>
            <a:endParaRPr sz="2400" dirty="0"/>
          </a:p>
        </p:txBody>
      </p:sp>
      <p:sp>
        <p:nvSpPr>
          <p:cNvPr id="664" name="Google Shape;664;g926a7ab31e_0_4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844106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926a7ab31e_0_4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90000"/>
              </a:lnSpc>
              <a:spcBef>
                <a:spcPts val="1000"/>
              </a:spcBef>
              <a:spcAft>
                <a:spcPts val="0"/>
              </a:spcAft>
              <a:buNone/>
            </a:pPr>
            <a:endParaRPr sz="2400" dirty="0">
              <a:solidFill>
                <a:schemeClr val="dk1"/>
              </a:solidFill>
              <a:latin typeface="Roboto"/>
              <a:ea typeface="Roboto"/>
              <a:cs typeface="Roboto"/>
              <a:sym typeface="Roboto"/>
            </a:endParaRPr>
          </a:p>
          <a:p>
            <a:pPr marL="457200" lvl="0" indent="-381000" algn="l" rtl="0">
              <a:lnSpc>
                <a:spcPct val="90000"/>
              </a:lnSpc>
              <a:spcBef>
                <a:spcPts val="500"/>
              </a:spcBef>
              <a:spcAft>
                <a:spcPts val="0"/>
              </a:spcAft>
              <a:buClr>
                <a:schemeClr val="dk1"/>
              </a:buClr>
              <a:buSzPts val="2400"/>
              <a:buFont typeface="Roboto"/>
              <a:buChar char="●"/>
            </a:pPr>
            <a:endParaRPr sz="2400" dirty="0">
              <a:solidFill>
                <a:schemeClr val="dk1"/>
              </a:solidFill>
              <a:latin typeface="Roboto"/>
              <a:ea typeface="Roboto"/>
              <a:cs typeface="Roboto"/>
              <a:sym typeface="Roboto"/>
            </a:endParaRPr>
          </a:p>
          <a:p>
            <a:pPr marL="0" lvl="0" indent="0" algn="l" rtl="0">
              <a:spcBef>
                <a:spcPts val="0"/>
              </a:spcBef>
              <a:spcAft>
                <a:spcPts val="0"/>
              </a:spcAft>
              <a:buNone/>
            </a:pPr>
            <a:endParaRPr sz="2400" dirty="0"/>
          </a:p>
        </p:txBody>
      </p:sp>
      <p:sp>
        <p:nvSpPr>
          <p:cNvPr id="664" name="Google Shape;664;g926a7ab31e_0_4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778879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926a7ab31e_0_4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90000"/>
              </a:lnSpc>
              <a:spcBef>
                <a:spcPts val="1000"/>
              </a:spcBef>
              <a:spcAft>
                <a:spcPts val="0"/>
              </a:spcAft>
              <a:buNone/>
            </a:pPr>
            <a:endParaRPr sz="2400" dirty="0">
              <a:solidFill>
                <a:schemeClr val="dk1"/>
              </a:solidFill>
              <a:latin typeface="Roboto"/>
              <a:ea typeface="Roboto"/>
              <a:cs typeface="Roboto"/>
              <a:sym typeface="Roboto"/>
            </a:endParaRPr>
          </a:p>
          <a:p>
            <a:pPr marL="457200" lvl="0" indent="-381000" algn="l" rtl="0">
              <a:lnSpc>
                <a:spcPct val="90000"/>
              </a:lnSpc>
              <a:spcBef>
                <a:spcPts val="500"/>
              </a:spcBef>
              <a:spcAft>
                <a:spcPts val="0"/>
              </a:spcAft>
              <a:buClr>
                <a:schemeClr val="dk1"/>
              </a:buClr>
              <a:buSzPts val="2400"/>
              <a:buFont typeface="Roboto"/>
              <a:buChar char="●"/>
            </a:pPr>
            <a:endParaRPr sz="2400" dirty="0">
              <a:solidFill>
                <a:schemeClr val="dk1"/>
              </a:solidFill>
              <a:latin typeface="Roboto"/>
              <a:ea typeface="Roboto"/>
              <a:cs typeface="Roboto"/>
              <a:sym typeface="Roboto"/>
            </a:endParaRPr>
          </a:p>
          <a:p>
            <a:pPr marL="0" lvl="0" indent="0" algn="l" rtl="0">
              <a:spcBef>
                <a:spcPts val="0"/>
              </a:spcBef>
              <a:spcAft>
                <a:spcPts val="0"/>
              </a:spcAft>
              <a:buNone/>
            </a:pPr>
            <a:endParaRPr sz="2400" dirty="0"/>
          </a:p>
        </p:txBody>
      </p:sp>
      <p:sp>
        <p:nvSpPr>
          <p:cNvPr id="664" name="Google Shape;664;g926a7ab31e_0_4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684447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926a7ab31e_0_4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90000"/>
              </a:lnSpc>
              <a:spcBef>
                <a:spcPts val="1000"/>
              </a:spcBef>
              <a:spcAft>
                <a:spcPts val="0"/>
              </a:spcAft>
              <a:buNone/>
            </a:pPr>
            <a:endParaRPr sz="2400" dirty="0">
              <a:solidFill>
                <a:schemeClr val="dk1"/>
              </a:solidFill>
              <a:latin typeface="Roboto"/>
              <a:ea typeface="Roboto"/>
              <a:cs typeface="Roboto"/>
              <a:sym typeface="Roboto"/>
            </a:endParaRPr>
          </a:p>
          <a:p>
            <a:pPr marL="457200" lvl="0" indent="-381000" algn="l" rtl="0">
              <a:lnSpc>
                <a:spcPct val="90000"/>
              </a:lnSpc>
              <a:spcBef>
                <a:spcPts val="500"/>
              </a:spcBef>
              <a:spcAft>
                <a:spcPts val="0"/>
              </a:spcAft>
              <a:buClr>
                <a:schemeClr val="dk1"/>
              </a:buClr>
              <a:buSzPts val="2400"/>
              <a:buFont typeface="Roboto"/>
              <a:buChar char="●"/>
            </a:pPr>
            <a:endParaRPr sz="2400" dirty="0">
              <a:solidFill>
                <a:schemeClr val="dk1"/>
              </a:solidFill>
              <a:latin typeface="Roboto"/>
              <a:ea typeface="Roboto"/>
              <a:cs typeface="Roboto"/>
              <a:sym typeface="Roboto"/>
            </a:endParaRPr>
          </a:p>
          <a:p>
            <a:pPr marL="0" lvl="0" indent="0" algn="l" rtl="0">
              <a:spcBef>
                <a:spcPts val="0"/>
              </a:spcBef>
              <a:spcAft>
                <a:spcPts val="0"/>
              </a:spcAft>
              <a:buNone/>
            </a:pPr>
            <a:endParaRPr sz="2400" dirty="0"/>
          </a:p>
        </p:txBody>
      </p:sp>
      <p:sp>
        <p:nvSpPr>
          <p:cNvPr id="664" name="Google Shape;664;g926a7ab31e_0_4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827952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926a7ab31e_0_4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90000"/>
              </a:lnSpc>
              <a:spcBef>
                <a:spcPts val="1000"/>
              </a:spcBef>
              <a:spcAft>
                <a:spcPts val="0"/>
              </a:spcAft>
              <a:buNone/>
            </a:pPr>
            <a:endParaRPr sz="2400" dirty="0">
              <a:solidFill>
                <a:schemeClr val="dk1"/>
              </a:solidFill>
              <a:latin typeface="Roboto"/>
              <a:ea typeface="Roboto"/>
              <a:cs typeface="Roboto"/>
              <a:sym typeface="Roboto"/>
            </a:endParaRPr>
          </a:p>
          <a:p>
            <a:pPr marL="457200" lvl="0" indent="-381000" algn="l" rtl="0">
              <a:lnSpc>
                <a:spcPct val="90000"/>
              </a:lnSpc>
              <a:spcBef>
                <a:spcPts val="500"/>
              </a:spcBef>
              <a:spcAft>
                <a:spcPts val="0"/>
              </a:spcAft>
              <a:buClr>
                <a:schemeClr val="dk1"/>
              </a:buClr>
              <a:buSzPts val="2400"/>
              <a:buFont typeface="Roboto"/>
              <a:buChar char="●"/>
            </a:pPr>
            <a:endParaRPr sz="2400" dirty="0">
              <a:solidFill>
                <a:schemeClr val="dk1"/>
              </a:solidFill>
              <a:latin typeface="Roboto"/>
              <a:ea typeface="Roboto"/>
              <a:cs typeface="Roboto"/>
              <a:sym typeface="Roboto"/>
            </a:endParaRPr>
          </a:p>
          <a:p>
            <a:pPr marL="0" lvl="0" indent="0" algn="l" rtl="0">
              <a:spcBef>
                <a:spcPts val="0"/>
              </a:spcBef>
              <a:spcAft>
                <a:spcPts val="0"/>
              </a:spcAft>
              <a:buNone/>
            </a:pPr>
            <a:endParaRPr sz="2400" dirty="0"/>
          </a:p>
        </p:txBody>
      </p:sp>
      <p:sp>
        <p:nvSpPr>
          <p:cNvPr id="664" name="Google Shape;664;g926a7ab31e_0_4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766258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78358aba08_0_1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78358aba08_0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17057357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78358aba08_0_1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78358aba08_0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4461601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78358aba08_0_1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78358aba08_0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15227128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78358aba08_0_1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78358aba08_0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1320259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78358aba08_0_1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78358aba08_0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32636253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78358aba08_0_1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78358aba08_0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31065234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78358aba08_0_1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78358aba08_0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31554642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78358aba08_0_1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78358aba08_0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9219534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78358aba08_0_1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78358aba08_0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285957598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78358aba08_0_1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78358aba08_0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36936057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78358aba08_0_1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78358aba08_0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41932351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78358aba08_0_1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78358aba08_0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351546358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264796324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380170832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299971584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137124250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253014824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198863590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144833276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307449013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372462143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104872453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226397065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62843090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307655984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25939821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B197931-88D2-48EC-BDFD-C8C3C5166BDE}"/>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38679D90-F057-4BD5-83C0-DDC6EE2119B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22C13BD3-4696-4B09-8A88-F3994E7C744A}"/>
              </a:ext>
            </a:extLst>
          </p:cNvPr>
          <p:cNvSpPr>
            <a:spLocks noGrp="1"/>
          </p:cNvSpPr>
          <p:nvPr>
            <p:ph type="dt" sz="half" idx="10"/>
          </p:nvPr>
        </p:nvSpPr>
        <p:spPr/>
        <p:txBody>
          <a:bodyPr/>
          <a:lstStyle/>
          <a:p>
            <a:endParaRPr lang="es-CO"/>
          </a:p>
        </p:txBody>
      </p:sp>
      <p:sp>
        <p:nvSpPr>
          <p:cNvPr id="5" name="Marcador de pie de página 4">
            <a:extLst>
              <a:ext uri="{FF2B5EF4-FFF2-40B4-BE49-F238E27FC236}">
                <a16:creationId xmlns:a16="http://schemas.microsoft.com/office/drawing/2014/main" id="{FF285628-4B07-48C3-A0F4-63457190B13E}"/>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72DA6BEC-6DF4-4166-BD89-B2E0A39B701A}"/>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38165647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5D74B2C-17C9-4AA4-9668-F80AC962E695}"/>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0258D9D8-9866-4269-8D7D-807856891CCA}"/>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9E009FBE-E524-4470-9FCD-AEB4BE306994}"/>
              </a:ext>
            </a:extLst>
          </p:cNvPr>
          <p:cNvSpPr>
            <a:spLocks noGrp="1"/>
          </p:cNvSpPr>
          <p:nvPr>
            <p:ph type="dt" sz="half" idx="10"/>
          </p:nvPr>
        </p:nvSpPr>
        <p:spPr/>
        <p:txBody>
          <a:bodyPr/>
          <a:lstStyle/>
          <a:p>
            <a:endParaRPr lang="es-CO"/>
          </a:p>
        </p:txBody>
      </p:sp>
      <p:sp>
        <p:nvSpPr>
          <p:cNvPr id="5" name="Marcador de pie de página 4">
            <a:extLst>
              <a:ext uri="{FF2B5EF4-FFF2-40B4-BE49-F238E27FC236}">
                <a16:creationId xmlns:a16="http://schemas.microsoft.com/office/drawing/2014/main" id="{944FB710-71F8-4468-A8D3-4E66EDFF9019}"/>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33AD742D-28B3-4CCB-96B9-49F1E45104F1}"/>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1918048773"/>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824E514-96C5-4BA6-8853-8FD23DBA49B2}"/>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DCB46064-8B93-4EDC-9C8C-E62E5E204D3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0B64F67B-C4F9-4EEE-B654-135E40590AE6}"/>
              </a:ext>
            </a:extLst>
          </p:cNvPr>
          <p:cNvSpPr>
            <a:spLocks noGrp="1"/>
          </p:cNvSpPr>
          <p:nvPr>
            <p:ph type="dt" sz="half" idx="10"/>
          </p:nvPr>
        </p:nvSpPr>
        <p:spPr/>
        <p:txBody>
          <a:bodyPr/>
          <a:lstStyle/>
          <a:p>
            <a:endParaRPr lang="es-CO"/>
          </a:p>
        </p:txBody>
      </p:sp>
      <p:sp>
        <p:nvSpPr>
          <p:cNvPr id="5" name="Marcador de pie de página 4">
            <a:extLst>
              <a:ext uri="{FF2B5EF4-FFF2-40B4-BE49-F238E27FC236}">
                <a16:creationId xmlns:a16="http://schemas.microsoft.com/office/drawing/2014/main" id="{D642D2EB-0949-472E-B96E-7077F2439656}"/>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B48BF961-D28F-480C-A33B-2D90830F3586}"/>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18556077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6D49851-BE79-4814-B324-7A715144F002}"/>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FB8196A1-DDE1-4352-9C3D-A0CD29769B44}"/>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370082F4-C4BC-4497-8E38-2AAC216C98E3}"/>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41CBF39F-7AC4-42AD-8BED-FB13480278B0}"/>
              </a:ext>
            </a:extLst>
          </p:cNvPr>
          <p:cNvSpPr>
            <a:spLocks noGrp="1"/>
          </p:cNvSpPr>
          <p:nvPr>
            <p:ph type="dt" sz="half" idx="10"/>
          </p:nvPr>
        </p:nvSpPr>
        <p:spPr/>
        <p:txBody>
          <a:bodyPr/>
          <a:lstStyle/>
          <a:p>
            <a:endParaRPr lang="es-CO"/>
          </a:p>
        </p:txBody>
      </p:sp>
      <p:sp>
        <p:nvSpPr>
          <p:cNvPr id="6" name="Marcador de pie de página 5">
            <a:extLst>
              <a:ext uri="{FF2B5EF4-FFF2-40B4-BE49-F238E27FC236}">
                <a16:creationId xmlns:a16="http://schemas.microsoft.com/office/drawing/2014/main" id="{32CD1E40-2EDD-42B2-8717-B610AA70C44C}"/>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2C650591-7D21-4F93-B6A8-04637AA52901}"/>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12587911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A18ABB-EB85-46DB-94FC-5071555A8DDC}"/>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A20E644E-2C94-4905-A3B3-39494B91F8C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691FDA4E-3792-47ED-A324-BE4AB193A7A7}"/>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7BAA52EB-49DC-417B-A1D3-7E5D77F55D4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56D28227-5811-416F-8EB6-975798573498}"/>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13328A4A-DB4B-4AF3-A5E0-7FDD49D01449}"/>
              </a:ext>
            </a:extLst>
          </p:cNvPr>
          <p:cNvSpPr>
            <a:spLocks noGrp="1"/>
          </p:cNvSpPr>
          <p:nvPr>
            <p:ph type="dt" sz="half" idx="10"/>
          </p:nvPr>
        </p:nvSpPr>
        <p:spPr/>
        <p:txBody>
          <a:bodyPr/>
          <a:lstStyle/>
          <a:p>
            <a:endParaRPr lang="es-CO"/>
          </a:p>
        </p:txBody>
      </p:sp>
      <p:sp>
        <p:nvSpPr>
          <p:cNvPr id="8" name="Marcador de pie de página 7">
            <a:extLst>
              <a:ext uri="{FF2B5EF4-FFF2-40B4-BE49-F238E27FC236}">
                <a16:creationId xmlns:a16="http://schemas.microsoft.com/office/drawing/2014/main" id="{8760E545-7BCF-40CB-8EA9-E2B4649257ED}"/>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3089E4DE-3B1B-4798-B272-2678EA5F2ED9}"/>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21935449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D87F13F-4B41-424E-B1EA-AD2F1961BB70}"/>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A0B4F20C-7C18-429B-BBC6-F1E1923258DF}"/>
              </a:ext>
            </a:extLst>
          </p:cNvPr>
          <p:cNvSpPr>
            <a:spLocks noGrp="1"/>
          </p:cNvSpPr>
          <p:nvPr>
            <p:ph type="dt" sz="half" idx="10"/>
          </p:nvPr>
        </p:nvSpPr>
        <p:spPr/>
        <p:txBody>
          <a:bodyPr/>
          <a:lstStyle/>
          <a:p>
            <a:endParaRPr lang="es-CO"/>
          </a:p>
        </p:txBody>
      </p:sp>
      <p:sp>
        <p:nvSpPr>
          <p:cNvPr id="4" name="Marcador de pie de página 3">
            <a:extLst>
              <a:ext uri="{FF2B5EF4-FFF2-40B4-BE49-F238E27FC236}">
                <a16:creationId xmlns:a16="http://schemas.microsoft.com/office/drawing/2014/main" id="{D3DD1AD9-50A0-4CE3-8023-232BC37E16F2}"/>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50C54793-A555-45AF-9D0F-A5E360480932}"/>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10695830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E0C75C98-5CC7-41D3-8B42-1FBCC7B8604E}"/>
              </a:ext>
            </a:extLst>
          </p:cNvPr>
          <p:cNvSpPr>
            <a:spLocks noGrp="1"/>
          </p:cNvSpPr>
          <p:nvPr>
            <p:ph type="dt" sz="half" idx="10"/>
          </p:nvPr>
        </p:nvSpPr>
        <p:spPr/>
        <p:txBody>
          <a:bodyPr/>
          <a:lstStyle/>
          <a:p>
            <a:endParaRPr lang="es-CO"/>
          </a:p>
        </p:txBody>
      </p:sp>
      <p:sp>
        <p:nvSpPr>
          <p:cNvPr id="3" name="Marcador de pie de página 2">
            <a:extLst>
              <a:ext uri="{FF2B5EF4-FFF2-40B4-BE49-F238E27FC236}">
                <a16:creationId xmlns:a16="http://schemas.microsoft.com/office/drawing/2014/main" id="{A4F9A19D-8546-4DB7-943E-A6C40975FE65}"/>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FE834467-C085-4B5F-A2D6-1D111E7B63C3}"/>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34297404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815EE5-EEA6-4207-BAC5-8F00A7018295}"/>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1FEC8231-695B-4518-9BF7-E97F5123873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92354B8A-1CBC-41E0-A9E8-5FB2EDDB22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4F94055-E401-4C0E-938D-614524727DC5}"/>
              </a:ext>
            </a:extLst>
          </p:cNvPr>
          <p:cNvSpPr>
            <a:spLocks noGrp="1"/>
          </p:cNvSpPr>
          <p:nvPr>
            <p:ph type="dt" sz="half" idx="10"/>
          </p:nvPr>
        </p:nvSpPr>
        <p:spPr/>
        <p:txBody>
          <a:bodyPr/>
          <a:lstStyle/>
          <a:p>
            <a:endParaRPr lang="es-CO"/>
          </a:p>
        </p:txBody>
      </p:sp>
      <p:sp>
        <p:nvSpPr>
          <p:cNvPr id="6" name="Marcador de pie de página 5">
            <a:extLst>
              <a:ext uri="{FF2B5EF4-FFF2-40B4-BE49-F238E27FC236}">
                <a16:creationId xmlns:a16="http://schemas.microsoft.com/office/drawing/2014/main" id="{83E66432-8574-4009-93CD-B90204AD67CC}"/>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C6F7A7D2-9509-468B-B64D-B399F9DB324C}"/>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34490933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E419B6-6D50-4A22-8E95-82EE8602FE75}"/>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FEF31C67-83EC-4E09-A025-68611B0A313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88D1882C-D761-4343-B07D-229B12E8601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71EC2773-E284-4FB7-96DB-FA2355335C55}"/>
              </a:ext>
            </a:extLst>
          </p:cNvPr>
          <p:cNvSpPr>
            <a:spLocks noGrp="1"/>
          </p:cNvSpPr>
          <p:nvPr>
            <p:ph type="dt" sz="half" idx="10"/>
          </p:nvPr>
        </p:nvSpPr>
        <p:spPr/>
        <p:txBody>
          <a:bodyPr/>
          <a:lstStyle/>
          <a:p>
            <a:endParaRPr lang="es-CO"/>
          </a:p>
        </p:txBody>
      </p:sp>
      <p:sp>
        <p:nvSpPr>
          <p:cNvPr id="6" name="Marcador de pie de página 5">
            <a:extLst>
              <a:ext uri="{FF2B5EF4-FFF2-40B4-BE49-F238E27FC236}">
                <a16:creationId xmlns:a16="http://schemas.microsoft.com/office/drawing/2014/main" id="{D2179AA4-7DC2-4E0C-97DC-8A68C1379C78}"/>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9407F01C-D4A8-4D86-8512-8420DA1E1638}"/>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2200138504"/>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3C9AA4-F3E2-4CC2-A284-905F19ECAC4A}"/>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A6CBEBAE-E35C-4899-864F-A5E0E8FF5631}"/>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2D92D712-9AB0-4144-8F48-C505B6253E04}"/>
              </a:ext>
            </a:extLst>
          </p:cNvPr>
          <p:cNvSpPr>
            <a:spLocks noGrp="1"/>
          </p:cNvSpPr>
          <p:nvPr>
            <p:ph type="dt" sz="half" idx="10"/>
          </p:nvPr>
        </p:nvSpPr>
        <p:spPr/>
        <p:txBody>
          <a:bodyPr/>
          <a:lstStyle/>
          <a:p>
            <a:endParaRPr lang="es-CO"/>
          </a:p>
        </p:txBody>
      </p:sp>
      <p:sp>
        <p:nvSpPr>
          <p:cNvPr id="5" name="Marcador de pie de página 4">
            <a:extLst>
              <a:ext uri="{FF2B5EF4-FFF2-40B4-BE49-F238E27FC236}">
                <a16:creationId xmlns:a16="http://schemas.microsoft.com/office/drawing/2014/main" id="{CD14778D-63AC-4546-B99B-D4A982BAA4F6}"/>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CB497614-F0BD-4E0B-BF9D-789914892DD1}"/>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13150415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BDCF5863-9BB8-4C9A-9E37-8A7D97BE2D61}"/>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736A67F6-87AB-4DD7-B3BC-A39896F4C897}"/>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A7C8C0A3-B3A6-4C11-B5E9-3F6DDA9113A6}"/>
              </a:ext>
            </a:extLst>
          </p:cNvPr>
          <p:cNvSpPr>
            <a:spLocks noGrp="1"/>
          </p:cNvSpPr>
          <p:nvPr>
            <p:ph type="dt" sz="half" idx="10"/>
          </p:nvPr>
        </p:nvSpPr>
        <p:spPr/>
        <p:txBody>
          <a:bodyPr/>
          <a:lstStyle/>
          <a:p>
            <a:endParaRPr lang="es-CO"/>
          </a:p>
        </p:txBody>
      </p:sp>
      <p:sp>
        <p:nvSpPr>
          <p:cNvPr id="5" name="Marcador de pie de página 4">
            <a:extLst>
              <a:ext uri="{FF2B5EF4-FFF2-40B4-BE49-F238E27FC236}">
                <a16:creationId xmlns:a16="http://schemas.microsoft.com/office/drawing/2014/main" id="{30C6C295-0416-473F-848C-AC3B030A9B14}"/>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09718280-2589-4855-81D4-C63D086CD722}"/>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8751463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UdeA-Nueva 1 1">
  <p:cSld name="UdeA-Nueva 1 1">
    <p:spTree>
      <p:nvGrpSpPr>
        <p:cNvPr id="1" name="Shape 36"/>
        <p:cNvGrpSpPr/>
        <p:nvPr/>
      </p:nvGrpSpPr>
      <p:grpSpPr>
        <a:xfrm>
          <a:off x="0" y="0"/>
          <a:ext cx="0" cy="0"/>
          <a:chOff x="0" y="0"/>
          <a:chExt cx="0" cy="0"/>
        </a:xfrm>
      </p:grpSpPr>
      <p:sp>
        <p:nvSpPr>
          <p:cNvPr id="37" name="Google Shape;37;p4"/>
          <p:cNvSpPr txBox="1">
            <a:spLocks noGrp="1"/>
          </p:cNvSpPr>
          <p:nvPr>
            <p:ph type="title"/>
          </p:nvPr>
        </p:nvSpPr>
        <p:spPr>
          <a:xfrm>
            <a:off x="916650" y="96038"/>
            <a:ext cx="8304000" cy="949500"/>
          </a:xfrm>
          <a:prstGeom prst="rect">
            <a:avLst/>
          </a:prstGeom>
          <a:noFill/>
          <a:ln>
            <a:noFill/>
          </a:ln>
        </p:spPr>
        <p:txBody>
          <a:bodyPr spcFirstLastPara="1" wrap="square" lIns="91425" tIns="45700" rIns="91425" bIns="45700" anchor="ctr" anchorCtr="0">
            <a:noAutofit/>
          </a:bodyPr>
          <a:lstStyle>
            <a:lvl1pPr marL="0" marR="0" lvl="0" indent="0" algn="l" rtl="0">
              <a:lnSpc>
                <a:spcPct val="90000"/>
              </a:lnSpc>
              <a:spcBef>
                <a:spcPts val="0"/>
              </a:spcBef>
              <a:spcAft>
                <a:spcPts val="0"/>
              </a:spcAft>
              <a:buNone/>
              <a:defRPr b="1">
                <a:solidFill>
                  <a:srgbClr val="8CC63E"/>
                </a:solidFill>
                <a:latin typeface="Roboto Slab"/>
                <a:ea typeface="Roboto Slab"/>
                <a:cs typeface="Roboto Slab"/>
                <a:sym typeface="Roboto Slab"/>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8" name="Google Shape;38;p4"/>
          <p:cNvSpPr txBox="1">
            <a:spLocks noGrp="1"/>
          </p:cNvSpPr>
          <p:nvPr>
            <p:ph type="body" idx="1"/>
          </p:nvPr>
        </p:nvSpPr>
        <p:spPr>
          <a:xfrm>
            <a:off x="838200" y="1318001"/>
            <a:ext cx="10515600" cy="4859100"/>
          </a:xfrm>
          <a:prstGeom prst="rect">
            <a:avLst/>
          </a:prstGeom>
          <a:noFill/>
          <a:ln>
            <a:noFill/>
          </a:ln>
        </p:spPr>
        <p:txBody>
          <a:bodyPr spcFirstLastPara="1" wrap="square" lIns="91425" tIns="45700" rIns="91425" bIns="45700" anchor="t" anchorCtr="0">
            <a:noAutofit/>
          </a:bodyPr>
          <a:lstStyle>
            <a:lvl1pPr marL="457200" lvl="0" indent="-342900" algn="l" rtl="0">
              <a:lnSpc>
                <a:spcPct val="90000"/>
              </a:lnSpc>
              <a:spcBef>
                <a:spcPts val="1000"/>
              </a:spcBef>
              <a:spcAft>
                <a:spcPts val="0"/>
              </a:spcAft>
              <a:buClr>
                <a:schemeClr val="dk1"/>
              </a:buClr>
              <a:buSzPts val="1800"/>
              <a:buFont typeface="Roboto"/>
              <a:buChar char="●"/>
              <a:defRPr>
                <a:latin typeface="Roboto"/>
                <a:ea typeface="Roboto"/>
                <a:cs typeface="Roboto"/>
                <a:sym typeface="Roboto"/>
              </a:defRPr>
            </a:lvl1pPr>
            <a:lvl2pPr marL="914400" lvl="1"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2pPr>
            <a:lvl3pPr marL="1371600" lvl="2"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3pPr>
            <a:lvl4pPr marL="1828800" lvl="3"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4pPr>
            <a:lvl5pPr marL="2286000" lvl="4"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5pPr>
            <a:lvl6pPr marL="2743200" lvl="5"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6pPr>
            <a:lvl7pPr marL="3200400" lvl="6"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7pPr>
            <a:lvl8pPr marL="3657600" lvl="7"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8pPr>
            <a:lvl9pPr marL="4114800" lvl="8"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9pPr>
          </a:lstStyle>
          <a:p>
            <a:endParaRPr/>
          </a:p>
        </p:txBody>
      </p:sp>
      <p:sp>
        <p:nvSpPr>
          <p:cNvPr id="39" name="Google Shape;39;p4"/>
          <p:cNvSpPr txBox="1">
            <a:spLocks noGrp="1"/>
          </p:cNvSpPr>
          <p:nvPr>
            <p:ph type="dt" idx="10"/>
          </p:nvPr>
        </p:nvSpPr>
        <p:spPr>
          <a:xfrm>
            <a:off x="1264600" y="6280150"/>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4"/>
          <p:cNvSpPr txBox="1">
            <a:spLocks noGrp="1"/>
          </p:cNvSpPr>
          <p:nvPr>
            <p:ph type="ftr" idx="11"/>
          </p:nvPr>
        </p:nvSpPr>
        <p:spPr>
          <a:xfrm>
            <a:off x="4755775" y="6280150"/>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4"/>
          <p:cNvSpPr txBox="1">
            <a:spLocks noGrp="1"/>
          </p:cNvSpPr>
          <p:nvPr>
            <p:ph type="sldNum" idx="12"/>
          </p:nvPr>
        </p:nvSpPr>
        <p:spPr>
          <a:xfrm>
            <a:off x="9144000" y="6280150"/>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extLst>
      <p:ext uri="{BB962C8B-B14F-4D97-AF65-F5344CB8AC3E}">
        <p14:creationId xmlns:p14="http://schemas.microsoft.com/office/powerpoint/2010/main" val="32609506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UdeA-Nueva 1 1 1">
  <p:cSld name="UdeA-Nueva 1 1 1">
    <p:spTree>
      <p:nvGrpSpPr>
        <p:cNvPr id="1" name="Shape 48"/>
        <p:cNvGrpSpPr/>
        <p:nvPr/>
      </p:nvGrpSpPr>
      <p:grpSpPr>
        <a:xfrm>
          <a:off x="0" y="0"/>
          <a:ext cx="0" cy="0"/>
          <a:chOff x="0" y="0"/>
          <a:chExt cx="0" cy="0"/>
        </a:xfrm>
      </p:grpSpPr>
      <p:sp>
        <p:nvSpPr>
          <p:cNvPr id="49" name="Google Shape;49;p5"/>
          <p:cNvSpPr txBox="1">
            <a:spLocks noGrp="1"/>
          </p:cNvSpPr>
          <p:nvPr>
            <p:ph type="title"/>
          </p:nvPr>
        </p:nvSpPr>
        <p:spPr>
          <a:xfrm>
            <a:off x="916650" y="96038"/>
            <a:ext cx="8304000" cy="949500"/>
          </a:xfrm>
          <a:prstGeom prst="rect">
            <a:avLst/>
          </a:prstGeom>
          <a:noFill/>
          <a:ln>
            <a:noFill/>
          </a:ln>
        </p:spPr>
        <p:txBody>
          <a:bodyPr spcFirstLastPara="1" wrap="square" lIns="91425" tIns="45700" rIns="91425" bIns="45700" anchor="ctr" anchorCtr="0">
            <a:noAutofit/>
          </a:bodyPr>
          <a:lstStyle>
            <a:lvl1pPr marL="0" marR="0" lvl="0" indent="0" algn="l" rtl="0">
              <a:lnSpc>
                <a:spcPct val="90000"/>
              </a:lnSpc>
              <a:spcBef>
                <a:spcPts val="0"/>
              </a:spcBef>
              <a:spcAft>
                <a:spcPts val="0"/>
              </a:spcAft>
              <a:buNone/>
              <a:defRPr b="1">
                <a:solidFill>
                  <a:srgbClr val="701E5C"/>
                </a:solidFill>
                <a:latin typeface="Roboto Slab"/>
                <a:ea typeface="Roboto Slab"/>
                <a:cs typeface="Roboto Slab"/>
                <a:sym typeface="Roboto Slab"/>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0" name="Google Shape;50;p5"/>
          <p:cNvSpPr txBox="1">
            <a:spLocks noGrp="1"/>
          </p:cNvSpPr>
          <p:nvPr>
            <p:ph type="body" idx="1"/>
          </p:nvPr>
        </p:nvSpPr>
        <p:spPr>
          <a:xfrm>
            <a:off x="838200" y="1318001"/>
            <a:ext cx="10515600" cy="4859100"/>
          </a:xfrm>
          <a:prstGeom prst="rect">
            <a:avLst/>
          </a:prstGeom>
          <a:noFill/>
          <a:ln>
            <a:noFill/>
          </a:ln>
        </p:spPr>
        <p:txBody>
          <a:bodyPr spcFirstLastPara="1" wrap="square" lIns="91425" tIns="45700" rIns="91425" bIns="45700" anchor="t" anchorCtr="0">
            <a:noAutofit/>
          </a:bodyPr>
          <a:lstStyle>
            <a:lvl1pPr marL="457200" lvl="0" indent="-342900" algn="l" rtl="0">
              <a:lnSpc>
                <a:spcPct val="90000"/>
              </a:lnSpc>
              <a:spcBef>
                <a:spcPts val="1000"/>
              </a:spcBef>
              <a:spcAft>
                <a:spcPts val="0"/>
              </a:spcAft>
              <a:buClr>
                <a:schemeClr val="dk1"/>
              </a:buClr>
              <a:buSzPts val="1800"/>
              <a:buFont typeface="Roboto"/>
              <a:buChar char="●"/>
              <a:defRPr>
                <a:latin typeface="Roboto"/>
                <a:ea typeface="Roboto"/>
                <a:cs typeface="Roboto"/>
                <a:sym typeface="Roboto"/>
              </a:defRPr>
            </a:lvl1pPr>
            <a:lvl2pPr marL="914400" lvl="1"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2pPr>
            <a:lvl3pPr marL="1371600" lvl="2"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3pPr>
            <a:lvl4pPr marL="1828800" lvl="3"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4pPr>
            <a:lvl5pPr marL="2286000" lvl="4"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5pPr>
            <a:lvl6pPr marL="2743200" lvl="5"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6pPr>
            <a:lvl7pPr marL="3200400" lvl="6"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7pPr>
            <a:lvl8pPr marL="3657600" lvl="7"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8pPr>
            <a:lvl9pPr marL="4114800" lvl="8"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9pPr>
          </a:lstStyle>
          <a:p>
            <a:endParaRPr/>
          </a:p>
        </p:txBody>
      </p:sp>
      <p:sp>
        <p:nvSpPr>
          <p:cNvPr id="51" name="Google Shape;51;p5"/>
          <p:cNvSpPr txBox="1">
            <a:spLocks noGrp="1"/>
          </p:cNvSpPr>
          <p:nvPr>
            <p:ph type="dt" idx="10"/>
          </p:nvPr>
        </p:nvSpPr>
        <p:spPr>
          <a:xfrm>
            <a:off x="1264600" y="6280150"/>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2" name="Google Shape;52;p5"/>
          <p:cNvSpPr txBox="1">
            <a:spLocks noGrp="1"/>
          </p:cNvSpPr>
          <p:nvPr>
            <p:ph type="ftr" idx="11"/>
          </p:nvPr>
        </p:nvSpPr>
        <p:spPr>
          <a:xfrm>
            <a:off x="4755775" y="6280150"/>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3" name="Google Shape;53;p5"/>
          <p:cNvSpPr txBox="1">
            <a:spLocks noGrp="1"/>
          </p:cNvSpPr>
          <p:nvPr>
            <p:ph type="sldNum" idx="12"/>
          </p:nvPr>
        </p:nvSpPr>
        <p:spPr>
          <a:xfrm>
            <a:off x="9144000" y="6280150"/>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extLst>
      <p:ext uri="{BB962C8B-B14F-4D97-AF65-F5344CB8AC3E}">
        <p14:creationId xmlns:p14="http://schemas.microsoft.com/office/powerpoint/2010/main" val="11695377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UdeA-Nueva 1">
  <p:cSld name="UdeA-Nueva 1">
    <p:spTree>
      <p:nvGrpSpPr>
        <p:cNvPr id="1" name="Shape 23"/>
        <p:cNvGrpSpPr/>
        <p:nvPr/>
      </p:nvGrpSpPr>
      <p:grpSpPr>
        <a:xfrm>
          <a:off x="0" y="0"/>
          <a:ext cx="0" cy="0"/>
          <a:chOff x="0" y="0"/>
          <a:chExt cx="0" cy="0"/>
        </a:xfrm>
      </p:grpSpPr>
      <p:sp>
        <p:nvSpPr>
          <p:cNvPr id="24" name="Google Shape;24;p3"/>
          <p:cNvSpPr txBox="1">
            <a:spLocks noGrp="1"/>
          </p:cNvSpPr>
          <p:nvPr>
            <p:ph type="title"/>
          </p:nvPr>
        </p:nvSpPr>
        <p:spPr>
          <a:xfrm>
            <a:off x="916650" y="96038"/>
            <a:ext cx="8304000" cy="949500"/>
          </a:xfrm>
          <a:prstGeom prst="rect">
            <a:avLst/>
          </a:prstGeom>
          <a:noFill/>
          <a:ln>
            <a:noFill/>
          </a:ln>
        </p:spPr>
        <p:txBody>
          <a:bodyPr spcFirstLastPara="1" wrap="square" lIns="91425" tIns="45700" rIns="91425" bIns="45700" anchor="ctr" anchorCtr="0">
            <a:noAutofit/>
          </a:bodyPr>
          <a:lstStyle>
            <a:lvl1pPr marL="0" marR="0" lvl="0" indent="0" algn="l" rtl="0">
              <a:lnSpc>
                <a:spcPct val="90000"/>
              </a:lnSpc>
              <a:spcBef>
                <a:spcPts val="0"/>
              </a:spcBef>
              <a:spcAft>
                <a:spcPts val="0"/>
              </a:spcAft>
              <a:buNone/>
              <a:defRPr b="1">
                <a:solidFill>
                  <a:srgbClr val="F8A02B"/>
                </a:solidFill>
                <a:latin typeface="Roboto Slab"/>
                <a:ea typeface="Roboto Slab"/>
                <a:cs typeface="Roboto Slab"/>
                <a:sym typeface="Roboto Slab"/>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3"/>
          <p:cNvSpPr txBox="1">
            <a:spLocks noGrp="1"/>
          </p:cNvSpPr>
          <p:nvPr>
            <p:ph type="body" idx="1"/>
          </p:nvPr>
        </p:nvSpPr>
        <p:spPr>
          <a:xfrm>
            <a:off x="838200" y="1318001"/>
            <a:ext cx="10515600" cy="4859100"/>
          </a:xfrm>
          <a:prstGeom prst="rect">
            <a:avLst/>
          </a:prstGeom>
          <a:noFill/>
          <a:ln>
            <a:noFill/>
          </a:ln>
        </p:spPr>
        <p:txBody>
          <a:bodyPr spcFirstLastPara="1" wrap="square" lIns="91425" tIns="45700" rIns="91425" bIns="45700" anchor="t" anchorCtr="0">
            <a:noAutofit/>
          </a:bodyPr>
          <a:lstStyle>
            <a:lvl1pPr marL="457200" lvl="0" indent="-342900" algn="l" rtl="0">
              <a:lnSpc>
                <a:spcPct val="90000"/>
              </a:lnSpc>
              <a:spcBef>
                <a:spcPts val="1000"/>
              </a:spcBef>
              <a:spcAft>
                <a:spcPts val="0"/>
              </a:spcAft>
              <a:buClr>
                <a:schemeClr val="dk1"/>
              </a:buClr>
              <a:buSzPts val="1800"/>
              <a:buFont typeface="Roboto"/>
              <a:buChar char="●"/>
              <a:defRPr>
                <a:latin typeface="Roboto"/>
                <a:ea typeface="Roboto"/>
                <a:cs typeface="Roboto"/>
                <a:sym typeface="Roboto"/>
              </a:defRPr>
            </a:lvl1pPr>
            <a:lvl2pPr marL="914400" lvl="1"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2pPr>
            <a:lvl3pPr marL="1371600" lvl="2"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3pPr>
            <a:lvl4pPr marL="1828800" lvl="3"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4pPr>
            <a:lvl5pPr marL="2286000" lvl="4"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5pPr>
            <a:lvl6pPr marL="2743200" lvl="5"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6pPr>
            <a:lvl7pPr marL="3200400" lvl="6"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7pPr>
            <a:lvl8pPr marL="3657600" lvl="7"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8pPr>
            <a:lvl9pPr marL="4114800" lvl="8"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9pPr>
          </a:lstStyle>
          <a:p>
            <a:endParaRPr/>
          </a:p>
        </p:txBody>
      </p:sp>
      <p:sp>
        <p:nvSpPr>
          <p:cNvPr id="26" name="Google Shape;26;p3"/>
          <p:cNvSpPr txBox="1">
            <a:spLocks noGrp="1"/>
          </p:cNvSpPr>
          <p:nvPr>
            <p:ph type="dt" idx="10"/>
          </p:nvPr>
        </p:nvSpPr>
        <p:spPr>
          <a:xfrm>
            <a:off x="1204075" y="6297450"/>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3"/>
          <p:cNvSpPr txBox="1">
            <a:spLocks noGrp="1"/>
          </p:cNvSpPr>
          <p:nvPr>
            <p:ph type="ftr" idx="11"/>
          </p:nvPr>
        </p:nvSpPr>
        <p:spPr>
          <a:xfrm>
            <a:off x="4861675" y="6280150"/>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3"/>
          <p:cNvSpPr txBox="1">
            <a:spLocks noGrp="1"/>
          </p:cNvSpPr>
          <p:nvPr>
            <p:ph type="sldNum" idx="12"/>
          </p:nvPr>
        </p:nvSpPr>
        <p:spPr>
          <a:xfrm>
            <a:off x="9144000" y="6280150"/>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extLst>
      <p:ext uri="{BB962C8B-B14F-4D97-AF65-F5344CB8AC3E}">
        <p14:creationId xmlns:p14="http://schemas.microsoft.com/office/powerpoint/2010/main" val="17258388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1E7B29E-FD20-45CE-B6B9-11DBA95B443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D26E3B48-B3F4-480E-AA13-7F98C293F8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BC5C6A56-744E-406A-A3F4-EB0DB79BFCC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s-CO"/>
          </a:p>
        </p:txBody>
      </p:sp>
      <p:sp>
        <p:nvSpPr>
          <p:cNvPr id="5" name="Marcador de pie de página 4">
            <a:extLst>
              <a:ext uri="{FF2B5EF4-FFF2-40B4-BE49-F238E27FC236}">
                <a16:creationId xmlns:a16="http://schemas.microsoft.com/office/drawing/2014/main" id="{6AFCF1F0-6C88-47BC-ABAB-E51E4065695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a:extLst>
              <a:ext uri="{FF2B5EF4-FFF2-40B4-BE49-F238E27FC236}">
                <a16:creationId xmlns:a16="http://schemas.microsoft.com/office/drawing/2014/main" id="{687FB6FA-3336-4974-922C-505465D6334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2819279301"/>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 id="2147483709" r:id="rId14"/>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image" Target="../media/image14.jpeg"/><Relationship Id="rId3" Type="http://schemas.openxmlformats.org/officeDocument/2006/relationships/image" Target="../media/image9.jpeg"/><Relationship Id="rId7"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image" Target="../media/image12.png"/><Relationship Id="rId5" Type="http://schemas.openxmlformats.org/officeDocument/2006/relationships/image" Target="../media/image11.jpeg"/><Relationship Id="rId4" Type="http://schemas.openxmlformats.org/officeDocument/2006/relationships/image" Target="../media/image10.jpe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3.xml"/><Relationship Id="rId5" Type="http://schemas.openxmlformats.org/officeDocument/2006/relationships/image" Target="../media/image10.jpeg"/><Relationship Id="rId4" Type="http://schemas.openxmlformats.org/officeDocument/2006/relationships/image" Target="../media/image9.jpe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13.xml"/><Relationship Id="rId5" Type="http://schemas.openxmlformats.org/officeDocument/2006/relationships/image" Target="../media/image14.jpeg"/><Relationship Id="rId4" Type="http://schemas.openxmlformats.org/officeDocument/2006/relationships/image" Target="../media/image11.jpeg"/></Relationships>
</file>

<file path=ppt/slides/_rels/slide6.xml.rels><?xml version="1.0" encoding="UTF-8" standalone="yes"?>
<Relationships xmlns="http://schemas.openxmlformats.org/package/2006/relationships"><Relationship Id="rId3" Type="http://schemas.openxmlformats.org/officeDocument/2006/relationships/hyperlink" Target="https://www.youtube.com/watch?v=8MGbGsihe3k" TargetMode="External"/><Relationship Id="rId2" Type="http://schemas.openxmlformats.org/officeDocument/2006/relationships/notesSlide" Target="../notesSlides/notesSlide6.xml"/><Relationship Id="rId1" Type="http://schemas.openxmlformats.org/officeDocument/2006/relationships/slideLayout" Target="../slideLayouts/slideLayout13.xml"/><Relationship Id="rId5" Type="http://schemas.openxmlformats.org/officeDocument/2006/relationships/image" Target="../media/image16.png"/><Relationship Id="rId4" Type="http://schemas.openxmlformats.org/officeDocument/2006/relationships/image" Target="../media/image15.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17.jpeg"/><Relationship Id="rId7" Type="http://schemas.openxmlformats.org/officeDocument/2006/relationships/hyperlink" Target="https://www.w3schools.com/colors/colors_picker.asp"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jpeg"/></Relationships>
</file>

<file path=ppt/slides/_rels/slide9.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2.png"/><Relationship Id="rId7"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2.jpeg"/><Relationship Id="rId5" Type="http://schemas.openxmlformats.org/officeDocument/2006/relationships/image" Target="../media/image21.png"/><Relationship Id="rId10" Type="http://schemas.openxmlformats.org/officeDocument/2006/relationships/image" Target="../media/image28.png"/><Relationship Id="rId4" Type="http://schemas.openxmlformats.org/officeDocument/2006/relationships/image" Target="../media/image17.jpeg"/><Relationship Id="rId9" Type="http://schemas.openxmlformats.org/officeDocument/2006/relationships/image" Target="../media/image27.png"/></Relationships>
</file>

<file path=ppt/slides/_rels/slide10.xml.rels><?xml version="1.0" encoding="UTF-8" standalone="yes"?>
<Relationships xmlns="http://schemas.openxmlformats.org/package/2006/relationships"><Relationship Id="rId8" Type="http://schemas.openxmlformats.org/officeDocument/2006/relationships/image" Target="../media/image32.jpeg"/><Relationship Id="rId3" Type="http://schemas.openxmlformats.org/officeDocument/2006/relationships/image" Target="../media/image29.png"/><Relationship Id="rId7" Type="http://schemas.openxmlformats.org/officeDocument/2006/relationships/image" Target="../media/image31.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10" Type="http://schemas.openxmlformats.org/officeDocument/2006/relationships/image" Target="../media/image36.png"/><Relationship Id="rId4" Type="http://schemas.openxmlformats.org/officeDocument/2006/relationships/image" Target="../media/image30.png"/><Relationship Id="rId9" Type="http://schemas.openxmlformats.org/officeDocument/2006/relationships/image" Target="../media/image35.png"/></Relationships>
</file>

<file path=ppt/slides/_rels/slide11.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37.png"/><Relationship Id="rId7" Type="http://schemas.openxmlformats.org/officeDocument/2006/relationships/image" Target="../media/image41.png"/><Relationship Id="rId12" Type="http://schemas.openxmlformats.org/officeDocument/2006/relationships/image" Target="../media/image42.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40.png"/><Relationship Id="rId11" Type="http://schemas.openxmlformats.org/officeDocument/2006/relationships/image" Target="../media/image32.jpeg"/><Relationship Id="rId5" Type="http://schemas.openxmlformats.org/officeDocument/2006/relationships/image" Target="../media/image39.png"/><Relationship Id="rId10" Type="http://schemas.openxmlformats.org/officeDocument/2006/relationships/image" Target="../media/image31.png"/><Relationship Id="rId4" Type="http://schemas.openxmlformats.org/officeDocument/2006/relationships/image" Target="../media/image38.png"/><Relationship Id="rId9"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34.png"/></Relationships>
</file>

<file path=ppt/slides/_rels/slide1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45.png"/><Relationship Id="rId4" Type="http://schemas.openxmlformats.org/officeDocument/2006/relationships/image" Target="../media/image48.png"/></Relationships>
</file>

<file path=ppt/slides/_rels/slide1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6.png"/><Relationship Id="rId7" Type="http://schemas.openxmlformats.org/officeDocument/2006/relationships/image" Target="../media/image53.jpe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49.png"/></Relationships>
</file>

<file path=ppt/slides/_rels/slide18.xml.rels><?xml version="1.0" encoding="UTF-8" standalone="yes"?>
<Relationships xmlns="http://schemas.openxmlformats.org/package/2006/relationships"><Relationship Id="rId8" Type="http://schemas.openxmlformats.org/officeDocument/2006/relationships/hyperlink" Target="https://mitrafarmand.com/comic/venn-diagram-let-down/" TargetMode="External"/><Relationship Id="rId3" Type="http://schemas.openxmlformats.org/officeDocument/2006/relationships/image" Target="../media/image54.jpeg"/><Relationship Id="rId7" Type="http://schemas.openxmlformats.org/officeDocument/2006/relationships/image" Target="../media/image56.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hyperlink" Target="https://xkcd.com/2122/" TargetMode="External"/><Relationship Id="rId5" Type="http://schemas.openxmlformats.org/officeDocument/2006/relationships/image" Target="../media/image55.png"/><Relationship Id="rId10" Type="http://schemas.openxmlformats.org/officeDocument/2006/relationships/hyperlink" Target="https://nebusresearch.wordpress.com/2020/02/14/reading-the-comics-february-3-2020-fake-venn-diagrams-and-real-reruns-edition/" TargetMode="External"/><Relationship Id="rId4" Type="http://schemas.openxmlformats.org/officeDocument/2006/relationships/hyperlink" Target="https://es.wikipedia.org/wiki/John_Venn" TargetMode="External"/><Relationship Id="rId9" Type="http://schemas.openxmlformats.org/officeDocument/2006/relationships/image" Target="../media/image57.jpeg"/></Relationships>
</file>

<file path=ppt/slides/_rels/slide19.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20.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20.xml"/><Relationship Id="rId1" Type="http://schemas.openxmlformats.org/officeDocument/2006/relationships/slideLayout" Target="../slideLayouts/slideLayout12.xml"/><Relationship Id="rId4" Type="http://schemas.openxmlformats.org/officeDocument/2006/relationships/image" Target="../media/image63.png"/></Relationships>
</file>

<file path=ppt/slides/_rels/slide21.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21.xml"/><Relationship Id="rId1" Type="http://schemas.openxmlformats.org/officeDocument/2006/relationships/slideLayout" Target="../slideLayouts/slideLayout12.xml"/><Relationship Id="rId4" Type="http://schemas.openxmlformats.org/officeDocument/2006/relationships/image" Target="../media/image62.png"/></Relationships>
</file>

<file path=ppt/slides/_rels/slide22.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23.xml"/><Relationship Id="rId1" Type="http://schemas.openxmlformats.org/officeDocument/2006/relationships/slideLayout" Target="../slideLayouts/slideLayout12.xml"/><Relationship Id="rId4" Type="http://schemas.openxmlformats.org/officeDocument/2006/relationships/image" Target="../media/image69.png"/></Relationships>
</file>

<file path=ppt/slides/_rels/slide24.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image" Target="../media/image64.png"/></Relationships>
</file>

<file path=ppt/slides/_rels/slide25.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63.png"/></Relationships>
</file>

<file path=ppt/slides/_rels/slide27.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63.png"/></Relationships>
</file>

<file path=ppt/slides/_rels/slide28.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31.xml"/><Relationship Id="rId1" Type="http://schemas.openxmlformats.org/officeDocument/2006/relationships/slideLayout" Target="../slideLayouts/slideLayout12.xml"/><Relationship Id="rId4" Type="http://schemas.openxmlformats.org/officeDocument/2006/relationships/image" Target="../media/image77.png"/></Relationships>
</file>

<file path=ppt/slides/_rels/slide32.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32.xml"/><Relationship Id="rId1" Type="http://schemas.openxmlformats.org/officeDocument/2006/relationships/slideLayout" Target="../slideLayouts/slideLayout12.xml"/><Relationship Id="rId4" Type="http://schemas.openxmlformats.org/officeDocument/2006/relationships/image" Target="../media/image79.png"/></Relationships>
</file>

<file path=ppt/slides/_rels/slide33.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33.xml"/><Relationship Id="rId1" Type="http://schemas.openxmlformats.org/officeDocument/2006/relationships/slideLayout" Target="../slideLayouts/slideLayout12.xml"/><Relationship Id="rId4" Type="http://schemas.openxmlformats.org/officeDocument/2006/relationships/image" Target="../media/image8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slideLayout" Target="../slideLayouts/slideLayout14.xml"/><Relationship Id="rId4" Type="http://schemas.openxmlformats.org/officeDocument/2006/relationships/image" Target="../media/image82.jpeg"/></Relationships>
</file>

<file path=ppt/slides/_rels/slide41.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14.xml"/></Relationships>
</file>

<file path=ppt/slides/_rels/slide42.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14.xml"/></Relationships>
</file>

<file path=ppt/slides/_rels/slide45.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14.xml"/></Relationships>
</file>

<file path=ppt/slides/_rels/slide46.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17"/>
          <p:cNvSpPr txBox="1">
            <a:spLocks noGrp="1"/>
          </p:cNvSpPr>
          <p:nvPr>
            <p:ph type="ctrTitle"/>
          </p:nvPr>
        </p:nvSpPr>
        <p:spPr>
          <a:xfrm>
            <a:off x="408724" y="2964875"/>
            <a:ext cx="11021275" cy="922200"/>
          </a:xfrm>
          <a:prstGeom prst="rect">
            <a:avLst/>
          </a:prstGeom>
        </p:spPr>
        <p:txBody>
          <a:bodyPr spcFirstLastPara="1" wrap="square" lIns="91425" tIns="45700" rIns="91425" bIns="45700" anchor="b" anchorCtr="0">
            <a:noAutofit/>
          </a:bodyPr>
          <a:lstStyle/>
          <a:p>
            <a:pPr marL="0" lvl="0" indent="0" rtl="0">
              <a:spcBef>
                <a:spcPts val="0"/>
              </a:spcBef>
              <a:spcAft>
                <a:spcPts val="0"/>
              </a:spcAft>
              <a:buClr>
                <a:schemeClr val="lt1"/>
              </a:buClr>
              <a:buSzPts val="2800"/>
              <a:buFont typeface="Roboto Slab"/>
              <a:buNone/>
            </a:pPr>
            <a:endParaRPr sz="3200" dirty="0">
              <a:solidFill>
                <a:schemeClr val="dk1"/>
              </a:solidFill>
              <a:latin typeface="Arial"/>
              <a:ea typeface="Arial"/>
              <a:cs typeface="Arial"/>
              <a:sym typeface="Arial"/>
            </a:endParaRPr>
          </a:p>
          <a:p>
            <a:pPr marL="0" lvl="0" indent="0" rtl="0">
              <a:spcBef>
                <a:spcPts val="0"/>
              </a:spcBef>
              <a:spcAft>
                <a:spcPts val="0"/>
              </a:spcAft>
              <a:buClr>
                <a:schemeClr val="lt1"/>
              </a:buClr>
              <a:buSzPts val="2800"/>
              <a:buFont typeface="Roboto Slab"/>
              <a:buNone/>
            </a:pPr>
            <a:r>
              <a:rPr lang="es-ES" dirty="0"/>
              <a:t>Matemáticas Discretas I</a:t>
            </a:r>
            <a:endParaRPr sz="3200" dirty="0"/>
          </a:p>
        </p:txBody>
      </p:sp>
      <p:sp>
        <p:nvSpPr>
          <p:cNvPr id="140" name="Google Shape;140;p17"/>
          <p:cNvSpPr txBox="1">
            <a:spLocks noGrp="1"/>
          </p:cNvSpPr>
          <p:nvPr>
            <p:ph type="subTitle" idx="1"/>
          </p:nvPr>
        </p:nvSpPr>
        <p:spPr>
          <a:prstGeom prst="rect">
            <a:avLst/>
          </a:prstGeom>
        </p:spPr>
        <p:txBody>
          <a:bodyPr spcFirstLastPara="1" wrap="square" lIns="91425" tIns="45700" rIns="91425" bIns="45700" anchor="t" anchorCtr="0">
            <a:noAutofit/>
          </a:bodyPr>
          <a:lstStyle/>
          <a:p>
            <a:pPr marL="0" lvl="0" indent="0" algn="ctr" rtl="0">
              <a:spcBef>
                <a:spcPts val="1000"/>
              </a:spcBef>
              <a:spcAft>
                <a:spcPts val="0"/>
              </a:spcAft>
              <a:buNone/>
            </a:pPr>
            <a:r>
              <a:rPr lang="es-ES" sz="3600" b="1" dirty="0"/>
              <a:t>Clase 12 - Conjuntos</a:t>
            </a:r>
          </a:p>
          <a:p>
            <a:pPr marL="0" lvl="0" indent="0" algn="ctr" rtl="0">
              <a:spcBef>
                <a:spcPts val="1000"/>
              </a:spcBef>
              <a:spcAft>
                <a:spcPts val="0"/>
              </a:spcAft>
              <a:buNone/>
            </a:pPr>
            <a:r>
              <a:rPr lang="es-CO" sz="2800" dirty="0"/>
              <a:t>Universidad de Antioquia</a:t>
            </a:r>
          </a:p>
          <a:p>
            <a:r>
              <a:rPr lang="es-CO" sz="2800" dirty="0"/>
              <a:t>Facultad de Ingeniería</a:t>
            </a:r>
          </a:p>
          <a:p>
            <a:r>
              <a:rPr lang="es-CO" sz="2800" dirty="0"/>
              <a:t>Ingeniería de Sistemas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3" name="Título 2">
            <a:extLst>
              <a:ext uri="{FF2B5EF4-FFF2-40B4-BE49-F238E27FC236}">
                <a16:creationId xmlns:a16="http://schemas.microsoft.com/office/drawing/2014/main" id="{C98C59EC-F126-45E7-B7C1-9AB9A32ED14F}"/>
              </a:ext>
            </a:extLst>
          </p:cNvPr>
          <p:cNvSpPr>
            <a:spLocks noGrp="1"/>
          </p:cNvSpPr>
          <p:nvPr>
            <p:ph type="title"/>
          </p:nvPr>
        </p:nvSpPr>
        <p:spPr>
          <a:xfrm>
            <a:off x="353961" y="96038"/>
            <a:ext cx="8866689" cy="949500"/>
          </a:xfrm>
        </p:spPr>
        <p:txBody>
          <a:bodyPr/>
          <a:lstStyle/>
          <a:p>
            <a:r>
              <a:rPr lang="es-CO" dirty="0">
                <a:solidFill>
                  <a:schemeClr val="tx1"/>
                </a:solidFill>
                <a:latin typeface="+mj-lt"/>
              </a:rPr>
              <a:t>Introducción - Contextualización</a:t>
            </a:r>
          </a:p>
        </p:txBody>
      </p:sp>
      <p:sp>
        <p:nvSpPr>
          <p:cNvPr id="10" name="CuadroTexto 9">
            <a:extLst>
              <a:ext uri="{FF2B5EF4-FFF2-40B4-BE49-F238E27FC236}">
                <a16:creationId xmlns:a16="http://schemas.microsoft.com/office/drawing/2014/main" id="{A19C6E9F-BCCF-4FD4-8EC3-574D66199786}"/>
              </a:ext>
            </a:extLst>
          </p:cNvPr>
          <p:cNvSpPr txBox="1"/>
          <p:nvPr/>
        </p:nvSpPr>
        <p:spPr>
          <a:xfrm>
            <a:off x="471949" y="795975"/>
            <a:ext cx="11373984" cy="492443"/>
          </a:xfrm>
          <a:prstGeom prst="rect">
            <a:avLst/>
          </a:prstGeom>
          <a:noFill/>
        </p:spPr>
        <p:txBody>
          <a:bodyPr wrap="square" rtlCol="0">
            <a:spAutoFit/>
          </a:bodyPr>
          <a:lstStyle/>
          <a:p>
            <a:r>
              <a:rPr lang="es-MX" sz="2600" b="1" dirty="0">
                <a:ea typeface="Roboto" panose="02000000000000000000" pitchFamily="2" charset="0"/>
              </a:rPr>
              <a:t>Contextualización</a:t>
            </a:r>
          </a:p>
        </p:txBody>
      </p:sp>
      <p:sp>
        <p:nvSpPr>
          <p:cNvPr id="11" name="Google Shape;310;p34">
            <a:extLst>
              <a:ext uri="{FF2B5EF4-FFF2-40B4-BE49-F238E27FC236}">
                <a16:creationId xmlns:a16="http://schemas.microsoft.com/office/drawing/2014/main" id="{33B0782A-130C-4CEB-96DD-AF7689A521DE}"/>
              </a:ext>
            </a:extLst>
          </p:cNvPr>
          <p:cNvSpPr txBox="1">
            <a:spLocks/>
          </p:cNvSpPr>
          <p:nvPr/>
        </p:nvSpPr>
        <p:spPr>
          <a:xfrm>
            <a:off x="346067" y="1163428"/>
            <a:ext cx="11189432" cy="49244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200" dirty="0">
                <a:latin typeface="+mn-lt"/>
                <a:ea typeface="Roboto" panose="02000000000000000000" pitchFamily="2" charset="0"/>
              </a:rPr>
              <a:t>Piense en el juego de cubiertos (cutlery set) de la casa:</a:t>
            </a:r>
          </a:p>
        </p:txBody>
      </p:sp>
      <p:pic>
        <p:nvPicPr>
          <p:cNvPr id="4" name="Imagen 3">
            <a:extLst>
              <a:ext uri="{FF2B5EF4-FFF2-40B4-BE49-F238E27FC236}">
                <a16:creationId xmlns:a16="http://schemas.microsoft.com/office/drawing/2014/main" id="{6D5E621E-C86B-4F73-AC54-449EC6F90DB8}"/>
              </a:ext>
            </a:extLst>
          </p:cNvPr>
          <p:cNvPicPr>
            <a:picLocks noChangeAspect="1"/>
          </p:cNvPicPr>
          <p:nvPr/>
        </p:nvPicPr>
        <p:blipFill>
          <a:blip r:embed="rId3"/>
          <a:stretch>
            <a:fillRect/>
          </a:stretch>
        </p:blipFill>
        <p:spPr>
          <a:xfrm>
            <a:off x="9376211" y="1710616"/>
            <a:ext cx="2333089" cy="4100017"/>
          </a:xfrm>
          <a:prstGeom prst="rect">
            <a:avLst/>
          </a:prstGeom>
        </p:spPr>
      </p:pic>
      <p:sp>
        <p:nvSpPr>
          <p:cNvPr id="16" name="Google Shape;310;p34">
            <a:extLst>
              <a:ext uri="{FF2B5EF4-FFF2-40B4-BE49-F238E27FC236}">
                <a16:creationId xmlns:a16="http://schemas.microsoft.com/office/drawing/2014/main" id="{28FF0F7F-A274-4585-A698-F32DE41F10BC}"/>
              </a:ext>
            </a:extLst>
          </p:cNvPr>
          <p:cNvSpPr txBox="1">
            <a:spLocks/>
          </p:cNvSpPr>
          <p:nvPr/>
        </p:nvSpPr>
        <p:spPr>
          <a:xfrm>
            <a:off x="353961" y="1510088"/>
            <a:ext cx="8910330" cy="509019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r>
              <a:rPr lang="es-MX" sz="2200" b="1" dirty="0">
                <a:latin typeface="+mn-lt"/>
                <a:ea typeface="Roboto" panose="02000000000000000000" pitchFamily="2" charset="0"/>
              </a:rPr>
              <a:t>Tiene varios elementos</a:t>
            </a:r>
            <a:r>
              <a:rPr lang="es-MX" sz="2200" dirty="0">
                <a:latin typeface="+mn-lt"/>
                <a:ea typeface="Roboto" panose="02000000000000000000" pitchFamily="2" charset="0"/>
              </a:rPr>
              <a:t>: Cucharas, tenedores, cuchillos.</a:t>
            </a:r>
          </a:p>
          <a:p>
            <a:endParaRPr lang="es-MX" sz="2200" b="1" dirty="0">
              <a:latin typeface="+mn-lt"/>
              <a:ea typeface="Roboto" panose="02000000000000000000" pitchFamily="2" charset="0"/>
            </a:endParaRPr>
          </a:p>
          <a:p>
            <a:endParaRPr lang="es-MX" sz="2200" b="1" dirty="0">
              <a:latin typeface="+mn-lt"/>
              <a:ea typeface="Roboto" panose="02000000000000000000" pitchFamily="2" charset="0"/>
            </a:endParaRPr>
          </a:p>
          <a:p>
            <a:r>
              <a:rPr lang="es-MX" sz="2200" b="1" dirty="0">
                <a:latin typeface="+mn-lt"/>
                <a:ea typeface="Roboto" panose="02000000000000000000" pitchFamily="2" charset="0"/>
              </a:rPr>
              <a:t>Los elementos están agrupados</a:t>
            </a:r>
            <a:r>
              <a:rPr lang="es-MX" sz="2200" dirty="0">
                <a:latin typeface="+mn-lt"/>
                <a:ea typeface="Roboto" panose="02000000000000000000" pitchFamily="2" charset="0"/>
              </a:rPr>
              <a:t>: En este caso, los tenedores, cuchillos y cucharas están en agrupados en un lugar común (soporte, cajón, caja, etc).</a:t>
            </a:r>
          </a:p>
          <a:p>
            <a:endParaRPr lang="es-MX" sz="2200" b="1" dirty="0">
              <a:latin typeface="+mn-lt"/>
              <a:ea typeface="Roboto" panose="02000000000000000000" pitchFamily="2" charset="0"/>
            </a:endParaRPr>
          </a:p>
          <a:p>
            <a:endParaRPr lang="es-MX" sz="2200" b="1" dirty="0">
              <a:latin typeface="+mn-lt"/>
              <a:ea typeface="Roboto" panose="02000000000000000000" pitchFamily="2" charset="0"/>
            </a:endParaRPr>
          </a:p>
          <a:p>
            <a:r>
              <a:rPr lang="es-MX" sz="2200" b="1" dirty="0">
                <a:latin typeface="+mn-lt"/>
                <a:ea typeface="Roboto" panose="02000000000000000000" pitchFamily="2" charset="0"/>
              </a:rPr>
              <a:t>Pertenencia</a:t>
            </a:r>
            <a:r>
              <a:rPr lang="es-MX" sz="2200" dirty="0">
                <a:latin typeface="+mn-lt"/>
                <a:ea typeface="Roboto" panose="02000000000000000000" pitchFamily="2" charset="0"/>
              </a:rPr>
              <a:t>: Define si un elemento forma parte o no de este juego de cubiertos.</a:t>
            </a:r>
          </a:p>
        </p:txBody>
      </p:sp>
      <p:grpSp>
        <p:nvGrpSpPr>
          <p:cNvPr id="28" name="Grupo 27">
            <a:extLst>
              <a:ext uri="{FF2B5EF4-FFF2-40B4-BE49-F238E27FC236}">
                <a16:creationId xmlns:a16="http://schemas.microsoft.com/office/drawing/2014/main" id="{0C7B941C-B2D7-4AB6-97D8-0225798D6A12}"/>
              </a:ext>
            </a:extLst>
          </p:cNvPr>
          <p:cNvGrpSpPr/>
          <p:nvPr/>
        </p:nvGrpSpPr>
        <p:grpSpPr>
          <a:xfrm>
            <a:off x="3184322" y="1989370"/>
            <a:ext cx="2662691" cy="865215"/>
            <a:chOff x="3084108" y="1942288"/>
            <a:chExt cx="2662691" cy="865215"/>
          </a:xfrm>
        </p:grpSpPr>
        <p:pic>
          <p:nvPicPr>
            <p:cNvPr id="7" name="Imagen 6">
              <a:extLst>
                <a:ext uri="{FF2B5EF4-FFF2-40B4-BE49-F238E27FC236}">
                  <a16:creationId xmlns:a16="http://schemas.microsoft.com/office/drawing/2014/main" id="{DE734185-43A5-4459-834A-11622660A539}"/>
                </a:ext>
              </a:extLst>
            </p:cNvPr>
            <p:cNvPicPr>
              <a:picLocks noChangeAspect="1"/>
            </p:cNvPicPr>
            <p:nvPr/>
          </p:nvPicPr>
          <p:blipFill>
            <a:blip r:embed="rId4"/>
            <a:stretch>
              <a:fillRect/>
            </a:stretch>
          </p:blipFill>
          <p:spPr>
            <a:xfrm rot="2750135">
              <a:off x="3393671" y="1973908"/>
              <a:ext cx="190500" cy="809625"/>
            </a:xfrm>
            <a:prstGeom prst="rect">
              <a:avLst/>
            </a:prstGeom>
          </p:spPr>
        </p:pic>
        <p:pic>
          <p:nvPicPr>
            <p:cNvPr id="26" name="Imagen 25">
              <a:extLst>
                <a:ext uri="{FF2B5EF4-FFF2-40B4-BE49-F238E27FC236}">
                  <a16:creationId xmlns:a16="http://schemas.microsoft.com/office/drawing/2014/main" id="{E5AE4CAE-0ABB-42B9-BE20-DB9DC1F811E4}"/>
                </a:ext>
              </a:extLst>
            </p:cNvPr>
            <p:cNvPicPr>
              <a:picLocks noChangeAspect="1"/>
            </p:cNvPicPr>
            <p:nvPr/>
          </p:nvPicPr>
          <p:blipFill>
            <a:blip r:embed="rId5"/>
            <a:stretch>
              <a:fillRect/>
            </a:stretch>
          </p:blipFill>
          <p:spPr>
            <a:xfrm rot="2693051">
              <a:off x="4518429" y="1942288"/>
              <a:ext cx="200025" cy="828675"/>
            </a:xfrm>
            <a:prstGeom prst="rect">
              <a:avLst/>
            </a:prstGeom>
          </p:spPr>
        </p:pic>
        <p:pic>
          <p:nvPicPr>
            <p:cNvPr id="27" name="Imagen 26">
              <a:extLst>
                <a:ext uri="{FF2B5EF4-FFF2-40B4-BE49-F238E27FC236}">
                  <a16:creationId xmlns:a16="http://schemas.microsoft.com/office/drawing/2014/main" id="{A32B3575-BAF9-43FC-AA30-C2593F3F735F}"/>
                </a:ext>
              </a:extLst>
            </p:cNvPr>
            <p:cNvPicPr>
              <a:picLocks noChangeAspect="1"/>
            </p:cNvPicPr>
            <p:nvPr/>
          </p:nvPicPr>
          <p:blipFill>
            <a:blip r:embed="rId6"/>
            <a:stretch>
              <a:fillRect/>
            </a:stretch>
          </p:blipFill>
          <p:spPr>
            <a:xfrm rot="2458929">
              <a:off x="5489624" y="2045503"/>
              <a:ext cx="257175" cy="762000"/>
            </a:xfrm>
            <a:prstGeom prst="rect">
              <a:avLst/>
            </a:prstGeom>
          </p:spPr>
        </p:pic>
      </p:grpSp>
      <p:grpSp>
        <p:nvGrpSpPr>
          <p:cNvPr id="24" name="Grupo 23">
            <a:extLst>
              <a:ext uri="{FF2B5EF4-FFF2-40B4-BE49-F238E27FC236}">
                <a16:creationId xmlns:a16="http://schemas.microsoft.com/office/drawing/2014/main" id="{7D86BED4-B2F6-4EF4-87E3-1544C40CA3BC}"/>
              </a:ext>
            </a:extLst>
          </p:cNvPr>
          <p:cNvGrpSpPr/>
          <p:nvPr/>
        </p:nvGrpSpPr>
        <p:grpSpPr>
          <a:xfrm>
            <a:off x="4880013" y="3626774"/>
            <a:ext cx="982941" cy="982941"/>
            <a:chOff x="4766117" y="3796379"/>
            <a:chExt cx="982941" cy="982941"/>
          </a:xfrm>
        </p:grpSpPr>
        <p:pic>
          <p:nvPicPr>
            <p:cNvPr id="21" name="Picture 4" descr="Cutlery, fork, kitchen, knife, spoon icon - Download on Iconfinder">
              <a:extLst>
                <a:ext uri="{FF2B5EF4-FFF2-40B4-BE49-F238E27FC236}">
                  <a16:creationId xmlns:a16="http://schemas.microsoft.com/office/drawing/2014/main" id="{3CF7C3E0-9278-4849-8DAC-75CF15C917D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66117" y="3796379"/>
              <a:ext cx="982941" cy="982941"/>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FE688861-A7C0-43BD-9916-9DCACA7B7E55}"/>
                </a:ext>
              </a:extLst>
            </p:cNvPr>
            <p:cNvSpPr/>
            <p:nvPr/>
          </p:nvSpPr>
          <p:spPr>
            <a:xfrm>
              <a:off x="4880104" y="3867150"/>
              <a:ext cx="768221" cy="876300"/>
            </a:xfrm>
            <a:prstGeom prst="rect">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grpSp>
      <p:pic>
        <p:nvPicPr>
          <p:cNvPr id="32" name="Imagen 31">
            <a:extLst>
              <a:ext uri="{FF2B5EF4-FFF2-40B4-BE49-F238E27FC236}">
                <a16:creationId xmlns:a16="http://schemas.microsoft.com/office/drawing/2014/main" id="{574280CF-8821-4544-987C-D5259E7EFC8F}"/>
              </a:ext>
            </a:extLst>
          </p:cNvPr>
          <p:cNvPicPr>
            <a:picLocks noChangeAspect="1"/>
          </p:cNvPicPr>
          <p:nvPr/>
        </p:nvPicPr>
        <p:blipFill>
          <a:blip r:embed="rId8"/>
          <a:stretch>
            <a:fillRect/>
          </a:stretch>
        </p:blipFill>
        <p:spPr>
          <a:xfrm>
            <a:off x="2798970" y="5522605"/>
            <a:ext cx="1014931" cy="1032974"/>
          </a:xfrm>
          <a:prstGeom prst="rect">
            <a:avLst/>
          </a:prstGeom>
        </p:spPr>
      </p:pic>
      <p:pic>
        <p:nvPicPr>
          <p:cNvPr id="37" name="Imagen 36">
            <a:extLst>
              <a:ext uri="{FF2B5EF4-FFF2-40B4-BE49-F238E27FC236}">
                <a16:creationId xmlns:a16="http://schemas.microsoft.com/office/drawing/2014/main" id="{17EBD0EC-45C0-4E7D-A514-B567C058845A}"/>
              </a:ext>
            </a:extLst>
          </p:cNvPr>
          <p:cNvPicPr>
            <a:picLocks noChangeAspect="1"/>
          </p:cNvPicPr>
          <p:nvPr/>
        </p:nvPicPr>
        <p:blipFill>
          <a:blip r:embed="rId9"/>
          <a:stretch>
            <a:fillRect/>
          </a:stretch>
        </p:blipFill>
        <p:spPr>
          <a:xfrm>
            <a:off x="4962913" y="5582098"/>
            <a:ext cx="1029748" cy="982941"/>
          </a:xfrm>
          <a:prstGeom prst="rect">
            <a:avLst/>
          </a:prstGeom>
        </p:spPr>
      </p:pic>
      <p:pic>
        <p:nvPicPr>
          <p:cNvPr id="39" name="Imagen 38">
            <a:extLst>
              <a:ext uri="{FF2B5EF4-FFF2-40B4-BE49-F238E27FC236}">
                <a16:creationId xmlns:a16="http://schemas.microsoft.com/office/drawing/2014/main" id="{A5F58102-4C77-4C5D-AE53-B44BD7A21E49}"/>
              </a:ext>
            </a:extLst>
          </p:cNvPr>
          <p:cNvPicPr>
            <a:picLocks noChangeAspect="1"/>
          </p:cNvPicPr>
          <p:nvPr/>
        </p:nvPicPr>
        <p:blipFill>
          <a:blip r:embed="rId10"/>
          <a:stretch>
            <a:fillRect/>
          </a:stretch>
        </p:blipFill>
        <p:spPr>
          <a:xfrm>
            <a:off x="7141673" y="5546851"/>
            <a:ext cx="458607" cy="1053434"/>
          </a:xfrm>
          <a:prstGeom prst="rect">
            <a:avLst/>
          </a:prstGeom>
        </p:spPr>
      </p:pic>
    </p:spTree>
    <p:extLst>
      <p:ext uri="{BB962C8B-B14F-4D97-AF65-F5344CB8AC3E}">
        <p14:creationId xmlns:p14="http://schemas.microsoft.com/office/powerpoint/2010/main" val="18027501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3" name="Título 2">
            <a:extLst>
              <a:ext uri="{FF2B5EF4-FFF2-40B4-BE49-F238E27FC236}">
                <a16:creationId xmlns:a16="http://schemas.microsoft.com/office/drawing/2014/main" id="{C98C59EC-F126-45E7-B7C1-9AB9A32ED14F}"/>
              </a:ext>
            </a:extLst>
          </p:cNvPr>
          <p:cNvSpPr>
            <a:spLocks noGrp="1"/>
          </p:cNvSpPr>
          <p:nvPr>
            <p:ph type="title"/>
          </p:nvPr>
        </p:nvSpPr>
        <p:spPr>
          <a:xfrm>
            <a:off x="191729" y="96038"/>
            <a:ext cx="9028921" cy="949500"/>
          </a:xfrm>
        </p:spPr>
        <p:txBody>
          <a:bodyPr/>
          <a:lstStyle/>
          <a:p>
            <a:r>
              <a:rPr lang="es-CO" dirty="0">
                <a:solidFill>
                  <a:schemeClr val="tx1"/>
                </a:solidFill>
                <a:latin typeface="+mj-lt"/>
              </a:rPr>
              <a:t>Introducción - Contextualización</a:t>
            </a:r>
          </a:p>
        </p:txBody>
      </p:sp>
      <p:sp>
        <p:nvSpPr>
          <p:cNvPr id="11" name="Google Shape;310;p34">
            <a:extLst>
              <a:ext uri="{FF2B5EF4-FFF2-40B4-BE49-F238E27FC236}">
                <a16:creationId xmlns:a16="http://schemas.microsoft.com/office/drawing/2014/main" id="{33B0782A-130C-4CEB-96DD-AF7689A521DE}"/>
              </a:ext>
            </a:extLst>
          </p:cNvPr>
          <p:cNvSpPr txBox="1">
            <a:spLocks/>
          </p:cNvSpPr>
          <p:nvPr/>
        </p:nvSpPr>
        <p:spPr>
          <a:xfrm>
            <a:off x="150809" y="912534"/>
            <a:ext cx="11664418" cy="78353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200" dirty="0">
                <a:latin typeface="+mn-lt"/>
                <a:ea typeface="Roboto" panose="02000000000000000000" pitchFamily="2" charset="0"/>
              </a:rPr>
              <a:t>Un conjunto no es más que una agrupación de elementos. Como veremos a lo largo de esta clase, esta noción puede ser extendida más allá del problema del juego de cubiertos.</a:t>
            </a:r>
          </a:p>
        </p:txBody>
      </p:sp>
      <p:pic>
        <p:nvPicPr>
          <p:cNvPr id="2050" name="Picture 2" descr="Transformers G1 - Ver la serie de tv online">
            <a:extLst>
              <a:ext uri="{FF2B5EF4-FFF2-40B4-BE49-F238E27FC236}">
                <a16:creationId xmlns:a16="http://schemas.microsoft.com/office/drawing/2014/main" id="{A7EC6B09-BB6E-4412-B24E-1D8FD1D9A4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0808" y="2473007"/>
            <a:ext cx="2470686" cy="3523725"/>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Los personajes de Los Simpson, ordenados de peor a mejor | GQ España">
            <a:extLst>
              <a:ext uri="{FF2B5EF4-FFF2-40B4-BE49-F238E27FC236}">
                <a16:creationId xmlns:a16="http://schemas.microsoft.com/office/drawing/2014/main" id="{462736C5-05FB-4B72-87AB-123E3F90B46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12858" y="3931454"/>
            <a:ext cx="3580466" cy="2014012"/>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Square.">
            <a:extLst>
              <a:ext uri="{FF2B5EF4-FFF2-40B4-BE49-F238E27FC236}">
                <a16:creationId xmlns:a16="http://schemas.microsoft.com/office/drawing/2014/main" id="{9CA023BB-5C61-4A99-84CA-80CC75ECE88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95952" y="3834580"/>
            <a:ext cx="2099490" cy="2799319"/>
          </a:xfrm>
          <a:prstGeom prst="rect">
            <a:avLst/>
          </a:prstGeom>
          <a:noFill/>
          <a:extLst>
            <a:ext uri="{909E8E84-426E-40DD-AFC4-6F175D3DCCD1}">
              <a14:hiddenFill xmlns:a14="http://schemas.microsoft.com/office/drawing/2010/main">
                <a:solidFill>
                  <a:srgbClr val="FFFFFF"/>
                </a:solidFill>
              </a14:hiddenFill>
            </a:ext>
          </a:extLst>
        </p:spPr>
      </p:pic>
      <p:pic>
        <p:nvPicPr>
          <p:cNvPr id="5" name="Imagen 4">
            <a:extLst>
              <a:ext uri="{FF2B5EF4-FFF2-40B4-BE49-F238E27FC236}">
                <a16:creationId xmlns:a16="http://schemas.microsoft.com/office/drawing/2014/main" id="{991436C6-E94B-46CD-82D1-DE3714DC1C36}"/>
              </a:ext>
            </a:extLst>
          </p:cNvPr>
          <p:cNvPicPr>
            <a:picLocks noChangeAspect="1"/>
          </p:cNvPicPr>
          <p:nvPr/>
        </p:nvPicPr>
        <p:blipFill>
          <a:blip r:embed="rId6"/>
          <a:stretch>
            <a:fillRect/>
          </a:stretch>
        </p:blipFill>
        <p:spPr>
          <a:xfrm>
            <a:off x="3031651" y="2110049"/>
            <a:ext cx="2915295" cy="2359001"/>
          </a:xfrm>
          <a:prstGeom prst="rect">
            <a:avLst/>
          </a:prstGeom>
        </p:spPr>
      </p:pic>
      <p:pic>
        <p:nvPicPr>
          <p:cNvPr id="8" name="Imagen 7">
            <a:extLst>
              <a:ext uri="{FF2B5EF4-FFF2-40B4-BE49-F238E27FC236}">
                <a16:creationId xmlns:a16="http://schemas.microsoft.com/office/drawing/2014/main" id="{C8473531-A1F7-49FB-AECB-16046C283DA1}"/>
              </a:ext>
            </a:extLst>
          </p:cNvPr>
          <p:cNvPicPr>
            <a:picLocks noChangeAspect="1"/>
          </p:cNvPicPr>
          <p:nvPr/>
        </p:nvPicPr>
        <p:blipFill>
          <a:blip r:embed="rId7"/>
          <a:stretch>
            <a:fillRect/>
          </a:stretch>
        </p:blipFill>
        <p:spPr>
          <a:xfrm>
            <a:off x="6444361" y="1752598"/>
            <a:ext cx="4341850" cy="1816994"/>
          </a:xfrm>
          <a:prstGeom prst="rect">
            <a:avLst/>
          </a:prstGeom>
        </p:spPr>
      </p:pic>
      <p:pic>
        <p:nvPicPr>
          <p:cNvPr id="2064" name="Picture 16" descr="Los efectos de sonido más icónicos de los cómics Marvel y DC">
            <a:extLst>
              <a:ext uri="{FF2B5EF4-FFF2-40B4-BE49-F238E27FC236}">
                <a16:creationId xmlns:a16="http://schemas.microsoft.com/office/drawing/2014/main" id="{A1174080-378F-48AB-B0B7-77BF30A0204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54778" y="4747951"/>
            <a:ext cx="3469042" cy="19246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89959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10" name="CuadroTexto 9">
            <a:extLst>
              <a:ext uri="{FF2B5EF4-FFF2-40B4-BE49-F238E27FC236}">
                <a16:creationId xmlns:a16="http://schemas.microsoft.com/office/drawing/2014/main" id="{A19C6E9F-BCCF-4FD4-8EC3-574D66199786}"/>
              </a:ext>
            </a:extLst>
          </p:cNvPr>
          <p:cNvSpPr txBox="1"/>
          <p:nvPr/>
        </p:nvSpPr>
        <p:spPr>
          <a:xfrm>
            <a:off x="294967" y="859151"/>
            <a:ext cx="11665975" cy="492443"/>
          </a:xfrm>
          <a:prstGeom prst="rect">
            <a:avLst/>
          </a:prstGeom>
          <a:noFill/>
        </p:spPr>
        <p:txBody>
          <a:bodyPr wrap="square" rtlCol="0">
            <a:spAutoFit/>
          </a:bodyPr>
          <a:lstStyle/>
          <a:p>
            <a:r>
              <a:rPr lang="es-MX" sz="2600" b="1" dirty="0">
                <a:ea typeface="Roboto" panose="02000000000000000000" pitchFamily="2" charset="0"/>
              </a:rPr>
              <a:t>Contextualización</a:t>
            </a:r>
          </a:p>
        </p:txBody>
      </p:sp>
      <p:graphicFrame>
        <p:nvGraphicFramePr>
          <p:cNvPr id="9" name="Tabla 4">
            <a:extLst>
              <a:ext uri="{FF2B5EF4-FFF2-40B4-BE49-F238E27FC236}">
                <a16:creationId xmlns:a16="http://schemas.microsoft.com/office/drawing/2014/main" id="{29115B81-55A3-4CB2-B3DE-76B34CD947BC}"/>
              </a:ext>
            </a:extLst>
          </p:cNvPr>
          <p:cNvGraphicFramePr>
            <a:graphicFrameLocks noGrp="1"/>
          </p:cNvGraphicFramePr>
          <p:nvPr>
            <p:extLst>
              <p:ext uri="{D42A27DB-BD31-4B8C-83A1-F6EECF244321}">
                <p14:modId xmlns:p14="http://schemas.microsoft.com/office/powerpoint/2010/main" val="764215491"/>
              </p:ext>
            </p:extLst>
          </p:nvPr>
        </p:nvGraphicFramePr>
        <p:xfrm>
          <a:off x="560440" y="1526802"/>
          <a:ext cx="7374192" cy="4572000"/>
        </p:xfrm>
        <a:graphic>
          <a:graphicData uri="http://schemas.openxmlformats.org/drawingml/2006/table">
            <a:tbl>
              <a:tblPr firstRow="1" bandRow="1">
                <a:tableStyleId>{AD6A3598-7CB8-4345-8D95-17CE05F158A0}</a:tableStyleId>
              </a:tblPr>
              <a:tblGrid>
                <a:gridCol w="1866827">
                  <a:extLst>
                    <a:ext uri="{9D8B030D-6E8A-4147-A177-3AD203B41FA5}">
                      <a16:colId xmlns:a16="http://schemas.microsoft.com/office/drawing/2014/main" val="3517824357"/>
                    </a:ext>
                  </a:extLst>
                </a:gridCol>
                <a:gridCol w="3826049">
                  <a:extLst>
                    <a:ext uri="{9D8B030D-6E8A-4147-A177-3AD203B41FA5}">
                      <a16:colId xmlns:a16="http://schemas.microsoft.com/office/drawing/2014/main" val="2212776800"/>
                    </a:ext>
                  </a:extLst>
                </a:gridCol>
                <a:gridCol w="1681316">
                  <a:extLst>
                    <a:ext uri="{9D8B030D-6E8A-4147-A177-3AD203B41FA5}">
                      <a16:colId xmlns:a16="http://schemas.microsoft.com/office/drawing/2014/main" val="3724117940"/>
                    </a:ext>
                  </a:extLst>
                </a:gridCol>
              </a:tblGrid>
              <a:tr h="147558">
                <a:tc>
                  <a:txBody>
                    <a:bodyPr/>
                    <a:lstStyle/>
                    <a:p>
                      <a:r>
                        <a:rPr lang="es-CO" sz="2000" b="1" dirty="0">
                          <a:latin typeface="+mn-lt"/>
                          <a:ea typeface="Roboto" panose="02000000000000000000" pitchFamily="2" charset="0"/>
                        </a:rPr>
                        <a:t>Contexto</a:t>
                      </a:r>
                    </a:p>
                  </a:txBody>
                  <a:tcPr>
                    <a:solidFill>
                      <a:schemeClr val="bg1">
                        <a:lumMod val="95000"/>
                      </a:schemeClr>
                    </a:solidFill>
                  </a:tcPr>
                </a:tc>
                <a:tc>
                  <a:txBody>
                    <a:bodyPr/>
                    <a:lstStyle/>
                    <a:p>
                      <a:r>
                        <a:rPr lang="es-CO" sz="2000" b="1" dirty="0">
                          <a:latin typeface="+mn-lt"/>
                          <a:ea typeface="Roboto" panose="02000000000000000000" pitchFamily="2" charset="0"/>
                        </a:rPr>
                        <a:t>Conjunto</a:t>
                      </a:r>
                    </a:p>
                  </a:txBody>
                  <a:tcPr>
                    <a:solidFill>
                      <a:schemeClr val="bg1">
                        <a:lumMod val="95000"/>
                      </a:schemeClr>
                    </a:solidFill>
                  </a:tcPr>
                </a:tc>
                <a:tc>
                  <a:txBody>
                    <a:bodyPr/>
                    <a:lstStyle/>
                    <a:p>
                      <a:r>
                        <a:rPr lang="es-CO" sz="2000" b="1" dirty="0">
                          <a:latin typeface="+mn-lt"/>
                          <a:ea typeface="Roboto" panose="02000000000000000000" pitchFamily="2" charset="0"/>
                        </a:rPr>
                        <a:t>Elemento</a:t>
                      </a:r>
                    </a:p>
                  </a:txBody>
                  <a:tcPr>
                    <a:solidFill>
                      <a:schemeClr val="bg1">
                        <a:lumMod val="95000"/>
                      </a:schemeClr>
                    </a:solidFill>
                  </a:tcPr>
                </a:tc>
                <a:extLst>
                  <a:ext uri="{0D108BD9-81ED-4DB2-BD59-A6C34878D82A}">
                    <a16:rowId xmlns:a16="http://schemas.microsoft.com/office/drawing/2014/main" val="3873507432"/>
                  </a:ext>
                </a:extLst>
              </a:tr>
              <a:tr h="243775">
                <a:tc>
                  <a:txBody>
                    <a:bodyPr/>
                    <a:lstStyle/>
                    <a:p>
                      <a:r>
                        <a:rPr lang="es-CO" sz="2000" dirty="0">
                          <a:latin typeface="+mn-lt"/>
                          <a:ea typeface="Roboto" panose="02000000000000000000" pitchFamily="2" charset="0"/>
                        </a:rPr>
                        <a:t>Los Simpson</a:t>
                      </a:r>
                    </a:p>
                  </a:txBody>
                  <a:tcPr/>
                </a:tc>
                <a:tc>
                  <a:txBody>
                    <a:bodyPr/>
                    <a:lstStyle/>
                    <a:p>
                      <a:pPr lvl="0" algn="l"/>
                      <a:r>
                        <a:rPr lang="es-CO" sz="2000" dirty="0">
                          <a:latin typeface="+mn-lt"/>
                          <a:ea typeface="Roboto" panose="02000000000000000000" pitchFamily="2" charset="0"/>
                        </a:rPr>
                        <a:t>Familia Simpson: </a:t>
                      </a:r>
                    </a:p>
                    <a:p>
                      <a:pPr lvl="1" algn="l"/>
                      <a:endParaRPr lang="es-CO" sz="2000" dirty="0">
                        <a:latin typeface="Roboto" panose="02000000000000000000" pitchFamily="2" charset="0"/>
                        <a:ea typeface="Roboto" panose="02000000000000000000" pitchFamily="2" charset="0"/>
                      </a:endParaRPr>
                    </a:p>
                    <a:p>
                      <a:pPr lvl="0" algn="l"/>
                      <a:r>
                        <a:rPr lang="es-CO" sz="1800" dirty="0">
                          <a:latin typeface="Consolas" panose="020B0609020204030204" pitchFamily="49" charset="0"/>
                          <a:ea typeface="Roboto" panose="02000000000000000000" pitchFamily="2" charset="0"/>
                        </a:rPr>
                        <a:t>Simpsons = {Homero, Marge, Bart, Lisa, Maggie}</a:t>
                      </a:r>
                    </a:p>
                  </a:txBody>
                  <a:tcPr/>
                </a:tc>
                <a:tc>
                  <a:txBody>
                    <a:bodyPr/>
                    <a:lstStyle/>
                    <a:p>
                      <a:r>
                        <a:rPr lang="es-CO" sz="1800" dirty="0">
                          <a:latin typeface="Consolas" panose="020B0609020204030204" pitchFamily="49" charset="0"/>
                          <a:ea typeface="Roboto" panose="02000000000000000000" pitchFamily="2" charset="0"/>
                        </a:rPr>
                        <a:t>Maggie</a:t>
                      </a:r>
                    </a:p>
                  </a:txBody>
                  <a:tcPr/>
                </a:tc>
                <a:extLst>
                  <a:ext uri="{0D108BD9-81ED-4DB2-BD59-A6C34878D82A}">
                    <a16:rowId xmlns:a16="http://schemas.microsoft.com/office/drawing/2014/main" val="4259179385"/>
                  </a:ext>
                </a:extLst>
              </a:tr>
              <a:tr h="243775">
                <a:tc>
                  <a:txBody>
                    <a:bodyPr/>
                    <a:lstStyle/>
                    <a:p>
                      <a:r>
                        <a:rPr lang="es-CO" sz="2000" dirty="0">
                          <a:latin typeface="+mn-lt"/>
                          <a:ea typeface="Roboto" panose="02000000000000000000" pitchFamily="2" charset="0"/>
                        </a:rPr>
                        <a:t>Los Transformers</a:t>
                      </a:r>
                    </a:p>
                  </a:txBody>
                  <a:tcPr/>
                </a:tc>
                <a:tc>
                  <a:txBody>
                    <a:bodyPr/>
                    <a:lstStyle/>
                    <a:p>
                      <a:pPr lvl="0" algn="l"/>
                      <a:r>
                        <a:rPr lang="es-CO" sz="2000" dirty="0">
                          <a:latin typeface="+mn-lt"/>
                          <a:ea typeface="Roboto" panose="02000000000000000000" pitchFamily="2" charset="0"/>
                        </a:rPr>
                        <a:t>Autobots:</a:t>
                      </a:r>
                    </a:p>
                    <a:p>
                      <a:pPr lvl="1" algn="l"/>
                      <a:endParaRPr lang="es-CO" sz="2000" dirty="0">
                        <a:latin typeface="Roboto" panose="02000000000000000000" pitchFamily="2" charset="0"/>
                        <a:ea typeface="Roboto" panose="02000000000000000000" pitchFamily="2" charset="0"/>
                      </a:endParaRPr>
                    </a:p>
                    <a:p>
                      <a:pPr lvl="0" algn="l"/>
                      <a:r>
                        <a:rPr lang="es-CO" sz="2000" dirty="0">
                          <a:latin typeface="Consolas" panose="020B0609020204030204" pitchFamily="49" charset="0"/>
                          <a:ea typeface="Roboto" panose="02000000000000000000" pitchFamily="2" charset="0"/>
                        </a:rPr>
                        <a:t>Autobots = {Optimus, Bumblebee, Ratchet,...}</a:t>
                      </a:r>
                    </a:p>
                  </a:txBody>
                  <a:tcPr/>
                </a:tc>
                <a:tc>
                  <a:txBody>
                    <a:bodyPr/>
                    <a:lstStyle/>
                    <a:p>
                      <a:r>
                        <a:rPr lang="es-CO" sz="1800" dirty="0">
                          <a:latin typeface="Consolas" panose="020B0609020204030204" pitchFamily="49" charset="0"/>
                          <a:ea typeface="Roboto" panose="02000000000000000000" pitchFamily="2" charset="0"/>
                        </a:rPr>
                        <a:t>Optimus</a:t>
                      </a:r>
                    </a:p>
                  </a:txBody>
                  <a:tcPr/>
                </a:tc>
                <a:extLst>
                  <a:ext uri="{0D108BD9-81ED-4DB2-BD59-A6C34878D82A}">
                    <a16:rowId xmlns:a16="http://schemas.microsoft.com/office/drawing/2014/main" val="1078799334"/>
                  </a:ext>
                </a:extLst>
              </a:tr>
              <a:tr h="0">
                <a:tc>
                  <a:txBody>
                    <a:bodyPr/>
                    <a:lstStyle/>
                    <a:p>
                      <a:r>
                        <a:rPr lang="es-CO" sz="2000" dirty="0">
                          <a:latin typeface="+mn-lt"/>
                          <a:ea typeface="Roboto" panose="02000000000000000000" pitchFamily="2" charset="0"/>
                        </a:rPr>
                        <a:t>Los Power Rangers</a:t>
                      </a:r>
                    </a:p>
                  </a:txBody>
                  <a:tcPr/>
                </a:tc>
                <a:tc>
                  <a:txBody>
                    <a:bodyPr/>
                    <a:lstStyle/>
                    <a:p>
                      <a:pPr lvl="0" algn="l"/>
                      <a:r>
                        <a:rPr lang="es-CO" sz="2000" dirty="0">
                          <a:latin typeface="+mn-lt"/>
                          <a:ea typeface="Roboto" panose="02000000000000000000" pitchFamily="2" charset="0"/>
                        </a:rPr>
                        <a:t>Power Rangers:</a:t>
                      </a:r>
                    </a:p>
                    <a:p>
                      <a:pPr lvl="1" algn="l"/>
                      <a:endParaRPr lang="es-CO" sz="2000" dirty="0">
                        <a:latin typeface="Roboto" panose="02000000000000000000" pitchFamily="2" charset="0"/>
                        <a:ea typeface="Roboto" panose="02000000000000000000" pitchFamily="2" charset="0"/>
                      </a:endParaRPr>
                    </a:p>
                    <a:p>
                      <a:pPr lvl="0" algn="l"/>
                      <a:r>
                        <a:rPr lang="en-US" sz="2000" b="0" i="0" u="none" strike="noStrike" cap="none" dirty="0">
                          <a:solidFill>
                            <a:srgbClr val="000000"/>
                          </a:solidFill>
                          <a:effectLst/>
                          <a:latin typeface="Consolas" panose="020B0609020204030204" pitchFamily="49" charset="0"/>
                          <a:ea typeface="Roboto" panose="02000000000000000000" pitchFamily="2" charset="0"/>
                          <a:cs typeface="Arial"/>
                          <a:sym typeface="Arial"/>
                        </a:rPr>
                        <a:t>PowerRangers = {Jason, Trini, Zack, Kimberly, Billy y Tommy}</a:t>
                      </a:r>
                      <a:endParaRPr lang="es-CO" sz="2000" dirty="0">
                        <a:latin typeface="Consolas" panose="020B0609020204030204" pitchFamily="49" charset="0"/>
                        <a:ea typeface="Roboto" panose="02000000000000000000" pitchFamily="2" charset="0"/>
                      </a:endParaRPr>
                    </a:p>
                  </a:txBody>
                  <a:tcPr/>
                </a:tc>
                <a:tc>
                  <a:txBody>
                    <a:bodyPr/>
                    <a:lstStyle/>
                    <a:p>
                      <a:r>
                        <a:rPr lang="es-CO" sz="1800" dirty="0">
                          <a:latin typeface="Consolas" panose="020B0609020204030204" pitchFamily="49" charset="0"/>
                          <a:ea typeface="Roboto" panose="02000000000000000000" pitchFamily="2" charset="0"/>
                        </a:rPr>
                        <a:t>Zack</a:t>
                      </a:r>
                    </a:p>
                  </a:txBody>
                  <a:tcPr/>
                </a:tc>
                <a:extLst>
                  <a:ext uri="{0D108BD9-81ED-4DB2-BD59-A6C34878D82A}">
                    <a16:rowId xmlns:a16="http://schemas.microsoft.com/office/drawing/2014/main" val="2217682141"/>
                  </a:ext>
                </a:extLst>
              </a:tr>
            </a:tbl>
          </a:graphicData>
        </a:graphic>
      </p:graphicFrame>
      <p:sp>
        <p:nvSpPr>
          <p:cNvPr id="8" name="Título 2">
            <a:extLst>
              <a:ext uri="{FF2B5EF4-FFF2-40B4-BE49-F238E27FC236}">
                <a16:creationId xmlns:a16="http://schemas.microsoft.com/office/drawing/2014/main" id="{338EAB27-A859-4998-B477-BC8B10F8FAC9}"/>
              </a:ext>
            </a:extLst>
          </p:cNvPr>
          <p:cNvSpPr txBox="1">
            <a:spLocks/>
          </p:cNvSpPr>
          <p:nvPr/>
        </p:nvSpPr>
        <p:spPr>
          <a:xfrm>
            <a:off x="294967" y="70372"/>
            <a:ext cx="9028921" cy="949500"/>
          </a:xfrm>
          <a:prstGeom prst="rect">
            <a:avLst/>
          </a:prstGeom>
          <a:noFill/>
          <a:ln>
            <a:noFill/>
          </a:ln>
        </p:spPr>
        <p:txBody>
          <a:bodyPr spcFirstLastPara="1" vert="horz" wrap="square" lIns="91425" tIns="45700" rIns="91425" bIns="45700" rtlCol="0" anchor="ctr" anchorCtr="0">
            <a:noAutofit/>
          </a:bodyPr>
          <a:lstStyle>
            <a:lvl1pPr marL="0" marR="0" lvl="0" indent="0" algn="l" defTabSz="914400" rtl="0" eaLnBrk="1" latinLnBrk="0" hangingPunct="1">
              <a:lnSpc>
                <a:spcPct val="90000"/>
              </a:lnSpc>
              <a:spcBef>
                <a:spcPts val="0"/>
              </a:spcBef>
              <a:spcAft>
                <a:spcPts val="0"/>
              </a:spcAft>
              <a:buNone/>
              <a:defRPr sz="4400" b="1" kern="1200">
                <a:solidFill>
                  <a:srgbClr val="701E5C"/>
                </a:solidFill>
                <a:latin typeface="Roboto Slab"/>
                <a:ea typeface="Roboto Slab"/>
                <a:cs typeface="Roboto Slab"/>
                <a:sym typeface="Roboto Slab"/>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s-CO" dirty="0">
                <a:solidFill>
                  <a:schemeClr val="tx1"/>
                </a:solidFill>
                <a:latin typeface="+mj-lt"/>
              </a:rPr>
              <a:t>Introducción - Contextualización</a:t>
            </a:r>
          </a:p>
        </p:txBody>
      </p:sp>
      <p:pic>
        <p:nvPicPr>
          <p:cNvPr id="11" name="Imagen 10">
            <a:extLst>
              <a:ext uri="{FF2B5EF4-FFF2-40B4-BE49-F238E27FC236}">
                <a16:creationId xmlns:a16="http://schemas.microsoft.com/office/drawing/2014/main" id="{575BD20C-79D9-4BAD-B990-252B8657315F}"/>
              </a:ext>
            </a:extLst>
          </p:cNvPr>
          <p:cNvPicPr>
            <a:picLocks noChangeAspect="1"/>
          </p:cNvPicPr>
          <p:nvPr/>
        </p:nvPicPr>
        <p:blipFill>
          <a:blip r:embed="rId3"/>
          <a:stretch>
            <a:fillRect/>
          </a:stretch>
        </p:blipFill>
        <p:spPr>
          <a:xfrm>
            <a:off x="8825648" y="5023760"/>
            <a:ext cx="2058660" cy="1665828"/>
          </a:xfrm>
          <a:prstGeom prst="rect">
            <a:avLst/>
          </a:prstGeom>
        </p:spPr>
      </p:pic>
      <p:pic>
        <p:nvPicPr>
          <p:cNvPr id="12" name="Picture 2" descr="Transformers G1 - Ver la serie de tv online">
            <a:extLst>
              <a:ext uri="{FF2B5EF4-FFF2-40B4-BE49-F238E27FC236}">
                <a16:creationId xmlns:a16="http://schemas.microsoft.com/office/drawing/2014/main" id="{85C13858-301C-4101-99E3-EAD69564F14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07897" y="2279852"/>
            <a:ext cx="1726937" cy="2462980"/>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6" descr="Los personajes de Los Simpson, ordenados de peor a mejor | GQ España">
            <a:extLst>
              <a:ext uri="{FF2B5EF4-FFF2-40B4-BE49-F238E27FC236}">
                <a16:creationId xmlns:a16="http://schemas.microsoft.com/office/drawing/2014/main" id="{EB42F743-3729-4272-A174-44A5BC85FDB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48650" y="446114"/>
            <a:ext cx="2696111" cy="15165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328469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10" name="CuadroTexto 9">
            <a:extLst>
              <a:ext uri="{FF2B5EF4-FFF2-40B4-BE49-F238E27FC236}">
                <a16:creationId xmlns:a16="http://schemas.microsoft.com/office/drawing/2014/main" id="{A19C6E9F-BCCF-4FD4-8EC3-574D66199786}"/>
              </a:ext>
            </a:extLst>
          </p:cNvPr>
          <p:cNvSpPr txBox="1"/>
          <p:nvPr/>
        </p:nvSpPr>
        <p:spPr>
          <a:xfrm>
            <a:off x="294967" y="859151"/>
            <a:ext cx="11665975" cy="492443"/>
          </a:xfrm>
          <a:prstGeom prst="rect">
            <a:avLst/>
          </a:prstGeom>
          <a:noFill/>
        </p:spPr>
        <p:txBody>
          <a:bodyPr wrap="square" rtlCol="0">
            <a:spAutoFit/>
          </a:bodyPr>
          <a:lstStyle/>
          <a:p>
            <a:r>
              <a:rPr lang="es-MX" sz="2600" b="1" dirty="0">
                <a:ea typeface="Roboto" panose="02000000000000000000" pitchFamily="2" charset="0"/>
              </a:rPr>
              <a:t>Contextualización</a:t>
            </a:r>
          </a:p>
        </p:txBody>
      </p:sp>
      <mc:AlternateContent xmlns:mc="http://schemas.openxmlformats.org/markup-compatibility/2006" xmlns:a14="http://schemas.microsoft.com/office/drawing/2010/main">
        <mc:Choice Requires="a14">
          <p:graphicFrame>
            <p:nvGraphicFramePr>
              <p:cNvPr id="9" name="Tabla 4">
                <a:extLst>
                  <a:ext uri="{FF2B5EF4-FFF2-40B4-BE49-F238E27FC236}">
                    <a16:creationId xmlns:a16="http://schemas.microsoft.com/office/drawing/2014/main" id="{29115B81-55A3-4CB2-B3DE-76B34CD947BC}"/>
                  </a:ext>
                </a:extLst>
              </p:cNvPr>
              <p:cNvGraphicFramePr>
                <a:graphicFrameLocks noGrp="1"/>
              </p:cNvGraphicFramePr>
              <p:nvPr>
                <p:extLst>
                  <p:ext uri="{D42A27DB-BD31-4B8C-83A1-F6EECF244321}">
                    <p14:modId xmlns:p14="http://schemas.microsoft.com/office/powerpoint/2010/main" val="2475096630"/>
                  </p:ext>
                </p:extLst>
              </p:nvPr>
            </p:nvGraphicFramePr>
            <p:xfrm>
              <a:off x="412959" y="1335074"/>
              <a:ext cx="11061286" cy="2407920"/>
            </p:xfrm>
            <a:graphic>
              <a:graphicData uri="http://schemas.openxmlformats.org/drawingml/2006/table">
                <a:tbl>
                  <a:tblPr firstRow="1" bandRow="1">
                    <a:tableStyleId>{AD6A3598-7CB8-4345-8D95-17CE05F158A0}</a:tableStyleId>
                  </a:tblPr>
                  <a:tblGrid>
                    <a:gridCol w="2935262">
                      <a:extLst>
                        <a:ext uri="{9D8B030D-6E8A-4147-A177-3AD203B41FA5}">
                          <a16:colId xmlns:a16="http://schemas.microsoft.com/office/drawing/2014/main" val="3517824357"/>
                        </a:ext>
                      </a:extLst>
                    </a:gridCol>
                    <a:gridCol w="5693922">
                      <a:extLst>
                        <a:ext uri="{9D8B030D-6E8A-4147-A177-3AD203B41FA5}">
                          <a16:colId xmlns:a16="http://schemas.microsoft.com/office/drawing/2014/main" val="2212776800"/>
                        </a:ext>
                      </a:extLst>
                    </a:gridCol>
                    <a:gridCol w="2432102">
                      <a:extLst>
                        <a:ext uri="{9D8B030D-6E8A-4147-A177-3AD203B41FA5}">
                          <a16:colId xmlns:a16="http://schemas.microsoft.com/office/drawing/2014/main" val="3724117940"/>
                        </a:ext>
                      </a:extLst>
                    </a:gridCol>
                  </a:tblGrid>
                  <a:tr h="147558">
                    <a:tc>
                      <a:txBody>
                        <a:bodyPr/>
                        <a:lstStyle/>
                        <a:p>
                          <a:r>
                            <a:rPr lang="es-CO" sz="2000" b="1" dirty="0">
                              <a:latin typeface="+mn-lt"/>
                              <a:ea typeface="Roboto" panose="02000000000000000000" pitchFamily="2" charset="0"/>
                            </a:rPr>
                            <a:t>Contexto</a:t>
                          </a:r>
                        </a:p>
                      </a:txBody>
                      <a:tcPr>
                        <a:solidFill>
                          <a:schemeClr val="bg1">
                            <a:lumMod val="95000"/>
                          </a:schemeClr>
                        </a:solidFill>
                      </a:tcPr>
                    </a:tc>
                    <a:tc>
                      <a:txBody>
                        <a:bodyPr/>
                        <a:lstStyle/>
                        <a:p>
                          <a:r>
                            <a:rPr lang="es-CO" sz="2000" b="1" dirty="0">
                              <a:latin typeface="+mn-lt"/>
                              <a:ea typeface="Roboto" panose="02000000000000000000" pitchFamily="2" charset="0"/>
                            </a:rPr>
                            <a:t>Conjunto</a:t>
                          </a:r>
                        </a:p>
                      </a:txBody>
                      <a:tcPr>
                        <a:solidFill>
                          <a:schemeClr val="bg1">
                            <a:lumMod val="95000"/>
                          </a:schemeClr>
                        </a:solidFill>
                      </a:tcPr>
                    </a:tc>
                    <a:tc>
                      <a:txBody>
                        <a:bodyPr/>
                        <a:lstStyle/>
                        <a:p>
                          <a:r>
                            <a:rPr lang="es-CO" sz="2000" b="1" dirty="0">
                              <a:latin typeface="+mn-lt"/>
                              <a:ea typeface="Roboto" panose="02000000000000000000" pitchFamily="2" charset="0"/>
                            </a:rPr>
                            <a:t>Elemento</a:t>
                          </a:r>
                        </a:p>
                      </a:txBody>
                      <a:tcPr>
                        <a:solidFill>
                          <a:schemeClr val="bg1">
                            <a:lumMod val="95000"/>
                          </a:schemeClr>
                        </a:solidFill>
                      </a:tcPr>
                    </a:tc>
                    <a:extLst>
                      <a:ext uri="{0D108BD9-81ED-4DB2-BD59-A6C34878D82A}">
                        <a16:rowId xmlns:a16="http://schemas.microsoft.com/office/drawing/2014/main" val="3873507432"/>
                      </a:ext>
                    </a:extLst>
                  </a:tr>
                  <a:tr h="0">
                    <a:tc>
                      <a:txBody>
                        <a:bodyPr/>
                        <a:lstStyle/>
                        <a:p>
                          <a:r>
                            <a:rPr lang="es-CO" sz="2000" dirty="0">
                              <a:latin typeface="+mn-lt"/>
                              <a:ea typeface="Roboto" panose="02000000000000000000" pitchFamily="2" charset="0"/>
                            </a:rPr>
                            <a:t>Los números reales</a:t>
                          </a:r>
                        </a:p>
                      </a:txBody>
                      <a:tcPr/>
                    </a:tc>
                    <a:tc>
                      <a:txBody>
                        <a:bodyPr/>
                        <a:lstStyle/>
                        <a:p>
                          <a:pPr marL="0" marR="0" lvl="1"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2000" dirty="0">
                              <a:latin typeface="+mn-lt"/>
                              <a:ea typeface="Roboto" panose="02000000000000000000" pitchFamily="2" charset="0"/>
                            </a:rPr>
                            <a:t>Numeros enteros:</a:t>
                          </a:r>
                        </a:p>
                        <a:p>
                          <a:pPr marL="0" marR="0" lvl="1"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2000" dirty="0">
                            <a:latin typeface="Roboto" panose="02000000000000000000" pitchFamily="2" charset="0"/>
                            <a:ea typeface="Roboto" panose="02000000000000000000" pitchFamily="2" charset="0"/>
                          </a:endParaRPr>
                        </a:p>
                        <a:p>
                          <a:pPr marL="0" marR="0" lvl="1"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CO" sz="2000" i="1" smtClean="0">
                                    <a:latin typeface="Cambria Math" panose="02040503050406030204" pitchFamily="18" charset="0"/>
                                    <a:ea typeface="Cambria Math" panose="02040503050406030204" pitchFamily="18" charset="0"/>
                                  </a:rPr>
                                  <m:t>ℤ</m:t>
                                </m:r>
                                <m:r>
                                  <a:rPr lang="es-MX" sz="2000" b="0" i="1" smtClean="0">
                                    <a:latin typeface="Cambria Math" panose="02040503050406030204" pitchFamily="18" charset="0"/>
                                    <a:ea typeface="Cambria Math" panose="02040503050406030204" pitchFamily="18" charset="0"/>
                                  </a:rPr>
                                  <m:t>=</m:t>
                                </m:r>
                                <m:d>
                                  <m:dPr>
                                    <m:begChr m:val="{"/>
                                    <m:endChr m:val="}"/>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 −2,−1,0,1,2,…</m:t>
                                    </m:r>
                                  </m:e>
                                </m:d>
                              </m:oMath>
                            </m:oMathPara>
                          </a14:m>
                          <a:endParaRPr lang="es-CO" sz="2000" dirty="0">
                            <a:latin typeface="Consolas" panose="020B0609020204030204" pitchFamily="49" charset="0"/>
                            <a:ea typeface="Roboto" panose="02000000000000000000" pitchFamily="2" charset="0"/>
                          </a:endParaRPr>
                        </a:p>
                      </a:txBody>
                      <a:tcPr/>
                    </a:tc>
                    <a:tc>
                      <a:txBody>
                        <a:bodyPr/>
                        <a:lstStyle/>
                        <a:p>
                          <a:r>
                            <a:rPr lang="es-CO" sz="2000" dirty="0">
                              <a:latin typeface="Consolas" panose="020B0609020204030204" pitchFamily="49" charset="0"/>
                              <a:ea typeface="Roboto" panose="02000000000000000000" pitchFamily="2" charset="0"/>
                            </a:rPr>
                            <a:t>0</a:t>
                          </a:r>
                        </a:p>
                      </a:txBody>
                      <a:tcPr/>
                    </a:tc>
                    <a:extLst>
                      <a:ext uri="{0D108BD9-81ED-4DB2-BD59-A6C34878D82A}">
                        <a16:rowId xmlns:a16="http://schemas.microsoft.com/office/drawing/2014/main" val="4231602208"/>
                      </a:ext>
                    </a:extLst>
                  </a:tr>
                  <a:tr h="0">
                    <a:tc>
                      <a:txBody>
                        <a:bodyPr/>
                        <a:lstStyle/>
                        <a:p>
                          <a:r>
                            <a:rPr lang="es-CO" sz="2000" dirty="0">
                              <a:latin typeface="+mn-lt"/>
                              <a:ea typeface="Roboto" panose="02000000000000000000" pitchFamily="2" charset="0"/>
                            </a:rPr>
                            <a:t>Las onomatopeyas</a:t>
                          </a:r>
                        </a:p>
                      </a:txBody>
                      <a:tcPr/>
                    </a:tc>
                    <a:tc>
                      <a:txBody>
                        <a:bodyPr/>
                        <a:lstStyle/>
                        <a:p>
                          <a:pPr marL="0" marR="0" lvl="1"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2000" dirty="0">
                              <a:latin typeface="+mn-lt"/>
                              <a:ea typeface="Roboto" panose="02000000000000000000" pitchFamily="2" charset="0"/>
                            </a:rPr>
                            <a:t>Onomatopeyas de Batman:</a:t>
                          </a:r>
                        </a:p>
                        <a:p>
                          <a:pPr marL="0" marR="0" lvl="1"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2000" dirty="0">
                            <a:latin typeface="Roboto" panose="02000000000000000000" pitchFamily="2" charset="0"/>
                            <a:ea typeface="Roboto" panose="02000000000000000000" pitchFamily="2" charset="0"/>
                          </a:endParaRPr>
                        </a:p>
                        <a:p>
                          <a:pPr marL="0" marR="0" lvl="1"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2000" dirty="0">
                              <a:latin typeface="Consolas" panose="020B0609020204030204" pitchFamily="49" charset="0"/>
                              <a:ea typeface="Roboto" panose="02000000000000000000" pitchFamily="2" charset="0"/>
                            </a:rPr>
                            <a:t>Golpes = {bang!, pow!, sock!,...}</a:t>
                          </a:r>
                        </a:p>
                      </a:txBody>
                      <a:tcPr/>
                    </a:tc>
                    <a:tc>
                      <a:txBody>
                        <a:bodyPr/>
                        <a:lstStyle/>
                        <a:p>
                          <a:r>
                            <a:rPr lang="es-CO" sz="2000" dirty="0">
                              <a:latin typeface="Consolas" panose="020B0609020204030204" pitchFamily="49" charset="0"/>
                              <a:ea typeface="Roboto" panose="02000000000000000000" pitchFamily="2" charset="0"/>
                            </a:rPr>
                            <a:t>bang!</a:t>
                          </a:r>
                        </a:p>
                      </a:txBody>
                      <a:tcPr/>
                    </a:tc>
                    <a:extLst>
                      <a:ext uri="{0D108BD9-81ED-4DB2-BD59-A6C34878D82A}">
                        <a16:rowId xmlns:a16="http://schemas.microsoft.com/office/drawing/2014/main" val="4088198328"/>
                      </a:ext>
                    </a:extLst>
                  </a:tr>
                </a:tbl>
              </a:graphicData>
            </a:graphic>
          </p:graphicFrame>
        </mc:Choice>
        <mc:Fallback xmlns="">
          <p:graphicFrame>
            <p:nvGraphicFramePr>
              <p:cNvPr id="9" name="Tabla 4">
                <a:extLst>
                  <a:ext uri="{FF2B5EF4-FFF2-40B4-BE49-F238E27FC236}">
                    <a16:creationId xmlns:a16="http://schemas.microsoft.com/office/drawing/2014/main" id="{29115B81-55A3-4CB2-B3DE-76B34CD947BC}"/>
                  </a:ext>
                </a:extLst>
              </p:cNvPr>
              <p:cNvGraphicFramePr>
                <a:graphicFrameLocks noGrp="1"/>
              </p:cNvGraphicFramePr>
              <p:nvPr>
                <p:extLst>
                  <p:ext uri="{D42A27DB-BD31-4B8C-83A1-F6EECF244321}">
                    <p14:modId xmlns:p14="http://schemas.microsoft.com/office/powerpoint/2010/main" val="2475096630"/>
                  </p:ext>
                </p:extLst>
              </p:nvPr>
            </p:nvGraphicFramePr>
            <p:xfrm>
              <a:off x="412959" y="1335074"/>
              <a:ext cx="11061286" cy="2407920"/>
            </p:xfrm>
            <a:graphic>
              <a:graphicData uri="http://schemas.openxmlformats.org/drawingml/2006/table">
                <a:tbl>
                  <a:tblPr firstRow="1" bandRow="1">
                    <a:tableStyleId>{AD6A3598-7CB8-4345-8D95-17CE05F158A0}</a:tableStyleId>
                  </a:tblPr>
                  <a:tblGrid>
                    <a:gridCol w="2935262">
                      <a:extLst>
                        <a:ext uri="{9D8B030D-6E8A-4147-A177-3AD203B41FA5}">
                          <a16:colId xmlns:a16="http://schemas.microsoft.com/office/drawing/2014/main" val="3517824357"/>
                        </a:ext>
                      </a:extLst>
                    </a:gridCol>
                    <a:gridCol w="5693922">
                      <a:extLst>
                        <a:ext uri="{9D8B030D-6E8A-4147-A177-3AD203B41FA5}">
                          <a16:colId xmlns:a16="http://schemas.microsoft.com/office/drawing/2014/main" val="2212776800"/>
                        </a:ext>
                      </a:extLst>
                    </a:gridCol>
                    <a:gridCol w="2432102">
                      <a:extLst>
                        <a:ext uri="{9D8B030D-6E8A-4147-A177-3AD203B41FA5}">
                          <a16:colId xmlns:a16="http://schemas.microsoft.com/office/drawing/2014/main" val="3724117940"/>
                        </a:ext>
                      </a:extLst>
                    </a:gridCol>
                  </a:tblGrid>
                  <a:tr h="396240">
                    <a:tc>
                      <a:txBody>
                        <a:bodyPr/>
                        <a:lstStyle/>
                        <a:p>
                          <a:r>
                            <a:rPr lang="es-CO" sz="2000" b="1" dirty="0">
                              <a:latin typeface="+mn-lt"/>
                              <a:ea typeface="Roboto" panose="02000000000000000000" pitchFamily="2" charset="0"/>
                            </a:rPr>
                            <a:t>Contexto</a:t>
                          </a:r>
                        </a:p>
                      </a:txBody>
                      <a:tcPr>
                        <a:solidFill>
                          <a:schemeClr val="bg1">
                            <a:lumMod val="95000"/>
                          </a:schemeClr>
                        </a:solidFill>
                      </a:tcPr>
                    </a:tc>
                    <a:tc>
                      <a:txBody>
                        <a:bodyPr/>
                        <a:lstStyle/>
                        <a:p>
                          <a:r>
                            <a:rPr lang="es-CO" sz="2000" b="1" dirty="0">
                              <a:latin typeface="+mn-lt"/>
                              <a:ea typeface="Roboto" panose="02000000000000000000" pitchFamily="2" charset="0"/>
                            </a:rPr>
                            <a:t>Conjunto</a:t>
                          </a:r>
                        </a:p>
                      </a:txBody>
                      <a:tcPr>
                        <a:solidFill>
                          <a:schemeClr val="bg1">
                            <a:lumMod val="95000"/>
                          </a:schemeClr>
                        </a:solidFill>
                      </a:tcPr>
                    </a:tc>
                    <a:tc>
                      <a:txBody>
                        <a:bodyPr/>
                        <a:lstStyle/>
                        <a:p>
                          <a:r>
                            <a:rPr lang="es-CO" sz="2000" b="1" dirty="0">
                              <a:latin typeface="+mn-lt"/>
                              <a:ea typeface="Roboto" panose="02000000000000000000" pitchFamily="2" charset="0"/>
                            </a:rPr>
                            <a:t>Elemento</a:t>
                          </a:r>
                        </a:p>
                      </a:txBody>
                      <a:tcPr>
                        <a:solidFill>
                          <a:schemeClr val="bg1">
                            <a:lumMod val="95000"/>
                          </a:schemeClr>
                        </a:solidFill>
                      </a:tcPr>
                    </a:tc>
                    <a:extLst>
                      <a:ext uri="{0D108BD9-81ED-4DB2-BD59-A6C34878D82A}">
                        <a16:rowId xmlns:a16="http://schemas.microsoft.com/office/drawing/2014/main" val="3873507432"/>
                      </a:ext>
                    </a:extLst>
                  </a:tr>
                  <a:tr h="1005840">
                    <a:tc>
                      <a:txBody>
                        <a:bodyPr/>
                        <a:lstStyle/>
                        <a:p>
                          <a:r>
                            <a:rPr lang="es-CO" sz="2000" dirty="0">
                              <a:latin typeface="+mn-lt"/>
                              <a:ea typeface="Roboto" panose="02000000000000000000" pitchFamily="2" charset="0"/>
                            </a:rPr>
                            <a:t>Los números reales</a:t>
                          </a:r>
                        </a:p>
                      </a:txBody>
                      <a:tcPr/>
                    </a:tc>
                    <a:tc>
                      <a:txBody>
                        <a:bodyPr/>
                        <a:lstStyle/>
                        <a:p>
                          <a:endParaRPr lang="es-CO"/>
                        </a:p>
                      </a:txBody>
                      <a:tcPr>
                        <a:blipFill>
                          <a:blip r:embed="rId3"/>
                          <a:stretch>
                            <a:fillRect l="-51658" t="-42169" r="-42781" b="-109639"/>
                          </a:stretch>
                        </a:blipFill>
                      </a:tcPr>
                    </a:tc>
                    <a:tc>
                      <a:txBody>
                        <a:bodyPr/>
                        <a:lstStyle/>
                        <a:p>
                          <a:r>
                            <a:rPr lang="es-CO" sz="2000" dirty="0">
                              <a:latin typeface="Consolas" panose="020B0609020204030204" pitchFamily="49" charset="0"/>
                              <a:ea typeface="Roboto" panose="02000000000000000000" pitchFamily="2" charset="0"/>
                            </a:rPr>
                            <a:t>0</a:t>
                          </a:r>
                        </a:p>
                      </a:txBody>
                      <a:tcPr/>
                    </a:tc>
                    <a:extLst>
                      <a:ext uri="{0D108BD9-81ED-4DB2-BD59-A6C34878D82A}">
                        <a16:rowId xmlns:a16="http://schemas.microsoft.com/office/drawing/2014/main" val="4231602208"/>
                      </a:ext>
                    </a:extLst>
                  </a:tr>
                  <a:tr h="1005840">
                    <a:tc>
                      <a:txBody>
                        <a:bodyPr/>
                        <a:lstStyle/>
                        <a:p>
                          <a:r>
                            <a:rPr lang="es-CO" sz="2000" dirty="0">
                              <a:latin typeface="+mn-lt"/>
                              <a:ea typeface="Roboto" panose="02000000000000000000" pitchFamily="2" charset="0"/>
                            </a:rPr>
                            <a:t>Las onomatopeyas</a:t>
                          </a:r>
                        </a:p>
                      </a:txBody>
                      <a:tcPr/>
                    </a:tc>
                    <a:tc>
                      <a:txBody>
                        <a:bodyPr/>
                        <a:lstStyle/>
                        <a:p>
                          <a:pPr marL="0" marR="0" lvl="1"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2000" dirty="0">
                              <a:latin typeface="+mn-lt"/>
                              <a:ea typeface="Roboto" panose="02000000000000000000" pitchFamily="2" charset="0"/>
                            </a:rPr>
                            <a:t>Onomatopeyas de Batman:</a:t>
                          </a:r>
                        </a:p>
                        <a:p>
                          <a:pPr marL="0" marR="0" lvl="1"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2000" dirty="0">
                            <a:latin typeface="Roboto" panose="02000000000000000000" pitchFamily="2" charset="0"/>
                            <a:ea typeface="Roboto" panose="02000000000000000000" pitchFamily="2" charset="0"/>
                          </a:endParaRPr>
                        </a:p>
                        <a:p>
                          <a:pPr marL="0" marR="0" lvl="1"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2000" dirty="0">
                              <a:latin typeface="Consolas" panose="020B0609020204030204" pitchFamily="49" charset="0"/>
                              <a:ea typeface="Roboto" panose="02000000000000000000" pitchFamily="2" charset="0"/>
                            </a:rPr>
                            <a:t>Golpes = {bang!, pow!, sock!,...}</a:t>
                          </a:r>
                        </a:p>
                      </a:txBody>
                      <a:tcPr/>
                    </a:tc>
                    <a:tc>
                      <a:txBody>
                        <a:bodyPr/>
                        <a:lstStyle/>
                        <a:p>
                          <a:r>
                            <a:rPr lang="es-CO" sz="2000" dirty="0">
                              <a:latin typeface="Consolas" panose="020B0609020204030204" pitchFamily="49" charset="0"/>
                              <a:ea typeface="Roboto" panose="02000000000000000000" pitchFamily="2" charset="0"/>
                            </a:rPr>
                            <a:t>bang!</a:t>
                          </a:r>
                        </a:p>
                      </a:txBody>
                      <a:tcPr/>
                    </a:tc>
                    <a:extLst>
                      <a:ext uri="{0D108BD9-81ED-4DB2-BD59-A6C34878D82A}">
                        <a16:rowId xmlns:a16="http://schemas.microsoft.com/office/drawing/2014/main" val="4088198328"/>
                      </a:ext>
                    </a:extLst>
                  </a:tr>
                </a:tbl>
              </a:graphicData>
            </a:graphic>
          </p:graphicFrame>
        </mc:Fallback>
      </mc:AlternateContent>
      <p:sp>
        <p:nvSpPr>
          <p:cNvPr id="8" name="Título 2">
            <a:extLst>
              <a:ext uri="{FF2B5EF4-FFF2-40B4-BE49-F238E27FC236}">
                <a16:creationId xmlns:a16="http://schemas.microsoft.com/office/drawing/2014/main" id="{338EAB27-A859-4998-B477-BC8B10F8FAC9}"/>
              </a:ext>
            </a:extLst>
          </p:cNvPr>
          <p:cNvSpPr txBox="1">
            <a:spLocks/>
          </p:cNvSpPr>
          <p:nvPr/>
        </p:nvSpPr>
        <p:spPr>
          <a:xfrm>
            <a:off x="294967" y="70372"/>
            <a:ext cx="9028921" cy="949500"/>
          </a:xfrm>
          <a:prstGeom prst="rect">
            <a:avLst/>
          </a:prstGeom>
          <a:noFill/>
          <a:ln>
            <a:noFill/>
          </a:ln>
        </p:spPr>
        <p:txBody>
          <a:bodyPr spcFirstLastPara="1" vert="horz" wrap="square" lIns="91425" tIns="45700" rIns="91425" bIns="45700" rtlCol="0" anchor="ctr" anchorCtr="0">
            <a:noAutofit/>
          </a:bodyPr>
          <a:lstStyle>
            <a:lvl1pPr marL="0" marR="0" lvl="0" indent="0" algn="l" defTabSz="914400" rtl="0" eaLnBrk="1" latinLnBrk="0" hangingPunct="1">
              <a:lnSpc>
                <a:spcPct val="90000"/>
              </a:lnSpc>
              <a:spcBef>
                <a:spcPts val="0"/>
              </a:spcBef>
              <a:spcAft>
                <a:spcPts val="0"/>
              </a:spcAft>
              <a:buNone/>
              <a:defRPr sz="4400" b="1" kern="1200">
                <a:solidFill>
                  <a:srgbClr val="701E5C"/>
                </a:solidFill>
                <a:latin typeface="Roboto Slab"/>
                <a:ea typeface="Roboto Slab"/>
                <a:cs typeface="Roboto Slab"/>
                <a:sym typeface="Roboto Slab"/>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s-CO" dirty="0">
                <a:solidFill>
                  <a:schemeClr val="tx1"/>
                </a:solidFill>
                <a:latin typeface="+mj-lt"/>
              </a:rPr>
              <a:t>Introducción - Contextualización</a:t>
            </a:r>
          </a:p>
        </p:txBody>
      </p:sp>
      <p:pic>
        <p:nvPicPr>
          <p:cNvPr id="11" name="Picture 8" descr="Square.">
            <a:extLst>
              <a:ext uri="{FF2B5EF4-FFF2-40B4-BE49-F238E27FC236}">
                <a16:creationId xmlns:a16="http://schemas.microsoft.com/office/drawing/2014/main" id="{E82F7127-D85A-4904-A054-6C861A8EDA7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90735" y="4091238"/>
            <a:ext cx="2022293" cy="269639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6" descr="Los efectos de sonido más icónicos de los cómics Marvel y DC">
            <a:extLst>
              <a:ext uri="{FF2B5EF4-FFF2-40B4-BE49-F238E27FC236}">
                <a16:creationId xmlns:a16="http://schemas.microsoft.com/office/drawing/2014/main" id="{23277F35-F943-4F97-994A-1D95A045EFD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96016" y="4457054"/>
            <a:ext cx="3469042" cy="19246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12441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3" name="Título 2">
            <a:extLst>
              <a:ext uri="{FF2B5EF4-FFF2-40B4-BE49-F238E27FC236}">
                <a16:creationId xmlns:a16="http://schemas.microsoft.com/office/drawing/2014/main" id="{C98C59EC-F126-45E7-B7C1-9AB9A32ED14F}"/>
              </a:ext>
            </a:extLst>
          </p:cNvPr>
          <p:cNvSpPr>
            <a:spLocks noGrp="1"/>
          </p:cNvSpPr>
          <p:nvPr>
            <p:ph type="title"/>
          </p:nvPr>
        </p:nvSpPr>
        <p:spPr>
          <a:xfrm>
            <a:off x="486697" y="96038"/>
            <a:ext cx="10987548" cy="949500"/>
          </a:xfrm>
        </p:spPr>
        <p:txBody>
          <a:bodyPr/>
          <a:lstStyle/>
          <a:p>
            <a:r>
              <a:rPr lang="es-CO" dirty="0">
                <a:solidFill>
                  <a:schemeClr val="tx1"/>
                </a:solidFill>
                <a:latin typeface="+mj-lt"/>
              </a:rPr>
              <a:t>Introducción – El origen de los conjuntos</a:t>
            </a:r>
          </a:p>
        </p:txBody>
      </p:sp>
      <p:sp>
        <p:nvSpPr>
          <p:cNvPr id="10" name="CuadroTexto 9">
            <a:extLst>
              <a:ext uri="{FF2B5EF4-FFF2-40B4-BE49-F238E27FC236}">
                <a16:creationId xmlns:a16="http://schemas.microsoft.com/office/drawing/2014/main" id="{A19C6E9F-BCCF-4FD4-8EC3-574D66199786}"/>
              </a:ext>
            </a:extLst>
          </p:cNvPr>
          <p:cNvSpPr txBox="1"/>
          <p:nvPr/>
        </p:nvSpPr>
        <p:spPr>
          <a:xfrm>
            <a:off x="449826" y="1504337"/>
            <a:ext cx="6779340" cy="3570208"/>
          </a:xfrm>
          <a:prstGeom prst="rect">
            <a:avLst/>
          </a:prstGeom>
          <a:noFill/>
        </p:spPr>
        <p:txBody>
          <a:bodyPr wrap="square" rtlCol="0">
            <a:spAutoFit/>
          </a:bodyPr>
          <a:lstStyle/>
          <a:p>
            <a:r>
              <a:rPr lang="es-MX" sz="2600" b="1" dirty="0">
                <a:ea typeface="Roboto" panose="02000000000000000000" pitchFamily="2" charset="0"/>
              </a:rPr>
              <a:t>George Cantor (1845 - 1918)</a:t>
            </a:r>
          </a:p>
          <a:p>
            <a:r>
              <a:rPr lang="es-MX" sz="2200" dirty="0"/>
              <a:t>Considerado el padre de la </a:t>
            </a:r>
            <a:r>
              <a:rPr lang="es-MX" sz="2200" b="1" dirty="0"/>
              <a:t>Teoría de Conjuntos</a:t>
            </a:r>
            <a:r>
              <a:rPr lang="es-MX" sz="2200" dirty="0"/>
              <a:t>, formulada a finales del siglo XIX.</a:t>
            </a:r>
          </a:p>
          <a:p>
            <a:endParaRPr lang="es-MX" sz="2200" dirty="0"/>
          </a:p>
          <a:p>
            <a:r>
              <a:rPr lang="es-MX" sz="2400" b="1" dirty="0"/>
              <a:t>¿Por qué es importante?</a:t>
            </a:r>
            <a:endParaRPr lang="es-MX" sz="2400" dirty="0"/>
          </a:p>
          <a:p>
            <a:pPr marL="342900" indent="-342900">
              <a:buFont typeface="Arial" panose="020B0604020202020204" pitchFamily="34" charset="0"/>
              <a:buChar char="•"/>
            </a:pPr>
            <a:r>
              <a:rPr lang="es-MX" sz="2200" dirty="0"/>
              <a:t>Formalizó la idea de agrupar objetos matemáticos.</a:t>
            </a:r>
          </a:p>
          <a:p>
            <a:pPr marL="342900" indent="-342900">
              <a:buFont typeface="Arial" panose="020B0604020202020204" pitchFamily="34" charset="0"/>
              <a:buChar char="•"/>
            </a:pPr>
            <a:r>
              <a:rPr lang="es-MX" sz="2200" dirty="0"/>
              <a:t>Revolucionó las matemáticas al demostrar que existen "diferentes tamaños" de infinito.</a:t>
            </a:r>
          </a:p>
          <a:p>
            <a:pPr marL="342900" indent="-342900">
              <a:buFont typeface="Arial" panose="020B0604020202020204" pitchFamily="34" charset="0"/>
              <a:buChar char="•"/>
            </a:pPr>
            <a:r>
              <a:rPr lang="es-MX" sz="2200" dirty="0"/>
              <a:t>Su teoría ingenua es la base de la lógica matemática y las bases de datos modernas.</a:t>
            </a:r>
            <a:endParaRPr lang="es-MX" sz="2200" b="1" dirty="0">
              <a:ea typeface="Roboto" panose="02000000000000000000" pitchFamily="2" charset="0"/>
            </a:endParaRPr>
          </a:p>
        </p:txBody>
      </p:sp>
      <p:sp>
        <p:nvSpPr>
          <p:cNvPr id="11" name="Google Shape;310;p34">
            <a:extLst>
              <a:ext uri="{FF2B5EF4-FFF2-40B4-BE49-F238E27FC236}">
                <a16:creationId xmlns:a16="http://schemas.microsoft.com/office/drawing/2014/main" id="{33B0782A-130C-4CEB-96DD-AF7689A521DE}"/>
              </a:ext>
            </a:extLst>
          </p:cNvPr>
          <p:cNvSpPr txBox="1">
            <a:spLocks/>
          </p:cNvSpPr>
          <p:nvPr/>
        </p:nvSpPr>
        <p:spPr>
          <a:xfrm>
            <a:off x="1917290" y="5812462"/>
            <a:ext cx="9861753" cy="65453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000" b="1" dirty="0">
                <a:solidFill>
                  <a:schemeClr val="tx1"/>
                </a:solidFill>
                <a:latin typeface="+mn-lt"/>
              </a:rPr>
              <a:t>Ver video</a:t>
            </a:r>
            <a:r>
              <a:rPr lang="es-MX" sz="2000" dirty="0">
                <a:solidFill>
                  <a:schemeClr val="tx1"/>
                </a:solidFill>
                <a:latin typeface="+mn-lt"/>
              </a:rPr>
              <a:t>:</a:t>
            </a:r>
            <a:r>
              <a:rPr lang="es-MX" sz="2000" dirty="0">
                <a:solidFill>
                  <a:schemeClr val="accent4"/>
                </a:solidFill>
                <a:latin typeface="+mn-lt"/>
                <a:ea typeface="Roboto" panose="02000000000000000000" pitchFamily="2" charset="0"/>
              </a:rPr>
              <a:t> </a:t>
            </a:r>
            <a:r>
              <a:rPr lang="es-MX" sz="2000" dirty="0">
                <a:solidFill>
                  <a:schemeClr val="tx1"/>
                </a:solidFill>
                <a:latin typeface="+mn-lt"/>
                <a:ea typeface="Roboto" panose="02000000000000000000" pitchFamily="2" charset="0"/>
              </a:rPr>
              <a:t>El Hombre Que Casi Rompe Las Matemáticas (Y a Sí Mismo...) (</a:t>
            </a:r>
            <a:r>
              <a:rPr lang="es-MX" sz="2000" dirty="0">
                <a:solidFill>
                  <a:schemeClr val="tx1"/>
                </a:solidFill>
                <a:latin typeface="+mn-lt"/>
                <a:ea typeface="Roboto" panose="02000000000000000000" pitchFamily="2" charset="0"/>
                <a:hlinkClick r:id="rId3"/>
              </a:rPr>
              <a:t>link</a:t>
            </a:r>
            <a:r>
              <a:rPr lang="es-MX" sz="2000" dirty="0">
                <a:solidFill>
                  <a:schemeClr val="tx1"/>
                </a:solidFill>
                <a:latin typeface="+mn-lt"/>
                <a:ea typeface="Roboto" panose="02000000000000000000" pitchFamily="2" charset="0"/>
              </a:rPr>
              <a:t>)</a:t>
            </a:r>
          </a:p>
        </p:txBody>
      </p:sp>
      <p:pic>
        <p:nvPicPr>
          <p:cNvPr id="9218" name="Picture 2" descr="Georg Cantor - Wikipedia, la enciclopedia libre">
            <a:extLst>
              <a:ext uri="{FF2B5EF4-FFF2-40B4-BE49-F238E27FC236}">
                <a16:creationId xmlns:a16="http://schemas.microsoft.com/office/drawing/2014/main" id="{C9A632BF-9518-407B-A821-7AFB1081417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88395" y="1290949"/>
            <a:ext cx="3065519" cy="4018470"/>
          </a:xfrm>
          <a:prstGeom prst="rect">
            <a:avLst/>
          </a:prstGeom>
          <a:noFill/>
          <a:extLst>
            <a:ext uri="{909E8E84-426E-40DD-AFC4-6F175D3DCCD1}">
              <a14:hiddenFill xmlns:a14="http://schemas.microsoft.com/office/drawing/2010/main">
                <a:solidFill>
                  <a:srgbClr val="FFFFFF"/>
                </a:solidFill>
              </a14:hiddenFill>
            </a:ext>
          </a:extLst>
        </p:spPr>
      </p:pic>
      <p:pic>
        <p:nvPicPr>
          <p:cNvPr id="5" name="Imagen 4">
            <a:extLst>
              <a:ext uri="{FF2B5EF4-FFF2-40B4-BE49-F238E27FC236}">
                <a16:creationId xmlns:a16="http://schemas.microsoft.com/office/drawing/2014/main" id="{ACE26BA9-FFF1-4B22-BB57-C0206392F855}"/>
              </a:ext>
            </a:extLst>
          </p:cNvPr>
          <p:cNvPicPr>
            <a:picLocks noChangeAspect="1"/>
          </p:cNvPicPr>
          <p:nvPr/>
        </p:nvPicPr>
        <p:blipFill>
          <a:blip r:embed="rId5"/>
          <a:stretch>
            <a:fillRect/>
          </a:stretch>
        </p:blipFill>
        <p:spPr>
          <a:xfrm>
            <a:off x="821572" y="5753891"/>
            <a:ext cx="948234" cy="653894"/>
          </a:xfrm>
          <a:prstGeom prst="rect">
            <a:avLst/>
          </a:prstGeom>
        </p:spPr>
      </p:pic>
    </p:spTree>
    <p:extLst>
      <p:ext uri="{BB962C8B-B14F-4D97-AF65-F5344CB8AC3E}">
        <p14:creationId xmlns:p14="http://schemas.microsoft.com/office/powerpoint/2010/main" val="29738647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3" name="Título 2">
            <a:extLst>
              <a:ext uri="{FF2B5EF4-FFF2-40B4-BE49-F238E27FC236}">
                <a16:creationId xmlns:a16="http://schemas.microsoft.com/office/drawing/2014/main" id="{C98C59EC-F126-45E7-B7C1-9AB9A32ED14F}"/>
              </a:ext>
            </a:extLst>
          </p:cNvPr>
          <p:cNvSpPr>
            <a:spLocks noGrp="1"/>
          </p:cNvSpPr>
          <p:nvPr>
            <p:ph type="title"/>
          </p:nvPr>
        </p:nvSpPr>
        <p:spPr>
          <a:xfrm>
            <a:off x="231061" y="96038"/>
            <a:ext cx="10741739" cy="949500"/>
          </a:xfrm>
        </p:spPr>
        <p:txBody>
          <a:bodyPr/>
          <a:lstStyle/>
          <a:p>
            <a:r>
              <a:rPr lang="es-CO" dirty="0">
                <a:solidFill>
                  <a:schemeClr val="tx1"/>
                </a:solidFill>
                <a:latin typeface="+mj-lt"/>
              </a:rPr>
              <a:t>Introducción – Para qué sirven los conjuntos</a:t>
            </a:r>
          </a:p>
        </p:txBody>
      </p:sp>
      <p:sp>
        <p:nvSpPr>
          <p:cNvPr id="11" name="Google Shape;310;p34">
            <a:extLst>
              <a:ext uri="{FF2B5EF4-FFF2-40B4-BE49-F238E27FC236}">
                <a16:creationId xmlns:a16="http://schemas.microsoft.com/office/drawing/2014/main" id="{33B0782A-130C-4CEB-96DD-AF7689A521DE}"/>
              </a:ext>
            </a:extLst>
          </p:cNvPr>
          <p:cNvSpPr txBox="1">
            <a:spLocks/>
          </p:cNvSpPr>
          <p:nvPr/>
        </p:nvSpPr>
        <p:spPr>
          <a:xfrm>
            <a:off x="231061" y="931202"/>
            <a:ext cx="11479158" cy="3655546"/>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r>
              <a:rPr lang="es-MX" sz="2400" dirty="0">
                <a:latin typeface="+mn-lt"/>
                <a:ea typeface="Roboto" panose="02000000000000000000" pitchFamily="2" charset="0"/>
              </a:rPr>
              <a:t>Los conjuntos son uno de los componentes básicos de los tipos de objetos considerados en matemáticas discretas.</a:t>
            </a:r>
          </a:p>
          <a:p>
            <a:pPr lvl="1"/>
            <a:r>
              <a:rPr lang="es-MX" sz="2400" dirty="0">
                <a:latin typeface="+mn-lt"/>
                <a:ea typeface="Roboto" panose="02000000000000000000" pitchFamily="2" charset="0"/>
              </a:rPr>
              <a:t>Son importantes para el conteo.</a:t>
            </a:r>
          </a:p>
          <a:p>
            <a:pPr lvl="1"/>
            <a:r>
              <a:rPr lang="es-MX" sz="2400" dirty="0">
                <a:latin typeface="+mn-lt"/>
                <a:ea typeface="Roboto" panose="02000000000000000000" pitchFamily="2" charset="0"/>
              </a:rPr>
              <a:t>Los lenguajes de programación tienen operaciones con conjuntos.</a:t>
            </a:r>
          </a:p>
          <a:p>
            <a:r>
              <a:rPr lang="es-MX" sz="2400" dirty="0">
                <a:latin typeface="+mn-lt"/>
                <a:ea typeface="Roboto" panose="02000000000000000000" pitchFamily="2" charset="0"/>
              </a:rPr>
              <a:t>La teoría de conjuntos es una rama importante de las matemáticas.</a:t>
            </a:r>
          </a:p>
          <a:p>
            <a:pPr lvl="1"/>
            <a:r>
              <a:rPr lang="es-MX" sz="2400" dirty="0">
                <a:latin typeface="+mn-lt"/>
                <a:ea typeface="Roboto" panose="02000000000000000000" pitchFamily="2" charset="0"/>
              </a:rPr>
              <a:t>Se han utilizado diversos sistemas de axiomas para desarrollar la teoría de conjuntos.</a:t>
            </a:r>
          </a:p>
          <a:p>
            <a:pPr lvl="1"/>
            <a:r>
              <a:rPr lang="es-MX" sz="2400" dirty="0">
                <a:latin typeface="+mn-lt"/>
                <a:ea typeface="Roboto" panose="02000000000000000000" pitchFamily="2" charset="0"/>
              </a:rPr>
              <a:t>En esta clase teoría de conjuntos ingenua donde se explora la noción de conjuntos desde un punto de vista mas intuitivo y no tan axiomático.</a:t>
            </a:r>
          </a:p>
        </p:txBody>
      </p:sp>
    </p:spTree>
    <p:extLst>
      <p:ext uri="{BB962C8B-B14F-4D97-AF65-F5344CB8AC3E}">
        <p14:creationId xmlns:p14="http://schemas.microsoft.com/office/powerpoint/2010/main" val="13648269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26"/>
          <p:cNvSpPr txBox="1">
            <a:spLocks noGrp="1"/>
          </p:cNvSpPr>
          <p:nvPr>
            <p:ph type="title"/>
          </p:nvPr>
        </p:nvSpPr>
        <p:spPr>
          <a:xfrm>
            <a:off x="916650" y="96038"/>
            <a:ext cx="9997156"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t>Conceptos básicos – Conjunto y Elemento</a:t>
            </a:r>
            <a:endParaRPr dirty="0"/>
          </a:p>
        </p:txBody>
      </p:sp>
      <p:sp>
        <p:nvSpPr>
          <p:cNvPr id="8" name="Google Shape;310;p34">
            <a:extLst>
              <a:ext uri="{FF2B5EF4-FFF2-40B4-BE49-F238E27FC236}">
                <a16:creationId xmlns:a16="http://schemas.microsoft.com/office/drawing/2014/main" id="{F6716F76-3AFE-471D-B156-0250FFA69F6E}"/>
              </a:ext>
            </a:extLst>
          </p:cNvPr>
          <p:cNvSpPr txBox="1">
            <a:spLocks/>
          </p:cNvSpPr>
          <p:nvPr/>
        </p:nvSpPr>
        <p:spPr>
          <a:xfrm>
            <a:off x="137654" y="917072"/>
            <a:ext cx="11763443" cy="541806"/>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200" dirty="0">
                <a:latin typeface="+mn-lt"/>
                <a:ea typeface="Roboto" panose="02000000000000000000" pitchFamily="2" charset="0"/>
              </a:rPr>
              <a:t>Para empezar, hay dos conceptos clave cuya comprensión es vital.</a:t>
            </a:r>
          </a:p>
        </p:txBody>
      </p:sp>
      <p:sp>
        <p:nvSpPr>
          <p:cNvPr id="9" name="CuadroTexto 8">
            <a:extLst>
              <a:ext uri="{FF2B5EF4-FFF2-40B4-BE49-F238E27FC236}">
                <a16:creationId xmlns:a16="http://schemas.microsoft.com/office/drawing/2014/main" id="{056EF973-F91B-4105-A04E-49DECDBF62AC}"/>
              </a:ext>
            </a:extLst>
          </p:cNvPr>
          <p:cNvSpPr txBox="1"/>
          <p:nvPr/>
        </p:nvSpPr>
        <p:spPr>
          <a:xfrm>
            <a:off x="338363" y="1535475"/>
            <a:ext cx="11547134" cy="1107996"/>
          </a:xfrm>
          <a:prstGeom prst="rect">
            <a:avLst/>
          </a:prstGeom>
          <a:solidFill>
            <a:schemeClr val="bg1">
              <a:lumMod val="95000"/>
            </a:schemeClr>
          </a:solidFill>
        </p:spPr>
        <p:txBody>
          <a:bodyPr wrap="square">
            <a:spAutoFit/>
          </a:bodyPr>
          <a:lstStyle/>
          <a:p>
            <a:r>
              <a:rPr lang="es-MX" sz="2200" b="1" i="0" u="none" strike="noStrike" dirty="0">
                <a:effectLst/>
                <a:ea typeface="Roboto" panose="02000000000000000000" pitchFamily="2" charset="0"/>
              </a:rPr>
              <a:t>Conjunto</a:t>
            </a:r>
          </a:p>
          <a:p>
            <a:r>
              <a:rPr lang="es-MX" sz="2200" b="0" i="0" u="none" strike="noStrike" dirty="0">
                <a:solidFill>
                  <a:srgbClr val="000000"/>
                </a:solidFill>
                <a:effectLst/>
                <a:ea typeface="Roboto" panose="02000000000000000000" pitchFamily="2" charset="0"/>
              </a:rPr>
              <a:t>Un conjunto es una colección no ordenada de objetos distintos. Se dice que los objetos contenidos en un conjunto son los elementos o miembros del conjunto.</a:t>
            </a:r>
            <a:endParaRPr lang="es-CO" sz="2200" dirty="0">
              <a:ea typeface="Roboto" panose="02000000000000000000" pitchFamily="2" charset="0"/>
            </a:endParaRPr>
          </a:p>
        </p:txBody>
      </p:sp>
      <p:sp>
        <p:nvSpPr>
          <p:cNvPr id="10" name="CuadroTexto 9">
            <a:extLst>
              <a:ext uri="{FF2B5EF4-FFF2-40B4-BE49-F238E27FC236}">
                <a16:creationId xmlns:a16="http://schemas.microsoft.com/office/drawing/2014/main" id="{061AA4FF-EF4A-452B-9EE4-1181E87D0D15}"/>
              </a:ext>
            </a:extLst>
          </p:cNvPr>
          <p:cNvSpPr txBox="1"/>
          <p:nvPr/>
        </p:nvSpPr>
        <p:spPr>
          <a:xfrm>
            <a:off x="338363" y="2830025"/>
            <a:ext cx="11562735" cy="769441"/>
          </a:xfrm>
          <a:prstGeom prst="rect">
            <a:avLst/>
          </a:prstGeom>
          <a:solidFill>
            <a:schemeClr val="bg1">
              <a:lumMod val="95000"/>
            </a:schemeClr>
          </a:solidFill>
        </p:spPr>
        <p:txBody>
          <a:bodyPr wrap="square">
            <a:spAutoFit/>
          </a:bodyPr>
          <a:lstStyle/>
          <a:p>
            <a:r>
              <a:rPr lang="es-MX" sz="2200" b="1" i="0" u="none" strike="noStrike" dirty="0">
                <a:effectLst/>
                <a:ea typeface="Roboto" panose="02000000000000000000" pitchFamily="2" charset="0"/>
              </a:rPr>
              <a:t>Elemento</a:t>
            </a:r>
          </a:p>
          <a:p>
            <a:r>
              <a:rPr lang="es-MX" sz="2200" dirty="0">
                <a:ea typeface="Roboto" panose="02000000000000000000" pitchFamily="2" charset="0"/>
              </a:rPr>
              <a:t>Un elemento o miembro es </a:t>
            </a:r>
            <a:r>
              <a:rPr lang="es-MX" sz="2200" b="1" dirty="0">
                <a:ea typeface="Roboto" panose="02000000000000000000" pitchFamily="2" charset="0"/>
              </a:rPr>
              <a:t>cada uno</a:t>
            </a:r>
            <a:r>
              <a:rPr lang="es-MX" sz="2200" dirty="0">
                <a:ea typeface="Roboto" panose="02000000000000000000" pitchFamily="2" charset="0"/>
              </a:rPr>
              <a:t> de los objetos individuales que forman parte de un conjunto.</a:t>
            </a:r>
            <a:endParaRPr lang="es-CO" sz="2200" dirty="0">
              <a:ea typeface="Roboto" panose="02000000000000000000" pitchFamily="2" charset="0"/>
            </a:endParaRPr>
          </a:p>
        </p:txBody>
      </p:sp>
      <p:pic>
        <p:nvPicPr>
          <p:cNvPr id="4098" name="Picture 2" descr="Simpson family - Wikipedia">
            <a:extLst>
              <a:ext uri="{FF2B5EF4-FFF2-40B4-BE49-F238E27FC236}">
                <a16:creationId xmlns:a16="http://schemas.microsoft.com/office/drawing/2014/main" id="{F7D3F2DF-37E2-45E3-AF69-D479AAE41D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1445" y="4217183"/>
            <a:ext cx="1974092" cy="2317412"/>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Maggie Simpson | Simpson Wiki en Español | Fandom">
            <a:extLst>
              <a:ext uri="{FF2B5EF4-FFF2-40B4-BE49-F238E27FC236}">
                <a16:creationId xmlns:a16="http://schemas.microsoft.com/office/drawing/2014/main" id="{39F08E73-6961-4DE2-A7BF-714344A585E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51263" y="5008242"/>
            <a:ext cx="677409" cy="936314"/>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a:extLst>
              <a:ext uri="{FF2B5EF4-FFF2-40B4-BE49-F238E27FC236}">
                <a16:creationId xmlns:a16="http://schemas.microsoft.com/office/drawing/2014/main" id="{20A4A71C-3A6F-496C-9682-A49D9FF5EF3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64716" y="4045845"/>
            <a:ext cx="3320781" cy="2172983"/>
          </a:xfrm>
          <a:prstGeom prst="rect">
            <a:avLst/>
          </a:prstGeom>
          <a:noFill/>
          <a:extLst>
            <a:ext uri="{909E8E84-426E-40DD-AFC4-6F175D3DCCD1}">
              <a14:hiddenFill xmlns:a14="http://schemas.microsoft.com/office/drawing/2010/main">
                <a:solidFill>
                  <a:srgbClr val="FFFFFF"/>
                </a:solidFill>
              </a14:hiddenFill>
            </a:ext>
          </a:extLst>
        </p:spPr>
      </p:pic>
      <p:pic>
        <p:nvPicPr>
          <p:cNvPr id="4" name="Imagen 3">
            <a:extLst>
              <a:ext uri="{FF2B5EF4-FFF2-40B4-BE49-F238E27FC236}">
                <a16:creationId xmlns:a16="http://schemas.microsoft.com/office/drawing/2014/main" id="{98EB7B62-ADEE-4AF0-A3EE-AC220B61B783}"/>
              </a:ext>
            </a:extLst>
          </p:cNvPr>
          <p:cNvPicPr>
            <a:picLocks noChangeAspect="1"/>
          </p:cNvPicPr>
          <p:nvPr/>
        </p:nvPicPr>
        <p:blipFill>
          <a:blip r:embed="rId6"/>
          <a:stretch>
            <a:fillRect/>
          </a:stretch>
        </p:blipFill>
        <p:spPr>
          <a:xfrm>
            <a:off x="4218752" y="4007761"/>
            <a:ext cx="4345964" cy="2172983"/>
          </a:xfrm>
          <a:prstGeom prst="rect">
            <a:avLst/>
          </a:prstGeom>
        </p:spPr>
      </p:pic>
      <p:sp>
        <p:nvSpPr>
          <p:cNvPr id="19" name="CuadroTexto 18">
            <a:extLst>
              <a:ext uri="{FF2B5EF4-FFF2-40B4-BE49-F238E27FC236}">
                <a16:creationId xmlns:a16="http://schemas.microsoft.com/office/drawing/2014/main" id="{1D9F31AE-8EAA-4D57-A5D7-8F3FE31ECFAB}"/>
              </a:ext>
            </a:extLst>
          </p:cNvPr>
          <p:cNvSpPr txBox="1"/>
          <p:nvPr/>
        </p:nvSpPr>
        <p:spPr>
          <a:xfrm>
            <a:off x="5104059" y="6218828"/>
            <a:ext cx="2575349" cy="400110"/>
          </a:xfrm>
          <a:prstGeom prst="rect">
            <a:avLst/>
          </a:prstGeom>
          <a:noFill/>
        </p:spPr>
        <p:txBody>
          <a:bodyPr wrap="square">
            <a:spAutoFit/>
          </a:bodyPr>
          <a:lstStyle/>
          <a:p>
            <a:pPr algn="ctr"/>
            <a:r>
              <a:rPr lang="es-CO" sz="2000" b="1" dirty="0">
                <a:ea typeface="Roboto" panose="02000000000000000000" pitchFamily="2" charset="0"/>
              </a:rPr>
              <a:t>Colors picker</a:t>
            </a:r>
            <a:r>
              <a:rPr lang="es-CO" sz="2000" dirty="0">
                <a:ea typeface="Roboto" panose="02000000000000000000" pitchFamily="2" charset="0"/>
              </a:rPr>
              <a:t> </a:t>
            </a:r>
            <a:r>
              <a:rPr lang="es-CO" sz="2000" dirty="0">
                <a:ea typeface="Roboto" panose="02000000000000000000" pitchFamily="2" charset="0"/>
                <a:hlinkClick r:id="rId7"/>
              </a:rPr>
              <a:t>link</a:t>
            </a:r>
            <a:endParaRPr lang="es-CO" sz="2000" dirty="0">
              <a:ea typeface="Roboto" panose="02000000000000000000" pitchFamily="2" charset="0"/>
            </a:endParaRPr>
          </a:p>
        </p:txBody>
      </p:sp>
      <p:sp>
        <p:nvSpPr>
          <p:cNvPr id="21" name="CuadroTexto 20">
            <a:extLst>
              <a:ext uri="{FF2B5EF4-FFF2-40B4-BE49-F238E27FC236}">
                <a16:creationId xmlns:a16="http://schemas.microsoft.com/office/drawing/2014/main" id="{55F291C0-9505-4D67-A135-A1F5F1B2D6E7}"/>
              </a:ext>
            </a:extLst>
          </p:cNvPr>
          <p:cNvSpPr txBox="1"/>
          <p:nvPr/>
        </p:nvSpPr>
        <p:spPr>
          <a:xfrm>
            <a:off x="661176" y="3813597"/>
            <a:ext cx="1654629" cy="400110"/>
          </a:xfrm>
          <a:prstGeom prst="rect">
            <a:avLst/>
          </a:prstGeom>
          <a:noFill/>
        </p:spPr>
        <p:txBody>
          <a:bodyPr wrap="square">
            <a:spAutoFit/>
          </a:bodyPr>
          <a:lstStyle/>
          <a:p>
            <a:pPr algn="ctr"/>
            <a:r>
              <a:rPr lang="es-CO" sz="2000" b="1" dirty="0">
                <a:ea typeface="Roboto" panose="02000000000000000000" pitchFamily="2" charset="0"/>
              </a:rPr>
              <a:t>Conjunto</a:t>
            </a:r>
            <a:endParaRPr lang="es-CO" sz="2000" dirty="0">
              <a:ea typeface="Roboto" panose="02000000000000000000" pitchFamily="2" charset="0"/>
            </a:endParaRPr>
          </a:p>
        </p:txBody>
      </p:sp>
      <p:sp>
        <p:nvSpPr>
          <p:cNvPr id="22" name="CuadroTexto 21">
            <a:extLst>
              <a:ext uri="{FF2B5EF4-FFF2-40B4-BE49-F238E27FC236}">
                <a16:creationId xmlns:a16="http://schemas.microsoft.com/office/drawing/2014/main" id="{0D145CA9-FF5A-471F-90D3-93402E60712F}"/>
              </a:ext>
            </a:extLst>
          </p:cNvPr>
          <p:cNvSpPr txBox="1"/>
          <p:nvPr/>
        </p:nvSpPr>
        <p:spPr>
          <a:xfrm>
            <a:off x="2544439" y="4513487"/>
            <a:ext cx="1491056" cy="400110"/>
          </a:xfrm>
          <a:prstGeom prst="rect">
            <a:avLst/>
          </a:prstGeom>
          <a:noFill/>
        </p:spPr>
        <p:txBody>
          <a:bodyPr wrap="square">
            <a:spAutoFit/>
          </a:bodyPr>
          <a:lstStyle/>
          <a:p>
            <a:pPr algn="ctr"/>
            <a:r>
              <a:rPr lang="es-CO" sz="2000" b="1" dirty="0">
                <a:ea typeface="Roboto" panose="02000000000000000000" pitchFamily="2" charset="0"/>
              </a:rPr>
              <a:t>Elemento</a:t>
            </a:r>
            <a:endParaRPr lang="es-CO" sz="2000" dirty="0">
              <a:ea typeface="Roboto" panose="02000000000000000000" pitchFamily="2" charset="0"/>
            </a:endParaRPr>
          </a:p>
        </p:txBody>
      </p:sp>
    </p:spTree>
    <p:extLst>
      <p:ext uri="{BB962C8B-B14F-4D97-AF65-F5344CB8AC3E}">
        <p14:creationId xmlns:p14="http://schemas.microsoft.com/office/powerpoint/2010/main" val="5294043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26"/>
          <p:cNvSpPr txBox="1">
            <a:spLocks noGrp="1"/>
          </p:cNvSpPr>
          <p:nvPr>
            <p:ph type="title"/>
          </p:nvPr>
        </p:nvSpPr>
        <p:spPr>
          <a:xfrm>
            <a:off x="916650" y="96038"/>
            <a:ext cx="10070898"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t>Conceptos básicos – Notación básica</a:t>
            </a:r>
            <a:endParaRPr dirty="0"/>
          </a:p>
        </p:txBody>
      </p:sp>
      <mc:AlternateContent xmlns:mc="http://schemas.openxmlformats.org/markup-compatibility/2006" xmlns:a14="http://schemas.microsoft.com/office/drawing/2010/main">
        <mc:Choice Requires="a14">
          <p:sp>
            <p:nvSpPr>
              <p:cNvPr id="8" name="Google Shape;310;p34">
                <a:extLst>
                  <a:ext uri="{FF2B5EF4-FFF2-40B4-BE49-F238E27FC236}">
                    <a16:creationId xmlns:a16="http://schemas.microsoft.com/office/drawing/2014/main" id="{F6716F76-3AFE-471D-B156-0250FFA69F6E}"/>
                  </a:ext>
                </a:extLst>
              </p:cNvPr>
              <p:cNvSpPr txBox="1">
                <a:spLocks/>
              </p:cNvSpPr>
              <p:nvPr/>
            </p:nvSpPr>
            <p:spPr>
              <a:xfrm>
                <a:off x="191729" y="936473"/>
                <a:ext cx="11813458" cy="255063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200" dirty="0">
                    <a:latin typeface="+mn-lt"/>
                    <a:ea typeface="Roboto" panose="02000000000000000000" pitchFamily="2" charset="0"/>
                  </a:rPr>
                  <a:t>Para referirnos a los conjuntos y a los elementos seguimos se sigue las siguientes convenciones:</a:t>
                </a:r>
              </a:p>
              <a:p>
                <a:r>
                  <a:rPr lang="es-MX" sz="2200" dirty="0">
                    <a:latin typeface="+mn-lt"/>
                    <a:ea typeface="Roboto" panose="02000000000000000000" pitchFamily="2" charset="0"/>
                  </a:rPr>
                  <a:t>Los conjuntos se representan usando letras mayúsculas (</a:t>
                </a:r>
                <a14:m>
                  <m:oMath xmlns:m="http://schemas.openxmlformats.org/officeDocument/2006/math">
                    <m:r>
                      <a:rPr lang="es-MX" sz="2200" b="0" i="1" smtClean="0">
                        <a:latin typeface="Cambria Math" panose="02040503050406030204" pitchFamily="18" charset="0"/>
                        <a:ea typeface="Roboto" panose="02000000000000000000" pitchFamily="2" charset="0"/>
                      </a:rPr>
                      <m:t>𝐴</m:t>
                    </m:r>
                  </m:oMath>
                </a14:m>
                <a:r>
                  <a:rPr lang="es-MX" sz="2200" dirty="0">
                    <a:latin typeface="+mn-lt"/>
                    <a:ea typeface="Roboto" panose="02000000000000000000" pitchFamily="2" charset="0"/>
                  </a:rPr>
                  <a:t>, </a:t>
                </a:r>
                <a14:m>
                  <m:oMath xmlns:m="http://schemas.openxmlformats.org/officeDocument/2006/math">
                    <m:r>
                      <a:rPr lang="es-MX" sz="2200" b="0" i="1" smtClean="0">
                        <a:latin typeface="Cambria Math" panose="02040503050406030204" pitchFamily="18" charset="0"/>
                        <a:ea typeface="Roboto" panose="02000000000000000000" pitchFamily="2" charset="0"/>
                      </a:rPr>
                      <m:t>𝐵</m:t>
                    </m:r>
                  </m:oMath>
                </a14:m>
                <a:r>
                  <a:rPr lang="es-MX" sz="2200" dirty="0">
                    <a:latin typeface="+mn-lt"/>
                    <a:ea typeface="Roboto" panose="02000000000000000000" pitchFamily="2" charset="0"/>
                  </a:rPr>
                  <a:t>, </a:t>
                </a:r>
                <a14:m>
                  <m:oMath xmlns:m="http://schemas.openxmlformats.org/officeDocument/2006/math">
                    <m:r>
                      <a:rPr lang="es-MX" sz="2200" b="0" i="1" smtClean="0">
                        <a:latin typeface="Cambria Math" panose="02040503050406030204" pitchFamily="18" charset="0"/>
                        <a:ea typeface="Roboto" panose="02000000000000000000" pitchFamily="2" charset="0"/>
                      </a:rPr>
                      <m:t>𝐶</m:t>
                    </m:r>
                  </m:oMath>
                </a14:m>
                <a:r>
                  <a:rPr lang="es-MX" sz="2200" dirty="0">
                    <a:latin typeface="+mn-lt"/>
                    <a:ea typeface="Roboto" panose="02000000000000000000" pitchFamily="2" charset="0"/>
                  </a:rPr>
                  <a:t>, etc).</a:t>
                </a:r>
              </a:p>
              <a:p>
                <a:r>
                  <a:rPr lang="es-MX" sz="2200" dirty="0">
                    <a:latin typeface="+mn-lt"/>
                    <a:ea typeface="Roboto" panose="02000000000000000000" pitchFamily="2" charset="0"/>
                  </a:rPr>
                  <a:t>Cada elemento de un conjunto se puede representar con una letra minúscula (</a:t>
                </a:r>
                <a14:m>
                  <m:oMath xmlns:m="http://schemas.openxmlformats.org/officeDocument/2006/math">
                    <m:r>
                      <a:rPr lang="es-MX" sz="2200" b="0" i="1" smtClean="0">
                        <a:latin typeface="Cambria Math" panose="02040503050406030204" pitchFamily="18" charset="0"/>
                        <a:ea typeface="Roboto" panose="02000000000000000000" pitchFamily="2" charset="0"/>
                      </a:rPr>
                      <m:t>𝑎</m:t>
                    </m:r>
                  </m:oMath>
                </a14:m>
                <a:r>
                  <a:rPr lang="es-MX" sz="2200" dirty="0">
                    <a:latin typeface="+mn-lt"/>
                    <a:ea typeface="Roboto" panose="02000000000000000000" pitchFamily="2" charset="0"/>
                  </a:rPr>
                  <a:t>, </a:t>
                </a:r>
                <a14:m>
                  <m:oMath xmlns:m="http://schemas.openxmlformats.org/officeDocument/2006/math">
                    <m:r>
                      <a:rPr lang="es-MX" sz="2200" b="0" i="1" smtClean="0">
                        <a:latin typeface="Cambria Math" panose="02040503050406030204" pitchFamily="18" charset="0"/>
                        <a:ea typeface="Roboto" panose="02000000000000000000" pitchFamily="2" charset="0"/>
                      </a:rPr>
                      <m:t>𝑏</m:t>
                    </m:r>
                  </m:oMath>
                </a14:m>
                <a:r>
                  <a:rPr lang="es-MX" sz="2200" dirty="0">
                    <a:latin typeface="+mn-lt"/>
                    <a:ea typeface="Roboto" panose="02000000000000000000" pitchFamily="2" charset="0"/>
                  </a:rPr>
                  <a:t>, </a:t>
                </a:r>
                <a14:m>
                  <m:oMath xmlns:m="http://schemas.openxmlformats.org/officeDocument/2006/math">
                    <m:r>
                      <a:rPr lang="es-MX" sz="2200" b="0" i="1" smtClean="0">
                        <a:latin typeface="Cambria Math" panose="02040503050406030204" pitchFamily="18" charset="0"/>
                        <a:ea typeface="Roboto" panose="02000000000000000000" pitchFamily="2" charset="0"/>
                      </a:rPr>
                      <m:t>𝑐</m:t>
                    </m:r>
                  </m:oMath>
                </a14:m>
                <a:r>
                  <a:rPr lang="es-MX" sz="2200" dirty="0">
                    <a:latin typeface="+mn-lt"/>
                    <a:ea typeface="Roboto" panose="02000000000000000000" pitchFamily="2" charset="0"/>
                  </a:rPr>
                  <a:t>, etc).</a:t>
                </a:r>
              </a:p>
              <a:p>
                <a:r>
                  <a:rPr lang="es-MX" sz="2200" dirty="0">
                    <a:latin typeface="+mn-lt"/>
                    <a:ea typeface="Roboto" panose="02000000000000000000" pitchFamily="2" charset="0"/>
                  </a:rPr>
                  <a:t>Pertenencia:</a:t>
                </a:r>
              </a:p>
              <a:p>
                <a:pPr lvl="1"/>
                <a:r>
                  <a:rPr lang="es-MX" b="1" dirty="0">
                    <a:latin typeface="+mn-lt"/>
                    <a:ea typeface="Roboto" panose="02000000000000000000" pitchFamily="2" charset="0"/>
                  </a:rPr>
                  <a:t>Pertenencia (</a:t>
                </a:r>
                <a14:m>
                  <m:oMath xmlns:m="http://schemas.openxmlformats.org/officeDocument/2006/math">
                    <m:r>
                      <a:rPr lang="es-MX" b="1" i="1" smtClean="0">
                        <a:latin typeface="Cambria Math" panose="02040503050406030204" pitchFamily="18" charset="0"/>
                        <a:ea typeface="Cambria Math" panose="02040503050406030204" pitchFamily="18" charset="0"/>
                      </a:rPr>
                      <m:t>∈</m:t>
                    </m:r>
                  </m:oMath>
                </a14:m>
                <a:r>
                  <a:rPr lang="es-MX" b="1" dirty="0">
                    <a:latin typeface="+mn-lt"/>
                    <a:ea typeface="Roboto" panose="02000000000000000000" pitchFamily="2" charset="0"/>
                  </a:rPr>
                  <a:t>)</a:t>
                </a:r>
                <a:r>
                  <a:rPr lang="es-MX" dirty="0">
                    <a:latin typeface="+mn-lt"/>
                    <a:ea typeface="Roboto" panose="02000000000000000000" pitchFamily="2" charset="0"/>
                  </a:rPr>
                  <a:t>: Para decir que el elemento </a:t>
                </a:r>
                <a14:m>
                  <m:oMath xmlns:m="http://schemas.openxmlformats.org/officeDocument/2006/math">
                    <m:r>
                      <a:rPr lang="es-MX" i="1">
                        <a:latin typeface="Cambria Math" panose="02040503050406030204" pitchFamily="18" charset="0"/>
                        <a:ea typeface="Roboto" panose="02000000000000000000" pitchFamily="2" charset="0"/>
                      </a:rPr>
                      <m:t>𝑎</m:t>
                    </m:r>
                  </m:oMath>
                </a14:m>
                <a:r>
                  <a:rPr lang="es-MX" dirty="0">
                    <a:latin typeface="+mn-lt"/>
                    <a:ea typeface="Roboto" panose="02000000000000000000" pitchFamily="2" charset="0"/>
                  </a:rPr>
                  <a:t> </a:t>
                </a:r>
                <a:r>
                  <a:rPr lang="es-MX" b="1" u="sng" dirty="0">
                    <a:latin typeface="+mn-lt"/>
                    <a:ea typeface="Roboto" panose="02000000000000000000" pitchFamily="2" charset="0"/>
                  </a:rPr>
                  <a:t>es</a:t>
                </a:r>
                <a:r>
                  <a:rPr lang="es-MX" dirty="0">
                    <a:latin typeface="+mn-lt"/>
                    <a:ea typeface="Roboto" panose="02000000000000000000" pitchFamily="2" charset="0"/>
                  </a:rPr>
                  <a:t> un miembro del conjunto </a:t>
                </a:r>
                <a14:m>
                  <m:oMath xmlns:m="http://schemas.openxmlformats.org/officeDocument/2006/math">
                    <m:r>
                      <a:rPr lang="es-MX" i="1">
                        <a:latin typeface="Cambria Math" panose="02040503050406030204" pitchFamily="18" charset="0"/>
                        <a:ea typeface="Roboto" panose="02000000000000000000" pitchFamily="2" charset="0"/>
                      </a:rPr>
                      <m:t>𝐴</m:t>
                    </m:r>
                  </m:oMath>
                </a14:m>
                <a:r>
                  <a:rPr lang="es-MX" dirty="0">
                    <a:latin typeface="+mn-lt"/>
                    <a:ea typeface="Roboto" panose="02000000000000000000" pitchFamily="2" charset="0"/>
                  </a:rPr>
                  <a:t> se emplea </a:t>
                </a:r>
                <a14:m>
                  <m:oMath xmlns:m="http://schemas.openxmlformats.org/officeDocument/2006/math">
                    <m:r>
                      <a:rPr lang="es-MX" i="1">
                        <a:latin typeface="Cambria Math" panose="02040503050406030204" pitchFamily="18" charset="0"/>
                        <a:ea typeface="Roboto" panose="02000000000000000000" pitchFamily="2" charset="0"/>
                      </a:rPr>
                      <m:t>𝑎</m:t>
                    </m:r>
                    <m:r>
                      <a:rPr lang="es-MX" b="0" i="1" smtClean="0">
                        <a:latin typeface="Cambria Math" panose="02040503050406030204" pitchFamily="18" charset="0"/>
                        <a:ea typeface="Roboto" panose="02000000000000000000" pitchFamily="2" charset="0"/>
                      </a:rPr>
                      <m:t>∈</m:t>
                    </m:r>
                    <m:r>
                      <a:rPr lang="es-MX" b="0" i="1" smtClean="0">
                        <a:latin typeface="Cambria Math" panose="02040503050406030204" pitchFamily="18" charset="0"/>
                        <a:ea typeface="Roboto" panose="02000000000000000000" pitchFamily="2" charset="0"/>
                      </a:rPr>
                      <m:t>𝐴</m:t>
                    </m:r>
                  </m:oMath>
                </a14:m>
                <a:r>
                  <a:rPr lang="es-MX" dirty="0">
                    <a:latin typeface="+mn-lt"/>
                    <a:ea typeface="Roboto" panose="02000000000000000000" pitchFamily="2" charset="0"/>
                  </a:rPr>
                  <a:t> </a:t>
                </a:r>
              </a:p>
              <a:p>
                <a:pPr lvl="1"/>
                <a:r>
                  <a:rPr lang="es-MX" b="1" dirty="0">
                    <a:latin typeface="+mn-lt"/>
                    <a:ea typeface="Roboto" panose="02000000000000000000" pitchFamily="2" charset="0"/>
                  </a:rPr>
                  <a:t>No pertenencia (</a:t>
                </a:r>
                <a14:m>
                  <m:oMath xmlns:m="http://schemas.openxmlformats.org/officeDocument/2006/math">
                    <m:r>
                      <a:rPr lang="es-MX" b="1" i="1" smtClean="0">
                        <a:latin typeface="Cambria Math" panose="02040503050406030204" pitchFamily="18" charset="0"/>
                        <a:ea typeface="Cambria Math" panose="02040503050406030204" pitchFamily="18" charset="0"/>
                      </a:rPr>
                      <m:t>∉</m:t>
                    </m:r>
                  </m:oMath>
                </a14:m>
                <a:r>
                  <a:rPr lang="es-MX" b="1" dirty="0">
                    <a:latin typeface="+mn-lt"/>
                    <a:ea typeface="Roboto" panose="02000000000000000000" pitchFamily="2" charset="0"/>
                  </a:rPr>
                  <a:t>)</a:t>
                </a:r>
                <a:r>
                  <a:rPr lang="es-MX" dirty="0">
                    <a:latin typeface="+mn-lt"/>
                    <a:ea typeface="Roboto" panose="02000000000000000000" pitchFamily="2" charset="0"/>
                  </a:rPr>
                  <a:t>: Para decir que el elemento </a:t>
                </a:r>
                <a14:m>
                  <m:oMath xmlns:m="http://schemas.openxmlformats.org/officeDocument/2006/math">
                    <m:r>
                      <a:rPr lang="es-MX" i="1">
                        <a:latin typeface="Cambria Math" panose="02040503050406030204" pitchFamily="18" charset="0"/>
                        <a:ea typeface="Roboto" panose="02000000000000000000" pitchFamily="2" charset="0"/>
                      </a:rPr>
                      <m:t>𝑎</m:t>
                    </m:r>
                  </m:oMath>
                </a14:m>
                <a:r>
                  <a:rPr lang="es-MX" dirty="0">
                    <a:latin typeface="+mn-lt"/>
                    <a:ea typeface="Roboto" panose="02000000000000000000" pitchFamily="2" charset="0"/>
                  </a:rPr>
                  <a:t> </a:t>
                </a:r>
                <a:r>
                  <a:rPr lang="es-MX" b="1" u="sng" dirty="0">
                    <a:solidFill>
                      <a:schemeClr val="tx1"/>
                    </a:solidFill>
                    <a:latin typeface="+mn-lt"/>
                    <a:ea typeface="Roboto" panose="02000000000000000000" pitchFamily="2" charset="0"/>
                  </a:rPr>
                  <a:t>no</a:t>
                </a:r>
                <a:r>
                  <a:rPr lang="es-MX" b="1" dirty="0">
                    <a:latin typeface="+mn-lt"/>
                    <a:ea typeface="Roboto" panose="02000000000000000000" pitchFamily="2" charset="0"/>
                  </a:rPr>
                  <a:t> </a:t>
                </a:r>
                <a:r>
                  <a:rPr lang="es-MX" b="1" u="sng" dirty="0">
                    <a:latin typeface="+mn-lt"/>
                    <a:ea typeface="Roboto" panose="02000000000000000000" pitchFamily="2" charset="0"/>
                  </a:rPr>
                  <a:t>esta</a:t>
                </a:r>
                <a:r>
                  <a:rPr lang="es-MX" dirty="0">
                    <a:latin typeface="+mn-lt"/>
                    <a:ea typeface="Roboto" panose="02000000000000000000" pitchFamily="2" charset="0"/>
                  </a:rPr>
                  <a:t> al conjunto </a:t>
                </a:r>
                <a14:m>
                  <m:oMath xmlns:m="http://schemas.openxmlformats.org/officeDocument/2006/math">
                    <m:r>
                      <a:rPr lang="es-MX" i="1">
                        <a:latin typeface="Cambria Math" panose="02040503050406030204" pitchFamily="18" charset="0"/>
                        <a:ea typeface="Roboto" panose="02000000000000000000" pitchFamily="2" charset="0"/>
                      </a:rPr>
                      <m:t>𝐴</m:t>
                    </m:r>
                  </m:oMath>
                </a14:m>
                <a:r>
                  <a:rPr lang="es-MX" dirty="0">
                    <a:latin typeface="+mn-lt"/>
                    <a:ea typeface="Roboto" panose="02000000000000000000" pitchFamily="2" charset="0"/>
                  </a:rPr>
                  <a:t> se emplea </a:t>
                </a:r>
                <a14:m>
                  <m:oMath xmlns:m="http://schemas.openxmlformats.org/officeDocument/2006/math">
                    <m:r>
                      <a:rPr lang="es-MX" i="1">
                        <a:latin typeface="Cambria Math" panose="02040503050406030204" pitchFamily="18" charset="0"/>
                        <a:ea typeface="Roboto" panose="02000000000000000000" pitchFamily="2" charset="0"/>
                      </a:rPr>
                      <m:t>𝑎</m:t>
                    </m:r>
                    <m:r>
                      <a:rPr lang="es-MX" b="0" i="1" smtClean="0">
                        <a:latin typeface="Cambria Math" panose="02040503050406030204" pitchFamily="18" charset="0"/>
                        <a:ea typeface="Roboto" panose="02000000000000000000" pitchFamily="2" charset="0"/>
                      </a:rPr>
                      <m:t>∉</m:t>
                    </m:r>
                    <m:r>
                      <a:rPr lang="es-MX" i="1">
                        <a:latin typeface="Cambria Math" panose="02040503050406030204" pitchFamily="18" charset="0"/>
                        <a:ea typeface="Roboto" panose="02000000000000000000" pitchFamily="2" charset="0"/>
                      </a:rPr>
                      <m:t>𝐴</m:t>
                    </m:r>
                  </m:oMath>
                </a14:m>
                <a:r>
                  <a:rPr lang="es-MX" dirty="0">
                    <a:latin typeface="+mn-lt"/>
                    <a:ea typeface="Roboto" panose="02000000000000000000" pitchFamily="2" charset="0"/>
                  </a:rPr>
                  <a:t> </a:t>
                </a:r>
              </a:p>
              <a:p>
                <a:pPr lvl="1"/>
                <a:endParaRPr lang="es-MX" dirty="0">
                  <a:latin typeface="+mn-lt"/>
                  <a:ea typeface="Roboto" panose="02000000000000000000" pitchFamily="2" charset="0"/>
                </a:endParaRPr>
              </a:p>
              <a:p>
                <a:pPr lvl="1"/>
                <a:endParaRPr lang="es-MX" dirty="0">
                  <a:latin typeface="+mn-lt"/>
                  <a:ea typeface="Roboto" panose="02000000000000000000" pitchFamily="2" charset="0"/>
                </a:endParaRPr>
              </a:p>
            </p:txBody>
          </p:sp>
        </mc:Choice>
        <mc:Fallback xmlns="">
          <p:sp>
            <p:nvSpPr>
              <p:cNvPr id="8" name="Google Shape;310;p34">
                <a:extLst>
                  <a:ext uri="{FF2B5EF4-FFF2-40B4-BE49-F238E27FC236}">
                    <a16:creationId xmlns:a16="http://schemas.microsoft.com/office/drawing/2014/main" id="{F6716F76-3AFE-471D-B156-0250FFA69F6E}"/>
                  </a:ext>
                </a:extLst>
              </p:cNvPr>
              <p:cNvSpPr txBox="1">
                <a:spLocks noRot="1" noChangeAspect="1" noMove="1" noResize="1" noEditPoints="1" noAdjustHandles="1" noChangeArrowheads="1" noChangeShapeType="1" noTextEdit="1"/>
              </p:cNvSpPr>
              <p:nvPr/>
            </p:nvSpPr>
            <p:spPr>
              <a:xfrm>
                <a:off x="191729" y="936473"/>
                <a:ext cx="11813458" cy="2550632"/>
              </a:xfrm>
              <a:prstGeom prst="rect">
                <a:avLst/>
              </a:prstGeom>
              <a:blipFill>
                <a:blip r:embed="rId3"/>
                <a:stretch>
                  <a:fillRect b="-4306"/>
                </a:stretch>
              </a:blipFill>
              <a:ln>
                <a:noFill/>
              </a:ln>
            </p:spPr>
            <p:txBody>
              <a:bodyPr/>
              <a:lstStyle/>
              <a:p>
                <a:r>
                  <a:rPr lang="es-CO">
                    <a:noFill/>
                  </a:rPr>
                  <a:t> </a:t>
                </a:r>
              </a:p>
            </p:txBody>
          </p:sp>
        </mc:Fallback>
      </mc:AlternateContent>
      <p:pic>
        <p:nvPicPr>
          <p:cNvPr id="11" name="Picture 2" descr="Simpson family - Wikipedia">
            <a:extLst>
              <a:ext uri="{FF2B5EF4-FFF2-40B4-BE49-F238E27FC236}">
                <a16:creationId xmlns:a16="http://schemas.microsoft.com/office/drawing/2014/main" id="{F5B52313-8F4E-4985-9B42-2D3F6E4EDBB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04068" y="3763637"/>
            <a:ext cx="2006729" cy="2355725"/>
          </a:xfrm>
          <a:prstGeom prst="rect">
            <a:avLst/>
          </a:prstGeom>
          <a:noFill/>
          <a:extLst>
            <a:ext uri="{909E8E84-426E-40DD-AFC4-6F175D3DCCD1}">
              <a14:hiddenFill xmlns:a14="http://schemas.microsoft.com/office/drawing/2010/main">
                <a:solidFill>
                  <a:srgbClr val="FFFFFF"/>
                </a:solidFill>
              </a14:hiddenFill>
            </a:ext>
          </a:extLst>
        </p:spPr>
      </p:pic>
      <p:pic>
        <p:nvPicPr>
          <p:cNvPr id="7170" name="Picture 2" descr="Homer Simpson | Simpson Wiki en Español | Fandom">
            <a:extLst>
              <a:ext uri="{FF2B5EF4-FFF2-40B4-BE49-F238E27FC236}">
                <a16:creationId xmlns:a16="http://schemas.microsoft.com/office/drawing/2014/main" id="{55AAF540-A4B8-43E9-BD65-7A2DBA3CB40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90257" y="4054047"/>
            <a:ext cx="1557150" cy="2078767"/>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Peter Griffin | Family Guy Wiki | Fandom">
            <a:extLst>
              <a:ext uri="{FF2B5EF4-FFF2-40B4-BE49-F238E27FC236}">
                <a16:creationId xmlns:a16="http://schemas.microsoft.com/office/drawing/2014/main" id="{06DE101A-5CCC-4BE4-9772-BB17C6A9ADC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110272" y="3791639"/>
            <a:ext cx="1877276" cy="2341175"/>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F8CFE5BF-AD2A-4839-BF26-B02A20CAAFBC}"/>
                  </a:ext>
                </a:extLst>
              </p:cNvPr>
              <p:cNvSpPr txBox="1"/>
              <p:nvPr/>
            </p:nvSpPr>
            <p:spPr>
              <a:xfrm>
                <a:off x="351328" y="3748859"/>
                <a:ext cx="3535927" cy="2585323"/>
              </a:xfrm>
              <a:prstGeom prst="rect">
                <a:avLst/>
              </a:prstGeom>
              <a:noFill/>
            </p:spPr>
            <p:txBody>
              <a:bodyPr wrap="square">
                <a:spAutoFit/>
              </a:bodyPr>
              <a:lstStyle/>
              <a:p>
                <a:r>
                  <a:rPr lang="es-CO" sz="2200" b="1" dirty="0">
                    <a:ea typeface="Roboto" panose="02000000000000000000" pitchFamily="2" charset="0"/>
                  </a:rPr>
                  <a:t>Ejemplo:</a:t>
                </a:r>
              </a:p>
              <a:p>
                <a:pPr marL="285750" indent="-285750">
                  <a:buFont typeface="Arial" panose="020B0604020202020204" pitchFamily="34" charset="0"/>
                  <a:buChar char="•"/>
                </a:pPr>
                <a:r>
                  <a:rPr lang="es-CO" sz="2000" dirty="0">
                    <a:ea typeface="Roboto" panose="02000000000000000000" pitchFamily="2" charset="0"/>
                  </a:rPr>
                  <a:t>Sea </a:t>
                </a:r>
                <a14:m>
                  <m:oMath xmlns:m="http://schemas.openxmlformats.org/officeDocument/2006/math">
                    <m:r>
                      <a:rPr lang="es-MX" sz="2000" b="1" i="1" smtClean="0">
                        <a:solidFill>
                          <a:schemeClr val="tx1"/>
                        </a:solidFill>
                        <a:latin typeface="Cambria Math" panose="02040503050406030204" pitchFamily="18" charset="0"/>
                      </a:rPr>
                      <m:t>𝑺</m:t>
                    </m:r>
                  </m:oMath>
                </a14:m>
                <a:r>
                  <a:rPr lang="es-CO" sz="2000" dirty="0">
                    <a:ea typeface="Roboto" panose="02000000000000000000" pitchFamily="2" charset="0"/>
                  </a:rPr>
                  <a:t> el conjunto asociado la</a:t>
                </a:r>
                <a:r>
                  <a:rPr lang="es-CO" sz="2000" dirty="0"/>
                  <a:t>  familia Simpson.</a:t>
                </a:r>
              </a:p>
              <a:p>
                <a:pPr marL="285750" indent="-285750">
                  <a:buFont typeface="Arial" panose="020B0604020202020204" pitchFamily="34" charset="0"/>
                  <a:buChar char="•"/>
                </a:pPr>
                <a:r>
                  <a:rPr lang="es-CO" sz="2000" dirty="0"/>
                  <a:t>Sea </a:t>
                </a:r>
                <a14:m>
                  <m:oMath xmlns:m="http://schemas.openxmlformats.org/officeDocument/2006/math">
                    <m:r>
                      <a:rPr lang="es-MX" sz="2000" b="1" i="1" smtClean="0">
                        <a:solidFill>
                          <a:schemeClr val="tx1"/>
                        </a:solidFill>
                        <a:latin typeface="Cambria Math" panose="02040503050406030204" pitchFamily="18" charset="0"/>
                      </a:rPr>
                      <m:t>𝒉</m:t>
                    </m:r>
                  </m:oMath>
                </a14:m>
                <a:r>
                  <a:rPr lang="es-CO" sz="2000" dirty="0"/>
                  <a:t> el elemento que representa a Homero Simpson.</a:t>
                </a:r>
              </a:p>
              <a:p>
                <a:pPr marL="285750" indent="-285750">
                  <a:buFont typeface="Arial" panose="020B0604020202020204" pitchFamily="34" charset="0"/>
                  <a:buChar char="•"/>
                </a:pPr>
                <a:r>
                  <a:rPr lang="es-CO" sz="2000" dirty="0"/>
                  <a:t>Sea </a:t>
                </a:r>
                <a14:m>
                  <m:oMath xmlns:m="http://schemas.openxmlformats.org/officeDocument/2006/math">
                    <m:r>
                      <a:rPr lang="es-MX" sz="2000" b="1" i="1" smtClean="0">
                        <a:solidFill>
                          <a:schemeClr val="tx1"/>
                        </a:solidFill>
                        <a:latin typeface="Cambria Math" panose="02040503050406030204" pitchFamily="18" charset="0"/>
                      </a:rPr>
                      <m:t>𝒑</m:t>
                    </m:r>
                  </m:oMath>
                </a14:m>
                <a:r>
                  <a:rPr lang="es-CO" sz="2000" dirty="0"/>
                  <a:t> el elemento asociado a Peter Griffin.</a:t>
                </a:r>
              </a:p>
            </p:txBody>
          </p:sp>
        </mc:Choice>
        <mc:Fallback xmlns="">
          <p:sp>
            <p:nvSpPr>
              <p:cNvPr id="13" name="CuadroTexto 12">
                <a:extLst>
                  <a:ext uri="{FF2B5EF4-FFF2-40B4-BE49-F238E27FC236}">
                    <a16:creationId xmlns:a16="http://schemas.microsoft.com/office/drawing/2014/main" id="{F8CFE5BF-AD2A-4839-BF26-B02A20CAAFBC}"/>
                  </a:ext>
                </a:extLst>
              </p:cNvPr>
              <p:cNvSpPr txBox="1">
                <a:spLocks noRot="1" noChangeAspect="1" noMove="1" noResize="1" noEditPoints="1" noAdjustHandles="1" noChangeArrowheads="1" noChangeShapeType="1" noTextEdit="1"/>
              </p:cNvSpPr>
              <p:nvPr/>
            </p:nvSpPr>
            <p:spPr>
              <a:xfrm>
                <a:off x="351328" y="3748859"/>
                <a:ext cx="3535927" cy="2585323"/>
              </a:xfrm>
              <a:prstGeom prst="rect">
                <a:avLst/>
              </a:prstGeom>
              <a:blipFill>
                <a:blip r:embed="rId7"/>
                <a:stretch>
                  <a:fillRect l="-2241" t="-1651" r="-2069" b="-3302"/>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D0376B01-54B0-4886-A697-9852D459A8F2}"/>
                  </a:ext>
                </a:extLst>
              </p:cNvPr>
              <p:cNvSpPr txBox="1"/>
              <p:nvPr/>
            </p:nvSpPr>
            <p:spPr>
              <a:xfrm>
                <a:off x="5395204" y="6132814"/>
                <a:ext cx="957942" cy="400110"/>
              </a:xfrm>
              <a:prstGeom prst="rect">
                <a:avLst/>
              </a:prstGeom>
              <a:solidFill>
                <a:schemeClr val="bg1"/>
              </a:solidFill>
            </p:spPr>
            <p:txBody>
              <a:bodyPr wrap="square">
                <a:spAutoFit/>
              </a:bodyPr>
              <a:lstStyle/>
              <a:p>
                <a:pPr/>
                <a14:m>
                  <m:oMathPara xmlns:m="http://schemas.openxmlformats.org/officeDocument/2006/math">
                    <m:oMathParaPr>
                      <m:jc m:val="centerGroup"/>
                    </m:oMathParaPr>
                    <m:oMath xmlns:m="http://schemas.openxmlformats.org/officeDocument/2006/math">
                      <m:r>
                        <a:rPr lang="es-MX" sz="2000" b="1" i="1" smtClean="0">
                          <a:solidFill>
                            <a:schemeClr val="tx1"/>
                          </a:solidFill>
                          <a:latin typeface="Cambria Math" panose="02040503050406030204" pitchFamily="18" charset="0"/>
                        </a:rPr>
                        <m:t>𝑺</m:t>
                      </m:r>
                    </m:oMath>
                  </m:oMathPara>
                </a14:m>
                <a:endParaRPr lang="es-CO" sz="2000" b="1" dirty="0">
                  <a:solidFill>
                    <a:schemeClr val="tx1"/>
                  </a:solidFill>
                </a:endParaRPr>
              </a:p>
            </p:txBody>
          </p:sp>
        </mc:Choice>
        <mc:Fallback xmlns="">
          <p:sp>
            <p:nvSpPr>
              <p:cNvPr id="15" name="CuadroTexto 14">
                <a:extLst>
                  <a:ext uri="{FF2B5EF4-FFF2-40B4-BE49-F238E27FC236}">
                    <a16:creationId xmlns:a16="http://schemas.microsoft.com/office/drawing/2014/main" id="{D0376B01-54B0-4886-A697-9852D459A8F2}"/>
                  </a:ext>
                </a:extLst>
              </p:cNvPr>
              <p:cNvSpPr txBox="1">
                <a:spLocks noRot="1" noChangeAspect="1" noMove="1" noResize="1" noEditPoints="1" noAdjustHandles="1" noChangeArrowheads="1" noChangeShapeType="1" noTextEdit="1"/>
              </p:cNvSpPr>
              <p:nvPr/>
            </p:nvSpPr>
            <p:spPr>
              <a:xfrm>
                <a:off x="5395204" y="6132814"/>
                <a:ext cx="957942" cy="400110"/>
              </a:xfrm>
              <a:prstGeom prst="rect">
                <a:avLst/>
              </a:prstGeom>
              <a:blipFill>
                <a:blip r:embed="rId8"/>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16" name="CuadroTexto 15">
                <a:extLst>
                  <a:ext uri="{FF2B5EF4-FFF2-40B4-BE49-F238E27FC236}">
                    <a16:creationId xmlns:a16="http://schemas.microsoft.com/office/drawing/2014/main" id="{06E97FE4-2E91-47A3-8870-2D8838931392}"/>
                  </a:ext>
                </a:extLst>
              </p:cNvPr>
              <p:cNvSpPr txBox="1"/>
              <p:nvPr/>
            </p:nvSpPr>
            <p:spPr>
              <a:xfrm>
                <a:off x="9447019" y="6119362"/>
                <a:ext cx="1203783" cy="400110"/>
              </a:xfrm>
              <a:prstGeom prst="rect">
                <a:avLst/>
              </a:prstGeom>
              <a:solidFill>
                <a:schemeClr val="bg1"/>
              </a:solidFill>
            </p:spPr>
            <p:txBody>
              <a:bodyPr wrap="square">
                <a:spAutoFit/>
              </a:bodyPr>
              <a:lstStyle/>
              <a:p>
                <a:pPr/>
                <a14:m>
                  <m:oMathPara xmlns:m="http://schemas.openxmlformats.org/officeDocument/2006/math">
                    <m:oMathParaPr>
                      <m:jc m:val="centerGroup"/>
                    </m:oMathParaPr>
                    <m:oMath xmlns:m="http://schemas.openxmlformats.org/officeDocument/2006/math">
                      <m:r>
                        <a:rPr lang="es-MX" sz="2000" b="1" i="1" smtClean="0">
                          <a:solidFill>
                            <a:schemeClr val="tx1"/>
                          </a:solidFill>
                          <a:latin typeface="Cambria Math" panose="02040503050406030204" pitchFamily="18" charset="0"/>
                        </a:rPr>
                        <m:t>𝒑</m:t>
                      </m:r>
                      <m:r>
                        <a:rPr lang="es-MX" sz="2000" b="1" i="1" smtClean="0">
                          <a:solidFill>
                            <a:schemeClr val="tx1"/>
                          </a:solidFill>
                          <a:latin typeface="Cambria Math" panose="02040503050406030204" pitchFamily="18" charset="0"/>
                        </a:rPr>
                        <m:t>∉</m:t>
                      </m:r>
                      <m:r>
                        <a:rPr lang="es-MX" sz="2000" b="1" i="1" smtClean="0">
                          <a:solidFill>
                            <a:schemeClr val="tx1"/>
                          </a:solidFill>
                          <a:latin typeface="Cambria Math" panose="02040503050406030204" pitchFamily="18" charset="0"/>
                        </a:rPr>
                        <m:t>𝑺</m:t>
                      </m:r>
                    </m:oMath>
                  </m:oMathPara>
                </a14:m>
                <a:endParaRPr lang="es-CO" sz="2000" b="1" dirty="0">
                  <a:solidFill>
                    <a:schemeClr val="tx1"/>
                  </a:solidFill>
                </a:endParaRPr>
              </a:p>
            </p:txBody>
          </p:sp>
        </mc:Choice>
        <mc:Fallback xmlns="">
          <p:sp>
            <p:nvSpPr>
              <p:cNvPr id="16" name="CuadroTexto 15">
                <a:extLst>
                  <a:ext uri="{FF2B5EF4-FFF2-40B4-BE49-F238E27FC236}">
                    <a16:creationId xmlns:a16="http://schemas.microsoft.com/office/drawing/2014/main" id="{06E97FE4-2E91-47A3-8870-2D8838931392}"/>
                  </a:ext>
                </a:extLst>
              </p:cNvPr>
              <p:cNvSpPr txBox="1">
                <a:spLocks noRot="1" noChangeAspect="1" noMove="1" noResize="1" noEditPoints="1" noAdjustHandles="1" noChangeArrowheads="1" noChangeShapeType="1" noTextEdit="1"/>
              </p:cNvSpPr>
              <p:nvPr/>
            </p:nvSpPr>
            <p:spPr>
              <a:xfrm>
                <a:off x="9447019" y="6119362"/>
                <a:ext cx="1203783" cy="400110"/>
              </a:xfrm>
              <a:prstGeom prst="rect">
                <a:avLst/>
              </a:prstGeom>
              <a:blipFill>
                <a:blip r:embed="rId9"/>
                <a:stretch>
                  <a:fillRect b="-9231"/>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74541823-0FBC-4340-BF96-76CBEB8CFDBC}"/>
                  </a:ext>
                </a:extLst>
              </p:cNvPr>
              <p:cNvSpPr txBox="1"/>
              <p:nvPr/>
            </p:nvSpPr>
            <p:spPr>
              <a:xfrm>
                <a:off x="7583838" y="6141733"/>
                <a:ext cx="957942" cy="400110"/>
              </a:xfrm>
              <a:prstGeom prst="rect">
                <a:avLst/>
              </a:prstGeom>
              <a:solidFill>
                <a:schemeClr val="bg1"/>
              </a:solidFill>
            </p:spPr>
            <p:txBody>
              <a:bodyPr wrap="square">
                <a:spAutoFit/>
              </a:bodyPr>
              <a:lstStyle/>
              <a:p>
                <a:pPr/>
                <a14:m>
                  <m:oMathPara xmlns:m="http://schemas.openxmlformats.org/officeDocument/2006/math">
                    <m:oMathParaPr>
                      <m:jc m:val="centerGroup"/>
                    </m:oMathParaPr>
                    <m:oMath xmlns:m="http://schemas.openxmlformats.org/officeDocument/2006/math">
                      <m:r>
                        <a:rPr lang="es-MX" sz="2000" b="1" i="1" smtClean="0">
                          <a:solidFill>
                            <a:schemeClr val="tx1"/>
                          </a:solidFill>
                          <a:latin typeface="Cambria Math" panose="02040503050406030204" pitchFamily="18" charset="0"/>
                        </a:rPr>
                        <m:t>𝒉</m:t>
                      </m:r>
                      <m:r>
                        <a:rPr lang="es-MX" sz="2000" b="1" i="1" smtClean="0">
                          <a:solidFill>
                            <a:schemeClr val="tx1"/>
                          </a:solidFill>
                          <a:latin typeface="Cambria Math" panose="02040503050406030204" pitchFamily="18" charset="0"/>
                        </a:rPr>
                        <m:t>∈</m:t>
                      </m:r>
                      <m:r>
                        <a:rPr lang="es-MX" sz="2000" b="1" i="1" smtClean="0">
                          <a:solidFill>
                            <a:schemeClr val="tx1"/>
                          </a:solidFill>
                          <a:latin typeface="Cambria Math" panose="02040503050406030204" pitchFamily="18" charset="0"/>
                        </a:rPr>
                        <m:t>𝑺</m:t>
                      </m:r>
                    </m:oMath>
                  </m:oMathPara>
                </a14:m>
                <a:endParaRPr lang="es-CO" sz="2000" b="1" dirty="0">
                  <a:solidFill>
                    <a:schemeClr val="tx1"/>
                  </a:solidFill>
                </a:endParaRPr>
              </a:p>
            </p:txBody>
          </p:sp>
        </mc:Choice>
        <mc:Fallback xmlns="">
          <p:sp>
            <p:nvSpPr>
              <p:cNvPr id="17" name="CuadroTexto 16">
                <a:extLst>
                  <a:ext uri="{FF2B5EF4-FFF2-40B4-BE49-F238E27FC236}">
                    <a16:creationId xmlns:a16="http://schemas.microsoft.com/office/drawing/2014/main" id="{74541823-0FBC-4340-BF96-76CBEB8CFDBC}"/>
                  </a:ext>
                </a:extLst>
              </p:cNvPr>
              <p:cNvSpPr txBox="1">
                <a:spLocks noRot="1" noChangeAspect="1" noMove="1" noResize="1" noEditPoints="1" noAdjustHandles="1" noChangeArrowheads="1" noChangeShapeType="1" noTextEdit="1"/>
              </p:cNvSpPr>
              <p:nvPr/>
            </p:nvSpPr>
            <p:spPr>
              <a:xfrm>
                <a:off x="7583838" y="6141733"/>
                <a:ext cx="957942" cy="400110"/>
              </a:xfrm>
              <a:prstGeom prst="rect">
                <a:avLst/>
              </a:prstGeom>
              <a:blipFill>
                <a:blip r:embed="rId10"/>
                <a:stretch>
                  <a:fillRect/>
                </a:stretch>
              </a:blipFill>
            </p:spPr>
            <p:txBody>
              <a:bodyPr/>
              <a:lstStyle/>
              <a:p>
                <a:r>
                  <a:rPr lang="es-CO">
                    <a:noFill/>
                  </a:rPr>
                  <a:t> </a:t>
                </a:r>
              </a:p>
            </p:txBody>
          </p:sp>
        </mc:Fallback>
      </mc:AlternateContent>
    </p:spTree>
    <p:extLst>
      <p:ext uri="{BB962C8B-B14F-4D97-AF65-F5344CB8AC3E}">
        <p14:creationId xmlns:p14="http://schemas.microsoft.com/office/powerpoint/2010/main" val="37274001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26"/>
          <p:cNvSpPr txBox="1">
            <a:spLocks noGrp="1"/>
          </p:cNvSpPr>
          <p:nvPr>
            <p:ph type="title"/>
          </p:nvPr>
        </p:nvSpPr>
        <p:spPr>
          <a:xfrm>
            <a:off x="294968" y="96038"/>
            <a:ext cx="11371006"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t>Conceptos básicos – Representación de conjuntos</a:t>
            </a:r>
            <a:endParaRPr dirty="0"/>
          </a:p>
        </p:txBody>
      </p:sp>
      <p:sp>
        <p:nvSpPr>
          <p:cNvPr id="8" name="Google Shape;310;p34">
            <a:extLst>
              <a:ext uri="{FF2B5EF4-FFF2-40B4-BE49-F238E27FC236}">
                <a16:creationId xmlns:a16="http://schemas.microsoft.com/office/drawing/2014/main" id="{F6716F76-3AFE-471D-B156-0250FFA69F6E}"/>
              </a:ext>
            </a:extLst>
          </p:cNvPr>
          <p:cNvSpPr txBox="1">
            <a:spLocks/>
          </p:cNvSpPr>
          <p:nvPr/>
        </p:nvSpPr>
        <p:spPr>
          <a:xfrm>
            <a:off x="275372" y="914752"/>
            <a:ext cx="11390602" cy="134006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200" dirty="0">
                <a:latin typeface="+mn-lt"/>
                <a:ea typeface="Roboto" panose="02000000000000000000" pitchFamily="2" charset="0"/>
              </a:rPr>
              <a:t>Existen dos formas para representar conjuntos:</a:t>
            </a:r>
          </a:p>
          <a:p>
            <a:pPr marL="584200" indent="-457200">
              <a:buFont typeface="+mj-lt"/>
              <a:buAutoNum type="arabicPeriod"/>
            </a:pPr>
            <a:r>
              <a:rPr lang="es-MX" sz="2200" b="1" dirty="0">
                <a:latin typeface="+mn-lt"/>
                <a:ea typeface="Roboto" panose="02000000000000000000" pitchFamily="2" charset="0"/>
              </a:rPr>
              <a:t>Notación por extensión</a:t>
            </a:r>
            <a:r>
              <a:rPr lang="es-MX" sz="2200" dirty="0">
                <a:latin typeface="+mn-lt"/>
                <a:ea typeface="Roboto" panose="02000000000000000000" pitchFamily="2" charset="0"/>
              </a:rPr>
              <a:t>: En esta se lista cada uno de los elementos que pertenecen al conjunto.</a:t>
            </a:r>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9DB24858-3E63-41A5-B912-DF4AD38056E6}"/>
                  </a:ext>
                </a:extLst>
              </p:cNvPr>
              <p:cNvSpPr txBox="1"/>
              <p:nvPr/>
            </p:nvSpPr>
            <p:spPr>
              <a:xfrm>
                <a:off x="294968" y="2229510"/>
                <a:ext cx="11621660" cy="769441"/>
              </a:xfrm>
              <a:prstGeom prst="rect">
                <a:avLst/>
              </a:prstGeom>
              <a:noFill/>
            </p:spPr>
            <p:txBody>
              <a:bodyPr wrap="square">
                <a:spAutoFit/>
              </a:bodyPr>
              <a:lstStyle/>
              <a:p>
                <a:r>
                  <a:rPr lang="es-CO" sz="2200" b="1" dirty="0">
                    <a:solidFill>
                      <a:schemeClr val="tx1"/>
                    </a:solidFill>
                    <a:ea typeface="Roboto" panose="02000000000000000000" pitchFamily="2" charset="0"/>
                  </a:rPr>
                  <a:t>Ejemplo: </a:t>
                </a:r>
                <a:r>
                  <a:rPr lang="es-CO" sz="2200" dirty="0">
                    <a:solidFill>
                      <a:schemeClr val="tx1"/>
                    </a:solidFill>
                    <a:ea typeface="Roboto" panose="02000000000000000000" pitchFamily="2" charset="0"/>
                  </a:rPr>
                  <a:t>Sea </a:t>
                </a:r>
                <a14:m>
                  <m:oMath xmlns:m="http://schemas.openxmlformats.org/officeDocument/2006/math">
                    <m:r>
                      <a:rPr lang="es-MX" sz="2200" b="1" i="1" smtClean="0">
                        <a:solidFill>
                          <a:schemeClr val="tx1"/>
                        </a:solidFill>
                        <a:latin typeface="Cambria Math" panose="02040503050406030204" pitchFamily="18" charset="0"/>
                      </a:rPr>
                      <m:t>𝑮</m:t>
                    </m:r>
                  </m:oMath>
                </a14:m>
                <a:r>
                  <a:rPr lang="es-CO" sz="2200" dirty="0">
                    <a:solidFill>
                      <a:schemeClr val="tx1"/>
                    </a:solidFill>
                    <a:ea typeface="Roboto" panose="02000000000000000000" pitchFamily="2" charset="0"/>
                  </a:rPr>
                  <a:t> el conjunto asociado a la</a:t>
                </a:r>
                <a:r>
                  <a:rPr lang="es-CO" sz="2200" dirty="0">
                    <a:solidFill>
                      <a:schemeClr val="tx1"/>
                    </a:solidFill>
                  </a:rPr>
                  <a:t> familia Griffin y </a:t>
                </a:r>
                <a14:m>
                  <m:oMath xmlns:m="http://schemas.openxmlformats.org/officeDocument/2006/math">
                    <m:r>
                      <a:rPr lang="es-MX" sz="2200" b="1" i="1">
                        <a:solidFill>
                          <a:schemeClr val="tx1"/>
                        </a:solidFill>
                        <a:latin typeface="Cambria Math" panose="02040503050406030204" pitchFamily="18" charset="0"/>
                      </a:rPr>
                      <m:t>𝑷</m:t>
                    </m:r>
                  </m:oMath>
                </a14:m>
                <a:r>
                  <a:rPr lang="es-CO" sz="2200" dirty="0">
                    <a:solidFill>
                      <a:schemeClr val="tx1"/>
                    </a:solidFill>
                  </a:rPr>
                  <a:t> el conjunto asociado a todos los personajes del programa Padre de Familia. Realice la representación por extensión y comprensión.</a:t>
                </a:r>
              </a:p>
            </p:txBody>
          </p:sp>
        </mc:Choice>
        <mc:Fallback xmlns="">
          <p:sp>
            <p:nvSpPr>
              <p:cNvPr id="9" name="CuadroTexto 8">
                <a:extLst>
                  <a:ext uri="{FF2B5EF4-FFF2-40B4-BE49-F238E27FC236}">
                    <a16:creationId xmlns:a16="http://schemas.microsoft.com/office/drawing/2014/main" id="{9DB24858-3E63-41A5-B912-DF4AD38056E6}"/>
                  </a:ext>
                </a:extLst>
              </p:cNvPr>
              <p:cNvSpPr txBox="1">
                <a:spLocks noRot="1" noChangeAspect="1" noMove="1" noResize="1" noEditPoints="1" noAdjustHandles="1" noChangeArrowheads="1" noChangeShapeType="1" noTextEdit="1"/>
              </p:cNvSpPr>
              <p:nvPr/>
            </p:nvSpPr>
            <p:spPr>
              <a:xfrm>
                <a:off x="294968" y="2229510"/>
                <a:ext cx="11621660" cy="769441"/>
              </a:xfrm>
              <a:prstGeom prst="rect">
                <a:avLst/>
              </a:prstGeom>
              <a:blipFill>
                <a:blip r:embed="rId3"/>
                <a:stretch>
                  <a:fillRect l="-682" t="-5556" b="-15079"/>
                </a:stretch>
              </a:blipFill>
            </p:spPr>
            <p:txBody>
              <a:bodyPr/>
              <a:lstStyle/>
              <a:p>
                <a:r>
                  <a:rPr lang="es-CO">
                    <a:noFill/>
                  </a:rPr>
                  <a:t> </a:t>
                </a:r>
              </a:p>
            </p:txBody>
          </p:sp>
        </mc:Fallback>
      </mc:AlternateContent>
      <p:grpSp>
        <p:nvGrpSpPr>
          <p:cNvPr id="15" name="Grupo 14">
            <a:extLst>
              <a:ext uri="{FF2B5EF4-FFF2-40B4-BE49-F238E27FC236}">
                <a16:creationId xmlns:a16="http://schemas.microsoft.com/office/drawing/2014/main" id="{C31E7076-0FAD-49CA-8216-A0BFCC08ED03}"/>
              </a:ext>
            </a:extLst>
          </p:cNvPr>
          <p:cNvGrpSpPr/>
          <p:nvPr/>
        </p:nvGrpSpPr>
        <p:grpSpPr>
          <a:xfrm>
            <a:off x="656795" y="3180318"/>
            <a:ext cx="4497303" cy="3146642"/>
            <a:chOff x="924132" y="3978951"/>
            <a:chExt cx="4497303" cy="3146642"/>
          </a:xfrm>
        </p:grpSpPr>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D9D9BEFD-6402-45EC-8500-3A0B1984B424}"/>
                    </a:ext>
                  </a:extLst>
                </p:cNvPr>
                <p:cNvSpPr txBox="1"/>
                <p:nvPr/>
              </p:nvSpPr>
              <p:spPr>
                <a:xfrm>
                  <a:off x="1195778" y="6725483"/>
                  <a:ext cx="3849178"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MX" sz="2000" b="1" i="1" smtClean="0">
                            <a:solidFill>
                              <a:schemeClr val="tx1"/>
                            </a:solidFill>
                            <a:latin typeface="Cambria Math" panose="02040503050406030204" pitchFamily="18" charset="0"/>
                          </a:rPr>
                          <m:t>𝑷</m:t>
                        </m:r>
                        <m:r>
                          <a:rPr lang="es-MX" sz="2000" b="0" i="0" smtClean="0">
                            <a:solidFill>
                              <a:schemeClr val="tx1"/>
                            </a:solidFill>
                            <a:latin typeface="Cambria Math" panose="02040503050406030204" pitchFamily="18" charset="0"/>
                          </a:rPr>
                          <m:t>:</m:t>
                        </m:r>
                        <m:r>
                          <m:rPr>
                            <m:sty m:val="p"/>
                          </m:rPr>
                          <a:rPr lang="es-MX" sz="2000" b="0" i="0" smtClean="0">
                            <a:solidFill>
                              <a:schemeClr val="tx1"/>
                            </a:solidFill>
                            <a:latin typeface="Cambria Math" panose="02040503050406030204" pitchFamily="18" charset="0"/>
                          </a:rPr>
                          <m:t>Personajes</m:t>
                        </m:r>
                        <m:r>
                          <a:rPr lang="es-MX" sz="2000" b="0" i="0" smtClean="0">
                            <a:solidFill>
                              <a:schemeClr val="tx1"/>
                            </a:solidFill>
                            <a:latin typeface="Cambria Math" panose="02040503050406030204" pitchFamily="18" charset="0"/>
                          </a:rPr>
                          <m:t> </m:t>
                        </m:r>
                        <m:r>
                          <m:rPr>
                            <m:sty m:val="p"/>
                          </m:rPr>
                          <a:rPr lang="es-MX" sz="2000" b="0" i="0" smtClean="0">
                            <a:solidFill>
                              <a:schemeClr val="tx1"/>
                            </a:solidFill>
                            <a:latin typeface="Cambria Math" panose="02040503050406030204" pitchFamily="18" charset="0"/>
                          </a:rPr>
                          <m:t>de</m:t>
                        </m:r>
                        <m:r>
                          <a:rPr lang="es-MX" sz="2000" b="0" i="0" smtClean="0">
                            <a:solidFill>
                              <a:schemeClr val="tx1"/>
                            </a:solidFill>
                            <a:latin typeface="Cambria Math" panose="02040503050406030204" pitchFamily="18" charset="0"/>
                          </a:rPr>
                          <m:t> </m:t>
                        </m:r>
                        <m:r>
                          <m:rPr>
                            <m:sty m:val="p"/>
                          </m:rPr>
                          <a:rPr lang="es-MX" sz="2000" b="0" i="0" smtClean="0">
                            <a:solidFill>
                              <a:schemeClr val="tx1"/>
                            </a:solidFill>
                            <a:latin typeface="Cambria Math" panose="02040503050406030204" pitchFamily="18" charset="0"/>
                          </a:rPr>
                          <m:t>padre</m:t>
                        </m:r>
                        <m:r>
                          <a:rPr lang="es-MX" sz="2000" b="0" i="0" smtClean="0">
                            <a:solidFill>
                              <a:schemeClr val="tx1"/>
                            </a:solidFill>
                            <a:latin typeface="Cambria Math" panose="02040503050406030204" pitchFamily="18" charset="0"/>
                          </a:rPr>
                          <m:t> </m:t>
                        </m:r>
                        <m:r>
                          <m:rPr>
                            <m:sty m:val="p"/>
                          </m:rPr>
                          <a:rPr lang="es-MX" sz="2000" b="0" i="0" smtClean="0">
                            <a:solidFill>
                              <a:schemeClr val="tx1"/>
                            </a:solidFill>
                            <a:latin typeface="Cambria Math" panose="02040503050406030204" pitchFamily="18" charset="0"/>
                          </a:rPr>
                          <m:t>de</m:t>
                        </m:r>
                        <m:r>
                          <a:rPr lang="es-MX" sz="2000" b="0" i="0" smtClean="0">
                            <a:solidFill>
                              <a:schemeClr val="tx1"/>
                            </a:solidFill>
                            <a:latin typeface="Cambria Math" panose="02040503050406030204" pitchFamily="18" charset="0"/>
                          </a:rPr>
                          <m:t> </m:t>
                        </m:r>
                        <m:r>
                          <m:rPr>
                            <m:sty m:val="p"/>
                          </m:rPr>
                          <a:rPr lang="es-MX" sz="2000" b="0" i="0" smtClean="0">
                            <a:solidFill>
                              <a:schemeClr val="tx1"/>
                            </a:solidFill>
                            <a:latin typeface="Cambria Math" panose="02040503050406030204" pitchFamily="18" charset="0"/>
                          </a:rPr>
                          <m:t>familia</m:t>
                        </m:r>
                      </m:oMath>
                    </m:oMathPara>
                  </a14:m>
                  <a:endParaRPr lang="es-CO" sz="2000" dirty="0">
                    <a:solidFill>
                      <a:schemeClr val="tx1"/>
                    </a:solidFill>
                  </a:endParaRPr>
                </a:p>
              </p:txBody>
            </p:sp>
          </mc:Choice>
          <mc:Fallback xmlns="">
            <p:sp>
              <p:nvSpPr>
                <p:cNvPr id="14" name="CuadroTexto 13">
                  <a:extLst>
                    <a:ext uri="{FF2B5EF4-FFF2-40B4-BE49-F238E27FC236}">
                      <a16:creationId xmlns:a16="http://schemas.microsoft.com/office/drawing/2014/main" id="{D9D9BEFD-6402-45EC-8500-3A0B1984B424}"/>
                    </a:ext>
                  </a:extLst>
                </p:cNvPr>
                <p:cNvSpPr txBox="1">
                  <a:spLocks noRot="1" noChangeAspect="1" noMove="1" noResize="1" noEditPoints="1" noAdjustHandles="1" noChangeArrowheads="1" noChangeShapeType="1" noTextEdit="1"/>
                </p:cNvSpPr>
                <p:nvPr/>
              </p:nvSpPr>
              <p:spPr>
                <a:xfrm>
                  <a:off x="1195778" y="6725483"/>
                  <a:ext cx="3849178" cy="400110"/>
                </a:xfrm>
                <a:prstGeom prst="rect">
                  <a:avLst/>
                </a:prstGeom>
                <a:blipFill>
                  <a:blip r:embed="rId4"/>
                  <a:stretch>
                    <a:fillRect b="-13636"/>
                  </a:stretch>
                </a:blipFill>
              </p:spPr>
              <p:txBody>
                <a:bodyPr/>
                <a:lstStyle/>
                <a:p>
                  <a:r>
                    <a:rPr lang="es-CO">
                      <a:noFill/>
                    </a:rPr>
                    <a:t> </a:t>
                  </a:r>
                </a:p>
              </p:txBody>
            </p:sp>
          </mc:Fallback>
        </mc:AlternateContent>
        <p:grpSp>
          <p:nvGrpSpPr>
            <p:cNvPr id="5" name="Grupo 4">
              <a:extLst>
                <a:ext uri="{FF2B5EF4-FFF2-40B4-BE49-F238E27FC236}">
                  <a16:creationId xmlns:a16="http://schemas.microsoft.com/office/drawing/2014/main" id="{49550305-9E36-4D20-AD38-91D9A33615B3}"/>
                </a:ext>
              </a:extLst>
            </p:cNvPr>
            <p:cNvGrpSpPr/>
            <p:nvPr/>
          </p:nvGrpSpPr>
          <p:grpSpPr>
            <a:xfrm>
              <a:off x="2933872" y="3978951"/>
              <a:ext cx="2487563" cy="2131478"/>
              <a:chOff x="2933872" y="3978951"/>
              <a:chExt cx="2487563" cy="2131478"/>
            </a:xfrm>
          </p:grpSpPr>
          <p:pic>
            <p:nvPicPr>
              <p:cNvPr id="1028" name="Picture 4" descr="Glenn Quagmire - Wikipedia">
                <a:extLst>
                  <a:ext uri="{FF2B5EF4-FFF2-40B4-BE49-F238E27FC236}">
                    <a16:creationId xmlns:a16="http://schemas.microsoft.com/office/drawing/2014/main" id="{5DD8B0E4-B6B1-43CE-83FC-29B639F06C6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33872" y="4006536"/>
                <a:ext cx="979685" cy="1433391"/>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Joe Swanson | Family Guy Wiki | Fandom">
                <a:extLst>
                  <a:ext uri="{FF2B5EF4-FFF2-40B4-BE49-F238E27FC236}">
                    <a16:creationId xmlns:a16="http://schemas.microsoft.com/office/drawing/2014/main" id="{49D79C52-514D-465F-9FCF-AB4BF1C3D19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06023" y="4723231"/>
                <a:ext cx="917092" cy="138719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Cleveland Brown | Family Guy Wiki | Fandom">
                <a:extLst>
                  <a:ext uri="{FF2B5EF4-FFF2-40B4-BE49-F238E27FC236}">
                    <a16:creationId xmlns:a16="http://schemas.microsoft.com/office/drawing/2014/main" id="{83BF72E1-FB72-419B-9748-7C828596E24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50494" y="3978951"/>
                <a:ext cx="870941" cy="153098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1" name="Grupo 10">
              <a:extLst>
                <a:ext uri="{FF2B5EF4-FFF2-40B4-BE49-F238E27FC236}">
                  <a16:creationId xmlns:a16="http://schemas.microsoft.com/office/drawing/2014/main" id="{DA2556A8-9111-4EC7-AD04-8BBA68585BB6}"/>
                </a:ext>
              </a:extLst>
            </p:cNvPr>
            <p:cNvGrpSpPr/>
            <p:nvPr/>
          </p:nvGrpSpPr>
          <p:grpSpPr>
            <a:xfrm>
              <a:off x="924132" y="4175705"/>
              <a:ext cx="1979970" cy="2174023"/>
              <a:chOff x="924132" y="4175705"/>
              <a:chExt cx="1979970" cy="2174023"/>
            </a:xfrm>
          </p:grpSpPr>
          <p:pic>
            <p:nvPicPr>
              <p:cNvPr id="1026" name="Picture 2" descr="Griffin family - Wikipedia">
                <a:extLst>
                  <a:ext uri="{FF2B5EF4-FFF2-40B4-BE49-F238E27FC236}">
                    <a16:creationId xmlns:a16="http://schemas.microsoft.com/office/drawing/2014/main" id="{9917EAAA-BB53-45BB-A580-4AA74859BB9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74547" y="4175705"/>
                <a:ext cx="1829555" cy="1433391"/>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DBD809FE-70A7-40D2-94D1-EB4205E9B137}"/>
                      </a:ext>
                    </a:extLst>
                  </p:cNvPr>
                  <p:cNvSpPr txBox="1"/>
                  <p:nvPr/>
                </p:nvSpPr>
                <p:spPr>
                  <a:xfrm>
                    <a:off x="924132" y="5949618"/>
                    <a:ext cx="1979970"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MX" sz="2000" b="1" i="1" smtClean="0">
                              <a:solidFill>
                                <a:schemeClr val="tx1"/>
                              </a:solidFill>
                              <a:latin typeface="Cambria Math" panose="02040503050406030204" pitchFamily="18" charset="0"/>
                            </a:rPr>
                            <m:t>𝑮</m:t>
                          </m:r>
                          <m:r>
                            <a:rPr lang="es-MX" sz="2000" b="0" i="0" smtClean="0">
                              <a:solidFill>
                                <a:schemeClr val="tx1"/>
                              </a:solidFill>
                              <a:latin typeface="Cambria Math" panose="02040503050406030204" pitchFamily="18" charset="0"/>
                            </a:rPr>
                            <m:t>:</m:t>
                          </m:r>
                          <m:r>
                            <m:rPr>
                              <m:sty m:val="p"/>
                            </m:rPr>
                            <a:rPr lang="es-MX" sz="2000" b="0" i="0" smtClean="0">
                              <a:solidFill>
                                <a:schemeClr val="tx1"/>
                              </a:solidFill>
                              <a:latin typeface="Cambria Math" panose="02040503050406030204" pitchFamily="18" charset="0"/>
                            </a:rPr>
                            <m:t>Familia</m:t>
                          </m:r>
                          <m:r>
                            <a:rPr lang="es-MX" sz="2000" b="0" i="0" smtClean="0">
                              <a:solidFill>
                                <a:schemeClr val="tx1"/>
                              </a:solidFill>
                              <a:latin typeface="Cambria Math" panose="02040503050406030204" pitchFamily="18" charset="0"/>
                            </a:rPr>
                            <m:t> </m:t>
                          </m:r>
                          <m:r>
                            <m:rPr>
                              <m:sty m:val="p"/>
                            </m:rPr>
                            <a:rPr lang="es-MX" sz="2000" b="0" i="0" smtClean="0">
                              <a:solidFill>
                                <a:schemeClr val="tx1"/>
                              </a:solidFill>
                              <a:latin typeface="Cambria Math" panose="02040503050406030204" pitchFamily="18" charset="0"/>
                            </a:rPr>
                            <m:t>Griffin</m:t>
                          </m:r>
                        </m:oMath>
                      </m:oMathPara>
                    </a14:m>
                    <a:endParaRPr lang="es-CO" sz="2000" dirty="0">
                      <a:solidFill>
                        <a:schemeClr val="tx1"/>
                      </a:solidFill>
                    </a:endParaRPr>
                  </a:p>
                </p:txBody>
              </p:sp>
            </mc:Choice>
            <mc:Fallback xmlns="">
              <p:sp>
                <p:nvSpPr>
                  <p:cNvPr id="12" name="CuadroTexto 11">
                    <a:extLst>
                      <a:ext uri="{FF2B5EF4-FFF2-40B4-BE49-F238E27FC236}">
                        <a16:creationId xmlns:a16="http://schemas.microsoft.com/office/drawing/2014/main" id="{DBD809FE-70A7-40D2-94D1-EB4205E9B137}"/>
                      </a:ext>
                    </a:extLst>
                  </p:cNvPr>
                  <p:cNvSpPr txBox="1">
                    <a:spLocks noRot="1" noChangeAspect="1" noMove="1" noResize="1" noEditPoints="1" noAdjustHandles="1" noChangeArrowheads="1" noChangeShapeType="1" noTextEdit="1"/>
                  </p:cNvSpPr>
                  <p:nvPr/>
                </p:nvSpPr>
                <p:spPr>
                  <a:xfrm>
                    <a:off x="924132" y="5949618"/>
                    <a:ext cx="1979970" cy="400110"/>
                  </a:xfrm>
                  <a:prstGeom prst="rect">
                    <a:avLst/>
                  </a:prstGeom>
                  <a:blipFill>
                    <a:blip r:embed="rId9"/>
                    <a:stretch>
                      <a:fillRect r="-1846"/>
                    </a:stretch>
                  </a:blipFill>
                </p:spPr>
                <p:txBody>
                  <a:bodyPr/>
                  <a:lstStyle/>
                  <a:p>
                    <a:r>
                      <a:rPr lang="es-CO">
                        <a:noFill/>
                      </a:rPr>
                      <a:t> </a:t>
                    </a:r>
                  </a:p>
                </p:txBody>
              </p:sp>
            </mc:Fallback>
          </mc:AlternateContent>
          <p:sp>
            <p:nvSpPr>
              <p:cNvPr id="4" name="Cerrar llave 3">
                <a:extLst>
                  <a:ext uri="{FF2B5EF4-FFF2-40B4-BE49-F238E27FC236}">
                    <a16:creationId xmlns:a16="http://schemas.microsoft.com/office/drawing/2014/main" id="{215DD69D-4D29-4B8C-A20E-883F0D372059}"/>
                  </a:ext>
                </a:extLst>
              </p:cNvPr>
              <p:cNvSpPr/>
              <p:nvPr/>
            </p:nvSpPr>
            <p:spPr>
              <a:xfrm rot="5400000">
                <a:off x="1748577" y="4713004"/>
                <a:ext cx="352174" cy="1902540"/>
              </a:xfrm>
              <a:prstGeom prst="rightBrace">
                <a:avLst>
                  <a:gd name="adj1" fmla="val 29247"/>
                  <a:gd name="adj2" fmla="val 50000"/>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a:p>
            </p:txBody>
          </p:sp>
        </p:grpSp>
        <p:sp>
          <p:nvSpPr>
            <p:cNvPr id="19" name="Cerrar llave 18">
              <a:extLst>
                <a:ext uri="{FF2B5EF4-FFF2-40B4-BE49-F238E27FC236}">
                  <a16:creationId xmlns:a16="http://schemas.microsoft.com/office/drawing/2014/main" id="{25208D51-B181-4F65-8BF2-308A051DF4E0}"/>
                </a:ext>
              </a:extLst>
            </p:cNvPr>
            <p:cNvSpPr/>
            <p:nvPr/>
          </p:nvSpPr>
          <p:spPr>
            <a:xfrm rot="5400000">
              <a:off x="3038593" y="4280122"/>
              <a:ext cx="317642" cy="4448041"/>
            </a:xfrm>
            <a:prstGeom prst="rightBrace">
              <a:avLst>
                <a:gd name="adj1" fmla="val 29247"/>
                <a:gd name="adj2" fmla="val 50000"/>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a:p>
          </p:txBody>
        </p:sp>
      </p:grpSp>
      <p:grpSp>
        <p:nvGrpSpPr>
          <p:cNvPr id="18" name="Grupo 17">
            <a:extLst>
              <a:ext uri="{FF2B5EF4-FFF2-40B4-BE49-F238E27FC236}">
                <a16:creationId xmlns:a16="http://schemas.microsoft.com/office/drawing/2014/main" id="{7097EF48-1C6C-4268-8E05-E86CDA372F9B}"/>
              </a:ext>
            </a:extLst>
          </p:cNvPr>
          <p:cNvGrpSpPr/>
          <p:nvPr/>
        </p:nvGrpSpPr>
        <p:grpSpPr>
          <a:xfrm>
            <a:off x="6105798" y="3746404"/>
            <a:ext cx="5439207" cy="868733"/>
            <a:chOff x="6120621" y="4655953"/>
            <a:chExt cx="5439207" cy="868733"/>
          </a:xfrm>
        </p:grpSpPr>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D15DA04C-FE6D-4614-8208-59B3095514A6}"/>
                    </a:ext>
                  </a:extLst>
                </p:cNvPr>
                <p:cNvSpPr txBox="1"/>
                <p:nvPr/>
              </p:nvSpPr>
              <p:spPr>
                <a:xfrm>
                  <a:off x="6120622" y="5124576"/>
                  <a:ext cx="5278992"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MX" sz="2000" b="0" i="1" smtClean="0">
                            <a:solidFill>
                              <a:schemeClr val="tx1"/>
                            </a:solidFill>
                            <a:latin typeface="Cambria Math" panose="02040503050406030204" pitchFamily="18" charset="0"/>
                          </a:rPr>
                          <m:t>𝐺</m:t>
                        </m:r>
                        <m:r>
                          <a:rPr lang="es-MX" sz="2000" b="0" i="1" smtClean="0">
                            <a:solidFill>
                              <a:schemeClr val="tx1"/>
                            </a:solidFill>
                            <a:latin typeface="Cambria Math" panose="02040503050406030204" pitchFamily="18" charset="0"/>
                          </a:rPr>
                          <m:t>={</m:t>
                        </m:r>
                        <m:r>
                          <a:rPr lang="fr-FR" sz="2000" i="1" smtClean="0">
                            <a:solidFill>
                              <a:schemeClr val="tx1"/>
                            </a:solidFill>
                            <a:latin typeface="Cambria Math" panose="02040503050406030204" pitchFamily="18" charset="0"/>
                          </a:rPr>
                          <m:t>𝑃𝑒𝑡𝑒𝑟</m:t>
                        </m:r>
                        <m:r>
                          <a:rPr lang="fr-FR" sz="2000" i="1" smtClean="0">
                            <a:solidFill>
                              <a:schemeClr val="tx1"/>
                            </a:solidFill>
                            <a:latin typeface="Cambria Math" panose="02040503050406030204" pitchFamily="18" charset="0"/>
                          </a:rPr>
                          <m:t>, </m:t>
                        </m:r>
                        <m:r>
                          <a:rPr lang="fr-FR" sz="2000" i="1" smtClean="0">
                            <a:solidFill>
                              <a:schemeClr val="tx1"/>
                            </a:solidFill>
                            <a:latin typeface="Cambria Math" panose="02040503050406030204" pitchFamily="18" charset="0"/>
                          </a:rPr>
                          <m:t>𝐿𝑜𝑖𝑠</m:t>
                        </m:r>
                        <m:r>
                          <a:rPr lang="fr-FR" sz="2000" i="1" smtClean="0">
                            <a:solidFill>
                              <a:schemeClr val="tx1"/>
                            </a:solidFill>
                            <a:latin typeface="Cambria Math" panose="02040503050406030204" pitchFamily="18" charset="0"/>
                          </a:rPr>
                          <m:t>, </m:t>
                        </m:r>
                        <m:r>
                          <a:rPr lang="fr-FR" sz="2000" i="1" smtClean="0">
                            <a:solidFill>
                              <a:schemeClr val="tx1"/>
                            </a:solidFill>
                            <a:latin typeface="Cambria Math" panose="02040503050406030204" pitchFamily="18" charset="0"/>
                          </a:rPr>
                          <m:t>𝑀𝑒𝑔</m:t>
                        </m:r>
                        <m:r>
                          <a:rPr lang="fr-FR" sz="2000" i="1" smtClean="0">
                            <a:solidFill>
                              <a:schemeClr val="tx1"/>
                            </a:solidFill>
                            <a:latin typeface="Cambria Math" panose="02040503050406030204" pitchFamily="18" charset="0"/>
                          </a:rPr>
                          <m:t>, </m:t>
                        </m:r>
                        <m:r>
                          <a:rPr lang="fr-FR" sz="2000" i="1" smtClean="0">
                            <a:solidFill>
                              <a:schemeClr val="tx1"/>
                            </a:solidFill>
                            <a:latin typeface="Cambria Math" panose="02040503050406030204" pitchFamily="18" charset="0"/>
                          </a:rPr>
                          <m:t>𝐶h𝑟𝑖𝑠</m:t>
                        </m:r>
                        <m:r>
                          <a:rPr lang="fr-FR" sz="2000" i="1" smtClean="0">
                            <a:solidFill>
                              <a:schemeClr val="tx1"/>
                            </a:solidFill>
                            <a:latin typeface="Cambria Math" panose="02040503050406030204" pitchFamily="18" charset="0"/>
                          </a:rPr>
                          <m:t>, </m:t>
                        </m:r>
                        <m:r>
                          <a:rPr lang="fr-FR" sz="2000" i="1" smtClean="0">
                            <a:solidFill>
                              <a:schemeClr val="tx1"/>
                            </a:solidFill>
                            <a:latin typeface="Cambria Math" panose="02040503050406030204" pitchFamily="18" charset="0"/>
                          </a:rPr>
                          <m:t>𝑆𝑡𝑒𝑤𝑖𝑒</m:t>
                        </m:r>
                        <m:r>
                          <a:rPr lang="fr-FR" sz="2000" i="1" smtClean="0">
                            <a:solidFill>
                              <a:schemeClr val="tx1"/>
                            </a:solidFill>
                            <a:latin typeface="Cambria Math" panose="02040503050406030204" pitchFamily="18" charset="0"/>
                          </a:rPr>
                          <m:t>, </m:t>
                        </m:r>
                        <m:r>
                          <a:rPr lang="fr-FR" sz="2000" i="1" smtClean="0">
                            <a:solidFill>
                              <a:schemeClr val="tx1"/>
                            </a:solidFill>
                            <a:latin typeface="Cambria Math" panose="02040503050406030204" pitchFamily="18" charset="0"/>
                          </a:rPr>
                          <m:t>𝐵𝑟𝑖𝑎𝑛</m:t>
                        </m:r>
                        <m:r>
                          <a:rPr lang="es-MX" sz="2000" b="0" i="1" smtClean="0">
                            <a:solidFill>
                              <a:schemeClr val="tx1"/>
                            </a:solidFill>
                            <a:latin typeface="Cambria Math" panose="02040503050406030204" pitchFamily="18" charset="0"/>
                          </a:rPr>
                          <m:t>}</m:t>
                        </m:r>
                      </m:oMath>
                    </m:oMathPara>
                  </a14:m>
                  <a:endParaRPr lang="es-CO" sz="2000" dirty="0">
                    <a:solidFill>
                      <a:schemeClr val="tx1"/>
                    </a:solidFill>
                  </a:endParaRPr>
                </a:p>
              </p:txBody>
            </p:sp>
          </mc:Choice>
          <mc:Fallback xmlns="">
            <p:sp>
              <p:nvSpPr>
                <p:cNvPr id="10" name="CuadroTexto 9">
                  <a:extLst>
                    <a:ext uri="{FF2B5EF4-FFF2-40B4-BE49-F238E27FC236}">
                      <a16:creationId xmlns:a16="http://schemas.microsoft.com/office/drawing/2014/main" id="{D15DA04C-FE6D-4614-8208-59B3095514A6}"/>
                    </a:ext>
                  </a:extLst>
                </p:cNvPr>
                <p:cNvSpPr txBox="1">
                  <a:spLocks noRot="1" noChangeAspect="1" noMove="1" noResize="1" noEditPoints="1" noAdjustHandles="1" noChangeArrowheads="1" noChangeShapeType="1" noTextEdit="1"/>
                </p:cNvSpPr>
                <p:nvPr/>
              </p:nvSpPr>
              <p:spPr>
                <a:xfrm>
                  <a:off x="6120622" y="5124576"/>
                  <a:ext cx="5278992" cy="400110"/>
                </a:xfrm>
                <a:prstGeom prst="rect">
                  <a:avLst/>
                </a:prstGeom>
                <a:blipFill>
                  <a:blip r:embed="rId10"/>
                  <a:stretch>
                    <a:fillRect b="-15152"/>
                  </a:stretch>
                </a:blipFill>
              </p:spPr>
              <p:txBody>
                <a:bodyPr/>
                <a:lstStyle/>
                <a:p>
                  <a:r>
                    <a:rPr lang="es-CO">
                      <a:noFill/>
                    </a:rPr>
                    <a:t> </a:t>
                  </a:r>
                </a:p>
              </p:txBody>
            </p:sp>
          </mc:Fallback>
        </mc:AlternateContent>
        <p:sp>
          <p:nvSpPr>
            <p:cNvPr id="26" name="CuadroTexto 25">
              <a:extLst>
                <a:ext uri="{FF2B5EF4-FFF2-40B4-BE49-F238E27FC236}">
                  <a16:creationId xmlns:a16="http://schemas.microsoft.com/office/drawing/2014/main" id="{D14CAC62-2EF8-45ED-A45D-4CAF840FB04F}"/>
                </a:ext>
              </a:extLst>
            </p:cNvPr>
            <p:cNvSpPr txBox="1"/>
            <p:nvPr/>
          </p:nvSpPr>
          <p:spPr>
            <a:xfrm>
              <a:off x="6120621" y="4655953"/>
              <a:ext cx="5439207" cy="430887"/>
            </a:xfrm>
            <a:prstGeom prst="rect">
              <a:avLst/>
            </a:prstGeom>
            <a:noFill/>
          </p:spPr>
          <p:txBody>
            <a:bodyPr wrap="square">
              <a:spAutoFit/>
            </a:bodyPr>
            <a:lstStyle/>
            <a:p>
              <a:r>
                <a:rPr lang="es-MX" sz="2200" b="1" dirty="0">
                  <a:solidFill>
                    <a:schemeClr val="tx1"/>
                  </a:solidFill>
                  <a:ea typeface="Roboto" panose="02000000000000000000" pitchFamily="2" charset="0"/>
                </a:rPr>
                <a:t>Representación por extensión</a:t>
              </a:r>
              <a:r>
                <a:rPr lang="es-MX" sz="2200" dirty="0">
                  <a:solidFill>
                    <a:schemeClr val="tx1"/>
                  </a:solidFill>
                  <a:ea typeface="Roboto" panose="02000000000000000000" pitchFamily="2" charset="0"/>
                </a:rPr>
                <a:t>:</a:t>
              </a:r>
            </a:p>
          </p:txBody>
        </p:sp>
      </p:grpSp>
    </p:spTree>
    <p:extLst>
      <p:ext uri="{BB962C8B-B14F-4D97-AF65-F5344CB8AC3E}">
        <p14:creationId xmlns:p14="http://schemas.microsoft.com/office/powerpoint/2010/main" val="13697844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26"/>
          <p:cNvSpPr txBox="1">
            <a:spLocks noGrp="1"/>
          </p:cNvSpPr>
          <p:nvPr>
            <p:ph type="title"/>
          </p:nvPr>
        </p:nvSpPr>
        <p:spPr>
          <a:xfrm>
            <a:off x="294968" y="96038"/>
            <a:ext cx="11371006"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t>Conceptos básicos – Representación de conjuntos</a:t>
            </a:r>
            <a:endParaRPr dirty="0"/>
          </a:p>
        </p:txBody>
      </p:sp>
      <p:sp>
        <p:nvSpPr>
          <p:cNvPr id="8" name="Google Shape;310;p34">
            <a:extLst>
              <a:ext uri="{FF2B5EF4-FFF2-40B4-BE49-F238E27FC236}">
                <a16:creationId xmlns:a16="http://schemas.microsoft.com/office/drawing/2014/main" id="{F6716F76-3AFE-471D-B156-0250FFA69F6E}"/>
              </a:ext>
            </a:extLst>
          </p:cNvPr>
          <p:cNvSpPr txBox="1">
            <a:spLocks/>
          </p:cNvSpPr>
          <p:nvPr/>
        </p:nvSpPr>
        <p:spPr>
          <a:xfrm>
            <a:off x="275372" y="914751"/>
            <a:ext cx="11621660" cy="1269031"/>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200" dirty="0">
                <a:latin typeface="+mn-lt"/>
                <a:ea typeface="Roboto" panose="02000000000000000000" pitchFamily="2" charset="0"/>
              </a:rPr>
              <a:t>Existen dos formas para representar conjuntos:</a:t>
            </a:r>
          </a:p>
          <a:p>
            <a:pPr marL="584200" indent="-457200">
              <a:buFont typeface="+mj-lt"/>
              <a:buAutoNum type="arabicPeriod" startAt="2"/>
            </a:pPr>
            <a:r>
              <a:rPr lang="es-MX" sz="2200" b="1" dirty="0">
                <a:latin typeface="+mn-lt"/>
                <a:ea typeface="Roboto" panose="02000000000000000000" pitchFamily="2" charset="0"/>
              </a:rPr>
              <a:t>Notación por comprensión</a:t>
            </a:r>
            <a:r>
              <a:rPr lang="es-MX" sz="2200" dirty="0">
                <a:latin typeface="+mn-lt"/>
                <a:ea typeface="Roboto" panose="02000000000000000000" pitchFamily="2" charset="0"/>
              </a:rPr>
              <a:t>: En esta se especifica la característica común de los elementos que lo conforman.</a:t>
            </a:r>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9DB24858-3E63-41A5-B912-DF4AD38056E6}"/>
                  </a:ext>
                </a:extLst>
              </p:cNvPr>
              <p:cNvSpPr txBox="1"/>
              <p:nvPr/>
            </p:nvSpPr>
            <p:spPr>
              <a:xfrm>
                <a:off x="420407" y="2226194"/>
                <a:ext cx="10749324" cy="1107996"/>
              </a:xfrm>
              <a:prstGeom prst="rect">
                <a:avLst/>
              </a:prstGeom>
              <a:noFill/>
            </p:spPr>
            <p:txBody>
              <a:bodyPr wrap="square">
                <a:spAutoFit/>
              </a:bodyPr>
              <a:lstStyle/>
              <a:p>
                <a:r>
                  <a:rPr lang="es-CO" sz="2200" b="1" dirty="0">
                    <a:solidFill>
                      <a:schemeClr val="tx1"/>
                    </a:solidFill>
                    <a:ea typeface="Roboto" panose="02000000000000000000" pitchFamily="2" charset="0"/>
                  </a:rPr>
                  <a:t>Ejemplo: </a:t>
                </a:r>
                <a:r>
                  <a:rPr lang="es-CO" sz="2200" dirty="0">
                    <a:solidFill>
                      <a:schemeClr val="tx1"/>
                    </a:solidFill>
                    <a:ea typeface="Roboto" panose="02000000000000000000" pitchFamily="2" charset="0"/>
                  </a:rPr>
                  <a:t>Sea </a:t>
                </a:r>
                <a14:m>
                  <m:oMath xmlns:m="http://schemas.openxmlformats.org/officeDocument/2006/math">
                    <m:r>
                      <a:rPr lang="es-MX" sz="2200" b="1" i="1" smtClean="0">
                        <a:solidFill>
                          <a:schemeClr val="tx1"/>
                        </a:solidFill>
                        <a:latin typeface="Cambria Math" panose="02040503050406030204" pitchFamily="18" charset="0"/>
                      </a:rPr>
                      <m:t>𝑮</m:t>
                    </m:r>
                  </m:oMath>
                </a14:m>
                <a:r>
                  <a:rPr lang="es-CO" sz="2200" dirty="0">
                    <a:solidFill>
                      <a:schemeClr val="tx1"/>
                    </a:solidFill>
                    <a:ea typeface="Roboto" panose="02000000000000000000" pitchFamily="2" charset="0"/>
                  </a:rPr>
                  <a:t> el conjunto asociado a la</a:t>
                </a:r>
                <a:r>
                  <a:rPr lang="es-CO" sz="2200" dirty="0">
                    <a:solidFill>
                      <a:schemeClr val="tx1"/>
                    </a:solidFill>
                  </a:rPr>
                  <a:t> familia Griffin y </a:t>
                </a:r>
                <a14:m>
                  <m:oMath xmlns:m="http://schemas.openxmlformats.org/officeDocument/2006/math">
                    <m:r>
                      <a:rPr lang="es-MX" sz="2200" b="1" i="1">
                        <a:solidFill>
                          <a:schemeClr val="tx1"/>
                        </a:solidFill>
                        <a:latin typeface="Cambria Math" panose="02040503050406030204" pitchFamily="18" charset="0"/>
                      </a:rPr>
                      <m:t>𝑷</m:t>
                    </m:r>
                  </m:oMath>
                </a14:m>
                <a:r>
                  <a:rPr lang="es-CO" sz="2200" dirty="0">
                    <a:solidFill>
                      <a:schemeClr val="tx1"/>
                    </a:solidFill>
                  </a:rPr>
                  <a:t> el conjunto asociado a todos los personajes del programa Padre de Familia. Realice la representación por extensión y comprensión.</a:t>
                </a:r>
              </a:p>
            </p:txBody>
          </p:sp>
        </mc:Choice>
        <mc:Fallback xmlns="">
          <p:sp>
            <p:nvSpPr>
              <p:cNvPr id="9" name="CuadroTexto 8">
                <a:extLst>
                  <a:ext uri="{FF2B5EF4-FFF2-40B4-BE49-F238E27FC236}">
                    <a16:creationId xmlns:a16="http://schemas.microsoft.com/office/drawing/2014/main" id="{9DB24858-3E63-41A5-B912-DF4AD38056E6}"/>
                  </a:ext>
                </a:extLst>
              </p:cNvPr>
              <p:cNvSpPr txBox="1">
                <a:spLocks noRot="1" noChangeAspect="1" noMove="1" noResize="1" noEditPoints="1" noAdjustHandles="1" noChangeArrowheads="1" noChangeShapeType="1" noTextEdit="1"/>
              </p:cNvSpPr>
              <p:nvPr/>
            </p:nvSpPr>
            <p:spPr>
              <a:xfrm>
                <a:off x="420407" y="2226194"/>
                <a:ext cx="10749324" cy="1107996"/>
              </a:xfrm>
              <a:prstGeom prst="rect">
                <a:avLst/>
              </a:prstGeom>
              <a:blipFill>
                <a:blip r:embed="rId3"/>
                <a:stretch>
                  <a:fillRect l="-737" t="-3846" b="-10440"/>
                </a:stretch>
              </a:blipFill>
            </p:spPr>
            <p:txBody>
              <a:bodyPr/>
              <a:lstStyle/>
              <a:p>
                <a:r>
                  <a:rPr lang="es-CO">
                    <a:noFill/>
                  </a:rPr>
                  <a:t> </a:t>
                </a:r>
              </a:p>
            </p:txBody>
          </p:sp>
        </mc:Fallback>
      </mc:AlternateContent>
      <p:grpSp>
        <p:nvGrpSpPr>
          <p:cNvPr id="21" name="Grupo 20">
            <a:extLst>
              <a:ext uri="{FF2B5EF4-FFF2-40B4-BE49-F238E27FC236}">
                <a16:creationId xmlns:a16="http://schemas.microsoft.com/office/drawing/2014/main" id="{C52C3AC8-C3D2-4EC4-BD51-035206BF69FE}"/>
              </a:ext>
            </a:extLst>
          </p:cNvPr>
          <p:cNvGrpSpPr/>
          <p:nvPr/>
        </p:nvGrpSpPr>
        <p:grpSpPr>
          <a:xfrm>
            <a:off x="5791035" y="4807833"/>
            <a:ext cx="6077008" cy="1308910"/>
            <a:chOff x="6120621" y="5595084"/>
            <a:chExt cx="6077008" cy="1308910"/>
          </a:xfrm>
        </p:grpSpPr>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04CAC3C0-DC7F-4D46-B807-D8454ABA7730}"/>
                    </a:ext>
                  </a:extLst>
                </p:cNvPr>
                <p:cNvSpPr txBox="1"/>
                <p:nvPr/>
              </p:nvSpPr>
              <p:spPr>
                <a:xfrm>
                  <a:off x="6197286" y="6085503"/>
                  <a:ext cx="6000343" cy="40011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s-MX" sz="2000" b="0" i="1" smtClean="0">
                            <a:solidFill>
                              <a:schemeClr val="tx1"/>
                            </a:solidFill>
                            <a:latin typeface="Cambria Math" panose="02040503050406030204" pitchFamily="18" charset="0"/>
                          </a:rPr>
                          <m:t>𝐺</m:t>
                        </m:r>
                        <m:r>
                          <a:rPr lang="es-MX" sz="2000" b="0" i="1" smtClean="0">
                            <a:solidFill>
                              <a:schemeClr val="tx1"/>
                            </a:solidFill>
                            <a:latin typeface="Cambria Math" panose="02040503050406030204" pitchFamily="18" charset="0"/>
                          </a:rPr>
                          <m:t>=</m:t>
                        </m:r>
                        <m:d>
                          <m:dPr>
                            <m:begChr m:val="{"/>
                            <m:endChr m:val="}"/>
                            <m:ctrlPr>
                              <a:rPr lang="es-MX" sz="2000" b="0" i="1" smtClean="0">
                                <a:solidFill>
                                  <a:schemeClr val="tx1"/>
                                </a:solidFill>
                                <a:latin typeface="Cambria Math" panose="02040503050406030204" pitchFamily="18" charset="0"/>
                              </a:rPr>
                            </m:ctrlPr>
                          </m:dPr>
                          <m:e>
                            <m:r>
                              <a:rPr lang="es-MX" sz="2000" i="1">
                                <a:solidFill>
                                  <a:schemeClr val="tx1"/>
                                </a:solidFill>
                                <a:latin typeface="Cambria Math" panose="02040503050406030204" pitchFamily="18" charset="0"/>
                              </a:rPr>
                              <m:t>𝑥</m:t>
                            </m:r>
                            <m:r>
                              <a:rPr lang="es-MX" sz="2000" i="1">
                                <a:solidFill>
                                  <a:schemeClr val="tx1"/>
                                </a:solidFill>
                                <a:latin typeface="Cambria Math" panose="02040503050406030204" pitchFamily="18" charset="0"/>
                              </a:rPr>
                              <m:t>∈</m:t>
                            </m:r>
                            <m:r>
                              <a:rPr lang="es-MX" sz="2000" i="1" smtClean="0">
                                <a:solidFill>
                                  <a:schemeClr val="tx1"/>
                                </a:solidFill>
                                <a:latin typeface="Cambria Math" panose="02040503050406030204" pitchFamily="18" charset="0"/>
                              </a:rPr>
                              <m:t>𝑃</m:t>
                            </m:r>
                          </m:e>
                          <m:e>
                            <m:r>
                              <a:rPr lang="es-MX" sz="2000" b="0" i="1" smtClean="0">
                                <a:solidFill>
                                  <a:schemeClr val="tx1"/>
                                </a:solidFill>
                                <a:latin typeface="Cambria Math" panose="02040503050406030204" pitchFamily="18" charset="0"/>
                              </a:rPr>
                              <m:t>𝑥</m:t>
                            </m:r>
                            <m:r>
                              <a:rPr lang="es-MX" sz="2000" b="0" i="0" smtClean="0">
                                <a:solidFill>
                                  <a:schemeClr val="tx1"/>
                                </a:solidFill>
                                <a:latin typeface="Cambria Math" panose="02040503050406030204" pitchFamily="18" charset="0"/>
                              </a:rPr>
                              <m:t> </m:t>
                            </m:r>
                            <m:r>
                              <m:rPr>
                                <m:sty m:val="p"/>
                              </m:rPr>
                              <a:rPr lang="es-MX" sz="2000" b="0" i="0" smtClean="0">
                                <a:solidFill>
                                  <a:schemeClr val="tx1"/>
                                </a:solidFill>
                                <a:latin typeface="Cambria Math" panose="02040503050406030204" pitchFamily="18" charset="0"/>
                              </a:rPr>
                              <m:t>es</m:t>
                            </m:r>
                            <m:r>
                              <a:rPr lang="es-MX" sz="2000">
                                <a:solidFill>
                                  <a:schemeClr val="tx1"/>
                                </a:solidFill>
                                <a:latin typeface="Cambria Math" panose="02040503050406030204" pitchFamily="18" charset="0"/>
                              </a:rPr>
                              <m:t> </m:t>
                            </m:r>
                            <m:r>
                              <m:rPr>
                                <m:sty m:val="p"/>
                              </m:rPr>
                              <a:rPr lang="es-MX" sz="2000">
                                <a:solidFill>
                                  <a:schemeClr val="tx1"/>
                                </a:solidFill>
                                <a:latin typeface="Cambria Math" panose="02040503050406030204" pitchFamily="18" charset="0"/>
                              </a:rPr>
                              <m:t>un</m:t>
                            </m:r>
                            <m:r>
                              <a:rPr lang="es-MX" sz="2000">
                                <a:solidFill>
                                  <a:schemeClr val="tx1"/>
                                </a:solidFill>
                                <a:latin typeface="Cambria Math" panose="02040503050406030204" pitchFamily="18" charset="0"/>
                              </a:rPr>
                              <m:t> </m:t>
                            </m:r>
                            <m:r>
                              <m:rPr>
                                <m:sty m:val="p"/>
                              </m:rPr>
                              <a:rPr lang="es-MX" sz="2000">
                                <a:solidFill>
                                  <a:schemeClr val="tx1"/>
                                </a:solidFill>
                                <a:latin typeface="Cambria Math" panose="02040503050406030204" pitchFamily="18" charset="0"/>
                              </a:rPr>
                              <m:t>miembro</m:t>
                            </m:r>
                            <m:r>
                              <a:rPr lang="es-MX" sz="2000">
                                <a:solidFill>
                                  <a:schemeClr val="tx1"/>
                                </a:solidFill>
                                <a:latin typeface="Cambria Math" panose="02040503050406030204" pitchFamily="18" charset="0"/>
                              </a:rPr>
                              <m:t> </m:t>
                            </m:r>
                            <m:r>
                              <m:rPr>
                                <m:sty m:val="p"/>
                              </m:rPr>
                              <a:rPr lang="es-MX" sz="2000">
                                <a:solidFill>
                                  <a:schemeClr val="tx1"/>
                                </a:solidFill>
                                <a:latin typeface="Cambria Math" panose="02040503050406030204" pitchFamily="18" charset="0"/>
                              </a:rPr>
                              <m:t>de</m:t>
                            </m:r>
                            <m:r>
                              <a:rPr lang="es-MX" sz="2000">
                                <a:solidFill>
                                  <a:schemeClr val="tx1"/>
                                </a:solidFill>
                                <a:latin typeface="Cambria Math" panose="02040503050406030204" pitchFamily="18" charset="0"/>
                              </a:rPr>
                              <m:t> </m:t>
                            </m:r>
                            <m:r>
                              <m:rPr>
                                <m:sty m:val="p"/>
                              </m:rPr>
                              <a:rPr lang="es-MX" sz="2000">
                                <a:solidFill>
                                  <a:schemeClr val="tx1"/>
                                </a:solidFill>
                                <a:latin typeface="Cambria Math" panose="02040503050406030204" pitchFamily="18" charset="0"/>
                              </a:rPr>
                              <m:t>la</m:t>
                            </m:r>
                            <m:r>
                              <a:rPr lang="es-MX" sz="2000">
                                <a:solidFill>
                                  <a:schemeClr val="tx1"/>
                                </a:solidFill>
                                <a:latin typeface="Cambria Math" panose="02040503050406030204" pitchFamily="18" charset="0"/>
                              </a:rPr>
                              <m:t> </m:t>
                            </m:r>
                            <m:r>
                              <m:rPr>
                                <m:sty m:val="p"/>
                              </m:rPr>
                              <a:rPr lang="es-MX" sz="2000">
                                <a:solidFill>
                                  <a:schemeClr val="tx1"/>
                                </a:solidFill>
                                <a:latin typeface="Cambria Math" panose="02040503050406030204" pitchFamily="18" charset="0"/>
                              </a:rPr>
                              <m:t>familia</m:t>
                            </m:r>
                            <m:r>
                              <a:rPr lang="es-MX" sz="2000">
                                <a:solidFill>
                                  <a:schemeClr val="tx1"/>
                                </a:solidFill>
                                <a:latin typeface="Cambria Math" panose="02040503050406030204" pitchFamily="18" charset="0"/>
                              </a:rPr>
                              <m:t> </m:t>
                            </m:r>
                            <m:r>
                              <m:rPr>
                                <m:sty m:val="p"/>
                              </m:rPr>
                              <a:rPr lang="es-MX" sz="2000">
                                <a:solidFill>
                                  <a:schemeClr val="tx1"/>
                                </a:solidFill>
                                <a:latin typeface="Cambria Math" panose="02040503050406030204" pitchFamily="18" charset="0"/>
                              </a:rPr>
                              <m:t>Griffing</m:t>
                            </m:r>
                          </m:e>
                        </m:d>
                      </m:oMath>
                    </m:oMathPara>
                  </a14:m>
                  <a:endParaRPr lang="es-CO" sz="2000" dirty="0">
                    <a:solidFill>
                      <a:schemeClr val="tx1"/>
                    </a:solidFill>
                  </a:endParaRPr>
                </a:p>
              </p:txBody>
            </p:sp>
          </mc:Choice>
          <mc:Fallback xmlns="">
            <p:sp>
              <p:nvSpPr>
                <p:cNvPr id="23" name="CuadroTexto 22">
                  <a:extLst>
                    <a:ext uri="{FF2B5EF4-FFF2-40B4-BE49-F238E27FC236}">
                      <a16:creationId xmlns:a16="http://schemas.microsoft.com/office/drawing/2014/main" id="{04CAC3C0-DC7F-4D46-B807-D8454ABA7730}"/>
                    </a:ext>
                  </a:extLst>
                </p:cNvPr>
                <p:cNvSpPr txBox="1">
                  <a:spLocks noRot="1" noChangeAspect="1" noMove="1" noResize="1" noEditPoints="1" noAdjustHandles="1" noChangeArrowheads="1" noChangeShapeType="1" noTextEdit="1"/>
                </p:cNvSpPr>
                <p:nvPr/>
              </p:nvSpPr>
              <p:spPr>
                <a:xfrm>
                  <a:off x="6197286" y="6085503"/>
                  <a:ext cx="6000343" cy="400110"/>
                </a:xfrm>
                <a:prstGeom prst="rect">
                  <a:avLst/>
                </a:prstGeom>
                <a:blipFill>
                  <a:blip r:embed="rId4"/>
                  <a:stretch>
                    <a:fillRect b="-13636"/>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25" name="CuadroTexto 24">
                  <a:extLst>
                    <a:ext uri="{FF2B5EF4-FFF2-40B4-BE49-F238E27FC236}">
                      <a16:creationId xmlns:a16="http://schemas.microsoft.com/office/drawing/2014/main" id="{C0C7DAC3-8741-48A4-B809-4114FB40B421}"/>
                    </a:ext>
                  </a:extLst>
                </p:cNvPr>
                <p:cNvSpPr txBox="1"/>
                <p:nvPr/>
              </p:nvSpPr>
              <p:spPr>
                <a:xfrm>
                  <a:off x="6212035" y="6503884"/>
                  <a:ext cx="2697239" cy="40011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s-MX" sz="2000" b="0" i="1" smtClean="0">
                            <a:solidFill>
                              <a:schemeClr val="tx1"/>
                            </a:solidFill>
                            <a:latin typeface="Cambria Math" panose="02040503050406030204" pitchFamily="18" charset="0"/>
                          </a:rPr>
                          <m:t>𝐺</m:t>
                        </m:r>
                        <m:r>
                          <a:rPr lang="es-MX" sz="2000" b="0" i="1" smtClean="0">
                            <a:solidFill>
                              <a:schemeClr val="tx1"/>
                            </a:solidFill>
                            <a:latin typeface="Cambria Math" panose="02040503050406030204" pitchFamily="18" charset="0"/>
                          </a:rPr>
                          <m:t>=</m:t>
                        </m:r>
                        <m:d>
                          <m:dPr>
                            <m:begChr m:val="{"/>
                            <m:endChr m:val="}"/>
                            <m:ctrlPr>
                              <a:rPr lang="es-MX" sz="2000" b="0" i="1" smtClean="0">
                                <a:solidFill>
                                  <a:schemeClr val="tx1"/>
                                </a:solidFill>
                                <a:latin typeface="Cambria Math" panose="02040503050406030204" pitchFamily="18" charset="0"/>
                              </a:rPr>
                            </m:ctrlPr>
                          </m:dPr>
                          <m:e>
                            <m:r>
                              <a:rPr lang="es-MX" sz="2000" i="1">
                                <a:solidFill>
                                  <a:schemeClr val="tx1"/>
                                </a:solidFill>
                                <a:latin typeface="Cambria Math" panose="02040503050406030204" pitchFamily="18" charset="0"/>
                              </a:rPr>
                              <m:t>𝑥</m:t>
                            </m:r>
                            <m:r>
                              <a:rPr lang="es-MX" sz="2000" i="1">
                                <a:solidFill>
                                  <a:schemeClr val="tx1"/>
                                </a:solidFill>
                                <a:latin typeface="Cambria Math" panose="02040503050406030204" pitchFamily="18" charset="0"/>
                              </a:rPr>
                              <m:t>∈</m:t>
                            </m:r>
                            <m:r>
                              <a:rPr lang="es-MX" sz="2000" i="1" smtClean="0">
                                <a:solidFill>
                                  <a:schemeClr val="tx1"/>
                                </a:solidFill>
                                <a:latin typeface="Cambria Math" panose="02040503050406030204" pitchFamily="18" charset="0"/>
                              </a:rPr>
                              <m:t>𝑃</m:t>
                            </m:r>
                          </m:e>
                          <m:e>
                            <m:r>
                              <a:rPr lang="es-MX" sz="2000" b="1" i="1" smtClean="0">
                                <a:solidFill>
                                  <a:schemeClr val="tx1"/>
                                </a:solidFill>
                                <a:latin typeface="Cambria Math" panose="02040503050406030204" pitchFamily="18" charset="0"/>
                              </a:rPr>
                              <m:t>𝑴</m:t>
                            </m:r>
                            <m:d>
                              <m:dPr>
                                <m:ctrlPr>
                                  <a:rPr lang="es-MX" sz="2000" i="1">
                                    <a:solidFill>
                                      <a:schemeClr val="tx1"/>
                                    </a:solidFill>
                                    <a:latin typeface="Cambria Math" panose="02040503050406030204" pitchFamily="18" charset="0"/>
                                  </a:rPr>
                                </m:ctrlPr>
                              </m:dPr>
                              <m:e>
                                <m:r>
                                  <a:rPr lang="es-MX" sz="2000" i="1" smtClean="0">
                                    <a:solidFill>
                                      <a:schemeClr val="tx1"/>
                                    </a:solidFill>
                                    <a:latin typeface="Cambria Math" panose="02040503050406030204" pitchFamily="18" charset="0"/>
                                  </a:rPr>
                                  <m:t>𝑥</m:t>
                                </m:r>
                              </m:e>
                            </m:d>
                          </m:e>
                        </m:d>
                      </m:oMath>
                    </m:oMathPara>
                  </a14:m>
                  <a:endParaRPr lang="es-CO" sz="2000" dirty="0">
                    <a:solidFill>
                      <a:schemeClr val="tx1"/>
                    </a:solidFill>
                  </a:endParaRPr>
                </a:p>
              </p:txBody>
            </p:sp>
          </mc:Choice>
          <mc:Fallback xmlns="">
            <p:sp>
              <p:nvSpPr>
                <p:cNvPr id="25" name="CuadroTexto 24">
                  <a:extLst>
                    <a:ext uri="{FF2B5EF4-FFF2-40B4-BE49-F238E27FC236}">
                      <a16:creationId xmlns:a16="http://schemas.microsoft.com/office/drawing/2014/main" id="{C0C7DAC3-8741-48A4-B809-4114FB40B421}"/>
                    </a:ext>
                  </a:extLst>
                </p:cNvPr>
                <p:cNvSpPr txBox="1">
                  <a:spLocks noRot="1" noChangeAspect="1" noMove="1" noResize="1" noEditPoints="1" noAdjustHandles="1" noChangeArrowheads="1" noChangeShapeType="1" noTextEdit="1"/>
                </p:cNvSpPr>
                <p:nvPr/>
              </p:nvSpPr>
              <p:spPr>
                <a:xfrm>
                  <a:off x="6212035" y="6503884"/>
                  <a:ext cx="2697239" cy="400110"/>
                </a:xfrm>
                <a:prstGeom prst="rect">
                  <a:avLst/>
                </a:prstGeom>
                <a:blipFill>
                  <a:blip r:embed="rId5"/>
                  <a:stretch>
                    <a:fillRect/>
                  </a:stretch>
                </a:blipFill>
              </p:spPr>
              <p:txBody>
                <a:bodyPr/>
                <a:lstStyle/>
                <a:p>
                  <a:r>
                    <a:rPr lang="es-CO">
                      <a:noFill/>
                    </a:rPr>
                    <a:t> </a:t>
                  </a:r>
                </a:p>
              </p:txBody>
            </p:sp>
          </mc:Fallback>
        </mc:AlternateContent>
        <p:sp>
          <p:nvSpPr>
            <p:cNvPr id="27" name="CuadroTexto 26">
              <a:extLst>
                <a:ext uri="{FF2B5EF4-FFF2-40B4-BE49-F238E27FC236}">
                  <a16:creationId xmlns:a16="http://schemas.microsoft.com/office/drawing/2014/main" id="{8CEAFBC4-B2F3-46F4-B5FC-C47DB4B3A488}"/>
                </a:ext>
              </a:extLst>
            </p:cNvPr>
            <p:cNvSpPr txBox="1"/>
            <p:nvPr/>
          </p:nvSpPr>
          <p:spPr>
            <a:xfrm>
              <a:off x="6120621" y="5595084"/>
              <a:ext cx="5439207" cy="430887"/>
            </a:xfrm>
            <a:prstGeom prst="rect">
              <a:avLst/>
            </a:prstGeom>
            <a:noFill/>
          </p:spPr>
          <p:txBody>
            <a:bodyPr wrap="square">
              <a:spAutoFit/>
            </a:bodyPr>
            <a:lstStyle/>
            <a:p>
              <a:r>
                <a:rPr lang="es-MX" sz="2200" b="1" dirty="0">
                  <a:solidFill>
                    <a:schemeClr val="tx1"/>
                  </a:solidFill>
                  <a:ea typeface="Roboto" panose="02000000000000000000" pitchFamily="2" charset="0"/>
                </a:rPr>
                <a:t>Representación por comprensión</a:t>
              </a:r>
              <a:r>
                <a:rPr lang="es-MX" sz="2200" dirty="0">
                  <a:solidFill>
                    <a:schemeClr val="tx1"/>
                  </a:solidFill>
                  <a:ea typeface="Roboto" panose="02000000000000000000" pitchFamily="2" charset="0"/>
                </a:rPr>
                <a:t>:</a:t>
              </a:r>
            </a:p>
          </p:txBody>
        </p:sp>
      </p:grpSp>
      <p:grpSp>
        <p:nvGrpSpPr>
          <p:cNvPr id="17" name="Grupo 16">
            <a:extLst>
              <a:ext uri="{FF2B5EF4-FFF2-40B4-BE49-F238E27FC236}">
                <a16:creationId xmlns:a16="http://schemas.microsoft.com/office/drawing/2014/main" id="{539DE714-79BB-4807-A3FB-1C408FA1B97B}"/>
              </a:ext>
            </a:extLst>
          </p:cNvPr>
          <p:cNvGrpSpPr/>
          <p:nvPr/>
        </p:nvGrpSpPr>
        <p:grpSpPr>
          <a:xfrm>
            <a:off x="5791035" y="3557702"/>
            <a:ext cx="5744171" cy="921306"/>
            <a:chOff x="5759573" y="3786785"/>
            <a:chExt cx="5744171" cy="921306"/>
          </a:xfrm>
        </p:grpSpPr>
        <p:sp>
          <p:nvSpPr>
            <p:cNvPr id="24" name="CuadroTexto 23">
              <a:extLst>
                <a:ext uri="{FF2B5EF4-FFF2-40B4-BE49-F238E27FC236}">
                  <a16:creationId xmlns:a16="http://schemas.microsoft.com/office/drawing/2014/main" id="{5F54D429-BC4D-41BE-AA2B-6809AC663840}"/>
                </a:ext>
              </a:extLst>
            </p:cNvPr>
            <p:cNvSpPr txBox="1"/>
            <p:nvPr/>
          </p:nvSpPr>
          <p:spPr>
            <a:xfrm>
              <a:off x="5759573" y="3786785"/>
              <a:ext cx="5744171" cy="430887"/>
            </a:xfrm>
            <a:prstGeom prst="rect">
              <a:avLst/>
            </a:prstGeom>
            <a:noFill/>
          </p:spPr>
          <p:txBody>
            <a:bodyPr wrap="square">
              <a:spAutoFit/>
            </a:bodyPr>
            <a:lstStyle/>
            <a:p>
              <a:r>
                <a:rPr lang="es-MX" sz="2200" dirty="0">
                  <a:solidFill>
                    <a:schemeClr val="tx1"/>
                  </a:solidFill>
                  <a:ea typeface="Roboto" panose="02000000000000000000" pitchFamily="2" charset="0"/>
                </a:rPr>
                <a:t>Suponiendo que se tiene el siguiente predicado: </a:t>
              </a:r>
            </a:p>
          </p:txBody>
        </p:sp>
        <mc:AlternateContent xmlns:mc="http://schemas.openxmlformats.org/markup-compatibility/2006" xmlns:a14="http://schemas.microsoft.com/office/drawing/2010/main">
          <mc:Choice Requires="a14">
            <p:sp>
              <p:nvSpPr>
                <p:cNvPr id="30" name="CuadroTexto 29">
                  <a:extLst>
                    <a:ext uri="{FF2B5EF4-FFF2-40B4-BE49-F238E27FC236}">
                      <a16:creationId xmlns:a16="http://schemas.microsoft.com/office/drawing/2014/main" id="{98EC56B2-96EB-40F8-8CC7-D8E96A2954F7}"/>
                    </a:ext>
                  </a:extLst>
                </p:cNvPr>
                <p:cNvSpPr txBox="1"/>
                <p:nvPr/>
              </p:nvSpPr>
              <p:spPr>
                <a:xfrm>
                  <a:off x="6570164" y="4307981"/>
                  <a:ext cx="4688511"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MX" sz="2000" b="1" i="1" smtClean="0">
                            <a:solidFill>
                              <a:schemeClr val="tx1"/>
                            </a:solidFill>
                            <a:latin typeface="Cambria Math" panose="02040503050406030204" pitchFamily="18" charset="0"/>
                          </a:rPr>
                          <m:t>𝑴</m:t>
                        </m:r>
                        <m:d>
                          <m:dPr>
                            <m:ctrlPr>
                              <a:rPr lang="es-MX" sz="2000" i="1">
                                <a:solidFill>
                                  <a:schemeClr val="tx1"/>
                                </a:solidFill>
                                <a:latin typeface="Cambria Math" panose="02040503050406030204" pitchFamily="18" charset="0"/>
                              </a:rPr>
                            </m:ctrlPr>
                          </m:dPr>
                          <m:e>
                            <m:r>
                              <a:rPr lang="es-MX" sz="2000" i="1" smtClean="0">
                                <a:solidFill>
                                  <a:schemeClr val="tx1"/>
                                </a:solidFill>
                                <a:latin typeface="Cambria Math" panose="02040503050406030204" pitchFamily="18" charset="0"/>
                              </a:rPr>
                              <m:t>𝑥</m:t>
                            </m:r>
                          </m:e>
                        </m:d>
                        <m:r>
                          <a:rPr lang="es-MX" sz="2000">
                            <a:solidFill>
                              <a:schemeClr val="tx1"/>
                            </a:solidFill>
                            <a:latin typeface="Cambria Math" panose="02040503050406030204" pitchFamily="18" charset="0"/>
                          </a:rPr>
                          <m:t>:</m:t>
                        </m:r>
                        <m:r>
                          <a:rPr lang="es-MX" sz="2000" i="1">
                            <a:solidFill>
                              <a:schemeClr val="tx1"/>
                            </a:solidFill>
                            <a:latin typeface="Cambria Math" panose="02040503050406030204" pitchFamily="18" charset="0"/>
                          </a:rPr>
                          <m:t>𝑥</m:t>
                        </m:r>
                        <m:r>
                          <a:rPr lang="es-MX" sz="2000">
                            <a:solidFill>
                              <a:schemeClr val="accent2"/>
                            </a:solidFill>
                            <a:latin typeface="Cambria Math" panose="02040503050406030204" pitchFamily="18" charset="0"/>
                          </a:rPr>
                          <m:t> </m:t>
                        </m:r>
                        <m:r>
                          <m:rPr>
                            <m:sty m:val="p"/>
                          </m:rPr>
                          <a:rPr lang="es-MX" sz="2000">
                            <a:solidFill>
                              <a:schemeClr val="tx1"/>
                            </a:solidFill>
                            <a:latin typeface="Cambria Math" panose="02040503050406030204" pitchFamily="18" charset="0"/>
                          </a:rPr>
                          <m:t>es</m:t>
                        </m:r>
                        <m:r>
                          <a:rPr lang="es-MX" sz="2000">
                            <a:solidFill>
                              <a:schemeClr val="tx1"/>
                            </a:solidFill>
                            <a:latin typeface="Cambria Math" panose="02040503050406030204" pitchFamily="18" charset="0"/>
                          </a:rPr>
                          <m:t> </m:t>
                        </m:r>
                        <m:r>
                          <m:rPr>
                            <m:sty m:val="p"/>
                          </m:rPr>
                          <a:rPr lang="es-MX" sz="2000">
                            <a:solidFill>
                              <a:schemeClr val="tx1"/>
                            </a:solidFill>
                            <a:latin typeface="Cambria Math" panose="02040503050406030204" pitchFamily="18" charset="0"/>
                          </a:rPr>
                          <m:t>un</m:t>
                        </m:r>
                        <m:r>
                          <a:rPr lang="es-MX" sz="2000">
                            <a:solidFill>
                              <a:schemeClr val="tx1"/>
                            </a:solidFill>
                            <a:latin typeface="Cambria Math" panose="02040503050406030204" pitchFamily="18" charset="0"/>
                          </a:rPr>
                          <m:t> </m:t>
                        </m:r>
                        <m:r>
                          <m:rPr>
                            <m:sty m:val="p"/>
                          </m:rPr>
                          <a:rPr lang="es-MX" sz="2000">
                            <a:solidFill>
                              <a:schemeClr val="tx1"/>
                            </a:solidFill>
                            <a:latin typeface="Cambria Math" panose="02040503050406030204" pitchFamily="18" charset="0"/>
                          </a:rPr>
                          <m:t>miembro</m:t>
                        </m:r>
                        <m:r>
                          <a:rPr lang="es-MX" sz="2000">
                            <a:solidFill>
                              <a:schemeClr val="tx1"/>
                            </a:solidFill>
                            <a:latin typeface="Cambria Math" panose="02040503050406030204" pitchFamily="18" charset="0"/>
                          </a:rPr>
                          <m:t> </m:t>
                        </m:r>
                        <m:r>
                          <m:rPr>
                            <m:sty m:val="p"/>
                          </m:rPr>
                          <a:rPr lang="es-MX" sz="2000">
                            <a:solidFill>
                              <a:schemeClr val="tx1"/>
                            </a:solidFill>
                            <a:latin typeface="Cambria Math" panose="02040503050406030204" pitchFamily="18" charset="0"/>
                          </a:rPr>
                          <m:t>de</m:t>
                        </m:r>
                        <m:r>
                          <a:rPr lang="es-MX" sz="2000">
                            <a:solidFill>
                              <a:schemeClr val="tx1"/>
                            </a:solidFill>
                            <a:latin typeface="Cambria Math" panose="02040503050406030204" pitchFamily="18" charset="0"/>
                          </a:rPr>
                          <m:t> </m:t>
                        </m:r>
                        <m:r>
                          <m:rPr>
                            <m:sty m:val="p"/>
                          </m:rPr>
                          <a:rPr lang="es-MX" sz="2000">
                            <a:solidFill>
                              <a:schemeClr val="tx1"/>
                            </a:solidFill>
                            <a:latin typeface="Cambria Math" panose="02040503050406030204" pitchFamily="18" charset="0"/>
                          </a:rPr>
                          <m:t>la</m:t>
                        </m:r>
                        <m:r>
                          <a:rPr lang="es-MX" sz="2000">
                            <a:solidFill>
                              <a:schemeClr val="tx1"/>
                            </a:solidFill>
                            <a:latin typeface="Cambria Math" panose="02040503050406030204" pitchFamily="18" charset="0"/>
                          </a:rPr>
                          <m:t> </m:t>
                        </m:r>
                        <m:r>
                          <m:rPr>
                            <m:sty m:val="p"/>
                          </m:rPr>
                          <a:rPr lang="es-MX" sz="2000">
                            <a:solidFill>
                              <a:schemeClr val="tx1"/>
                            </a:solidFill>
                            <a:latin typeface="Cambria Math" panose="02040503050406030204" pitchFamily="18" charset="0"/>
                          </a:rPr>
                          <m:t>familia</m:t>
                        </m:r>
                        <m:r>
                          <a:rPr lang="es-MX" sz="2000">
                            <a:solidFill>
                              <a:schemeClr val="tx1"/>
                            </a:solidFill>
                            <a:latin typeface="Cambria Math" panose="02040503050406030204" pitchFamily="18" charset="0"/>
                          </a:rPr>
                          <m:t> </m:t>
                        </m:r>
                        <m:r>
                          <m:rPr>
                            <m:sty m:val="p"/>
                          </m:rPr>
                          <a:rPr lang="es-MX" sz="2000">
                            <a:solidFill>
                              <a:schemeClr val="tx1"/>
                            </a:solidFill>
                            <a:latin typeface="Cambria Math" panose="02040503050406030204" pitchFamily="18" charset="0"/>
                          </a:rPr>
                          <m:t>Griffing</m:t>
                        </m:r>
                      </m:oMath>
                    </m:oMathPara>
                  </a14:m>
                  <a:endParaRPr lang="es-CO" sz="2000" dirty="0">
                    <a:solidFill>
                      <a:schemeClr val="tx1"/>
                    </a:solidFill>
                  </a:endParaRPr>
                </a:p>
              </p:txBody>
            </p:sp>
          </mc:Choice>
          <mc:Fallback xmlns="">
            <p:sp>
              <p:nvSpPr>
                <p:cNvPr id="30" name="CuadroTexto 29">
                  <a:extLst>
                    <a:ext uri="{FF2B5EF4-FFF2-40B4-BE49-F238E27FC236}">
                      <a16:creationId xmlns:a16="http://schemas.microsoft.com/office/drawing/2014/main" id="{98EC56B2-96EB-40F8-8CC7-D8E96A2954F7}"/>
                    </a:ext>
                  </a:extLst>
                </p:cNvPr>
                <p:cNvSpPr txBox="1">
                  <a:spLocks noRot="1" noChangeAspect="1" noMove="1" noResize="1" noEditPoints="1" noAdjustHandles="1" noChangeArrowheads="1" noChangeShapeType="1" noTextEdit="1"/>
                </p:cNvSpPr>
                <p:nvPr/>
              </p:nvSpPr>
              <p:spPr>
                <a:xfrm>
                  <a:off x="6570164" y="4307981"/>
                  <a:ext cx="4688511" cy="400110"/>
                </a:xfrm>
                <a:prstGeom prst="rect">
                  <a:avLst/>
                </a:prstGeom>
                <a:blipFill>
                  <a:blip r:embed="rId6"/>
                  <a:stretch>
                    <a:fillRect r="-5982" b="-13636"/>
                  </a:stretch>
                </a:blipFill>
              </p:spPr>
              <p:txBody>
                <a:bodyPr/>
                <a:lstStyle/>
                <a:p>
                  <a:r>
                    <a:rPr lang="es-CO">
                      <a:noFill/>
                    </a:rPr>
                    <a:t> </a:t>
                  </a:r>
                </a:p>
              </p:txBody>
            </p:sp>
          </mc:Fallback>
        </mc:AlternateContent>
      </p:grpSp>
      <p:grpSp>
        <p:nvGrpSpPr>
          <p:cNvPr id="28" name="Grupo 27">
            <a:extLst>
              <a:ext uri="{FF2B5EF4-FFF2-40B4-BE49-F238E27FC236}">
                <a16:creationId xmlns:a16="http://schemas.microsoft.com/office/drawing/2014/main" id="{59CA22E0-277A-4FDF-B0F1-DFE26094F75D}"/>
              </a:ext>
            </a:extLst>
          </p:cNvPr>
          <p:cNvGrpSpPr/>
          <p:nvPr/>
        </p:nvGrpSpPr>
        <p:grpSpPr>
          <a:xfrm>
            <a:off x="656795" y="3298302"/>
            <a:ext cx="4497303" cy="3146642"/>
            <a:chOff x="924132" y="3978951"/>
            <a:chExt cx="4497303" cy="3146642"/>
          </a:xfrm>
        </p:grpSpPr>
        <mc:AlternateContent xmlns:mc="http://schemas.openxmlformats.org/markup-compatibility/2006" xmlns:a14="http://schemas.microsoft.com/office/drawing/2010/main">
          <mc:Choice Requires="a14">
            <p:sp>
              <p:nvSpPr>
                <p:cNvPr id="29" name="CuadroTexto 28">
                  <a:extLst>
                    <a:ext uri="{FF2B5EF4-FFF2-40B4-BE49-F238E27FC236}">
                      <a16:creationId xmlns:a16="http://schemas.microsoft.com/office/drawing/2014/main" id="{302DE4DB-AEB0-4A2D-95CC-647B5D692235}"/>
                    </a:ext>
                  </a:extLst>
                </p:cNvPr>
                <p:cNvSpPr txBox="1"/>
                <p:nvPr/>
              </p:nvSpPr>
              <p:spPr>
                <a:xfrm>
                  <a:off x="1195778" y="6725483"/>
                  <a:ext cx="3849178"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MX" sz="2000" b="1" i="1" smtClean="0">
                            <a:solidFill>
                              <a:schemeClr val="tx1"/>
                            </a:solidFill>
                            <a:latin typeface="Cambria Math" panose="02040503050406030204" pitchFamily="18" charset="0"/>
                          </a:rPr>
                          <m:t>𝑷</m:t>
                        </m:r>
                        <m:r>
                          <a:rPr lang="es-MX" sz="2000" b="0" i="0" smtClean="0">
                            <a:solidFill>
                              <a:schemeClr val="tx1"/>
                            </a:solidFill>
                            <a:latin typeface="Cambria Math" panose="02040503050406030204" pitchFamily="18" charset="0"/>
                          </a:rPr>
                          <m:t>:</m:t>
                        </m:r>
                        <m:r>
                          <m:rPr>
                            <m:sty m:val="p"/>
                          </m:rPr>
                          <a:rPr lang="es-MX" sz="2000" b="0" i="0" smtClean="0">
                            <a:solidFill>
                              <a:schemeClr val="tx1"/>
                            </a:solidFill>
                            <a:latin typeface="Cambria Math" panose="02040503050406030204" pitchFamily="18" charset="0"/>
                          </a:rPr>
                          <m:t>Personajes</m:t>
                        </m:r>
                        <m:r>
                          <a:rPr lang="es-MX" sz="2000" b="0" i="0" smtClean="0">
                            <a:solidFill>
                              <a:schemeClr val="tx1"/>
                            </a:solidFill>
                            <a:latin typeface="Cambria Math" panose="02040503050406030204" pitchFamily="18" charset="0"/>
                          </a:rPr>
                          <m:t> </m:t>
                        </m:r>
                        <m:r>
                          <m:rPr>
                            <m:sty m:val="p"/>
                          </m:rPr>
                          <a:rPr lang="es-MX" sz="2000" b="0" i="0" smtClean="0">
                            <a:solidFill>
                              <a:schemeClr val="tx1"/>
                            </a:solidFill>
                            <a:latin typeface="Cambria Math" panose="02040503050406030204" pitchFamily="18" charset="0"/>
                          </a:rPr>
                          <m:t>de</m:t>
                        </m:r>
                        <m:r>
                          <a:rPr lang="es-MX" sz="2000" b="0" i="0" smtClean="0">
                            <a:solidFill>
                              <a:schemeClr val="tx1"/>
                            </a:solidFill>
                            <a:latin typeface="Cambria Math" panose="02040503050406030204" pitchFamily="18" charset="0"/>
                          </a:rPr>
                          <m:t> </m:t>
                        </m:r>
                        <m:r>
                          <m:rPr>
                            <m:sty m:val="p"/>
                          </m:rPr>
                          <a:rPr lang="es-MX" sz="2000" b="0" i="0" smtClean="0">
                            <a:solidFill>
                              <a:schemeClr val="tx1"/>
                            </a:solidFill>
                            <a:latin typeface="Cambria Math" panose="02040503050406030204" pitchFamily="18" charset="0"/>
                          </a:rPr>
                          <m:t>padre</m:t>
                        </m:r>
                        <m:r>
                          <a:rPr lang="es-MX" sz="2000" b="0" i="0" smtClean="0">
                            <a:solidFill>
                              <a:schemeClr val="tx1"/>
                            </a:solidFill>
                            <a:latin typeface="Cambria Math" panose="02040503050406030204" pitchFamily="18" charset="0"/>
                          </a:rPr>
                          <m:t> </m:t>
                        </m:r>
                        <m:r>
                          <m:rPr>
                            <m:sty m:val="p"/>
                          </m:rPr>
                          <a:rPr lang="es-MX" sz="2000" b="0" i="0" smtClean="0">
                            <a:solidFill>
                              <a:schemeClr val="tx1"/>
                            </a:solidFill>
                            <a:latin typeface="Cambria Math" panose="02040503050406030204" pitchFamily="18" charset="0"/>
                          </a:rPr>
                          <m:t>de</m:t>
                        </m:r>
                        <m:r>
                          <a:rPr lang="es-MX" sz="2000" b="0" i="0" smtClean="0">
                            <a:solidFill>
                              <a:schemeClr val="tx1"/>
                            </a:solidFill>
                            <a:latin typeface="Cambria Math" panose="02040503050406030204" pitchFamily="18" charset="0"/>
                          </a:rPr>
                          <m:t> </m:t>
                        </m:r>
                        <m:r>
                          <m:rPr>
                            <m:sty m:val="p"/>
                          </m:rPr>
                          <a:rPr lang="es-MX" sz="2000" b="0" i="0" smtClean="0">
                            <a:solidFill>
                              <a:schemeClr val="tx1"/>
                            </a:solidFill>
                            <a:latin typeface="Cambria Math" panose="02040503050406030204" pitchFamily="18" charset="0"/>
                          </a:rPr>
                          <m:t>familia</m:t>
                        </m:r>
                      </m:oMath>
                    </m:oMathPara>
                  </a14:m>
                  <a:endParaRPr lang="es-CO" sz="2000" dirty="0">
                    <a:solidFill>
                      <a:schemeClr val="tx1"/>
                    </a:solidFill>
                  </a:endParaRPr>
                </a:p>
              </p:txBody>
            </p:sp>
          </mc:Choice>
          <mc:Fallback xmlns="">
            <p:sp>
              <p:nvSpPr>
                <p:cNvPr id="29" name="CuadroTexto 28">
                  <a:extLst>
                    <a:ext uri="{FF2B5EF4-FFF2-40B4-BE49-F238E27FC236}">
                      <a16:creationId xmlns:a16="http://schemas.microsoft.com/office/drawing/2014/main" id="{302DE4DB-AEB0-4A2D-95CC-647B5D692235}"/>
                    </a:ext>
                  </a:extLst>
                </p:cNvPr>
                <p:cNvSpPr txBox="1">
                  <a:spLocks noRot="1" noChangeAspect="1" noMove="1" noResize="1" noEditPoints="1" noAdjustHandles="1" noChangeArrowheads="1" noChangeShapeType="1" noTextEdit="1"/>
                </p:cNvSpPr>
                <p:nvPr/>
              </p:nvSpPr>
              <p:spPr>
                <a:xfrm>
                  <a:off x="1195778" y="6725483"/>
                  <a:ext cx="3849178" cy="400110"/>
                </a:xfrm>
                <a:prstGeom prst="rect">
                  <a:avLst/>
                </a:prstGeom>
                <a:blipFill>
                  <a:blip r:embed="rId7"/>
                  <a:stretch>
                    <a:fillRect b="-15385"/>
                  </a:stretch>
                </a:blipFill>
              </p:spPr>
              <p:txBody>
                <a:bodyPr/>
                <a:lstStyle/>
                <a:p>
                  <a:r>
                    <a:rPr lang="es-CO">
                      <a:noFill/>
                    </a:rPr>
                    <a:t> </a:t>
                  </a:r>
                </a:p>
              </p:txBody>
            </p:sp>
          </mc:Fallback>
        </mc:AlternateContent>
        <p:grpSp>
          <p:nvGrpSpPr>
            <p:cNvPr id="31" name="Grupo 30">
              <a:extLst>
                <a:ext uri="{FF2B5EF4-FFF2-40B4-BE49-F238E27FC236}">
                  <a16:creationId xmlns:a16="http://schemas.microsoft.com/office/drawing/2014/main" id="{A14A365D-2A35-46A8-8EE6-C625AF8001C3}"/>
                </a:ext>
              </a:extLst>
            </p:cNvPr>
            <p:cNvGrpSpPr/>
            <p:nvPr/>
          </p:nvGrpSpPr>
          <p:grpSpPr>
            <a:xfrm>
              <a:off x="2933872" y="3978951"/>
              <a:ext cx="2487563" cy="2131478"/>
              <a:chOff x="2933872" y="3978951"/>
              <a:chExt cx="2487563" cy="2131478"/>
            </a:xfrm>
          </p:grpSpPr>
          <p:pic>
            <p:nvPicPr>
              <p:cNvPr id="37" name="Picture 4" descr="Glenn Quagmire - Wikipedia">
                <a:extLst>
                  <a:ext uri="{FF2B5EF4-FFF2-40B4-BE49-F238E27FC236}">
                    <a16:creationId xmlns:a16="http://schemas.microsoft.com/office/drawing/2014/main" id="{DC047868-A164-437C-ACB1-3894857A75A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33872" y="4006536"/>
                <a:ext cx="979685" cy="1433391"/>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6" descr="Joe Swanson | Family Guy Wiki | Fandom">
                <a:extLst>
                  <a:ext uri="{FF2B5EF4-FFF2-40B4-BE49-F238E27FC236}">
                    <a16:creationId xmlns:a16="http://schemas.microsoft.com/office/drawing/2014/main" id="{39EAF77E-2165-4CC4-85B4-2250CD7CCD85}"/>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706023" y="4723231"/>
                <a:ext cx="917092" cy="1387198"/>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8" descr="Cleveland Brown | Family Guy Wiki | Fandom">
                <a:extLst>
                  <a:ext uri="{FF2B5EF4-FFF2-40B4-BE49-F238E27FC236}">
                    <a16:creationId xmlns:a16="http://schemas.microsoft.com/office/drawing/2014/main" id="{F54B2A7B-C729-468C-954E-9A89D349C82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550494" y="3978951"/>
                <a:ext cx="870941" cy="153098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32" name="Grupo 31">
              <a:extLst>
                <a:ext uri="{FF2B5EF4-FFF2-40B4-BE49-F238E27FC236}">
                  <a16:creationId xmlns:a16="http://schemas.microsoft.com/office/drawing/2014/main" id="{49282CF0-37A9-4CD0-AB83-6BC889C28F56}"/>
                </a:ext>
              </a:extLst>
            </p:cNvPr>
            <p:cNvGrpSpPr/>
            <p:nvPr/>
          </p:nvGrpSpPr>
          <p:grpSpPr>
            <a:xfrm>
              <a:off x="924132" y="4175705"/>
              <a:ext cx="1979970" cy="2174023"/>
              <a:chOff x="924132" y="4175705"/>
              <a:chExt cx="1979970" cy="2174023"/>
            </a:xfrm>
          </p:grpSpPr>
          <p:pic>
            <p:nvPicPr>
              <p:cNvPr id="34" name="Picture 2" descr="Griffin family - Wikipedia">
                <a:extLst>
                  <a:ext uri="{FF2B5EF4-FFF2-40B4-BE49-F238E27FC236}">
                    <a16:creationId xmlns:a16="http://schemas.microsoft.com/office/drawing/2014/main" id="{52A8EFCB-EE1C-436E-9DC8-D39D32784855}"/>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074547" y="4175705"/>
                <a:ext cx="1829555" cy="1433391"/>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35" name="CuadroTexto 34">
                    <a:extLst>
                      <a:ext uri="{FF2B5EF4-FFF2-40B4-BE49-F238E27FC236}">
                        <a16:creationId xmlns:a16="http://schemas.microsoft.com/office/drawing/2014/main" id="{4B9CD5F4-FD86-4881-BD5C-86DC2AEA3D3F}"/>
                      </a:ext>
                    </a:extLst>
                  </p:cNvPr>
                  <p:cNvSpPr txBox="1"/>
                  <p:nvPr/>
                </p:nvSpPr>
                <p:spPr>
                  <a:xfrm>
                    <a:off x="924132" y="5949618"/>
                    <a:ext cx="1979970"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MX" sz="2000" b="1" i="1" smtClean="0">
                              <a:solidFill>
                                <a:schemeClr val="tx1"/>
                              </a:solidFill>
                              <a:latin typeface="Cambria Math" panose="02040503050406030204" pitchFamily="18" charset="0"/>
                            </a:rPr>
                            <m:t>𝑮</m:t>
                          </m:r>
                          <m:r>
                            <a:rPr lang="es-MX" sz="2000" b="0" i="0" smtClean="0">
                              <a:solidFill>
                                <a:schemeClr val="tx1"/>
                              </a:solidFill>
                              <a:latin typeface="Cambria Math" panose="02040503050406030204" pitchFamily="18" charset="0"/>
                            </a:rPr>
                            <m:t>:</m:t>
                          </m:r>
                          <m:r>
                            <m:rPr>
                              <m:sty m:val="p"/>
                            </m:rPr>
                            <a:rPr lang="es-MX" sz="2000" b="0" i="0" smtClean="0">
                              <a:solidFill>
                                <a:schemeClr val="tx1"/>
                              </a:solidFill>
                              <a:latin typeface="Cambria Math" panose="02040503050406030204" pitchFamily="18" charset="0"/>
                            </a:rPr>
                            <m:t>Familia</m:t>
                          </m:r>
                          <m:r>
                            <a:rPr lang="es-MX" sz="2000" b="0" i="0" smtClean="0">
                              <a:solidFill>
                                <a:schemeClr val="tx1"/>
                              </a:solidFill>
                              <a:latin typeface="Cambria Math" panose="02040503050406030204" pitchFamily="18" charset="0"/>
                            </a:rPr>
                            <m:t> </m:t>
                          </m:r>
                          <m:r>
                            <m:rPr>
                              <m:sty m:val="p"/>
                            </m:rPr>
                            <a:rPr lang="es-MX" sz="2000" b="0" i="0" smtClean="0">
                              <a:solidFill>
                                <a:schemeClr val="tx1"/>
                              </a:solidFill>
                              <a:latin typeface="Cambria Math" panose="02040503050406030204" pitchFamily="18" charset="0"/>
                            </a:rPr>
                            <m:t>Griffin</m:t>
                          </m:r>
                        </m:oMath>
                      </m:oMathPara>
                    </a14:m>
                    <a:endParaRPr lang="es-CO" sz="2000" dirty="0">
                      <a:solidFill>
                        <a:schemeClr val="tx1"/>
                      </a:solidFill>
                    </a:endParaRPr>
                  </a:p>
                </p:txBody>
              </p:sp>
            </mc:Choice>
            <mc:Fallback xmlns="">
              <p:sp>
                <p:nvSpPr>
                  <p:cNvPr id="35" name="CuadroTexto 34">
                    <a:extLst>
                      <a:ext uri="{FF2B5EF4-FFF2-40B4-BE49-F238E27FC236}">
                        <a16:creationId xmlns:a16="http://schemas.microsoft.com/office/drawing/2014/main" id="{4B9CD5F4-FD86-4881-BD5C-86DC2AEA3D3F}"/>
                      </a:ext>
                    </a:extLst>
                  </p:cNvPr>
                  <p:cNvSpPr txBox="1">
                    <a:spLocks noRot="1" noChangeAspect="1" noMove="1" noResize="1" noEditPoints="1" noAdjustHandles="1" noChangeArrowheads="1" noChangeShapeType="1" noTextEdit="1"/>
                  </p:cNvSpPr>
                  <p:nvPr/>
                </p:nvSpPr>
                <p:spPr>
                  <a:xfrm>
                    <a:off x="924132" y="5949618"/>
                    <a:ext cx="1979970" cy="400110"/>
                  </a:xfrm>
                  <a:prstGeom prst="rect">
                    <a:avLst/>
                  </a:prstGeom>
                  <a:blipFill>
                    <a:blip r:embed="rId12"/>
                    <a:stretch>
                      <a:fillRect r="-1846"/>
                    </a:stretch>
                  </a:blipFill>
                </p:spPr>
                <p:txBody>
                  <a:bodyPr/>
                  <a:lstStyle/>
                  <a:p>
                    <a:r>
                      <a:rPr lang="es-CO">
                        <a:noFill/>
                      </a:rPr>
                      <a:t> </a:t>
                    </a:r>
                  </a:p>
                </p:txBody>
              </p:sp>
            </mc:Fallback>
          </mc:AlternateContent>
          <p:sp>
            <p:nvSpPr>
              <p:cNvPr id="36" name="Cerrar llave 35">
                <a:extLst>
                  <a:ext uri="{FF2B5EF4-FFF2-40B4-BE49-F238E27FC236}">
                    <a16:creationId xmlns:a16="http://schemas.microsoft.com/office/drawing/2014/main" id="{35895E28-0C96-42D7-9E2C-7DB6213591FF}"/>
                  </a:ext>
                </a:extLst>
              </p:cNvPr>
              <p:cNvSpPr/>
              <p:nvPr/>
            </p:nvSpPr>
            <p:spPr>
              <a:xfrm rot="5400000">
                <a:off x="1748577" y="4713004"/>
                <a:ext cx="352174" cy="1902540"/>
              </a:xfrm>
              <a:prstGeom prst="rightBrace">
                <a:avLst>
                  <a:gd name="adj1" fmla="val 29247"/>
                  <a:gd name="adj2" fmla="val 50000"/>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a:p>
            </p:txBody>
          </p:sp>
        </p:grpSp>
        <p:sp>
          <p:nvSpPr>
            <p:cNvPr id="33" name="Cerrar llave 32">
              <a:extLst>
                <a:ext uri="{FF2B5EF4-FFF2-40B4-BE49-F238E27FC236}">
                  <a16:creationId xmlns:a16="http://schemas.microsoft.com/office/drawing/2014/main" id="{0A46083E-B381-4B14-B8EE-E28D497FE86A}"/>
                </a:ext>
              </a:extLst>
            </p:cNvPr>
            <p:cNvSpPr/>
            <p:nvPr/>
          </p:nvSpPr>
          <p:spPr>
            <a:xfrm rot="5400000">
              <a:off x="3038593" y="4280122"/>
              <a:ext cx="317642" cy="4448041"/>
            </a:xfrm>
            <a:prstGeom prst="rightBrace">
              <a:avLst>
                <a:gd name="adj1" fmla="val 29247"/>
                <a:gd name="adj2" fmla="val 50000"/>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a:p>
          </p:txBody>
        </p:sp>
      </p:grpSp>
    </p:spTree>
    <p:extLst>
      <p:ext uri="{BB962C8B-B14F-4D97-AF65-F5344CB8AC3E}">
        <p14:creationId xmlns:p14="http://schemas.microsoft.com/office/powerpoint/2010/main" val="20896805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26"/>
          <p:cNvSpPr txBox="1">
            <a:spLocks noGrp="1"/>
          </p:cNvSpPr>
          <p:nvPr>
            <p:ph type="title"/>
          </p:nvPr>
        </p:nvSpPr>
        <p:spPr>
          <a:xfrm>
            <a:off x="211275" y="206477"/>
            <a:ext cx="11769450" cy="914881"/>
          </a:xfrm>
          <a:prstGeom prst="rect">
            <a:avLst/>
          </a:prstGeom>
        </p:spPr>
        <p:txBody>
          <a:bodyPr spcFirstLastPara="1" wrap="square" lIns="91425" tIns="45700" rIns="91425" bIns="45700" anchor="ctr" anchorCtr="0">
            <a:noAutofit/>
          </a:bodyPr>
          <a:lstStyle/>
          <a:p>
            <a:pPr>
              <a:spcBef>
                <a:spcPts val="0"/>
              </a:spcBef>
            </a:pPr>
            <a:r>
              <a:rPr lang="es-MX" dirty="0">
                <a:ea typeface="Roboto" panose="02000000000000000000" pitchFamily="2" charset="0"/>
              </a:rPr>
              <a:t>Representación por extensión (set-roster)</a:t>
            </a:r>
            <a:endParaRPr lang="es-ES" dirty="0"/>
          </a:p>
        </p:txBody>
      </p:sp>
      <p:sp>
        <p:nvSpPr>
          <p:cNvPr id="8" name="Google Shape;310;p34">
            <a:extLst>
              <a:ext uri="{FF2B5EF4-FFF2-40B4-BE49-F238E27FC236}">
                <a16:creationId xmlns:a16="http://schemas.microsoft.com/office/drawing/2014/main" id="{F6716F76-3AFE-471D-B156-0250FFA69F6E}"/>
              </a:ext>
            </a:extLst>
          </p:cNvPr>
          <p:cNvSpPr txBox="1">
            <a:spLocks/>
          </p:cNvSpPr>
          <p:nvPr/>
        </p:nvSpPr>
        <p:spPr>
          <a:xfrm>
            <a:off x="152282" y="1113072"/>
            <a:ext cx="11980725" cy="5175826"/>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200" dirty="0">
                <a:latin typeface="+mn-lt"/>
                <a:ea typeface="Roboto" panose="02000000000000000000" pitchFamily="2" charset="0"/>
              </a:rPr>
              <a:t>En una representación por extensión, cada uno de los elementos del conjunto es listado entre llaves {}.</a:t>
            </a:r>
          </a:p>
          <a:p>
            <a:r>
              <a:rPr lang="es-MX" sz="2200" dirty="0">
                <a:latin typeface="+mn-lt"/>
                <a:ea typeface="Roboto" panose="02000000000000000000" pitchFamily="2" charset="0"/>
              </a:rPr>
              <a:t>Cada uno de los elementos listados es separado por comas.</a:t>
            </a:r>
          </a:p>
          <a:p>
            <a:endParaRPr lang="es-MX" sz="2200" dirty="0">
              <a:latin typeface="+mn-lt"/>
              <a:ea typeface="Roboto" panose="02000000000000000000" pitchFamily="2" charset="0"/>
            </a:endParaRPr>
          </a:p>
          <a:p>
            <a:r>
              <a:rPr lang="es-MX" sz="2200" dirty="0">
                <a:latin typeface="+mn-lt"/>
                <a:ea typeface="Roboto" panose="02000000000000000000" pitchFamily="2" charset="0"/>
              </a:rPr>
              <a:t>El orden en que se lista los elementos no importa.</a:t>
            </a:r>
          </a:p>
          <a:p>
            <a:endParaRPr lang="es-MX" sz="2200" dirty="0">
              <a:latin typeface="+mn-lt"/>
              <a:ea typeface="Roboto" panose="02000000000000000000" pitchFamily="2" charset="0"/>
            </a:endParaRPr>
          </a:p>
          <a:p>
            <a:r>
              <a:rPr lang="es-MX" sz="2200" dirty="0">
                <a:latin typeface="+mn-lt"/>
                <a:ea typeface="Roboto" panose="02000000000000000000" pitchFamily="2" charset="0"/>
              </a:rPr>
              <a:t>Los conjuntos se definen por los elementos que contienen, no por el orden ni por la cantidad de veces que se repiten.</a:t>
            </a:r>
          </a:p>
          <a:p>
            <a:endParaRPr lang="es-MX" sz="2200" dirty="0">
              <a:latin typeface="+mn-lt"/>
              <a:ea typeface="Roboto" panose="02000000000000000000" pitchFamily="2" charset="0"/>
            </a:endParaRPr>
          </a:p>
          <a:p>
            <a:r>
              <a:rPr lang="es-MX" sz="2200" dirty="0">
                <a:latin typeface="+mn-lt"/>
                <a:ea typeface="Roboto" panose="02000000000000000000" pitchFamily="2" charset="0"/>
              </a:rPr>
              <a:t>Los puntos suspensivos (…) pueden usarse para describir un conjunto sin enumerar todos los miembros cuando el patrón es claro.</a:t>
            </a:r>
          </a:p>
          <a:p>
            <a:endParaRPr lang="es-MX" sz="2200" dirty="0">
              <a:latin typeface="+mn-lt"/>
              <a:ea typeface="Roboto" panose="02000000000000000000" pitchFamily="2" charset="0"/>
            </a:endParaRPr>
          </a:p>
          <a:p>
            <a:r>
              <a:rPr lang="es-MX" sz="2200" dirty="0">
                <a:latin typeface="+mn-lt"/>
                <a:ea typeface="Roboto" panose="02000000000000000000" pitchFamily="2" charset="0"/>
              </a:rPr>
              <a:t>Esta representación es útil cuando el conjunto es finito y pequeño.</a:t>
            </a:r>
          </a:p>
        </p:txBody>
      </p:sp>
      <mc:AlternateContent xmlns:mc="http://schemas.openxmlformats.org/markup-compatibility/2006" xmlns:a14="http://schemas.microsoft.com/office/drawing/2010/main">
        <mc:Choice Requires="a14">
          <p:sp>
            <p:nvSpPr>
              <p:cNvPr id="4" name="CuadroTexto 3">
                <a:extLst>
                  <a:ext uri="{FF2B5EF4-FFF2-40B4-BE49-F238E27FC236}">
                    <a16:creationId xmlns:a16="http://schemas.microsoft.com/office/drawing/2014/main" id="{6E3248D3-7D10-4C34-8016-FA89F8D97AFD}"/>
                  </a:ext>
                </a:extLst>
              </p:cNvPr>
              <p:cNvSpPr txBox="1"/>
              <p:nvPr/>
            </p:nvSpPr>
            <p:spPr>
              <a:xfrm>
                <a:off x="5569962" y="2148678"/>
                <a:ext cx="1751826" cy="33855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MX" sz="2200" b="0" i="1" smtClean="0">
                          <a:latin typeface="Cambria Math" panose="02040503050406030204" pitchFamily="18" charset="0"/>
                        </a:rPr>
                        <m:t>𝑆</m:t>
                      </m:r>
                      <m:r>
                        <a:rPr lang="es-MX" sz="2200" b="0" i="1" smtClean="0">
                          <a:latin typeface="Cambria Math" panose="02040503050406030204" pitchFamily="18" charset="0"/>
                        </a:rPr>
                        <m:t>=</m:t>
                      </m:r>
                      <m:d>
                        <m:dPr>
                          <m:begChr m:val="{"/>
                          <m:endChr m:val="}"/>
                          <m:ctrlPr>
                            <a:rPr lang="es-MX" sz="2200" b="0" i="1" smtClean="0">
                              <a:latin typeface="Cambria Math" panose="02040503050406030204" pitchFamily="18" charset="0"/>
                            </a:rPr>
                          </m:ctrlPr>
                        </m:dPr>
                        <m:e>
                          <m:r>
                            <a:rPr lang="es-MX" sz="2200" b="0" i="1" smtClean="0">
                              <a:latin typeface="Cambria Math" panose="02040503050406030204" pitchFamily="18" charset="0"/>
                            </a:rPr>
                            <m:t>𝑎</m:t>
                          </m:r>
                          <m:r>
                            <a:rPr lang="es-MX" sz="2200" b="0" i="1" smtClean="0">
                              <a:latin typeface="Cambria Math" panose="02040503050406030204" pitchFamily="18" charset="0"/>
                            </a:rPr>
                            <m:t>,</m:t>
                          </m:r>
                          <m:r>
                            <a:rPr lang="es-MX" sz="2200" b="0" i="1" smtClean="0">
                              <a:latin typeface="Cambria Math" panose="02040503050406030204" pitchFamily="18" charset="0"/>
                            </a:rPr>
                            <m:t>𝑏</m:t>
                          </m:r>
                          <m:r>
                            <a:rPr lang="es-MX" sz="2200" b="0" i="1" smtClean="0">
                              <a:latin typeface="Cambria Math" panose="02040503050406030204" pitchFamily="18" charset="0"/>
                            </a:rPr>
                            <m:t>,</m:t>
                          </m:r>
                          <m:r>
                            <a:rPr lang="es-MX" sz="2200" b="0" i="1" smtClean="0">
                              <a:latin typeface="Cambria Math" panose="02040503050406030204" pitchFamily="18" charset="0"/>
                            </a:rPr>
                            <m:t>𝑐</m:t>
                          </m:r>
                          <m:r>
                            <a:rPr lang="es-MX" sz="2200" b="0" i="1" smtClean="0">
                              <a:latin typeface="Cambria Math" panose="02040503050406030204" pitchFamily="18" charset="0"/>
                            </a:rPr>
                            <m:t>,</m:t>
                          </m:r>
                          <m:r>
                            <a:rPr lang="es-MX" sz="2200" b="0" i="1" smtClean="0">
                              <a:latin typeface="Cambria Math" panose="02040503050406030204" pitchFamily="18" charset="0"/>
                            </a:rPr>
                            <m:t>𝑑</m:t>
                          </m:r>
                        </m:e>
                      </m:d>
                    </m:oMath>
                  </m:oMathPara>
                </a14:m>
                <a:endParaRPr lang="es-CO" sz="2200" dirty="0"/>
              </a:p>
            </p:txBody>
          </p:sp>
        </mc:Choice>
        <mc:Fallback xmlns="">
          <p:sp>
            <p:nvSpPr>
              <p:cNvPr id="4" name="CuadroTexto 3">
                <a:extLst>
                  <a:ext uri="{FF2B5EF4-FFF2-40B4-BE49-F238E27FC236}">
                    <a16:creationId xmlns:a16="http://schemas.microsoft.com/office/drawing/2014/main" id="{6E3248D3-7D10-4C34-8016-FA89F8D97AFD}"/>
                  </a:ext>
                </a:extLst>
              </p:cNvPr>
              <p:cNvSpPr txBox="1">
                <a:spLocks noRot="1" noChangeAspect="1" noMove="1" noResize="1" noEditPoints="1" noAdjustHandles="1" noChangeArrowheads="1" noChangeShapeType="1" noTextEdit="1"/>
              </p:cNvSpPr>
              <p:nvPr/>
            </p:nvSpPr>
            <p:spPr>
              <a:xfrm>
                <a:off x="5569962" y="2148678"/>
                <a:ext cx="1751826" cy="338554"/>
              </a:xfrm>
              <a:prstGeom prst="rect">
                <a:avLst/>
              </a:prstGeom>
              <a:blipFill>
                <a:blip r:embed="rId3"/>
                <a:stretch>
                  <a:fillRect l="-3136" b="-7143"/>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57F0DE9A-00C2-41C6-96EB-9E9C6E6A4B83}"/>
                  </a:ext>
                </a:extLst>
              </p:cNvPr>
              <p:cNvSpPr txBox="1"/>
              <p:nvPr/>
            </p:nvSpPr>
            <p:spPr>
              <a:xfrm>
                <a:off x="5327807" y="5300031"/>
                <a:ext cx="2549325" cy="33855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s-MX" sz="2200" b="0" i="1" smtClean="0">
                          <a:latin typeface="Cambria Math" panose="02040503050406030204" pitchFamily="18" charset="0"/>
                        </a:rPr>
                        <m:t>𝑆</m:t>
                      </m:r>
                      <m:r>
                        <a:rPr lang="es-MX" sz="2200" b="0" i="1" smtClean="0">
                          <a:latin typeface="Cambria Math" panose="02040503050406030204" pitchFamily="18" charset="0"/>
                        </a:rPr>
                        <m:t>=</m:t>
                      </m:r>
                      <m:d>
                        <m:dPr>
                          <m:begChr m:val="{"/>
                          <m:endChr m:val="}"/>
                          <m:ctrlPr>
                            <a:rPr lang="es-MX" sz="2200" b="0" i="1" smtClean="0">
                              <a:latin typeface="Cambria Math" panose="02040503050406030204" pitchFamily="18" charset="0"/>
                            </a:rPr>
                          </m:ctrlPr>
                        </m:dPr>
                        <m:e>
                          <m:r>
                            <a:rPr lang="es-MX" sz="2200" b="0" i="1" smtClean="0">
                              <a:latin typeface="Cambria Math" panose="02040503050406030204" pitchFamily="18" charset="0"/>
                            </a:rPr>
                            <m:t>𝑎</m:t>
                          </m:r>
                          <m:r>
                            <a:rPr lang="es-MX" sz="2200" b="0" i="1" smtClean="0">
                              <a:latin typeface="Cambria Math" panose="02040503050406030204" pitchFamily="18" charset="0"/>
                            </a:rPr>
                            <m:t>,</m:t>
                          </m:r>
                          <m:r>
                            <a:rPr lang="es-MX" sz="2200" b="0" i="1" smtClean="0">
                              <a:latin typeface="Cambria Math" panose="02040503050406030204" pitchFamily="18" charset="0"/>
                            </a:rPr>
                            <m:t>𝑏</m:t>
                          </m:r>
                          <m:r>
                            <a:rPr lang="es-MX" sz="2200" b="0" i="1" smtClean="0">
                              <a:latin typeface="Cambria Math" panose="02040503050406030204" pitchFamily="18" charset="0"/>
                            </a:rPr>
                            <m:t>,</m:t>
                          </m:r>
                          <m:r>
                            <a:rPr lang="es-MX" sz="2200" b="0" i="1" smtClean="0">
                              <a:latin typeface="Cambria Math" panose="02040503050406030204" pitchFamily="18" charset="0"/>
                            </a:rPr>
                            <m:t>𝑐</m:t>
                          </m:r>
                          <m:r>
                            <a:rPr lang="es-MX" sz="2200" b="0" i="1" smtClean="0">
                              <a:latin typeface="Cambria Math" panose="02040503050406030204" pitchFamily="18" charset="0"/>
                            </a:rPr>
                            <m:t>,</m:t>
                          </m:r>
                          <m:r>
                            <a:rPr lang="es-MX" sz="2200" b="0" i="1" smtClean="0">
                              <a:latin typeface="Cambria Math" panose="02040503050406030204" pitchFamily="18" charset="0"/>
                            </a:rPr>
                            <m:t>𝑑</m:t>
                          </m:r>
                          <m:r>
                            <a:rPr lang="es-MX" sz="2200" b="0" i="1" smtClean="0">
                              <a:latin typeface="Cambria Math" panose="02040503050406030204" pitchFamily="18" charset="0"/>
                            </a:rPr>
                            <m:t>,…,</m:t>
                          </m:r>
                          <m:r>
                            <a:rPr lang="es-MX" sz="2200" b="0" i="1" smtClean="0">
                              <a:latin typeface="Cambria Math" panose="02040503050406030204" pitchFamily="18" charset="0"/>
                            </a:rPr>
                            <m:t>𝑧</m:t>
                          </m:r>
                        </m:e>
                      </m:d>
                    </m:oMath>
                  </m:oMathPara>
                </a14:m>
                <a:endParaRPr lang="es-CO" sz="2200" dirty="0"/>
              </a:p>
            </p:txBody>
          </p:sp>
        </mc:Choice>
        <mc:Fallback xmlns="">
          <p:sp>
            <p:nvSpPr>
              <p:cNvPr id="11" name="CuadroTexto 10">
                <a:extLst>
                  <a:ext uri="{FF2B5EF4-FFF2-40B4-BE49-F238E27FC236}">
                    <a16:creationId xmlns:a16="http://schemas.microsoft.com/office/drawing/2014/main" id="{57F0DE9A-00C2-41C6-96EB-9E9C6E6A4B83}"/>
                  </a:ext>
                </a:extLst>
              </p:cNvPr>
              <p:cNvSpPr txBox="1">
                <a:spLocks noRot="1" noChangeAspect="1" noMove="1" noResize="1" noEditPoints="1" noAdjustHandles="1" noChangeArrowheads="1" noChangeShapeType="1" noTextEdit="1"/>
              </p:cNvSpPr>
              <p:nvPr/>
            </p:nvSpPr>
            <p:spPr>
              <a:xfrm>
                <a:off x="5327807" y="5300031"/>
                <a:ext cx="2549325" cy="338554"/>
              </a:xfrm>
              <a:prstGeom prst="rect">
                <a:avLst/>
              </a:prstGeom>
              <a:blipFill>
                <a:blip r:embed="rId4"/>
                <a:stretch>
                  <a:fillRect b="-7143"/>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ECEA8C6B-C8F9-4BE4-B808-1C54FC39C0E8}"/>
                  </a:ext>
                </a:extLst>
              </p:cNvPr>
              <p:cNvSpPr txBox="1"/>
              <p:nvPr/>
            </p:nvSpPr>
            <p:spPr>
              <a:xfrm>
                <a:off x="4871501" y="2995680"/>
                <a:ext cx="3284938" cy="33855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MX" sz="2200" b="0" i="1" smtClean="0">
                          <a:latin typeface="Cambria Math" panose="02040503050406030204" pitchFamily="18" charset="0"/>
                        </a:rPr>
                        <m:t>𝑆</m:t>
                      </m:r>
                      <m:r>
                        <a:rPr lang="es-MX" sz="2200" b="0" i="1" smtClean="0">
                          <a:latin typeface="Cambria Math" panose="02040503050406030204" pitchFamily="18" charset="0"/>
                        </a:rPr>
                        <m:t>=</m:t>
                      </m:r>
                      <m:d>
                        <m:dPr>
                          <m:begChr m:val="{"/>
                          <m:endChr m:val="}"/>
                          <m:ctrlPr>
                            <a:rPr lang="es-MX" sz="2200" b="0" i="1" smtClean="0">
                              <a:latin typeface="Cambria Math" panose="02040503050406030204" pitchFamily="18" charset="0"/>
                            </a:rPr>
                          </m:ctrlPr>
                        </m:dPr>
                        <m:e>
                          <m:r>
                            <a:rPr lang="es-MX" sz="2200" b="0" i="1" smtClean="0">
                              <a:latin typeface="Cambria Math" panose="02040503050406030204" pitchFamily="18" charset="0"/>
                            </a:rPr>
                            <m:t>𝑎</m:t>
                          </m:r>
                          <m:r>
                            <a:rPr lang="es-MX" sz="2200" b="0" i="1" smtClean="0">
                              <a:latin typeface="Cambria Math" panose="02040503050406030204" pitchFamily="18" charset="0"/>
                            </a:rPr>
                            <m:t>,</m:t>
                          </m:r>
                          <m:r>
                            <a:rPr lang="es-MX" sz="2200" b="0" i="1" smtClean="0">
                              <a:latin typeface="Cambria Math" panose="02040503050406030204" pitchFamily="18" charset="0"/>
                            </a:rPr>
                            <m:t>𝑏</m:t>
                          </m:r>
                          <m:r>
                            <a:rPr lang="es-MX" sz="2200" b="0" i="1" smtClean="0">
                              <a:latin typeface="Cambria Math" panose="02040503050406030204" pitchFamily="18" charset="0"/>
                            </a:rPr>
                            <m:t>,</m:t>
                          </m:r>
                          <m:r>
                            <a:rPr lang="es-MX" sz="2200" b="0" i="1" smtClean="0">
                              <a:latin typeface="Cambria Math" panose="02040503050406030204" pitchFamily="18" charset="0"/>
                            </a:rPr>
                            <m:t>𝑐</m:t>
                          </m:r>
                          <m:r>
                            <a:rPr lang="es-MX" sz="2200" b="0" i="1" smtClean="0">
                              <a:latin typeface="Cambria Math" panose="02040503050406030204" pitchFamily="18" charset="0"/>
                            </a:rPr>
                            <m:t>,</m:t>
                          </m:r>
                          <m:r>
                            <a:rPr lang="es-MX" sz="2200" b="0" i="1" smtClean="0">
                              <a:latin typeface="Cambria Math" panose="02040503050406030204" pitchFamily="18" charset="0"/>
                            </a:rPr>
                            <m:t>𝑑</m:t>
                          </m:r>
                        </m:e>
                      </m:d>
                      <m:r>
                        <a:rPr lang="es-MX" sz="2200" b="0" i="1" smtClean="0">
                          <a:latin typeface="Cambria Math" panose="02040503050406030204" pitchFamily="18" charset="0"/>
                        </a:rPr>
                        <m:t>=</m:t>
                      </m:r>
                      <m:d>
                        <m:dPr>
                          <m:begChr m:val="{"/>
                          <m:endChr m:val="}"/>
                          <m:ctrlPr>
                            <a:rPr lang="es-MX" sz="2200" i="1">
                              <a:latin typeface="Cambria Math" panose="02040503050406030204" pitchFamily="18" charset="0"/>
                            </a:rPr>
                          </m:ctrlPr>
                        </m:dPr>
                        <m:e>
                          <m:r>
                            <a:rPr lang="es-MX" sz="2200" i="1">
                              <a:latin typeface="Cambria Math" panose="02040503050406030204" pitchFamily="18" charset="0"/>
                            </a:rPr>
                            <m:t>𝑏</m:t>
                          </m:r>
                          <m:r>
                            <a:rPr lang="es-MX" sz="2200" i="1">
                              <a:latin typeface="Cambria Math" panose="02040503050406030204" pitchFamily="18" charset="0"/>
                            </a:rPr>
                            <m:t>,</m:t>
                          </m:r>
                          <m:r>
                            <a:rPr lang="es-MX" sz="2200" i="1">
                              <a:latin typeface="Cambria Math" panose="02040503050406030204" pitchFamily="18" charset="0"/>
                            </a:rPr>
                            <m:t>𝑐</m:t>
                          </m:r>
                          <m:r>
                            <a:rPr lang="es-MX" sz="2200" i="1">
                              <a:latin typeface="Cambria Math" panose="02040503050406030204" pitchFamily="18" charset="0"/>
                            </a:rPr>
                            <m:t>,</m:t>
                          </m:r>
                          <m:r>
                            <a:rPr lang="es-MX" sz="2200" i="1">
                              <a:latin typeface="Cambria Math" panose="02040503050406030204" pitchFamily="18" charset="0"/>
                            </a:rPr>
                            <m:t>𝑎</m:t>
                          </m:r>
                          <m:r>
                            <a:rPr lang="es-MX" sz="2200" i="1">
                              <a:latin typeface="Cambria Math" panose="02040503050406030204" pitchFamily="18" charset="0"/>
                            </a:rPr>
                            <m:t>, </m:t>
                          </m:r>
                          <m:r>
                            <a:rPr lang="es-MX" sz="2200" i="1">
                              <a:latin typeface="Cambria Math" panose="02040503050406030204" pitchFamily="18" charset="0"/>
                            </a:rPr>
                            <m:t>𝑑</m:t>
                          </m:r>
                        </m:e>
                      </m:d>
                    </m:oMath>
                  </m:oMathPara>
                </a14:m>
                <a:endParaRPr lang="es-CO" sz="2200" dirty="0"/>
              </a:p>
            </p:txBody>
          </p:sp>
        </mc:Choice>
        <mc:Fallback xmlns="">
          <p:sp>
            <p:nvSpPr>
              <p:cNvPr id="9" name="CuadroTexto 8">
                <a:extLst>
                  <a:ext uri="{FF2B5EF4-FFF2-40B4-BE49-F238E27FC236}">
                    <a16:creationId xmlns:a16="http://schemas.microsoft.com/office/drawing/2014/main" id="{ECEA8C6B-C8F9-4BE4-B808-1C54FC39C0E8}"/>
                  </a:ext>
                </a:extLst>
              </p:cNvPr>
              <p:cNvSpPr txBox="1">
                <a:spLocks noRot="1" noChangeAspect="1" noMove="1" noResize="1" noEditPoints="1" noAdjustHandles="1" noChangeArrowheads="1" noChangeShapeType="1" noTextEdit="1"/>
              </p:cNvSpPr>
              <p:nvPr/>
            </p:nvSpPr>
            <p:spPr>
              <a:xfrm>
                <a:off x="4871501" y="2995680"/>
                <a:ext cx="3284938" cy="338554"/>
              </a:xfrm>
              <a:prstGeom prst="rect">
                <a:avLst/>
              </a:prstGeom>
              <a:blipFill>
                <a:blip r:embed="rId5"/>
                <a:stretch>
                  <a:fillRect l="-1484" b="-7143"/>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13BB81BA-71BE-4673-8E11-81FE4D5D00FB}"/>
                  </a:ext>
                </a:extLst>
              </p:cNvPr>
              <p:cNvSpPr txBox="1"/>
              <p:nvPr/>
            </p:nvSpPr>
            <p:spPr>
              <a:xfrm>
                <a:off x="4640700" y="4041415"/>
                <a:ext cx="3791679" cy="33855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MX" sz="2200" b="0" i="1" smtClean="0">
                          <a:latin typeface="Cambria Math" panose="02040503050406030204" pitchFamily="18" charset="0"/>
                        </a:rPr>
                        <m:t>𝑆</m:t>
                      </m:r>
                      <m:r>
                        <a:rPr lang="es-MX" sz="2200" b="0" i="1" smtClean="0">
                          <a:latin typeface="Cambria Math" panose="02040503050406030204" pitchFamily="18" charset="0"/>
                        </a:rPr>
                        <m:t>=</m:t>
                      </m:r>
                      <m:d>
                        <m:dPr>
                          <m:begChr m:val="{"/>
                          <m:endChr m:val="}"/>
                          <m:ctrlPr>
                            <a:rPr lang="es-MX" sz="2200" b="0" i="1" smtClean="0">
                              <a:latin typeface="Cambria Math" panose="02040503050406030204" pitchFamily="18" charset="0"/>
                            </a:rPr>
                          </m:ctrlPr>
                        </m:dPr>
                        <m:e>
                          <m:r>
                            <a:rPr lang="es-MX" sz="2200" b="0" i="1" smtClean="0">
                              <a:latin typeface="Cambria Math" panose="02040503050406030204" pitchFamily="18" charset="0"/>
                            </a:rPr>
                            <m:t>𝑎</m:t>
                          </m:r>
                          <m:r>
                            <a:rPr lang="es-MX" sz="2200" b="0" i="1" smtClean="0">
                              <a:latin typeface="Cambria Math" panose="02040503050406030204" pitchFamily="18" charset="0"/>
                            </a:rPr>
                            <m:t>,</m:t>
                          </m:r>
                          <m:r>
                            <a:rPr lang="es-MX" sz="2200" b="0" i="1" smtClean="0">
                              <a:latin typeface="Cambria Math" panose="02040503050406030204" pitchFamily="18" charset="0"/>
                            </a:rPr>
                            <m:t>𝑏</m:t>
                          </m:r>
                          <m:r>
                            <a:rPr lang="es-MX" sz="2200" b="0" i="1" smtClean="0">
                              <a:latin typeface="Cambria Math" panose="02040503050406030204" pitchFamily="18" charset="0"/>
                            </a:rPr>
                            <m:t>,</m:t>
                          </m:r>
                          <m:r>
                            <a:rPr lang="es-MX" sz="2200" b="0" i="1" smtClean="0">
                              <a:latin typeface="Cambria Math" panose="02040503050406030204" pitchFamily="18" charset="0"/>
                            </a:rPr>
                            <m:t>𝑐</m:t>
                          </m:r>
                          <m:r>
                            <a:rPr lang="es-MX" sz="2200" b="0" i="1" smtClean="0">
                              <a:latin typeface="Cambria Math" panose="02040503050406030204" pitchFamily="18" charset="0"/>
                            </a:rPr>
                            <m:t>,</m:t>
                          </m:r>
                          <m:r>
                            <a:rPr lang="es-MX" sz="2200" b="0" i="1" smtClean="0">
                              <a:latin typeface="Cambria Math" panose="02040503050406030204" pitchFamily="18" charset="0"/>
                            </a:rPr>
                            <m:t>𝑑</m:t>
                          </m:r>
                        </m:e>
                      </m:d>
                      <m:r>
                        <a:rPr lang="es-MX" sz="2200" b="0" i="1" smtClean="0">
                          <a:latin typeface="Cambria Math" panose="02040503050406030204" pitchFamily="18" charset="0"/>
                        </a:rPr>
                        <m:t>=</m:t>
                      </m:r>
                      <m:d>
                        <m:dPr>
                          <m:begChr m:val="{"/>
                          <m:endChr m:val="}"/>
                          <m:ctrlPr>
                            <a:rPr lang="es-MX" sz="2200" i="1">
                              <a:latin typeface="Cambria Math" panose="02040503050406030204" pitchFamily="18" charset="0"/>
                            </a:rPr>
                          </m:ctrlPr>
                        </m:dPr>
                        <m:e>
                          <m:r>
                            <a:rPr lang="es-MX" sz="2200" i="1">
                              <a:latin typeface="Cambria Math" panose="02040503050406030204" pitchFamily="18" charset="0"/>
                            </a:rPr>
                            <m:t>𝑎</m:t>
                          </m:r>
                          <m:r>
                            <a:rPr lang="es-MX" sz="2200" i="1">
                              <a:latin typeface="Cambria Math" panose="02040503050406030204" pitchFamily="18" charset="0"/>
                            </a:rPr>
                            <m:t>, </m:t>
                          </m:r>
                          <m:r>
                            <a:rPr lang="es-MX" sz="2200" b="0" i="1" smtClean="0">
                              <a:latin typeface="Cambria Math" panose="02040503050406030204" pitchFamily="18" charset="0"/>
                            </a:rPr>
                            <m:t>𝑏</m:t>
                          </m:r>
                          <m:r>
                            <a:rPr lang="es-MX" sz="2200" b="0" i="1" smtClean="0">
                              <a:latin typeface="Cambria Math" panose="02040503050406030204" pitchFamily="18" charset="0"/>
                            </a:rPr>
                            <m:t>,</m:t>
                          </m:r>
                          <m:r>
                            <a:rPr lang="es-MX" sz="2200" b="0" i="1" smtClean="0">
                              <a:latin typeface="Cambria Math" panose="02040503050406030204" pitchFamily="18" charset="0"/>
                            </a:rPr>
                            <m:t>𝑐</m:t>
                          </m:r>
                          <m:r>
                            <a:rPr lang="es-MX" sz="2200" b="0" i="1" smtClean="0">
                              <a:latin typeface="Cambria Math" panose="02040503050406030204" pitchFamily="18" charset="0"/>
                            </a:rPr>
                            <m:t>,</m:t>
                          </m:r>
                          <m:r>
                            <a:rPr lang="es-MX" sz="2200" b="0" i="1" smtClean="0">
                              <a:latin typeface="Cambria Math" panose="02040503050406030204" pitchFamily="18" charset="0"/>
                            </a:rPr>
                            <m:t>𝑏</m:t>
                          </m:r>
                          <m:r>
                            <a:rPr lang="es-MX" sz="2200" b="0" i="1" smtClean="0">
                              <a:latin typeface="Cambria Math" panose="02040503050406030204" pitchFamily="18" charset="0"/>
                            </a:rPr>
                            <m:t>,</m:t>
                          </m:r>
                          <m:r>
                            <a:rPr lang="es-MX" sz="2200" b="0" i="1" smtClean="0">
                              <a:latin typeface="Cambria Math" panose="02040503050406030204" pitchFamily="18" charset="0"/>
                            </a:rPr>
                            <m:t>𝑐</m:t>
                          </m:r>
                          <m:r>
                            <a:rPr lang="es-MX" sz="2200" b="0" i="1" smtClean="0">
                              <a:latin typeface="Cambria Math" panose="02040503050406030204" pitchFamily="18" charset="0"/>
                            </a:rPr>
                            <m:t>,</m:t>
                          </m:r>
                          <m:r>
                            <a:rPr lang="es-MX" sz="2200" i="1">
                              <a:latin typeface="Cambria Math" panose="02040503050406030204" pitchFamily="18" charset="0"/>
                            </a:rPr>
                            <m:t>𝑑</m:t>
                          </m:r>
                        </m:e>
                      </m:d>
                    </m:oMath>
                  </m:oMathPara>
                </a14:m>
                <a:endParaRPr lang="es-CO" sz="2200" dirty="0"/>
              </a:p>
            </p:txBody>
          </p:sp>
        </mc:Choice>
        <mc:Fallback xmlns="">
          <p:sp>
            <p:nvSpPr>
              <p:cNvPr id="10" name="CuadroTexto 9">
                <a:extLst>
                  <a:ext uri="{FF2B5EF4-FFF2-40B4-BE49-F238E27FC236}">
                    <a16:creationId xmlns:a16="http://schemas.microsoft.com/office/drawing/2014/main" id="{13BB81BA-71BE-4673-8E11-81FE4D5D00FB}"/>
                  </a:ext>
                </a:extLst>
              </p:cNvPr>
              <p:cNvSpPr txBox="1">
                <a:spLocks noRot="1" noChangeAspect="1" noMove="1" noResize="1" noEditPoints="1" noAdjustHandles="1" noChangeArrowheads="1" noChangeShapeType="1" noTextEdit="1"/>
              </p:cNvSpPr>
              <p:nvPr/>
            </p:nvSpPr>
            <p:spPr>
              <a:xfrm>
                <a:off x="4640700" y="4041415"/>
                <a:ext cx="3791679" cy="338554"/>
              </a:xfrm>
              <a:prstGeom prst="rect">
                <a:avLst/>
              </a:prstGeom>
              <a:blipFill>
                <a:blip r:embed="rId6"/>
                <a:stretch>
                  <a:fillRect l="-1286" b="-7273"/>
                </a:stretch>
              </a:blipFill>
            </p:spPr>
            <p:txBody>
              <a:bodyPr/>
              <a:lstStyle/>
              <a:p>
                <a:r>
                  <a:rPr lang="es-CO">
                    <a:noFill/>
                  </a:rPr>
                  <a:t> </a:t>
                </a:r>
              </a:p>
            </p:txBody>
          </p:sp>
        </mc:Fallback>
      </mc:AlternateContent>
    </p:spTree>
    <p:extLst>
      <p:ext uri="{BB962C8B-B14F-4D97-AF65-F5344CB8AC3E}">
        <p14:creationId xmlns:p14="http://schemas.microsoft.com/office/powerpoint/2010/main" val="40425093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26"/>
          <p:cNvSpPr txBox="1">
            <a:spLocks noGrp="1"/>
          </p:cNvSpPr>
          <p:nvPr>
            <p:ph type="title"/>
          </p:nvPr>
        </p:nvSpPr>
        <p:spPr>
          <a:xfrm>
            <a:off x="400457" y="287273"/>
            <a:ext cx="11280266" cy="949500"/>
          </a:xfrm>
          <a:prstGeom prst="rect">
            <a:avLst/>
          </a:prstGeom>
        </p:spPr>
        <p:txBody>
          <a:bodyPr spcFirstLastPara="1" wrap="square" lIns="91425" tIns="45700" rIns="91425" bIns="45700" anchor="ctr" anchorCtr="0">
            <a:noAutofit/>
          </a:bodyPr>
          <a:lstStyle/>
          <a:p>
            <a:pPr>
              <a:spcBef>
                <a:spcPts val="0"/>
              </a:spcBef>
            </a:pPr>
            <a:r>
              <a:rPr lang="es-MX" sz="4400" dirty="0">
                <a:ea typeface="Roboto" panose="02000000000000000000" pitchFamily="2" charset="0"/>
              </a:rPr>
              <a:t>Representación por comprensión (set-</a:t>
            </a:r>
            <a:r>
              <a:rPr lang="es-MX" sz="4400" dirty="0" err="1">
                <a:ea typeface="Roboto" panose="02000000000000000000" pitchFamily="2" charset="0"/>
              </a:rPr>
              <a:t>builder</a:t>
            </a:r>
            <a:r>
              <a:rPr lang="es-MX" sz="4400" dirty="0">
                <a:ea typeface="Roboto" panose="02000000000000000000" pitchFamily="2" charset="0"/>
              </a:rPr>
              <a:t>)</a:t>
            </a:r>
            <a:endParaRPr lang="es-ES" dirty="0"/>
          </a:p>
        </p:txBody>
      </p:sp>
      <mc:AlternateContent xmlns:mc="http://schemas.openxmlformats.org/markup-compatibility/2006" xmlns:a14="http://schemas.microsoft.com/office/drawing/2010/main">
        <mc:Choice Requires="a14">
          <p:sp>
            <p:nvSpPr>
              <p:cNvPr id="8" name="Google Shape;310;p34">
                <a:extLst>
                  <a:ext uri="{FF2B5EF4-FFF2-40B4-BE49-F238E27FC236}">
                    <a16:creationId xmlns:a16="http://schemas.microsoft.com/office/drawing/2014/main" id="{F6716F76-3AFE-471D-B156-0250FFA69F6E}"/>
                  </a:ext>
                </a:extLst>
              </p:cNvPr>
              <p:cNvSpPr txBox="1">
                <a:spLocks/>
              </p:cNvSpPr>
              <p:nvPr/>
            </p:nvSpPr>
            <p:spPr>
              <a:xfrm>
                <a:off x="404889" y="999469"/>
                <a:ext cx="11143740" cy="5017873"/>
              </a:xfrm>
              <a:prstGeom prst="rect">
                <a:avLst/>
              </a:prstGeom>
              <a:solidFill>
                <a:schemeClr val="bg1"/>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200" dirty="0">
                    <a:latin typeface="+mn-lt"/>
                    <a:ea typeface="Roboto" panose="02000000000000000000" pitchFamily="2" charset="0"/>
                  </a:rPr>
                  <a:t>En esta representación, el conjunto se define indicando una propiedad o condición que deben cumplir sus elementos, en lugar de enumerarlos uno por uno.</a:t>
                </a:r>
              </a:p>
              <a:p>
                <a:r>
                  <a:rPr lang="es-MX" sz="2200" dirty="0">
                    <a:latin typeface="+mn-lt"/>
                    <a:ea typeface="Roboto" panose="02000000000000000000" pitchFamily="2" charset="0"/>
                  </a:rPr>
                  <a:t>Estructura general.</a:t>
                </a:r>
              </a:p>
              <a:p>
                <a:pPr lvl="1"/>
                <a:endParaRPr lang="es-MX" dirty="0">
                  <a:latin typeface="+mn-lt"/>
                  <a:ea typeface="Roboto" panose="02000000000000000000" pitchFamily="2" charset="0"/>
                </a:endParaRPr>
              </a:p>
              <a:p>
                <a:pPr lvl="1"/>
                <a:endParaRPr lang="es-MX" dirty="0">
                  <a:latin typeface="+mn-lt"/>
                  <a:ea typeface="Roboto" panose="02000000000000000000" pitchFamily="2" charset="0"/>
                </a:endParaRPr>
              </a:p>
              <a:p>
                <a:endParaRPr lang="es-MX" sz="2200" dirty="0">
                  <a:latin typeface="+mn-lt"/>
                  <a:ea typeface="Roboto" panose="02000000000000000000" pitchFamily="2" charset="0"/>
                </a:endParaRPr>
              </a:p>
              <a:p>
                <a:endParaRPr lang="es-MX" sz="2200" dirty="0">
                  <a:latin typeface="+mn-lt"/>
                  <a:ea typeface="Roboto" panose="02000000000000000000" pitchFamily="2" charset="0"/>
                </a:endParaRPr>
              </a:p>
              <a:p>
                <a:endParaRPr lang="es-MX" sz="2200" dirty="0">
                  <a:latin typeface="+mn-lt"/>
                  <a:ea typeface="Roboto" panose="02000000000000000000" pitchFamily="2" charset="0"/>
                </a:endParaRPr>
              </a:p>
              <a:p>
                <a:endParaRPr lang="es-MX" sz="2200" dirty="0">
                  <a:latin typeface="+mn-lt"/>
                  <a:ea typeface="Roboto" panose="02000000000000000000" pitchFamily="2" charset="0"/>
                </a:endParaRPr>
              </a:p>
              <a:p>
                <a:endParaRPr lang="es-MX" sz="2200" dirty="0">
                  <a:latin typeface="+mn-lt"/>
                  <a:ea typeface="Roboto" panose="02000000000000000000" pitchFamily="2" charset="0"/>
                </a:endParaRPr>
              </a:p>
              <a:p>
                <a:endParaRPr lang="es-MX" sz="2200" dirty="0">
                  <a:latin typeface="+mn-lt"/>
                  <a:ea typeface="Roboto" panose="02000000000000000000" pitchFamily="2" charset="0"/>
                </a:endParaRPr>
              </a:p>
              <a:p>
                <a:r>
                  <a:rPr lang="es-MX" sz="2200" dirty="0">
                    <a:latin typeface="+mn-lt"/>
                    <a:ea typeface="Roboto" panose="02000000000000000000" pitchFamily="2" charset="0"/>
                  </a:rPr>
                  <a:t>Esta representación es ideal para conjuntos infinitos o muy grandes y para expresar en las condiciones propiedades mas complejas (por ejemplo: </a:t>
                </a:r>
                <a14:m>
                  <m:oMath xmlns:m="http://schemas.openxmlformats.org/officeDocument/2006/math">
                    <m:sSup>
                      <m:sSupPr>
                        <m:ctrlPr>
                          <a:rPr lang="es-MX" sz="2200" b="0" i="1" smtClean="0">
                            <a:latin typeface="Cambria Math" panose="02040503050406030204" pitchFamily="18" charset="0"/>
                          </a:rPr>
                        </m:ctrlPr>
                      </m:sSupPr>
                      <m:e>
                        <m:r>
                          <a:rPr lang="es-MX" sz="2200" i="1" smtClean="0">
                            <a:latin typeface="Cambria Math" panose="02040503050406030204" pitchFamily="18" charset="0"/>
                          </a:rPr>
                          <m:t>𝑥</m:t>
                        </m:r>
                      </m:e>
                      <m:sup>
                        <m:r>
                          <a:rPr lang="es-MX" sz="2200" b="0" i="1" smtClean="0">
                            <a:latin typeface="Cambria Math" panose="02040503050406030204" pitchFamily="18" charset="0"/>
                          </a:rPr>
                          <m:t>2</m:t>
                        </m:r>
                      </m:sup>
                    </m:sSup>
                    <m:r>
                      <a:rPr lang="es-MX" sz="2200" b="0" i="1" smtClean="0">
                        <a:latin typeface="Cambria Math" panose="02040503050406030204" pitchFamily="18" charset="0"/>
                      </a:rPr>
                      <m:t>&lt;9</m:t>
                    </m:r>
                  </m:oMath>
                </a14:m>
                <a:r>
                  <a:rPr lang="es-MX" sz="2200" dirty="0">
                    <a:latin typeface="+mn-lt"/>
                    <a:ea typeface="Roboto" panose="02000000000000000000" pitchFamily="2" charset="0"/>
                  </a:rPr>
                  <a:t>, </a:t>
                </a:r>
                <a14:m>
                  <m:oMath xmlns:m="http://schemas.openxmlformats.org/officeDocument/2006/math">
                    <m:r>
                      <a:rPr lang="es-MX" sz="2200" i="1">
                        <a:latin typeface="Cambria Math" panose="02040503050406030204" pitchFamily="18" charset="0"/>
                      </a:rPr>
                      <m:t>𝑥</m:t>
                    </m:r>
                  </m:oMath>
                </a14:m>
                <a:r>
                  <a:rPr lang="es-MX" sz="2200" dirty="0">
                    <a:latin typeface="+mn-lt"/>
                    <a:ea typeface="Roboto" panose="02000000000000000000" pitchFamily="2" charset="0"/>
                  </a:rPr>
                  <a:t> es primo, etc.)</a:t>
                </a:r>
              </a:p>
            </p:txBody>
          </p:sp>
        </mc:Choice>
        <mc:Fallback xmlns="">
          <p:sp>
            <p:nvSpPr>
              <p:cNvPr id="8" name="Google Shape;310;p34">
                <a:extLst>
                  <a:ext uri="{FF2B5EF4-FFF2-40B4-BE49-F238E27FC236}">
                    <a16:creationId xmlns:a16="http://schemas.microsoft.com/office/drawing/2014/main" id="{F6716F76-3AFE-471D-B156-0250FFA69F6E}"/>
                  </a:ext>
                </a:extLst>
              </p:cNvPr>
              <p:cNvSpPr txBox="1">
                <a:spLocks noRot="1" noChangeAspect="1" noMove="1" noResize="1" noEditPoints="1" noAdjustHandles="1" noChangeArrowheads="1" noChangeShapeType="1" noTextEdit="1"/>
              </p:cNvSpPr>
              <p:nvPr/>
            </p:nvSpPr>
            <p:spPr>
              <a:xfrm>
                <a:off x="404889" y="999469"/>
                <a:ext cx="11143740" cy="5017873"/>
              </a:xfrm>
              <a:prstGeom prst="rect">
                <a:avLst/>
              </a:prstGeom>
              <a:blipFill>
                <a:blip r:embed="rId3"/>
                <a:stretch>
                  <a:fillRect b="-7776"/>
                </a:stretch>
              </a:blipFill>
              <a:ln>
                <a:noFill/>
              </a:ln>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4" name="CuadroTexto 3">
                <a:extLst>
                  <a:ext uri="{FF2B5EF4-FFF2-40B4-BE49-F238E27FC236}">
                    <a16:creationId xmlns:a16="http://schemas.microsoft.com/office/drawing/2014/main" id="{6E3248D3-7D10-4C34-8016-FA89F8D97AFD}"/>
                  </a:ext>
                </a:extLst>
              </p:cNvPr>
              <p:cNvSpPr txBox="1"/>
              <p:nvPr/>
            </p:nvSpPr>
            <p:spPr>
              <a:xfrm>
                <a:off x="2179781" y="2595541"/>
                <a:ext cx="7826630" cy="33855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MX" sz="2200" b="0" i="1" smtClean="0">
                          <a:latin typeface="Cambria Math" panose="02040503050406030204" pitchFamily="18" charset="0"/>
                        </a:rPr>
                        <m:t>𝐴</m:t>
                      </m:r>
                      <m:r>
                        <a:rPr lang="es-MX" sz="2200" b="0" i="1" smtClean="0">
                          <a:latin typeface="Cambria Math" panose="02040503050406030204" pitchFamily="18" charset="0"/>
                        </a:rPr>
                        <m:t>=</m:t>
                      </m:r>
                      <m:d>
                        <m:dPr>
                          <m:begChr m:val="{"/>
                          <m:endChr m:val="}"/>
                          <m:ctrlPr>
                            <a:rPr lang="es-MX" sz="2200" i="1">
                              <a:latin typeface="Cambria Math" panose="02040503050406030204" pitchFamily="18" charset="0"/>
                            </a:rPr>
                          </m:ctrlPr>
                        </m:dPr>
                        <m:e>
                          <m:r>
                            <a:rPr lang="es-MX" sz="2200" i="1">
                              <a:latin typeface="Cambria Math" panose="02040503050406030204" pitchFamily="18" charset="0"/>
                            </a:rPr>
                            <m:t>𝑥</m:t>
                          </m:r>
                          <m:r>
                            <a:rPr lang="es-MX" sz="2200" i="1">
                              <a:latin typeface="Cambria Math" panose="02040503050406030204" pitchFamily="18" charset="0"/>
                            </a:rPr>
                            <m:t>∈</m:t>
                          </m:r>
                          <m:r>
                            <a:rPr lang="es-MX" sz="2200" b="0" i="1" smtClean="0">
                              <a:latin typeface="Cambria Math" panose="02040503050406030204" pitchFamily="18" charset="0"/>
                            </a:rPr>
                            <m:t>𝐷</m:t>
                          </m:r>
                        </m:e>
                        <m:e>
                          <m:r>
                            <m:rPr>
                              <m:sty m:val="p"/>
                            </m:rPr>
                            <a:rPr lang="es-MX" sz="2200" b="0" i="0" smtClean="0">
                              <a:latin typeface="Cambria Math" panose="02040503050406030204" pitchFamily="18" charset="0"/>
                            </a:rPr>
                            <m:t>condicion</m:t>
                          </m:r>
                          <m:r>
                            <a:rPr lang="es-MX" sz="2200" b="0" i="0" smtClean="0">
                              <a:latin typeface="Cambria Math" panose="02040503050406030204" pitchFamily="18" charset="0"/>
                            </a:rPr>
                            <m:t> </m:t>
                          </m:r>
                          <m:r>
                            <m:rPr>
                              <m:sty m:val="p"/>
                            </m:rPr>
                            <a:rPr lang="es-MX" sz="2200" b="0" i="0" smtClean="0">
                              <a:latin typeface="Cambria Math" panose="02040503050406030204" pitchFamily="18" charset="0"/>
                            </a:rPr>
                            <m:t>que</m:t>
                          </m:r>
                          <m:r>
                            <a:rPr lang="es-MX" sz="2200" b="0" i="0" smtClean="0">
                              <a:latin typeface="Cambria Math" panose="02040503050406030204" pitchFamily="18" charset="0"/>
                            </a:rPr>
                            <m:t> </m:t>
                          </m:r>
                          <m:r>
                            <m:rPr>
                              <m:sty m:val="p"/>
                            </m:rPr>
                            <a:rPr lang="es-MX" sz="2200" b="0" i="0" smtClean="0">
                              <a:latin typeface="Cambria Math" panose="02040503050406030204" pitchFamily="18" charset="0"/>
                            </a:rPr>
                            <m:t>cumple</m:t>
                          </m:r>
                          <m:r>
                            <a:rPr lang="es-MX" sz="2200" b="0" i="0" smtClean="0">
                              <a:latin typeface="Cambria Math" panose="02040503050406030204" pitchFamily="18" charset="0"/>
                            </a:rPr>
                            <m:t> </m:t>
                          </m:r>
                          <m:r>
                            <a:rPr lang="es-MX" sz="2200" b="0" i="1" smtClean="0">
                              <a:latin typeface="Cambria Math" panose="02040503050406030204" pitchFamily="18" charset="0"/>
                            </a:rPr>
                            <m:t>𝑥</m:t>
                          </m:r>
                        </m:e>
                      </m:d>
                      <m:r>
                        <a:rPr lang="es-MX" sz="2200" b="0" i="1" smtClean="0">
                          <a:latin typeface="Cambria Math" panose="02040503050406030204" pitchFamily="18" charset="0"/>
                        </a:rPr>
                        <m:t>=</m:t>
                      </m:r>
                      <m:d>
                        <m:dPr>
                          <m:begChr m:val="{"/>
                          <m:endChr m:val="}"/>
                          <m:ctrlPr>
                            <a:rPr lang="es-MX" sz="2200" i="1">
                              <a:latin typeface="Cambria Math" panose="02040503050406030204" pitchFamily="18" charset="0"/>
                            </a:rPr>
                          </m:ctrlPr>
                        </m:dPr>
                        <m:e>
                          <m:r>
                            <a:rPr lang="es-MX" sz="2200" i="1">
                              <a:latin typeface="Cambria Math" panose="02040503050406030204" pitchFamily="18" charset="0"/>
                            </a:rPr>
                            <m:t>𝑥</m:t>
                          </m:r>
                          <m:r>
                            <a:rPr lang="es-MX" sz="2200" b="0" i="1" smtClean="0">
                              <a:latin typeface="Cambria Math" panose="02040503050406030204" pitchFamily="18" charset="0"/>
                            </a:rPr>
                            <m:t>∈</m:t>
                          </m:r>
                          <m:r>
                            <a:rPr lang="es-MX" sz="2200" b="0" i="1" smtClean="0">
                              <a:latin typeface="Cambria Math" panose="02040503050406030204" pitchFamily="18" charset="0"/>
                            </a:rPr>
                            <m:t>𝐷</m:t>
                          </m:r>
                        </m:e>
                        <m:e>
                          <m:r>
                            <a:rPr lang="es-MX" sz="2200" i="1">
                              <a:latin typeface="Cambria Math" panose="02040503050406030204" pitchFamily="18" charset="0"/>
                            </a:rPr>
                            <m:t>𝑃</m:t>
                          </m:r>
                          <m:d>
                            <m:dPr>
                              <m:ctrlPr>
                                <a:rPr lang="es-MX" sz="2200" i="1">
                                  <a:latin typeface="Cambria Math" panose="02040503050406030204" pitchFamily="18" charset="0"/>
                                </a:rPr>
                              </m:ctrlPr>
                            </m:dPr>
                            <m:e>
                              <m:r>
                                <a:rPr lang="es-MX" sz="2200" i="1">
                                  <a:latin typeface="Cambria Math" panose="02040503050406030204" pitchFamily="18" charset="0"/>
                                </a:rPr>
                                <m:t>𝑥</m:t>
                              </m:r>
                            </m:e>
                          </m:d>
                        </m:e>
                      </m:d>
                      <m:r>
                        <a:rPr lang="es-MX" sz="2200" b="0" i="1" smtClean="0">
                          <a:latin typeface="Cambria Math" panose="02040503050406030204" pitchFamily="18" charset="0"/>
                        </a:rPr>
                        <m:t>=</m:t>
                      </m:r>
                      <m:d>
                        <m:dPr>
                          <m:begChr m:val="{"/>
                          <m:endChr m:val="}"/>
                          <m:ctrlPr>
                            <a:rPr lang="es-MX" sz="2200" b="0" i="1" smtClean="0">
                              <a:latin typeface="Cambria Math" panose="02040503050406030204" pitchFamily="18" charset="0"/>
                            </a:rPr>
                          </m:ctrlPr>
                        </m:dPr>
                        <m:e>
                          <m:r>
                            <a:rPr lang="es-MX" sz="2200" b="0" i="1" smtClean="0">
                              <a:latin typeface="Cambria Math" panose="02040503050406030204" pitchFamily="18" charset="0"/>
                            </a:rPr>
                            <m:t>𝑥</m:t>
                          </m:r>
                        </m:e>
                        <m:e>
                          <m:r>
                            <a:rPr lang="es-MX" sz="2200" b="0" i="1" smtClean="0">
                              <a:latin typeface="Cambria Math" panose="02040503050406030204" pitchFamily="18" charset="0"/>
                            </a:rPr>
                            <m:t>𝑃</m:t>
                          </m:r>
                          <m:d>
                            <m:dPr>
                              <m:ctrlPr>
                                <a:rPr lang="es-MX" sz="2200" b="0" i="1" smtClean="0">
                                  <a:latin typeface="Cambria Math" panose="02040503050406030204" pitchFamily="18" charset="0"/>
                                </a:rPr>
                              </m:ctrlPr>
                            </m:dPr>
                            <m:e>
                              <m:r>
                                <a:rPr lang="es-MX" sz="2200" b="0" i="1" smtClean="0">
                                  <a:latin typeface="Cambria Math" panose="02040503050406030204" pitchFamily="18" charset="0"/>
                                </a:rPr>
                                <m:t>𝑥</m:t>
                              </m:r>
                            </m:e>
                          </m:d>
                        </m:e>
                      </m:d>
                    </m:oMath>
                  </m:oMathPara>
                </a14:m>
                <a:endParaRPr lang="es-CO" sz="2200" dirty="0"/>
              </a:p>
            </p:txBody>
          </p:sp>
        </mc:Choice>
        <mc:Fallback xmlns="">
          <p:sp>
            <p:nvSpPr>
              <p:cNvPr id="4" name="CuadroTexto 3">
                <a:extLst>
                  <a:ext uri="{FF2B5EF4-FFF2-40B4-BE49-F238E27FC236}">
                    <a16:creationId xmlns:a16="http://schemas.microsoft.com/office/drawing/2014/main" id="{6E3248D3-7D10-4C34-8016-FA89F8D97AFD}"/>
                  </a:ext>
                </a:extLst>
              </p:cNvPr>
              <p:cNvSpPr txBox="1">
                <a:spLocks noRot="1" noChangeAspect="1" noMove="1" noResize="1" noEditPoints="1" noAdjustHandles="1" noChangeArrowheads="1" noChangeShapeType="1" noTextEdit="1"/>
              </p:cNvSpPr>
              <p:nvPr/>
            </p:nvSpPr>
            <p:spPr>
              <a:xfrm>
                <a:off x="2179781" y="2595541"/>
                <a:ext cx="7826630" cy="338554"/>
              </a:xfrm>
              <a:prstGeom prst="rect">
                <a:avLst/>
              </a:prstGeom>
              <a:blipFill>
                <a:blip r:embed="rId4"/>
                <a:stretch>
                  <a:fillRect l="-390" b="-34545"/>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BCA1D142-6AB9-4BF1-9E2E-D1D19BEDDD52}"/>
                  </a:ext>
                </a:extLst>
              </p:cNvPr>
              <p:cNvSpPr txBox="1"/>
              <p:nvPr/>
            </p:nvSpPr>
            <p:spPr>
              <a:xfrm>
                <a:off x="1420657" y="3259416"/>
                <a:ext cx="9350686" cy="2123658"/>
              </a:xfrm>
              <a:prstGeom prst="rect">
                <a:avLst/>
              </a:prstGeom>
              <a:noFill/>
            </p:spPr>
            <p:txBody>
              <a:bodyPr wrap="square">
                <a:spAutoFit/>
              </a:bodyPr>
              <a:lstStyle/>
              <a:p>
                <a:r>
                  <a:rPr lang="es-MX" sz="2200" b="1" dirty="0">
                    <a:ea typeface="Roboto" panose="02000000000000000000" pitchFamily="2" charset="0"/>
                  </a:rPr>
                  <a:t>Donde: </a:t>
                </a:r>
              </a:p>
              <a:p>
                <a:pPr marL="285750" indent="-285750">
                  <a:buFont typeface="Arial" panose="020B0604020202020204" pitchFamily="34" charset="0"/>
                  <a:buChar char="•"/>
                </a:pPr>
                <a14:m>
                  <m:oMath xmlns:m="http://schemas.openxmlformats.org/officeDocument/2006/math">
                    <m:r>
                      <a:rPr lang="es-MX" sz="2200" b="1" i="1" smtClean="0">
                        <a:latin typeface="Cambria Math" panose="02040503050406030204" pitchFamily="18" charset="0"/>
                      </a:rPr>
                      <m:t>𝑨</m:t>
                    </m:r>
                  </m:oMath>
                </a14:m>
                <a:r>
                  <a:rPr lang="es-MX" sz="2200" dirty="0">
                    <a:ea typeface="Roboto" panose="02000000000000000000" pitchFamily="2" charset="0"/>
                  </a:rPr>
                  <a:t>: Nombre del conjunto.</a:t>
                </a:r>
              </a:p>
              <a:p>
                <a:pPr marL="285750" indent="-285750">
                  <a:buFont typeface="Arial" panose="020B0604020202020204" pitchFamily="34" charset="0"/>
                  <a:buChar char="•"/>
                </a:pPr>
                <a14:m>
                  <m:oMath xmlns:m="http://schemas.openxmlformats.org/officeDocument/2006/math">
                    <m:r>
                      <a:rPr lang="es-MX" sz="2200" b="1" i="1" smtClean="0">
                        <a:latin typeface="Cambria Math" panose="02040503050406030204" pitchFamily="18" charset="0"/>
                      </a:rPr>
                      <m:t>𝒙</m:t>
                    </m:r>
                  </m:oMath>
                </a14:m>
                <a:r>
                  <a:rPr lang="es-MX" sz="2200" dirty="0">
                    <a:ea typeface="Roboto" panose="02000000000000000000" pitchFamily="2" charset="0"/>
                  </a:rPr>
                  <a:t>: Variable que representa los elementos.</a:t>
                </a:r>
              </a:p>
              <a:p>
                <a:pPr marL="285750" indent="-285750">
                  <a:buFont typeface="Arial" panose="020B0604020202020204" pitchFamily="34" charset="0"/>
                  <a:buChar char="•"/>
                </a:pPr>
                <a14:m>
                  <m:oMath xmlns:m="http://schemas.openxmlformats.org/officeDocument/2006/math">
                    <m:r>
                      <a:rPr lang="es-MX" sz="2200" b="1" i="1" smtClean="0">
                        <a:latin typeface="Cambria Math" panose="02040503050406030204" pitchFamily="18" charset="0"/>
                      </a:rPr>
                      <m:t>𝑫</m:t>
                    </m:r>
                  </m:oMath>
                </a14:m>
                <a:r>
                  <a:rPr lang="es-MX" sz="2200" dirty="0">
                    <a:ea typeface="Roboto" panose="02000000000000000000" pitchFamily="2" charset="0"/>
                  </a:rPr>
                  <a:t>: Dominio o universo de discurso.</a:t>
                </a:r>
              </a:p>
              <a:p>
                <a:pPr marL="285750" indent="-285750">
                  <a:buFont typeface="Arial" panose="020B0604020202020204" pitchFamily="34" charset="0"/>
                  <a:buChar char="•"/>
                </a:pPr>
                <a14:m>
                  <m:oMath xmlns:m="http://schemas.openxmlformats.org/officeDocument/2006/math">
                    <m:r>
                      <a:rPr lang="es-MX" sz="2200" b="1" i="0" smtClean="0">
                        <a:latin typeface="Cambria Math" panose="02040503050406030204" pitchFamily="18" charset="0"/>
                        <a:ea typeface="Roboto" panose="02000000000000000000" pitchFamily="2" charset="0"/>
                      </a:rPr>
                      <m:t>𝐒𝐞𝐩𝐚𝐫𝐚𝐝𝐨𝐫</m:t>
                    </m:r>
                    <m:r>
                      <a:rPr lang="es-MX" sz="2200" b="1" i="0" smtClean="0">
                        <a:latin typeface="Cambria Math" panose="02040503050406030204" pitchFamily="18" charset="0"/>
                        <a:ea typeface="Roboto" panose="02000000000000000000" pitchFamily="2" charset="0"/>
                      </a:rPr>
                      <m:t> </m:t>
                    </m:r>
                    <m:d>
                      <m:dPr>
                        <m:ctrlPr>
                          <a:rPr lang="es-MX" sz="2200" b="1" i="1" smtClean="0">
                            <a:latin typeface="Cambria Math" panose="02040503050406030204" pitchFamily="18" charset="0"/>
                            <a:ea typeface="Roboto" panose="02000000000000000000" pitchFamily="2" charset="0"/>
                          </a:rPr>
                        </m:ctrlPr>
                      </m:dPr>
                      <m:e>
                        <m:r>
                          <a:rPr lang="es-MX" sz="2200" b="1" i="1" smtClean="0">
                            <a:latin typeface="Cambria Math" panose="02040503050406030204" pitchFamily="18" charset="0"/>
                            <a:ea typeface="Roboto" panose="02000000000000000000" pitchFamily="2" charset="0"/>
                          </a:rPr>
                          <m:t>| </m:t>
                        </m:r>
                        <m:r>
                          <a:rPr lang="es-MX" sz="2200" b="0" i="1" smtClean="0">
                            <a:latin typeface="Cambria Math" panose="02040503050406030204" pitchFamily="18" charset="0"/>
                            <a:ea typeface="Roboto" panose="02000000000000000000" pitchFamily="2" charset="0"/>
                          </a:rPr>
                          <m:t>ó </m:t>
                        </m:r>
                        <m:r>
                          <a:rPr lang="es-MX" sz="2200" b="1" i="1" smtClean="0">
                            <a:latin typeface="Cambria Math" panose="02040503050406030204" pitchFamily="18" charset="0"/>
                            <a:ea typeface="Roboto" panose="02000000000000000000" pitchFamily="2" charset="0"/>
                          </a:rPr>
                          <m:t>:</m:t>
                        </m:r>
                      </m:e>
                    </m:d>
                  </m:oMath>
                </a14:m>
                <a:r>
                  <a:rPr lang="es-MX" sz="2200" dirty="0">
                    <a:ea typeface="Roboto" panose="02000000000000000000" pitchFamily="2" charset="0"/>
                  </a:rPr>
                  <a:t>: Tal que.</a:t>
                </a:r>
              </a:p>
              <a:p>
                <a:pPr marL="285750" indent="-285750">
                  <a:buFont typeface="Arial" panose="020B0604020202020204" pitchFamily="34" charset="0"/>
                  <a:buChar char="•"/>
                </a:pPr>
                <a14:m>
                  <m:oMath xmlns:m="http://schemas.openxmlformats.org/officeDocument/2006/math">
                    <m:r>
                      <a:rPr lang="es-MX" sz="2200" b="1" i="1" smtClean="0">
                        <a:latin typeface="Cambria Math" panose="02040503050406030204" pitchFamily="18" charset="0"/>
                        <a:ea typeface="Roboto" panose="02000000000000000000" pitchFamily="2" charset="0"/>
                      </a:rPr>
                      <m:t>𝑷</m:t>
                    </m:r>
                    <m:r>
                      <a:rPr lang="es-MX" sz="2200" b="1" i="1" smtClean="0">
                        <a:latin typeface="Cambria Math" panose="02040503050406030204" pitchFamily="18" charset="0"/>
                        <a:ea typeface="Roboto" panose="02000000000000000000" pitchFamily="2" charset="0"/>
                      </a:rPr>
                      <m:t>(</m:t>
                    </m:r>
                    <m:r>
                      <a:rPr lang="es-MX" sz="2200" b="1" i="1" smtClean="0">
                        <a:latin typeface="Cambria Math" panose="02040503050406030204" pitchFamily="18" charset="0"/>
                        <a:ea typeface="Roboto" panose="02000000000000000000" pitchFamily="2" charset="0"/>
                      </a:rPr>
                      <m:t>𝒙</m:t>
                    </m:r>
                    <m:r>
                      <a:rPr lang="es-MX" sz="2200" b="1" i="1" smtClean="0">
                        <a:latin typeface="Cambria Math" panose="02040503050406030204" pitchFamily="18" charset="0"/>
                        <a:ea typeface="Roboto" panose="02000000000000000000" pitchFamily="2" charset="0"/>
                      </a:rPr>
                      <m:t>)</m:t>
                    </m:r>
                  </m:oMath>
                </a14:m>
                <a:r>
                  <a:rPr lang="es-MX" sz="2200" dirty="0">
                    <a:ea typeface="Roboto" panose="02000000000000000000" pitchFamily="2" charset="0"/>
                  </a:rPr>
                  <a:t>: Condición que debe cumplir el elemento para pertenecer al conjunto.</a:t>
                </a:r>
              </a:p>
            </p:txBody>
          </p:sp>
        </mc:Choice>
        <mc:Fallback xmlns="">
          <p:sp>
            <p:nvSpPr>
              <p:cNvPr id="13" name="CuadroTexto 12">
                <a:extLst>
                  <a:ext uri="{FF2B5EF4-FFF2-40B4-BE49-F238E27FC236}">
                    <a16:creationId xmlns:a16="http://schemas.microsoft.com/office/drawing/2014/main" id="{BCA1D142-6AB9-4BF1-9E2E-D1D19BEDDD52}"/>
                  </a:ext>
                </a:extLst>
              </p:cNvPr>
              <p:cNvSpPr txBox="1">
                <a:spLocks noRot="1" noChangeAspect="1" noMove="1" noResize="1" noEditPoints="1" noAdjustHandles="1" noChangeArrowheads="1" noChangeShapeType="1" noTextEdit="1"/>
              </p:cNvSpPr>
              <p:nvPr/>
            </p:nvSpPr>
            <p:spPr>
              <a:xfrm>
                <a:off x="1420657" y="3259416"/>
                <a:ext cx="9350686" cy="2123658"/>
              </a:xfrm>
              <a:prstGeom prst="rect">
                <a:avLst/>
              </a:prstGeom>
              <a:blipFill>
                <a:blip r:embed="rId5"/>
                <a:stretch>
                  <a:fillRect l="-847" t="-2011" b="-4885"/>
                </a:stretch>
              </a:blipFill>
            </p:spPr>
            <p:txBody>
              <a:bodyPr/>
              <a:lstStyle/>
              <a:p>
                <a:r>
                  <a:rPr lang="es-CO">
                    <a:noFill/>
                  </a:rPr>
                  <a:t> </a:t>
                </a:r>
              </a:p>
            </p:txBody>
          </p:sp>
        </mc:Fallback>
      </mc:AlternateContent>
    </p:spTree>
    <p:extLst>
      <p:ext uri="{BB962C8B-B14F-4D97-AF65-F5344CB8AC3E}">
        <p14:creationId xmlns:p14="http://schemas.microsoft.com/office/powerpoint/2010/main" val="32068323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26"/>
          <p:cNvSpPr txBox="1">
            <a:spLocks noGrp="1"/>
          </p:cNvSpPr>
          <p:nvPr>
            <p:ph type="title"/>
          </p:nvPr>
        </p:nvSpPr>
        <p:spPr>
          <a:xfrm>
            <a:off x="324466" y="52651"/>
            <a:ext cx="11503742"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t>Representación - Comparación</a:t>
            </a:r>
            <a:endParaRPr dirty="0"/>
          </a:p>
        </p:txBody>
      </p:sp>
      <p:sp>
        <p:nvSpPr>
          <p:cNvPr id="8" name="Google Shape;310;p34">
            <a:extLst>
              <a:ext uri="{FF2B5EF4-FFF2-40B4-BE49-F238E27FC236}">
                <a16:creationId xmlns:a16="http://schemas.microsoft.com/office/drawing/2014/main" id="{F6716F76-3AFE-471D-B156-0250FFA69F6E}"/>
              </a:ext>
            </a:extLst>
          </p:cNvPr>
          <p:cNvSpPr txBox="1">
            <a:spLocks/>
          </p:cNvSpPr>
          <p:nvPr/>
        </p:nvSpPr>
        <p:spPr>
          <a:xfrm>
            <a:off x="309717" y="826765"/>
            <a:ext cx="11695469" cy="574331"/>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200" dirty="0">
                <a:latin typeface="+mn-lt"/>
                <a:ea typeface="Roboto" panose="02000000000000000000" pitchFamily="2" charset="0"/>
              </a:rPr>
              <a:t>La siguiente tabla muestra una comparación entre las diferentes formas de representar un conjunto:</a:t>
            </a:r>
          </a:p>
          <a:p>
            <a:endParaRPr lang="es-MX" sz="2200" dirty="0">
              <a:latin typeface="+mn-lt"/>
              <a:ea typeface="Roboto" panose="02000000000000000000" pitchFamily="2" charset="0"/>
            </a:endParaRPr>
          </a:p>
        </p:txBody>
      </p:sp>
      <mc:AlternateContent xmlns:mc="http://schemas.openxmlformats.org/markup-compatibility/2006" xmlns:a14="http://schemas.microsoft.com/office/drawing/2010/main">
        <mc:Choice Requires="a14">
          <p:graphicFrame>
            <p:nvGraphicFramePr>
              <p:cNvPr id="2" name="Tabla 2">
                <a:extLst>
                  <a:ext uri="{FF2B5EF4-FFF2-40B4-BE49-F238E27FC236}">
                    <a16:creationId xmlns:a16="http://schemas.microsoft.com/office/drawing/2014/main" id="{3D0DFBC8-51C0-4FED-BB5B-1569C3422039}"/>
                  </a:ext>
                </a:extLst>
              </p:cNvPr>
              <p:cNvGraphicFramePr>
                <a:graphicFrameLocks noGrp="1"/>
              </p:cNvGraphicFramePr>
              <p:nvPr>
                <p:extLst>
                  <p:ext uri="{D42A27DB-BD31-4B8C-83A1-F6EECF244321}">
                    <p14:modId xmlns:p14="http://schemas.microsoft.com/office/powerpoint/2010/main" val="3948795123"/>
                  </p:ext>
                </p:extLst>
              </p:nvPr>
            </p:nvGraphicFramePr>
            <p:xfrm>
              <a:off x="616976" y="1495935"/>
              <a:ext cx="11299721" cy="5090160"/>
            </p:xfrm>
            <a:graphic>
              <a:graphicData uri="http://schemas.openxmlformats.org/drawingml/2006/table">
                <a:tbl>
                  <a:tblPr firstRow="1" bandRow="1">
                    <a:tableStyleId>{AD6A3598-7CB8-4345-8D95-17CE05F158A0}</a:tableStyleId>
                  </a:tblPr>
                  <a:tblGrid>
                    <a:gridCol w="2155521">
                      <a:extLst>
                        <a:ext uri="{9D8B030D-6E8A-4147-A177-3AD203B41FA5}">
                          <a16:colId xmlns:a16="http://schemas.microsoft.com/office/drawing/2014/main" val="2736028519"/>
                        </a:ext>
                      </a:extLst>
                    </a:gridCol>
                    <a:gridCol w="3731542">
                      <a:extLst>
                        <a:ext uri="{9D8B030D-6E8A-4147-A177-3AD203B41FA5}">
                          <a16:colId xmlns:a16="http://schemas.microsoft.com/office/drawing/2014/main" val="4008718241"/>
                        </a:ext>
                      </a:extLst>
                    </a:gridCol>
                    <a:gridCol w="634183">
                      <a:extLst>
                        <a:ext uri="{9D8B030D-6E8A-4147-A177-3AD203B41FA5}">
                          <a16:colId xmlns:a16="http://schemas.microsoft.com/office/drawing/2014/main" val="2043361054"/>
                        </a:ext>
                      </a:extLst>
                    </a:gridCol>
                    <a:gridCol w="4778475">
                      <a:extLst>
                        <a:ext uri="{9D8B030D-6E8A-4147-A177-3AD203B41FA5}">
                          <a16:colId xmlns:a16="http://schemas.microsoft.com/office/drawing/2014/main" val="1293588490"/>
                        </a:ext>
                      </a:extLst>
                    </a:gridCol>
                  </a:tblGrid>
                  <a:tr h="229489">
                    <a:tc>
                      <a:txBody>
                        <a:bodyPr/>
                        <a:lstStyle/>
                        <a:p>
                          <a:pPr algn="ctr"/>
                          <a:r>
                            <a:rPr lang="es-CO" sz="2200" b="1" dirty="0">
                              <a:solidFill>
                                <a:schemeClr val="bg1"/>
                              </a:solidFill>
                              <a:latin typeface="+mn-lt"/>
                              <a:ea typeface="Roboto" panose="02000000000000000000" pitchFamily="2" charset="0"/>
                            </a:rPr>
                            <a:t>Característica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gridSpan="2">
                      <a:txBody>
                        <a:bodyPr/>
                        <a:lstStyle/>
                        <a:p>
                          <a:pPr algn="ctr"/>
                          <a:r>
                            <a:rPr lang="es-CO" sz="2200" b="1" dirty="0">
                              <a:solidFill>
                                <a:schemeClr val="bg1"/>
                              </a:solidFill>
                              <a:latin typeface="+mn-lt"/>
                              <a:ea typeface="Roboto" panose="02000000000000000000" pitchFamily="2" charset="0"/>
                            </a:rPr>
                            <a:t>Por extensión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hMerge="1">
                      <a:txBody>
                        <a:bodyPr/>
                        <a:lstStyle/>
                        <a:p>
                          <a:pPr algn="ctr"/>
                          <a:endParaRPr lang="es-CO" sz="2200" b="1" dirty="0">
                            <a:solidFill>
                              <a:schemeClr val="bg1"/>
                            </a:solidFill>
                            <a:latin typeface="+mn-lt"/>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ctr"/>
                          <a:r>
                            <a:rPr lang="es-CO" sz="2200" b="1" dirty="0">
                              <a:solidFill>
                                <a:schemeClr val="bg1"/>
                              </a:solidFill>
                              <a:latin typeface="+mn-lt"/>
                              <a:ea typeface="Roboto" panose="02000000000000000000" pitchFamily="2" charset="0"/>
                            </a:rPr>
                            <a:t>Por comprensión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393268782"/>
                      </a:ext>
                    </a:extLst>
                  </a:tr>
                  <a:tr h="390848">
                    <a:tc>
                      <a:txBody>
                        <a:bodyPr/>
                        <a:lstStyle/>
                        <a:p>
                          <a:pPr algn="ctr"/>
                          <a:r>
                            <a:rPr lang="es-CO" sz="2200" b="1" dirty="0">
                              <a:latin typeface="+mn-lt"/>
                              <a:ea typeface="Roboto" panose="02000000000000000000" pitchFamily="2" charset="0"/>
                            </a:rPr>
                            <a:t>Descripción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2">
                      <a:txBody>
                        <a:bodyPr/>
                        <a:lstStyle/>
                        <a:p>
                          <a:r>
                            <a:rPr lang="es-MX" sz="2200" dirty="0">
                              <a:latin typeface="+mn-lt"/>
                            </a:rPr>
                            <a:t>Enumera todos los elementos del conjunto</a:t>
                          </a:r>
                          <a:endParaRPr lang="es-CO" sz="2200" dirty="0">
                            <a:latin typeface="+mn-lt"/>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s-CO" sz="2200" dirty="0">
                            <a:latin typeface="+mn-lt"/>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s-MX" sz="2200">
                              <a:latin typeface="+mn-lt"/>
                            </a:rPr>
                            <a:t>Describe los elementos mediante una propiedad o condición</a:t>
                          </a:r>
                          <a:endParaRPr lang="es-CO" sz="2200" dirty="0">
                            <a:latin typeface="+mn-lt"/>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6472577"/>
                      </a:ext>
                    </a:extLst>
                  </a:tr>
                  <a:tr h="229489">
                    <a:tc>
                      <a:txBody>
                        <a:bodyPr/>
                        <a:lstStyle/>
                        <a:p>
                          <a:pPr algn="ctr"/>
                          <a:r>
                            <a:rPr lang="es-CO" sz="2200" b="1" dirty="0">
                              <a:latin typeface="+mn-lt"/>
                              <a:ea typeface="Roboto" panose="02000000000000000000" pitchFamily="2" charset="0"/>
                            </a:rPr>
                            <a:t>Forma general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2">
                      <a:txBody>
                        <a:bodyPr/>
                        <a:lstStyle/>
                        <a:p>
                          <a:pPr/>
                          <a14:m>
                            <m:oMathPara xmlns:m="http://schemas.openxmlformats.org/officeDocument/2006/math">
                              <m:oMathParaPr>
                                <m:jc m:val="centerGroup"/>
                              </m:oMathParaPr>
                              <m:oMath xmlns:m="http://schemas.openxmlformats.org/officeDocument/2006/math">
                                <m:r>
                                  <a:rPr lang="es-MX" sz="2200" b="0" i="1" smtClean="0">
                                    <a:latin typeface="Cambria Math" panose="02040503050406030204" pitchFamily="18" charset="0"/>
                                    <a:ea typeface="Roboto" panose="02000000000000000000" pitchFamily="2" charset="0"/>
                                  </a:rPr>
                                  <m:t>𝐴</m:t>
                                </m:r>
                                <m:r>
                                  <a:rPr lang="es-MX" sz="2200" b="0" i="1" smtClean="0">
                                    <a:latin typeface="Cambria Math" panose="02040503050406030204" pitchFamily="18" charset="0"/>
                                    <a:ea typeface="Roboto" panose="02000000000000000000" pitchFamily="2" charset="0"/>
                                  </a:rPr>
                                  <m:t>=</m:t>
                                </m:r>
                                <m:d>
                                  <m:dPr>
                                    <m:begChr m:val="{"/>
                                    <m:endChr m:val="}"/>
                                    <m:ctrlPr>
                                      <a:rPr lang="es-MX" sz="2200" b="0" i="1" smtClean="0">
                                        <a:latin typeface="Cambria Math" panose="02040503050406030204" pitchFamily="18" charset="0"/>
                                        <a:ea typeface="Roboto" panose="02000000000000000000" pitchFamily="2" charset="0"/>
                                      </a:rPr>
                                    </m:ctrlPr>
                                  </m:dPr>
                                  <m:e>
                                    <m:r>
                                      <a:rPr lang="es-MX" sz="2200" b="0" i="1" smtClean="0">
                                        <a:latin typeface="Cambria Math" panose="02040503050406030204" pitchFamily="18" charset="0"/>
                                        <a:ea typeface="Roboto" panose="02000000000000000000" pitchFamily="2" charset="0"/>
                                      </a:rPr>
                                      <m:t>𝑎</m:t>
                                    </m:r>
                                    <m:r>
                                      <a:rPr lang="es-MX" sz="2200" b="0" i="1" smtClean="0">
                                        <a:latin typeface="Cambria Math" panose="02040503050406030204" pitchFamily="18" charset="0"/>
                                        <a:ea typeface="Roboto" panose="02000000000000000000" pitchFamily="2" charset="0"/>
                                      </a:rPr>
                                      <m:t>, </m:t>
                                    </m:r>
                                    <m:r>
                                      <a:rPr lang="es-MX" sz="2200" b="0" i="1" smtClean="0">
                                        <a:latin typeface="Cambria Math" panose="02040503050406030204" pitchFamily="18" charset="0"/>
                                        <a:ea typeface="Roboto" panose="02000000000000000000" pitchFamily="2" charset="0"/>
                                      </a:rPr>
                                      <m:t>𝑏</m:t>
                                    </m:r>
                                    <m:r>
                                      <a:rPr lang="es-MX" sz="2200" b="0" i="1" smtClean="0">
                                        <a:latin typeface="Cambria Math" panose="02040503050406030204" pitchFamily="18" charset="0"/>
                                        <a:ea typeface="Roboto" panose="02000000000000000000" pitchFamily="2" charset="0"/>
                                      </a:rPr>
                                      <m:t>, </m:t>
                                    </m:r>
                                    <m:r>
                                      <a:rPr lang="es-MX" sz="2200" b="0" i="1" smtClean="0">
                                        <a:latin typeface="Cambria Math" panose="02040503050406030204" pitchFamily="18" charset="0"/>
                                        <a:ea typeface="Roboto" panose="02000000000000000000" pitchFamily="2" charset="0"/>
                                      </a:rPr>
                                      <m:t>𝑐</m:t>
                                    </m:r>
                                    <m:r>
                                      <a:rPr lang="es-MX" sz="2200" b="0" i="1" smtClean="0">
                                        <a:latin typeface="Cambria Math" panose="02040503050406030204" pitchFamily="18" charset="0"/>
                                        <a:ea typeface="Roboto" panose="02000000000000000000" pitchFamily="2" charset="0"/>
                                      </a:rPr>
                                      <m:t>, </m:t>
                                    </m:r>
                                    <m:r>
                                      <a:rPr lang="es-MX" sz="2200" b="0" i="1" smtClean="0">
                                        <a:latin typeface="Cambria Math" panose="02040503050406030204" pitchFamily="18" charset="0"/>
                                        <a:ea typeface="Roboto" panose="02000000000000000000" pitchFamily="2" charset="0"/>
                                      </a:rPr>
                                      <m:t>𝑑</m:t>
                                    </m:r>
                                    <m:r>
                                      <a:rPr lang="es-MX" sz="2200" b="0" i="1" smtClean="0">
                                        <a:latin typeface="Cambria Math" panose="02040503050406030204" pitchFamily="18" charset="0"/>
                                        <a:ea typeface="Roboto" panose="02000000000000000000" pitchFamily="2" charset="0"/>
                                      </a:rPr>
                                      <m:t>,…</m:t>
                                    </m:r>
                                  </m:e>
                                </m:d>
                              </m:oMath>
                            </m:oMathPara>
                          </a14:m>
                          <a:endParaRPr lang="es-CO" sz="2200" dirty="0">
                            <a:latin typeface="+mn-lt"/>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s-CO" sz="2200" dirty="0">
                            <a:latin typeface="+mn-lt"/>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2200" b="0" i="1" smtClean="0">
                                    <a:latin typeface="Cambria Math" panose="02040503050406030204" pitchFamily="18" charset="0"/>
                                    <a:ea typeface="Roboto" panose="02000000000000000000" pitchFamily="2" charset="0"/>
                                  </a:rPr>
                                  <m:t>𝐴</m:t>
                                </m:r>
                                <m:r>
                                  <a:rPr lang="es-MX" sz="2200" b="0" i="1" smtClean="0">
                                    <a:latin typeface="Cambria Math" panose="02040503050406030204" pitchFamily="18" charset="0"/>
                                    <a:ea typeface="Roboto" panose="02000000000000000000" pitchFamily="2" charset="0"/>
                                  </a:rPr>
                                  <m:t>=</m:t>
                                </m:r>
                                <m:d>
                                  <m:dPr>
                                    <m:begChr m:val="{"/>
                                    <m:endChr m:val="}"/>
                                    <m:ctrlPr>
                                      <a:rPr lang="es-MX" sz="2200" b="0" i="1" smtClean="0">
                                        <a:latin typeface="Cambria Math" panose="02040503050406030204" pitchFamily="18" charset="0"/>
                                        <a:ea typeface="Roboto" panose="02000000000000000000" pitchFamily="2" charset="0"/>
                                      </a:rPr>
                                    </m:ctrlPr>
                                  </m:dPr>
                                  <m:e>
                                    <m:r>
                                      <a:rPr lang="es-MX" sz="2200" b="0" i="1" smtClean="0">
                                        <a:latin typeface="Cambria Math" panose="02040503050406030204" pitchFamily="18" charset="0"/>
                                        <a:ea typeface="Roboto" panose="02000000000000000000" pitchFamily="2" charset="0"/>
                                      </a:rPr>
                                      <m:t>𝑥</m:t>
                                    </m:r>
                                    <m:r>
                                      <a:rPr lang="es-MX" sz="2200" b="0" i="1" smtClean="0">
                                        <a:latin typeface="Cambria Math" panose="02040503050406030204" pitchFamily="18" charset="0"/>
                                        <a:ea typeface="Roboto" panose="02000000000000000000" pitchFamily="2" charset="0"/>
                                      </a:rPr>
                                      <m:t>∈</m:t>
                                    </m:r>
                                    <m:r>
                                      <a:rPr lang="es-MX" sz="2200" b="0" i="1" smtClean="0">
                                        <a:latin typeface="Cambria Math" panose="02040503050406030204" pitchFamily="18" charset="0"/>
                                        <a:ea typeface="Roboto" panose="02000000000000000000" pitchFamily="2" charset="0"/>
                                      </a:rPr>
                                      <m:t>𝐷</m:t>
                                    </m:r>
                                  </m:e>
                                  <m:e>
                                    <m:r>
                                      <a:rPr lang="es-MX" sz="2200" b="0" i="1" smtClean="0">
                                        <a:latin typeface="Cambria Math" panose="02040503050406030204" pitchFamily="18" charset="0"/>
                                        <a:ea typeface="Roboto" panose="02000000000000000000" pitchFamily="2" charset="0"/>
                                      </a:rPr>
                                      <m:t>𝑃</m:t>
                                    </m:r>
                                    <m:d>
                                      <m:dPr>
                                        <m:ctrlPr>
                                          <a:rPr lang="es-MX" sz="2200" b="0" i="1" smtClean="0">
                                            <a:latin typeface="Cambria Math" panose="02040503050406030204" pitchFamily="18" charset="0"/>
                                            <a:ea typeface="Roboto" panose="02000000000000000000" pitchFamily="2" charset="0"/>
                                          </a:rPr>
                                        </m:ctrlPr>
                                      </m:dPr>
                                      <m:e>
                                        <m:r>
                                          <a:rPr lang="es-MX" sz="2200" b="0" i="1" smtClean="0">
                                            <a:latin typeface="Cambria Math" panose="02040503050406030204" pitchFamily="18" charset="0"/>
                                            <a:ea typeface="Roboto" panose="02000000000000000000" pitchFamily="2" charset="0"/>
                                          </a:rPr>
                                          <m:t>𝑥</m:t>
                                        </m:r>
                                      </m:e>
                                    </m:d>
                                  </m:e>
                                </m:d>
                              </m:oMath>
                            </m:oMathPara>
                          </a14:m>
                          <a:endParaRPr lang="es-CO" sz="2200" dirty="0">
                            <a:latin typeface="+mn-lt"/>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13460725"/>
                      </a:ext>
                    </a:extLst>
                  </a:tr>
                  <a:tr h="390848">
                    <a:tc>
                      <a:txBody>
                        <a:bodyPr/>
                        <a:lstStyle/>
                        <a:p>
                          <a:pPr algn="ctr"/>
                          <a:r>
                            <a:rPr lang="es-CO" sz="2200" b="1" dirty="0">
                              <a:latin typeface="+mn-lt"/>
                              <a:ea typeface="Roboto" panose="02000000000000000000" pitchFamily="2" charset="0"/>
                            </a:rPr>
                            <a:t>Uso principal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2">
                      <a:txBody>
                        <a:bodyPr/>
                        <a:lstStyle/>
                        <a:p>
                          <a:r>
                            <a:rPr lang="es-CO" sz="2200" b="0" dirty="0">
                              <a:latin typeface="+mn-lt"/>
                              <a:ea typeface="Roboto" panose="02000000000000000000" pitchFamily="2" charset="0"/>
                            </a:rPr>
                            <a:t>Conjuntos pequeños y finitos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s-CO" sz="2200" b="0" dirty="0">
                            <a:latin typeface="+mn-lt"/>
                            <a:ea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s-CO" sz="2200" b="0" dirty="0">
                              <a:latin typeface="+mn-lt"/>
                              <a:ea typeface="Roboto" panose="02000000000000000000" pitchFamily="2" charset="0"/>
                            </a:rPr>
                            <a:t>Conjuntos grandes o infinitos, o con reglas definidas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43502662"/>
                      </a:ext>
                    </a:extLst>
                  </a:tr>
                  <a:tr h="229489">
                    <a:tc rowSpan="4">
                      <a:txBody>
                        <a:bodyPr/>
                        <a:lstStyle/>
                        <a:p>
                          <a:pPr algn="ctr"/>
                          <a:r>
                            <a:rPr lang="es-CO" sz="2200" b="1" dirty="0">
                              <a:latin typeface="+mn-lt"/>
                              <a:ea typeface="Roboto" panose="02000000000000000000" pitchFamily="2" charset="0"/>
                            </a:rPr>
                            <a:t>Ejemplos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2200" b="1" dirty="0">
                              <a:latin typeface="+mn-lt"/>
                              <a:ea typeface="Roboto" panose="02000000000000000000" pitchFamily="2" charset="0"/>
                            </a:rPr>
                            <a:t>Vocales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s-CO"/>
                        </a:p>
                      </a:txBody>
                      <a:tcPr/>
                    </a:tc>
                    <a:tc hMerge="1">
                      <a:txBody>
                        <a:bodyPr/>
                        <a:lstStyle/>
                        <a:p>
                          <a:endParaRPr lang="es-CO"/>
                        </a:p>
                      </a:txBody>
                      <a:tcPr/>
                    </a:tc>
                    <a:extLst>
                      <a:ext uri="{0D108BD9-81ED-4DB2-BD59-A6C34878D82A}">
                        <a16:rowId xmlns:a16="http://schemas.microsoft.com/office/drawing/2014/main" val="2359163412"/>
                      </a:ext>
                    </a:extLst>
                  </a:tr>
                  <a:tr h="555415">
                    <a:tc vMerge="1">
                      <a:txBody>
                        <a:bodyPr/>
                        <a:lstStyle/>
                        <a:p>
                          <a:r>
                            <a:rPr lang="es-CO" dirty="0">
                              <a:latin typeface="Roboto" panose="02000000000000000000" pitchFamily="2" charset="0"/>
                              <a:ea typeface="Roboto" panose="02000000000000000000" pitchFamily="2" charset="0"/>
                            </a:rPr>
                            <a:t>Ejemplos</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MX" sz="2200" b="0" i="1" dirty="0">
                            <a:latin typeface="+mn-lt"/>
                            <a:ea typeface="Roboto" panose="02000000000000000000" pitchFamily="2" charset="0"/>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200" b="0" i="1" smtClean="0">
                                    <a:latin typeface="Cambria Math" panose="02040503050406030204" pitchFamily="18" charset="0"/>
                                    <a:ea typeface="Roboto" panose="02000000000000000000" pitchFamily="2" charset="0"/>
                                  </a:rPr>
                                  <m:t>𝑉</m:t>
                                </m:r>
                                <m:r>
                                  <a:rPr lang="es-MX" sz="2200" b="0" i="1" smtClean="0">
                                    <a:latin typeface="Cambria Math" panose="02040503050406030204" pitchFamily="18" charset="0"/>
                                    <a:ea typeface="Roboto" panose="02000000000000000000" pitchFamily="2" charset="0"/>
                                  </a:rPr>
                                  <m:t>=</m:t>
                                </m:r>
                                <m:d>
                                  <m:dPr>
                                    <m:begChr m:val="{"/>
                                    <m:endChr m:val="}"/>
                                    <m:ctrlPr>
                                      <a:rPr lang="es-MX" sz="2200" b="0" i="1" smtClean="0">
                                        <a:latin typeface="Cambria Math" panose="02040503050406030204" pitchFamily="18" charset="0"/>
                                        <a:ea typeface="Roboto" panose="02000000000000000000" pitchFamily="2" charset="0"/>
                                      </a:rPr>
                                    </m:ctrlPr>
                                  </m:dPr>
                                  <m:e>
                                    <m:r>
                                      <a:rPr lang="es-MX" sz="2200" b="0" i="1" smtClean="0">
                                        <a:latin typeface="Cambria Math" panose="02040503050406030204" pitchFamily="18" charset="0"/>
                                        <a:ea typeface="Roboto" panose="02000000000000000000" pitchFamily="2" charset="0"/>
                                      </a:rPr>
                                      <m:t>𝑎</m:t>
                                    </m:r>
                                    <m:r>
                                      <a:rPr lang="es-MX" sz="2200" b="0" i="1" smtClean="0">
                                        <a:latin typeface="Cambria Math" panose="02040503050406030204" pitchFamily="18" charset="0"/>
                                        <a:ea typeface="Roboto" panose="02000000000000000000" pitchFamily="2" charset="0"/>
                                      </a:rPr>
                                      <m:t>, </m:t>
                                    </m:r>
                                    <m:r>
                                      <a:rPr lang="es-MX" sz="2200" b="0" i="1" smtClean="0">
                                        <a:latin typeface="Cambria Math" panose="02040503050406030204" pitchFamily="18" charset="0"/>
                                        <a:ea typeface="Roboto" panose="02000000000000000000" pitchFamily="2" charset="0"/>
                                      </a:rPr>
                                      <m:t>𝑒</m:t>
                                    </m:r>
                                    <m:r>
                                      <a:rPr lang="es-MX" sz="2200" b="0" i="1" smtClean="0">
                                        <a:latin typeface="Cambria Math" panose="02040503050406030204" pitchFamily="18" charset="0"/>
                                        <a:ea typeface="Roboto" panose="02000000000000000000" pitchFamily="2" charset="0"/>
                                      </a:rPr>
                                      <m:t>,</m:t>
                                    </m:r>
                                    <m:r>
                                      <a:rPr lang="es-MX" sz="2200" b="0" i="1" smtClean="0">
                                        <a:latin typeface="Cambria Math" panose="02040503050406030204" pitchFamily="18" charset="0"/>
                                        <a:ea typeface="Roboto" panose="02000000000000000000" pitchFamily="2" charset="0"/>
                                      </a:rPr>
                                      <m:t>𝑖</m:t>
                                    </m:r>
                                    <m:r>
                                      <a:rPr lang="es-MX" sz="2200" b="0" i="1" smtClean="0">
                                        <a:latin typeface="Cambria Math" panose="02040503050406030204" pitchFamily="18" charset="0"/>
                                        <a:ea typeface="Roboto" panose="02000000000000000000" pitchFamily="2" charset="0"/>
                                      </a:rPr>
                                      <m:t>,</m:t>
                                    </m:r>
                                    <m:r>
                                      <a:rPr lang="es-MX" sz="2200" b="0" i="1" smtClean="0">
                                        <a:latin typeface="Cambria Math" panose="02040503050406030204" pitchFamily="18" charset="0"/>
                                        <a:ea typeface="Roboto" panose="02000000000000000000" pitchFamily="2" charset="0"/>
                                      </a:rPr>
                                      <m:t>𝑜</m:t>
                                    </m:r>
                                    <m:r>
                                      <a:rPr lang="es-MX" sz="2200" b="0" i="1" smtClean="0">
                                        <a:latin typeface="Cambria Math" panose="02040503050406030204" pitchFamily="18" charset="0"/>
                                        <a:ea typeface="Roboto" panose="02000000000000000000" pitchFamily="2" charset="0"/>
                                      </a:rPr>
                                      <m:t>,</m:t>
                                    </m:r>
                                    <m:r>
                                      <a:rPr lang="es-MX" sz="2200" b="0" i="1" smtClean="0">
                                        <a:latin typeface="Cambria Math" panose="02040503050406030204" pitchFamily="18" charset="0"/>
                                        <a:ea typeface="Roboto" panose="02000000000000000000" pitchFamily="2" charset="0"/>
                                      </a:rPr>
                                      <m:t>𝑢</m:t>
                                    </m:r>
                                  </m:e>
                                </m:d>
                              </m:oMath>
                            </m:oMathPara>
                          </a14:m>
                          <a:endParaRPr lang="es-CO" sz="2200" dirty="0">
                            <a:latin typeface="+mn-lt"/>
                            <a:ea typeface="Roboto" panose="02000000000000000000" pitchFamily="2" charset="0"/>
                          </a:endParaRPr>
                        </a:p>
                        <a:p>
                          <a:endParaRPr lang="es-CO" sz="2200" dirty="0">
                            <a:latin typeface="+mn-lt"/>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2">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MX" sz="2200" b="0" i="1" dirty="0">
                            <a:latin typeface="+mn-lt"/>
                            <a:ea typeface="Roboto" panose="02000000000000000000" pitchFamily="2" charset="0"/>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200" b="0" i="1" smtClean="0">
                                    <a:latin typeface="Cambria Math" panose="02040503050406030204" pitchFamily="18" charset="0"/>
                                    <a:ea typeface="Roboto" panose="02000000000000000000" pitchFamily="2" charset="0"/>
                                  </a:rPr>
                                  <m:t>𝑉</m:t>
                                </m:r>
                                <m:r>
                                  <a:rPr lang="es-MX" sz="2200" b="0" i="1" smtClean="0">
                                    <a:latin typeface="Cambria Math" panose="02040503050406030204" pitchFamily="18" charset="0"/>
                                    <a:ea typeface="Roboto" panose="02000000000000000000" pitchFamily="2" charset="0"/>
                                  </a:rPr>
                                  <m:t>=</m:t>
                                </m:r>
                                <m:d>
                                  <m:dPr>
                                    <m:begChr m:val="{"/>
                                    <m:endChr m:val="}"/>
                                    <m:ctrlPr>
                                      <a:rPr lang="es-MX" sz="2200" b="0" i="1" smtClean="0">
                                        <a:latin typeface="Cambria Math" panose="02040503050406030204" pitchFamily="18" charset="0"/>
                                        <a:ea typeface="Roboto" panose="02000000000000000000" pitchFamily="2" charset="0"/>
                                      </a:rPr>
                                    </m:ctrlPr>
                                  </m:dPr>
                                  <m:e>
                                    <m:r>
                                      <a:rPr lang="es-MX" sz="2200" b="0" i="1" smtClean="0">
                                        <a:latin typeface="Cambria Math" panose="02040503050406030204" pitchFamily="18" charset="0"/>
                                        <a:ea typeface="Roboto" panose="02000000000000000000" pitchFamily="2" charset="0"/>
                                      </a:rPr>
                                      <m:t>𝑥</m:t>
                                    </m:r>
                                  </m:e>
                                  <m:e>
                                    <m:r>
                                      <a:rPr lang="es-MX" sz="2200" b="0" i="1" smtClean="0">
                                        <a:latin typeface="Cambria Math" panose="02040503050406030204" pitchFamily="18" charset="0"/>
                                        <a:ea typeface="Roboto" panose="02000000000000000000" pitchFamily="2" charset="0"/>
                                      </a:rPr>
                                      <m:t>𝑥</m:t>
                                    </m:r>
                                    <m:r>
                                      <a:rPr lang="es-MX" sz="2200" b="0" i="1" smtClean="0">
                                        <a:latin typeface="Cambria Math" panose="02040503050406030204" pitchFamily="18" charset="0"/>
                                        <a:ea typeface="Roboto" panose="02000000000000000000" pitchFamily="2" charset="0"/>
                                      </a:rPr>
                                      <m:t> </m:t>
                                    </m:r>
                                    <m:r>
                                      <m:rPr>
                                        <m:sty m:val="p"/>
                                      </m:rPr>
                                      <a:rPr lang="es-MX" sz="2200" b="0" i="0" smtClean="0">
                                        <a:latin typeface="Cambria Math" panose="02040503050406030204" pitchFamily="18" charset="0"/>
                                        <a:ea typeface="Roboto" panose="02000000000000000000" pitchFamily="2" charset="0"/>
                                      </a:rPr>
                                      <m:t>es</m:t>
                                    </m:r>
                                    <m:r>
                                      <a:rPr lang="es-MX" sz="2200" b="0" i="0" smtClean="0">
                                        <a:latin typeface="Cambria Math" panose="02040503050406030204" pitchFamily="18" charset="0"/>
                                        <a:ea typeface="Roboto" panose="02000000000000000000" pitchFamily="2" charset="0"/>
                                      </a:rPr>
                                      <m:t> </m:t>
                                    </m:r>
                                    <m:r>
                                      <m:rPr>
                                        <m:sty m:val="p"/>
                                      </m:rPr>
                                      <a:rPr lang="es-MX" sz="2200" b="0" i="0" smtClean="0">
                                        <a:latin typeface="Cambria Math" panose="02040503050406030204" pitchFamily="18" charset="0"/>
                                        <a:ea typeface="Roboto" panose="02000000000000000000" pitchFamily="2" charset="0"/>
                                      </a:rPr>
                                      <m:t>una</m:t>
                                    </m:r>
                                    <m:r>
                                      <a:rPr lang="es-MX" sz="2200" b="0" i="0" smtClean="0">
                                        <a:latin typeface="Cambria Math" panose="02040503050406030204" pitchFamily="18" charset="0"/>
                                        <a:ea typeface="Roboto" panose="02000000000000000000" pitchFamily="2" charset="0"/>
                                      </a:rPr>
                                      <m:t> </m:t>
                                    </m:r>
                                    <m:r>
                                      <m:rPr>
                                        <m:sty m:val="p"/>
                                      </m:rPr>
                                      <a:rPr lang="es-MX" sz="2200" b="0" i="0" smtClean="0">
                                        <a:latin typeface="Cambria Math" panose="02040503050406030204" pitchFamily="18" charset="0"/>
                                        <a:ea typeface="Roboto" panose="02000000000000000000" pitchFamily="2" charset="0"/>
                                      </a:rPr>
                                      <m:t>vocal</m:t>
                                    </m:r>
                                  </m:e>
                                </m:d>
                              </m:oMath>
                            </m:oMathPara>
                          </a14:m>
                          <a:endParaRPr lang="es-CO" sz="2200" dirty="0">
                            <a:latin typeface="+mn-lt"/>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MX" sz="2200" b="0" i="1" dirty="0">
                            <a:latin typeface="+mn-lt"/>
                            <a:ea typeface="Roboto" panose="02000000000000000000" pitchFamily="2" charset="0"/>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200" b="0" i="1" smtClean="0">
                                    <a:latin typeface="Cambria Math" panose="02040503050406030204" pitchFamily="18" charset="0"/>
                                    <a:ea typeface="Roboto" panose="02000000000000000000" pitchFamily="2" charset="0"/>
                                  </a:rPr>
                                  <m:t>𝑉</m:t>
                                </m:r>
                                <m:r>
                                  <a:rPr lang="es-MX" sz="2200" b="0" i="1" smtClean="0">
                                    <a:latin typeface="Cambria Math" panose="02040503050406030204" pitchFamily="18" charset="0"/>
                                    <a:ea typeface="Roboto" panose="02000000000000000000" pitchFamily="2" charset="0"/>
                                  </a:rPr>
                                  <m:t>=</m:t>
                                </m:r>
                                <m:d>
                                  <m:dPr>
                                    <m:begChr m:val="{"/>
                                    <m:endChr m:val="}"/>
                                    <m:ctrlPr>
                                      <a:rPr lang="es-MX" sz="2200" b="0" i="1" smtClean="0">
                                        <a:latin typeface="Cambria Math" panose="02040503050406030204" pitchFamily="18" charset="0"/>
                                        <a:ea typeface="Roboto" panose="02000000000000000000" pitchFamily="2" charset="0"/>
                                      </a:rPr>
                                    </m:ctrlPr>
                                  </m:dPr>
                                  <m:e>
                                    <m:r>
                                      <a:rPr lang="es-MX" sz="2200" b="0" i="1" smtClean="0">
                                        <a:latin typeface="Cambria Math" panose="02040503050406030204" pitchFamily="18" charset="0"/>
                                        <a:ea typeface="Roboto" panose="02000000000000000000" pitchFamily="2" charset="0"/>
                                      </a:rPr>
                                      <m:t>𝑥</m:t>
                                    </m:r>
                                  </m:e>
                                  <m:e>
                                    <m:r>
                                      <a:rPr lang="es-MX" sz="2200" b="0" i="1" smtClean="0">
                                        <a:latin typeface="Cambria Math" panose="02040503050406030204" pitchFamily="18" charset="0"/>
                                        <a:ea typeface="Roboto" panose="02000000000000000000" pitchFamily="2" charset="0"/>
                                      </a:rPr>
                                      <m:t>𝑥</m:t>
                                    </m:r>
                                    <m:r>
                                      <a:rPr lang="es-MX" sz="2200" b="0" i="1" smtClean="0">
                                        <a:latin typeface="Cambria Math" panose="02040503050406030204" pitchFamily="18" charset="0"/>
                                        <a:ea typeface="Roboto" panose="02000000000000000000" pitchFamily="2" charset="0"/>
                                      </a:rPr>
                                      <m:t> </m:t>
                                    </m:r>
                                    <m:r>
                                      <m:rPr>
                                        <m:sty m:val="p"/>
                                      </m:rPr>
                                      <a:rPr lang="es-MX" sz="2200" b="0" i="0" smtClean="0">
                                        <a:latin typeface="Cambria Math" panose="02040503050406030204" pitchFamily="18" charset="0"/>
                                        <a:ea typeface="Roboto" panose="02000000000000000000" pitchFamily="2" charset="0"/>
                                      </a:rPr>
                                      <m:t>es</m:t>
                                    </m:r>
                                    <m:r>
                                      <a:rPr lang="es-MX" sz="2200" b="0" i="0" smtClean="0">
                                        <a:latin typeface="Cambria Math" panose="02040503050406030204" pitchFamily="18" charset="0"/>
                                        <a:ea typeface="Roboto" panose="02000000000000000000" pitchFamily="2" charset="0"/>
                                      </a:rPr>
                                      <m:t> </m:t>
                                    </m:r>
                                    <m:r>
                                      <m:rPr>
                                        <m:sty m:val="p"/>
                                      </m:rPr>
                                      <a:rPr lang="es-MX" sz="2200" b="0" i="0" smtClean="0">
                                        <a:latin typeface="Cambria Math" panose="02040503050406030204" pitchFamily="18" charset="0"/>
                                        <a:ea typeface="Roboto" panose="02000000000000000000" pitchFamily="2" charset="0"/>
                                      </a:rPr>
                                      <m:t>una</m:t>
                                    </m:r>
                                    <m:r>
                                      <a:rPr lang="es-MX" sz="2200" b="0" i="0" smtClean="0">
                                        <a:latin typeface="Cambria Math" panose="02040503050406030204" pitchFamily="18" charset="0"/>
                                        <a:ea typeface="Roboto" panose="02000000000000000000" pitchFamily="2" charset="0"/>
                                      </a:rPr>
                                      <m:t> </m:t>
                                    </m:r>
                                    <m:r>
                                      <m:rPr>
                                        <m:sty m:val="p"/>
                                      </m:rPr>
                                      <a:rPr lang="es-MX" sz="2200" b="0" i="0" smtClean="0">
                                        <a:latin typeface="Cambria Math" panose="02040503050406030204" pitchFamily="18" charset="0"/>
                                        <a:ea typeface="Roboto" panose="02000000000000000000" pitchFamily="2" charset="0"/>
                                      </a:rPr>
                                      <m:t>vocal</m:t>
                                    </m:r>
                                  </m:e>
                                </m:d>
                              </m:oMath>
                            </m:oMathPara>
                          </a14:m>
                          <a:endParaRPr lang="es-CO" sz="2200" dirty="0">
                            <a:latin typeface="+mn-lt"/>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1051598"/>
                      </a:ext>
                    </a:extLst>
                  </a:tr>
                  <a:tr h="229489">
                    <a:tc vMerge="1">
                      <a:txBody>
                        <a:bodyPr/>
                        <a:lstStyle/>
                        <a:p>
                          <a:endParaRPr lang="es-CO" dirty="0">
                            <a:latin typeface="Roboto" panose="02000000000000000000" pitchFamily="2" charset="0"/>
                            <a:ea typeface="Roboto" panose="02000000000000000000" pitchFamily="2" charset="0"/>
                          </a:endParaRPr>
                        </a:p>
                      </a:txBody>
                      <a:tcPr/>
                    </a:tc>
                    <a:tc gridSpan="3">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2200" b="1" dirty="0">
                              <a:latin typeface="+mn-lt"/>
                              <a:ea typeface="Roboto" panose="02000000000000000000" pitchFamily="2" charset="0"/>
                            </a:rPr>
                            <a:t>Números positivos pares menores que 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s-CO"/>
                        </a:p>
                      </a:txBody>
                      <a:tcPr/>
                    </a:tc>
                    <a:tc hMerge="1">
                      <a:txBody>
                        <a:bodyPr/>
                        <a:lstStyle/>
                        <a:p>
                          <a:endParaRPr lang="es-CO"/>
                        </a:p>
                      </a:txBody>
                      <a:tcPr/>
                    </a:tc>
                    <a:extLst>
                      <a:ext uri="{0D108BD9-81ED-4DB2-BD59-A6C34878D82A}">
                        <a16:rowId xmlns:a16="http://schemas.microsoft.com/office/drawing/2014/main" val="354108310"/>
                      </a:ext>
                    </a:extLst>
                  </a:tr>
                  <a:tr h="555415">
                    <a:tc vMerge="1">
                      <a:txBody>
                        <a:bodyPr/>
                        <a:lstStyle/>
                        <a:p>
                          <a:endParaRPr lang="es-CO" dirty="0">
                            <a:latin typeface="Roboto" panose="02000000000000000000" pitchFamily="2" charset="0"/>
                            <a:ea typeface="Roboto" panose="02000000000000000000" pitchFamily="2" charset="0"/>
                          </a:endParaRPr>
                        </a:p>
                      </a:txBody>
                      <a:tcPr/>
                    </a:tc>
                    <a:tc>
                      <a:txBody>
                        <a:bodyPr/>
                        <a:lstStyle/>
                        <a:p>
                          <a:endParaRPr lang="es-CO" sz="2200" dirty="0">
                            <a:latin typeface="+mn-lt"/>
                            <a:ea typeface="Roboto" panose="02000000000000000000" pitchFamily="2" charset="0"/>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200" b="0" i="1" smtClean="0">
                                    <a:latin typeface="Cambria Math" panose="02040503050406030204" pitchFamily="18" charset="0"/>
                                    <a:ea typeface="Roboto" panose="02000000000000000000" pitchFamily="2" charset="0"/>
                                  </a:rPr>
                                  <m:t>𝑃</m:t>
                                </m:r>
                                <m:r>
                                  <a:rPr lang="es-MX" sz="2200" b="0" i="1" smtClean="0">
                                    <a:latin typeface="Cambria Math" panose="02040503050406030204" pitchFamily="18" charset="0"/>
                                    <a:ea typeface="Roboto" panose="02000000000000000000" pitchFamily="2" charset="0"/>
                                  </a:rPr>
                                  <m:t>=</m:t>
                                </m:r>
                                <m:d>
                                  <m:dPr>
                                    <m:begChr m:val="{"/>
                                    <m:endChr m:val="}"/>
                                    <m:ctrlPr>
                                      <a:rPr lang="es-MX" sz="2200" b="0" i="1" smtClean="0">
                                        <a:latin typeface="Cambria Math" panose="02040503050406030204" pitchFamily="18" charset="0"/>
                                        <a:ea typeface="Roboto" panose="02000000000000000000" pitchFamily="2" charset="0"/>
                                      </a:rPr>
                                    </m:ctrlPr>
                                  </m:dPr>
                                  <m:e>
                                    <m:r>
                                      <a:rPr lang="es-MX" sz="2200" b="0" i="1" smtClean="0">
                                        <a:latin typeface="Cambria Math" panose="02040503050406030204" pitchFamily="18" charset="0"/>
                                        <a:ea typeface="Roboto" panose="02000000000000000000" pitchFamily="2" charset="0"/>
                                      </a:rPr>
                                      <m:t>2,4,6,8</m:t>
                                    </m:r>
                                  </m:e>
                                </m:d>
                              </m:oMath>
                            </m:oMathPara>
                          </a14:m>
                          <a:endParaRPr lang="es-CO" sz="2200" dirty="0">
                            <a:latin typeface="+mn-lt"/>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2">
                      <a:txBody>
                        <a:bodyPr/>
                        <a:lstStyle/>
                        <a:p>
                          <a:endParaRPr lang="es-CO" sz="2200" dirty="0">
                            <a:latin typeface="+mn-lt"/>
                            <a:ea typeface="Roboto" panose="02000000000000000000" pitchFamily="2" charset="0"/>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200" b="0" i="1" smtClean="0">
                                    <a:latin typeface="Cambria Math" panose="02040503050406030204" pitchFamily="18" charset="0"/>
                                    <a:ea typeface="Roboto" panose="02000000000000000000" pitchFamily="2" charset="0"/>
                                  </a:rPr>
                                  <m:t>𝑃</m:t>
                                </m:r>
                                <m:r>
                                  <a:rPr lang="es-MX" sz="2200" b="0" i="1" smtClean="0">
                                    <a:latin typeface="Cambria Math" panose="02040503050406030204" pitchFamily="18" charset="0"/>
                                    <a:ea typeface="Roboto" panose="02000000000000000000" pitchFamily="2" charset="0"/>
                                  </a:rPr>
                                  <m:t>=</m:t>
                                </m:r>
                                <m:d>
                                  <m:dPr>
                                    <m:begChr m:val="{"/>
                                    <m:endChr m:val="}"/>
                                    <m:ctrlPr>
                                      <a:rPr lang="es-MX" sz="2200" b="0" i="1" smtClean="0">
                                        <a:latin typeface="Cambria Math" panose="02040503050406030204" pitchFamily="18" charset="0"/>
                                        <a:ea typeface="Roboto" panose="02000000000000000000" pitchFamily="2" charset="0"/>
                                      </a:rPr>
                                    </m:ctrlPr>
                                  </m:dPr>
                                  <m:e>
                                    <m:r>
                                      <a:rPr lang="es-MX" sz="2200" b="0" i="1" smtClean="0">
                                        <a:latin typeface="Cambria Math" panose="02040503050406030204" pitchFamily="18" charset="0"/>
                                        <a:ea typeface="Roboto" panose="02000000000000000000" pitchFamily="2" charset="0"/>
                                      </a:rPr>
                                      <m:t>𝑥</m:t>
                                    </m:r>
                                  </m:e>
                                  <m:e>
                                    <m:d>
                                      <m:dPr>
                                        <m:ctrlPr>
                                          <a:rPr lang="es-MX" sz="2200" b="0" i="1" smtClean="0">
                                            <a:latin typeface="Cambria Math" panose="02040503050406030204" pitchFamily="18" charset="0"/>
                                            <a:ea typeface="Roboto" panose="02000000000000000000" pitchFamily="2" charset="0"/>
                                          </a:rPr>
                                        </m:ctrlPr>
                                      </m:dPr>
                                      <m:e>
                                        <m:r>
                                          <a:rPr lang="es-MX" sz="2200" b="0" i="1" smtClean="0">
                                            <a:latin typeface="Cambria Math" panose="02040503050406030204" pitchFamily="18" charset="0"/>
                                            <a:ea typeface="Roboto" panose="02000000000000000000" pitchFamily="2" charset="0"/>
                                          </a:rPr>
                                          <m:t>𝑥</m:t>
                                        </m:r>
                                        <m:r>
                                          <a:rPr lang="es-MX" sz="2200" b="0" i="1" smtClean="0">
                                            <a:latin typeface="Cambria Math" panose="02040503050406030204" pitchFamily="18" charset="0"/>
                                            <a:ea typeface="Roboto" panose="02000000000000000000" pitchFamily="2" charset="0"/>
                                          </a:rPr>
                                          <m:t> </m:t>
                                        </m:r>
                                        <m:r>
                                          <m:rPr>
                                            <m:sty m:val="p"/>
                                          </m:rPr>
                                          <a:rPr lang="es-MX" sz="2200" b="0" i="0" smtClean="0">
                                            <a:latin typeface="Cambria Math" panose="02040503050406030204" pitchFamily="18" charset="0"/>
                                            <a:ea typeface="Roboto" panose="02000000000000000000" pitchFamily="2" charset="0"/>
                                          </a:rPr>
                                          <m:t>es</m:t>
                                        </m:r>
                                        <m:r>
                                          <a:rPr lang="es-MX" sz="2200" b="0" i="0" smtClean="0">
                                            <a:latin typeface="Cambria Math" panose="02040503050406030204" pitchFamily="18" charset="0"/>
                                            <a:ea typeface="Roboto" panose="02000000000000000000" pitchFamily="2" charset="0"/>
                                          </a:rPr>
                                          <m:t> </m:t>
                                        </m:r>
                                        <m:r>
                                          <m:rPr>
                                            <m:sty m:val="p"/>
                                          </m:rPr>
                                          <a:rPr lang="es-MX" sz="2200" b="0" i="0" smtClean="0">
                                            <a:latin typeface="Cambria Math" panose="02040503050406030204" pitchFamily="18" charset="0"/>
                                            <a:ea typeface="Roboto" panose="02000000000000000000" pitchFamily="2" charset="0"/>
                                          </a:rPr>
                                          <m:t>un</m:t>
                                        </m:r>
                                        <m:r>
                                          <a:rPr lang="es-MX" sz="2200" b="0" i="0" smtClean="0">
                                            <a:latin typeface="Cambria Math" panose="02040503050406030204" pitchFamily="18" charset="0"/>
                                            <a:ea typeface="Roboto" panose="02000000000000000000" pitchFamily="2" charset="0"/>
                                          </a:rPr>
                                          <m:t> </m:t>
                                        </m:r>
                                        <m:r>
                                          <m:rPr>
                                            <m:sty m:val="p"/>
                                          </m:rPr>
                                          <a:rPr lang="es-MX" sz="2200" b="0" i="0" smtClean="0">
                                            <a:latin typeface="Cambria Math" panose="02040503050406030204" pitchFamily="18" charset="0"/>
                                            <a:ea typeface="Roboto" panose="02000000000000000000" pitchFamily="2" charset="0"/>
                                          </a:rPr>
                                          <m:t>numero</m:t>
                                        </m:r>
                                        <m:r>
                                          <a:rPr lang="es-MX" sz="2200" b="0" i="0" smtClean="0">
                                            <a:latin typeface="Cambria Math" panose="02040503050406030204" pitchFamily="18" charset="0"/>
                                            <a:ea typeface="Roboto" panose="02000000000000000000" pitchFamily="2" charset="0"/>
                                          </a:rPr>
                                          <m:t> </m:t>
                                        </m:r>
                                        <m:r>
                                          <m:rPr>
                                            <m:sty m:val="p"/>
                                          </m:rPr>
                                          <a:rPr lang="es-MX" sz="2200" b="0" i="0" smtClean="0">
                                            <a:latin typeface="Cambria Math" panose="02040503050406030204" pitchFamily="18" charset="0"/>
                                            <a:ea typeface="Roboto" panose="02000000000000000000" pitchFamily="2" charset="0"/>
                                          </a:rPr>
                                          <m:t>par</m:t>
                                        </m:r>
                                      </m:e>
                                    </m:d>
                                    <m:r>
                                      <a:rPr lang="es-MX" sz="2200" b="0" i="1" smtClean="0">
                                        <a:latin typeface="Cambria Math" panose="02040503050406030204" pitchFamily="18" charset="0"/>
                                        <a:ea typeface="Roboto" panose="02000000000000000000" pitchFamily="2" charset="0"/>
                                      </a:rPr>
                                      <m:t> </m:t>
                                    </m:r>
                                    <m:r>
                                      <m:rPr>
                                        <m:sty m:val="p"/>
                                      </m:rPr>
                                      <a:rPr lang="es-MX" sz="2200" b="0" i="0" smtClean="0">
                                        <a:solidFill>
                                          <a:schemeClr val="tx1"/>
                                        </a:solidFill>
                                        <a:latin typeface="Cambria Math" panose="02040503050406030204" pitchFamily="18" charset="0"/>
                                        <a:ea typeface="Roboto" panose="02000000000000000000" pitchFamily="2" charset="0"/>
                                      </a:rPr>
                                      <m:t>y</m:t>
                                    </m:r>
                                    <m:r>
                                      <a:rPr lang="es-MX" sz="2200" b="0" i="1" smtClean="0">
                                        <a:latin typeface="Cambria Math" panose="02040503050406030204" pitchFamily="18" charset="0"/>
                                        <a:ea typeface="Roboto" panose="02000000000000000000" pitchFamily="2" charset="0"/>
                                      </a:rPr>
                                      <m:t> </m:t>
                                    </m:r>
                                    <m:d>
                                      <m:dPr>
                                        <m:ctrlPr>
                                          <a:rPr lang="es-MX" sz="2200" b="0" i="1" smtClean="0">
                                            <a:solidFill>
                                              <a:schemeClr val="tx1"/>
                                            </a:solidFill>
                                            <a:latin typeface="Cambria Math" panose="02040503050406030204" pitchFamily="18" charset="0"/>
                                            <a:ea typeface="Roboto" panose="02000000000000000000" pitchFamily="2" charset="0"/>
                                          </a:rPr>
                                        </m:ctrlPr>
                                      </m:dPr>
                                      <m:e>
                                        <m:r>
                                          <a:rPr lang="es-MX" sz="2200" b="0" i="1" smtClean="0">
                                            <a:latin typeface="Cambria Math" panose="02040503050406030204" pitchFamily="18" charset="0"/>
                                            <a:ea typeface="Roboto" panose="02000000000000000000" pitchFamily="2" charset="0"/>
                                          </a:rPr>
                                          <m:t>𝑥</m:t>
                                        </m:r>
                                        <m:r>
                                          <a:rPr lang="es-MX" sz="2200" b="0" i="1" smtClean="0">
                                            <a:latin typeface="Cambria Math" panose="02040503050406030204" pitchFamily="18" charset="0"/>
                                            <a:ea typeface="Roboto" panose="02000000000000000000" pitchFamily="2" charset="0"/>
                                          </a:rPr>
                                          <m:t>&lt;10</m:t>
                                        </m:r>
                                      </m:e>
                                    </m:d>
                                  </m:e>
                                </m:d>
                                <m:r>
                                  <a:rPr lang="es-MX" sz="2200" b="0" i="1" smtClean="0">
                                    <a:latin typeface="Cambria Math" panose="02040503050406030204" pitchFamily="18" charset="0"/>
                                    <a:ea typeface="Roboto" panose="02000000000000000000" pitchFamily="2" charset="0"/>
                                  </a:rPr>
                                  <m:t> </m:t>
                                </m:r>
                              </m:oMath>
                            </m:oMathPara>
                          </a14:m>
                          <a:endParaRPr lang="es-CO" sz="2200" dirty="0">
                            <a:latin typeface="+mn-lt"/>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s-CO" sz="2200" dirty="0">
                            <a:latin typeface="+mn-lt"/>
                            <a:ea typeface="Roboto" panose="02000000000000000000" pitchFamily="2" charset="0"/>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200" b="0" i="1" smtClean="0">
                                    <a:latin typeface="Cambria Math" panose="02040503050406030204" pitchFamily="18" charset="0"/>
                                    <a:ea typeface="Roboto" panose="02000000000000000000" pitchFamily="2" charset="0"/>
                                  </a:rPr>
                                  <m:t>𝑃</m:t>
                                </m:r>
                                <m:r>
                                  <a:rPr lang="es-MX" sz="2200" b="0" i="1" smtClean="0">
                                    <a:latin typeface="Cambria Math" panose="02040503050406030204" pitchFamily="18" charset="0"/>
                                    <a:ea typeface="Roboto" panose="02000000000000000000" pitchFamily="2" charset="0"/>
                                  </a:rPr>
                                  <m:t>=</m:t>
                                </m:r>
                                <m:d>
                                  <m:dPr>
                                    <m:begChr m:val="{"/>
                                    <m:endChr m:val="}"/>
                                    <m:ctrlPr>
                                      <a:rPr lang="es-MX" sz="2200" b="0" i="1" smtClean="0">
                                        <a:latin typeface="Cambria Math" panose="02040503050406030204" pitchFamily="18" charset="0"/>
                                        <a:ea typeface="Roboto" panose="02000000000000000000" pitchFamily="2" charset="0"/>
                                      </a:rPr>
                                    </m:ctrlPr>
                                  </m:dPr>
                                  <m:e>
                                    <m:r>
                                      <a:rPr lang="es-MX" sz="2200" b="0" i="1" smtClean="0">
                                        <a:latin typeface="Cambria Math" panose="02040503050406030204" pitchFamily="18" charset="0"/>
                                        <a:ea typeface="Roboto" panose="02000000000000000000" pitchFamily="2" charset="0"/>
                                      </a:rPr>
                                      <m:t>𝑥</m:t>
                                    </m:r>
                                  </m:e>
                                  <m:e>
                                    <m:d>
                                      <m:dPr>
                                        <m:ctrlPr>
                                          <a:rPr lang="es-MX" sz="2200" b="0" i="1" smtClean="0">
                                            <a:latin typeface="Cambria Math" panose="02040503050406030204" pitchFamily="18" charset="0"/>
                                            <a:ea typeface="Roboto" panose="02000000000000000000" pitchFamily="2" charset="0"/>
                                          </a:rPr>
                                        </m:ctrlPr>
                                      </m:dPr>
                                      <m:e>
                                        <m:r>
                                          <a:rPr lang="es-MX" sz="2200" b="0" i="1" smtClean="0">
                                            <a:latin typeface="Cambria Math" panose="02040503050406030204" pitchFamily="18" charset="0"/>
                                            <a:ea typeface="Roboto" panose="02000000000000000000" pitchFamily="2" charset="0"/>
                                          </a:rPr>
                                          <m:t>𝑥</m:t>
                                        </m:r>
                                        <m:r>
                                          <a:rPr lang="es-MX" sz="2200" b="0" i="1" smtClean="0">
                                            <a:latin typeface="Cambria Math" panose="02040503050406030204" pitchFamily="18" charset="0"/>
                                            <a:ea typeface="Roboto" panose="02000000000000000000" pitchFamily="2" charset="0"/>
                                          </a:rPr>
                                          <m:t> </m:t>
                                        </m:r>
                                        <m:r>
                                          <m:rPr>
                                            <m:sty m:val="p"/>
                                          </m:rPr>
                                          <a:rPr lang="es-MX" sz="2200" b="0" i="0" smtClean="0">
                                            <a:latin typeface="Cambria Math" panose="02040503050406030204" pitchFamily="18" charset="0"/>
                                            <a:ea typeface="Roboto" panose="02000000000000000000" pitchFamily="2" charset="0"/>
                                          </a:rPr>
                                          <m:t>es</m:t>
                                        </m:r>
                                        <m:r>
                                          <a:rPr lang="es-MX" sz="2200" b="0" i="0" smtClean="0">
                                            <a:latin typeface="Cambria Math" panose="02040503050406030204" pitchFamily="18" charset="0"/>
                                            <a:ea typeface="Roboto" panose="02000000000000000000" pitchFamily="2" charset="0"/>
                                          </a:rPr>
                                          <m:t> </m:t>
                                        </m:r>
                                        <m:r>
                                          <m:rPr>
                                            <m:sty m:val="p"/>
                                          </m:rPr>
                                          <a:rPr lang="es-MX" sz="2200" b="0" i="0" smtClean="0">
                                            <a:latin typeface="Cambria Math" panose="02040503050406030204" pitchFamily="18" charset="0"/>
                                            <a:ea typeface="Roboto" panose="02000000000000000000" pitchFamily="2" charset="0"/>
                                          </a:rPr>
                                          <m:t>un</m:t>
                                        </m:r>
                                        <m:r>
                                          <a:rPr lang="es-MX" sz="2200" b="0" i="0" smtClean="0">
                                            <a:latin typeface="Cambria Math" panose="02040503050406030204" pitchFamily="18" charset="0"/>
                                            <a:ea typeface="Roboto" panose="02000000000000000000" pitchFamily="2" charset="0"/>
                                          </a:rPr>
                                          <m:t> </m:t>
                                        </m:r>
                                        <m:r>
                                          <m:rPr>
                                            <m:sty m:val="p"/>
                                          </m:rPr>
                                          <a:rPr lang="es-MX" sz="2200" b="0" i="0" smtClean="0">
                                            <a:latin typeface="Cambria Math" panose="02040503050406030204" pitchFamily="18" charset="0"/>
                                            <a:ea typeface="Roboto" panose="02000000000000000000" pitchFamily="2" charset="0"/>
                                          </a:rPr>
                                          <m:t>numero</m:t>
                                        </m:r>
                                        <m:r>
                                          <a:rPr lang="es-MX" sz="2200" b="0" i="0" smtClean="0">
                                            <a:latin typeface="Cambria Math" panose="02040503050406030204" pitchFamily="18" charset="0"/>
                                            <a:ea typeface="Roboto" panose="02000000000000000000" pitchFamily="2" charset="0"/>
                                          </a:rPr>
                                          <m:t> </m:t>
                                        </m:r>
                                        <m:r>
                                          <m:rPr>
                                            <m:sty m:val="p"/>
                                          </m:rPr>
                                          <a:rPr lang="es-MX" sz="2200" b="0" i="0" smtClean="0">
                                            <a:latin typeface="Cambria Math" panose="02040503050406030204" pitchFamily="18" charset="0"/>
                                            <a:ea typeface="Roboto" panose="02000000000000000000" pitchFamily="2" charset="0"/>
                                          </a:rPr>
                                          <m:t>par</m:t>
                                        </m:r>
                                      </m:e>
                                    </m:d>
                                    <m:r>
                                      <a:rPr lang="es-MX" sz="2200" b="0" i="1" smtClean="0">
                                        <a:latin typeface="Cambria Math" panose="02040503050406030204" pitchFamily="18" charset="0"/>
                                        <a:ea typeface="Roboto" panose="02000000000000000000" pitchFamily="2" charset="0"/>
                                      </a:rPr>
                                      <m:t> </m:t>
                                    </m:r>
                                    <m:r>
                                      <m:rPr>
                                        <m:sty m:val="p"/>
                                      </m:rPr>
                                      <a:rPr lang="es-MX" sz="2200" b="0" i="0" smtClean="0">
                                        <a:solidFill>
                                          <a:schemeClr val="tx1"/>
                                        </a:solidFill>
                                        <a:latin typeface="Cambria Math" panose="02040503050406030204" pitchFamily="18" charset="0"/>
                                        <a:ea typeface="Roboto" panose="02000000000000000000" pitchFamily="2" charset="0"/>
                                      </a:rPr>
                                      <m:t>y</m:t>
                                    </m:r>
                                    <m:r>
                                      <a:rPr lang="es-MX" sz="2200" b="0" i="1" smtClean="0">
                                        <a:latin typeface="Cambria Math" panose="02040503050406030204" pitchFamily="18" charset="0"/>
                                        <a:ea typeface="Roboto" panose="02000000000000000000" pitchFamily="2" charset="0"/>
                                      </a:rPr>
                                      <m:t> </m:t>
                                    </m:r>
                                    <m:d>
                                      <m:dPr>
                                        <m:ctrlPr>
                                          <a:rPr lang="es-MX" sz="2200" b="0" i="1" smtClean="0">
                                            <a:solidFill>
                                              <a:schemeClr val="tx1"/>
                                            </a:solidFill>
                                            <a:latin typeface="Cambria Math" panose="02040503050406030204" pitchFamily="18" charset="0"/>
                                            <a:ea typeface="Roboto" panose="02000000000000000000" pitchFamily="2" charset="0"/>
                                          </a:rPr>
                                        </m:ctrlPr>
                                      </m:dPr>
                                      <m:e>
                                        <m:r>
                                          <a:rPr lang="es-MX" sz="2200" b="0" i="1" smtClean="0">
                                            <a:latin typeface="Cambria Math" panose="02040503050406030204" pitchFamily="18" charset="0"/>
                                            <a:ea typeface="Roboto" panose="02000000000000000000" pitchFamily="2" charset="0"/>
                                          </a:rPr>
                                          <m:t>𝑥</m:t>
                                        </m:r>
                                        <m:r>
                                          <a:rPr lang="es-MX" sz="2200" b="0" i="1" smtClean="0">
                                            <a:latin typeface="Cambria Math" panose="02040503050406030204" pitchFamily="18" charset="0"/>
                                            <a:ea typeface="Roboto" panose="02000000000000000000" pitchFamily="2" charset="0"/>
                                          </a:rPr>
                                          <m:t>&lt;10</m:t>
                                        </m:r>
                                      </m:e>
                                    </m:d>
                                  </m:e>
                                </m:d>
                                <m:r>
                                  <a:rPr lang="es-MX" sz="2200" b="0" i="1" smtClean="0">
                                    <a:latin typeface="Cambria Math" panose="02040503050406030204" pitchFamily="18" charset="0"/>
                                    <a:ea typeface="Roboto" panose="02000000000000000000" pitchFamily="2" charset="0"/>
                                  </a:rPr>
                                  <m:t> </m:t>
                                </m:r>
                              </m:oMath>
                            </m:oMathPara>
                          </a14:m>
                          <a:endParaRPr lang="es-CO" sz="2200" dirty="0">
                            <a:latin typeface="+mn-lt"/>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0494410"/>
                      </a:ext>
                    </a:extLst>
                  </a:tr>
                </a:tbl>
              </a:graphicData>
            </a:graphic>
          </p:graphicFrame>
        </mc:Choice>
        <mc:Fallback xmlns="">
          <p:graphicFrame>
            <p:nvGraphicFramePr>
              <p:cNvPr id="2" name="Tabla 2">
                <a:extLst>
                  <a:ext uri="{FF2B5EF4-FFF2-40B4-BE49-F238E27FC236}">
                    <a16:creationId xmlns:a16="http://schemas.microsoft.com/office/drawing/2014/main" id="{3D0DFBC8-51C0-4FED-BB5B-1569C3422039}"/>
                  </a:ext>
                </a:extLst>
              </p:cNvPr>
              <p:cNvGraphicFramePr>
                <a:graphicFrameLocks noGrp="1"/>
              </p:cNvGraphicFramePr>
              <p:nvPr>
                <p:extLst>
                  <p:ext uri="{D42A27DB-BD31-4B8C-83A1-F6EECF244321}">
                    <p14:modId xmlns:p14="http://schemas.microsoft.com/office/powerpoint/2010/main" val="3948795123"/>
                  </p:ext>
                </p:extLst>
              </p:nvPr>
            </p:nvGraphicFramePr>
            <p:xfrm>
              <a:off x="616976" y="1495935"/>
              <a:ext cx="11299721" cy="5090160"/>
            </p:xfrm>
            <a:graphic>
              <a:graphicData uri="http://schemas.openxmlformats.org/drawingml/2006/table">
                <a:tbl>
                  <a:tblPr firstRow="1" bandRow="1">
                    <a:tableStyleId>{AD6A3598-7CB8-4345-8D95-17CE05F158A0}</a:tableStyleId>
                  </a:tblPr>
                  <a:tblGrid>
                    <a:gridCol w="2155521">
                      <a:extLst>
                        <a:ext uri="{9D8B030D-6E8A-4147-A177-3AD203B41FA5}">
                          <a16:colId xmlns:a16="http://schemas.microsoft.com/office/drawing/2014/main" val="2736028519"/>
                        </a:ext>
                      </a:extLst>
                    </a:gridCol>
                    <a:gridCol w="3731542">
                      <a:extLst>
                        <a:ext uri="{9D8B030D-6E8A-4147-A177-3AD203B41FA5}">
                          <a16:colId xmlns:a16="http://schemas.microsoft.com/office/drawing/2014/main" val="4008718241"/>
                        </a:ext>
                      </a:extLst>
                    </a:gridCol>
                    <a:gridCol w="634183">
                      <a:extLst>
                        <a:ext uri="{9D8B030D-6E8A-4147-A177-3AD203B41FA5}">
                          <a16:colId xmlns:a16="http://schemas.microsoft.com/office/drawing/2014/main" val="2043361054"/>
                        </a:ext>
                      </a:extLst>
                    </a:gridCol>
                    <a:gridCol w="4778475">
                      <a:extLst>
                        <a:ext uri="{9D8B030D-6E8A-4147-A177-3AD203B41FA5}">
                          <a16:colId xmlns:a16="http://schemas.microsoft.com/office/drawing/2014/main" val="1293588490"/>
                        </a:ext>
                      </a:extLst>
                    </a:gridCol>
                  </a:tblGrid>
                  <a:tr h="426720">
                    <a:tc>
                      <a:txBody>
                        <a:bodyPr/>
                        <a:lstStyle/>
                        <a:p>
                          <a:pPr algn="ctr"/>
                          <a:r>
                            <a:rPr lang="es-CO" sz="2200" b="1" dirty="0">
                              <a:solidFill>
                                <a:schemeClr val="bg1"/>
                              </a:solidFill>
                              <a:latin typeface="+mn-lt"/>
                              <a:ea typeface="Roboto" panose="02000000000000000000" pitchFamily="2" charset="0"/>
                            </a:rPr>
                            <a:t>Característica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gridSpan="2">
                      <a:txBody>
                        <a:bodyPr/>
                        <a:lstStyle/>
                        <a:p>
                          <a:pPr algn="ctr"/>
                          <a:r>
                            <a:rPr lang="es-CO" sz="2200" b="1" dirty="0">
                              <a:solidFill>
                                <a:schemeClr val="bg1"/>
                              </a:solidFill>
                              <a:latin typeface="+mn-lt"/>
                              <a:ea typeface="Roboto" panose="02000000000000000000" pitchFamily="2" charset="0"/>
                            </a:rPr>
                            <a:t>Por extensión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hMerge="1">
                      <a:txBody>
                        <a:bodyPr/>
                        <a:lstStyle/>
                        <a:p>
                          <a:pPr algn="ctr"/>
                          <a:endParaRPr lang="es-CO" sz="2200" b="1" dirty="0">
                            <a:solidFill>
                              <a:schemeClr val="bg1"/>
                            </a:solidFill>
                            <a:latin typeface="+mn-lt"/>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ctr"/>
                          <a:r>
                            <a:rPr lang="es-CO" sz="2200" b="1" dirty="0">
                              <a:solidFill>
                                <a:schemeClr val="bg1"/>
                              </a:solidFill>
                              <a:latin typeface="+mn-lt"/>
                              <a:ea typeface="Roboto" panose="02000000000000000000" pitchFamily="2" charset="0"/>
                            </a:rPr>
                            <a:t>Por comprensión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393268782"/>
                      </a:ext>
                    </a:extLst>
                  </a:tr>
                  <a:tr h="762000">
                    <a:tc>
                      <a:txBody>
                        <a:bodyPr/>
                        <a:lstStyle/>
                        <a:p>
                          <a:pPr algn="ctr"/>
                          <a:r>
                            <a:rPr lang="es-CO" sz="2200" b="1" dirty="0">
                              <a:latin typeface="+mn-lt"/>
                              <a:ea typeface="Roboto" panose="02000000000000000000" pitchFamily="2" charset="0"/>
                            </a:rPr>
                            <a:t>Descripción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2">
                      <a:txBody>
                        <a:bodyPr/>
                        <a:lstStyle/>
                        <a:p>
                          <a:r>
                            <a:rPr lang="es-MX" sz="2200" dirty="0">
                              <a:latin typeface="+mn-lt"/>
                            </a:rPr>
                            <a:t>Enumera todos los elementos del conjunto</a:t>
                          </a:r>
                          <a:endParaRPr lang="es-CO" sz="2200" dirty="0">
                            <a:latin typeface="+mn-lt"/>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s-CO" sz="2200" dirty="0">
                            <a:latin typeface="+mn-lt"/>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s-MX" sz="2200">
                              <a:latin typeface="+mn-lt"/>
                            </a:rPr>
                            <a:t>Describe los elementos mediante una propiedad o condición</a:t>
                          </a:r>
                          <a:endParaRPr lang="es-CO" sz="2200" dirty="0">
                            <a:latin typeface="+mn-lt"/>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6472577"/>
                      </a:ext>
                    </a:extLst>
                  </a:tr>
                  <a:tr h="426720">
                    <a:tc>
                      <a:txBody>
                        <a:bodyPr/>
                        <a:lstStyle/>
                        <a:p>
                          <a:pPr algn="ctr"/>
                          <a:r>
                            <a:rPr lang="es-CO" sz="2200" b="1" dirty="0">
                              <a:latin typeface="+mn-lt"/>
                              <a:ea typeface="Roboto" panose="02000000000000000000" pitchFamily="2" charset="0"/>
                            </a:rPr>
                            <a:t>Forma general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2">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9581" t="-287143" r="-109777" b="-824286"/>
                          </a:stretch>
                        </a:blipFill>
                      </a:tcPr>
                    </a:tc>
                    <a:tc hMerge="1">
                      <a:txBody>
                        <a:bodyPr/>
                        <a:lstStyle/>
                        <a:p>
                          <a:pPr/>
                          <a:endParaRPr lang="es-CO" sz="2200" dirty="0">
                            <a:latin typeface="+mn-lt"/>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36607" t="-287143" r="-255" b="-824286"/>
                          </a:stretch>
                        </a:blipFill>
                      </a:tcPr>
                    </a:tc>
                    <a:extLst>
                      <a:ext uri="{0D108BD9-81ED-4DB2-BD59-A6C34878D82A}">
                        <a16:rowId xmlns:a16="http://schemas.microsoft.com/office/drawing/2014/main" val="1713460725"/>
                      </a:ext>
                    </a:extLst>
                  </a:tr>
                  <a:tr h="762000">
                    <a:tc>
                      <a:txBody>
                        <a:bodyPr/>
                        <a:lstStyle/>
                        <a:p>
                          <a:pPr algn="ctr"/>
                          <a:r>
                            <a:rPr lang="es-CO" sz="2200" b="1" dirty="0">
                              <a:latin typeface="+mn-lt"/>
                              <a:ea typeface="Roboto" panose="02000000000000000000" pitchFamily="2" charset="0"/>
                            </a:rPr>
                            <a:t>Uso principal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2">
                      <a:txBody>
                        <a:bodyPr/>
                        <a:lstStyle/>
                        <a:p>
                          <a:r>
                            <a:rPr lang="es-CO" sz="2200" b="0" dirty="0">
                              <a:latin typeface="+mn-lt"/>
                              <a:ea typeface="Roboto" panose="02000000000000000000" pitchFamily="2" charset="0"/>
                            </a:rPr>
                            <a:t>Conjuntos pequeños y finitos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s-CO" sz="2200" b="0" dirty="0">
                            <a:latin typeface="+mn-lt"/>
                            <a:ea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s-CO" sz="2200" b="0" dirty="0">
                              <a:latin typeface="+mn-lt"/>
                              <a:ea typeface="Roboto" panose="02000000000000000000" pitchFamily="2" charset="0"/>
                            </a:rPr>
                            <a:t>Conjuntos grandes o infinitos, o con reglas definidas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43502662"/>
                      </a:ext>
                    </a:extLst>
                  </a:tr>
                  <a:tr h="426720">
                    <a:tc rowSpan="4">
                      <a:txBody>
                        <a:bodyPr/>
                        <a:lstStyle/>
                        <a:p>
                          <a:pPr algn="ctr"/>
                          <a:r>
                            <a:rPr lang="es-CO" sz="2200" b="1" dirty="0">
                              <a:latin typeface="+mn-lt"/>
                              <a:ea typeface="Roboto" panose="02000000000000000000" pitchFamily="2" charset="0"/>
                            </a:rPr>
                            <a:t>Ejemplos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2200" b="1" dirty="0">
                              <a:latin typeface="+mn-lt"/>
                              <a:ea typeface="Roboto" panose="02000000000000000000" pitchFamily="2" charset="0"/>
                            </a:rPr>
                            <a:t>Vocales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s-CO"/>
                        </a:p>
                      </a:txBody>
                      <a:tcPr/>
                    </a:tc>
                    <a:tc hMerge="1">
                      <a:txBody>
                        <a:bodyPr/>
                        <a:lstStyle/>
                        <a:p>
                          <a:endParaRPr lang="es-CO"/>
                        </a:p>
                      </a:txBody>
                      <a:tcPr/>
                    </a:tc>
                    <a:extLst>
                      <a:ext uri="{0D108BD9-81ED-4DB2-BD59-A6C34878D82A}">
                        <a16:rowId xmlns:a16="http://schemas.microsoft.com/office/drawing/2014/main" val="2359163412"/>
                      </a:ext>
                    </a:extLst>
                  </a:tr>
                  <a:tr h="1097280">
                    <a:tc vMerge="1">
                      <a:txBody>
                        <a:bodyPr/>
                        <a:lstStyle/>
                        <a:p>
                          <a:r>
                            <a:rPr lang="es-CO" dirty="0">
                              <a:latin typeface="Roboto" panose="02000000000000000000" pitchFamily="2" charset="0"/>
                              <a:ea typeface="Roboto" panose="02000000000000000000" pitchFamily="2" charset="0"/>
                            </a:rPr>
                            <a:t>Ejemplos</a:t>
                          </a:r>
                        </a:p>
                      </a:txBody>
                      <a:tcPr/>
                    </a:tc>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8007" t="-259444" r="-145425" b="-111667"/>
                          </a:stretch>
                        </a:blipFill>
                      </a:tcPr>
                    </a:tc>
                    <a:tc gridSpan="2">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8896" t="-259444" r="-225" b="-111667"/>
                          </a:stretch>
                        </a:blipFill>
                      </a:tcPr>
                    </a:tc>
                    <a:tc hMerge="1">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MX" sz="2200" b="0" i="1" dirty="0">
                            <a:latin typeface="+mn-lt"/>
                            <a:ea typeface="Roboto" panose="02000000000000000000" pitchFamily="2" charset="0"/>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xmlns:a14="http://schemas.microsoft.com/office/drawing/2010/main">
                            <m:oMathPara xmlns:m="http://schemas.openxmlformats.org/officeDocument/2006/math">
                              <m:oMathParaPr>
                                <m:jc m:val="centerGroup"/>
                              </m:oMathParaPr>
                              <m:oMath xmlns:m="http://schemas.openxmlformats.org/officeDocument/2006/math">
                                <m:r>
                                  <a:rPr lang="es-MX" sz="2200" b="0" i="1" smtClean="0">
                                    <a:latin typeface="Cambria Math" panose="02040503050406030204" pitchFamily="18" charset="0"/>
                                    <a:ea typeface="Roboto" panose="02000000000000000000" pitchFamily="2" charset="0"/>
                                  </a:rPr>
                                  <m:t>𝑉</m:t>
                                </m:r>
                                <m:r>
                                  <a:rPr lang="es-MX" sz="2200" b="0" i="1" smtClean="0">
                                    <a:latin typeface="Cambria Math" panose="02040503050406030204" pitchFamily="18" charset="0"/>
                                    <a:ea typeface="Roboto" panose="02000000000000000000" pitchFamily="2" charset="0"/>
                                  </a:rPr>
                                  <m:t>=</m:t>
                                </m:r>
                                <m:d>
                                  <m:dPr>
                                    <m:begChr m:val="{"/>
                                    <m:endChr m:val="}"/>
                                    <m:ctrlPr>
                                      <a:rPr lang="es-MX" sz="2200" b="0" i="1" smtClean="0">
                                        <a:latin typeface="Cambria Math" panose="02040503050406030204" pitchFamily="18" charset="0"/>
                                        <a:ea typeface="Roboto" panose="02000000000000000000" pitchFamily="2" charset="0"/>
                                      </a:rPr>
                                    </m:ctrlPr>
                                  </m:dPr>
                                  <m:e>
                                    <m:r>
                                      <a:rPr lang="es-MX" sz="2200" b="0" i="1" smtClean="0">
                                        <a:latin typeface="Cambria Math" panose="02040503050406030204" pitchFamily="18" charset="0"/>
                                        <a:ea typeface="Roboto" panose="02000000000000000000" pitchFamily="2" charset="0"/>
                                      </a:rPr>
                                      <m:t>𝑥</m:t>
                                    </m:r>
                                  </m:e>
                                  <m:e>
                                    <m:r>
                                      <a:rPr lang="es-MX" sz="2200" b="0" i="1" smtClean="0">
                                        <a:latin typeface="Cambria Math" panose="02040503050406030204" pitchFamily="18" charset="0"/>
                                        <a:ea typeface="Roboto" panose="02000000000000000000" pitchFamily="2" charset="0"/>
                                      </a:rPr>
                                      <m:t>𝑥</m:t>
                                    </m:r>
                                    <m:r>
                                      <a:rPr lang="es-MX" sz="2200" b="0" i="1" smtClean="0">
                                        <a:latin typeface="Cambria Math" panose="02040503050406030204" pitchFamily="18" charset="0"/>
                                        <a:ea typeface="Roboto" panose="02000000000000000000" pitchFamily="2" charset="0"/>
                                      </a:rPr>
                                      <m:t> </m:t>
                                    </m:r>
                                    <m:r>
                                      <m:rPr>
                                        <m:sty m:val="p"/>
                                      </m:rPr>
                                      <a:rPr lang="es-MX" sz="2200" b="0" i="0" smtClean="0">
                                        <a:latin typeface="Cambria Math" panose="02040503050406030204" pitchFamily="18" charset="0"/>
                                        <a:ea typeface="Roboto" panose="02000000000000000000" pitchFamily="2" charset="0"/>
                                      </a:rPr>
                                      <m:t>es</m:t>
                                    </m:r>
                                    <m:r>
                                      <a:rPr lang="es-MX" sz="2200" b="0" i="0" smtClean="0">
                                        <a:latin typeface="Cambria Math" panose="02040503050406030204" pitchFamily="18" charset="0"/>
                                        <a:ea typeface="Roboto" panose="02000000000000000000" pitchFamily="2" charset="0"/>
                                      </a:rPr>
                                      <m:t> </m:t>
                                    </m:r>
                                    <m:r>
                                      <m:rPr>
                                        <m:sty m:val="p"/>
                                      </m:rPr>
                                      <a:rPr lang="es-MX" sz="2200" b="0" i="0" smtClean="0">
                                        <a:latin typeface="Cambria Math" panose="02040503050406030204" pitchFamily="18" charset="0"/>
                                        <a:ea typeface="Roboto" panose="02000000000000000000" pitchFamily="2" charset="0"/>
                                      </a:rPr>
                                      <m:t>una</m:t>
                                    </m:r>
                                    <m:r>
                                      <a:rPr lang="es-MX" sz="2200" b="0" i="0" smtClean="0">
                                        <a:latin typeface="Cambria Math" panose="02040503050406030204" pitchFamily="18" charset="0"/>
                                        <a:ea typeface="Roboto" panose="02000000000000000000" pitchFamily="2" charset="0"/>
                                      </a:rPr>
                                      <m:t> </m:t>
                                    </m:r>
                                    <m:r>
                                      <m:rPr>
                                        <m:sty m:val="p"/>
                                      </m:rPr>
                                      <a:rPr lang="es-MX" sz="2200" b="0" i="0" smtClean="0">
                                        <a:latin typeface="Cambria Math" panose="02040503050406030204" pitchFamily="18" charset="0"/>
                                        <a:ea typeface="Roboto" panose="02000000000000000000" pitchFamily="2" charset="0"/>
                                      </a:rPr>
                                      <m:t>vocal</m:t>
                                    </m:r>
                                  </m:e>
                                </m:d>
                              </m:oMath>
                            </m:oMathPara>
                          </a14:m>
                          <a:endParaRPr lang="es-CO" sz="2200" dirty="0">
                            <a:latin typeface="+mn-lt"/>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1051598"/>
                      </a:ext>
                    </a:extLst>
                  </a:tr>
                  <a:tr h="426720">
                    <a:tc vMerge="1">
                      <a:txBody>
                        <a:bodyPr/>
                        <a:lstStyle/>
                        <a:p>
                          <a:endParaRPr lang="es-CO" dirty="0">
                            <a:latin typeface="Roboto" panose="02000000000000000000" pitchFamily="2" charset="0"/>
                            <a:ea typeface="Roboto" panose="02000000000000000000" pitchFamily="2" charset="0"/>
                          </a:endParaRPr>
                        </a:p>
                      </a:txBody>
                      <a:tcPr/>
                    </a:tc>
                    <a:tc gridSpan="3">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2200" b="1" dirty="0">
                              <a:latin typeface="+mn-lt"/>
                              <a:ea typeface="Roboto" panose="02000000000000000000" pitchFamily="2" charset="0"/>
                            </a:rPr>
                            <a:t>Números positivos pares menores que 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s-CO"/>
                        </a:p>
                      </a:txBody>
                      <a:tcPr/>
                    </a:tc>
                    <a:tc hMerge="1">
                      <a:txBody>
                        <a:bodyPr/>
                        <a:lstStyle/>
                        <a:p>
                          <a:endParaRPr lang="es-CO"/>
                        </a:p>
                      </a:txBody>
                      <a:tcPr/>
                    </a:tc>
                    <a:extLst>
                      <a:ext uri="{0D108BD9-81ED-4DB2-BD59-A6C34878D82A}">
                        <a16:rowId xmlns:a16="http://schemas.microsoft.com/office/drawing/2014/main" val="354108310"/>
                      </a:ext>
                    </a:extLst>
                  </a:tr>
                  <a:tr h="762000">
                    <a:tc vMerge="1">
                      <a:txBody>
                        <a:bodyPr/>
                        <a:lstStyle/>
                        <a:p>
                          <a:endParaRPr lang="es-CO" dirty="0">
                            <a:latin typeface="Roboto" panose="02000000000000000000" pitchFamily="2" charset="0"/>
                            <a:ea typeface="Roboto" panose="02000000000000000000" pitchFamily="2" charset="0"/>
                          </a:endParaRPr>
                        </a:p>
                      </a:txBody>
                      <a:tcPr/>
                    </a:tc>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8007" t="-573600" r="-145425" b="-4800"/>
                          </a:stretch>
                        </a:blipFill>
                      </a:tcPr>
                    </a:tc>
                    <a:tc gridSpan="2">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8896" t="-573600" r="-225" b="-4800"/>
                          </a:stretch>
                        </a:blipFill>
                      </a:tcPr>
                    </a:tc>
                    <a:tc hMerge="1">
                      <a:txBody>
                        <a:bodyPr/>
                        <a:lstStyle/>
                        <a:p>
                          <a:endParaRPr lang="es-CO" sz="2200" dirty="0">
                            <a:latin typeface="+mn-lt"/>
                            <a:ea typeface="Roboto" panose="02000000000000000000" pitchFamily="2" charset="0"/>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xmlns:a14="http://schemas.microsoft.com/office/drawing/2010/main">
                            <m:oMathPara xmlns:m="http://schemas.openxmlformats.org/officeDocument/2006/math">
                              <m:oMathParaPr>
                                <m:jc m:val="centerGroup"/>
                              </m:oMathParaPr>
                              <m:oMath xmlns:m="http://schemas.openxmlformats.org/officeDocument/2006/math">
                                <m:r>
                                  <a:rPr lang="es-MX" sz="2200" b="0" i="1" smtClean="0">
                                    <a:latin typeface="Cambria Math" panose="02040503050406030204" pitchFamily="18" charset="0"/>
                                    <a:ea typeface="Roboto" panose="02000000000000000000" pitchFamily="2" charset="0"/>
                                  </a:rPr>
                                  <m:t>𝑃</m:t>
                                </m:r>
                                <m:r>
                                  <a:rPr lang="es-MX" sz="2200" b="0" i="1" smtClean="0">
                                    <a:latin typeface="Cambria Math" panose="02040503050406030204" pitchFamily="18" charset="0"/>
                                    <a:ea typeface="Roboto" panose="02000000000000000000" pitchFamily="2" charset="0"/>
                                  </a:rPr>
                                  <m:t>=</m:t>
                                </m:r>
                                <m:d>
                                  <m:dPr>
                                    <m:begChr m:val="{"/>
                                    <m:endChr m:val="}"/>
                                    <m:ctrlPr>
                                      <a:rPr lang="es-MX" sz="2200" b="0" i="1" smtClean="0">
                                        <a:latin typeface="Cambria Math" panose="02040503050406030204" pitchFamily="18" charset="0"/>
                                        <a:ea typeface="Roboto" panose="02000000000000000000" pitchFamily="2" charset="0"/>
                                      </a:rPr>
                                    </m:ctrlPr>
                                  </m:dPr>
                                  <m:e>
                                    <m:r>
                                      <a:rPr lang="es-MX" sz="2200" b="0" i="1" smtClean="0">
                                        <a:latin typeface="Cambria Math" panose="02040503050406030204" pitchFamily="18" charset="0"/>
                                        <a:ea typeface="Roboto" panose="02000000000000000000" pitchFamily="2" charset="0"/>
                                      </a:rPr>
                                      <m:t>𝑥</m:t>
                                    </m:r>
                                  </m:e>
                                  <m:e>
                                    <m:d>
                                      <m:dPr>
                                        <m:ctrlPr>
                                          <a:rPr lang="es-MX" sz="2200" b="0" i="1" smtClean="0">
                                            <a:latin typeface="Cambria Math" panose="02040503050406030204" pitchFamily="18" charset="0"/>
                                            <a:ea typeface="Roboto" panose="02000000000000000000" pitchFamily="2" charset="0"/>
                                          </a:rPr>
                                        </m:ctrlPr>
                                      </m:dPr>
                                      <m:e>
                                        <m:r>
                                          <a:rPr lang="es-MX" sz="2200" b="0" i="1" smtClean="0">
                                            <a:latin typeface="Cambria Math" panose="02040503050406030204" pitchFamily="18" charset="0"/>
                                            <a:ea typeface="Roboto" panose="02000000000000000000" pitchFamily="2" charset="0"/>
                                          </a:rPr>
                                          <m:t>𝑥</m:t>
                                        </m:r>
                                        <m:r>
                                          <a:rPr lang="es-MX" sz="2200" b="0" i="1" smtClean="0">
                                            <a:latin typeface="Cambria Math" panose="02040503050406030204" pitchFamily="18" charset="0"/>
                                            <a:ea typeface="Roboto" panose="02000000000000000000" pitchFamily="2" charset="0"/>
                                          </a:rPr>
                                          <m:t> </m:t>
                                        </m:r>
                                        <m:r>
                                          <m:rPr>
                                            <m:sty m:val="p"/>
                                          </m:rPr>
                                          <a:rPr lang="es-MX" sz="2200" b="0" i="0" smtClean="0">
                                            <a:latin typeface="Cambria Math" panose="02040503050406030204" pitchFamily="18" charset="0"/>
                                            <a:ea typeface="Roboto" panose="02000000000000000000" pitchFamily="2" charset="0"/>
                                          </a:rPr>
                                          <m:t>es</m:t>
                                        </m:r>
                                        <m:r>
                                          <a:rPr lang="es-MX" sz="2200" b="0" i="0" smtClean="0">
                                            <a:latin typeface="Cambria Math" panose="02040503050406030204" pitchFamily="18" charset="0"/>
                                            <a:ea typeface="Roboto" panose="02000000000000000000" pitchFamily="2" charset="0"/>
                                          </a:rPr>
                                          <m:t> </m:t>
                                        </m:r>
                                        <m:r>
                                          <m:rPr>
                                            <m:sty m:val="p"/>
                                          </m:rPr>
                                          <a:rPr lang="es-MX" sz="2200" b="0" i="0" smtClean="0">
                                            <a:latin typeface="Cambria Math" panose="02040503050406030204" pitchFamily="18" charset="0"/>
                                            <a:ea typeface="Roboto" panose="02000000000000000000" pitchFamily="2" charset="0"/>
                                          </a:rPr>
                                          <m:t>un</m:t>
                                        </m:r>
                                        <m:r>
                                          <a:rPr lang="es-MX" sz="2200" b="0" i="0" smtClean="0">
                                            <a:latin typeface="Cambria Math" panose="02040503050406030204" pitchFamily="18" charset="0"/>
                                            <a:ea typeface="Roboto" panose="02000000000000000000" pitchFamily="2" charset="0"/>
                                          </a:rPr>
                                          <m:t> </m:t>
                                        </m:r>
                                        <m:r>
                                          <m:rPr>
                                            <m:sty m:val="p"/>
                                          </m:rPr>
                                          <a:rPr lang="es-MX" sz="2200" b="0" i="0" smtClean="0">
                                            <a:latin typeface="Cambria Math" panose="02040503050406030204" pitchFamily="18" charset="0"/>
                                            <a:ea typeface="Roboto" panose="02000000000000000000" pitchFamily="2" charset="0"/>
                                          </a:rPr>
                                          <m:t>numero</m:t>
                                        </m:r>
                                        <m:r>
                                          <a:rPr lang="es-MX" sz="2200" b="0" i="0" smtClean="0">
                                            <a:latin typeface="Cambria Math" panose="02040503050406030204" pitchFamily="18" charset="0"/>
                                            <a:ea typeface="Roboto" panose="02000000000000000000" pitchFamily="2" charset="0"/>
                                          </a:rPr>
                                          <m:t> </m:t>
                                        </m:r>
                                        <m:r>
                                          <m:rPr>
                                            <m:sty m:val="p"/>
                                          </m:rPr>
                                          <a:rPr lang="es-MX" sz="2200" b="0" i="0" smtClean="0">
                                            <a:latin typeface="Cambria Math" panose="02040503050406030204" pitchFamily="18" charset="0"/>
                                            <a:ea typeface="Roboto" panose="02000000000000000000" pitchFamily="2" charset="0"/>
                                          </a:rPr>
                                          <m:t>par</m:t>
                                        </m:r>
                                      </m:e>
                                    </m:d>
                                    <m:r>
                                      <a:rPr lang="es-MX" sz="2200" b="0" i="1" smtClean="0">
                                        <a:latin typeface="Cambria Math" panose="02040503050406030204" pitchFamily="18" charset="0"/>
                                        <a:ea typeface="Roboto" panose="02000000000000000000" pitchFamily="2" charset="0"/>
                                      </a:rPr>
                                      <m:t> </m:t>
                                    </m:r>
                                    <m:r>
                                      <m:rPr>
                                        <m:sty m:val="p"/>
                                      </m:rPr>
                                      <a:rPr lang="es-MX" sz="2200" b="0" i="0" smtClean="0">
                                        <a:solidFill>
                                          <a:schemeClr val="tx1"/>
                                        </a:solidFill>
                                        <a:latin typeface="Cambria Math" panose="02040503050406030204" pitchFamily="18" charset="0"/>
                                        <a:ea typeface="Roboto" panose="02000000000000000000" pitchFamily="2" charset="0"/>
                                      </a:rPr>
                                      <m:t>y</m:t>
                                    </m:r>
                                    <m:r>
                                      <a:rPr lang="es-MX" sz="2200" b="0" i="1" smtClean="0">
                                        <a:latin typeface="Cambria Math" panose="02040503050406030204" pitchFamily="18" charset="0"/>
                                        <a:ea typeface="Roboto" panose="02000000000000000000" pitchFamily="2" charset="0"/>
                                      </a:rPr>
                                      <m:t> </m:t>
                                    </m:r>
                                    <m:d>
                                      <m:dPr>
                                        <m:ctrlPr>
                                          <a:rPr lang="es-MX" sz="2200" b="0" i="1" smtClean="0">
                                            <a:solidFill>
                                              <a:schemeClr val="tx1"/>
                                            </a:solidFill>
                                            <a:latin typeface="Cambria Math" panose="02040503050406030204" pitchFamily="18" charset="0"/>
                                            <a:ea typeface="Roboto" panose="02000000000000000000" pitchFamily="2" charset="0"/>
                                          </a:rPr>
                                        </m:ctrlPr>
                                      </m:dPr>
                                      <m:e>
                                        <m:r>
                                          <a:rPr lang="es-MX" sz="2200" b="0" i="1" smtClean="0">
                                            <a:latin typeface="Cambria Math" panose="02040503050406030204" pitchFamily="18" charset="0"/>
                                            <a:ea typeface="Roboto" panose="02000000000000000000" pitchFamily="2" charset="0"/>
                                          </a:rPr>
                                          <m:t>𝑥</m:t>
                                        </m:r>
                                        <m:r>
                                          <a:rPr lang="es-MX" sz="2200" b="0" i="1" smtClean="0">
                                            <a:latin typeface="Cambria Math" panose="02040503050406030204" pitchFamily="18" charset="0"/>
                                            <a:ea typeface="Roboto" panose="02000000000000000000" pitchFamily="2" charset="0"/>
                                          </a:rPr>
                                          <m:t>&lt;10</m:t>
                                        </m:r>
                                      </m:e>
                                    </m:d>
                                  </m:e>
                                </m:d>
                                <m:r>
                                  <a:rPr lang="es-MX" sz="2200" b="0" i="1" smtClean="0">
                                    <a:latin typeface="Cambria Math" panose="02040503050406030204" pitchFamily="18" charset="0"/>
                                    <a:ea typeface="Roboto" panose="02000000000000000000" pitchFamily="2" charset="0"/>
                                  </a:rPr>
                                  <m:t> </m:t>
                                </m:r>
                              </m:oMath>
                            </m:oMathPara>
                          </a14:m>
                          <a:endParaRPr lang="es-CO" sz="2200" dirty="0">
                            <a:latin typeface="+mn-lt"/>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0494410"/>
                      </a:ext>
                    </a:extLst>
                  </a:tr>
                </a:tbl>
              </a:graphicData>
            </a:graphic>
          </p:graphicFrame>
        </mc:Fallback>
      </mc:AlternateContent>
    </p:spTree>
    <p:extLst>
      <p:ext uri="{BB962C8B-B14F-4D97-AF65-F5344CB8AC3E}">
        <p14:creationId xmlns:p14="http://schemas.microsoft.com/office/powerpoint/2010/main" val="16322438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26"/>
          <p:cNvSpPr txBox="1">
            <a:spLocks noGrp="1"/>
          </p:cNvSpPr>
          <p:nvPr>
            <p:ph type="title"/>
          </p:nvPr>
        </p:nvSpPr>
        <p:spPr>
          <a:xfrm>
            <a:off x="501445" y="96038"/>
            <a:ext cx="8719205"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t>Conceptos básicos - Ejemplos</a:t>
            </a:r>
            <a:endParaRPr dirty="0"/>
          </a:p>
        </p:txBody>
      </p:sp>
      <p:sp>
        <p:nvSpPr>
          <p:cNvPr id="8" name="Google Shape;310;p34">
            <a:extLst>
              <a:ext uri="{FF2B5EF4-FFF2-40B4-BE49-F238E27FC236}">
                <a16:creationId xmlns:a16="http://schemas.microsoft.com/office/drawing/2014/main" id="{F6716F76-3AFE-471D-B156-0250FFA69F6E}"/>
              </a:ext>
            </a:extLst>
          </p:cNvPr>
          <p:cNvSpPr txBox="1">
            <a:spLocks/>
          </p:cNvSpPr>
          <p:nvPr/>
        </p:nvSpPr>
        <p:spPr>
          <a:xfrm>
            <a:off x="368710" y="965649"/>
            <a:ext cx="11606979" cy="477922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584200" indent="-457200">
              <a:buFont typeface="+mj-lt"/>
              <a:buAutoNum type="arabicPeriod"/>
            </a:pPr>
            <a:r>
              <a:rPr lang="es-MX" sz="2200" dirty="0">
                <a:latin typeface="+mn-lt"/>
                <a:ea typeface="Roboto" panose="02000000000000000000" pitchFamily="2" charset="0"/>
              </a:rPr>
              <a:t>Escriba los siguientes conjuntos empleando las notaciones por extensión y comprensión:</a:t>
            </a:r>
          </a:p>
          <a:p>
            <a:pPr marL="1041400" lvl="1" indent="-457200">
              <a:buFont typeface="+mj-lt"/>
              <a:buAutoNum type="alphaLcPeriod"/>
            </a:pPr>
            <a:r>
              <a:rPr lang="es-MX" sz="2000" dirty="0">
                <a:latin typeface="+mn-lt"/>
                <a:ea typeface="Roboto" panose="02000000000000000000" pitchFamily="2" charset="0"/>
              </a:rPr>
              <a:t>El conjunto de todas las vocales.</a:t>
            </a:r>
          </a:p>
          <a:p>
            <a:pPr marL="1041400" lvl="1" indent="-457200">
              <a:buFont typeface="+mj-lt"/>
              <a:buAutoNum type="alphaLcPeriod"/>
            </a:pPr>
            <a:endParaRPr lang="es-MX" sz="2000" dirty="0">
              <a:latin typeface="+mn-lt"/>
              <a:ea typeface="Roboto" panose="02000000000000000000" pitchFamily="2" charset="0"/>
            </a:endParaRPr>
          </a:p>
          <a:p>
            <a:pPr marL="1041400" lvl="1" indent="-457200">
              <a:buFont typeface="+mj-lt"/>
              <a:buAutoNum type="alphaLcPeriod"/>
            </a:pPr>
            <a:endParaRPr lang="es-MX" sz="2000" dirty="0">
              <a:latin typeface="+mn-lt"/>
              <a:ea typeface="Roboto" panose="02000000000000000000" pitchFamily="2" charset="0"/>
            </a:endParaRPr>
          </a:p>
          <a:p>
            <a:pPr marL="1041400" lvl="1" indent="-457200">
              <a:buFont typeface="+mj-lt"/>
              <a:buAutoNum type="alphaLcPeriod"/>
            </a:pPr>
            <a:r>
              <a:rPr lang="es-MX" sz="2000" dirty="0">
                <a:latin typeface="+mn-lt"/>
                <a:ea typeface="Roboto" panose="02000000000000000000" pitchFamily="2" charset="0"/>
              </a:rPr>
              <a:t>El conjunto de todos los enteros positivos impares menores que 10.</a:t>
            </a:r>
          </a:p>
          <a:p>
            <a:pPr marL="1041400" lvl="1" indent="-457200">
              <a:buFont typeface="+mj-lt"/>
              <a:buAutoNum type="alphaLcPeriod"/>
            </a:pPr>
            <a:endParaRPr lang="es-MX" sz="2000" dirty="0">
              <a:latin typeface="+mn-lt"/>
              <a:ea typeface="Roboto" panose="02000000000000000000" pitchFamily="2" charset="0"/>
            </a:endParaRPr>
          </a:p>
          <a:p>
            <a:pPr marL="1041400" lvl="1" indent="-457200">
              <a:buFont typeface="+mj-lt"/>
              <a:buAutoNum type="alphaLcPeriod"/>
            </a:pPr>
            <a:endParaRPr lang="es-MX" sz="2000" dirty="0">
              <a:latin typeface="+mn-lt"/>
              <a:ea typeface="Roboto" panose="02000000000000000000" pitchFamily="2" charset="0"/>
            </a:endParaRPr>
          </a:p>
          <a:p>
            <a:pPr marL="1041400" lvl="1" indent="-457200">
              <a:buFont typeface="+mj-lt"/>
              <a:buAutoNum type="alphaLcPeriod"/>
            </a:pPr>
            <a:r>
              <a:rPr lang="es-MX" sz="2000" dirty="0">
                <a:latin typeface="+mn-lt"/>
                <a:ea typeface="Roboto" panose="02000000000000000000" pitchFamily="2" charset="0"/>
              </a:rPr>
              <a:t>El conjunto de todos los enteros positivos menores que 100.</a:t>
            </a:r>
          </a:p>
          <a:p>
            <a:pPr marL="1041400" lvl="1" indent="-457200">
              <a:buFont typeface="+mj-lt"/>
              <a:buAutoNum type="alphaLcPeriod"/>
            </a:pPr>
            <a:endParaRPr lang="es-MX" sz="2000" dirty="0">
              <a:latin typeface="+mn-lt"/>
              <a:ea typeface="Roboto" panose="02000000000000000000" pitchFamily="2" charset="0"/>
            </a:endParaRPr>
          </a:p>
          <a:p>
            <a:pPr marL="1041400" lvl="1" indent="-457200">
              <a:buFont typeface="+mj-lt"/>
              <a:buAutoNum type="alphaLcPeriod"/>
            </a:pPr>
            <a:endParaRPr lang="es-MX" sz="2000" dirty="0">
              <a:latin typeface="+mn-lt"/>
              <a:ea typeface="Roboto" panose="02000000000000000000" pitchFamily="2" charset="0"/>
            </a:endParaRPr>
          </a:p>
          <a:p>
            <a:pPr marL="1041400" lvl="1" indent="-457200">
              <a:buFont typeface="+mj-lt"/>
              <a:buAutoNum type="alphaLcPeriod"/>
            </a:pPr>
            <a:r>
              <a:rPr lang="es-MX" sz="2000" dirty="0">
                <a:latin typeface="+mn-lt"/>
                <a:ea typeface="Roboto" panose="02000000000000000000" pitchFamily="2" charset="0"/>
              </a:rPr>
              <a:t>El conjunto de todos los enteros menores que 100.</a:t>
            </a:r>
          </a:p>
          <a:p>
            <a:pPr marL="1041400" lvl="1" indent="-457200">
              <a:buFont typeface="+mj-lt"/>
              <a:buAutoNum type="alphaLcPeriod"/>
            </a:pPr>
            <a:endParaRPr lang="es-MX" sz="2000" dirty="0">
              <a:latin typeface="+mn-lt"/>
              <a:ea typeface="Roboto" panose="02000000000000000000" pitchFamily="2" charset="0"/>
            </a:endParaRPr>
          </a:p>
          <a:p>
            <a:pPr marL="1041400" lvl="1" indent="-457200">
              <a:buFont typeface="+mj-lt"/>
              <a:buAutoNum type="alphaLcPeriod"/>
            </a:pPr>
            <a:endParaRPr lang="es-MX" sz="2000" dirty="0">
              <a:latin typeface="+mn-lt"/>
              <a:ea typeface="Roboto" panose="02000000000000000000" pitchFamily="2" charset="0"/>
            </a:endParaRPr>
          </a:p>
          <a:p>
            <a:endParaRPr lang="es-MX" sz="2200" dirty="0">
              <a:latin typeface="+mn-lt"/>
              <a:ea typeface="Roboto" panose="02000000000000000000" pitchFamily="2" charset="0"/>
            </a:endParaRPr>
          </a:p>
        </p:txBody>
      </p:sp>
    </p:spTree>
    <p:extLst>
      <p:ext uri="{BB962C8B-B14F-4D97-AF65-F5344CB8AC3E}">
        <p14:creationId xmlns:p14="http://schemas.microsoft.com/office/powerpoint/2010/main" val="17586995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26"/>
          <p:cNvSpPr txBox="1">
            <a:spLocks noGrp="1"/>
          </p:cNvSpPr>
          <p:nvPr>
            <p:ph type="title"/>
          </p:nvPr>
        </p:nvSpPr>
        <p:spPr>
          <a:xfrm>
            <a:off x="501445" y="96038"/>
            <a:ext cx="8719205"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t>Conceptos básicos - Ejemplos</a:t>
            </a:r>
            <a:endParaRPr dirty="0"/>
          </a:p>
        </p:txBody>
      </p:sp>
      <p:sp>
        <p:nvSpPr>
          <p:cNvPr id="8" name="Google Shape;310;p34">
            <a:extLst>
              <a:ext uri="{FF2B5EF4-FFF2-40B4-BE49-F238E27FC236}">
                <a16:creationId xmlns:a16="http://schemas.microsoft.com/office/drawing/2014/main" id="{F6716F76-3AFE-471D-B156-0250FFA69F6E}"/>
              </a:ext>
            </a:extLst>
          </p:cNvPr>
          <p:cNvSpPr txBox="1">
            <a:spLocks/>
          </p:cNvSpPr>
          <p:nvPr/>
        </p:nvSpPr>
        <p:spPr>
          <a:xfrm>
            <a:off x="250723" y="803418"/>
            <a:ext cx="11710219" cy="5914299"/>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584200" indent="-457200">
              <a:buFont typeface="+mj-lt"/>
              <a:buAutoNum type="arabicPeriod" startAt="2"/>
            </a:pPr>
            <a:r>
              <a:rPr lang="es-MX" sz="2200" dirty="0">
                <a:latin typeface="+mn-lt"/>
                <a:ea typeface="Roboto" panose="02000000000000000000" pitchFamily="2" charset="0"/>
              </a:rPr>
              <a:t>Para cada uno de los siguientes conjuntos numéricos, proponga una representación por extensión, cuando sea posible, y una representación por comprensión:</a:t>
            </a:r>
          </a:p>
          <a:p>
            <a:pPr marL="1041400" lvl="1" indent="-457200">
              <a:buFont typeface="+mj-lt"/>
              <a:buAutoNum type="alphaLcPeriod"/>
            </a:pPr>
            <a:r>
              <a:rPr lang="es-MX" sz="2000" dirty="0">
                <a:latin typeface="+mn-lt"/>
                <a:ea typeface="Roboto" panose="02000000000000000000" pitchFamily="2" charset="0"/>
              </a:rPr>
              <a:t>Números naturales</a:t>
            </a:r>
          </a:p>
          <a:p>
            <a:pPr marL="1041400" lvl="1" indent="-457200">
              <a:buFont typeface="+mj-lt"/>
              <a:buAutoNum type="alphaLcPeriod"/>
            </a:pPr>
            <a:endParaRPr lang="es-MX" sz="2000" dirty="0">
              <a:latin typeface="+mn-lt"/>
              <a:ea typeface="Roboto" panose="02000000000000000000" pitchFamily="2" charset="0"/>
            </a:endParaRPr>
          </a:p>
          <a:p>
            <a:pPr marL="1041400" lvl="1" indent="-457200">
              <a:buFont typeface="+mj-lt"/>
              <a:buAutoNum type="alphaLcPeriod"/>
            </a:pPr>
            <a:r>
              <a:rPr lang="es-MX" sz="2000" dirty="0">
                <a:latin typeface="+mn-lt"/>
                <a:ea typeface="Roboto" panose="02000000000000000000" pitchFamily="2" charset="0"/>
              </a:rPr>
              <a:t>Números enteros</a:t>
            </a:r>
          </a:p>
          <a:p>
            <a:pPr marL="1041400" lvl="1" indent="-457200">
              <a:buFont typeface="+mj-lt"/>
              <a:buAutoNum type="alphaLcPeriod"/>
            </a:pPr>
            <a:endParaRPr lang="es-MX" sz="2000" dirty="0">
              <a:latin typeface="+mn-lt"/>
              <a:ea typeface="Roboto" panose="02000000000000000000" pitchFamily="2" charset="0"/>
            </a:endParaRPr>
          </a:p>
          <a:p>
            <a:pPr marL="1041400" lvl="1" indent="-457200">
              <a:buFont typeface="+mj-lt"/>
              <a:buAutoNum type="alphaLcPeriod"/>
            </a:pPr>
            <a:r>
              <a:rPr lang="es-MX" sz="2000" dirty="0">
                <a:latin typeface="+mn-lt"/>
                <a:ea typeface="Roboto" panose="02000000000000000000" pitchFamily="2" charset="0"/>
              </a:rPr>
              <a:t>Números enteros positivos</a:t>
            </a:r>
          </a:p>
          <a:p>
            <a:pPr marL="1041400" lvl="1" indent="-457200">
              <a:buFont typeface="+mj-lt"/>
              <a:buAutoNum type="alphaLcPeriod"/>
            </a:pPr>
            <a:endParaRPr lang="es-MX" sz="2000" dirty="0">
              <a:latin typeface="+mn-lt"/>
              <a:ea typeface="Roboto" panose="02000000000000000000" pitchFamily="2" charset="0"/>
            </a:endParaRPr>
          </a:p>
          <a:p>
            <a:pPr marL="1041400" lvl="1" indent="-457200">
              <a:buFont typeface="+mj-lt"/>
              <a:buAutoNum type="alphaLcPeriod"/>
            </a:pPr>
            <a:r>
              <a:rPr lang="es-MX" sz="2000" dirty="0">
                <a:latin typeface="+mn-lt"/>
                <a:ea typeface="Roboto" panose="02000000000000000000" pitchFamily="2" charset="0"/>
              </a:rPr>
              <a:t>Números racionales</a:t>
            </a:r>
          </a:p>
          <a:p>
            <a:pPr marL="1041400" lvl="1" indent="-457200">
              <a:buFont typeface="+mj-lt"/>
              <a:buAutoNum type="alphaLcPeriod"/>
            </a:pPr>
            <a:endParaRPr lang="es-MX" sz="2000" dirty="0">
              <a:latin typeface="+mn-lt"/>
              <a:ea typeface="Roboto" panose="02000000000000000000" pitchFamily="2" charset="0"/>
            </a:endParaRPr>
          </a:p>
          <a:p>
            <a:pPr marL="1041400" lvl="1" indent="-457200">
              <a:buFont typeface="+mj-lt"/>
              <a:buAutoNum type="alphaLcPeriod"/>
            </a:pPr>
            <a:r>
              <a:rPr lang="es-MX" sz="2000" dirty="0">
                <a:latin typeface="+mn-lt"/>
                <a:ea typeface="Roboto" panose="02000000000000000000" pitchFamily="2" charset="0"/>
              </a:rPr>
              <a:t>Números irracionales</a:t>
            </a:r>
          </a:p>
          <a:p>
            <a:pPr marL="1041400" lvl="1" indent="-457200">
              <a:buFont typeface="+mj-lt"/>
              <a:buAutoNum type="alphaLcPeriod"/>
            </a:pPr>
            <a:endParaRPr lang="es-MX" sz="2000" dirty="0">
              <a:latin typeface="+mn-lt"/>
              <a:ea typeface="Roboto" panose="02000000000000000000" pitchFamily="2" charset="0"/>
            </a:endParaRPr>
          </a:p>
          <a:p>
            <a:pPr marL="1041400" lvl="1" indent="-457200">
              <a:buFont typeface="+mj-lt"/>
              <a:buAutoNum type="alphaLcPeriod"/>
            </a:pPr>
            <a:r>
              <a:rPr lang="es-MX" sz="2000" dirty="0">
                <a:latin typeface="+mn-lt"/>
                <a:ea typeface="Roboto" panose="02000000000000000000" pitchFamily="2" charset="0"/>
              </a:rPr>
              <a:t>Números reales</a:t>
            </a:r>
          </a:p>
          <a:p>
            <a:pPr marL="1041400" lvl="1" indent="-457200">
              <a:buFont typeface="+mj-lt"/>
              <a:buAutoNum type="alphaLcPeriod"/>
            </a:pPr>
            <a:endParaRPr lang="es-MX" sz="2000" dirty="0">
              <a:latin typeface="+mn-lt"/>
              <a:ea typeface="Roboto" panose="02000000000000000000" pitchFamily="2" charset="0"/>
            </a:endParaRPr>
          </a:p>
          <a:p>
            <a:pPr marL="1041400" lvl="1" indent="-457200">
              <a:buFont typeface="+mj-lt"/>
              <a:buAutoNum type="alphaLcPeriod"/>
            </a:pPr>
            <a:r>
              <a:rPr lang="es-MX" sz="2000" dirty="0">
                <a:latin typeface="+mn-lt"/>
                <a:ea typeface="Roboto" panose="02000000000000000000" pitchFamily="2" charset="0"/>
              </a:rPr>
              <a:t>Números reales positivos</a:t>
            </a:r>
          </a:p>
          <a:p>
            <a:pPr marL="1041400" lvl="1" indent="-457200">
              <a:buFont typeface="+mj-lt"/>
              <a:buAutoNum type="alphaLcPeriod"/>
            </a:pPr>
            <a:endParaRPr lang="es-MX" sz="2000" dirty="0">
              <a:latin typeface="+mn-lt"/>
              <a:ea typeface="Roboto" panose="02000000000000000000" pitchFamily="2" charset="0"/>
            </a:endParaRPr>
          </a:p>
          <a:p>
            <a:pPr marL="1041400" lvl="1" indent="-457200">
              <a:buFont typeface="+mj-lt"/>
              <a:buAutoNum type="alphaLcPeriod"/>
            </a:pPr>
            <a:r>
              <a:rPr lang="es-MX" sz="2000" dirty="0">
                <a:latin typeface="+mn-lt"/>
                <a:ea typeface="Roboto" panose="02000000000000000000" pitchFamily="2" charset="0"/>
              </a:rPr>
              <a:t>Números complejos</a:t>
            </a:r>
          </a:p>
          <a:p>
            <a:pPr marL="584200" indent="-457200">
              <a:buFont typeface="+mj-lt"/>
              <a:buAutoNum type="arabicPeriod" startAt="2"/>
            </a:pPr>
            <a:endParaRPr lang="es-MX" sz="2000" dirty="0">
              <a:latin typeface="+mn-lt"/>
              <a:ea typeface="Roboto" panose="02000000000000000000" pitchFamily="2" charset="0"/>
            </a:endParaRPr>
          </a:p>
          <a:p>
            <a:pPr marL="1041400" lvl="1" indent="-457200">
              <a:buFont typeface="+mj-lt"/>
              <a:buAutoNum type="alphaLcPeriod"/>
            </a:pPr>
            <a:endParaRPr lang="es-MX" sz="2000" dirty="0">
              <a:latin typeface="+mn-lt"/>
              <a:ea typeface="Roboto" panose="02000000000000000000" pitchFamily="2" charset="0"/>
            </a:endParaRPr>
          </a:p>
          <a:p>
            <a:pPr marL="1041400" lvl="1" indent="-457200">
              <a:buFont typeface="+mj-lt"/>
              <a:buAutoNum type="alphaLcPeriod"/>
            </a:pPr>
            <a:endParaRPr lang="es-MX" sz="2000" dirty="0">
              <a:latin typeface="+mn-lt"/>
              <a:ea typeface="Roboto" panose="02000000000000000000" pitchFamily="2" charset="0"/>
            </a:endParaRPr>
          </a:p>
          <a:p>
            <a:endParaRPr lang="es-MX" sz="2000" dirty="0">
              <a:latin typeface="+mn-lt"/>
              <a:ea typeface="Roboto" panose="02000000000000000000" pitchFamily="2" charset="0"/>
            </a:endParaRPr>
          </a:p>
        </p:txBody>
      </p:sp>
    </p:spTree>
    <p:extLst>
      <p:ext uri="{BB962C8B-B14F-4D97-AF65-F5344CB8AC3E}">
        <p14:creationId xmlns:p14="http://schemas.microsoft.com/office/powerpoint/2010/main" val="25911997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26"/>
          <p:cNvSpPr txBox="1">
            <a:spLocks noGrp="1"/>
          </p:cNvSpPr>
          <p:nvPr>
            <p:ph type="title"/>
          </p:nvPr>
        </p:nvSpPr>
        <p:spPr>
          <a:xfrm>
            <a:off x="722671" y="96038"/>
            <a:ext cx="11092691"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t>Conceptos básicos – Representación grafica</a:t>
            </a:r>
            <a:endParaRPr dirty="0"/>
          </a:p>
        </p:txBody>
      </p:sp>
      <p:sp>
        <p:nvSpPr>
          <p:cNvPr id="8" name="Google Shape;310;p34">
            <a:extLst>
              <a:ext uri="{FF2B5EF4-FFF2-40B4-BE49-F238E27FC236}">
                <a16:creationId xmlns:a16="http://schemas.microsoft.com/office/drawing/2014/main" id="{F6716F76-3AFE-471D-B156-0250FFA69F6E}"/>
              </a:ext>
            </a:extLst>
          </p:cNvPr>
          <p:cNvSpPr txBox="1">
            <a:spLocks/>
          </p:cNvSpPr>
          <p:nvPr/>
        </p:nvSpPr>
        <p:spPr>
          <a:xfrm>
            <a:off x="29496" y="791764"/>
            <a:ext cx="5963267" cy="2637236"/>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r>
              <a:rPr lang="es-MX" sz="2200" dirty="0">
                <a:latin typeface="+mn-lt"/>
                <a:ea typeface="Roboto" panose="02000000000000000000" pitchFamily="2" charset="0"/>
              </a:rPr>
              <a:t>La representación grafica permite visualizar los elementos, las relaciones entre conjuntos y operaciones como unión, intersección y diferencia. </a:t>
            </a:r>
          </a:p>
          <a:p>
            <a:r>
              <a:rPr lang="es-MX" sz="2200" dirty="0">
                <a:latin typeface="+mn-lt"/>
                <a:ea typeface="Roboto" panose="02000000000000000000" pitchFamily="2" charset="0"/>
              </a:rPr>
              <a:t>Dependiendo del tipo de conjunto, existen diferentes formas de representarlos gráficamente.</a:t>
            </a:r>
          </a:p>
          <a:p>
            <a:endParaRPr lang="es-MX" sz="2200" dirty="0">
              <a:latin typeface="+mn-lt"/>
              <a:ea typeface="Roboto" panose="02000000000000000000" pitchFamily="2" charset="0"/>
            </a:endParaRPr>
          </a:p>
        </p:txBody>
      </p:sp>
      <p:graphicFrame>
        <p:nvGraphicFramePr>
          <p:cNvPr id="6" name="Tabla 2">
            <a:extLst>
              <a:ext uri="{FF2B5EF4-FFF2-40B4-BE49-F238E27FC236}">
                <a16:creationId xmlns:a16="http://schemas.microsoft.com/office/drawing/2014/main" id="{A97C74C4-ED24-4505-AD99-86C2F3355B8F}"/>
              </a:ext>
            </a:extLst>
          </p:cNvPr>
          <p:cNvGraphicFramePr>
            <a:graphicFrameLocks noGrp="1"/>
          </p:cNvGraphicFramePr>
          <p:nvPr>
            <p:extLst>
              <p:ext uri="{D42A27DB-BD31-4B8C-83A1-F6EECF244321}">
                <p14:modId xmlns:p14="http://schemas.microsoft.com/office/powerpoint/2010/main" val="3218830616"/>
              </p:ext>
            </p:extLst>
          </p:nvPr>
        </p:nvGraphicFramePr>
        <p:xfrm>
          <a:off x="476862" y="3438922"/>
          <a:ext cx="5501857" cy="3291840"/>
        </p:xfrm>
        <a:graphic>
          <a:graphicData uri="http://schemas.openxmlformats.org/drawingml/2006/table">
            <a:tbl>
              <a:tblPr firstRow="1" bandRow="1">
                <a:tableStyleId>{AD6A3598-7CB8-4345-8D95-17CE05F158A0}</a:tableStyleId>
              </a:tblPr>
              <a:tblGrid>
                <a:gridCol w="2472232">
                  <a:extLst>
                    <a:ext uri="{9D8B030D-6E8A-4147-A177-3AD203B41FA5}">
                      <a16:colId xmlns:a16="http://schemas.microsoft.com/office/drawing/2014/main" val="2736028519"/>
                    </a:ext>
                  </a:extLst>
                </a:gridCol>
                <a:gridCol w="3029625">
                  <a:extLst>
                    <a:ext uri="{9D8B030D-6E8A-4147-A177-3AD203B41FA5}">
                      <a16:colId xmlns:a16="http://schemas.microsoft.com/office/drawing/2014/main" val="4008718241"/>
                    </a:ext>
                  </a:extLst>
                </a:gridCol>
              </a:tblGrid>
              <a:tr h="334362">
                <a:tc>
                  <a:txBody>
                    <a:bodyPr/>
                    <a:lstStyle/>
                    <a:p>
                      <a:pPr algn="ctr"/>
                      <a:r>
                        <a:rPr lang="es-CO" sz="2000" b="1" dirty="0">
                          <a:solidFill>
                            <a:schemeClr val="bg1"/>
                          </a:solidFill>
                          <a:latin typeface="+mn-lt"/>
                          <a:ea typeface="Roboto" panose="02000000000000000000" pitchFamily="2" charset="0"/>
                        </a:rPr>
                        <a:t>Tipo de conjunto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ctr"/>
                      <a:r>
                        <a:rPr lang="es-CO" sz="2000" b="1" dirty="0">
                          <a:solidFill>
                            <a:schemeClr val="bg1"/>
                          </a:solidFill>
                          <a:latin typeface="+mn-lt"/>
                          <a:ea typeface="Roboto" panose="02000000000000000000" pitchFamily="2" charset="0"/>
                        </a:rPr>
                        <a:t>Representación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393268782"/>
                  </a:ext>
                </a:extLst>
              </a:tr>
              <a:tr h="390848">
                <a:tc>
                  <a:txBody>
                    <a:bodyPr/>
                    <a:lstStyle/>
                    <a:p>
                      <a:r>
                        <a:rPr lang="es-CO" sz="2000" dirty="0">
                          <a:latin typeface="+mn-lt"/>
                          <a:ea typeface="Roboto" panose="02000000000000000000" pitchFamily="2" charset="0"/>
                        </a:rPr>
                        <a:t>Conjuntos finitos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s-CO" sz="2000" dirty="0">
                          <a:latin typeface="+mn-lt"/>
                          <a:ea typeface="Roboto" panose="02000000000000000000" pitchFamily="2" charset="0"/>
                        </a:rPr>
                        <a:t>Diagrama de Venn, listado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6472577"/>
                  </a:ext>
                </a:extLst>
              </a:tr>
              <a:tr h="229489">
                <a:tc>
                  <a:txBody>
                    <a:bodyPr/>
                    <a:lstStyle/>
                    <a:p>
                      <a:r>
                        <a:rPr lang="es-CO" sz="2000" dirty="0">
                          <a:latin typeface="+mn-lt"/>
                          <a:ea typeface="Roboto" panose="02000000000000000000" pitchFamily="2" charset="0"/>
                        </a:rPr>
                        <a:t>Conjuntos numéricos reales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s-CO" sz="2000" dirty="0">
                          <a:latin typeface="+mn-lt"/>
                          <a:ea typeface="Roboto" panose="02000000000000000000" pitchFamily="2" charset="0"/>
                        </a:rPr>
                        <a:t>Recta numérica, intervalos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13460725"/>
                  </a:ext>
                </a:extLst>
              </a:tr>
              <a:tr h="390848">
                <a:tc>
                  <a:txBody>
                    <a:bodyPr/>
                    <a:lstStyle/>
                    <a:p>
                      <a:r>
                        <a:rPr lang="es-CO" sz="2000" dirty="0">
                          <a:latin typeface="+mn-lt"/>
                          <a:ea typeface="Roboto" panose="02000000000000000000" pitchFamily="2" charset="0"/>
                        </a:rPr>
                        <a:t>Pares ordenados / relaciones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s-CO" sz="2000" dirty="0">
                          <a:latin typeface="+mn-lt"/>
                          <a:ea typeface="Roboto" panose="02000000000000000000" pitchFamily="2" charset="0"/>
                        </a:rPr>
                        <a:t>Plano cartesiano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43502662"/>
                  </a:ext>
                </a:extLst>
              </a:tr>
              <a:tr h="390848">
                <a:tc>
                  <a:txBody>
                    <a:bodyPr/>
                    <a:lstStyle/>
                    <a:p>
                      <a:r>
                        <a:rPr lang="es-CO" sz="2000" dirty="0">
                          <a:latin typeface="+mn-lt"/>
                          <a:ea typeface="Roboto" panose="02000000000000000000" pitchFamily="2" charset="0"/>
                        </a:rPr>
                        <a:t>Complejos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s-CO" sz="2000" dirty="0">
                          <a:latin typeface="+mn-lt"/>
                          <a:ea typeface="Roboto" panose="02000000000000000000" pitchFamily="2" charset="0"/>
                        </a:rPr>
                        <a:t>Plano complejo (Argand)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40571500"/>
                  </a:ext>
                </a:extLst>
              </a:tr>
              <a:tr h="390848">
                <a:tc>
                  <a:txBody>
                    <a:bodyPr/>
                    <a:lstStyle/>
                    <a:p>
                      <a:r>
                        <a:rPr lang="es-CO" sz="2000" dirty="0">
                          <a:latin typeface="+mn-lt"/>
                          <a:ea typeface="Roboto" panose="02000000000000000000" pitchFamily="2" charset="0"/>
                        </a:rPr>
                        <a:t>Conjuntos con pasos/ramas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s-CO" sz="2000" dirty="0">
                          <a:latin typeface="+mn-lt"/>
                          <a:ea typeface="Roboto" panose="02000000000000000000" pitchFamily="2" charset="0"/>
                        </a:rPr>
                        <a:t>Árbol de decisiones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072858"/>
                  </a:ext>
                </a:extLst>
              </a:tr>
            </a:tbl>
          </a:graphicData>
        </a:graphic>
      </p:graphicFrame>
      <p:pic>
        <p:nvPicPr>
          <p:cNvPr id="5122" name="Picture 2" descr="A single-set Venn diagram is shaded. Outside the set, it is labeled as 'Trees.' Outside the Venn diagram, 'U equals Plants' is labeled.">
            <a:extLst>
              <a:ext uri="{FF2B5EF4-FFF2-40B4-BE49-F238E27FC236}">
                <a16:creationId xmlns:a16="http://schemas.microsoft.com/office/drawing/2014/main" id="{85FAE5FA-F054-4C8C-82E9-FBE5B7E261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93131" y="1061400"/>
            <a:ext cx="2542792" cy="1932522"/>
          </a:xfrm>
          <a:prstGeom prst="rect">
            <a:avLst/>
          </a:prstGeom>
          <a:noFill/>
          <a:extLst>
            <a:ext uri="{909E8E84-426E-40DD-AFC4-6F175D3DCCD1}">
              <a14:hiddenFill xmlns:a14="http://schemas.microsoft.com/office/drawing/2010/main">
                <a:solidFill>
                  <a:srgbClr val="FFFFFF"/>
                </a:solidFill>
              </a14:hiddenFill>
            </a:ext>
          </a:extLst>
        </p:spPr>
      </p:pic>
      <p:pic>
        <p:nvPicPr>
          <p:cNvPr id="5128" name="Picture 8">
            <a:extLst>
              <a:ext uri="{FF2B5EF4-FFF2-40B4-BE49-F238E27FC236}">
                <a16:creationId xmlns:a16="http://schemas.microsoft.com/office/drawing/2014/main" id="{2BCF1D15-EE16-49EB-8F2E-C43945547C3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47955" y="3112558"/>
            <a:ext cx="3585703" cy="1176111"/>
          </a:xfrm>
          <a:prstGeom prst="rect">
            <a:avLst/>
          </a:prstGeom>
          <a:noFill/>
          <a:extLst>
            <a:ext uri="{909E8E84-426E-40DD-AFC4-6F175D3DCCD1}">
              <a14:hiddenFill xmlns:a14="http://schemas.microsoft.com/office/drawing/2010/main">
                <a:solidFill>
                  <a:srgbClr val="FFFFFF"/>
                </a:solidFill>
              </a14:hiddenFill>
            </a:ext>
          </a:extLst>
        </p:spPr>
      </p:pic>
      <p:pic>
        <p:nvPicPr>
          <p:cNvPr id="5130" name="Picture 10" descr="Cartesian coordinate system - Wikipedia">
            <a:extLst>
              <a:ext uri="{FF2B5EF4-FFF2-40B4-BE49-F238E27FC236}">
                <a16:creationId xmlns:a16="http://schemas.microsoft.com/office/drawing/2014/main" id="{C36F38FA-9BEE-4CD1-8C45-025381EFA6B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54994" y="4332316"/>
            <a:ext cx="2443314" cy="2423767"/>
          </a:xfrm>
          <a:prstGeom prst="rect">
            <a:avLst/>
          </a:prstGeom>
          <a:noFill/>
          <a:extLst>
            <a:ext uri="{909E8E84-426E-40DD-AFC4-6F175D3DCCD1}">
              <a14:hiddenFill xmlns:a14="http://schemas.microsoft.com/office/drawing/2010/main">
                <a:solidFill>
                  <a:srgbClr val="FFFFFF"/>
                </a:solidFill>
              </a14:hiddenFill>
            </a:ext>
          </a:extLst>
        </p:spPr>
      </p:pic>
      <p:pic>
        <p:nvPicPr>
          <p:cNvPr id="5132" name="Picture 12" descr="A Brief Overview of Complex Number | by Resha Dwika Hefni Al-Fahsi | Medium">
            <a:extLst>
              <a:ext uri="{FF2B5EF4-FFF2-40B4-BE49-F238E27FC236}">
                <a16:creationId xmlns:a16="http://schemas.microsoft.com/office/drawing/2014/main" id="{7D97F1DC-A7D8-4168-BE92-708597C0E7D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090675" y="1402647"/>
            <a:ext cx="2963493" cy="1528163"/>
          </a:xfrm>
          <a:prstGeom prst="rect">
            <a:avLst/>
          </a:prstGeom>
          <a:noFill/>
          <a:extLst>
            <a:ext uri="{909E8E84-426E-40DD-AFC4-6F175D3DCCD1}">
              <a14:hiddenFill xmlns:a14="http://schemas.microsoft.com/office/drawing/2010/main">
                <a:solidFill>
                  <a:srgbClr val="FFFFFF"/>
                </a:solidFill>
              </a14:hiddenFill>
            </a:ext>
          </a:extLst>
        </p:spPr>
      </p:pic>
      <p:pic>
        <p:nvPicPr>
          <p:cNvPr id="5134" name="Picture 14" descr="Probability examples using the probability tree diagram">
            <a:extLst>
              <a:ext uri="{FF2B5EF4-FFF2-40B4-BE49-F238E27FC236}">
                <a16:creationId xmlns:a16="http://schemas.microsoft.com/office/drawing/2014/main" id="{FEA3A371-247E-47BA-BE5E-32ED0084402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600557" y="4388446"/>
            <a:ext cx="3571595" cy="23810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23439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26"/>
          <p:cNvSpPr txBox="1">
            <a:spLocks noGrp="1"/>
          </p:cNvSpPr>
          <p:nvPr>
            <p:ph type="title"/>
          </p:nvPr>
        </p:nvSpPr>
        <p:spPr>
          <a:xfrm>
            <a:off x="916650" y="96038"/>
            <a:ext cx="996766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t>Conceptos básicos –Diagrama de Venn</a:t>
            </a:r>
            <a:endParaRPr dirty="0"/>
          </a:p>
        </p:txBody>
      </p:sp>
      <p:sp>
        <p:nvSpPr>
          <p:cNvPr id="8" name="Google Shape;310;p34">
            <a:extLst>
              <a:ext uri="{FF2B5EF4-FFF2-40B4-BE49-F238E27FC236}">
                <a16:creationId xmlns:a16="http://schemas.microsoft.com/office/drawing/2014/main" id="{F6716F76-3AFE-471D-B156-0250FFA69F6E}"/>
              </a:ext>
            </a:extLst>
          </p:cNvPr>
          <p:cNvSpPr txBox="1">
            <a:spLocks/>
          </p:cNvSpPr>
          <p:nvPr/>
        </p:nvSpPr>
        <p:spPr>
          <a:xfrm>
            <a:off x="286259" y="1093378"/>
            <a:ext cx="9580411" cy="116427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200" dirty="0">
                <a:latin typeface="+mn-lt"/>
                <a:ea typeface="Roboto" panose="02000000000000000000" pitchFamily="2" charset="0"/>
              </a:rPr>
              <a:t>La forma más común y visual de representar gráficamente los conjuntos y las relaciones entre ellos es mediante los diagramas de </a:t>
            </a:r>
            <a:r>
              <a:rPr lang="es-MX" sz="2200" b="1" dirty="0">
                <a:latin typeface="+mn-lt"/>
                <a:ea typeface="Roboto" panose="02000000000000000000" pitchFamily="2" charset="0"/>
              </a:rPr>
              <a:t>Venn-Euler</a:t>
            </a:r>
            <a:r>
              <a:rPr lang="es-MX" sz="2200" dirty="0">
                <a:latin typeface="+mn-lt"/>
                <a:ea typeface="Roboto" panose="02000000000000000000" pitchFamily="2" charset="0"/>
              </a:rPr>
              <a:t>, comúnmente conocidos como </a:t>
            </a:r>
            <a:r>
              <a:rPr lang="es-MX" sz="2200" b="1" dirty="0">
                <a:latin typeface="+mn-lt"/>
                <a:ea typeface="Roboto" panose="02000000000000000000" pitchFamily="2" charset="0"/>
              </a:rPr>
              <a:t>diagramas de Venn</a:t>
            </a:r>
            <a:r>
              <a:rPr lang="es-MX" sz="2200" dirty="0">
                <a:latin typeface="+mn-lt"/>
                <a:ea typeface="Roboto" panose="02000000000000000000" pitchFamily="2" charset="0"/>
              </a:rPr>
              <a:t>.  </a:t>
            </a:r>
          </a:p>
        </p:txBody>
      </p:sp>
      <p:grpSp>
        <p:nvGrpSpPr>
          <p:cNvPr id="23" name="Grupo 22">
            <a:extLst>
              <a:ext uri="{FF2B5EF4-FFF2-40B4-BE49-F238E27FC236}">
                <a16:creationId xmlns:a16="http://schemas.microsoft.com/office/drawing/2014/main" id="{B8DC675F-1F65-444F-AC84-2B15390FAAE5}"/>
              </a:ext>
            </a:extLst>
          </p:cNvPr>
          <p:cNvGrpSpPr/>
          <p:nvPr/>
        </p:nvGrpSpPr>
        <p:grpSpPr>
          <a:xfrm>
            <a:off x="10206220" y="464602"/>
            <a:ext cx="1356180" cy="1816296"/>
            <a:chOff x="10147563" y="1269307"/>
            <a:chExt cx="1356180" cy="1816296"/>
          </a:xfrm>
        </p:grpSpPr>
        <p:pic>
          <p:nvPicPr>
            <p:cNvPr id="6146" name="Picture 2">
              <a:extLst>
                <a:ext uri="{FF2B5EF4-FFF2-40B4-BE49-F238E27FC236}">
                  <a16:creationId xmlns:a16="http://schemas.microsoft.com/office/drawing/2014/main" id="{83B0E971-188E-40C4-BDBD-678C073AC8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59735" y="1269307"/>
              <a:ext cx="1131836" cy="1539297"/>
            </a:xfrm>
            <a:prstGeom prst="rect">
              <a:avLst/>
            </a:prstGeom>
            <a:noFill/>
            <a:extLst>
              <a:ext uri="{909E8E84-426E-40DD-AFC4-6F175D3DCCD1}">
                <a14:hiddenFill xmlns:a14="http://schemas.microsoft.com/office/drawing/2010/main">
                  <a:solidFill>
                    <a:srgbClr val="FFFFFF"/>
                  </a:solidFill>
                </a14:hiddenFill>
              </a:ext>
            </a:extLst>
          </p:spPr>
        </p:pic>
        <p:sp>
          <p:nvSpPr>
            <p:cNvPr id="9" name="CuadroTexto 8">
              <a:extLst>
                <a:ext uri="{FF2B5EF4-FFF2-40B4-BE49-F238E27FC236}">
                  <a16:creationId xmlns:a16="http://schemas.microsoft.com/office/drawing/2014/main" id="{E12C2C2D-1CEA-4C9C-8C39-72AAFB318BFC}"/>
                </a:ext>
              </a:extLst>
            </p:cNvPr>
            <p:cNvSpPr txBox="1"/>
            <p:nvPr/>
          </p:nvSpPr>
          <p:spPr>
            <a:xfrm>
              <a:off x="10147563" y="2808604"/>
              <a:ext cx="1356180" cy="276999"/>
            </a:xfrm>
            <a:prstGeom prst="rect">
              <a:avLst/>
            </a:prstGeom>
            <a:noFill/>
          </p:spPr>
          <p:txBody>
            <a:bodyPr wrap="square">
              <a:spAutoFit/>
            </a:bodyPr>
            <a:lstStyle/>
            <a:p>
              <a:pPr algn="ctr"/>
              <a:r>
                <a:rPr lang="es-CO" sz="1200" b="1" dirty="0">
                  <a:ea typeface="Roboto" panose="02000000000000000000" pitchFamily="2" charset="0"/>
                </a:rPr>
                <a:t>John Venn</a:t>
              </a:r>
              <a:r>
                <a:rPr lang="es-CO" sz="1200" dirty="0">
                  <a:ea typeface="Roboto" panose="02000000000000000000" pitchFamily="2" charset="0"/>
                </a:rPr>
                <a:t> (</a:t>
              </a:r>
              <a:r>
                <a:rPr lang="es-CO" sz="1200" dirty="0">
                  <a:ea typeface="Roboto" panose="02000000000000000000" pitchFamily="2" charset="0"/>
                  <a:hlinkClick r:id="rId4"/>
                </a:rPr>
                <a:t>link</a:t>
              </a:r>
              <a:r>
                <a:rPr lang="es-CO" sz="1200" dirty="0">
                  <a:ea typeface="Roboto" panose="02000000000000000000" pitchFamily="2" charset="0"/>
                </a:rPr>
                <a:t>)</a:t>
              </a:r>
            </a:p>
          </p:txBody>
        </p:sp>
      </p:grpSp>
      <p:grpSp>
        <p:nvGrpSpPr>
          <p:cNvPr id="16" name="Grupo 15">
            <a:extLst>
              <a:ext uri="{FF2B5EF4-FFF2-40B4-BE49-F238E27FC236}">
                <a16:creationId xmlns:a16="http://schemas.microsoft.com/office/drawing/2014/main" id="{1572C775-D55D-4343-B680-715F3B9A24B8}"/>
              </a:ext>
            </a:extLst>
          </p:cNvPr>
          <p:cNvGrpSpPr/>
          <p:nvPr/>
        </p:nvGrpSpPr>
        <p:grpSpPr>
          <a:xfrm>
            <a:off x="544177" y="2876065"/>
            <a:ext cx="2959088" cy="3370890"/>
            <a:chOff x="8000566" y="3184215"/>
            <a:chExt cx="2959088" cy="3370890"/>
          </a:xfrm>
        </p:grpSpPr>
        <p:pic>
          <p:nvPicPr>
            <p:cNvPr id="6150" name="Picture 6" descr="Size Venn Diagram">
              <a:extLst>
                <a:ext uri="{FF2B5EF4-FFF2-40B4-BE49-F238E27FC236}">
                  <a16:creationId xmlns:a16="http://schemas.microsoft.com/office/drawing/2014/main" id="{98652043-1D1C-4428-A937-36CD49DDB86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00566" y="3184215"/>
              <a:ext cx="2959088" cy="3078819"/>
            </a:xfrm>
            <a:prstGeom prst="rect">
              <a:avLst/>
            </a:prstGeom>
            <a:noFill/>
            <a:extLst>
              <a:ext uri="{909E8E84-426E-40DD-AFC4-6F175D3DCCD1}">
                <a14:hiddenFill xmlns:a14="http://schemas.microsoft.com/office/drawing/2010/main">
                  <a:solidFill>
                    <a:srgbClr val="FFFFFF"/>
                  </a:solidFill>
                </a14:hiddenFill>
              </a:ext>
            </a:extLst>
          </p:spPr>
        </p:pic>
        <p:sp>
          <p:nvSpPr>
            <p:cNvPr id="15" name="CuadroTexto 14">
              <a:extLst>
                <a:ext uri="{FF2B5EF4-FFF2-40B4-BE49-F238E27FC236}">
                  <a16:creationId xmlns:a16="http://schemas.microsoft.com/office/drawing/2014/main" id="{1374A350-918F-4C04-B998-5967488A5EA0}"/>
                </a:ext>
              </a:extLst>
            </p:cNvPr>
            <p:cNvSpPr txBox="1"/>
            <p:nvPr/>
          </p:nvSpPr>
          <p:spPr>
            <a:xfrm>
              <a:off x="8401285" y="6278106"/>
              <a:ext cx="2287659" cy="276999"/>
            </a:xfrm>
            <a:prstGeom prst="rect">
              <a:avLst/>
            </a:prstGeom>
            <a:noFill/>
          </p:spPr>
          <p:txBody>
            <a:bodyPr wrap="square">
              <a:spAutoFit/>
            </a:bodyPr>
            <a:lstStyle/>
            <a:p>
              <a:pPr algn="ctr"/>
              <a:r>
                <a:rPr lang="es-CO" sz="1200" b="1" dirty="0">
                  <a:ea typeface="Roboto" panose="02000000000000000000" pitchFamily="2" charset="0"/>
                </a:rPr>
                <a:t>Size Venn Diagram</a:t>
              </a:r>
              <a:r>
                <a:rPr lang="es-CO" sz="1200" dirty="0">
                  <a:ea typeface="Roboto" panose="02000000000000000000" pitchFamily="2" charset="0"/>
                </a:rPr>
                <a:t> (</a:t>
              </a:r>
              <a:r>
                <a:rPr lang="es-CO" sz="1200" dirty="0">
                  <a:ea typeface="Roboto" panose="02000000000000000000" pitchFamily="2" charset="0"/>
                  <a:hlinkClick r:id="rId6"/>
                </a:rPr>
                <a:t>link</a:t>
              </a:r>
              <a:r>
                <a:rPr lang="es-CO" sz="1200" dirty="0">
                  <a:ea typeface="Roboto" panose="02000000000000000000" pitchFamily="2" charset="0"/>
                </a:rPr>
                <a:t>)</a:t>
              </a:r>
            </a:p>
          </p:txBody>
        </p:sp>
      </p:grpSp>
      <p:grpSp>
        <p:nvGrpSpPr>
          <p:cNvPr id="14" name="Grupo 13">
            <a:extLst>
              <a:ext uri="{FF2B5EF4-FFF2-40B4-BE49-F238E27FC236}">
                <a16:creationId xmlns:a16="http://schemas.microsoft.com/office/drawing/2014/main" id="{B4D9614F-85EF-4D77-B9B5-28BD59110121}"/>
              </a:ext>
            </a:extLst>
          </p:cNvPr>
          <p:cNvGrpSpPr/>
          <p:nvPr/>
        </p:nvGrpSpPr>
        <p:grpSpPr>
          <a:xfrm>
            <a:off x="4049120" y="2993515"/>
            <a:ext cx="3211966" cy="3192503"/>
            <a:chOff x="4339501" y="3085603"/>
            <a:chExt cx="3211966" cy="3192503"/>
          </a:xfrm>
        </p:grpSpPr>
        <p:pic>
          <p:nvPicPr>
            <p:cNvPr id="12" name="Imagen 11">
              <a:extLst>
                <a:ext uri="{FF2B5EF4-FFF2-40B4-BE49-F238E27FC236}">
                  <a16:creationId xmlns:a16="http://schemas.microsoft.com/office/drawing/2014/main" id="{ED41410B-30F3-4964-B6E5-F60444E38445}"/>
                </a:ext>
              </a:extLst>
            </p:cNvPr>
            <p:cNvPicPr>
              <a:picLocks noChangeAspect="1"/>
            </p:cNvPicPr>
            <p:nvPr/>
          </p:nvPicPr>
          <p:blipFill>
            <a:blip r:embed="rId7"/>
            <a:stretch>
              <a:fillRect/>
            </a:stretch>
          </p:blipFill>
          <p:spPr>
            <a:xfrm>
              <a:off x="4339501" y="3085603"/>
              <a:ext cx="3211966" cy="2860745"/>
            </a:xfrm>
            <a:prstGeom prst="rect">
              <a:avLst/>
            </a:prstGeom>
          </p:spPr>
        </p:pic>
        <p:sp>
          <p:nvSpPr>
            <p:cNvPr id="22" name="CuadroTexto 21">
              <a:extLst>
                <a:ext uri="{FF2B5EF4-FFF2-40B4-BE49-F238E27FC236}">
                  <a16:creationId xmlns:a16="http://schemas.microsoft.com/office/drawing/2014/main" id="{2331A9A9-34A1-45E4-B053-53BB34E2C7F8}"/>
                </a:ext>
              </a:extLst>
            </p:cNvPr>
            <p:cNvSpPr txBox="1"/>
            <p:nvPr/>
          </p:nvSpPr>
          <p:spPr>
            <a:xfrm>
              <a:off x="4698602" y="6001107"/>
              <a:ext cx="2493763" cy="276999"/>
            </a:xfrm>
            <a:prstGeom prst="rect">
              <a:avLst/>
            </a:prstGeom>
            <a:noFill/>
          </p:spPr>
          <p:txBody>
            <a:bodyPr wrap="square">
              <a:spAutoFit/>
            </a:bodyPr>
            <a:lstStyle/>
            <a:p>
              <a:pPr algn="ctr"/>
              <a:r>
                <a:rPr lang="es-CO" sz="1200" b="1" dirty="0">
                  <a:latin typeface="Roboto" panose="02000000000000000000" pitchFamily="2" charset="0"/>
                  <a:ea typeface="Roboto" panose="02000000000000000000" pitchFamily="2" charset="0"/>
                </a:rPr>
                <a:t>Venn diagram </a:t>
              </a:r>
              <a:r>
                <a:rPr lang="es-CO" sz="1200" b="1" dirty="0">
                  <a:ea typeface="Roboto" panose="02000000000000000000" pitchFamily="2" charset="0"/>
                </a:rPr>
                <a:t>let-down</a:t>
              </a:r>
              <a:r>
                <a:rPr lang="es-CO" sz="1200" dirty="0">
                  <a:latin typeface="Roboto" panose="02000000000000000000" pitchFamily="2" charset="0"/>
                  <a:ea typeface="Roboto" panose="02000000000000000000" pitchFamily="2" charset="0"/>
                </a:rPr>
                <a:t> (</a:t>
              </a:r>
              <a:r>
                <a:rPr lang="es-CO" sz="1200" dirty="0">
                  <a:latin typeface="Roboto" panose="02000000000000000000" pitchFamily="2" charset="0"/>
                  <a:ea typeface="Roboto" panose="02000000000000000000" pitchFamily="2" charset="0"/>
                  <a:hlinkClick r:id="rId8"/>
                </a:rPr>
                <a:t>link</a:t>
              </a:r>
              <a:r>
                <a:rPr lang="es-CO" sz="1200" dirty="0">
                  <a:latin typeface="Roboto" panose="02000000000000000000" pitchFamily="2" charset="0"/>
                  <a:ea typeface="Roboto" panose="02000000000000000000" pitchFamily="2" charset="0"/>
                </a:rPr>
                <a:t>)</a:t>
              </a:r>
            </a:p>
          </p:txBody>
        </p:sp>
      </p:grpSp>
      <p:grpSp>
        <p:nvGrpSpPr>
          <p:cNvPr id="21" name="Grupo 20">
            <a:extLst>
              <a:ext uri="{FF2B5EF4-FFF2-40B4-BE49-F238E27FC236}">
                <a16:creationId xmlns:a16="http://schemas.microsoft.com/office/drawing/2014/main" id="{7A19D426-A1AD-4D0E-B8DA-144F43284A7A}"/>
              </a:ext>
            </a:extLst>
          </p:cNvPr>
          <p:cNvGrpSpPr/>
          <p:nvPr/>
        </p:nvGrpSpPr>
        <p:grpSpPr>
          <a:xfrm>
            <a:off x="7806941" y="3640820"/>
            <a:ext cx="4119458" cy="2213978"/>
            <a:chOff x="7916459" y="3853977"/>
            <a:chExt cx="4119458" cy="2213978"/>
          </a:xfrm>
        </p:grpSpPr>
        <p:pic>
          <p:nvPicPr>
            <p:cNvPr id="6152" name="Picture 8" descr="Caption: 'The Venn Diagram of the Sandwich Generation.' Two tangent circles, one 'The Problem' and one 'The Solution'. Two friends sit pondering this over coffee 'It's what put the 'vent' in 'venti'.'">
              <a:extLst>
                <a:ext uri="{FF2B5EF4-FFF2-40B4-BE49-F238E27FC236}">
                  <a16:creationId xmlns:a16="http://schemas.microsoft.com/office/drawing/2014/main" id="{AAFFFAAE-4F51-447C-BF2C-443F082DF0F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916459" y="3853977"/>
              <a:ext cx="4119458" cy="1897894"/>
            </a:xfrm>
            <a:prstGeom prst="rect">
              <a:avLst/>
            </a:prstGeom>
            <a:noFill/>
            <a:extLst>
              <a:ext uri="{909E8E84-426E-40DD-AFC4-6F175D3DCCD1}">
                <a14:hiddenFill xmlns:a14="http://schemas.microsoft.com/office/drawing/2010/main">
                  <a:solidFill>
                    <a:srgbClr val="FFFFFF"/>
                  </a:solidFill>
                </a14:hiddenFill>
              </a:ext>
            </a:extLst>
          </p:spPr>
        </p:pic>
        <p:sp>
          <p:nvSpPr>
            <p:cNvPr id="27" name="CuadroTexto 26">
              <a:extLst>
                <a:ext uri="{FF2B5EF4-FFF2-40B4-BE49-F238E27FC236}">
                  <a16:creationId xmlns:a16="http://schemas.microsoft.com/office/drawing/2014/main" id="{A1DD81EF-BB8B-4A61-B983-45AD540A3966}"/>
                </a:ext>
              </a:extLst>
            </p:cNvPr>
            <p:cNvSpPr txBox="1"/>
            <p:nvPr/>
          </p:nvSpPr>
          <p:spPr>
            <a:xfrm>
              <a:off x="9001870" y="5790956"/>
              <a:ext cx="2166778" cy="276999"/>
            </a:xfrm>
            <a:prstGeom prst="rect">
              <a:avLst/>
            </a:prstGeom>
            <a:noFill/>
          </p:spPr>
          <p:txBody>
            <a:bodyPr wrap="square">
              <a:spAutoFit/>
            </a:bodyPr>
            <a:lstStyle/>
            <a:p>
              <a:pPr algn="ctr"/>
              <a:r>
                <a:rPr lang="es-CO" sz="1200" b="1" dirty="0">
                  <a:ea typeface="Roboto" panose="02000000000000000000" pitchFamily="2" charset="0"/>
                </a:rPr>
                <a:t>nebusresearch</a:t>
              </a:r>
              <a:r>
                <a:rPr lang="es-CO" sz="1200" dirty="0">
                  <a:ea typeface="Roboto" panose="02000000000000000000" pitchFamily="2" charset="0"/>
                </a:rPr>
                <a:t> (</a:t>
              </a:r>
              <a:r>
                <a:rPr lang="es-CO" sz="1200" dirty="0">
                  <a:ea typeface="Roboto" panose="02000000000000000000" pitchFamily="2" charset="0"/>
                  <a:hlinkClick r:id="rId10"/>
                </a:rPr>
                <a:t>link</a:t>
              </a:r>
              <a:r>
                <a:rPr lang="es-CO" sz="1200" dirty="0">
                  <a:ea typeface="Roboto" panose="02000000000000000000" pitchFamily="2" charset="0"/>
                </a:rPr>
                <a:t>)</a:t>
              </a:r>
            </a:p>
          </p:txBody>
        </p:sp>
      </p:grpSp>
    </p:spTree>
    <p:extLst>
      <p:ext uri="{BB962C8B-B14F-4D97-AF65-F5344CB8AC3E}">
        <p14:creationId xmlns:p14="http://schemas.microsoft.com/office/powerpoint/2010/main" val="23072562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26"/>
          <p:cNvSpPr txBox="1">
            <a:spLocks noGrp="1"/>
          </p:cNvSpPr>
          <p:nvPr>
            <p:ph type="title"/>
          </p:nvPr>
        </p:nvSpPr>
        <p:spPr>
          <a:xfrm>
            <a:off x="688257" y="96038"/>
            <a:ext cx="9797845"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t>Conceptos básicos – Diagramas de Venn</a:t>
            </a:r>
            <a:endParaRPr dirty="0"/>
          </a:p>
        </p:txBody>
      </p:sp>
      <p:sp>
        <p:nvSpPr>
          <p:cNvPr id="8" name="Google Shape;310;p34">
            <a:extLst>
              <a:ext uri="{FF2B5EF4-FFF2-40B4-BE49-F238E27FC236}">
                <a16:creationId xmlns:a16="http://schemas.microsoft.com/office/drawing/2014/main" id="{F6716F76-3AFE-471D-B156-0250FFA69F6E}"/>
              </a:ext>
            </a:extLst>
          </p:cNvPr>
          <p:cNvSpPr txBox="1">
            <a:spLocks/>
          </p:cNvSpPr>
          <p:nvPr/>
        </p:nvSpPr>
        <p:spPr>
          <a:xfrm>
            <a:off x="212518" y="839062"/>
            <a:ext cx="8630231" cy="306926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200" dirty="0">
                <a:latin typeface="+mn-lt"/>
                <a:ea typeface="Roboto" panose="02000000000000000000" pitchFamily="2" charset="0"/>
              </a:rPr>
              <a:t>Los diagramas de Venn se caracterizan por que:</a:t>
            </a:r>
          </a:p>
          <a:p>
            <a:pPr marL="469900" indent="-342900">
              <a:buFont typeface="+mj-lt"/>
              <a:buAutoNum type="arabicPeriod"/>
            </a:pPr>
            <a:r>
              <a:rPr lang="es-MX" sz="2200" dirty="0">
                <a:latin typeface="+mn-lt"/>
                <a:ea typeface="Roboto" panose="02000000000000000000" pitchFamily="2" charset="0"/>
              </a:rPr>
              <a:t>Permiten ilustrar la relación entre conjuntos.</a:t>
            </a:r>
          </a:p>
          <a:p>
            <a:pPr marL="469900" indent="-342900">
              <a:buFont typeface="+mj-lt"/>
              <a:buAutoNum type="arabicPeriod"/>
            </a:pPr>
            <a:r>
              <a:rPr lang="es-MX" sz="2200" dirty="0">
                <a:latin typeface="+mn-lt"/>
                <a:ea typeface="Roboto" panose="02000000000000000000" pitchFamily="2" charset="0"/>
              </a:rPr>
              <a:t>Cada conjunto es representado a través de una figura cerrada (generalmente un círculo).</a:t>
            </a:r>
          </a:p>
          <a:p>
            <a:pPr marL="469900" indent="-342900">
              <a:buFont typeface="+mj-lt"/>
              <a:buAutoNum type="arabicPeriod"/>
            </a:pPr>
            <a:r>
              <a:rPr lang="es-MX" sz="2200" dirty="0">
                <a:latin typeface="+mn-lt"/>
                <a:ea typeface="Roboto" panose="02000000000000000000" pitchFamily="2" charset="0"/>
              </a:rPr>
              <a:t>Si se tienen dos o más conjuntos, en las intersecciones de los círculos se ubican aquellos elementos que hacen parte de más de un conjunto a la vez.</a:t>
            </a:r>
          </a:p>
          <a:p>
            <a:pPr marL="469900" indent="-342900">
              <a:buFont typeface="+mj-lt"/>
              <a:buAutoNum type="arabicPeriod"/>
            </a:pPr>
            <a:r>
              <a:rPr lang="es-MX" sz="2200" dirty="0">
                <a:latin typeface="+mn-lt"/>
                <a:ea typeface="Roboto" panose="02000000000000000000" pitchFamily="2" charset="0"/>
              </a:rPr>
              <a:t>Facilitan el entendimiento de la teoría de conjuntos.</a:t>
            </a:r>
          </a:p>
        </p:txBody>
      </p:sp>
      <p:pic>
        <p:nvPicPr>
          <p:cNvPr id="7172" name="Picture 4" descr="A two-set Venn diagram not intersecting one another is given. Outside the Venn diagram, 'U equals Cats' is labeled. The first set is labeled T equals tigers while the second set is labeled L equals lions. ">
            <a:extLst>
              <a:ext uri="{FF2B5EF4-FFF2-40B4-BE49-F238E27FC236}">
                <a16:creationId xmlns:a16="http://schemas.microsoft.com/office/drawing/2014/main" id="{1EEB07F3-E3CD-4C33-AE14-E10C26C951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67339" y="4401662"/>
            <a:ext cx="2755408" cy="2087628"/>
          </a:xfrm>
          <a:prstGeom prst="rect">
            <a:avLst/>
          </a:prstGeom>
          <a:noFill/>
          <a:extLst>
            <a:ext uri="{909E8E84-426E-40DD-AFC4-6F175D3DCCD1}">
              <a14:hiddenFill xmlns:a14="http://schemas.microsoft.com/office/drawing/2010/main">
                <a:solidFill>
                  <a:srgbClr val="FFFFFF"/>
                </a:solidFill>
              </a14:hiddenFill>
            </a:ext>
          </a:extLst>
        </p:spPr>
      </p:pic>
      <p:pic>
        <p:nvPicPr>
          <p:cNvPr id="7174" name="Picture 6" descr="A single-set Venn diagram is shaded. Outside the set, it is labeled as 'L equals Lions.' Outside the Venn diagram, 'Parallelograms' is labeled.">
            <a:extLst>
              <a:ext uri="{FF2B5EF4-FFF2-40B4-BE49-F238E27FC236}">
                <a16:creationId xmlns:a16="http://schemas.microsoft.com/office/drawing/2014/main" id="{BFFC3087-2678-4EA0-BE23-C4BE02345B3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35676" y="4401663"/>
            <a:ext cx="2748647" cy="2082505"/>
          </a:xfrm>
          <a:prstGeom prst="rect">
            <a:avLst/>
          </a:prstGeom>
          <a:noFill/>
          <a:extLst>
            <a:ext uri="{909E8E84-426E-40DD-AFC4-6F175D3DCCD1}">
              <a14:hiddenFill xmlns:a14="http://schemas.microsoft.com/office/drawing/2010/main">
                <a:solidFill>
                  <a:srgbClr val="FFFFFF"/>
                </a:solidFill>
              </a14:hiddenFill>
            </a:ext>
          </a:extLst>
        </p:spPr>
      </p:pic>
      <p:pic>
        <p:nvPicPr>
          <p:cNvPr id="7176" name="Picture 8" descr="A three-set Venn diagram of A, B, and Rh plus overlapping one another is given. The total number of donors equals 140. Set A shows 8; Set B shows 3; Set Rh plus shows 52. Overlapping of sets A and B shows 2, overlapping of sets B and Rh plus shows 11, and overlapping of A and Rh plus shows 50. Overlapping of A, B, and Rh plus shows 4.">
            <a:extLst>
              <a:ext uri="{FF2B5EF4-FFF2-40B4-BE49-F238E27FC236}">
                <a16:creationId xmlns:a16="http://schemas.microsoft.com/office/drawing/2014/main" id="{F783CF25-8B11-4C89-AE33-2B673578FB5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69010" y="882196"/>
            <a:ext cx="2834184" cy="3059791"/>
          </a:xfrm>
          <a:prstGeom prst="rect">
            <a:avLst/>
          </a:prstGeom>
          <a:noFill/>
          <a:extLst>
            <a:ext uri="{909E8E84-426E-40DD-AFC4-6F175D3DCCD1}">
              <a14:hiddenFill xmlns:a14="http://schemas.microsoft.com/office/drawing/2010/main">
                <a:solidFill>
                  <a:srgbClr val="FFFFFF"/>
                </a:solidFill>
              </a14:hiddenFill>
            </a:ext>
          </a:extLst>
        </p:spPr>
      </p:pic>
      <p:pic>
        <p:nvPicPr>
          <p:cNvPr id="7178" name="Picture 10" descr="A two-set Venn diagram not intersecting one another is given. The first set is labeled Planes while the second set is labeled Trains. The union of the Venn diagram is marked U equals Modes of Transportation.">
            <a:extLst>
              <a:ext uri="{FF2B5EF4-FFF2-40B4-BE49-F238E27FC236}">
                <a16:creationId xmlns:a16="http://schemas.microsoft.com/office/drawing/2014/main" id="{31DDD2B9-7200-4ACC-B924-5782EB8DC91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72957" y="4401664"/>
            <a:ext cx="3582945" cy="20825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70462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324465" y="96038"/>
            <a:ext cx="8896185"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Relaciones entre conjuntos</a:t>
            </a:r>
            <a:endParaRPr dirty="0">
              <a:solidFill>
                <a:schemeClr val="tx1"/>
              </a:solidFill>
              <a:latin typeface="+mj-lt"/>
            </a:endParaRPr>
          </a:p>
        </p:txBody>
      </p:sp>
      <p:sp>
        <p:nvSpPr>
          <p:cNvPr id="7" name="Google Shape;310;p34">
            <a:extLst>
              <a:ext uri="{FF2B5EF4-FFF2-40B4-BE49-F238E27FC236}">
                <a16:creationId xmlns:a16="http://schemas.microsoft.com/office/drawing/2014/main" id="{C1EB8144-8BAC-4290-B469-B1AFD5BDF721}"/>
              </a:ext>
            </a:extLst>
          </p:cNvPr>
          <p:cNvSpPr txBox="1">
            <a:spLocks/>
          </p:cNvSpPr>
          <p:nvPr/>
        </p:nvSpPr>
        <p:spPr>
          <a:xfrm>
            <a:off x="219230" y="1045538"/>
            <a:ext cx="10896808" cy="2601279"/>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200" dirty="0">
                <a:latin typeface="+mn-lt"/>
                <a:ea typeface="Roboto" panose="02000000000000000000" pitchFamily="2" charset="0"/>
              </a:rPr>
              <a:t>La relación entre conjuntos se da cuando se comparan las características asociadas a dos o más conjuntos, y se establece una correspondencia entre ellos:</a:t>
            </a:r>
          </a:p>
          <a:p>
            <a:r>
              <a:rPr lang="es-MX" sz="2200" dirty="0">
                <a:latin typeface="+mn-lt"/>
                <a:ea typeface="Roboto" panose="02000000000000000000" pitchFamily="2" charset="0"/>
              </a:rPr>
              <a:t>Igualdad entre conjuntos.</a:t>
            </a:r>
          </a:p>
          <a:p>
            <a:r>
              <a:rPr lang="es-MX" sz="2200" dirty="0">
                <a:latin typeface="+mn-lt"/>
                <a:ea typeface="Roboto" panose="02000000000000000000" pitchFamily="2" charset="0"/>
              </a:rPr>
              <a:t>Subconjuntos.</a:t>
            </a:r>
          </a:p>
          <a:p>
            <a:r>
              <a:rPr lang="es-MX" sz="2200" dirty="0">
                <a:latin typeface="+mn-lt"/>
                <a:ea typeface="Roboto" panose="02000000000000000000" pitchFamily="2" charset="0"/>
              </a:rPr>
              <a:t>Subconjunto propio.</a:t>
            </a:r>
          </a:p>
          <a:p>
            <a:r>
              <a:rPr lang="es-MX" sz="2200" dirty="0">
                <a:latin typeface="+mn-lt"/>
                <a:ea typeface="Roboto" panose="02000000000000000000" pitchFamily="2" charset="0"/>
              </a:rPr>
              <a:t>Conjuntos disyuntos.</a:t>
            </a:r>
          </a:p>
          <a:p>
            <a:endParaRPr lang="es-MX" sz="2200" dirty="0">
              <a:latin typeface="+mn-lt"/>
              <a:ea typeface="Roboto" panose="02000000000000000000" pitchFamily="2" charset="0"/>
            </a:endParaRPr>
          </a:p>
          <a:p>
            <a:endParaRPr lang="es-MX" sz="1800" dirty="0">
              <a:latin typeface="+mn-lt"/>
              <a:ea typeface="Roboto" panose="02000000000000000000" pitchFamily="2" charset="0"/>
            </a:endParaRPr>
          </a:p>
        </p:txBody>
      </p:sp>
      <p:pic>
        <p:nvPicPr>
          <p:cNvPr id="4" name="Imagen 3">
            <a:extLst>
              <a:ext uri="{FF2B5EF4-FFF2-40B4-BE49-F238E27FC236}">
                <a16:creationId xmlns:a16="http://schemas.microsoft.com/office/drawing/2014/main" id="{A965AEA7-930A-4223-A632-C993EA9BAA75}"/>
              </a:ext>
            </a:extLst>
          </p:cNvPr>
          <p:cNvPicPr>
            <a:picLocks noChangeAspect="1"/>
          </p:cNvPicPr>
          <p:nvPr/>
        </p:nvPicPr>
        <p:blipFill>
          <a:blip r:embed="rId3"/>
          <a:stretch>
            <a:fillRect/>
          </a:stretch>
        </p:blipFill>
        <p:spPr>
          <a:xfrm>
            <a:off x="797029" y="4293562"/>
            <a:ext cx="2130175" cy="1789348"/>
          </a:xfrm>
          <a:prstGeom prst="rect">
            <a:avLst/>
          </a:prstGeom>
        </p:spPr>
      </p:pic>
      <p:pic>
        <p:nvPicPr>
          <p:cNvPr id="6" name="Imagen 5">
            <a:extLst>
              <a:ext uri="{FF2B5EF4-FFF2-40B4-BE49-F238E27FC236}">
                <a16:creationId xmlns:a16="http://schemas.microsoft.com/office/drawing/2014/main" id="{75A6D998-6B46-4128-9131-C04D89F368C3}"/>
              </a:ext>
            </a:extLst>
          </p:cNvPr>
          <p:cNvPicPr>
            <a:picLocks noChangeAspect="1"/>
          </p:cNvPicPr>
          <p:nvPr/>
        </p:nvPicPr>
        <p:blipFill>
          <a:blip r:embed="rId4"/>
          <a:stretch>
            <a:fillRect/>
          </a:stretch>
        </p:blipFill>
        <p:spPr>
          <a:xfrm>
            <a:off x="3609109" y="4305285"/>
            <a:ext cx="7506929" cy="1854390"/>
          </a:xfrm>
          <a:prstGeom prst="rect">
            <a:avLst/>
          </a:prstGeom>
        </p:spPr>
      </p:pic>
    </p:spTree>
    <p:extLst>
      <p:ext uri="{BB962C8B-B14F-4D97-AF65-F5344CB8AC3E}">
        <p14:creationId xmlns:p14="http://schemas.microsoft.com/office/powerpoint/2010/main" val="10579696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132735" y="214028"/>
            <a:ext cx="11842955" cy="109698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Igualdad entre conjuntos</a:t>
            </a:r>
            <a:endParaRPr dirty="0">
              <a:solidFill>
                <a:schemeClr val="tx1"/>
              </a:solidFill>
              <a:latin typeface="+mj-lt"/>
            </a:endParaRPr>
          </a:p>
        </p:txBody>
      </p:sp>
      <mc:AlternateContent xmlns:mc="http://schemas.openxmlformats.org/markup-compatibility/2006" xmlns:a14="http://schemas.microsoft.com/office/drawing/2010/main">
        <mc:Choice Requires="a14">
          <p:sp>
            <p:nvSpPr>
              <p:cNvPr id="7" name="Google Shape;310;p34">
                <a:extLst>
                  <a:ext uri="{FF2B5EF4-FFF2-40B4-BE49-F238E27FC236}">
                    <a16:creationId xmlns:a16="http://schemas.microsoft.com/office/drawing/2014/main" id="{C1EB8144-8BAC-4290-B469-B1AFD5BDF721}"/>
                  </a:ext>
                </a:extLst>
              </p:cNvPr>
              <p:cNvSpPr txBox="1">
                <a:spLocks/>
              </p:cNvSpPr>
              <p:nvPr/>
            </p:nvSpPr>
            <p:spPr>
              <a:xfrm>
                <a:off x="221227" y="1311008"/>
                <a:ext cx="10781071" cy="324624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200" dirty="0">
                    <a:latin typeface="+mn-lt"/>
                    <a:ea typeface="Roboto" panose="02000000000000000000" pitchFamily="2" charset="0"/>
                  </a:rPr>
                  <a:t>Dos conjuntos son iguales si tienen exactamente los mismos elementos, sin importar el orden ni la repetición.</a:t>
                </a:r>
              </a:p>
              <a:p>
                <a:r>
                  <a:rPr lang="es-MX" sz="2200" b="1" dirty="0">
                    <a:latin typeface="+mn-lt"/>
                    <a:ea typeface="Roboto" panose="02000000000000000000" pitchFamily="2" charset="0"/>
                  </a:rPr>
                  <a:t>Notación</a:t>
                </a:r>
                <a:r>
                  <a:rPr lang="es-MX" sz="2200" dirty="0">
                    <a:latin typeface="+mn-lt"/>
                    <a:ea typeface="Roboto" panose="02000000000000000000" pitchFamily="2" charset="0"/>
                  </a:rPr>
                  <a:t>:</a:t>
                </a:r>
              </a:p>
              <a:p>
                <a:endParaRPr lang="es-MX" sz="2200" dirty="0">
                  <a:latin typeface="+mn-lt"/>
                  <a:ea typeface="Roboto" panose="02000000000000000000" pitchFamily="2" charset="0"/>
                </a:endParaRPr>
              </a:p>
              <a:p>
                <a:pPr marL="127000" indent="0">
                  <a:buNone/>
                </a:pPr>
                <a14:m>
                  <m:oMathPara xmlns:m="http://schemas.openxmlformats.org/officeDocument/2006/math">
                    <m:oMathParaPr>
                      <m:jc m:val="centerGroup"/>
                    </m:oMathParaPr>
                    <m:oMath xmlns:m="http://schemas.openxmlformats.org/officeDocument/2006/math">
                      <m:r>
                        <a:rPr lang="es-MX" sz="2200" b="0" i="1" smtClean="0">
                          <a:latin typeface="Cambria Math" panose="02040503050406030204" pitchFamily="18" charset="0"/>
                          <a:ea typeface="Roboto" panose="02000000000000000000" pitchFamily="2" charset="0"/>
                        </a:rPr>
                        <m:t>𝐴</m:t>
                      </m:r>
                      <m:r>
                        <a:rPr lang="es-MX" sz="2200" b="0" i="1" smtClean="0">
                          <a:latin typeface="Cambria Math" panose="02040503050406030204" pitchFamily="18" charset="0"/>
                          <a:ea typeface="Cambria Math" panose="02040503050406030204" pitchFamily="18" charset="0"/>
                        </a:rPr>
                        <m:t>=</m:t>
                      </m:r>
                      <m:r>
                        <a:rPr lang="es-MX" sz="2200" b="0" i="1" smtClean="0">
                          <a:latin typeface="Cambria Math" panose="02040503050406030204" pitchFamily="18" charset="0"/>
                          <a:ea typeface="Cambria Math" panose="02040503050406030204" pitchFamily="18" charset="0"/>
                        </a:rPr>
                        <m:t>𝐵</m:t>
                      </m:r>
                    </m:oMath>
                  </m:oMathPara>
                </a14:m>
                <a:endParaRPr lang="es-MX" sz="2200" b="0" dirty="0">
                  <a:latin typeface="+mn-lt"/>
                  <a:ea typeface="Cambria Math" panose="02040503050406030204" pitchFamily="18" charset="0"/>
                </a:endParaRPr>
              </a:p>
              <a:p>
                <a:r>
                  <a:rPr lang="es-MX" sz="2200" b="1" dirty="0">
                    <a:latin typeface="+mn-lt"/>
                    <a:ea typeface="Roboto" panose="02000000000000000000" pitchFamily="2" charset="0"/>
                  </a:rPr>
                  <a:t>Definición formal</a:t>
                </a:r>
                <a:r>
                  <a:rPr lang="es-MX" sz="2200" dirty="0">
                    <a:latin typeface="+mn-lt"/>
                    <a:ea typeface="Roboto" panose="02000000000000000000" pitchFamily="2" charset="0"/>
                  </a:rPr>
                  <a:t>:</a:t>
                </a:r>
              </a:p>
              <a:p>
                <a:endParaRPr lang="es-MX" sz="2200" dirty="0">
                  <a:latin typeface="+mn-lt"/>
                  <a:ea typeface="Roboto" panose="02000000000000000000" pitchFamily="2" charset="0"/>
                </a:endParaRPr>
              </a:p>
              <a:p>
                <a:pPr marL="127000" indent="0">
                  <a:buNone/>
                </a:pPr>
                <a14:m>
                  <m:oMathPara xmlns:m="http://schemas.openxmlformats.org/officeDocument/2006/math">
                    <m:oMathParaPr>
                      <m:jc m:val="centerGroup"/>
                    </m:oMathParaPr>
                    <m:oMath xmlns:m="http://schemas.openxmlformats.org/officeDocument/2006/math">
                      <m:r>
                        <a:rPr lang="es-MX" sz="2200" b="0" i="1" smtClean="0">
                          <a:latin typeface="Cambria Math" panose="02040503050406030204" pitchFamily="18" charset="0"/>
                          <a:ea typeface="Roboto" panose="02000000000000000000" pitchFamily="2" charset="0"/>
                        </a:rPr>
                        <m:t>𝐴</m:t>
                      </m:r>
                      <m:r>
                        <a:rPr lang="es-MX" sz="2200" b="0" i="1" smtClean="0">
                          <a:latin typeface="Cambria Math" panose="02040503050406030204" pitchFamily="18" charset="0"/>
                          <a:ea typeface="Cambria Math" panose="02040503050406030204" pitchFamily="18" charset="0"/>
                        </a:rPr>
                        <m:t>=</m:t>
                      </m:r>
                      <m:r>
                        <a:rPr lang="es-MX" sz="2200" b="0" i="1" smtClean="0">
                          <a:latin typeface="Cambria Math" panose="02040503050406030204" pitchFamily="18" charset="0"/>
                          <a:ea typeface="Cambria Math" panose="02040503050406030204" pitchFamily="18" charset="0"/>
                        </a:rPr>
                        <m:t>𝐵</m:t>
                      </m:r>
                      <m:r>
                        <a:rPr lang="es-MX" sz="2200" i="1">
                          <a:latin typeface="Cambria Math" panose="02040503050406030204" pitchFamily="18" charset="0"/>
                          <a:ea typeface="Cambria Math" panose="02040503050406030204" pitchFamily="18" charset="0"/>
                        </a:rPr>
                        <m:t>⇔∀</m:t>
                      </m:r>
                      <m:r>
                        <a:rPr lang="es-MX" sz="2200" i="1">
                          <a:latin typeface="Cambria Math" panose="02040503050406030204" pitchFamily="18" charset="0"/>
                          <a:ea typeface="Cambria Math" panose="02040503050406030204" pitchFamily="18" charset="0"/>
                        </a:rPr>
                        <m:t>𝑥</m:t>
                      </m:r>
                      <m:r>
                        <a:rPr lang="es-MX" sz="2200" i="1">
                          <a:latin typeface="Cambria Math" panose="02040503050406030204" pitchFamily="18" charset="0"/>
                          <a:ea typeface="Cambria Math" panose="02040503050406030204" pitchFamily="18" charset="0"/>
                        </a:rPr>
                        <m:t> (</m:t>
                      </m:r>
                      <m:r>
                        <a:rPr lang="es-MX" sz="2200" i="1">
                          <a:latin typeface="Cambria Math" panose="02040503050406030204" pitchFamily="18" charset="0"/>
                          <a:ea typeface="Cambria Math" panose="02040503050406030204" pitchFamily="18" charset="0"/>
                        </a:rPr>
                        <m:t>𝑥</m:t>
                      </m:r>
                      <m:r>
                        <a:rPr lang="es-MX" sz="2200" i="1">
                          <a:latin typeface="Cambria Math" panose="02040503050406030204" pitchFamily="18" charset="0"/>
                          <a:ea typeface="Cambria Math" panose="02040503050406030204" pitchFamily="18" charset="0"/>
                        </a:rPr>
                        <m:t>∈</m:t>
                      </m:r>
                      <m:r>
                        <a:rPr lang="es-MX" sz="2200" i="1">
                          <a:latin typeface="Cambria Math" panose="02040503050406030204" pitchFamily="18" charset="0"/>
                          <a:ea typeface="Cambria Math" panose="02040503050406030204" pitchFamily="18" charset="0"/>
                        </a:rPr>
                        <m:t>𝐴</m:t>
                      </m:r>
                      <m:r>
                        <a:rPr lang="es-MX" sz="2200" i="1" smtClean="0">
                          <a:latin typeface="Cambria Math" panose="02040503050406030204" pitchFamily="18" charset="0"/>
                          <a:ea typeface="Cambria Math" panose="02040503050406030204" pitchFamily="18" charset="0"/>
                        </a:rPr>
                        <m:t>↔</m:t>
                      </m:r>
                      <m:r>
                        <a:rPr lang="es-MX" sz="2200" i="1">
                          <a:latin typeface="Cambria Math" panose="02040503050406030204" pitchFamily="18" charset="0"/>
                          <a:ea typeface="Cambria Math" panose="02040503050406030204" pitchFamily="18" charset="0"/>
                        </a:rPr>
                        <m:t>𝑥</m:t>
                      </m:r>
                      <m:r>
                        <a:rPr lang="es-MX" sz="2200" i="1">
                          <a:latin typeface="Cambria Math" panose="02040503050406030204" pitchFamily="18" charset="0"/>
                          <a:ea typeface="Cambria Math" panose="02040503050406030204" pitchFamily="18" charset="0"/>
                        </a:rPr>
                        <m:t>∈</m:t>
                      </m:r>
                      <m:r>
                        <a:rPr lang="es-MX" sz="2200" b="0" i="1" smtClean="0">
                          <a:latin typeface="Cambria Math" panose="02040503050406030204" pitchFamily="18" charset="0"/>
                          <a:ea typeface="Cambria Math" panose="02040503050406030204" pitchFamily="18" charset="0"/>
                        </a:rPr>
                        <m:t>𝐵</m:t>
                      </m:r>
                      <m:r>
                        <a:rPr lang="es-MX" sz="2200" i="1">
                          <a:latin typeface="Cambria Math" panose="02040503050406030204" pitchFamily="18" charset="0"/>
                          <a:ea typeface="Cambria Math" panose="02040503050406030204" pitchFamily="18" charset="0"/>
                        </a:rPr>
                        <m:t>)</m:t>
                      </m:r>
                    </m:oMath>
                  </m:oMathPara>
                </a14:m>
                <a:endParaRPr lang="es-MX" sz="2200" dirty="0">
                  <a:latin typeface="+mn-lt"/>
                  <a:ea typeface="Roboto" panose="02000000000000000000" pitchFamily="2" charset="0"/>
                </a:endParaRPr>
              </a:p>
              <a:p>
                <a:endParaRPr lang="es-MX" sz="2200" dirty="0">
                  <a:latin typeface="+mn-lt"/>
                  <a:ea typeface="Roboto" panose="02000000000000000000" pitchFamily="2" charset="0"/>
                </a:endParaRPr>
              </a:p>
            </p:txBody>
          </p:sp>
        </mc:Choice>
        <mc:Fallback xmlns="">
          <p:sp>
            <p:nvSpPr>
              <p:cNvPr id="7" name="Google Shape;310;p34">
                <a:extLst>
                  <a:ext uri="{FF2B5EF4-FFF2-40B4-BE49-F238E27FC236}">
                    <a16:creationId xmlns:a16="http://schemas.microsoft.com/office/drawing/2014/main" id="{C1EB8144-8BAC-4290-B469-B1AFD5BDF721}"/>
                  </a:ext>
                </a:extLst>
              </p:cNvPr>
              <p:cNvSpPr txBox="1">
                <a:spLocks noRot="1" noChangeAspect="1" noMove="1" noResize="1" noEditPoints="1" noAdjustHandles="1" noChangeArrowheads="1" noChangeShapeType="1" noTextEdit="1"/>
              </p:cNvSpPr>
              <p:nvPr/>
            </p:nvSpPr>
            <p:spPr>
              <a:xfrm>
                <a:off x="221227" y="1311008"/>
                <a:ext cx="10781071" cy="3246243"/>
              </a:xfrm>
              <a:prstGeom prst="rect">
                <a:avLst/>
              </a:prstGeom>
              <a:blipFill>
                <a:blip r:embed="rId3"/>
                <a:stretch>
                  <a:fillRect/>
                </a:stretch>
              </a:blipFill>
              <a:ln>
                <a:noFill/>
              </a:ln>
            </p:spPr>
            <p:txBody>
              <a:bodyPr/>
              <a:lstStyle/>
              <a:p>
                <a:r>
                  <a:rPr lang="es-CO">
                    <a:noFill/>
                  </a:rPr>
                  <a:t> </a:t>
                </a:r>
              </a:p>
            </p:txBody>
          </p:sp>
        </mc:Fallback>
      </mc:AlternateContent>
      <p:pic>
        <p:nvPicPr>
          <p:cNvPr id="3" name="Imagen 2">
            <a:extLst>
              <a:ext uri="{FF2B5EF4-FFF2-40B4-BE49-F238E27FC236}">
                <a16:creationId xmlns:a16="http://schemas.microsoft.com/office/drawing/2014/main" id="{A8FD1AAF-E170-4307-850B-795EE9A99848}"/>
              </a:ext>
            </a:extLst>
          </p:cNvPr>
          <p:cNvPicPr>
            <a:picLocks noChangeAspect="1"/>
          </p:cNvPicPr>
          <p:nvPr/>
        </p:nvPicPr>
        <p:blipFill>
          <a:blip r:embed="rId4"/>
          <a:stretch>
            <a:fillRect/>
          </a:stretch>
        </p:blipFill>
        <p:spPr>
          <a:xfrm>
            <a:off x="8421946" y="2222213"/>
            <a:ext cx="2885152" cy="2423529"/>
          </a:xfrm>
          <a:prstGeom prst="rect">
            <a:avLst/>
          </a:prstGeom>
        </p:spPr>
      </p:pic>
    </p:spTree>
    <p:extLst>
      <p:ext uri="{BB962C8B-B14F-4D97-AF65-F5344CB8AC3E}">
        <p14:creationId xmlns:p14="http://schemas.microsoft.com/office/powerpoint/2010/main" val="4562941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132735" y="214028"/>
            <a:ext cx="11842955" cy="109698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Igualdad entre conjuntos</a:t>
            </a:r>
            <a:endParaRPr dirty="0">
              <a:solidFill>
                <a:schemeClr val="tx1"/>
              </a:solidFill>
              <a:latin typeface="+mj-lt"/>
            </a:endParaRPr>
          </a:p>
        </p:txBody>
      </p:sp>
      <mc:AlternateContent xmlns:mc="http://schemas.openxmlformats.org/markup-compatibility/2006" xmlns:a14="http://schemas.microsoft.com/office/drawing/2010/main">
        <mc:Choice Requires="a14">
          <p:sp>
            <p:nvSpPr>
              <p:cNvPr id="20" name="Google Shape;310;p34">
                <a:extLst>
                  <a:ext uri="{FF2B5EF4-FFF2-40B4-BE49-F238E27FC236}">
                    <a16:creationId xmlns:a16="http://schemas.microsoft.com/office/drawing/2014/main" id="{4CC3BD47-C7C5-43C0-8EA5-7652782E79B4}"/>
                  </a:ext>
                </a:extLst>
              </p:cNvPr>
              <p:cNvSpPr txBox="1">
                <a:spLocks/>
              </p:cNvSpPr>
              <p:nvPr/>
            </p:nvSpPr>
            <p:spPr>
              <a:xfrm>
                <a:off x="132735" y="1086405"/>
                <a:ext cx="11387088" cy="184195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200" b="1" dirty="0">
                    <a:latin typeface="+mn-lt"/>
                    <a:ea typeface="Roboto" panose="02000000000000000000" pitchFamily="2" charset="0"/>
                  </a:rPr>
                  <a:t>Ejemplo</a:t>
                </a:r>
                <a:r>
                  <a:rPr lang="es-MX" sz="2200" dirty="0">
                    <a:latin typeface="+mn-lt"/>
                    <a:ea typeface="Roboto" panose="02000000000000000000" pitchFamily="2" charset="0"/>
                  </a:rPr>
                  <a:t>: </a:t>
                </a:r>
              </a:p>
              <a:p>
                <a:pPr marL="584200" indent="-457200">
                  <a:buFont typeface="+mj-lt"/>
                  <a:buAutoNum type="arabicPeriod"/>
                </a:pPr>
                <a:r>
                  <a:rPr lang="es-MX" sz="2200" dirty="0">
                    <a:latin typeface="+mn-lt"/>
                    <a:ea typeface="Roboto" panose="02000000000000000000" pitchFamily="2" charset="0"/>
                  </a:rPr>
                  <a:t>Si </a:t>
                </a:r>
                <a14:m>
                  <m:oMath xmlns:m="http://schemas.openxmlformats.org/officeDocument/2006/math">
                    <m:r>
                      <a:rPr lang="es-MX" sz="2200" b="0" i="1" smtClean="0">
                        <a:latin typeface="Cambria Math" panose="02040503050406030204" pitchFamily="18" charset="0"/>
                        <a:ea typeface="Roboto" panose="02000000000000000000" pitchFamily="2" charset="0"/>
                      </a:rPr>
                      <m:t>𝐴</m:t>
                    </m:r>
                    <m:r>
                      <a:rPr lang="es-MX" sz="2200" b="0" i="1" smtClean="0">
                        <a:latin typeface="Cambria Math" panose="02040503050406030204" pitchFamily="18" charset="0"/>
                        <a:ea typeface="Roboto" panose="02000000000000000000" pitchFamily="2" charset="0"/>
                      </a:rPr>
                      <m:t>=</m:t>
                    </m:r>
                    <m:d>
                      <m:dPr>
                        <m:begChr m:val="{"/>
                        <m:endChr m:val="}"/>
                        <m:ctrlPr>
                          <a:rPr lang="es-MX" sz="2200" b="0" i="1" smtClean="0">
                            <a:latin typeface="Cambria Math" panose="02040503050406030204" pitchFamily="18" charset="0"/>
                            <a:ea typeface="Roboto" panose="02000000000000000000" pitchFamily="2" charset="0"/>
                          </a:rPr>
                        </m:ctrlPr>
                      </m:dPr>
                      <m:e>
                        <m:r>
                          <a:rPr lang="es-MX" sz="2200" b="0" i="1" smtClean="0">
                            <a:latin typeface="Cambria Math" panose="02040503050406030204" pitchFamily="18" charset="0"/>
                            <a:ea typeface="Roboto" panose="02000000000000000000" pitchFamily="2" charset="0"/>
                          </a:rPr>
                          <m:t>1,2,3</m:t>
                        </m:r>
                      </m:e>
                    </m:d>
                  </m:oMath>
                </a14:m>
                <a:r>
                  <a:rPr lang="es-MX" sz="2200" dirty="0">
                    <a:latin typeface="+mn-lt"/>
                    <a:ea typeface="Roboto" panose="02000000000000000000" pitchFamily="2" charset="0"/>
                  </a:rPr>
                  <a:t> y </a:t>
                </a:r>
                <a14:m>
                  <m:oMath xmlns:m="http://schemas.openxmlformats.org/officeDocument/2006/math">
                    <m:r>
                      <a:rPr lang="es-MX" sz="2200" b="0" i="1" smtClean="0">
                        <a:latin typeface="Cambria Math" panose="02040503050406030204" pitchFamily="18" charset="0"/>
                        <a:ea typeface="Roboto" panose="02000000000000000000" pitchFamily="2" charset="0"/>
                      </a:rPr>
                      <m:t>𝐵</m:t>
                    </m:r>
                    <m:r>
                      <a:rPr lang="es-MX" sz="2200" i="1">
                        <a:latin typeface="Cambria Math" panose="02040503050406030204" pitchFamily="18" charset="0"/>
                        <a:ea typeface="Roboto" panose="02000000000000000000" pitchFamily="2" charset="0"/>
                      </a:rPr>
                      <m:t>=</m:t>
                    </m:r>
                    <m:d>
                      <m:dPr>
                        <m:begChr m:val="{"/>
                        <m:endChr m:val="}"/>
                        <m:ctrlPr>
                          <a:rPr lang="es-MX" sz="2200" i="1">
                            <a:latin typeface="Cambria Math" panose="02040503050406030204" pitchFamily="18" charset="0"/>
                            <a:ea typeface="Roboto" panose="02000000000000000000" pitchFamily="2" charset="0"/>
                          </a:rPr>
                        </m:ctrlPr>
                      </m:dPr>
                      <m:e>
                        <m:r>
                          <a:rPr lang="es-MX" sz="2200" b="0" i="1" smtClean="0">
                            <a:latin typeface="Cambria Math" panose="02040503050406030204" pitchFamily="18" charset="0"/>
                            <a:ea typeface="Roboto" panose="02000000000000000000" pitchFamily="2" charset="0"/>
                          </a:rPr>
                          <m:t>3,2,1</m:t>
                        </m:r>
                      </m:e>
                    </m:d>
                  </m:oMath>
                </a14:m>
                <a:r>
                  <a:rPr lang="es-MX" sz="2200" dirty="0">
                    <a:latin typeface="+mn-lt"/>
                    <a:ea typeface="Roboto" panose="02000000000000000000" pitchFamily="2" charset="0"/>
                  </a:rPr>
                  <a:t>, como los elementos, independiente del orden, de ambos conjuntos son los mismos </a:t>
                </a:r>
                <a14:m>
                  <m:oMath xmlns:m="http://schemas.openxmlformats.org/officeDocument/2006/math">
                    <m:r>
                      <a:rPr lang="es-MX" sz="2200" i="1">
                        <a:latin typeface="Cambria Math" panose="02040503050406030204" pitchFamily="18" charset="0"/>
                        <a:ea typeface="Roboto" panose="02000000000000000000" pitchFamily="2" charset="0"/>
                      </a:rPr>
                      <m:t>𝐴</m:t>
                    </m:r>
                    <m:r>
                      <a:rPr lang="es-MX" sz="2200" b="0" i="1" smtClean="0">
                        <a:latin typeface="Cambria Math" panose="02040503050406030204" pitchFamily="18" charset="0"/>
                        <a:ea typeface="Cambria Math" panose="02040503050406030204" pitchFamily="18" charset="0"/>
                      </a:rPr>
                      <m:t>=</m:t>
                    </m:r>
                    <m:r>
                      <a:rPr lang="es-MX" sz="2200" i="1">
                        <a:latin typeface="Cambria Math" panose="02040503050406030204" pitchFamily="18" charset="0"/>
                        <a:ea typeface="Cambria Math" panose="02040503050406030204" pitchFamily="18" charset="0"/>
                      </a:rPr>
                      <m:t>𝐵</m:t>
                    </m:r>
                  </m:oMath>
                </a14:m>
                <a:endParaRPr lang="es-MX" sz="2200" dirty="0">
                  <a:latin typeface="+mn-lt"/>
                  <a:ea typeface="Roboto" panose="02000000000000000000" pitchFamily="2" charset="0"/>
                </a:endParaRPr>
              </a:p>
              <a:p>
                <a:pPr marL="584200" indent="-457200">
                  <a:buFont typeface="+mj-lt"/>
                  <a:buAutoNum type="arabicPeriod"/>
                </a:pPr>
                <a:r>
                  <a:rPr lang="es-MX" sz="2200" dirty="0">
                    <a:latin typeface="+mn-lt"/>
                    <a:ea typeface="Roboto" panose="02000000000000000000" pitchFamily="2" charset="0"/>
                  </a:rPr>
                  <a:t>Sea </a:t>
                </a:r>
                <a14:m>
                  <m:oMath xmlns:m="http://schemas.openxmlformats.org/officeDocument/2006/math">
                    <m:r>
                      <a:rPr lang="es-MX" sz="2200" b="0" i="1" smtClean="0">
                        <a:latin typeface="Cambria Math" panose="02040503050406030204" pitchFamily="18" charset="0"/>
                        <a:ea typeface="Roboto" panose="02000000000000000000" pitchFamily="2" charset="0"/>
                      </a:rPr>
                      <m:t>𝐶</m:t>
                    </m:r>
                    <m:r>
                      <a:rPr lang="es-MX" sz="2200" i="1">
                        <a:latin typeface="Cambria Math" panose="02040503050406030204" pitchFamily="18" charset="0"/>
                        <a:ea typeface="Roboto" panose="02000000000000000000" pitchFamily="2" charset="0"/>
                      </a:rPr>
                      <m:t>=</m:t>
                    </m:r>
                    <m:d>
                      <m:dPr>
                        <m:begChr m:val="{"/>
                        <m:endChr m:val="}"/>
                        <m:ctrlPr>
                          <a:rPr lang="es-MX" sz="2200" i="1">
                            <a:latin typeface="Cambria Math" panose="02040503050406030204" pitchFamily="18" charset="0"/>
                            <a:ea typeface="Roboto" panose="02000000000000000000" pitchFamily="2" charset="0"/>
                          </a:rPr>
                        </m:ctrlPr>
                      </m:dPr>
                      <m:e>
                        <m:r>
                          <a:rPr lang="es-MX" sz="2200" i="1">
                            <a:latin typeface="Cambria Math" panose="02040503050406030204" pitchFamily="18" charset="0"/>
                            <a:ea typeface="Roboto" panose="02000000000000000000" pitchFamily="2" charset="0"/>
                          </a:rPr>
                          <m:t>3</m:t>
                        </m:r>
                        <m:r>
                          <a:rPr lang="es-MX" sz="2200" b="0" i="1" smtClean="0">
                            <a:latin typeface="Cambria Math" panose="02040503050406030204" pitchFamily="18" charset="0"/>
                            <a:ea typeface="Roboto" panose="02000000000000000000" pitchFamily="2" charset="0"/>
                          </a:rPr>
                          <m:t>,5,1</m:t>
                        </m:r>
                      </m:e>
                    </m:d>
                  </m:oMath>
                </a14:m>
                <a:r>
                  <a:rPr lang="es-MX" sz="2200" dirty="0">
                    <a:latin typeface="+mn-lt"/>
                    <a:ea typeface="Roboto" panose="02000000000000000000" pitchFamily="2" charset="0"/>
                  </a:rPr>
                  <a:t> y </a:t>
                </a:r>
                <a14:m>
                  <m:oMath xmlns:m="http://schemas.openxmlformats.org/officeDocument/2006/math">
                    <m:r>
                      <a:rPr lang="es-MX" sz="2200" b="0" i="1" smtClean="0">
                        <a:latin typeface="Cambria Math" panose="02040503050406030204" pitchFamily="18" charset="0"/>
                        <a:ea typeface="Roboto" panose="02000000000000000000" pitchFamily="2" charset="0"/>
                      </a:rPr>
                      <m:t>𝐷</m:t>
                    </m:r>
                    <m:r>
                      <a:rPr lang="es-MX" sz="2200" i="1">
                        <a:latin typeface="Cambria Math" panose="02040503050406030204" pitchFamily="18" charset="0"/>
                        <a:ea typeface="Roboto" panose="02000000000000000000" pitchFamily="2" charset="0"/>
                      </a:rPr>
                      <m:t>=</m:t>
                    </m:r>
                    <m:d>
                      <m:dPr>
                        <m:begChr m:val="{"/>
                        <m:endChr m:val="}"/>
                        <m:ctrlPr>
                          <a:rPr lang="es-MX" sz="2200" i="1">
                            <a:latin typeface="Cambria Math" panose="02040503050406030204" pitchFamily="18" charset="0"/>
                            <a:ea typeface="Roboto" panose="02000000000000000000" pitchFamily="2" charset="0"/>
                          </a:rPr>
                        </m:ctrlPr>
                      </m:dPr>
                      <m:e>
                        <m:r>
                          <a:rPr lang="es-MX" sz="2200" b="0" i="1" smtClean="0">
                            <a:latin typeface="Cambria Math" panose="02040503050406030204" pitchFamily="18" charset="0"/>
                            <a:ea typeface="Roboto" panose="02000000000000000000" pitchFamily="2" charset="0"/>
                          </a:rPr>
                          <m:t>1,5,5,5,3,3,1</m:t>
                        </m:r>
                      </m:e>
                    </m:d>
                    <m:r>
                      <a:rPr lang="es-MX" sz="2200" b="0" i="1" smtClean="0">
                        <a:latin typeface="Cambria Math" panose="02040503050406030204" pitchFamily="18" charset="0"/>
                        <a:ea typeface="Roboto" panose="02000000000000000000" pitchFamily="2" charset="0"/>
                      </a:rPr>
                      <m:t>=</m:t>
                    </m:r>
                    <m:d>
                      <m:dPr>
                        <m:begChr m:val="{"/>
                        <m:endChr m:val="}"/>
                        <m:ctrlPr>
                          <a:rPr lang="es-MX" sz="2200" b="0" i="1" smtClean="0">
                            <a:latin typeface="Cambria Math" panose="02040503050406030204" pitchFamily="18" charset="0"/>
                            <a:ea typeface="Roboto" panose="02000000000000000000" pitchFamily="2" charset="0"/>
                          </a:rPr>
                        </m:ctrlPr>
                      </m:dPr>
                      <m:e>
                        <m:r>
                          <a:rPr lang="es-MX" sz="2200" b="0" i="1" smtClean="0">
                            <a:latin typeface="Cambria Math" panose="02040503050406030204" pitchFamily="18" charset="0"/>
                            <a:ea typeface="Roboto" panose="02000000000000000000" pitchFamily="2" charset="0"/>
                          </a:rPr>
                          <m:t>1,5,3</m:t>
                        </m:r>
                      </m:e>
                    </m:d>
                  </m:oMath>
                </a14:m>
                <a:r>
                  <a:rPr lang="es-MX" sz="2200" dirty="0">
                    <a:latin typeface="+mn-lt"/>
                    <a:ea typeface="Roboto" panose="02000000000000000000" pitchFamily="2" charset="0"/>
                  </a:rPr>
                  <a:t> y por lo tanto es valido afirmar que </a:t>
                </a:r>
                <a14:m>
                  <m:oMath xmlns:m="http://schemas.openxmlformats.org/officeDocument/2006/math">
                    <m:r>
                      <a:rPr lang="es-MX" sz="2200" b="0" i="1" smtClean="0">
                        <a:latin typeface="Cambria Math" panose="02040503050406030204" pitchFamily="18" charset="0"/>
                        <a:ea typeface="Roboto" panose="02000000000000000000" pitchFamily="2" charset="0"/>
                      </a:rPr>
                      <m:t>𝐶</m:t>
                    </m:r>
                    <m:r>
                      <a:rPr lang="es-MX" sz="2200" b="0" i="1" smtClean="0">
                        <a:latin typeface="Cambria Math" panose="02040503050406030204" pitchFamily="18" charset="0"/>
                        <a:ea typeface="Roboto" panose="02000000000000000000" pitchFamily="2" charset="0"/>
                      </a:rPr>
                      <m:t>=</m:t>
                    </m:r>
                    <m:r>
                      <a:rPr lang="es-MX" sz="2200" b="0" i="1" smtClean="0">
                        <a:latin typeface="Cambria Math" panose="02040503050406030204" pitchFamily="18" charset="0"/>
                        <a:ea typeface="Roboto" panose="02000000000000000000" pitchFamily="2" charset="0"/>
                      </a:rPr>
                      <m:t>𝐷</m:t>
                    </m:r>
                  </m:oMath>
                </a14:m>
                <a:r>
                  <a:rPr lang="es-MX" sz="2200" dirty="0">
                    <a:latin typeface="+mn-lt"/>
                    <a:ea typeface="Roboto" panose="02000000000000000000" pitchFamily="2" charset="0"/>
                  </a:rPr>
                  <a:t>.</a:t>
                </a:r>
              </a:p>
            </p:txBody>
          </p:sp>
        </mc:Choice>
        <mc:Fallback xmlns="">
          <p:sp>
            <p:nvSpPr>
              <p:cNvPr id="20" name="Google Shape;310;p34">
                <a:extLst>
                  <a:ext uri="{FF2B5EF4-FFF2-40B4-BE49-F238E27FC236}">
                    <a16:creationId xmlns:a16="http://schemas.microsoft.com/office/drawing/2014/main" id="{4CC3BD47-C7C5-43C0-8EA5-7652782E79B4}"/>
                  </a:ext>
                </a:extLst>
              </p:cNvPr>
              <p:cNvSpPr txBox="1">
                <a:spLocks noRot="1" noChangeAspect="1" noMove="1" noResize="1" noEditPoints="1" noAdjustHandles="1" noChangeArrowheads="1" noChangeShapeType="1" noTextEdit="1"/>
              </p:cNvSpPr>
              <p:nvPr/>
            </p:nvSpPr>
            <p:spPr>
              <a:xfrm>
                <a:off x="132735" y="1086405"/>
                <a:ext cx="11387088" cy="1841950"/>
              </a:xfrm>
              <a:prstGeom prst="rect">
                <a:avLst/>
              </a:prstGeom>
              <a:blipFill>
                <a:blip r:embed="rId3"/>
                <a:stretch>
                  <a:fillRect/>
                </a:stretch>
              </a:blipFill>
              <a:ln>
                <a:noFill/>
              </a:ln>
            </p:spPr>
            <p:txBody>
              <a:bodyPr/>
              <a:lstStyle/>
              <a:p>
                <a:r>
                  <a:rPr lang="es-CO">
                    <a:noFill/>
                  </a:rPr>
                  <a:t> </a:t>
                </a:r>
              </a:p>
            </p:txBody>
          </p:sp>
        </mc:Fallback>
      </mc:AlternateContent>
    </p:spTree>
    <p:extLst>
      <p:ext uri="{BB962C8B-B14F-4D97-AF65-F5344CB8AC3E}">
        <p14:creationId xmlns:p14="http://schemas.microsoft.com/office/powerpoint/2010/main" val="14272747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263013" y="184528"/>
            <a:ext cx="11665973" cy="112648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Igualdad entre conjuntos</a:t>
            </a:r>
            <a:endParaRPr dirty="0">
              <a:solidFill>
                <a:schemeClr val="tx1"/>
              </a:solidFill>
              <a:latin typeface="+mj-lt"/>
            </a:endParaRPr>
          </a:p>
        </p:txBody>
      </p:sp>
      <mc:AlternateContent xmlns:mc="http://schemas.openxmlformats.org/markup-compatibility/2006" xmlns:a14="http://schemas.microsoft.com/office/drawing/2010/main">
        <mc:Choice Requires="a14">
          <p:sp>
            <p:nvSpPr>
              <p:cNvPr id="7" name="Google Shape;310;p34">
                <a:extLst>
                  <a:ext uri="{FF2B5EF4-FFF2-40B4-BE49-F238E27FC236}">
                    <a16:creationId xmlns:a16="http://schemas.microsoft.com/office/drawing/2014/main" id="{C1EB8144-8BAC-4290-B469-B1AFD5BDF721}"/>
                  </a:ext>
                </a:extLst>
              </p:cNvPr>
              <p:cNvSpPr txBox="1">
                <a:spLocks/>
              </p:cNvSpPr>
              <p:nvPr/>
            </p:nvSpPr>
            <p:spPr>
              <a:xfrm>
                <a:off x="204021" y="1163526"/>
                <a:ext cx="11665973" cy="200737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200" b="1" dirty="0">
                    <a:solidFill>
                      <a:schemeClr val="tx1"/>
                    </a:solidFill>
                    <a:latin typeface="+mn-lt"/>
                    <a:ea typeface="Roboto" panose="02000000000000000000" pitchFamily="2" charset="0"/>
                  </a:rPr>
                  <a:t>Conclusiones importantes</a:t>
                </a:r>
                <a:r>
                  <a:rPr lang="es-MX" sz="2200" dirty="0">
                    <a:solidFill>
                      <a:schemeClr val="tx1"/>
                    </a:solidFill>
                    <a:latin typeface="+mn-lt"/>
                    <a:ea typeface="Roboto" panose="02000000000000000000" pitchFamily="2" charset="0"/>
                  </a:rPr>
                  <a:t>:</a:t>
                </a:r>
              </a:p>
              <a:p>
                <a:r>
                  <a:rPr lang="es-MX" sz="2200" dirty="0">
                    <a:latin typeface="+mn-lt"/>
                    <a:ea typeface="Roboto" panose="02000000000000000000" pitchFamily="2" charset="0"/>
                  </a:rPr>
                  <a:t>Dos conjuntos </a:t>
                </a:r>
                <a:r>
                  <a:rPr lang="es-MX" sz="2200" b="1" dirty="0">
                    <a:latin typeface="+mn-lt"/>
                    <a:ea typeface="Roboto" panose="02000000000000000000" pitchFamily="2" charset="0"/>
                  </a:rPr>
                  <a:t>son diferentes</a:t>
                </a:r>
                <a:r>
                  <a:rPr lang="es-MX" sz="2200" dirty="0">
                    <a:latin typeface="+mn-lt"/>
                    <a:ea typeface="Roboto" panose="02000000000000000000" pitchFamily="2" charset="0"/>
                  </a:rPr>
                  <a:t> cuando no tienen exactamente los mismos elementos; o en otras palabras, cuando hay al menos un elemento que está en uno y no está en el otro. Esto es:</a:t>
                </a:r>
              </a:p>
              <a:p>
                <a:pPr marL="127000" indent="0">
                  <a:buNone/>
                </a:pPr>
                <a:endParaRPr lang="es-MX" sz="2200" dirty="0">
                  <a:latin typeface="Roboto" panose="02000000000000000000" pitchFamily="2" charset="0"/>
                  <a:ea typeface="Roboto" panose="02000000000000000000" pitchFamily="2" charset="0"/>
                </a:endParaRPr>
              </a:p>
              <a:p>
                <a:pPr marL="127000" indent="0">
                  <a:buNone/>
                </a:pPr>
                <a14:m>
                  <m:oMathPara xmlns:m="http://schemas.openxmlformats.org/officeDocument/2006/math">
                    <m:oMathParaPr>
                      <m:jc m:val="centerGroup"/>
                    </m:oMathParaPr>
                    <m:oMath xmlns:m="http://schemas.openxmlformats.org/officeDocument/2006/math">
                      <m:r>
                        <a:rPr lang="es-MX" sz="2200" b="0" i="1" smtClean="0">
                          <a:latin typeface="Cambria Math" panose="02040503050406030204" pitchFamily="18" charset="0"/>
                          <a:ea typeface="Roboto" panose="02000000000000000000" pitchFamily="2" charset="0"/>
                        </a:rPr>
                        <m:t>𝐴</m:t>
                      </m:r>
                      <m:r>
                        <a:rPr lang="es-MX" sz="2200" b="0" i="1" smtClean="0">
                          <a:latin typeface="Cambria Math" panose="02040503050406030204" pitchFamily="18" charset="0"/>
                          <a:ea typeface="Cambria Math" panose="02040503050406030204" pitchFamily="18" charset="0"/>
                        </a:rPr>
                        <m:t>≠</m:t>
                      </m:r>
                      <m:r>
                        <a:rPr lang="es-MX" sz="2200" b="0" i="1" smtClean="0">
                          <a:latin typeface="Cambria Math" panose="02040503050406030204" pitchFamily="18" charset="0"/>
                          <a:ea typeface="Cambria Math" panose="02040503050406030204" pitchFamily="18" charset="0"/>
                        </a:rPr>
                        <m:t>𝐵</m:t>
                      </m:r>
                      <m:r>
                        <a:rPr lang="es-MX" sz="2200" i="1">
                          <a:latin typeface="Cambria Math" panose="02040503050406030204" pitchFamily="18" charset="0"/>
                          <a:ea typeface="Cambria Math" panose="02040503050406030204" pitchFamily="18" charset="0"/>
                        </a:rPr>
                        <m:t>⇔</m:t>
                      </m:r>
                      <m:r>
                        <a:rPr lang="es-MX" sz="2200" b="0" i="1" smtClean="0">
                          <a:latin typeface="Cambria Math" panose="02040503050406030204" pitchFamily="18" charset="0"/>
                          <a:ea typeface="Cambria Math" panose="02040503050406030204" pitchFamily="18" charset="0"/>
                        </a:rPr>
                        <m:t>∃</m:t>
                      </m:r>
                      <m:r>
                        <a:rPr lang="es-MX" sz="2200" i="1">
                          <a:latin typeface="Cambria Math" panose="02040503050406030204" pitchFamily="18" charset="0"/>
                          <a:ea typeface="Cambria Math" panose="02040503050406030204" pitchFamily="18" charset="0"/>
                        </a:rPr>
                        <m:t>𝑥</m:t>
                      </m:r>
                      <m:r>
                        <a:rPr lang="es-MX" sz="2200" i="1">
                          <a:latin typeface="Cambria Math" panose="02040503050406030204" pitchFamily="18" charset="0"/>
                          <a:ea typeface="Cambria Math" panose="02040503050406030204" pitchFamily="18" charset="0"/>
                        </a:rPr>
                        <m:t> (</m:t>
                      </m:r>
                      <m:r>
                        <a:rPr lang="es-MX" sz="2200" i="1">
                          <a:latin typeface="Cambria Math" panose="02040503050406030204" pitchFamily="18" charset="0"/>
                          <a:ea typeface="Cambria Math" panose="02040503050406030204" pitchFamily="18" charset="0"/>
                        </a:rPr>
                        <m:t>𝑥</m:t>
                      </m:r>
                      <m:r>
                        <a:rPr lang="es-MX" sz="2200" i="1">
                          <a:latin typeface="Cambria Math" panose="02040503050406030204" pitchFamily="18" charset="0"/>
                          <a:ea typeface="Cambria Math" panose="02040503050406030204" pitchFamily="18" charset="0"/>
                        </a:rPr>
                        <m:t>∈</m:t>
                      </m:r>
                      <m:r>
                        <a:rPr lang="es-MX" sz="2200" i="1">
                          <a:latin typeface="Cambria Math" panose="02040503050406030204" pitchFamily="18" charset="0"/>
                          <a:ea typeface="Cambria Math" panose="02040503050406030204" pitchFamily="18" charset="0"/>
                        </a:rPr>
                        <m:t>𝐴</m:t>
                      </m:r>
                      <m:r>
                        <a:rPr lang="es-MX" sz="2200" b="0" i="1" smtClean="0">
                          <a:latin typeface="Cambria Math" panose="02040503050406030204" pitchFamily="18" charset="0"/>
                          <a:ea typeface="Cambria Math" panose="02040503050406030204" pitchFamily="18" charset="0"/>
                        </a:rPr>
                        <m:t>↔</m:t>
                      </m:r>
                      <m:r>
                        <a:rPr lang="es-MX" sz="2200" i="1">
                          <a:latin typeface="Cambria Math" panose="02040503050406030204" pitchFamily="18" charset="0"/>
                          <a:ea typeface="Cambria Math" panose="02040503050406030204" pitchFamily="18" charset="0"/>
                        </a:rPr>
                        <m:t>𝑥</m:t>
                      </m:r>
                      <m:r>
                        <a:rPr lang="es-MX" sz="2200" b="0" i="1" smtClean="0">
                          <a:latin typeface="Cambria Math" panose="02040503050406030204" pitchFamily="18" charset="0"/>
                          <a:ea typeface="Cambria Math" panose="02040503050406030204" pitchFamily="18" charset="0"/>
                        </a:rPr>
                        <m:t>∉</m:t>
                      </m:r>
                      <m:r>
                        <a:rPr lang="es-MX" sz="2200" b="0" i="1" smtClean="0">
                          <a:latin typeface="Cambria Math" panose="02040503050406030204" pitchFamily="18" charset="0"/>
                          <a:ea typeface="Cambria Math" panose="02040503050406030204" pitchFamily="18" charset="0"/>
                        </a:rPr>
                        <m:t>𝐵</m:t>
                      </m:r>
                      <m:r>
                        <a:rPr lang="es-MX" sz="2200" i="1">
                          <a:latin typeface="Cambria Math" panose="02040503050406030204" pitchFamily="18" charset="0"/>
                          <a:ea typeface="Cambria Math" panose="02040503050406030204" pitchFamily="18" charset="0"/>
                        </a:rPr>
                        <m:t>)</m:t>
                      </m:r>
                    </m:oMath>
                  </m:oMathPara>
                </a14:m>
                <a:endParaRPr lang="es-MX" sz="2200" dirty="0">
                  <a:latin typeface="Roboto" panose="02000000000000000000" pitchFamily="2" charset="0"/>
                  <a:ea typeface="Roboto" panose="02000000000000000000" pitchFamily="2" charset="0"/>
                </a:endParaRPr>
              </a:p>
            </p:txBody>
          </p:sp>
        </mc:Choice>
        <mc:Fallback xmlns="">
          <p:sp>
            <p:nvSpPr>
              <p:cNvPr id="7" name="Google Shape;310;p34">
                <a:extLst>
                  <a:ext uri="{FF2B5EF4-FFF2-40B4-BE49-F238E27FC236}">
                    <a16:creationId xmlns:a16="http://schemas.microsoft.com/office/drawing/2014/main" id="{C1EB8144-8BAC-4290-B469-B1AFD5BDF721}"/>
                  </a:ext>
                </a:extLst>
              </p:cNvPr>
              <p:cNvSpPr txBox="1">
                <a:spLocks noRot="1" noChangeAspect="1" noMove="1" noResize="1" noEditPoints="1" noAdjustHandles="1" noChangeArrowheads="1" noChangeShapeType="1" noTextEdit="1"/>
              </p:cNvSpPr>
              <p:nvPr/>
            </p:nvSpPr>
            <p:spPr>
              <a:xfrm>
                <a:off x="204021" y="1163526"/>
                <a:ext cx="11665973" cy="2007377"/>
              </a:xfrm>
              <a:prstGeom prst="rect">
                <a:avLst/>
              </a:prstGeom>
              <a:blipFill>
                <a:blip r:embed="rId3"/>
                <a:stretch>
                  <a:fillRect b="-2736"/>
                </a:stretch>
              </a:blipFill>
              <a:ln>
                <a:noFill/>
              </a:ln>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81773997-0A67-4945-8632-19EEA1C654CE}"/>
                  </a:ext>
                </a:extLst>
              </p:cNvPr>
              <p:cNvSpPr txBox="1"/>
              <p:nvPr/>
            </p:nvSpPr>
            <p:spPr>
              <a:xfrm>
                <a:off x="292510" y="3429000"/>
                <a:ext cx="11447206" cy="2585323"/>
              </a:xfrm>
              <a:prstGeom prst="rect">
                <a:avLst/>
              </a:prstGeom>
              <a:noFill/>
            </p:spPr>
            <p:txBody>
              <a:bodyPr wrap="square">
                <a:spAutoFit/>
              </a:bodyPr>
              <a:lstStyle/>
              <a:p>
                <a:pPr marL="127000" indent="0">
                  <a:buNone/>
                </a:pPr>
                <a:r>
                  <a:rPr lang="es-MX" sz="2200" b="1" dirty="0">
                    <a:ea typeface="Cambria Math" panose="02040503050406030204" pitchFamily="18" charset="0"/>
                  </a:rPr>
                  <a:t>Ejemplo</a:t>
                </a:r>
                <a:r>
                  <a:rPr lang="es-MX" sz="2200" dirty="0">
                    <a:ea typeface="Cambria Math" panose="02040503050406030204" pitchFamily="18" charset="0"/>
                  </a:rPr>
                  <a:t>: Dados los siguientes conjuntos explore las relaciones de igualdad y diferencia.</a:t>
                </a:r>
              </a:p>
              <a:p>
                <a:pPr marL="127000" indent="0">
                  <a:buNone/>
                </a:pPr>
                <a14:m>
                  <m:oMathPara xmlns:m="http://schemas.openxmlformats.org/officeDocument/2006/math">
                    <m:oMathParaPr>
                      <m:jc m:val="left"/>
                    </m:oMathParaPr>
                    <m:oMath xmlns:m="http://schemas.openxmlformats.org/officeDocument/2006/math">
                      <m:r>
                        <a:rPr lang="es-MX" sz="2000" b="0" i="1" smtClean="0">
                          <a:latin typeface="Cambria Math" panose="02040503050406030204" pitchFamily="18" charset="0"/>
                          <a:ea typeface="Roboto" panose="02000000000000000000" pitchFamily="2" charset="0"/>
                        </a:rPr>
                        <m:t>𝐴</m:t>
                      </m:r>
                      <m:r>
                        <a:rPr lang="es-MX" sz="2000" b="0" i="1" smtClean="0">
                          <a:latin typeface="Cambria Math" panose="02040503050406030204" pitchFamily="18" charset="0"/>
                          <a:ea typeface="Roboto" panose="02000000000000000000" pitchFamily="2" charset="0"/>
                        </a:rPr>
                        <m:t>=</m:t>
                      </m:r>
                      <m:d>
                        <m:dPr>
                          <m:begChr m:val="{"/>
                          <m:endChr m:val="}"/>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1, 2, 3</m:t>
                          </m:r>
                        </m:e>
                      </m:d>
                    </m:oMath>
                  </m:oMathPara>
                </a14:m>
                <a:endParaRPr lang="es-MX" sz="2000" b="0" dirty="0">
                  <a:latin typeface="Roboto" panose="02000000000000000000" pitchFamily="2" charset="0"/>
                  <a:ea typeface="Roboto" panose="02000000000000000000" pitchFamily="2" charset="0"/>
                </a:endParaRPr>
              </a:p>
              <a:p>
                <a:pPr marL="127000" indent="0">
                  <a:buNone/>
                </a:pPr>
                <a:endParaRPr lang="es-MX" sz="2000" dirty="0">
                  <a:latin typeface="Roboto" panose="02000000000000000000" pitchFamily="2" charset="0"/>
                  <a:ea typeface="Roboto" panose="02000000000000000000" pitchFamily="2" charset="0"/>
                </a:endParaRPr>
              </a:p>
              <a:p>
                <a:pPr marL="127000"/>
                <a14:m>
                  <m:oMathPara xmlns:m="http://schemas.openxmlformats.org/officeDocument/2006/math">
                    <m:oMathParaPr>
                      <m:jc m:val="left"/>
                    </m:oMathParaPr>
                    <m:oMath xmlns:m="http://schemas.openxmlformats.org/officeDocument/2006/math">
                      <m:r>
                        <a:rPr lang="es-MX" sz="2000" b="0" i="1" smtClean="0">
                          <a:latin typeface="Cambria Math" panose="02040503050406030204" pitchFamily="18" charset="0"/>
                          <a:ea typeface="Roboto" panose="02000000000000000000" pitchFamily="2" charset="0"/>
                        </a:rPr>
                        <m:t>𝐵</m:t>
                      </m:r>
                      <m:r>
                        <a:rPr lang="es-MX" sz="2000" b="0" i="1" smtClean="0">
                          <a:latin typeface="Cambria Math" panose="02040503050406030204" pitchFamily="18" charset="0"/>
                          <a:ea typeface="Roboto" panose="02000000000000000000" pitchFamily="2" charset="0"/>
                        </a:rPr>
                        <m:t>=</m:t>
                      </m:r>
                      <m:d>
                        <m:dPr>
                          <m:begChr m:val="{"/>
                          <m:endChr m:val="}"/>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1, 2, 2, 3, 4</m:t>
                          </m:r>
                        </m:e>
                      </m:d>
                    </m:oMath>
                  </m:oMathPara>
                </a14:m>
                <a:endParaRPr lang="es-MX" sz="2000" b="0" dirty="0">
                  <a:latin typeface="Roboto" panose="02000000000000000000" pitchFamily="2" charset="0"/>
                  <a:ea typeface="Roboto" panose="02000000000000000000" pitchFamily="2" charset="0"/>
                </a:endParaRPr>
              </a:p>
              <a:p>
                <a:pPr marL="127000" indent="0">
                  <a:buNone/>
                </a:pPr>
                <a:endParaRPr lang="es-MX" sz="2000" dirty="0">
                  <a:latin typeface="Roboto" panose="02000000000000000000" pitchFamily="2" charset="0"/>
                  <a:ea typeface="Roboto" panose="02000000000000000000" pitchFamily="2" charset="0"/>
                </a:endParaRPr>
              </a:p>
              <a:p>
                <a:pPr marL="127000"/>
                <a14:m>
                  <m:oMathPara xmlns:m="http://schemas.openxmlformats.org/officeDocument/2006/math">
                    <m:oMathParaPr>
                      <m:jc m:val="left"/>
                    </m:oMathParaPr>
                    <m:oMath xmlns:m="http://schemas.openxmlformats.org/officeDocument/2006/math">
                      <m:r>
                        <a:rPr lang="es-MX" sz="2000" b="0" i="1" smtClean="0">
                          <a:latin typeface="Cambria Math" panose="02040503050406030204" pitchFamily="18" charset="0"/>
                          <a:ea typeface="Roboto" panose="02000000000000000000" pitchFamily="2" charset="0"/>
                        </a:rPr>
                        <m:t>𝐶</m:t>
                      </m:r>
                      <m:r>
                        <a:rPr lang="es-MX" sz="2000" b="0" i="1" smtClean="0">
                          <a:latin typeface="Cambria Math" panose="02040503050406030204" pitchFamily="18" charset="0"/>
                          <a:ea typeface="Roboto" panose="02000000000000000000" pitchFamily="2" charset="0"/>
                        </a:rPr>
                        <m:t>=</m:t>
                      </m:r>
                      <m:d>
                        <m:dPr>
                          <m:begChr m:val="{"/>
                          <m:endChr m:val="}"/>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1, 3</m:t>
                          </m:r>
                        </m:e>
                      </m:d>
                      <m:r>
                        <a:rPr lang="es-MX" sz="2000" b="0" i="1" smtClean="0">
                          <a:latin typeface="Cambria Math" panose="02040503050406030204" pitchFamily="18" charset="0"/>
                          <a:ea typeface="Roboto" panose="02000000000000000000" pitchFamily="2" charset="0"/>
                        </a:rPr>
                        <m:t> </m:t>
                      </m:r>
                    </m:oMath>
                  </m:oMathPara>
                </a14:m>
                <a:endParaRPr lang="es-MX" sz="2000" b="0" dirty="0">
                  <a:latin typeface="Roboto" panose="02000000000000000000" pitchFamily="2" charset="0"/>
                  <a:ea typeface="Roboto" panose="02000000000000000000" pitchFamily="2" charset="0"/>
                </a:endParaRPr>
              </a:p>
              <a:p>
                <a:pPr marL="127000" indent="0">
                  <a:buNone/>
                </a:pPr>
                <a:endParaRPr lang="es-MX" sz="2000" dirty="0">
                  <a:latin typeface="Roboto" panose="02000000000000000000" pitchFamily="2" charset="0"/>
                  <a:ea typeface="Roboto" panose="02000000000000000000" pitchFamily="2" charset="0"/>
                </a:endParaRPr>
              </a:p>
              <a:p>
                <a:pPr marL="127000"/>
                <a14:m>
                  <m:oMathPara xmlns:m="http://schemas.openxmlformats.org/officeDocument/2006/math">
                    <m:oMathParaPr>
                      <m:jc m:val="left"/>
                    </m:oMathParaPr>
                    <m:oMath xmlns:m="http://schemas.openxmlformats.org/officeDocument/2006/math">
                      <m:r>
                        <a:rPr lang="es-MX" sz="2000" b="0" i="1" smtClean="0">
                          <a:latin typeface="Cambria Math" panose="02040503050406030204" pitchFamily="18" charset="0"/>
                          <a:ea typeface="Roboto" panose="02000000000000000000" pitchFamily="2" charset="0"/>
                        </a:rPr>
                        <m:t>𝐷</m:t>
                      </m:r>
                      <m:r>
                        <a:rPr lang="es-MX" sz="2000" b="0" i="1" smtClean="0">
                          <a:latin typeface="Cambria Math" panose="02040503050406030204" pitchFamily="18" charset="0"/>
                          <a:ea typeface="Roboto" panose="02000000000000000000" pitchFamily="2" charset="0"/>
                        </a:rPr>
                        <m:t>=</m:t>
                      </m:r>
                      <m:d>
                        <m:dPr>
                          <m:begChr m:val="{"/>
                          <m:endChr m:val="}"/>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3, 3, 3, 2, 1</m:t>
                          </m:r>
                        </m:e>
                      </m:d>
                      <m:r>
                        <a:rPr lang="es-MX" sz="2000" b="0" i="1" smtClean="0">
                          <a:latin typeface="Cambria Math" panose="02040503050406030204" pitchFamily="18" charset="0"/>
                          <a:ea typeface="Roboto" panose="02000000000000000000" pitchFamily="2" charset="0"/>
                        </a:rPr>
                        <m:t> </m:t>
                      </m:r>
                    </m:oMath>
                  </m:oMathPara>
                </a14:m>
                <a:endParaRPr lang="es-MX" sz="1800" b="0" dirty="0">
                  <a:latin typeface="Roboto" panose="02000000000000000000" pitchFamily="2" charset="0"/>
                  <a:ea typeface="Roboto" panose="02000000000000000000" pitchFamily="2" charset="0"/>
                </a:endParaRPr>
              </a:p>
            </p:txBody>
          </p:sp>
        </mc:Choice>
        <mc:Fallback xmlns="">
          <p:sp>
            <p:nvSpPr>
              <p:cNvPr id="5" name="CuadroTexto 4">
                <a:extLst>
                  <a:ext uri="{FF2B5EF4-FFF2-40B4-BE49-F238E27FC236}">
                    <a16:creationId xmlns:a16="http://schemas.microsoft.com/office/drawing/2014/main" id="{81773997-0A67-4945-8632-19EEA1C654CE}"/>
                  </a:ext>
                </a:extLst>
              </p:cNvPr>
              <p:cNvSpPr txBox="1">
                <a:spLocks noRot="1" noChangeAspect="1" noMove="1" noResize="1" noEditPoints="1" noAdjustHandles="1" noChangeArrowheads="1" noChangeShapeType="1" noTextEdit="1"/>
              </p:cNvSpPr>
              <p:nvPr/>
            </p:nvSpPr>
            <p:spPr>
              <a:xfrm>
                <a:off x="292510" y="3429000"/>
                <a:ext cx="11447206" cy="2585323"/>
              </a:xfrm>
              <a:prstGeom prst="rect">
                <a:avLst/>
              </a:prstGeom>
              <a:blipFill>
                <a:blip r:embed="rId4"/>
                <a:stretch>
                  <a:fillRect t="-1651"/>
                </a:stretch>
              </a:blipFill>
            </p:spPr>
            <p:txBody>
              <a:bodyPr/>
              <a:lstStyle/>
              <a:p>
                <a:r>
                  <a:rPr lang="es-CO">
                    <a:noFill/>
                  </a:rPr>
                  <a:t> </a:t>
                </a:r>
              </a:p>
            </p:txBody>
          </p:sp>
        </mc:Fallback>
      </mc:AlternateContent>
    </p:spTree>
    <p:extLst>
      <p:ext uri="{BB962C8B-B14F-4D97-AF65-F5344CB8AC3E}">
        <p14:creationId xmlns:p14="http://schemas.microsoft.com/office/powerpoint/2010/main" val="8803092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516194" y="96038"/>
            <a:ext cx="10759156"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Subconjuntos</a:t>
            </a:r>
            <a:endParaRPr dirty="0">
              <a:solidFill>
                <a:schemeClr val="tx1"/>
              </a:solidFill>
              <a:latin typeface="+mj-lt"/>
            </a:endParaRPr>
          </a:p>
        </p:txBody>
      </p:sp>
      <mc:AlternateContent xmlns:mc="http://schemas.openxmlformats.org/markup-compatibility/2006" xmlns:a14="http://schemas.microsoft.com/office/drawing/2010/main">
        <mc:Choice Requires="a14">
          <p:sp>
            <p:nvSpPr>
              <p:cNvPr id="7" name="Google Shape;310;p34">
                <a:extLst>
                  <a:ext uri="{FF2B5EF4-FFF2-40B4-BE49-F238E27FC236}">
                    <a16:creationId xmlns:a16="http://schemas.microsoft.com/office/drawing/2014/main" id="{C1EB8144-8BAC-4290-B469-B1AFD5BDF721}"/>
                  </a:ext>
                </a:extLst>
              </p:cNvPr>
              <p:cNvSpPr txBox="1">
                <a:spLocks/>
              </p:cNvSpPr>
              <p:nvPr/>
            </p:nvSpPr>
            <p:spPr>
              <a:xfrm>
                <a:off x="258097" y="1089783"/>
                <a:ext cx="11275350" cy="324624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200" dirty="0">
                    <a:latin typeface="+mn-lt"/>
                    <a:ea typeface="Roboto" panose="02000000000000000000" pitchFamily="2" charset="0"/>
                  </a:rPr>
                  <a:t>Un subconjunto es un conjunto cuyos elementos están contenidos completamente dentro de otro conjunto. En otras palabras, si todos los elementos de un conjunto </a:t>
                </a:r>
                <a14:m>
                  <m:oMath xmlns:m="http://schemas.openxmlformats.org/officeDocument/2006/math">
                    <m:r>
                      <a:rPr lang="es-MX" sz="2200" b="0" i="1" smtClean="0">
                        <a:latin typeface="Cambria Math" panose="02040503050406030204" pitchFamily="18" charset="0"/>
                        <a:ea typeface="Roboto" panose="02000000000000000000" pitchFamily="2" charset="0"/>
                      </a:rPr>
                      <m:t>𝐴</m:t>
                    </m:r>
                  </m:oMath>
                </a14:m>
                <a:r>
                  <a:rPr lang="es-MX" sz="2200" dirty="0">
                    <a:latin typeface="+mn-lt"/>
                    <a:ea typeface="Roboto" panose="02000000000000000000" pitchFamily="2" charset="0"/>
                  </a:rPr>
                  <a:t> </a:t>
                </a:r>
                <a:r>
                  <a:rPr lang="es-MX" sz="2200" dirty="0">
                    <a:latin typeface="+mn-lt"/>
                  </a:rPr>
                  <a:t>también están en un conjunto</a:t>
                </a:r>
                <a14:m>
                  <m:oMath xmlns:m="http://schemas.openxmlformats.org/officeDocument/2006/math">
                    <m:r>
                      <a:rPr lang="es-MX" sz="2200" b="0" i="0" smtClean="0">
                        <a:latin typeface="Cambria Math" panose="02040503050406030204" pitchFamily="18" charset="0"/>
                        <a:ea typeface="Roboto" panose="02000000000000000000" pitchFamily="2" charset="0"/>
                      </a:rPr>
                      <m:t> </m:t>
                    </m:r>
                    <m:r>
                      <a:rPr lang="es-MX" sz="2200" b="0" i="1" smtClean="0">
                        <a:latin typeface="Cambria Math" panose="02040503050406030204" pitchFamily="18" charset="0"/>
                        <a:ea typeface="Roboto" panose="02000000000000000000" pitchFamily="2" charset="0"/>
                      </a:rPr>
                      <m:t>𝐵</m:t>
                    </m:r>
                  </m:oMath>
                </a14:m>
                <a:r>
                  <a:rPr lang="es-MX" sz="2200" dirty="0">
                    <a:latin typeface="+mn-lt"/>
                    <a:ea typeface="Roboto" panose="02000000000000000000" pitchFamily="2" charset="0"/>
                  </a:rPr>
                  <a:t>, entonces se dice que </a:t>
                </a:r>
                <a14:m>
                  <m:oMath xmlns:m="http://schemas.openxmlformats.org/officeDocument/2006/math">
                    <m:r>
                      <a:rPr lang="es-MX" sz="2200" i="1">
                        <a:latin typeface="Cambria Math" panose="02040503050406030204" pitchFamily="18" charset="0"/>
                        <a:ea typeface="Roboto" panose="02000000000000000000" pitchFamily="2" charset="0"/>
                      </a:rPr>
                      <m:t>𝐴</m:t>
                    </m:r>
                  </m:oMath>
                </a14:m>
                <a:r>
                  <a:rPr lang="es-MX" sz="2200" dirty="0">
                    <a:latin typeface="+mn-lt"/>
                    <a:ea typeface="Roboto" panose="02000000000000000000" pitchFamily="2" charset="0"/>
                  </a:rPr>
                  <a:t> es un subconjunto de </a:t>
                </a:r>
                <a14:m>
                  <m:oMath xmlns:m="http://schemas.openxmlformats.org/officeDocument/2006/math">
                    <m:r>
                      <a:rPr lang="es-MX" sz="2200" b="0" i="1" smtClean="0">
                        <a:latin typeface="Cambria Math" panose="02040503050406030204" pitchFamily="18" charset="0"/>
                        <a:ea typeface="Roboto" panose="02000000000000000000" pitchFamily="2" charset="0"/>
                      </a:rPr>
                      <m:t>𝐵</m:t>
                    </m:r>
                  </m:oMath>
                </a14:m>
                <a:r>
                  <a:rPr lang="es-MX" sz="2200" dirty="0">
                    <a:latin typeface="+mn-lt"/>
                    <a:ea typeface="Roboto" panose="02000000000000000000" pitchFamily="2" charset="0"/>
                  </a:rPr>
                  <a:t>.</a:t>
                </a:r>
              </a:p>
              <a:p>
                <a:r>
                  <a:rPr lang="es-MX" sz="2200" dirty="0">
                    <a:latin typeface="+mn-lt"/>
                    <a:ea typeface="Roboto" panose="02000000000000000000" pitchFamily="2" charset="0"/>
                  </a:rPr>
                  <a:t> </a:t>
                </a:r>
                <a:r>
                  <a:rPr lang="es-MX" sz="2200" b="1" dirty="0">
                    <a:latin typeface="+mn-lt"/>
                    <a:ea typeface="Roboto" panose="02000000000000000000" pitchFamily="2" charset="0"/>
                  </a:rPr>
                  <a:t>Notación</a:t>
                </a:r>
                <a:r>
                  <a:rPr lang="es-MX" sz="2200" dirty="0">
                    <a:latin typeface="+mn-lt"/>
                    <a:ea typeface="Roboto" panose="02000000000000000000" pitchFamily="2" charset="0"/>
                  </a:rPr>
                  <a:t>:</a:t>
                </a:r>
              </a:p>
              <a:p>
                <a:endParaRPr lang="es-MX" sz="2200" dirty="0">
                  <a:latin typeface="+mn-lt"/>
                  <a:ea typeface="Roboto" panose="02000000000000000000" pitchFamily="2" charset="0"/>
                </a:endParaRPr>
              </a:p>
              <a:p>
                <a:pPr marL="127000" indent="0">
                  <a:buNone/>
                </a:pPr>
                <a14:m>
                  <m:oMathPara xmlns:m="http://schemas.openxmlformats.org/officeDocument/2006/math">
                    <m:oMathParaPr>
                      <m:jc m:val="centerGroup"/>
                    </m:oMathParaPr>
                    <m:oMath xmlns:m="http://schemas.openxmlformats.org/officeDocument/2006/math">
                      <m:r>
                        <a:rPr lang="es-MX" sz="2200" b="0" i="1" smtClean="0">
                          <a:latin typeface="Cambria Math" panose="02040503050406030204" pitchFamily="18" charset="0"/>
                          <a:ea typeface="Roboto" panose="02000000000000000000" pitchFamily="2" charset="0"/>
                        </a:rPr>
                        <m:t>𝐴</m:t>
                      </m:r>
                      <m:r>
                        <a:rPr lang="es-MX" sz="2200" b="0" i="1" smtClean="0">
                          <a:latin typeface="Cambria Math" panose="02040503050406030204" pitchFamily="18" charset="0"/>
                          <a:ea typeface="Cambria Math" panose="02040503050406030204" pitchFamily="18" charset="0"/>
                        </a:rPr>
                        <m:t>⊆</m:t>
                      </m:r>
                      <m:r>
                        <a:rPr lang="es-MX" sz="2200" b="0" i="1" smtClean="0">
                          <a:latin typeface="Cambria Math" panose="02040503050406030204" pitchFamily="18" charset="0"/>
                          <a:ea typeface="Cambria Math" panose="02040503050406030204" pitchFamily="18" charset="0"/>
                        </a:rPr>
                        <m:t>𝐵</m:t>
                      </m:r>
                    </m:oMath>
                  </m:oMathPara>
                </a14:m>
                <a:endParaRPr lang="es-MX" sz="2200" b="0" dirty="0">
                  <a:latin typeface="+mn-lt"/>
                  <a:ea typeface="Cambria Math" panose="02040503050406030204" pitchFamily="18" charset="0"/>
                </a:endParaRPr>
              </a:p>
              <a:p>
                <a:r>
                  <a:rPr lang="es-MX" sz="2200" b="1" dirty="0">
                    <a:latin typeface="+mn-lt"/>
                    <a:ea typeface="Roboto" panose="02000000000000000000" pitchFamily="2" charset="0"/>
                  </a:rPr>
                  <a:t>Definición formal</a:t>
                </a:r>
                <a:r>
                  <a:rPr lang="es-MX" sz="2200" dirty="0">
                    <a:latin typeface="+mn-lt"/>
                    <a:ea typeface="Roboto" panose="02000000000000000000" pitchFamily="2" charset="0"/>
                  </a:rPr>
                  <a:t>:</a:t>
                </a:r>
              </a:p>
              <a:p>
                <a:endParaRPr lang="es-MX" sz="2200" dirty="0">
                  <a:latin typeface="+mn-lt"/>
                  <a:ea typeface="Roboto" panose="02000000000000000000" pitchFamily="2" charset="0"/>
                </a:endParaRPr>
              </a:p>
              <a:p>
                <a:pPr marL="127000" indent="0">
                  <a:buNone/>
                </a:pPr>
                <a14:m>
                  <m:oMathPara xmlns:m="http://schemas.openxmlformats.org/officeDocument/2006/math">
                    <m:oMathParaPr>
                      <m:jc m:val="centerGroup"/>
                    </m:oMathParaPr>
                    <m:oMath xmlns:m="http://schemas.openxmlformats.org/officeDocument/2006/math">
                      <m:r>
                        <a:rPr lang="es-MX" sz="2200" b="0" i="1" smtClean="0">
                          <a:latin typeface="Cambria Math" panose="02040503050406030204" pitchFamily="18" charset="0"/>
                          <a:ea typeface="Roboto" panose="02000000000000000000" pitchFamily="2" charset="0"/>
                        </a:rPr>
                        <m:t>𝐴</m:t>
                      </m:r>
                      <m:r>
                        <a:rPr lang="es-MX" sz="2200" b="0" i="1" smtClean="0">
                          <a:latin typeface="Cambria Math" panose="02040503050406030204" pitchFamily="18" charset="0"/>
                          <a:ea typeface="Cambria Math" panose="02040503050406030204" pitchFamily="18" charset="0"/>
                        </a:rPr>
                        <m:t>⊆</m:t>
                      </m:r>
                      <m:r>
                        <a:rPr lang="es-MX" sz="2200" b="0" i="1" smtClean="0">
                          <a:latin typeface="Cambria Math" panose="02040503050406030204" pitchFamily="18" charset="0"/>
                          <a:ea typeface="Cambria Math" panose="02040503050406030204" pitchFamily="18" charset="0"/>
                        </a:rPr>
                        <m:t>𝐵</m:t>
                      </m:r>
                      <m:r>
                        <a:rPr lang="es-MX" sz="2200" i="1">
                          <a:latin typeface="Cambria Math" panose="02040503050406030204" pitchFamily="18" charset="0"/>
                          <a:ea typeface="Cambria Math" panose="02040503050406030204" pitchFamily="18" charset="0"/>
                        </a:rPr>
                        <m:t>⇔∀</m:t>
                      </m:r>
                      <m:r>
                        <a:rPr lang="es-MX" sz="2200" i="1">
                          <a:latin typeface="Cambria Math" panose="02040503050406030204" pitchFamily="18" charset="0"/>
                          <a:ea typeface="Cambria Math" panose="02040503050406030204" pitchFamily="18" charset="0"/>
                        </a:rPr>
                        <m:t>𝑥</m:t>
                      </m:r>
                      <m:r>
                        <a:rPr lang="es-MX" sz="2200" i="1">
                          <a:latin typeface="Cambria Math" panose="02040503050406030204" pitchFamily="18" charset="0"/>
                          <a:ea typeface="Cambria Math" panose="02040503050406030204" pitchFamily="18" charset="0"/>
                        </a:rPr>
                        <m:t> (</m:t>
                      </m:r>
                      <m:r>
                        <a:rPr lang="es-MX" sz="2200" i="1">
                          <a:latin typeface="Cambria Math" panose="02040503050406030204" pitchFamily="18" charset="0"/>
                          <a:ea typeface="Cambria Math" panose="02040503050406030204" pitchFamily="18" charset="0"/>
                        </a:rPr>
                        <m:t>𝑥</m:t>
                      </m:r>
                      <m:r>
                        <a:rPr lang="es-MX" sz="2200" i="1">
                          <a:latin typeface="Cambria Math" panose="02040503050406030204" pitchFamily="18" charset="0"/>
                          <a:ea typeface="Cambria Math" panose="02040503050406030204" pitchFamily="18" charset="0"/>
                        </a:rPr>
                        <m:t>∈</m:t>
                      </m:r>
                      <m:r>
                        <a:rPr lang="es-MX" sz="2200" i="1">
                          <a:latin typeface="Cambria Math" panose="02040503050406030204" pitchFamily="18" charset="0"/>
                          <a:ea typeface="Cambria Math" panose="02040503050406030204" pitchFamily="18" charset="0"/>
                        </a:rPr>
                        <m:t>𝐴</m:t>
                      </m:r>
                      <m:r>
                        <a:rPr lang="es-MX" sz="2200" i="1">
                          <a:latin typeface="Cambria Math" panose="02040503050406030204" pitchFamily="18" charset="0"/>
                          <a:ea typeface="Cambria Math" panose="02040503050406030204" pitchFamily="18" charset="0"/>
                        </a:rPr>
                        <m:t>→</m:t>
                      </m:r>
                      <m:r>
                        <a:rPr lang="es-MX" sz="2200" i="1">
                          <a:latin typeface="Cambria Math" panose="02040503050406030204" pitchFamily="18" charset="0"/>
                          <a:ea typeface="Cambria Math" panose="02040503050406030204" pitchFamily="18" charset="0"/>
                        </a:rPr>
                        <m:t>𝑥</m:t>
                      </m:r>
                      <m:r>
                        <a:rPr lang="es-MX" sz="2200" i="1">
                          <a:latin typeface="Cambria Math" panose="02040503050406030204" pitchFamily="18" charset="0"/>
                          <a:ea typeface="Cambria Math" panose="02040503050406030204" pitchFamily="18" charset="0"/>
                        </a:rPr>
                        <m:t>∈</m:t>
                      </m:r>
                      <m:r>
                        <a:rPr lang="es-MX" sz="2200" b="0" i="1" smtClean="0">
                          <a:latin typeface="Cambria Math" panose="02040503050406030204" pitchFamily="18" charset="0"/>
                          <a:ea typeface="Cambria Math" panose="02040503050406030204" pitchFamily="18" charset="0"/>
                        </a:rPr>
                        <m:t>𝐵</m:t>
                      </m:r>
                      <m:r>
                        <a:rPr lang="es-MX" sz="2200" i="1">
                          <a:latin typeface="Cambria Math" panose="02040503050406030204" pitchFamily="18" charset="0"/>
                          <a:ea typeface="Cambria Math" panose="02040503050406030204" pitchFamily="18" charset="0"/>
                        </a:rPr>
                        <m:t>)</m:t>
                      </m:r>
                    </m:oMath>
                  </m:oMathPara>
                </a14:m>
                <a:endParaRPr lang="es-MX" sz="2200" dirty="0">
                  <a:latin typeface="+mn-lt"/>
                  <a:ea typeface="Roboto" panose="02000000000000000000" pitchFamily="2" charset="0"/>
                </a:endParaRPr>
              </a:p>
              <a:p>
                <a:endParaRPr lang="es-MX" sz="2200" dirty="0">
                  <a:latin typeface="+mn-lt"/>
                  <a:ea typeface="Roboto" panose="02000000000000000000" pitchFamily="2" charset="0"/>
                </a:endParaRPr>
              </a:p>
            </p:txBody>
          </p:sp>
        </mc:Choice>
        <mc:Fallback xmlns="">
          <p:sp>
            <p:nvSpPr>
              <p:cNvPr id="7" name="Google Shape;310;p34">
                <a:extLst>
                  <a:ext uri="{FF2B5EF4-FFF2-40B4-BE49-F238E27FC236}">
                    <a16:creationId xmlns:a16="http://schemas.microsoft.com/office/drawing/2014/main" id="{C1EB8144-8BAC-4290-B469-B1AFD5BDF721}"/>
                  </a:ext>
                </a:extLst>
              </p:cNvPr>
              <p:cNvSpPr txBox="1">
                <a:spLocks noRot="1" noChangeAspect="1" noMove="1" noResize="1" noEditPoints="1" noAdjustHandles="1" noChangeArrowheads="1" noChangeShapeType="1" noTextEdit="1"/>
              </p:cNvSpPr>
              <p:nvPr/>
            </p:nvSpPr>
            <p:spPr>
              <a:xfrm>
                <a:off x="258097" y="1089783"/>
                <a:ext cx="11275350" cy="3246243"/>
              </a:xfrm>
              <a:prstGeom prst="rect">
                <a:avLst/>
              </a:prstGeom>
              <a:blipFill>
                <a:blip r:embed="rId3"/>
                <a:stretch>
                  <a:fillRect b="-8459"/>
                </a:stretch>
              </a:blipFill>
              <a:ln>
                <a:noFill/>
              </a:ln>
            </p:spPr>
            <p:txBody>
              <a:bodyPr/>
              <a:lstStyle/>
              <a:p>
                <a:r>
                  <a:rPr lang="es-CO">
                    <a:noFill/>
                  </a:rPr>
                  <a:t> </a:t>
                </a:r>
              </a:p>
            </p:txBody>
          </p:sp>
        </mc:Fallback>
      </mc:AlternateContent>
      <p:pic>
        <p:nvPicPr>
          <p:cNvPr id="5" name="Imagen 4">
            <a:extLst>
              <a:ext uri="{FF2B5EF4-FFF2-40B4-BE49-F238E27FC236}">
                <a16:creationId xmlns:a16="http://schemas.microsoft.com/office/drawing/2014/main" id="{4529E532-67AF-440C-8149-79D9D75B1256}"/>
              </a:ext>
            </a:extLst>
          </p:cNvPr>
          <p:cNvPicPr>
            <a:picLocks noChangeAspect="1"/>
          </p:cNvPicPr>
          <p:nvPr/>
        </p:nvPicPr>
        <p:blipFill>
          <a:blip r:embed="rId4"/>
          <a:stretch>
            <a:fillRect/>
          </a:stretch>
        </p:blipFill>
        <p:spPr>
          <a:xfrm>
            <a:off x="8988023" y="2536727"/>
            <a:ext cx="2064775" cy="2064775"/>
          </a:xfrm>
          <a:prstGeom prst="rect">
            <a:avLst/>
          </a:prstGeom>
        </p:spPr>
      </p:pic>
    </p:spTree>
    <p:extLst>
      <p:ext uri="{BB962C8B-B14F-4D97-AF65-F5344CB8AC3E}">
        <p14:creationId xmlns:p14="http://schemas.microsoft.com/office/powerpoint/2010/main" val="15331651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516194" y="96038"/>
            <a:ext cx="10759156"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Subconjuntos</a:t>
            </a:r>
            <a:endParaRPr dirty="0">
              <a:solidFill>
                <a:schemeClr val="tx1"/>
              </a:solidFill>
              <a:latin typeface="+mj-lt"/>
            </a:endParaRPr>
          </a:p>
        </p:txBody>
      </p:sp>
      <mc:AlternateContent xmlns:mc="http://schemas.openxmlformats.org/markup-compatibility/2006" xmlns:a14="http://schemas.microsoft.com/office/drawing/2010/main">
        <mc:Choice Requires="a14">
          <p:sp>
            <p:nvSpPr>
              <p:cNvPr id="20" name="Google Shape;310;p34">
                <a:extLst>
                  <a:ext uri="{FF2B5EF4-FFF2-40B4-BE49-F238E27FC236}">
                    <a16:creationId xmlns:a16="http://schemas.microsoft.com/office/drawing/2014/main" id="{4CC3BD47-C7C5-43C0-8EA5-7652782E79B4}"/>
                  </a:ext>
                </a:extLst>
              </p:cNvPr>
              <p:cNvSpPr txBox="1">
                <a:spLocks/>
              </p:cNvSpPr>
              <p:nvPr/>
            </p:nvSpPr>
            <p:spPr>
              <a:xfrm>
                <a:off x="260555" y="865182"/>
                <a:ext cx="11434916" cy="589678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200" b="1" dirty="0">
                    <a:latin typeface="+mn-lt"/>
                    <a:ea typeface="Roboto" panose="02000000000000000000" pitchFamily="2" charset="0"/>
                  </a:rPr>
                  <a:t>Ejemplo</a:t>
                </a:r>
                <a:r>
                  <a:rPr lang="es-MX" sz="2200" dirty="0">
                    <a:latin typeface="+mn-lt"/>
                    <a:ea typeface="Roboto" panose="02000000000000000000" pitchFamily="2" charset="0"/>
                  </a:rPr>
                  <a:t>: </a:t>
                </a:r>
              </a:p>
              <a:p>
                <a:pPr marL="584200" indent="-457200">
                  <a:buFont typeface="+mj-lt"/>
                  <a:buAutoNum type="arabicPeriod"/>
                </a:pPr>
                <a:r>
                  <a:rPr lang="es-MX" sz="2200" dirty="0">
                    <a:latin typeface="+mn-lt"/>
                    <a:ea typeface="Roboto" panose="02000000000000000000" pitchFamily="2" charset="0"/>
                  </a:rPr>
                  <a:t>Si </a:t>
                </a:r>
                <a14:m>
                  <m:oMath xmlns:m="http://schemas.openxmlformats.org/officeDocument/2006/math">
                    <m:r>
                      <a:rPr lang="es-MX" sz="2200" b="0" i="1" smtClean="0">
                        <a:latin typeface="Cambria Math" panose="02040503050406030204" pitchFamily="18" charset="0"/>
                        <a:ea typeface="Roboto" panose="02000000000000000000" pitchFamily="2" charset="0"/>
                      </a:rPr>
                      <m:t>𝐴</m:t>
                    </m:r>
                    <m:r>
                      <a:rPr lang="es-MX" sz="2200" b="0" i="1" smtClean="0">
                        <a:latin typeface="Cambria Math" panose="02040503050406030204" pitchFamily="18" charset="0"/>
                        <a:ea typeface="Roboto" panose="02000000000000000000" pitchFamily="2" charset="0"/>
                      </a:rPr>
                      <m:t>=</m:t>
                    </m:r>
                    <m:d>
                      <m:dPr>
                        <m:begChr m:val="{"/>
                        <m:endChr m:val="}"/>
                        <m:ctrlPr>
                          <a:rPr lang="es-MX" sz="2200" b="0" i="1" smtClean="0">
                            <a:latin typeface="Cambria Math" panose="02040503050406030204" pitchFamily="18" charset="0"/>
                            <a:ea typeface="Roboto" panose="02000000000000000000" pitchFamily="2" charset="0"/>
                          </a:rPr>
                        </m:ctrlPr>
                      </m:dPr>
                      <m:e>
                        <m:r>
                          <a:rPr lang="es-MX" sz="2200" b="0" i="1" smtClean="0">
                            <a:latin typeface="Cambria Math" panose="02040503050406030204" pitchFamily="18" charset="0"/>
                            <a:ea typeface="Roboto" panose="02000000000000000000" pitchFamily="2" charset="0"/>
                          </a:rPr>
                          <m:t>1,2</m:t>
                        </m:r>
                      </m:e>
                    </m:d>
                  </m:oMath>
                </a14:m>
                <a:r>
                  <a:rPr lang="es-MX" sz="2200" dirty="0">
                    <a:latin typeface="+mn-lt"/>
                    <a:ea typeface="Roboto" panose="02000000000000000000" pitchFamily="2" charset="0"/>
                  </a:rPr>
                  <a:t> y </a:t>
                </a:r>
                <a14:m>
                  <m:oMath xmlns:m="http://schemas.openxmlformats.org/officeDocument/2006/math">
                    <m:r>
                      <a:rPr lang="es-MX" sz="2200" b="0" i="1" smtClean="0">
                        <a:latin typeface="Cambria Math" panose="02040503050406030204" pitchFamily="18" charset="0"/>
                        <a:ea typeface="Roboto" panose="02000000000000000000" pitchFamily="2" charset="0"/>
                      </a:rPr>
                      <m:t>𝐵</m:t>
                    </m:r>
                    <m:r>
                      <a:rPr lang="es-MX" sz="2200" i="1">
                        <a:latin typeface="Cambria Math" panose="02040503050406030204" pitchFamily="18" charset="0"/>
                        <a:ea typeface="Roboto" panose="02000000000000000000" pitchFamily="2" charset="0"/>
                      </a:rPr>
                      <m:t>=</m:t>
                    </m:r>
                    <m:d>
                      <m:dPr>
                        <m:begChr m:val="{"/>
                        <m:endChr m:val="}"/>
                        <m:ctrlPr>
                          <a:rPr lang="es-MX" sz="2200" i="1">
                            <a:latin typeface="Cambria Math" panose="02040503050406030204" pitchFamily="18" charset="0"/>
                            <a:ea typeface="Roboto" panose="02000000000000000000" pitchFamily="2" charset="0"/>
                          </a:rPr>
                        </m:ctrlPr>
                      </m:dPr>
                      <m:e>
                        <m:r>
                          <a:rPr lang="es-MX" sz="2200" i="1">
                            <a:latin typeface="Cambria Math" panose="02040503050406030204" pitchFamily="18" charset="0"/>
                            <a:ea typeface="Roboto" panose="02000000000000000000" pitchFamily="2" charset="0"/>
                          </a:rPr>
                          <m:t>1,2</m:t>
                        </m:r>
                        <m:r>
                          <a:rPr lang="es-MX" sz="2200" b="0" i="1" smtClean="0">
                            <a:latin typeface="Cambria Math" panose="02040503050406030204" pitchFamily="18" charset="0"/>
                            <a:ea typeface="Roboto" panose="02000000000000000000" pitchFamily="2" charset="0"/>
                          </a:rPr>
                          <m:t>,3</m:t>
                        </m:r>
                      </m:e>
                    </m:d>
                  </m:oMath>
                </a14:m>
                <a:r>
                  <a:rPr lang="es-MX" sz="2200" dirty="0">
                    <a:latin typeface="+mn-lt"/>
                    <a:ea typeface="Roboto" panose="02000000000000000000" pitchFamily="2" charset="0"/>
                  </a:rPr>
                  <a:t>, como se cumple que </a:t>
                </a:r>
                <a14:m>
                  <m:oMath xmlns:m="http://schemas.openxmlformats.org/officeDocument/2006/math">
                    <m:r>
                      <a:rPr lang="es-MX" sz="2200" i="1">
                        <a:latin typeface="Cambria Math" panose="02040503050406030204" pitchFamily="18" charset="0"/>
                        <a:ea typeface="Cambria Math" panose="02040503050406030204" pitchFamily="18" charset="0"/>
                      </a:rPr>
                      <m:t>∀</m:t>
                    </m:r>
                    <m:r>
                      <a:rPr lang="es-MX" sz="2200" i="1">
                        <a:latin typeface="Cambria Math" panose="02040503050406030204" pitchFamily="18" charset="0"/>
                        <a:ea typeface="Cambria Math" panose="02040503050406030204" pitchFamily="18" charset="0"/>
                      </a:rPr>
                      <m:t>𝑥</m:t>
                    </m:r>
                    <m:r>
                      <a:rPr lang="es-MX" sz="2200" i="1">
                        <a:latin typeface="Cambria Math" panose="02040503050406030204" pitchFamily="18" charset="0"/>
                        <a:ea typeface="Cambria Math" panose="02040503050406030204" pitchFamily="18" charset="0"/>
                      </a:rPr>
                      <m:t> (</m:t>
                    </m:r>
                    <m:r>
                      <a:rPr lang="es-MX" sz="2200" i="1">
                        <a:latin typeface="Cambria Math" panose="02040503050406030204" pitchFamily="18" charset="0"/>
                        <a:ea typeface="Cambria Math" panose="02040503050406030204" pitchFamily="18" charset="0"/>
                      </a:rPr>
                      <m:t>𝑥</m:t>
                    </m:r>
                    <m:r>
                      <a:rPr lang="es-MX" sz="2200" i="1">
                        <a:latin typeface="Cambria Math" panose="02040503050406030204" pitchFamily="18" charset="0"/>
                        <a:ea typeface="Cambria Math" panose="02040503050406030204" pitchFamily="18" charset="0"/>
                      </a:rPr>
                      <m:t>∈</m:t>
                    </m:r>
                    <m:r>
                      <a:rPr lang="es-MX" sz="2200" i="1">
                        <a:latin typeface="Cambria Math" panose="02040503050406030204" pitchFamily="18" charset="0"/>
                        <a:ea typeface="Cambria Math" panose="02040503050406030204" pitchFamily="18" charset="0"/>
                      </a:rPr>
                      <m:t>𝐴</m:t>
                    </m:r>
                    <m:r>
                      <a:rPr lang="es-MX" sz="2200" i="1">
                        <a:latin typeface="Cambria Math" panose="02040503050406030204" pitchFamily="18" charset="0"/>
                        <a:ea typeface="Cambria Math" panose="02040503050406030204" pitchFamily="18" charset="0"/>
                      </a:rPr>
                      <m:t>→</m:t>
                    </m:r>
                    <m:r>
                      <a:rPr lang="es-MX" sz="2200" i="1">
                        <a:latin typeface="Cambria Math" panose="02040503050406030204" pitchFamily="18" charset="0"/>
                        <a:ea typeface="Cambria Math" panose="02040503050406030204" pitchFamily="18" charset="0"/>
                      </a:rPr>
                      <m:t>𝑥</m:t>
                    </m:r>
                    <m:r>
                      <a:rPr lang="es-MX" sz="2200" i="1">
                        <a:latin typeface="Cambria Math" panose="02040503050406030204" pitchFamily="18" charset="0"/>
                        <a:ea typeface="Cambria Math" panose="02040503050406030204" pitchFamily="18" charset="0"/>
                      </a:rPr>
                      <m:t>∈</m:t>
                    </m:r>
                    <m:r>
                      <a:rPr lang="es-MX" sz="2200" i="1">
                        <a:latin typeface="Cambria Math" panose="02040503050406030204" pitchFamily="18" charset="0"/>
                        <a:ea typeface="Cambria Math" panose="02040503050406030204" pitchFamily="18" charset="0"/>
                      </a:rPr>
                      <m:t>𝐵</m:t>
                    </m:r>
                    <m:r>
                      <a:rPr lang="es-MX" sz="2200" i="1">
                        <a:latin typeface="Cambria Math" panose="02040503050406030204" pitchFamily="18" charset="0"/>
                        <a:ea typeface="Cambria Math" panose="02040503050406030204" pitchFamily="18" charset="0"/>
                      </a:rPr>
                      <m:t>)</m:t>
                    </m:r>
                  </m:oMath>
                </a14:m>
                <a:r>
                  <a:rPr lang="es-MX" sz="2200" dirty="0">
                    <a:latin typeface="+mn-lt"/>
                    <a:ea typeface="Roboto" panose="02000000000000000000" pitchFamily="2" charset="0"/>
                  </a:rPr>
                  <a:t>, podemos decir que </a:t>
                </a:r>
                <a14:m>
                  <m:oMath xmlns:m="http://schemas.openxmlformats.org/officeDocument/2006/math">
                    <m:r>
                      <a:rPr lang="es-MX" sz="2200" i="1">
                        <a:latin typeface="Cambria Math" panose="02040503050406030204" pitchFamily="18" charset="0"/>
                        <a:ea typeface="Roboto" panose="02000000000000000000" pitchFamily="2" charset="0"/>
                      </a:rPr>
                      <m:t>𝐴</m:t>
                    </m:r>
                    <m:r>
                      <a:rPr lang="es-MX" sz="2200" i="1">
                        <a:latin typeface="Cambria Math" panose="02040503050406030204" pitchFamily="18" charset="0"/>
                        <a:ea typeface="Cambria Math" panose="02040503050406030204" pitchFamily="18" charset="0"/>
                      </a:rPr>
                      <m:t>⊆</m:t>
                    </m:r>
                    <m:r>
                      <a:rPr lang="es-MX" sz="2200" i="1">
                        <a:latin typeface="Cambria Math" panose="02040503050406030204" pitchFamily="18" charset="0"/>
                        <a:ea typeface="Cambria Math" panose="02040503050406030204" pitchFamily="18" charset="0"/>
                      </a:rPr>
                      <m:t>𝐵</m:t>
                    </m:r>
                  </m:oMath>
                </a14:m>
                <a:endParaRPr lang="es-MX" sz="2200" dirty="0">
                  <a:latin typeface="+mn-lt"/>
                  <a:ea typeface="Roboto" panose="02000000000000000000" pitchFamily="2" charset="0"/>
                </a:endParaRPr>
              </a:p>
              <a:p>
                <a:pPr marL="584200" indent="-457200">
                  <a:buFont typeface="+mj-lt"/>
                  <a:buAutoNum type="arabicPeriod"/>
                </a:pPr>
                <a:endParaRPr lang="es-MX" sz="2200" dirty="0">
                  <a:latin typeface="+mn-lt"/>
                  <a:ea typeface="Roboto" panose="02000000000000000000" pitchFamily="2" charset="0"/>
                </a:endParaRPr>
              </a:p>
              <a:p>
                <a:pPr marL="584200" indent="-457200">
                  <a:buFont typeface="+mj-lt"/>
                  <a:buAutoNum type="arabicPeriod"/>
                </a:pPr>
                <a:endParaRPr lang="es-MX" sz="2200" dirty="0">
                  <a:latin typeface="+mn-lt"/>
                  <a:ea typeface="Roboto" panose="02000000000000000000" pitchFamily="2" charset="0"/>
                </a:endParaRPr>
              </a:p>
              <a:p>
                <a:pPr marL="584200" indent="-457200">
                  <a:buFont typeface="+mj-lt"/>
                  <a:buAutoNum type="arabicPeriod"/>
                </a:pPr>
                <a:endParaRPr lang="es-MX" sz="2200" dirty="0">
                  <a:latin typeface="+mn-lt"/>
                  <a:ea typeface="Roboto" panose="02000000000000000000" pitchFamily="2" charset="0"/>
                </a:endParaRPr>
              </a:p>
              <a:p>
                <a:pPr marL="584200" indent="-457200">
                  <a:buFont typeface="+mj-lt"/>
                  <a:buAutoNum type="arabicPeriod"/>
                </a:pPr>
                <a:endParaRPr lang="es-MX" sz="2200" dirty="0">
                  <a:latin typeface="+mn-lt"/>
                  <a:ea typeface="Roboto" panose="02000000000000000000" pitchFamily="2" charset="0"/>
                </a:endParaRPr>
              </a:p>
              <a:p>
                <a:pPr marL="584200" indent="-457200">
                  <a:buFont typeface="+mj-lt"/>
                  <a:buAutoNum type="arabicPeriod"/>
                </a:pPr>
                <a:r>
                  <a:rPr lang="es-MX" sz="2200" dirty="0">
                    <a:latin typeface="+mn-lt"/>
                    <a:ea typeface="Roboto" panose="02000000000000000000" pitchFamily="2" charset="0"/>
                  </a:rPr>
                  <a:t>Sea el conjunto </a:t>
                </a:r>
                <a14:m>
                  <m:oMath xmlns:m="http://schemas.openxmlformats.org/officeDocument/2006/math">
                    <m:r>
                      <a:rPr lang="es-MX" sz="2200" i="1">
                        <a:latin typeface="Cambria Math" panose="02040503050406030204" pitchFamily="18" charset="0"/>
                        <a:ea typeface="Roboto" panose="02000000000000000000" pitchFamily="2" charset="0"/>
                      </a:rPr>
                      <m:t>𝐹</m:t>
                    </m:r>
                  </m:oMath>
                </a14:m>
                <a:r>
                  <a:rPr lang="es-MX" sz="2200" dirty="0">
                    <a:latin typeface="+mn-lt"/>
                    <a:ea typeface="Roboto" panose="02000000000000000000" pitchFamily="2" charset="0"/>
                  </a:rPr>
                  <a:t> los fines de semana y </a:t>
                </a:r>
                <a14:m>
                  <m:oMath xmlns:m="http://schemas.openxmlformats.org/officeDocument/2006/math">
                    <m:r>
                      <a:rPr lang="es-MX" sz="2200" b="0" i="1" smtClean="0">
                        <a:latin typeface="Cambria Math" panose="02040503050406030204" pitchFamily="18" charset="0"/>
                        <a:ea typeface="Roboto" panose="02000000000000000000" pitchFamily="2" charset="0"/>
                      </a:rPr>
                      <m:t>𝑆</m:t>
                    </m:r>
                  </m:oMath>
                </a14:m>
                <a:r>
                  <a:rPr lang="es-MX" sz="2200" dirty="0">
                    <a:latin typeface="+mn-lt"/>
                    <a:ea typeface="Roboto" panose="02000000000000000000" pitchFamily="2" charset="0"/>
                  </a:rPr>
                  <a:t> los días de la semana, tenemos que   </a:t>
                </a:r>
                <a14:m>
                  <m:oMath xmlns:m="http://schemas.openxmlformats.org/officeDocument/2006/math">
                    <m:r>
                      <a:rPr lang="es-MX" sz="2200" b="0" i="1" smtClean="0">
                        <a:latin typeface="Cambria Math" panose="02040503050406030204" pitchFamily="18" charset="0"/>
                        <a:ea typeface="Roboto" panose="02000000000000000000" pitchFamily="2" charset="0"/>
                      </a:rPr>
                      <m:t>𝐹</m:t>
                    </m:r>
                    <m:r>
                      <a:rPr lang="es-MX" sz="2200" b="0" i="1" smtClean="0">
                        <a:latin typeface="Cambria Math" panose="02040503050406030204" pitchFamily="18" charset="0"/>
                        <a:ea typeface="Roboto" panose="02000000000000000000" pitchFamily="2" charset="0"/>
                      </a:rPr>
                      <m:t>=</m:t>
                    </m:r>
                    <m:d>
                      <m:dPr>
                        <m:begChr m:val="{"/>
                        <m:endChr m:val="}"/>
                        <m:ctrlPr>
                          <a:rPr lang="es-MX" sz="2200" b="0" i="1" smtClean="0">
                            <a:latin typeface="Cambria Math" panose="02040503050406030204" pitchFamily="18" charset="0"/>
                            <a:ea typeface="Roboto" panose="02000000000000000000" pitchFamily="2" charset="0"/>
                          </a:rPr>
                        </m:ctrlPr>
                      </m:dPr>
                      <m:e>
                        <m:r>
                          <a:rPr lang="es-MX" sz="2200" b="0" i="1" smtClean="0">
                            <a:latin typeface="Cambria Math" panose="02040503050406030204" pitchFamily="18" charset="0"/>
                            <a:ea typeface="Roboto" panose="02000000000000000000" pitchFamily="2" charset="0"/>
                          </a:rPr>
                          <m:t>𝑠𝑎𝑏𝑎𝑑𝑜</m:t>
                        </m:r>
                        <m:r>
                          <a:rPr lang="es-MX" sz="2200" b="0" i="1" smtClean="0">
                            <a:latin typeface="Cambria Math" panose="02040503050406030204" pitchFamily="18" charset="0"/>
                            <a:ea typeface="Roboto" panose="02000000000000000000" pitchFamily="2" charset="0"/>
                          </a:rPr>
                          <m:t>,</m:t>
                        </m:r>
                        <m:r>
                          <a:rPr lang="es-MX" sz="2200" b="0" i="1" smtClean="0">
                            <a:latin typeface="Cambria Math" panose="02040503050406030204" pitchFamily="18" charset="0"/>
                            <a:ea typeface="Roboto" panose="02000000000000000000" pitchFamily="2" charset="0"/>
                          </a:rPr>
                          <m:t>𝑑𝑜𝑚𝑖𝑛𝑔𝑜</m:t>
                        </m:r>
                      </m:e>
                    </m:d>
                  </m:oMath>
                </a14:m>
                <a:r>
                  <a:rPr lang="es-MX" sz="2200" dirty="0">
                    <a:latin typeface="+mn-lt"/>
                    <a:ea typeface="Roboto" panose="02000000000000000000" pitchFamily="2" charset="0"/>
                  </a:rPr>
                  <a:t> y </a:t>
                </a:r>
                <a14:m>
                  <m:oMath xmlns:m="http://schemas.openxmlformats.org/officeDocument/2006/math">
                    <m:r>
                      <a:rPr lang="es-MX" sz="2200" i="1">
                        <a:latin typeface="Cambria Math" panose="02040503050406030204" pitchFamily="18" charset="0"/>
                        <a:ea typeface="Roboto" panose="02000000000000000000" pitchFamily="2" charset="0"/>
                      </a:rPr>
                      <m:t>𝑆</m:t>
                    </m:r>
                    <m:r>
                      <a:rPr lang="es-MX" sz="2200" b="0" i="1" smtClean="0">
                        <a:latin typeface="Cambria Math" panose="02040503050406030204" pitchFamily="18" charset="0"/>
                        <a:ea typeface="Roboto" panose="02000000000000000000" pitchFamily="2" charset="0"/>
                      </a:rPr>
                      <m:t>=</m:t>
                    </m:r>
                    <m:d>
                      <m:dPr>
                        <m:begChr m:val="{"/>
                        <m:endChr m:val="}"/>
                        <m:ctrlPr>
                          <a:rPr lang="es-MX" sz="2200" i="1">
                            <a:latin typeface="Cambria Math" panose="02040503050406030204" pitchFamily="18" charset="0"/>
                            <a:ea typeface="Roboto" panose="02000000000000000000" pitchFamily="2" charset="0"/>
                          </a:rPr>
                        </m:ctrlPr>
                      </m:dPr>
                      <m:e>
                        <m:r>
                          <a:rPr lang="es-MX" sz="2200" b="0" i="1" smtClean="0">
                            <a:latin typeface="Cambria Math" panose="02040503050406030204" pitchFamily="18" charset="0"/>
                            <a:ea typeface="Roboto" panose="02000000000000000000" pitchFamily="2" charset="0"/>
                          </a:rPr>
                          <m:t>𝑙𝑢𝑛𝑒𝑠</m:t>
                        </m:r>
                        <m:r>
                          <a:rPr lang="es-MX" sz="2200" b="0" i="1" smtClean="0">
                            <a:latin typeface="Cambria Math" panose="02040503050406030204" pitchFamily="18" charset="0"/>
                            <a:ea typeface="Roboto" panose="02000000000000000000" pitchFamily="2" charset="0"/>
                          </a:rPr>
                          <m:t>, </m:t>
                        </m:r>
                        <m:r>
                          <a:rPr lang="es-MX" sz="2200" b="0" i="1" smtClean="0">
                            <a:latin typeface="Cambria Math" panose="02040503050406030204" pitchFamily="18" charset="0"/>
                            <a:ea typeface="Roboto" panose="02000000000000000000" pitchFamily="2" charset="0"/>
                          </a:rPr>
                          <m:t>𝑚𝑎𝑟𝑡𝑒𝑠</m:t>
                        </m:r>
                        <m:r>
                          <a:rPr lang="es-MX" sz="2200" b="0" i="1" smtClean="0">
                            <a:latin typeface="Cambria Math" panose="02040503050406030204" pitchFamily="18" charset="0"/>
                            <a:ea typeface="Roboto" panose="02000000000000000000" pitchFamily="2" charset="0"/>
                          </a:rPr>
                          <m:t>, </m:t>
                        </m:r>
                        <m:r>
                          <a:rPr lang="es-MX" sz="2200" b="0" i="1" smtClean="0">
                            <a:latin typeface="Cambria Math" panose="02040503050406030204" pitchFamily="18" charset="0"/>
                            <a:ea typeface="Roboto" panose="02000000000000000000" pitchFamily="2" charset="0"/>
                          </a:rPr>
                          <m:t>𝑚𝑖𝑒𝑟𝑐𝑜𝑙𝑒𝑠</m:t>
                        </m:r>
                        <m:r>
                          <a:rPr lang="es-MX" sz="2200" b="0" i="1" smtClean="0">
                            <a:latin typeface="Cambria Math" panose="02040503050406030204" pitchFamily="18" charset="0"/>
                            <a:ea typeface="Roboto" panose="02000000000000000000" pitchFamily="2" charset="0"/>
                          </a:rPr>
                          <m:t>, </m:t>
                        </m:r>
                        <m:r>
                          <a:rPr lang="es-MX" sz="2200" b="0" i="1" smtClean="0">
                            <a:latin typeface="Cambria Math" panose="02040503050406030204" pitchFamily="18" charset="0"/>
                            <a:ea typeface="Roboto" panose="02000000000000000000" pitchFamily="2" charset="0"/>
                          </a:rPr>
                          <m:t>𝑗𝑢𝑒𝑣𝑒𝑠</m:t>
                        </m:r>
                        <m:r>
                          <a:rPr lang="es-MX" sz="2200" b="0" i="1" smtClean="0">
                            <a:latin typeface="Cambria Math" panose="02040503050406030204" pitchFamily="18" charset="0"/>
                            <a:ea typeface="Roboto" panose="02000000000000000000" pitchFamily="2" charset="0"/>
                          </a:rPr>
                          <m:t>, </m:t>
                        </m:r>
                        <m:r>
                          <a:rPr lang="es-MX" sz="2200" b="0" i="1" smtClean="0">
                            <a:latin typeface="Cambria Math" panose="02040503050406030204" pitchFamily="18" charset="0"/>
                            <a:ea typeface="Roboto" panose="02000000000000000000" pitchFamily="2" charset="0"/>
                          </a:rPr>
                          <m:t>𝑣𝑖𝑒𝑟𝑛𝑒𝑠</m:t>
                        </m:r>
                        <m:r>
                          <a:rPr lang="es-MX" sz="2200" b="0" i="1" smtClean="0">
                            <a:latin typeface="Cambria Math" panose="02040503050406030204" pitchFamily="18" charset="0"/>
                            <a:ea typeface="Roboto" panose="02000000000000000000" pitchFamily="2" charset="0"/>
                          </a:rPr>
                          <m:t>, </m:t>
                        </m:r>
                        <m:r>
                          <a:rPr lang="es-MX" sz="2200" i="1">
                            <a:latin typeface="Cambria Math" panose="02040503050406030204" pitchFamily="18" charset="0"/>
                            <a:ea typeface="Roboto" panose="02000000000000000000" pitchFamily="2" charset="0"/>
                          </a:rPr>
                          <m:t>𝑠𝑎𝑏𝑎𝑑𝑜</m:t>
                        </m:r>
                        <m:r>
                          <a:rPr lang="es-MX" sz="2200" i="1">
                            <a:latin typeface="Cambria Math" panose="02040503050406030204" pitchFamily="18" charset="0"/>
                            <a:ea typeface="Roboto" panose="02000000000000000000" pitchFamily="2" charset="0"/>
                          </a:rPr>
                          <m:t>,</m:t>
                        </m:r>
                        <m:r>
                          <a:rPr lang="es-MX" sz="2200" i="1">
                            <a:latin typeface="Cambria Math" panose="02040503050406030204" pitchFamily="18" charset="0"/>
                            <a:ea typeface="Roboto" panose="02000000000000000000" pitchFamily="2" charset="0"/>
                          </a:rPr>
                          <m:t>𝑑𝑜𝑚𝑖𝑛𝑔𝑜</m:t>
                        </m:r>
                      </m:e>
                    </m:d>
                  </m:oMath>
                </a14:m>
                <a:r>
                  <a:rPr lang="es-MX" sz="2200" dirty="0">
                    <a:latin typeface="+mn-lt"/>
                    <a:ea typeface="Roboto" panose="02000000000000000000" pitchFamily="2" charset="0"/>
                  </a:rPr>
                  <a:t>, de modo que podemos decir </a:t>
                </a:r>
                <a14:m>
                  <m:oMath xmlns:m="http://schemas.openxmlformats.org/officeDocument/2006/math">
                    <m:r>
                      <a:rPr lang="es-MX" sz="2200" b="0" i="1" smtClean="0">
                        <a:latin typeface="Cambria Math" panose="02040503050406030204" pitchFamily="18" charset="0"/>
                        <a:ea typeface="Roboto" panose="02000000000000000000" pitchFamily="2" charset="0"/>
                      </a:rPr>
                      <m:t>𝐹</m:t>
                    </m:r>
                    <m:r>
                      <a:rPr lang="es-MX" sz="2200" i="1">
                        <a:latin typeface="Cambria Math" panose="02040503050406030204" pitchFamily="18" charset="0"/>
                        <a:ea typeface="Cambria Math" panose="02040503050406030204" pitchFamily="18" charset="0"/>
                      </a:rPr>
                      <m:t>⊆</m:t>
                    </m:r>
                    <m:r>
                      <a:rPr lang="es-MX" sz="2200" b="0" i="1" smtClean="0">
                        <a:latin typeface="Cambria Math" panose="02040503050406030204" pitchFamily="18" charset="0"/>
                        <a:ea typeface="Cambria Math" panose="02040503050406030204" pitchFamily="18" charset="0"/>
                      </a:rPr>
                      <m:t>𝑆</m:t>
                    </m:r>
                  </m:oMath>
                </a14:m>
                <a:endParaRPr lang="es-MX" sz="2200" dirty="0">
                  <a:latin typeface="+mn-lt"/>
                  <a:ea typeface="Roboto" panose="02000000000000000000" pitchFamily="2" charset="0"/>
                </a:endParaRPr>
              </a:p>
              <a:p>
                <a:endParaRPr lang="es-MX" sz="2200" dirty="0">
                  <a:latin typeface="+mn-lt"/>
                  <a:ea typeface="Roboto" panose="02000000000000000000" pitchFamily="2" charset="0"/>
                </a:endParaRPr>
              </a:p>
            </p:txBody>
          </p:sp>
        </mc:Choice>
        <mc:Fallback xmlns="">
          <p:sp>
            <p:nvSpPr>
              <p:cNvPr id="20" name="Google Shape;310;p34">
                <a:extLst>
                  <a:ext uri="{FF2B5EF4-FFF2-40B4-BE49-F238E27FC236}">
                    <a16:creationId xmlns:a16="http://schemas.microsoft.com/office/drawing/2014/main" id="{4CC3BD47-C7C5-43C0-8EA5-7652782E79B4}"/>
                  </a:ext>
                </a:extLst>
              </p:cNvPr>
              <p:cNvSpPr txBox="1">
                <a:spLocks noRot="1" noChangeAspect="1" noMove="1" noResize="1" noEditPoints="1" noAdjustHandles="1" noChangeArrowheads="1" noChangeShapeType="1" noTextEdit="1"/>
              </p:cNvSpPr>
              <p:nvPr/>
            </p:nvSpPr>
            <p:spPr>
              <a:xfrm>
                <a:off x="260555" y="865182"/>
                <a:ext cx="11434916" cy="5896780"/>
              </a:xfrm>
              <a:prstGeom prst="rect">
                <a:avLst/>
              </a:prstGeom>
              <a:blipFill>
                <a:blip r:embed="rId3"/>
                <a:stretch>
                  <a:fillRect r="-1119"/>
                </a:stretch>
              </a:blipFill>
              <a:ln>
                <a:noFill/>
              </a:ln>
            </p:spPr>
            <p:txBody>
              <a:bodyPr/>
              <a:lstStyle/>
              <a:p>
                <a:r>
                  <a:rPr lang="es-CO">
                    <a:noFill/>
                  </a:rPr>
                  <a:t> </a:t>
                </a:r>
              </a:p>
            </p:txBody>
          </p:sp>
        </mc:Fallback>
      </mc:AlternateContent>
    </p:spTree>
    <p:extLst>
      <p:ext uri="{BB962C8B-B14F-4D97-AF65-F5344CB8AC3E}">
        <p14:creationId xmlns:p14="http://schemas.microsoft.com/office/powerpoint/2010/main" val="22974407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457200" y="96038"/>
            <a:ext cx="1173480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Subconjuntos</a:t>
            </a:r>
            <a:endParaRPr dirty="0">
              <a:solidFill>
                <a:schemeClr val="tx1"/>
              </a:solidFill>
              <a:latin typeface="+mj-lt"/>
            </a:endParaRPr>
          </a:p>
        </p:txBody>
      </p:sp>
      <mc:AlternateContent xmlns:mc="http://schemas.openxmlformats.org/markup-compatibility/2006" xmlns:a14="http://schemas.microsoft.com/office/drawing/2010/main">
        <mc:Choice Requires="a14">
          <p:sp>
            <p:nvSpPr>
              <p:cNvPr id="7" name="Google Shape;310;p34">
                <a:extLst>
                  <a:ext uri="{FF2B5EF4-FFF2-40B4-BE49-F238E27FC236}">
                    <a16:creationId xmlns:a16="http://schemas.microsoft.com/office/drawing/2014/main" id="{C1EB8144-8BAC-4290-B469-B1AFD5BDF721}"/>
                  </a:ext>
                </a:extLst>
              </p:cNvPr>
              <p:cNvSpPr txBox="1">
                <a:spLocks/>
              </p:cNvSpPr>
              <p:nvPr/>
            </p:nvSpPr>
            <p:spPr>
              <a:xfrm>
                <a:off x="235976" y="883312"/>
                <a:ext cx="11734800" cy="5001301"/>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200" b="1" dirty="0">
                    <a:solidFill>
                      <a:schemeClr val="tx1"/>
                    </a:solidFill>
                    <a:latin typeface="+mn-lt"/>
                    <a:ea typeface="Roboto" panose="02000000000000000000" pitchFamily="2" charset="0"/>
                  </a:rPr>
                  <a:t>Conclusiones importantes</a:t>
                </a:r>
                <a:r>
                  <a:rPr lang="es-MX" sz="2200" dirty="0">
                    <a:solidFill>
                      <a:schemeClr val="tx1"/>
                    </a:solidFill>
                    <a:latin typeface="+mn-lt"/>
                    <a:ea typeface="Roboto" panose="02000000000000000000" pitchFamily="2" charset="0"/>
                  </a:rPr>
                  <a:t>:</a:t>
                </a:r>
              </a:p>
              <a:p>
                <a:r>
                  <a:rPr lang="es-MX" sz="2200" dirty="0">
                    <a:latin typeface="+mn-lt"/>
                    <a:ea typeface="Roboto" panose="02000000000000000000" pitchFamily="2" charset="0"/>
                  </a:rPr>
                  <a:t>Un conjunto </a:t>
                </a:r>
                <a14:m>
                  <m:oMath xmlns:m="http://schemas.openxmlformats.org/officeDocument/2006/math">
                    <m:r>
                      <a:rPr lang="es-MX" sz="2200" b="0" i="1" smtClean="0">
                        <a:latin typeface="Cambria Math" panose="02040503050406030204" pitchFamily="18" charset="0"/>
                        <a:ea typeface="Roboto" panose="02000000000000000000" pitchFamily="2" charset="0"/>
                      </a:rPr>
                      <m:t>𝐴</m:t>
                    </m:r>
                    <m:r>
                      <a:rPr lang="es-MX" sz="2200" b="0" i="1" smtClean="0">
                        <a:latin typeface="Cambria Math" panose="02040503050406030204" pitchFamily="18" charset="0"/>
                        <a:ea typeface="Roboto" panose="02000000000000000000" pitchFamily="2" charset="0"/>
                      </a:rPr>
                      <m:t> </m:t>
                    </m:r>
                  </m:oMath>
                </a14:m>
                <a:r>
                  <a:rPr lang="es-MX" sz="2200" dirty="0">
                    <a:latin typeface="+mn-lt"/>
                    <a:ea typeface="Roboto" panose="02000000000000000000" pitchFamily="2" charset="0"/>
                  </a:rPr>
                  <a:t>no es subconjunto </a:t>
                </a:r>
                <a14:m>
                  <m:oMath xmlns:m="http://schemas.openxmlformats.org/officeDocument/2006/math">
                    <m:r>
                      <a:rPr lang="es-MX" sz="2200" b="0" i="1" smtClean="0">
                        <a:latin typeface="Cambria Math" panose="02040503050406030204" pitchFamily="18" charset="0"/>
                        <a:ea typeface="Roboto" panose="02000000000000000000" pitchFamily="2" charset="0"/>
                      </a:rPr>
                      <m:t>𝐵</m:t>
                    </m:r>
                  </m:oMath>
                </a14:m>
                <a:r>
                  <a:rPr lang="es-MX" sz="2200" dirty="0">
                    <a:latin typeface="+mn-lt"/>
                    <a:ea typeface="Roboto" panose="02000000000000000000" pitchFamily="2" charset="0"/>
                  </a:rPr>
                  <a:t>, sí y solo sí, hay al menos un elemento se encuentra en </a:t>
                </a:r>
                <a14:m>
                  <m:oMath xmlns:m="http://schemas.openxmlformats.org/officeDocument/2006/math">
                    <m:r>
                      <a:rPr lang="es-MX" sz="2200" i="1">
                        <a:latin typeface="Cambria Math" panose="02040503050406030204" pitchFamily="18" charset="0"/>
                        <a:ea typeface="Roboto" panose="02000000000000000000" pitchFamily="2" charset="0"/>
                      </a:rPr>
                      <m:t>𝐴</m:t>
                    </m:r>
                  </m:oMath>
                </a14:m>
                <a:r>
                  <a:rPr lang="es-MX" sz="2200" dirty="0">
                    <a:latin typeface="+mn-lt"/>
                    <a:ea typeface="Roboto" panose="02000000000000000000" pitchFamily="2" charset="0"/>
                  </a:rPr>
                  <a:t>, pero no esta en </a:t>
                </a:r>
                <a14:m>
                  <m:oMath xmlns:m="http://schemas.openxmlformats.org/officeDocument/2006/math">
                    <m:r>
                      <a:rPr lang="es-MX" sz="2200" b="0" i="1" smtClean="0">
                        <a:latin typeface="Cambria Math" panose="02040503050406030204" pitchFamily="18" charset="0"/>
                        <a:ea typeface="Roboto" panose="02000000000000000000" pitchFamily="2" charset="0"/>
                      </a:rPr>
                      <m:t>𝐵</m:t>
                    </m:r>
                  </m:oMath>
                </a14:m>
                <a:r>
                  <a:rPr lang="es-MX" sz="2200" dirty="0">
                    <a:latin typeface="+mn-lt"/>
                    <a:ea typeface="Roboto" panose="02000000000000000000" pitchFamily="2" charset="0"/>
                  </a:rPr>
                  <a:t>.</a:t>
                </a:r>
              </a:p>
              <a:p>
                <a:endParaRPr lang="es-MX" sz="2200" dirty="0">
                  <a:latin typeface="+mn-lt"/>
                  <a:ea typeface="Roboto" panose="02000000000000000000" pitchFamily="2" charset="0"/>
                </a:endParaRPr>
              </a:p>
              <a:p>
                <a:pPr marL="584200" lvl="1" indent="0">
                  <a:buNone/>
                </a:pPr>
                <a:endParaRPr lang="es-MX" b="0" i="1" dirty="0">
                  <a:latin typeface="Cambria Math" panose="02040503050406030204" pitchFamily="18" charset="0"/>
                  <a:ea typeface="Roboto" panose="02000000000000000000" pitchFamily="2" charset="0"/>
                </a:endParaRPr>
              </a:p>
              <a:p>
                <a:pPr marL="584200" lvl="1" indent="0">
                  <a:buNone/>
                </a:pPr>
                <a:endParaRPr lang="es-MX" b="0" i="1" dirty="0">
                  <a:latin typeface="Cambria Math" panose="02040503050406030204" pitchFamily="18" charset="0"/>
                  <a:ea typeface="Roboto" panose="02000000000000000000" pitchFamily="2" charset="0"/>
                </a:endParaRPr>
              </a:p>
              <a:p>
                <a:pPr marL="584200" lvl="1" indent="0">
                  <a:buNone/>
                </a:pPr>
                <a14:m>
                  <m:oMathPara xmlns:m="http://schemas.openxmlformats.org/officeDocument/2006/math">
                    <m:oMathParaPr>
                      <m:jc m:val="left"/>
                    </m:oMathParaPr>
                    <m:oMath xmlns:m="http://schemas.openxmlformats.org/officeDocument/2006/math">
                      <m:r>
                        <a:rPr lang="es-MX" b="0" i="1" smtClean="0">
                          <a:latin typeface="Cambria Math" panose="02040503050406030204" pitchFamily="18" charset="0"/>
                          <a:ea typeface="Roboto" panose="02000000000000000000" pitchFamily="2" charset="0"/>
                        </a:rPr>
                        <m:t>𝐴</m:t>
                      </m:r>
                      <m:r>
                        <a:rPr lang="es-MX" b="0" i="1" smtClean="0">
                          <a:latin typeface="Cambria Math" panose="02040503050406030204" pitchFamily="18" charset="0"/>
                          <a:ea typeface="Cambria Math" panose="02040503050406030204" pitchFamily="18" charset="0"/>
                        </a:rPr>
                        <m:t>⊈</m:t>
                      </m:r>
                      <m:r>
                        <a:rPr lang="es-MX" b="0" i="1" smtClean="0">
                          <a:latin typeface="Cambria Math" panose="02040503050406030204" pitchFamily="18" charset="0"/>
                          <a:ea typeface="Cambria Math" panose="02040503050406030204" pitchFamily="18" charset="0"/>
                        </a:rPr>
                        <m:t>𝐵</m:t>
                      </m:r>
                      <m:r>
                        <a:rPr lang="es-MX" i="1">
                          <a:latin typeface="Cambria Math" panose="02040503050406030204" pitchFamily="18" charset="0"/>
                          <a:ea typeface="Cambria Math" panose="02040503050406030204" pitchFamily="18" charset="0"/>
                        </a:rPr>
                        <m:t>⇔</m:t>
                      </m:r>
                      <m:r>
                        <a:rPr lang="es-MX" b="0" i="1" smtClean="0">
                          <a:latin typeface="Cambria Math" panose="02040503050406030204" pitchFamily="18" charset="0"/>
                          <a:ea typeface="Cambria Math" panose="02040503050406030204" pitchFamily="18" charset="0"/>
                        </a:rPr>
                        <m:t>∃</m:t>
                      </m:r>
                      <m:r>
                        <a:rPr lang="es-MX" i="1">
                          <a:latin typeface="Cambria Math" panose="02040503050406030204" pitchFamily="18" charset="0"/>
                          <a:ea typeface="Cambria Math" panose="02040503050406030204" pitchFamily="18" charset="0"/>
                        </a:rPr>
                        <m:t>𝑥</m:t>
                      </m:r>
                      <m:r>
                        <a:rPr lang="es-MX" i="1">
                          <a:latin typeface="Cambria Math" panose="02040503050406030204" pitchFamily="18" charset="0"/>
                          <a:ea typeface="Cambria Math" panose="02040503050406030204" pitchFamily="18" charset="0"/>
                        </a:rPr>
                        <m:t> </m:t>
                      </m:r>
                      <m:d>
                        <m:dPr>
                          <m:ctrlPr>
                            <a:rPr lang="es-MX" i="1">
                              <a:latin typeface="Cambria Math" panose="02040503050406030204" pitchFamily="18" charset="0"/>
                              <a:ea typeface="Cambria Math" panose="02040503050406030204" pitchFamily="18" charset="0"/>
                            </a:rPr>
                          </m:ctrlPr>
                        </m:dPr>
                        <m:e>
                          <m:r>
                            <a:rPr lang="es-MX" i="1">
                              <a:latin typeface="Cambria Math" panose="02040503050406030204" pitchFamily="18" charset="0"/>
                              <a:ea typeface="Cambria Math" panose="02040503050406030204" pitchFamily="18" charset="0"/>
                            </a:rPr>
                            <m:t>𝑥</m:t>
                          </m:r>
                          <m:r>
                            <a:rPr lang="es-MX" i="1">
                              <a:latin typeface="Cambria Math" panose="02040503050406030204" pitchFamily="18" charset="0"/>
                              <a:ea typeface="Cambria Math" panose="02040503050406030204" pitchFamily="18" charset="0"/>
                            </a:rPr>
                            <m:t>∈</m:t>
                          </m:r>
                          <m:r>
                            <a:rPr lang="es-MX" i="1">
                              <a:latin typeface="Cambria Math" panose="02040503050406030204" pitchFamily="18" charset="0"/>
                              <a:ea typeface="Cambria Math" panose="02040503050406030204" pitchFamily="18" charset="0"/>
                            </a:rPr>
                            <m:t>𝐴</m:t>
                          </m:r>
                          <m:r>
                            <a:rPr lang="es-MX" i="1" smtClean="0">
                              <a:latin typeface="Cambria Math" panose="02040503050406030204" pitchFamily="18" charset="0"/>
                              <a:ea typeface="Cambria Math" panose="02040503050406030204" pitchFamily="18" charset="0"/>
                            </a:rPr>
                            <m:t>∧</m:t>
                          </m:r>
                          <m:r>
                            <a:rPr lang="es-MX" i="1">
                              <a:latin typeface="Cambria Math" panose="02040503050406030204" pitchFamily="18" charset="0"/>
                              <a:ea typeface="Cambria Math" panose="02040503050406030204" pitchFamily="18" charset="0"/>
                            </a:rPr>
                            <m:t>𝑥</m:t>
                          </m:r>
                          <m:r>
                            <a:rPr lang="es-MX" b="0" i="1" smtClean="0">
                              <a:latin typeface="Cambria Math" panose="02040503050406030204" pitchFamily="18" charset="0"/>
                              <a:ea typeface="Cambria Math" panose="02040503050406030204" pitchFamily="18" charset="0"/>
                            </a:rPr>
                            <m:t>∉</m:t>
                          </m:r>
                          <m:r>
                            <a:rPr lang="es-MX" i="1">
                              <a:latin typeface="Cambria Math" panose="02040503050406030204" pitchFamily="18" charset="0"/>
                              <a:ea typeface="Cambria Math" panose="02040503050406030204" pitchFamily="18" charset="0"/>
                            </a:rPr>
                            <m:t>𝐵</m:t>
                          </m:r>
                        </m:e>
                      </m:d>
                    </m:oMath>
                  </m:oMathPara>
                </a14:m>
                <a:endParaRPr lang="es-MX" dirty="0">
                  <a:latin typeface="+mn-lt"/>
                  <a:ea typeface="Cambria Math" panose="02040503050406030204" pitchFamily="18" charset="0"/>
                </a:endParaRPr>
              </a:p>
              <a:p>
                <a:endParaRPr lang="es-MX" sz="2200" dirty="0">
                  <a:latin typeface="+mn-lt"/>
                  <a:ea typeface="Roboto" panose="02000000000000000000" pitchFamily="2" charset="0"/>
                </a:endParaRPr>
              </a:p>
              <a:p>
                <a:pPr marL="127000" indent="0">
                  <a:buNone/>
                </a:pPr>
                <a:endParaRPr lang="es-MX" sz="2200" dirty="0">
                  <a:latin typeface="+mn-lt"/>
                  <a:ea typeface="Roboto" panose="02000000000000000000" pitchFamily="2" charset="0"/>
                </a:endParaRPr>
              </a:p>
              <a:p>
                <a:r>
                  <a:rPr lang="es-MX" sz="2200" dirty="0">
                    <a:latin typeface="+mn-lt"/>
                    <a:ea typeface="Roboto" panose="02000000000000000000" pitchFamily="2" charset="0"/>
                  </a:rPr>
                  <a:t>Decir que </a:t>
                </a:r>
                <a14:m>
                  <m:oMath xmlns:m="http://schemas.openxmlformats.org/officeDocument/2006/math">
                    <m:r>
                      <a:rPr lang="es-MX" sz="2200" b="0" i="1" smtClean="0">
                        <a:latin typeface="Cambria Math" panose="02040503050406030204" pitchFamily="18" charset="0"/>
                        <a:ea typeface="Roboto" panose="02000000000000000000" pitchFamily="2" charset="0"/>
                      </a:rPr>
                      <m:t>𝐴</m:t>
                    </m:r>
                  </m:oMath>
                </a14:m>
                <a:r>
                  <a:rPr lang="es-MX" sz="2200" dirty="0">
                    <a:latin typeface="+mn-lt"/>
                    <a:ea typeface="Roboto" panose="02000000000000000000" pitchFamily="2" charset="0"/>
                  </a:rPr>
                  <a:t> es subconjunto de </a:t>
                </a:r>
                <a14:m>
                  <m:oMath xmlns:m="http://schemas.openxmlformats.org/officeDocument/2006/math">
                    <m:r>
                      <a:rPr lang="es-MX" sz="2200" i="1">
                        <a:latin typeface="Cambria Math" panose="02040503050406030204" pitchFamily="18" charset="0"/>
                        <a:ea typeface="Cambria Math" panose="02040503050406030204" pitchFamily="18" charset="0"/>
                      </a:rPr>
                      <m:t>𝐵</m:t>
                    </m:r>
                  </m:oMath>
                </a14:m>
                <a:r>
                  <a:rPr lang="es-MX" sz="2200" dirty="0">
                    <a:latin typeface="+mn-lt"/>
                    <a:ea typeface="Roboto" panose="02000000000000000000" pitchFamily="2" charset="0"/>
                  </a:rPr>
                  <a:t> es lo mismo que decir que </a:t>
                </a:r>
                <a14:m>
                  <m:oMath xmlns:m="http://schemas.openxmlformats.org/officeDocument/2006/math">
                    <m:r>
                      <a:rPr lang="es-MX" sz="2200" i="1">
                        <a:latin typeface="Cambria Math" panose="02040503050406030204" pitchFamily="18" charset="0"/>
                        <a:ea typeface="Cambria Math" panose="02040503050406030204" pitchFamily="18" charset="0"/>
                      </a:rPr>
                      <m:t>𝐵</m:t>
                    </m:r>
                  </m:oMath>
                </a14:m>
                <a:r>
                  <a:rPr lang="es-MX" sz="2200" dirty="0">
                    <a:latin typeface="+mn-lt"/>
                    <a:ea typeface="Roboto" panose="02000000000000000000" pitchFamily="2" charset="0"/>
                  </a:rPr>
                  <a:t> es superconjunto de </a:t>
                </a:r>
                <a14:m>
                  <m:oMath xmlns:m="http://schemas.openxmlformats.org/officeDocument/2006/math">
                    <m:r>
                      <a:rPr lang="es-MX" sz="2200" b="0" i="1" smtClean="0">
                        <a:latin typeface="Cambria Math" panose="02040503050406030204" pitchFamily="18" charset="0"/>
                        <a:ea typeface="Cambria Math" panose="02040503050406030204" pitchFamily="18" charset="0"/>
                      </a:rPr>
                      <m:t>𝐴</m:t>
                    </m:r>
                  </m:oMath>
                </a14:m>
                <a:r>
                  <a:rPr lang="es-MX" sz="2200" dirty="0">
                    <a:latin typeface="+mn-lt"/>
                    <a:ea typeface="Roboto" panose="02000000000000000000" pitchFamily="2" charset="0"/>
                  </a:rPr>
                  <a:t>, pues decir que todos los elementos de </a:t>
                </a:r>
                <a14:m>
                  <m:oMath xmlns:m="http://schemas.openxmlformats.org/officeDocument/2006/math">
                    <m:r>
                      <a:rPr lang="es-MX" sz="2200" i="1">
                        <a:latin typeface="Cambria Math" panose="02040503050406030204" pitchFamily="18" charset="0"/>
                        <a:ea typeface="Roboto" panose="02000000000000000000" pitchFamily="2" charset="0"/>
                      </a:rPr>
                      <m:t>𝐴</m:t>
                    </m:r>
                  </m:oMath>
                </a14:m>
                <a:r>
                  <a:rPr lang="es-MX" sz="2200" dirty="0">
                    <a:latin typeface="+mn-lt"/>
                    <a:ea typeface="Roboto" panose="02000000000000000000" pitchFamily="2" charset="0"/>
                  </a:rPr>
                  <a:t> están en </a:t>
                </a:r>
                <a14:m>
                  <m:oMath xmlns:m="http://schemas.openxmlformats.org/officeDocument/2006/math">
                    <m:r>
                      <a:rPr lang="es-MX" sz="2200" b="0" i="1" smtClean="0">
                        <a:latin typeface="Cambria Math" panose="02040503050406030204" pitchFamily="18" charset="0"/>
                        <a:ea typeface="Roboto" panose="02000000000000000000" pitchFamily="2" charset="0"/>
                      </a:rPr>
                      <m:t>𝐵</m:t>
                    </m:r>
                  </m:oMath>
                </a14:m>
                <a:r>
                  <a:rPr lang="es-MX" sz="2200" dirty="0">
                    <a:latin typeface="+mn-lt"/>
                    <a:ea typeface="Roboto" panose="02000000000000000000" pitchFamily="2" charset="0"/>
                  </a:rPr>
                  <a:t>, es lo mismo que decir que </a:t>
                </a:r>
                <a14:m>
                  <m:oMath xmlns:m="http://schemas.openxmlformats.org/officeDocument/2006/math">
                    <m:r>
                      <a:rPr lang="es-MX" sz="2200" b="0" i="1" smtClean="0">
                        <a:latin typeface="Cambria Math" panose="02040503050406030204" pitchFamily="18" charset="0"/>
                        <a:ea typeface="Roboto" panose="02000000000000000000" pitchFamily="2" charset="0"/>
                      </a:rPr>
                      <m:t>𝐵</m:t>
                    </m:r>
                  </m:oMath>
                </a14:m>
                <a:r>
                  <a:rPr lang="es-MX" sz="2200" dirty="0">
                    <a:latin typeface="+mn-lt"/>
                    <a:ea typeface="Roboto" panose="02000000000000000000" pitchFamily="2" charset="0"/>
                  </a:rPr>
                  <a:t> contiene a todos los elementos de </a:t>
                </a:r>
                <a14:m>
                  <m:oMath xmlns:m="http://schemas.openxmlformats.org/officeDocument/2006/math">
                    <m:r>
                      <a:rPr lang="es-MX" sz="2200" i="1">
                        <a:latin typeface="Cambria Math" panose="02040503050406030204" pitchFamily="18" charset="0"/>
                        <a:ea typeface="Roboto" panose="02000000000000000000" pitchFamily="2" charset="0"/>
                      </a:rPr>
                      <m:t>𝐴</m:t>
                    </m:r>
                    <m:r>
                      <a:rPr lang="es-MX" sz="2200" i="1">
                        <a:latin typeface="Cambria Math" panose="02040503050406030204" pitchFamily="18" charset="0"/>
                        <a:ea typeface="Roboto" panose="02000000000000000000" pitchFamily="2" charset="0"/>
                      </a:rPr>
                      <m:t> </m:t>
                    </m:r>
                  </m:oMath>
                </a14:m>
                <a:r>
                  <a:rPr lang="es-MX" sz="2200" dirty="0">
                    <a:latin typeface="+mn-lt"/>
                    <a:ea typeface="Roboto" panose="02000000000000000000" pitchFamily="2" charset="0"/>
                  </a:rPr>
                  <a:t>:</a:t>
                </a:r>
              </a:p>
              <a:p>
                <a:endParaRPr lang="es-MX" sz="2200" dirty="0">
                  <a:latin typeface="+mn-lt"/>
                  <a:ea typeface="Roboto" panose="02000000000000000000" pitchFamily="2" charset="0"/>
                </a:endParaRPr>
              </a:p>
              <a:p>
                <a:pPr marL="127000" indent="0">
                  <a:buNone/>
                </a:pPr>
                <a14:m>
                  <m:oMathPara xmlns:m="http://schemas.openxmlformats.org/officeDocument/2006/math">
                    <m:oMathParaPr>
                      <m:jc m:val="centerGroup"/>
                    </m:oMathParaPr>
                    <m:oMath xmlns:m="http://schemas.openxmlformats.org/officeDocument/2006/math">
                      <m:r>
                        <a:rPr lang="es-MX" sz="2200" b="0" i="1" smtClean="0">
                          <a:latin typeface="Cambria Math" panose="02040503050406030204" pitchFamily="18" charset="0"/>
                          <a:ea typeface="Roboto" panose="02000000000000000000" pitchFamily="2" charset="0"/>
                        </a:rPr>
                        <m:t>𝐴</m:t>
                      </m:r>
                      <m:r>
                        <a:rPr lang="es-MX" sz="2200" b="0" i="1" smtClean="0">
                          <a:latin typeface="Cambria Math" panose="02040503050406030204" pitchFamily="18" charset="0"/>
                          <a:ea typeface="Cambria Math" panose="02040503050406030204" pitchFamily="18" charset="0"/>
                        </a:rPr>
                        <m:t>⊆</m:t>
                      </m:r>
                      <m:r>
                        <a:rPr lang="es-MX" sz="2200" b="0" i="1" smtClean="0">
                          <a:latin typeface="Cambria Math" panose="02040503050406030204" pitchFamily="18" charset="0"/>
                          <a:ea typeface="Cambria Math" panose="02040503050406030204" pitchFamily="18" charset="0"/>
                        </a:rPr>
                        <m:t>𝐵</m:t>
                      </m:r>
                      <m:r>
                        <a:rPr lang="es-MX" sz="2200" i="1">
                          <a:latin typeface="Cambria Math" panose="02040503050406030204" pitchFamily="18" charset="0"/>
                          <a:ea typeface="Cambria Math" panose="02040503050406030204" pitchFamily="18" charset="0"/>
                        </a:rPr>
                        <m:t>⇔</m:t>
                      </m:r>
                      <m:r>
                        <a:rPr lang="es-MX" sz="2200" i="1">
                          <a:latin typeface="Cambria Math" panose="02040503050406030204" pitchFamily="18" charset="0"/>
                          <a:ea typeface="Cambria Math" panose="02040503050406030204" pitchFamily="18" charset="0"/>
                        </a:rPr>
                        <m:t>𝐵</m:t>
                      </m:r>
                      <m:r>
                        <a:rPr lang="es-MX" sz="2200" i="1" smtClean="0">
                          <a:latin typeface="Cambria Math" panose="02040503050406030204" pitchFamily="18" charset="0"/>
                          <a:ea typeface="Cambria Math" panose="02040503050406030204" pitchFamily="18" charset="0"/>
                        </a:rPr>
                        <m:t>⊇</m:t>
                      </m:r>
                      <m:r>
                        <a:rPr lang="es-MX" sz="2200" b="0" i="1" smtClean="0">
                          <a:latin typeface="Cambria Math" panose="02040503050406030204" pitchFamily="18" charset="0"/>
                          <a:ea typeface="Cambria Math" panose="02040503050406030204" pitchFamily="18" charset="0"/>
                        </a:rPr>
                        <m:t>𝐴</m:t>
                      </m:r>
                    </m:oMath>
                  </m:oMathPara>
                </a14:m>
                <a:endParaRPr lang="es-MX" sz="2200" dirty="0">
                  <a:latin typeface="+mn-lt"/>
                  <a:ea typeface="Roboto" panose="02000000000000000000" pitchFamily="2" charset="0"/>
                </a:endParaRPr>
              </a:p>
            </p:txBody>
          </p:sp>
        </mc:Choice>
        <mc:Fallback xmlns="">
          <p:sp>
            <p:nvSpPr>
              <p:cNvPr id="7" name="Google Shape;310;p34">
                <a:extLst>
                  <a:ext uri="{FF2B5EF4-FFF2-40B4-BE49-F238E27FC236}">
                    <a16:creationId xmlns:a16="http://schemas.microsoft.com/office/drawing/2014/main" id="{C1EB8144-8BAC-4290-B469-B1AFD5BDF721}"/>
                  </a:ext>
                </a:extLst>
              </p:cNvPr>
              <p:cNvSpPr txBox="1">
                <a:spLocks noRot="1" noChangeAspect="1" noMove="1" noResize="1" noEditPoints="1" noAdjustHandles="1" noChangeArrowheads="1" noChangeShapeType="1" noTextEdit="1"/>
              </p:cNvSpPr>
              <p:nvPr/>
            </p:nvSpPr>
            <p:spPr>
              <a:xfrm>
                <a:off x="235976" y="883312"/>
                <a:ext cx="11734800" cy="5001301"/>
              </a:xfrm>
              <a:prstGeom prst="rect">
                <a:avLst/>
              </a:prstGeom>
              <a:blipFill>
                <a:blip r:embed="rId3"/>
                <a:stretch>
                  <a:fillRect b="-6220"/>
                </a:stretch>
              </a:blipFill>
              <a:ln>
                <a:noFill/>
              </a:ln>
            </p:spPr>
            <p:txBody>
              <a:bodyPr/>
              <a:lstStyle/>
              <a:p>
                <a:r>
                  <a:rPr lang="es-CO">
                    <a:noFill/>
                  </a:rPr>
                  <a:t> </a:t>
                </a:r>
              </a:p>
            </p:txBody>
          </p:sp>
        </mc:Fallback>
      </mc:AlternateContent>
      <p:pic>
        <p:nvPicPr>
          <p:cNvPr id="3" name="Imagen 2">
            <a:extLst>
              <a:ext uri="{FF2B5EF4-FFF2-40B4-BE49-F238E27FC236}">
                <a16:creationId xmlns:a16="http://schemas.microsoft.com/office/drawing/2014/main" id="{6A535B94-51FB-439E-8587-91E8EBA25E48}"/>
              </a:ext>
            </a:extLst>
          </p:cNvPr>
          <p:cNvPicPr>
            <a:picLocks noChangeAspect="1"/>
          </p:cNvPicPr>
          <p:nvPr/>
        </p:nvPicPr>
        <p:blipFill>
          <a:blip r:embed="rId4"/>
          <a:stretch>
            <a:fillRect/>
          </a:stretch>
        </p:blipFill>
        <p:spPr>
          <a:xfrm>
            <a:off x="5282748" y="2452471"/>
            <a:ext cx="5953273" cy="1470600"/>
          </a:xfrm>
          <a:prstGeom prst="rect">
            <a:avLst/>
          </a:prstGeom>
        </p:spPr>
      </p:pic>
    </p:spTree>
    <p:extLst>
      <p:ext uri="{BB962C8B-B14F-4D97-AF65-F5344CB8AC3E}">
        <p14:creationId xmlns:p14="http://schemas.microsoft.com/office/powerpoint/2010/main" val="32226048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457200" y="96038"/>
            <a:ext cx="1173480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Subconjuntos</a:t>
            </a:r>
            <a:endParaRPr dirty="0">
              <a:solidFill>
                <a:schemeClr val="tx1"/>
              </a:solidFill>
              <a:latin typeface="+mj-lt"/>
            </a:endParaRPr>
          </a:p>
        </p:txBody>
      </p:sp>
      <mc:AlternateContent xmlns:mc="http://schemas.openxmlformats.org/markup-compatibility/2006" xmlns:a14="http://schemas.microsoft.com/office/drawing/2010/main">
        <mc:Choice Requires="a14">
          <p:sp>
            <p:nvSpPr>
              <p:cNvPr id="7" name="Google Shape;310;p34">
                <a:extLst>
                  <a:ext uri="{FF2B5EF4-FFF2-40B4-BE49-F238E27FC236}">
                    <a16:creationId xmlns:a16="http://schemas.microsoft.com/office/drawing/2014/main" id="{C1EB8144-8BAC-4290-B469-B1AFD5BDF721}"/>
                  </a:ext>
                </a:extLst>
              </p:cNvPr>
              <p:cNvSpPr txBox="1">
                <a:spLocks/>
              </p:cNvSpPr>
              <p:nvPr/>
            </p:nvSpPr>
            <p:spPr>
              <a:xfrm>
                <a:off x="235976" y="883312"/>
                <a:ext cx="11734800" cy="5001301"/>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200" b="1" dirty="0">
                    <a:solidFill>
                      <a:schemeClr val="tx1"/>
                    </a:solidFill>
                    <a:latin typeface="+mn-lt"/>
                    <a:ea typeface="Roboto" panose="02000000000000000000" pitchFamily="2" charset="0"/>
                  </a:rPr>
                  <a:t>Ejemplo</a:t>
                </a:r>
                <a:r>
                  <a:rPr lang="es-MX" sz="2200" dirty="0">
                    <a:solidFill>
                      <a:schemeClr val="tx1"/>
                    </a:solidFill>
                    <a:latin typeface="+mn-lt"/>
                    <a:ea typeface="Roboto" panose="02000000000000000000" pitchFamily="2" charset="0"/>
                  </a:rPr>
                  <a:t>:</a:t>
                </a:r>
              </a:p>
              <a:p>
                <a:r>
                  <a:rPr lang="es-MX" sz="2200" dirty="0">
                    <a:latin typeface="+mn-lt"/>
                    <a:ea typeface="Roboto" panose="02000000000000000000" pitchFamily="2" charset="0"/>
                  </a:rPr>
                  <a:t>Para cada uno de los siguientes escenarios, determine la relación existente entre los conjuntos.</a:t>
                </a:r>
              </a:p>
              <a:p>
                <a:pPr lvl="1"/>
                <a:r>
                  <a:rPr lang="es-MX" b="1" dirty="0">
                    <a:latin typeface="+mn-lt"/>
                    <a:ea typeface="Roboto" panose="02000000000000000000" pitchFamily="2" charset="0"/>
                  </a:rPr>
                  <a:t>Caso 1</a:t>
                </a:r>
                <a:r>
                  <a:rPr lang="es-MX" dirty="0">
                    <a:latin typeface="+mn-lt"/>
                    <a:ea typeface="Roboto" panose="02000000000000000000" pitchFamily="2" charset="0"/>
                  </a:rPr>
                  <a:t>: </a:t>
                </a:r>
                <a14:m>
                  <m:oMath xmlns:m="http://schemas.openxmlformats.org/officeDocument/2006/math">
                    <m:r>
                      <a:rPr lang="es-MX" b="0" i="1" smtClean="0">
                        <a:latin typeface="Cambria Math" panose="02040503050406030204" pitchFamily="18" charset="0"/>
                        <a:ea typeface="Cambria Math" panose="02040503050406030204" pitchFamily="18" charset="0"/>
                      </a:rPr>
                      <m:t>𝐴</m:t>
                    </m:r>
                    <m:r>
                      <a:rPr lang="es-MX" b="0" i="1" smtClean="0">
                        <a:latin typeface="Cambria Math" panose="02040503050406030204" pitchFamily="18" charset="0"/>
                        <a:ea typeface="Cambria Math" panose="02040503050406030204" pitchFamily="18" charset="0"/>
                      </a:rPr>
                      <m:t>={1, 2, 3}</m:t>
                    </m:r>
                  </m:oMath>
                </a14:m>
                <a:r>
                  <a:rPr lang="es-MX" dirty="0">
                    <a:latin typeface="+mn-lt"/>
                    <a:ea typeface="Roboto" panose="02000000000000000000" pitchFamily="2" charset="0"/>
                  </a:rPr>
                  <a:t>, </a:t>
                </a:r>
                <a14:m>
                  <m:oMath xmlns:m="http://schemas.openxmlformats.org/officeDocument/2006/math">
                    <m:r>
                      <a:rPr lang="es-MX" b="0" i="1" smtClean="0">
                        <a:latin typeface="Cambria Math" panose="02040503050406030204" pitchFamily="18" charset="0"/>
                        <a:ea typeface="Cambria Math" panose="02040503050406030204" pitchFamily="18" charset="0"/>
                      </a:rPr>
                      <m:t>𝐵</m:t>
                    </m:r>
                    <m:r>
                      <a:rPr lang="es-MX" i="1">
                        <a:latin typeface="Cambria Math" panose="02040503050406030204" pitchFamily="18" charset="0"/>
                        <a:ea typeface="Cambria Math" panose="02040503050406030204" pitchFamily="18" charset="0"/>
                      </a:rPr>
                      <m:t>={</m:t>
                    </m:r>
                    <m:r>
                      <a:rPr lang="es-MX" b="0" i="1" smtClean="0">
                        <a:latin typeface="Cambria Math" panose="02040503050406030204" pitchFamily="18" charset="0"/>
                        <a:ea typeface="Cambria Math" panose="02040503050406030204" pitchFamily="18" charset="0"/>
                      </a:rPr>
                      <m:t>4</m:t>
                    </m:r>
                    <m:r>
                      <a:rPr lang="es-MX" i="1">
                        <a:latin typeface="Cambria Math" panose="02040503050406030204" pitchFamily="18" charset="0"/>
                        <a:ea typeface="Cambria Math" panose="02040503050406030204" pitchFamily="18" charset="0"/>
                      </a:rPr>
                      <m:t>,</m:t>
                    </m:r>
                    <m:r>
                      <a:rPr lang="es-MX" b="0" i="1" smtClean="0">
                        <a:latin typeface="Cambria Math" panose="02040503050406030204" pitchFamily="18" charset="0"/>
                        <a:ea typeface="Cambria Math" panose="02040503050406030204" pitchFamily="18" charset="0"/>
                      </a:rPr>
                      <m:t> 5</m:t>
                    </m:r>
                    <m:r>
                      <a:rPr lang="es-MX" i="1">
                        <a:latin typeface="Cambria Math" panose="02040503050406030204" pitchFamily="18" charset="0"/>
                        <a:ea typeface="Cambria Math" panose="02040503050406030204" pitchFamily="18" charset="0"/>
                      </a:rPr>
                      <m:t>,</m:t>
                    </m:r>
                    <m:r>
                      <a:rPr lang="es-MX" b="0" i="1" smtClean="0">
                        <a:latin typeface="Cambria Math" panose="02040503050406030204" pitchFamily="18" charset="0"/>
                        <a:ea typeface="Cambria Math" panose="02040503050406030204" pitchFamily="18" charset="0"/>
                      </a:rPr>
                      <m:t> 6</m:t>
                    </m:r>
                    <m:r>
                      <a:rPr lang="es-MX" i="1">
                        <a:latin typeface="Cambria Math" panose="02040503050406030204" pitchFamily="18" charset="0"/>
                        <a:ea typeface="Cambria Math" panose="02040503050406030204" pitchFamily="18" charset="0"/>
                      </a:rPr>
                      <m:t>}</m:t>
                    </m:r>
                  </m:oMath>
                </a14:m>
                <a:r>
                  <a:rPr lang="es-MX" sz="3200" dirty="0">
                    <a:ea typeface="Roboto" panose="02000000000000000000" pitchFamily="2" charset="0"/>
                  </a:rPr>
                  <a:t> </a:t>
                </a:r>
                <a:endParaRPr lang="es-MX" dirty="0">
                  <a:latin typeface="+mn-lt"/>
                  <a:ea typeface="Roboto" panose="02000000000000000000" pitchFamily="2" charset="0"/>
                </a:endParaRPr>
              </a:p>
              <a:p>
                <a:pPr lvl="1"/>
                <a:r>
                  <a:rPr lang="es-MX" b="1" dirty="0">
                    <a:latin typeface="+mn-lt"/>
                    <a:ea typeface="Roboto" panose="02000000000000000000" pitchFamily="2" charset="0"/>
                  </a:rPr>
                  <a:t>Caso 2</a:t>
                </a:r>
                <a:r>
                  <a:rPr lang="es-MX" dirty="0">
                    <a:latin typeface="+mn-lt"/>
                    <a:ea typeface="Roboto" panose="02000000000000000000" pitchFamily="2" charset="0"/>
                  </a:rPr>
                  <a:t>: </a:t>
                </a:r>
                <a14:m>
                  <m:oMath xmlns:m="http://schemas.openxmlformats.org/officeDocument/2006/math">
                    <m:r>
                      <a:rPr lang="es-MX" b="0" i="1" smtClean="0">
                        <a:latin typeface="Cambria Math" panose="02040503050406030204" pitchFamily="18" charset="0"/>
                        <a:ea typeface="Cambria Math" panose="02040503050406030204" pitchFamily="18" charset="0"/>
                      </a:rPr>
                      <m:t>𝐴</m:t>
                    </m:r>
                    <m:r>
                      <a:rPr lang="es-MX" b="0" i="1" smtClean="0">
                        <a:latin typeface="Cambria Math" panose="02040503050406030204" pitchFamily="18" charset="0"/>
                        <a:ea typeface="Cambria Math" panose="02040503050406030204" pitchFamily="18" charset="0"/>
                      </a:rPr>
                      <m:t>={1, 2, 3}</m:t>
                    </m:r>
                  </m:oMath>
                </a14:m>
                <a:r>
                  <a:rPr lang="es-MX" dirty="0">
                    <a:latin typeface="+mn-lt"/>
                    <a:ea typeface="Roboto" panose="02000000000000000000" pitchFamily="2" charset="0"/>
                  </a:rPr>
                  <a:t>, </a:t>
                </a:r>
                <a14:m>
                  <m:oMath xmlns:m="http://schemas.openxmlformats.org/officeDocument/2006/math">
                    <m:r>
                      <a:rPr lang="es-MX" b="0" i="1" smtClean="0">
                        <a:latin typeface="Cambria Math" panose="02040503050406030204" pitchFamily="18" charset="0"/>
                        <a:ea typeface="Cambria Math" panose="02040503050406030204" pitchFamily="18" charset="0"/>
                      </a:rPr>
                      <m:t>𝐵</m:t>
                    </m:r>
                    <m:r>
                      <a:rPr lang="es-MX" i="1">
                        <a:latin typeface="Cambria Math" panose="02040503050406030204" pitchFamily="18" charset="0"/>
                        <a:ea typeface="Cambria Math" panose="02040503050406030204" pitchFamily="18" charset="0"/>
                      </a:rPr>
                      <m:t>={</m:t>
                    </m:r>
                    <m:r>
                      <a:rPr lang="es-MX" b="0" i="1" smtClean="0">
                        <a:latin typeface="Cambria Math" panose="02040503050406030204" pitchFamily="18" charset="0"/>
                        <a:ea typeface="Cambria Math" panose="02040503050406030204" pitchFamily="18" charset="0"/>
                      </a:rPr>
                      <m:t>2</m:t>
                    </m:r>
                    <m:r>
                      <a:rPr lang="es-MX" i="1">
                        <a:latin typeface="Cambria Math" panose="02040503050406030204" pitchFamily="18" charset="0"/>
                        <a:ea typeface="Cambria Math" panose="02040503050406030204" pitchFamily="18" charset="0"/>
                      </a:rPr>
                      <m:t>,</m:t>
                    </m:r>
                    <m:r>
                      <a:rPr lang="es-MX" b="0" i="1" smtClean="0">
                        <a:latin typeface="Cambria Math" panose="02040503050406030204" pitchFamily="18" charset="0"/>
                        <a:ea typeface="Cambria Math" panose="02040503050406030204" pitchFamily="18" charset="0"/>
                      </a:rPr>
                      <m:t> 3</m:t>
                    </m:r>
                    <m:r>
                      <a:rPr lang="es-MX" i="1">
                        <a:latin typeface="Cambria Math" panose="02040503050406030204" pitchFamily="18" charset="0"/>
                        <a:ea typeface="Cambria Math" panose="02040503050406030204" pitchFamily="18" charset="0"/>
                      </a:rPr>
                      <m:t>,</m:t>
                    </m:r>
                    <m:r>
                      <a:rPr lang="es-MX" b="0" i="1" smtClean="0">
                        <a:latin typeface="Cambria Math" panose="02040503050406030204" pitchFamily="18" charset="0"/>
                        <a:ea typeface="Cambria Math" panose="02040503050406030204" pitchFamily="18" charset="0"/>
                      </a:rPr>
                      <m:t> 4</m:t>
                    </m:r>
                    <m:r>
                      <a:rPr lang="es-MX" i="1">
                        <a:latin typeface="Cambria Math" panose="02040503050406030204" pitchFamily="18" charset="0"/>
                        <a:ea typeface="Cambria Math" panose="02040503050406030204" pitchFamily="18" charset="0"/>
                      </a:rPr>
                      <m:t>}</m:t>
                    </m:r>
                  </m:oMath>
                </a14:m>
                <a:r>
                  <a:rPr lang="es-MX" sz="4000" dirty="0">
                    <a:ea typeface="Roboto" panose="02000000000000000000" pitchFamily="2" charset="0"/>
                  </a:rPr>
                  <a:t> </a:t>
                </a:r>
                <a:endParaRPr lang="es-MX" sz="4000" dirty="0">
                  <a:latin typeface="+mn-lt"/>
                  <a:ea typeface="Roboto" panose="02000000000000000000" pitchFamily="2" charset="0"/>
                </a:endParaRPr>
              </a:p>
              <a:p>
                <a:pPr lvl="1"/>
                <a:r>
                  <a:rPr lang="es-MX" b="1" dirty="0">
                    <a:latin typeface="+mn-lt"/>
                    <a:ea typeface="Roboto" panose="02000000000000000000" pitchFamily="2" charset="0"/>
                  </a:rPr>
                  <a:t>Caso 3</a:t>
                </a:r>
                <a:r>
                  <a:rPr lang="es-MX" dirty="0">
                    <a:latin typeface="+mn-lt"/>
                    <a:ea typeface="Roboto" panose="02000000000000000000" pitchFamily="2" charset="0"/>
                  </a:rPr>
                  <a:t>: </a:t>
                </a:r>
                <a14:m>
                  <m:oMath xmlns:m="http://schemas.openxmlformats.org/officeDocument/2006/math">
                    <m:r>
                      <a:rPr lang="es-MX" b="0" i="1" smtClean="0">
                        <a:latin typeface="Cambria Math" panose="02040503050406030204" pitchFamily="18" charset="0"/>
                        <a:ea typeface="Cambria Math" panose="02040503050406030204" pitchFamily="18" charset="0"/>
                      </a:rPr>
                      <m:t>𝐴</m:t>
                    </m:r>
                    <m:r>
                      <a:rPr lang="es-MX" b="0" i="1" smtClean="0">
                        <a:latin typeface="Cambria Math" panose="02040503050406030204" pitchFamily="18" charset="0"/>
                        <a:ea typeface="Cambria Math" panose="02040503050406030204" pitchFamily="18" charset="0"/>
                      </a:rPr>
                      <m:t>={1, 2, 3, 4}</m:t>
                    </m:r>
                  </m:oMath>
                </a14:m>
                <a:r>
                  <a:rPr lang="es-MX" dirty="0">
                    <a:latin typeface="+mn-lt"/>
                    <a:ea typeface="Roboto" panose="02000000000000000000" pitchFamily="2" charset="0"/>
                  </a:rPr>
                  <a:t>, </a:t>
                </a:r>
                <a14:m>
                  <m:oMath xmlns:m="http://schemas.openxmlformats.org/officeDocument/2006/math">
                    <m:r>
                      <a:rPr lang="es-MX" b="0" i="1" smtClean="0">
                        <a:latin typeface="Cambria Math" panose="02040503050406030204" pitchFamily="18" charset="0"/>
                        <a:ea typeface="Cambria Math" panose="02040503050406030204" pitchFamily="18" charset="0"/>
                      </a:rPr>
                      <m:t>𝐵</m:t>
                    </m:r>
                    <m:r>
                      <a:rPr lang="es-MX" i="1">
                        <a:latin typeface="Cambria Math" panose="02040503050406030204" pitchFamily="18" charset="0"/>
                        <a:ea typeface="Cambria Math" panose="02040503050406030204" pitchFamily="18" charset="0"/>
                      </a:rPr>
                      <m:t>={</m:t>
                    </m:r>
                    <m:r>
                      <a:rPr lang="es-MX" b="0" i="1" smtClean="0">
                        <a:latin typeface="Cambria Math" panose="02040503050406030204" pitchFamily="18" charset="0"/>
                        <a:ea typeface="Cambria Math" panose="02040503050406030204" pitchFamily="18" charset="0"/>
                      </a:rPr>
                      <m:t>2, 3</m:t>
                    </m:r>
                    <m:r>
                      <a:rPr lang="es-MX" i="1">
                        <a:latin typeface="Cambria Math" panose="02040503050406030204" pitchFamily="18" charset="0"/>
                        <a:ea typeface="Cambria Math" panose="02040503050406030204" pitchFamily="18" charset="0"/>
                      </a:rPr>
                      <m:t>}</m:t>
                    </m:r>
                  </m:oMath>
                </a14:m>
                <a:r>
                  <a:rPr lang="es-MX" sz="4000" dirty="0">
                    <a:ea typeface="Roboto" panose="02000000000000000000" pitchFamily="2" charset="0"/>
                  </a:rPr>
                  <a:t> </a:t>
                </a:r>
                <a:endParaRPr lang="es-MX" dirty="0">
                  <a:latin typeface="+mn-lt"/>
                  <a:ea typeface="Roboto" panose="02000000000000000000" pitchFamily="2" charset="0"/>
                </a:endParaRPr>
              </a:p>
            </p:txBody>
          </p:sp>
        </mc:Choice>
        <mc:Fallback xmlns="">
          <p:sp>
            <p:nvSpPr>
              <p:cNvPr id="7" name="Google Shape;310;p34">
                <a:extLst>
                  <a:ext uri="{FF2B5EF4-FFF2-40B4-BE49-F238E27FC236}">
                    <a16:creationId xmlns:a16="http://schemas.microsoft.com/office/drawing/2014/main" id="{C1EB8144-8BAC-4290-B469-B1AFD5BDF721}"/>
                  </a:ext>
                </a:extLst>
              </p:cNvPr>
              <p:cNvSpPr txBox="1">
                <a:spLocks noRot="1" noChangeAspect="1" noMove="1" noResize="1" noEditPoints="1" noAdjustHandles="1" noChangeArrowheads="1" noChangeShapeType="1" noTextEdit="1"/>
              </p:cNvSpPr>
              <p:nvPr/>
            </p:nvSpPr>
            <p:spPr>
              <a:xfrm>
                <a:off x="235976" y="883312"/>
                <a:ext cx="11734800" cy="5001301"/>
              </a:xfrm>
              <a:prstGeom prst="rect">
                <a:avLst/>
              </a:prstGeom>
              <a:blipFill>
                <a:blip r:embed="rId3"/>
                <a:stretch>
                  <a:fillRect/>
                </a:stretch>
              </a:blipFill>
              <a:ln>
                <a:noFill/>
              </a:ln>
            </p:spPr>
            <p:txBody>
              <a:bodyPr/>
              <a:lstStyle/>
              <a:p>
                <a:r>
                  <a:rPr lang="es-CO">
                    <a:noFill/>
                  </a:rPr>
                  <a:t> </a:t>
                </a:r>
              </a:p>
            </p:txBody>
          </p:sp>
        </mc:Fallback>
      </mc:AlternateContent>
      <p:pic>
        <p:nvPicPr>
          <p:cNvPr id="3" name="Imagen 2">
            <a:extLst>
              <a:ext uri="{FF2B5EF4-FFF2-40B4-BE49-F238E27FC236}">
                <a16:creationId xmlns:a16="http://schemas.microsoft.com/office/drawing/2014/main" id="{6A535B94-51FB-439E-8587-91E8EBA25E48}"/>
              </a:ext>
            </a:extLst>
          </p:cNvPr>
          <p:cNvPicPr>
            <a:picLocks noChangeAspect="1"/>
          </p:cNvPicPr>
          <p:nvPr/>
        </p:nvPicPr>
        <p:blipFill>
          <a:blip r:embed="rId4"/>
          <a:stretch>
            <a:fillRect/>
          </a:stretch>
        </p:blipFill>
        <p:spPr>
          <a:xfrm>
            <a:off x="1510050" y="4011562"/>
            <a:ext cx="9672106" cy="2389240"/>
          </a:xfrm>
          <a:prstGeom prst="rect">
            <a:avLst/>
          </a:prstGeom>
        </p:spPr>
      </p:pic>
    </p:spTree>
    <p:extLst>
      <p:ext uri="{BB962C8B-B14F-4D97-AF65-F5344CB8AC3E}">
        <p14:creationId xmlns:p14="http://schemas.microsoft.com/office/powerpoint/2010/main" val="24382634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235974" y="96038"/>
            <a:ext cx="1169547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Subconjunto propio</a:t>
            </a:r>
            <a:endParaRPr dirty="0">
              <a:solidFill>
                <a:schemeClr val="tx1"/>
              </a:solidFill>
              <a:latin typeface="+mj-lt"/>
            </a:endParaRPr>
          </a:p>
        </p:txBody>
      </p:sp>
      <mc:AlternateContent xmlns:mc="http://schemas.openxmlformats.org/markup-compatibility/2006">
        <mc:Choice xmlns:a14="http://schemas.microsoft.com/office/drawing/2010/main" Requires="a14">
          <p:sp>
            <p:nvSpPr>
              <p:cNvPr id="7" name="Google Shape;310;p34">
                <a:extLst>
                  <a:ext uri="{FF2B5EF4-FFF2-40B4-BE49-F238E27FC236}">
                    <a16:creationId xmlns:a16="http://schemas.microsoft.com/office/drawing/2014/main" id="{C1EB8144-8BAC-4290-B469-B1AFD5BDF721}"/>
                  </a:ext>
                </a:extLst>
              </p:cNvPr>
              <p:cNvSpPr txBox="1">
                <a:spLocks/>
              </p:cNvSpPr>
              <p:nvPr/>
            </p:nvSpPr>
            <p:spPr>
              <a:xfrm>
                <a:off x="235974" y="904482"/>
                <a:ext cx="11695470" cy="486213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200" dirty="0">
                    <a:latin typeface="+mn-lt"/>
                    <a:ea typeface="Roboto" panose="02000000000000000000" pitchFamily="2" charset="0"/>
                  </a:rPr>
                  <a:t>El conjunto </a:t>
                </a:r>
                <a14:m>
                  <m:oMath xmlns:m="http://schemas.openxmlformats.org/officeDocument/2006/math">
                    <m:r>
                      <a:rPr lang="es-MX" sz="2200" b="0" i="1" smtClean="0">
                        <a:latin typeface="Cambria Math" panose="02040503050406030204" pitchFamily="18" charset="0"/>
                        <a:ea typeface="Roboto" panose="02000000000000000000" pitchFamily="2" charset="0"/>
                      </a:rPr>
                      <m:t>𝐴</m:t>
                    </m:r>
                  </m:oMath>
                </a14:m>
                <a:r>
                  <a:rPr lang="es-MX" sz="2200" dirty="0">
                    <a:latin typeface="+mn-lt"/>
                    <a:ea typeface="Roboto" panose="02000000000000000000" pitchFamily="2" charset="0"/>
                  </a:rPr>
                  <a:t> es subconjunto propio del conjunto </a:t>
                </a:r>
                <a14:m>
                  <m:oMath xmlns:m="http://schemas.openxmlformats.org/officeDocument/2006/math">
                    <m:r>
                      <a:rPr lang="es-MX" sz="2200" b="0" i="1" smtClean="0">
                        <a:latin typeface="Cambria Math" panose="02040503050406030204" pitchFamily="18" charset="0"/>
                        <a:ea typeface="Roboto" panose="02000000000000000000" pitchFamily="2" charset="0"/>
                      </a:rPr>
                      <m:t>𝐵</m:t>
                    </m:r>
                  </m:oMath>
                </a14:m>
                <a:r>
                  <a:rPr lang="es-MX" sz="2200" dirty="0">
                    <a:latin typeface="+mn-lt"/>
                    <a:ea typeface="Roboto" panose="02000000000000000000" pitchFamily="2" charset="0"/>
                  </a:rPr>
                  <a:t> </a:t>
                </a:r>
                <a14:m>
                  <m:oMath xmlns:m="http://schemas.openxmlformats.org/officeDocument/2006/math">
                    <m:d>
                      <m:dPr>
                        <m:ctrlPr>
                          <a:rPr lang="es-MX" sz="2200" b="0" i="0" smtClean="0">
                            <a:latin typeface="Cambria Math" panose="02040503050406030204" pitchFamily="18" charset="0"/>
                            <a:ea typeface="Roboto" panose="02000000000000000000" pitchFamily="2" charset="0"/>
                          </a:rPr>
                        </m:ctrlPr>
                      </m:dPr>
                      <m:e>
                        <m:r>
                          <a:rPr lang="es-MX" sz="2200" i="1">
                            <a:latin typeface="Cambria Math" panose="02040503050406030204" pitchFamily="18" charset="0"/>
                            <a:ea typeface="Roboto" panose="02000000000000000000" pitchFamily="2" charset="0"/>
                          </a:rPr>
                          <m:t>𝐴</m:t>
                        </m:r>
                        <m:r>
                          <a:rPr lang="es-MX" sz="2200" i="1">
                            <a:latin typeface="Cambria Math" panose="02040503050406030204" pitchFamily="18" charset="0"/>
                            <a:ea typeface="Cambria Math" panose="02040503050406030204" pitchFamily="18" charset="0"/>
                          </a:rPr>
                          <m:t>⊂</m:t>
                        </m:r>
                        <m:r>
                          <a:rPr lang="es-MX" sz="2200" i="1">
                            <a:latin typeface="Cambria Math" panose="02040503050406030204" pitchFamily="18" charset="0"/>
                            <a:ea typeface="Cambria Math" panose="02040503050406030204" pitchFamily="18" charset="0"/>
                          </a:rPr>
                          <m:t>𝐵</m:t>
                        </m:r>
                      </m:e>
                    </m:d>
                    <m:r>
                      <a:rPr lang="es-MX" sz="2200" i="1">
                        <a:latin typeface="Cambria Math" panose="02040503050406030204" pitchFamily="18" charset="0"/>
                        <a:ea typeface="Cambria Math" panose="02040503050406030204" pitchFamily="18" charset="0"/>
                      </a:rPr>
                      <m:t> </m:t>
                    </m:r>
                  </m:oMath>
                </a14:m>
                <a:r>
                  <a:rPr lang="es-MX" sz="2200" dirty="0">
                    <a:latin typeface="+mn-lt"/>
                    <a:ea typeface="Roboto" panose="02000000000000000000" pitchFamily="2" charset="0"/>
                  </a:rPr>
                  <a:t>si:</a:t>
                </a:r>
              </a:p>
              <a:p>
                <a:pPr marL="584200" indent="-457200">
                  <a:buFont typeface="+mj-lt"/>
                  <a:buAutoNum type="arabicPeriod"/>
                </a:pPr>
                <a14:m>
                  <m:oMath xmlns:m="http://schemas.openxmlformats.org/officeDocument/2006/math">
                    <m:r>
                      <a:rPr lang="es-MX" sz="2200" i="1">
                        <a:latin typeface="Cambria Math" panose="02040503050406030204" pitchFamily="18" charset="0"/>
                        <a:ea typeface="Roboto" panose="02000000000000000000" pitchFamily="2" charset="0"/>
                      </a:rPr>
                      <m:t>𝐴</m:t>
                    </m:r>
                  </m:oMath>
                </a14:m>
                <a:r>
                  <a:rPr lang="es-MX" sz="2200" dirty="0">
                    <a:latin typeface="+mn-lt"/>
                    <a:ea typeface="Roboto" panose="02000000000000000000" pitchFamily="2" charset="0"/>
                  </a:rPr>
                  <a:t> es subconjunto de </a:t>
                </a:r>
                <a14:m>
                  <m:oMath xmlns:m="http://schemas.openxmlformats.org/officeDocument/2006/math">
                    <m:r>
                      <a:rPr lang="es-MX" sz="2200" b="0" i="1" smtClean="0">
                        <a:latin typeface="Cambria Math" panose="02040503050406030204" pitchFamily="18" charset="0"/>
                        <a:ea typeface="Roboto" panose="02000000000000000000" pitchFamily="2" charset="0"/>
                      </a:rPr>
                      <m:t>𝐵</m:t>
                    </m:r>
                  </m:oMath>
                </a14:m>
                <a:r>
                  <a:rPr lang="es-MX" sz="2200" dirty="0">
                    <a:latin typeface="+mn-lt"/>
                    <a:ea typeface="Roboto" panose="02000000000000000000" pitchFamily="2" charset="0"/>
                  </a:rPr>
                  <a:t>; es decir: </a:t>
                </a:r>
                <a14:m>
                  <m:oMath xmlns:m="http://schemas.openxmlformats.org/officeDocument/2006/math">
                    <m:r>
                      <a:rPr lang="es-MX" sz="2200" i="1">
                        <a:latin typeface="Cambria Math" panose="02040503050406030204" pitchFamily="18" charset="0"/>
                        <a:ea typeface="Roboto" panose="02000000000000000000" pitchFamily="2" charset="0"/>
                      </a:rPr>
                      <m:t>𝐴</m:t>
                    </m:r>
                    <m:r>
                      <a:rPr lang="es-MX" sz="2200" i="1">
                        <a:latin typeface="Cambria Math" panose="02040503050406030204" pitchFamily="18" charset="0"/>
                        <a:ea typeface="Cambria Math" panose="02040503050406030204" pitchFamily="18" charset="0"/>
                      </a:rPr>
                      <m:t>⊆</m:t>
                    </m:r>
                    <m:r>
                      <a:rPr lang="es-MX" sz="2200" i="1">
                        <a:latin typeface="Cambria Math" panose="02040503050406030204" pitchFamily="18" charset="0"/>
                        <a:ea typeface="Cambria Math" panose="02040503050406030204" pitchFamily="18" charset="0"/>
                      </a:rPr>
                      <m:t>𝐵</m:t>
                    </m:r>
                  </m:oMath>
                </a14:m>
                <a:endParaRPr lang="es-MX" sz="2200" dirty="0">
                  <a:latin typeface="+mn-lt"/>
                  <a:ea typeface="Cambria Math" panose="02040503050406030204" pitchFamily="18" charset="0"/>
                </a:endParaRPr>
              </a:p>
              <a:p>
                <a:pPr marL="584200" indent="-457200">
                  <a:buFont typeface="+mj-lt"/>
                  <a:buAutoNum type="arabicPeriod"/>
                </a:pPr>
                <a14:m>
                  <m:oMath xmlns:m="http://schemas.openxmlformats.org/officeDocument/2006/math">
                    <m:r>
                      <a:rPr lang="es-MX" sz="2200" i="1" smtClean="0">
                        <a:latin typeface="Cambria Math" panose="02040503050406030204" pitchFamily="18" charset="0"/>
                        <a:ea typeface="Roboto" panose="02000000000000000000" pitchFamily="2" charset="0"/>
                      </a:rPr>
                      <m:t>𝐴</m:t>
                    </m:r>
                  </m:oMath>
                </a14:m>
                <a:r>
                  <a:rPr lang="es-MX" sz="2200" dirty="0">
                    <a:latin typeface="+mn-lt"/>
                    <a:ea typeface="Roboto" panose="02000000000000000000" pitchFamily="2" charset="0"/>
                  </a:rPr>
                  <a:t> es diferente de </a:t>
                </a:r>
                <a14:m>
                  <m:oMath xmlns:m="http://schemas.openxmlformats.org/officeDocument/2006/math">
                    <m:r>
                      <a:rPr lang="es-MX" sz="2200" b="0" i="1" smtClean="0">
                        <a:latin typeface="Cambria Math" panose="02040503050406030204" pitchFamily="18" charset="0"/>
                        <a:ea typeface="Roboto" panose="02000000000000000000" pitchFamily="2" charset="0"/>
                      </a:rPr>
                      <m:t>𝐵</m:t>
                    </m:r>
                  </m:oMath>
                </a14:m>
                <a:r>
                  <a:rPr lang="es-MX" sz="2200" dirty="0">
                    <a:latin typeface="+mn-lt"/>
                    <a:ea typeface="Roboto" panose="02000000000000000000" pitchFamily="2" charset="0"/>
                  </a:rPr>
                  <a:t>; o sea: </a:t>
                </a:r>
                <a14:m>
                  <m:oMath xmlns:m="http://schemas.openxmlformats.org/officeDocument/2006/math">
                    <m:r>
                      <a:rPr lang="es-MX" sz="2200" i="1">
                        <a:latin typeface="Cambria Math" panose="02040503050406030204" pitchFamily="18" charset="0"/>
                        <a:ea typeface="Roboto" panose="02000000000000000000" pitchFamily="2" charset="0"/>
                      </a:rPr>
                      <m:t>𝐴</m:t>
                    </m:r>
                    <m:r>
                      <a:rPr lang="es-MX" sz="2200" b="0" i="1" smtClean="0">
                        <a:latin typeface="Cambria Math" panose="02040503050406030204" pitchFamily="18" charset="0"/>
                        <a:ea typeface="Roboto" panose="02000000000000000000" pitchFamily="2" charset="0"/>
                      </a:rPr>
                      <m:t>≠</m:t>
                    </m:r>
                    <m:r>
                      <a:rPr lang="es-MX" sz="2200" b="0" i="1" smtClean="0">
                        <a:latin typeface="Cambria Math" panose="02040503050406030204" pitchFamily="18" charset="0"/>
                        <a:ea typeface="Roboto" panose="02000000000000000000" pitchFamily="2" charset="0"/>
                      </a:rPr>
                      <m:t>𝐵</m:t>
                    </m:r>
                  </m:oMath>
                </a14:m>
                <a:endParaRPr lang="es-MX" sz="2200" dirty="0">
                  <a:latin typeface="+mn-lt"/>
                  <a:ea typeface="Roboto" panose="02000000000000000000" pitchFamily="2" charset="0"/>
                </a:endParaRPr>
              </a:p>
              <a:p>
                <a:pPr marL="127000" indent="0">
                  <a:buNone/>
                </a:pPr>
                <a:r>
                  <a:rPr lang="es-MX" sz="2200" dirty="0">
                    <a:latin typeface="+mn-lt"/>
                    <a:ea typeface="Roboto" panose="02000000000000000000" pitchFamily="2" charset="0"/>
                  </a:rPr>
                  <a:t>En otras palabras, </a:t>
                </a:r>
                <a14:m>
                  <m:oMath xmlns:m="http://schemas.openxmlformats.org/officeDocument/2006/math">
                    <m:r>
                      <a:rPr lang="es-MX" sz="2200" b="0" i="1" smtClean="0">
                        <a:latin typeface="Cambria Math" panose="02040503050406030204" pitchFamily="18" charset="0"/>
                        <a:ea typeface="Roboto" panose="02000000000000000000" pitchFamily="2" charset="0"/>
                      </a:rPr>
                      <m:t>𝐴</m:t>
                    </m:r>
                  </m:oMath>
                </a14:m>
                <a:r>
                  <a:rPr lang="es-MX" sz="2200" dirty="0">
                    <a:latin typeface="+mn-lt"/>
                    <a:ea typeface="Roboto" panose="02000000000000000000" pitchFamily="2" charset="0"/>
                  </a:rPr>
                  <a:t> es subconjunto propio de </a:t>
                </a:r>
                <a14:m>
                  <m:oMath xmlns:m="http://schemas.openxmlformats.org/officeDocument/2006/math">
                    <m:r>
                      <a:rPr lang="es-MX" sz="2200" b="0" i="1" smtClean="0">
                        <a:latin typeface="Cambria Math" panose="02040503050406030204" pitchFamily="18" charset="0"/>
                        <a:ea typeface="Roboto" panose="02000000000000000000" pitchFamily="2" charset="0"/>
                      </a:rPr>
                      <m:t>𝐵</m:t>
                    </m:r>
                  </m:oMath>
                </a14:m>
                <a:r>
                  <a:rPr lang="es-MX" sz="2200" dirty="0">
                    <a:latin typeface="+mn-lt"/>
                    <a:ea typeface="Roboto" panose="02000000000000000000" pitchFamily="2" charset="0"/>
                  </a:rPr>
                  <a:t> si todos los elementos de </a:t>
                </a:r>
                <a14:m>
                  <m:oMath xmlns:m="http://schemas.openxmlformats.org/officeDocument/2006/math">
                    <m:r>
                      <a:rPr lang="es-MX" sz="2200" b="0" i="1" smtClean="0">
                        <a:latin typeface="Cambria Math" panose="02040503050406030204" pitchFamily="18" charset="0"/>
                        <a:ea typeface="Roboto" panose="02000000000000000000" pitchFamily="2" charset="0"/>
                      </a:rPr>
                      <m:t>𝐴</m:t>
                    </m:r>
                  </m:oMath>
                </a14:m>
                <a:r>
                  <a:rPr lang="es-MX" sz="2200" dirty="0">
                    <a:latin typeface="+mn-lt"/>
                    <a:ea typeface="Roboto" panose="02000000000000000000" pitchFamily="2" charset="0"/>
                  </a:rPr>
                  <a:t> pertenecen a </a:t>
                </a:r>
                <a14:m>
                  <m:oMath xmlns:m="http://schemas.openxmlformats.org/officeDocument/2006/math">
                    <m:r>
                      <a:rPr lang="es-MX" sz="2200" i="1">
                        <a:latin typeface="Cambria Math" panose="02040503050406030204" pitchFamily="18" charset="0"/>
                        <a:ea typeface="Roboto" panose="02000000000000000000" pitchFamily="2" charset="0"/>
                      </a:rPr>
                      <m:t>𝐵</m:t>
                    </m:r>
                  </m:oMath>
                </a14:m>
                <a:r>
                  <a:rPr lang="es-MX" sz="2200" dirty="0">
                    <a:latin typeface="+mn-lt"/>
                    <a:ea typeface="Roboto" panose="02000000000000000000" pitchFamily="2" charset="0"/>
                  </a:rPr>
                  <a:t>, pero existe al menos un elemento de </a:t>
                </a:r>
                <a14:m>
                  <m:oMath xmlns:m="http://schemas.openxmlformats.org/officeDocument/2006/math">
                    <m:r>
                      <a:rPr lang="es-MX" sz="2200" i="1">
                        <a:latin typeface="Cambria Math" panose="02040503050406030204" pitchFamily="18" charset="0"/>
                        <a:ea typeface="Roboto" panose="02000000000000000000" pitchFamily="2" charset="0"/>
                      </a:rPr>
                      <m:t>𝐵</m:t>
                    </m:r>
                  </m:oMath>
                </a14:m>
                <a:r>
                  <a:rPr lang="es-MX" sz="2200" dirty="0">
                    <a:latin typeface="+mn-lt"/>
                    <a:ea typeface="Roboto" panose="02000000000000000000" pitchFamily="2" charset="0"/>
                  </a:rPr>
                  <a:t> que no pertenece a </a:t>
                </a:r>
                <a14:m>
                  <m:oMath xmlns:m="http://schemas.openxmlformats.org/officeDocument/2006/math">
                    <m:r>
                      <a:rPr lang="es-MX" sz="2200" b="0" i="1" smtClean="0">
                        <a:latin typeface="Cambria Math" panose="02040503050406030204" pitchFamily="18" charset="0"/>
                        <a:ea typeface="Roboto" panose="02000000000000000000" pitchFamily="2" charset="0"/>
                      </a:rPr>
                      <m:t>𝐴</m:t>
                    </m:r>
                  </m:oMath>
                </a14:m>
                <a:r>
                  <a:rPr lang="es-MX" sz="2200" dirty="0">
                    <a:latin typeface="+mn-lt"/>
                    <a:ea typeface="Roboto" panose="02000000000000000000" pitchFamily="2" charset="0"/>
                  </a:rPr>
                  <a:t>. Esto formalmente se expresa:</a:t>
                </a:r>
              </a:p>
              <a:p>
                <a:pPr marL="127000" indent="0">
                  <a:buNone/>
                </a:pPr>
                <a:endParaRPr lang="es-MX" sz="2200" dirty="0">
                  <a:latin typeface="+mn-lt"/>
                  <a:ea typeface="Roboto" panose="02000000000000000000" pitchFamily="2" charset="0"/>
                </a:endParaRPr>
              </a:p>
              <a:p>
                <a:pPr marL="127000" indent="0">
                  <a:buNone/>
                </a:pPr>
                <a14:m>
                  <m:oMathPara xmlns:m="http://schemas.openxmlformats.org/officeDocument/2006/math">
                    <m:oMathParaPr>
                      <m:jc m:val="centerGroup"/>
                    </m:oMathParaPr>
                    <m:oMath xmlns:m="http://schemas.openxmlformats.org/officeDocument/2006/math">
                      <m:r>
                        <a:rPr lang="es-MX" sz="2200" i="1" smtClean="0">
                          <a:latin typeface="Cambria Math" panose="02040503050406030204" pitchFamily="18" charset="0"/>
                          <a:ea typeface="Roboto" panose="02000000000000000000" pitchFamily="2" charset="0"/>
                        </a:rPr>
                        <m:t>𝐴</m:t>
                      </m:r>
                      <m:r>
                        <a:rPr lang="es-MX" sz="2200" i="1">
                          <a:latin typeface="Cambria Math" panose="02040503050406030204" pitchFamily="18" charset="0"/>
                          <a:ea typeface="Cambria Math" panose="02040503050406030204" pitchFamily="18" charset="0"/>
                        </a:rPr>
                        <m:t>⊂</m:t>
                      </m:r>
                      <m:r>
                        <a:rPr lang="es-MX" sz="2200" i="1">
                          <a:latin typeface="Cambria Math" panose="02040503050406030204" pitchFamily="18" charset="0"/>
                          <a:ea typeface="Cambria Math" panose="02040503050406030204" pitchFamily="18" charset="0"/>
                        </a:rPr>
                        <m:t>𝐵</m:t>
                      </m:r>
                      <m:r>
                        <a:rPr lang="es-MX" sz="2200" i="1">
                          <a:latin typeface="Cambria Math" panose="02040503050406030204" pitchFamily="18" charset="0"/>
                          <a:ea typeface="Cambria Math" panose="02040503050406030204" pitchFamily="18" charset="0"/>
                        </a:rPr>
                        <m:t>⇔∀</m:t>
                      </m:r>
                      <m:r>
                        <a:rPr lang="es-MX" sz="2200" i="1">
                          <a:latin typeface="Cambria Math" panose="02040503050406030204" pitchFamily="18" charset="0"/>
                          <a:ea typeface="Cambria Math" panose="02040503050406030204" pitchFamily="18" charset="0"/>
                        </a:rPr>
                        <m:t>𝑥</m:t>
                      </m:r>
                      <m:r>
                        <a:rPr lang="es-MX" sz="2200" i="1">
                          <a:latin typeface="Cambria Math" panose="02040503050406030204" pitchFamily="18" charset="0"/>
                          <a:ea typeface="Cambria Math" panose="02040503050406030204" pitchFamily="18" charset="0"/>
                        </a:rPr>
                        <m:t> (</m:t>
                      </m:r>
                      <m:r>
                        <a:rPr lang="es-MX" sz="2200" i="1">
                          <a:latin typeface="Cambria Math" panose="02040503050406030204" pitchFamily="18" charset="0"/>
                          <a:ea typeface="Cambria Math" panose="02040503050406030204" pitchFamily="18" charset="0"/>
                        </a:rPr>
                        <m:t>𝑥</m:t>
                      </m:r>
                      <m:r>
                        <a:rPr lang="es-MX" sz="2200" i="1">
                          <a:latin typeface="Cambria Math" panose="02040503050406030204" pitchFamily="18" charset="0"/>
                          <a:ea typeface="Cambria Math" panose="02040503050406030204" pitchFamily="18" charset="0"/>
                        </a:rPr>
                        <m:t>∈</m:t>
                      </m:r>
                      <m:r>
                        <a:rPr lang="es-MX" sz="2200" i="1">
                          <a:latin typeface="Cambria Math" panose="02040503050406030204" pitchFamily="18" charset="0"/>
                          <a:ea typeface="Cambria Math" panose="02040503050406030204" pitchFamily="18" charset="0"/>
                        </a:rPr>
                        <m:t>𝐴</m:t>
                      </m:r>
                      <m:r>
                        <a:rPr lang="es-MX" sz="2200" i="1">
                          <a:latin typeface="Cambria Math" panose="02040503050406030204" pitchFamily="18" charset="0"/>
                          <a:ea typeface="Cambria Math" panose="02040503050406030204" pitchFamily="18" charset="0"/>
                        </a:rPr>
                        <m:t>→</m:t>
                      </m:r>
                      <m:r>
                        <a:rPr lang="es-MX" sz="2200" i="1">
                          <a:latin typeface="Cambria Math" panose="02040503050406030204" pitchFamily="18" charset="0"/>
                          <a:ea typeface="Cambria Math" panose="02040503050406030204" pitchFamily="18" charset="0"/>
                        </a:rPr>
                        <m:t>𝑥</m:t>
                      </m:r>
                      <m:r>
                        <a:rPr lang="es-MX" sz="2200" i="1">
                          <a:latin typeface="Cambria Math" panose="02040503050406030204" pitchFamily="18" charset="0"/>
                          <a:ea typeface="Cambria Math" panose="02040503050406030204" pitchFamily="18" charset="0"/>
                        </a:rPr>
                        <m:t>∈</m:t>
                      </m:r>
                      <m:r>
                        <a:rPr lang="es-MX" sz="2200" i="1">
                          <a:latin typeface="Cambria Math" panose="02040503050406030204" pitchFamily="18" charset="0"/>
                          <a:ea typeface="Cambria Math" panose="02040503050406030204" pitchFamily="18" charset="0"/>
                        </a:rPr>
                        <m:t>𝐵</m:t>
                      </m:r>
                      <m:r>
                        <a:rPr lang="es-MX" sz="2200" i="1">
                          <a:latin typeface="Cambria Math" panose="02040503050406030204" pitchFamily="18" charset="0"/>
                          <a:ea typeface="Cambria Math" panose="02040503050406030204" pitchFamily="18" charset="0"/>
                        </a:rPr>
                        <m:t>)∧∃</m:t>
                      </m:r>
                      <m:r>
                        <a:rPr lang="es-MX" sz="2200" i="1">
                          <a:latin typeface="Cambria Math" panose="02040503050406030204" pitchFamily="18" charset="0"/>
                          <a:ea typeface="Cambria Math" panose="02040503050406030204" pitchFamily="18" charset="0"/>
                        </a:rPr>
                        <m:t>𝑥</m:t>
                      </m:r>
                      <m:r>
                        <a:rPr lang="es-MX" sz="2200" i="1">
                          <a:latin typeface="Cambria Math" panose="02040503050406030204" pitchFamily="18" charset="0"/>
                          <a:ea typeface="Cambria Math" panose="02040503050406030204" pitchFamily="18" charset="0"/>
                        </a:rPr>
                        <m:t> </m:t>
                      </m:r>
                      <m:d>
                        <m:dPr>
                          <m:ctrlPr>
                            <a:rPr lang="es-MX" sz="2200" i="1">
                              <a:latin typeface="Cambria Math" panose="02040503050406030204" pitchFamily="18" charset="0"/>
                              <a:ea typeface="Cambria Math" panose="02040503050406030204" pitchFamily="18" charset="0"/>
                            </a:rPr>
                          </m:ctrlPr>
                        </m:dPr>
                        <m:e>
                          <m:r>
                            <a:rPr lang="es-MX" sz="2200" i="1">
                              <a:latin typeface="Cambria Math" panose="02040503050406030204" pitchFamily="18" charset="0"/>
                              <a:ea typeface="Cambria Math" panose="02040503050406030204" pitchFamily="18" charset="0"/>
                            </a:rPr>
                            <m:t>𝑥</m:t>
                          </m:r>
                          <m:r>
                            <a:rPr lang="es-MX" sz="2200" i="1">
                              <a:latin typeface="Cambria Math" panose="02040503050406030204" pitchFamily="18" charset="0"/>
                              <a:ea typeface="Cambria Math" panose="02040503050406030204" pitchFamily="18" charset="0"/>
                            </a:rPr>
                            <m:t>∈</m:t>
                          </m:r>
                          <m:r>
                            <a:rPr lang="es-MX" sz="2200" b="0" i="1" smtClean="0">
                              <a:latin typeface="Cambria Math" panose="02040503050406030204" pitchFamily="18" charset="0"/>
                              <a:ea typeface="Cambria Math" panose="02040503050406030204" pitchFamily="18" charset="0"/>
                            </a:rPr>
                            <m:t>𝐵</m:t>
                          </m:r>
                          <m:r>
                            <a:rPr lang="es-MX" sz="2200" i="1">
                              <a:latin typeface="Cambria Math" panose="02040503050406030204" pitchFamily="18" charset="0"/>
                              <a:ea typeface="Cambria Math" panose="02040503050406030204" pitchFamily="18" charset="0"/>
                            </a:rPr>
                            <m:t>∧</m:t>
                          </m:r>
                          <m:r>
                            <a:rPr lang="es-MX" sz="2200" i="1">
                              <a:latin typeface="Cambria Math" panose="02040503050406030204" pitchFamily="18" charset="0"/>
                              <a:ea typeface="Cambria Math" panose="02040503050406030204" pitchFamily="18" charset="0"/>
                            </a:rPr>
                            <m:t>𝑥</m:t>
                          </m:r>
                          <m:r>
                            <a:rPr lang="es-MX" sz="2200" i="1">
                              <a:latin typeface="Cambria Math" panose="02040503050406030204" pitchFamily="18" charset="0"/>
                              <a:ea typeface="Cambria Math" panose="02040503050406030204" pitchFamily="18" charset="0"/>
                            </a:rPr>
                            <m:t>∉</m:t>
                          </m:r>
                          <m:r>
                            <a:rPr lang="es-MX" sz="2200" b="0" i="1" smtClean="0">
                              <a:latin typeface="Cambria Math" panose="02040503050406030204" pitchFamily="18" charset="0"/>
                              <a:ea typeface="Cambria Math" panose="02040503050406030204" pitchFamily="18" charset="0"/>
                            </a:rPr>
                            <m:t>𝐴</m:t>
                          </m:r>
                        </m:e>
                      </m:d>
                    </m:oMath>
                  </m:oMathPara>
                </a14:m>
                <a:endParaRPr lang="es-MX" sz="2200" dirty="0">
                  <a:latin typeface="+mn-lt"/>
                  <a:ea typeface="Roboto" panose="02000000000000000000" pitchFamily="2" charset="0"/>
                </a:endParaRPr>
              </a:p>
              <a:p>
                <a:pPr marL="127000" indent="0">
                  <a:buNone/>
                </a:pPr>
                <a:endParaRPr lang="es-MX" sz="2200" dirty="0">
                  <a:latin typeface="+mn-lt"/>
                  <a:ea typeface="Roboto" panose="02000000000000000000" pitchFamily="2" charset="0"/>
                </a:endParaRPr>
              </a:p>
              <a:p>
                <a:pPr marL="127000" indent="0">
                  <a:buNone/>
                </a:pPr>
                <a:r>
                  <a:rPr lang="es-MX" sz="2200" dirty="0">
                    <a:latin typeface="+mn-lt"/>
                    <a:ea typeface="Roboto" panose="02000000000000000000" pitchFamily="2" charset="0"/>
                  </a:rPr>
                  <a:t>Si negamos la expresión anterior, obtenemos que </a:t>
                </a:r>
                <a14:m>
                  <m:oMath xmlns:m="http://schemas.openxmlformats.org/officeDocument/2006/math">
                    <m:r>
                      <a:rPr lang="es-MX" sz="2200" b="0" i="1" smtClean="0">
                        <a:latin typeface="Cambria Math" panose="02040503050406030204" pitchFamily="18" charset="0"/>
                        <a:ea typeface="Cambria Math" panose="02040503050406030204" pitchFamily="18" charset="0"/>
                      </a:rPr>
                      <m:t>𝐴</m:t>
                    </m:r>
                  </m:oMath>
                </a14:m>
                <a:r>
                  <a:rPr lang="es-MX" sz="2200" dirty="0">
                    <a:latin typeface="+mn-lt"/>
                    <a:ea typeface="Roboto" panose="02000000000000000000" pitchFamily="2" charset="0"/>
                  </a:rPr>
                  <a:t> no es subconjunto propio de </a:t>
                </a:r>
                <a14:m>
                  <m:oMath xmlns:m="http://schemas.openxmlformats.org/officeDocument/2006/math">
                    <m:r>
                      <a:rPr lang="es-MX" sz="2200" i="1" smtClean="0">
                        <a:latin typeface="Cambria Math" panose="02040503050406030204" pitchFamily="18" charset="0"/>
                        <a:ea typeface="Cambria Math" panose="02040503050406030204" pitchFamily="18" charset="0"/>
                      </a:rPr>
                      <m:t>𝐵</m:t>
                    </m:r>
                  </m:oMath>
                </a14:m>
                <a:r>
                  <a:rPr lang="es-MX" sz="2200" dirty="0">
                    <a:latin typeface="+mn-lt"/>
                    <a:ea typeface="Roboto" panose="02000000000000000000" pitchFamily="2" charset="0"/>
                  </a:rPr>
                  <a:t> cuando:</a:t>
                </a:r>
              </a:p>
              <a:p>
                <a:pPr marL="127000" indent="0">
                  <a:buNone/>
                </a:pPr>
                <a:endParaRPr lang="es-MX" sz="2200" dirty="0">
                  <a:latin typeface="+mn-lt"/>
                  <a:ea typeface="Roboto" panose="02000000000000000000" pitchFamily="2" charset="0"/>
                </a:endParaRPr>
              </a:p>
              <a:p>
                <a:pPr marL="127000" indent="0">
                  <a:buNone/>
                </a:pPr>
                <a14:m>
                  <m:oMathPara xmlns:m="http://schemas.openxmlformats.org/officeDocument/2006/math">
                    <m:oMathParaPr>
                      <m:jc m:val="centerGroup"/>
                    </m:oMathParaPr>
                    <m:oMath xmlns:m="http://schemas.openxmlformats.org/officeDocument/2006/math">
                      <m:r>
                        <a:rPr lang="es-MX" sz="2200" i="1" smtClean="0">
                          <a:latin typeface="Cambria Math" panose="02040503050406030204" pitchFamily="18" charset="0"/>
                          <a:ea typeface="Roboto" panose="02000000000000000000" pitchFamily="2" charset="0"/>
                        </a:rPr>
                        <m:t>𝐴</m:t>
                      </m:r>
                      <m:r>
                        <a:rPr lang="es-MX" sz="2200" i="1" smtClean="0">
                          <a:latin typeface="Cambria Math" panose="02040503050406030204" pitchFamily="18" charset="0"/>
                          <a:ea typeface="Cambria Math" panose="02040503050406030204" pitchFamily="18" charset="0"/>
                        </a:rPr>
                        <m:t>⊄</m:t>
                      </m:r>
                      <m:r>
                        <a:rPr lang="es-MX" sz="2200" i="1">
                          <a:latin typeface="Cambria Math" panose="02040503050406030204" pitchFamily="18" charset="0"/>
                          <a:ea typeface="Cambria Math" panose="02040503050406030204" pitchFamily="18" charset="0"/>
                        </a:rPr>
                        <m:t>𝐵</m:t>
                      </m:r>
                      <m:r>
                        <a:rPr lang="es-MX" sz="2200" i="1">
                          <a:latin typeface="Cambria Math" panose="02040503050406030204" pitchFamily="18" charset="0"/>
                          <a:ea typeface="Cambria Math" panose="02040503050406030204" pitchFamily="18" charset="0"/>
                        </a:rPr>
                        <m:t>⇔∃</m:t>
                      </m:r>
                      <m:r>
                        <a:rPr lang="es-MX" sz="2200" i="1">
                          <a:latin typeface="Cambria Math" panose="02040503050406030204" pitchFamily="18" charset="0"/>
                          <a:ea typeface="Cambria Math" panose="02040503050406030204" pitchFamily="18" charset="0"/>
                        </a:rPr>
                        <m:t>𝑥</m:t>
                      </m:r>
                      <m:r>
                        <a:rPr lang="es-MX" sz="2200" i="1">
                          <a:latin typeface="Cambria Math" panose="02040503050406030204" pitchFamily="18" charset="0"/>
                          <a:ea typeface="Cambria Math" panose="02040503050406030204" pitchFamily="18" charset="0"/>
                        </a:rPr>
                        <m:t> (</m:t>
                      </m:r>
                      <m:r>
                        <a:rPr lang="es-MX" sz="2200" i="1">
                          <a:latin typeface="Cambria Math" panose="02040503050406030204" pitchFamily="18" charset="0"/>
                          <a:ea typeface="Cambria Math" panose="02040503050406030204" pitchFamily="18" charset="0"/>
                        </a:rPr>
                        <m:t>𝑥</m:t>
                      </m:r>
                      <m:r>
                        <a:rPr lang="es-MX" sz="2200" i="1">
                          <a:latin typeface="Cambria Math" panose="02040503050406030204" pitchFamily="18" charset="0"/>
                          <a:ea typeface="Cambria Math" panose="02040503050406030204" pitchFamily="18" charset="0"/>
                        </a:rPr>
                        <m:t>∈</m:t>
                      </m:r>
                      <m:r>
                        <a:rPr lang="es-MX" sz="2200" i="1">
                          <a:latin typeface="Cambria Math" panose="02040503050406030204" pitchFamily="18" charset="0"/>
                          <a:ea typeface="Cambria Math" panose="02040503050406030204" pitchFamily="18" charset="0"/>
                        </a:rPr>
                        <m:t>𝐴</m:t>
                      </m:r>
                      <m:r>
                        <a:rPr lang="es-MX" sz="2200" i="1" smtClean="0">
                          <a:latin typeface="Cambria Math" panose="02040503050406030204" pitchFamily="18" charset="0"/>
                          <a:ea typeface="Cambria Math" panose="02040503050406030204" pitchFamily="18" charset="0"/>
                        </a:rPr>
                        <m:t>∧</m:t>
                      </m:r>
                      <m:r>
                        <a:rPr lang="es-MX" sz="2200" i="1">
                          <a:latin typeface="Cambria Math" panose="02040503050406030204" pitchFamily="18" charset="0"/>
                          <a:ea typeface="Cambria Math" panose="02040503050406030204" pitchFamily="18" charset="0"/>
                        </a:rPr>
                        <m:t>𝑥</m:t>
                      </m:r>
                      <m:r>
                        <a:rPr lang="es-MX" sz="2200" i="1" smtClean="0">
                          <a:latin typeface="Cambria Math" panose="02040503050406030204" pitchFamily="18" charset="0"/>
                          <a:ea typeface="Cambria Math" panose="02040503050406030204" pitchFamily="18" charset="0"/>
                        </a:rPr>
                        <m:t>∉</m:t>
                      </m:r>
                      <m:r>
                        <a:rPr lang="es-MX" sz="2200" i="1">
                          <a:latin typeface="Cambria Math" panose="02040503050406030204" pitchFamily="18" charset="0"/>
                          <a:ea typeface="Cambria Math" panose="02040503050406030204" pitchFamily="18" charset="0"/>
                        </a:rPr>
                        <m:t>𝐵</m:t>
                      </m:r>
                      <m:r>
                        <a:rPr lang="es-MX" sz="2200" i="1">
                          <a:latin typeface="Cambria Math" panose="02040503050406030204" pitchFamily="18" charset="0"/>
                          <a:ea typeface="Cambria Math" panose="02040503050406030204" pitchFamily="18" charset="0"/>
                        </a:rPr>
                        <m:t>)∨∀</m:t>
                      </m:r>
                      <m:r>
                        <a:rPr lang="es-MX" sz="2200" i="1">
                          <a:latin typeface="Cambria Math" panose="02040503050406030204" pitchFamily="18" charset="0"/>
                          <a:ea typeface="Cambria Math" panose="02040503050406030204" pitchFamily="18" charset="0"/>
                        </a:rPr>
                        <m:t>𝑥</m:t>
                      </m:r>
                      <m:r>
                        <a:rPr lang="es-MX" sz="2200" i="1">
                          <a:latin typeface="Cambria Math" panose="02040503050406030204" pitchFamily="18" charset="0"/>
                          <a:ea typeface="Cambria Math" panose="02040503050406030204" pitchFamily="18" charset="0"/>
                        </a:rPr>
                        <m:t> </m:t>
                      </m:r>
                      <m:d>
                        <m:dPr>
                          <m:ctrlPr>
                            <a:rPr lang="es-MX" sz="2200" i="1">
                              <a:latin typeface="Cambria Math" panose="02040503050406030204" pitchFamily="18" charset="0"/>
                              <a:ea typeface="Cambria Math" panose="02040503050406030204" pitchFamily="18" charset="0"/>
                            </a:rPr>
                          </m:ctrlPr>
                        </m:dPr>
                        <m:e>
                          <m:r>
                            <a:rPr lang="es-MX" sz="2200" i="1">
                              <a:latin typeface="Cambria Math" panose="02040503050406030204" pitchFamily="18" charset="0"/>
                              <a:ea typeface="Cambria Math" panose="02040503050406030204" pitchFamily="18" charset="0"/>
                            </a:rPr>
                            <m:t>𝑥</m:t>
                          </m:r>
                          <m:r>
                            <a:rPr lang="es-MX" sz="2200" i="1">
                              <a:latin typeface="Cambria Math" panose="02040503050406030204" pitchFamily="18" charset="0"/>
                              <a:ea typeface="Cambria Math" panose="02040503050406030204" pitchFamily="18" charset="0"/>
                            </a:rPr>
                            <m:t>∈</m:t>
                          </m:r>
                          <m:r>
                            <a:rPr lang="es-MX" sz="2200" b="0" i="1" smtClean="0">
                              <a:latin typeface="Cambria Math" panose="02040503050406030204" pitchFamily="18" charset="0"/>
                              <a:ea typeface="Cambria Math" panose="02040503050406030204" pitchFamily="18" charset="0"/>
                            </a:rPr>
                            <m:t>𝐵</m:t>
                          </m:r>
                          <m:r>
                            <a:rPr lang="es-MX" sz="2200" b="0" i="1" smtClean="0">
                              <a:latin typeface="Cambria Math" panose="02040503050406030204" pitchFamily="18" charset="0"/>
                              <a:ea typeface="Cambria Math" panose="02040503050406030204" pitchFamily="18" charset="0"/>
                            </a:rPr>
                            <m:t>→</m:t>
                          </m:r>
                          <m:r>
                            <a:rPr lang="es-MX" sz="2200" i="1">
                              <a:latin typeface="Cambria Math" panose="02040503050406030204" pitchFamily="18" charset="0"/>
                              <a:ea typeface="Cambria Math" panose="02040503050406030204" pitchFamily="18" charset="0"/>
                            </a:rPr>
                            <m:t>𝑥</m:t>
                          </m:r>
                          <m:r>
                            <a:rPr lang="es-MX" sz="2200" i="1">
                              <a:latin typeface="Cambria Math" panose="02040503050406030204" pitchFamily="18" charset="0"/>
                              <a:ea typeface="Cambria Math" panose="02040503050406030204" pitchFamily="18" charset="0"/>
                            </a:rPr>
                            <m:t>∈</m:t>
                          </m:r>
                          <m:r>
                            <a:rPr lang="es-MX" sz="2200" i="1">
                              <a:latin typeface="Cambria Math" panose="02040503050406030204" pitchFamily="18" charset="0"/>
                              <a:ea typeface="Cambria Math" panose="02040503050406030204" pitchFamily="18" charset="0"/>
                            </a:rPr>
                            <m:t>𝐴</m:t>
                          </m:r>
                        </m:e>
                      </m:d>
                    </m:oMath>
                  </m:oMathPara>
                </a14:m>
                <a:endParaRPr lang="es-MX" sz="2200" dirty="0">
                  <a:latin typeface="Roboto" panose="02000000000000000000" pitchFamily="2" charset="0"/>
                  <a:ea typeface="Roboto" panose="02000000000000000000" pitchFamily="2" charset="0"/>
                </a:endParaRPr>
              </a:p>
              <a:p>
                <a:pPr marL="127000" indent="0">
                  <a:buNone/>
                </a:pPr>
                <a:endParaRPr lang="es-MX" sz="2200" dirty="0">
                  <a:latin typeface="+mn-lt"/>
                  <a:ea typeface="Roboto" panose="02000000000000000000" pitchFamily="2" charset="0"/>
                </a:endParaRPr>
              </a:p>
              <a:p>
                <a:pPr marL="127000" indent="0">
                  <a:buNone/>
                </a:pPr>
                <a:endParaRPr lang="es-MX" sz="2200" dirty="0">
                  <a:latin typeface="+mn-lt"/>
                  <a:ea typeface="Roboto" panose="02000000000000000000" pitchFamily="2" charset="0"/>
                </a:endParaRPr>
              </a:p>
              <a:p>
                <a:pPr marL="127000" indent="0">
                  <a:buNone/>
                </a:pPr>
                <a:endParaRPr lang="es-MX" sz="2200" dirty="0">
                  <a:latin typeface="+mn-lt"/>
                  <a:ea typeface="Roboto" panose="02000000000000000000" pitchFamily="2" charset="0"/>
                </a:endParaRPr>
              </a:p>
              <a:p>
                <a:pPr marL="127000" indent="0">
                  <a:buNone/>
                </a:pPr>
                <a:endParaRPr lang="es-MX" sz="2200" dirty="0">
                  <a:latin typeface="+mn-lt"/>
                  <a:ea typeface="Roboto" panose="02000000000000000000" pitchFamily="2" charset="0"/>
                </a:endParaRPr>
              </a:p>
            </p:txBody>
          </p:sp>
        </mc:Choice>
        <mc:Fallback>
          <p:sp>
            <p:nvSpPr>
              <p:cNvPr id="7" name="Google Shape;310;p34">
                <a:extLst>
                  <a:ext uri="{FF2B5EF4-FFF2-40B4-BE49-F238E27FC236}">
                    <a16:creationId xmlns:a16="http://schemas.microsoft.com/office/drawing/2014/main" id="{C1EB8144-8BAC-4290-B469-B1AFD5BDF721}"/>
                  </a:ext>
                </a:extLst>
              </p:cNvPr>
              <p:cNvSpPr txBox="1">
                <a:spLocks noRot="1" noChangeAspect="1" noMove="1" noResize="1" noEditPoints="1" noAdjustHandles="1" noChangeArrowheads="1" noChangeShapeType="1" noTextEdit="1"/>
              </p:cNvSpPr>
              <p:nvPr/>
            </p:nvSpPr>
            <p:spPr>
              <a:xfrm>
                <a:off x="235974" y="904482"/>
                <a:ext cx="11695470" cy="4862137"/>
              </a:xfrm>
              <a:prstGeom prst="rect">
                <a:avLst/>
              </a:prstGeom>
              <a:blipFill>
                <a:blip r:embed="rId3"/>
                <a:stretch>
                  <a:fillRect/>
                </a:stretch>
              </a:blipFill>
              <a:ln>
                <a:noFill/>
              </a:ln>
            </p:spPr>
            <p:txBody>
              <a:bodyPr/>
              <a:lstStyle/>
              <a:p>
                <a:r>
                  <a:rPr lang="es-CO">
                    <a:noFill/>
                  </a:rPr>
                  <a:t> </a:t>
                </a:r>
              </a:p>
            </p:txBody>
          </p:sp>
        </mc:Fallback>
      </mc:AlternateContent>
    </p:spTree>
    <p:extLst>
      <p:ext uri="{BB962C8B-B14F-4D97-AF65-F5344CB8AC3E}">
        <p14:creationId xmlns:p14="http://schemas.microsoft.com/office/powerpoint/2010/main" val="9839428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235974" y="96038"/>
            <a:ext cx="1169547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Subconjunto propio</a:t>
            </a:r>
            <a:endParaRPr dirty="0">
              <a:solidFill>
                <a:schemeClr val="tx1"/>
              </a:solidFill>
              <a:latin typeface="+mj-lt"/>
            </a:endParaRPr>
          </a:p>
        </p:txBody>
      </p:sp>
      <mc:AlternateContent xmlns:mc="http://schemas.openxmlformats.org/markup-compatibility/2006" xmlns:a14="http://schemas.microsoft.com/office/drawing/2010/main">
        <mc:Choice Requires="a14">
          <p:sp>
            <p:nvSpPr>
              <p:cNvPr id="7" name="Google Shape;310;p34">
                <a:extLst>
                  <a:ext uri="{FF2B5EF4-FFF2-40B4-BE49-F238E27FC236}">
                    <a16:creationId xmlns:a16="http://schemas.microsoft.com/office/drawing/2014/main" id="{C1EB8144-8BAC-4290-B469-B1AFD5BDF721}"/>
                  </a:ext>
                </a:extLst>
              </p:cNvPr>
              <p:cNvSpPr txBox="1">
                <a:spLocks/>
              </p:cNvSpPr>
              <p:nvPr/>
            </p:nvSpPr>
            <p:spPr>
              <a:xfrm>
                <a:off x="235974" y="904482"/>
                <a:ext cx="11577484" cy="1558499"/>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200" b="1" dirty="0">
                    <a:latin typeface="+mn-lt"/>
                    <a:ea typeface="Roboto" panose="02000000000000000000" pitchFamily="2" charset="0"/>
                  </a:rPr>
                  <a:t>Ejemplo</a:t>
                </a:r>
                <a:r>
                  <a:rPr lang="es-MX" sz="2200" dirty="0">
                    <a:latin typeface="+mn-lt"/>
                    <a:ea typeface="Roboto" panose="02000000000000000000" pitchFamily="2" charset="0"/>
                  </a:rPr>
                  <a:t>: </a:t>
                </a:r>
              </a:p>
              <a:p>
                <a:pPr marL="584200" indent="-457200">
                  <a:buFont typeface="+mj-lt"/>
                  <a:buAutoNum type="arabicPeriod"/>
                </a:pPr>
                <a:r>
                  <a:rPr lang="es-MX" sz="2200" dirty="0">
                    <a:latin typeface="+mn-lt"/>
                    <a:ea typeface="Roboto" panose="02000000000000000000" pitchFamily="2" charset="0"/>
                  </a:rPr>
                  <a:t>Si </a:t>
                </a:r>
                <a14:m>
                  <m:oMath xmlns:m="http://schemas.openxmlformats.org/officeDocument/2006/math">
                    <m:r>
                      <a:rPr lang="es-MX" sz="2200" i="1">
                        <a:latin typeface="Cambria Math" panose="02040503050406030204" pitchFamily="18" charset="0"/>
                        <a:ea typeface="Roboto" panose="02000000000000000000" pitchFamily="2" charset="0"/>
                      </a:rPr>
                      <m:t>𝐴</m:t>
                    </m:r>
                    <m:r>
                      <a:rPr lang="es-MX" sz="2200" i="1">
                        <a:latin typeface="Cambria Math" panose="02040503050406030204" pitchFamily="18" charset="0"/>
                        <a:ea typeface="Roboto" panose="02000000000000000000" pitchFamily="2" charset="0"/>
                      </a:rPr>
                      <m:t>=</m:t>
                    </m:r>
                    <m:d>
                      <m:dPr>
                        <m:begChr m:val="{"/>
                        <m:endChr m:val="}"/>
                        <m:ctrlPr>
                          <a:rPr lang="es-MX" sz="2200" i="1">
                            <a:latin typeface="Cambria Math" panose="02040503050406030204" pitchFamily="18" charset="0"/>
                            <a:ea typeface="Roboto" panose="02000000000000000000" pitchFamily="2" charset="0"/>
                          </a:rPr>
                        </m:ctrlPr>
                      </m:dPr>
                      <m:e>
                        <m:r>
                          <a:rPr lang="es-MX" sz="2200" i="1">
                            <a:latin typeface="Cambria Math" panose="02040503050406030204" pitchFamily="18" charset="0"/>
                            <a:ea typeface="Roboto" panose="02000000000000000000" pitchFamily="2" charset="0"/>
                          </a:rPr>
                          <m:t>1,2</m:t>
                        </m:r>
                      </m:e>
                    </m:d>
                  </m:oMath>
                </a14:m>
                <a:r>
                  <a:rPr lang="es-MX" sz="2200" dirty="0">
                    <a:latin typeface="+mn-lt"/>
                    <a:ea typeface="Roboto" panose="02000000000000000000" pitchFamily="2" charset="0"/>
                  </a:rPr>
                  <a:t> y </a:t>
                </a:r>
                <a14:m>
                  <m:oMath xmlns:m="http://schemas.openxmlformats.org/officeDocument/2006/math">
                    <m:r>
                      <a:rPr lang="es-MX" sz="2200" i="1">
                        <a:latin typeface="Cambria Math" panose="02040503050406030204" pitchFamily="18" charset="0"/>
                        <a:ea typeface="Roboto" panose="02000000000000000000" pitchFamily="2" charset="0"/>
                      </a:rPr>
                      <m:t>𝐵</m:t>
                    </m:r>
                    <m:r>
                      <a:rPr lang="es-MX" sz="2200" i="1">
                        <a:latin typeface="Cambria Math" panose="02040503050406030204" pitchFamily="18" charset="0"/>
                        <a:ea typeface="Roboto" panose="02000000000000000000" pitchFamily="2" charset="0"/>
                      </a:rPr>
                      <m:t>=</m:t>
                    </m:r>
                    <m:d>
                      <m:dPr>
                        <m:begChr m:val="{"/>
                        <m:endChr m:val="}"/>
                        <m:ctrlPr>
                          <a:rPr lang="es-MX" sz="2200" i="1">
                            <a:latin typeface="Cambria Math" panose="02040503050406030204" pitchFamily="18" charset="0"/>
                            <a:ea typeface="Roboto" panose="02000000000000000000" pitchFamily="2" charset="0"/>
                          </a:rPr>
                        </m:ctrlPr>
                      </m:dPr>
                      <m:e>
                        <m:r>
                          <a:rPr lang="es-MX" sz="2200" i="1">
                            <a:latin typeface="Cambria Math" panose="02040503050406030204" pitchFamily="18" charset="0"/>
                            <a:ea typeface="Roboto" panose="02000000000000000000" pitchFamily="2" charset="0"/>
                          </a:rPr>
                          <m:t>1,2,3</m:t>
                        </m:r>
                      </m:e>
                    </m:d>
                  </m:oMath>
                </a14:m>
                <a:r>
                  <a:rPr lang="es-MX" sz="2200" dirty="0">
                    <a:latin typeface="+mn-lt"/>
                    <a:ea typeface="Roboto" panose="02000000000000000000" pitchFamily="2" charset="0"/>
                  </a:rPr>
                  <a:t> como </a:t>
                </a:r>
                <a14:m>
                  <m:oMath xmlns:m="http://schemas.openxmlformats.org/officeDocument/2006/math">
                    <m:r>
                      <a:rPr lang="es-MX" sz="2200" i="1">
                        <a:latin typeface="Cambria Math" panose="02040503050406030204" pitchFamily="18" charset="0"/>
                        <a:ea typeface="Roboto" panose="02000000000000000000" pitchFamily="2" charset="0"/>
                      </a:rPr>
                      <m:t>𝐴</m:t>
                    </m:r>
                    <m:r>
                      <a:rPr lang="es-MX" sz="2200" i="1">
                        <a:latin typeface="Cambria Math" panose="02040503050406030204" pitchFamily="18" charset="0"/>
                        <a:ea typeface="Cambria Math" panose="02040503050406030204" pitchFamily="18" charset="0"/>
                      </a:rPr>
                      <m:t>⊆</m:t>
                    </m:r>
                    <m:r>
                      <a:rPr lang="es-MX" sz="2200" i="1">
                        <a:latin typeface="Cambria Math" panose="02040503050406030204" pitchFamily="18" charset="0"/>
                        <a:ea typeface="Cambria Math" panose="02040503050406030204" pitchFamily="18" charset="0"/>
                      </a:rPr>
                      <m:t>𝐵</m:t>
                    </m:r>
                  </m:oMath>
                </a14:m>
                <a:r>
                  <a:rPr lang="es-MX" sz="2200" dirty="0">
                    <a:latin typeface="+mn-lt"/>
                    <a:ea typeface="Roboto" panose="02000000000000000000" pitchFamily="2" charset="0"/>
                  </a:rPr>
                  <a:t> y el numero de elementos de </a:t>
                </a:r>
                <a14:m>
                  <m:oMath xmlns:m="http://schemas.openxmlformats.org/officeDocument/2006/math">
                    <m:r>
                      <a:rPr lang="es-MX" sz="2200" i="1">
                        <a:latin typeface="Cambria Math" panose="02040503050406030204" pitchFamily="18" charset="0"/>
                        <a:ea typeface="Roboto" panose="02000000000000000000" pitchFamily="2" charset="0"/>
                      </a:rPr>
                      <m:t>𝐴</m:t>
                    </m:r>
                  </m:oMath>
                </a14:m>
                <a:r>
                  <a:rPr lang="es-MX" sz="2200" dirty="0">
                    <a:latin typeface="+mn-lt"/>
                    <a:ea typeface="Roboto" panose="02000000000000000000" pitchFamily="2" charset="0"/>
                  </a:rPr>
                  <a:t> es menor que el de </a:t>
                </a:r>
                <a14:m>
                  <m:oMath xmlns:m="http://schemas.openxmlformats.org/officeDocument/2006/math">
                    <m:r>
                      <a:rPr lang="es-MX" sz="2200" i="1">
                        <a:latin typeface="Cambria Math" panose="02040503050406030204" pitchFamily="18" charset="0"/>
                        <a:ea typeface="Roboto" panose="02000000000000000000" pitchFamily="2" charset="0"/>
                      </a:rPr>
                      <m:t>𝐵</m:t>
                    </m:r>
                  </m:oMath>
                </a14:m>
                <a:r>
                  <a:rPr lang="es-MX" sz="2200" dirty="0">
                    <a:latin typeface="+mn-lt"/>
                    <a:ea typeface="Roboto" panose="02000000000000000000" pitchFamily="2" charset="0"/>
                  </a:rPr>
                  <a:t> (o </a:t>
                </a:r>
                <a14:m>
                  <m:oMath xmlns:m="http://schemas.openxmlformats.org/officeDocument/2006/math">
                    <m:r>
                      <a:rPr lang="es-MX" sz="2200" i="1">
                        <a:latin typeface="Cambria Math" panose="02040503050406030204" pitchFamily="18" charset="0"/>
                        <a:ea typeface="Cambria Math" panose="02040503050406030204" pitchFamily="18" charset="0"/>
                      </a:rPr>
                      <m:t>𝐵</m:t>
                    </m:r>
                  </m:oMath>
                </a14:m>
                <a:r>
                  <a:rPr lang="es-MX" sz="2200" dirty="0">
                    <a:latin typeface="+mn-lt"/>
                    <a:ea typeface="Roboto" panose="02000000000000000000" pitchFamily="2" charset="0"/>
                  </a:rPr>
                  <a:t> tiene elementos que </a:t>
                </a:r>
                <a14:m>
                  <m:oMath xmlns:m="http://schemas.openxmlformats.org/officeDocument/2006/math">
                    <m:r>
                      <a:rPr lang="es-MX" sz="2200" i="1">
                        <a:latin typeface="Cambria Math" panose="02040503050406030204" pitchFamily="18" charset="0"/>
                        <a:ea typeface="Cambria Math" panose="02040503050406030204" pitchFamily="18" charset="0"/>
                      </a:rPr>
                      <m:t>𝐴</m:t>
                    </m:r>
                  </m:oMath>
                </a14:m>
                <a:r>
                  <a:rPr lang="es-MX" sz="2200" dirty="0">
                    <a:latin typeface="+mn-lt"/>
                    <a:ea typeface="Roboto" panose="02000000000000000000" pitchFamily="2" charset="0"/>
                  </a:rPr>
                  <a:t> no tiene), podemos decir que </a:t>
                </a:r>
                <a14:m>
                  <m:oMath xmlns:m="http://schemas.openxmlformats.org/officeDocument/2006/math">
                    <m:r>
                      <a:rPr lang="es-MX" sz="2200" i="1">
                        <a:latin typeface="Cambria Math" panose="02040503050406030204" pitchFamily="18" charset="0"/>
                        <a:ea typeface="Roboto" panose="02000000000000000000" pitchFamily="2" charset="0"/>
                      </a:rPr>
                      <m:t>𝐴</m:t>
                    </m:r>
                  </m:oMath>
                </a14:m>
                <a:r>
                  <a:rPr lang="es-MX" sz="2200" dirty="0">
                    <a:latin typeface="+mn-lt"/>
                    <a:ea typeface="Cambria Math" panose="02040503050406030204" pitchFamily="18" charset="0"/>
                  </a:rPr>
                  <a:t> </a:t>
                </a:r>
                <a14:m>
                  <m:oMath xmlns:m="http://schemas.openxmlformats.org/officeDocument/2006/math">
                    <m:r>
                      <a:rPr lang="es-MX" sz="2200" i="1">
                        <a:latin typeface="Cambria Math" panose="02040503050406030204" pitchFamily="18" charset="0"/>
                        <a:ea typeface="Cambria Math" panose="02040503050406030204" pitchFamily="18" charset="0"/>
                      </a:rPr>
                      <m:t>⊂</m:t>
                    </m:r>
                    <m:r>
                      <a:rPr lang="es-MX" sz="2200" i="1">
                        <a:latin typeface="Cambria Math" panose="02040503050406030204" pitchFamily="18" charset="0"/>
                        <a:ea typeface="Cambria Math" panose="02040503050406030204" pitchFamily="18" charset="0"/>
                      </a:rPr>
                      <m:t>𝐵</m:t>
                    </m:r>
                  </m:oMath>
                </a14:m>
                <a:r>
                  <a:rPr lang="es-MX" sz="2200" dirty="0">
                    <a:latin typeface="+mn-lt"/>
                    <a:ea typeface="Roboto" panose="02000000000000000000" pitchFamily="2" charset="0"/>
                  </a:rPr>
                  <a:t>.</a:t>
                </a:r>
              </a:p>
              <a:p>
                <a:pPr marL="127000" indent="0">
                  <a:buNone/>
                </a:pPr>
                <a:endParaRPr lang="es-MX" sz="2200" dirty="0">
                  <a:latin typeface="+mn-lt"/>
                  <a:ea typeface="Roboto" panose="02000000000000000000" pitchFamily="2" charset="0"/>
                </a:endParaRPr>
              </a:p>
              <a:p>
                <a:pPr marL="127000" indent="0">
                  <a:buNone/>
                </a:pPr>
                <a:endParaRPr lang="es-MX" sz="2200" dirty="0">
                  <a:latin typeface="+mn-lt"/>
                  <a:ea typeface="Roboto" panose="02000000000000000000" pitchFamily="2" charset="0"/>
                </a:endParaRPr>
              </a:p>
              <a:p>
                <a:pPr marL="127000" indent="0">
                  <a:buNone/>
                </a:pPr>
                <a:endParaRPr lang="es-MX" sz="2200" dirty="0">
                  <a:latin typeface="+mn-lt"/>
                  <a:ea typeface="Roboto" panose="02000000000000000000" pitchFamily="2" charset="0"/>
                </a:endParaRPr>
              </a:p>
            </p:txBody>
          </p:sp>
        </mc:Choice>
        <mc:Fallback xmlns="">
          <p:sp>
            <p:nvSpPr>
              <p:cNvPr id="7" name="Google Shape;310;p34">
                <a:extLst>
                  <a:ext uri="{FF2B5EF4-FFF2-40B4-BE49-F238E27FC236}">
                    <a16:creationId xmlns:a16="http://schemas.microsoft.com/office/drawing/2014/main" id="{C1EB8144-8BAC-4290-B469-B1AFD5BDF721}"/>
                  </a:ext>
                </a:extLst>
              </p:cNvPr>
              <p:cNvSpPr txBox="1">
                <a:spLocks noRot="1" noChangeAspect="1" noMove="1" noResize="1" noEditPoints="1" noAdjustHandles="1" noChangeArrowheads="1" noChangeShapeType="1" noTextEdit="1"/>
              </p:cNvSpPr>
              <p:nvPr/>
            </p:nvSpPr>
            <p:spPr>
              <a:xfrm>
                <a:off x="235974" y="904482"/>
                <a:ext cx="11577484" cy="1558499"/>
              </a:xfrm>
              <a:prstGeom prst="rect">
                <a:avLst/>
              </a:prstGeom>
              <a:blipFill>
                <a:blip r:embed="rId3"/>
                <a:stretch>
                  <a:fillRect/>
                </a:stretch>
              </a:blipFill>
              <a:ln>
                <a:noFill/>
              </a:ln>
            </p:spPr>
            <p:txBody>
              <a:bodyPr/>
              <a:lstStyle/>
              <a:p>
                <a:r>
                  <a:rPr lang="es-CO">
                    <a:noFill/>
                  </a:rPr>
                  <a:t> </a:t>
                </a:r>
              </a:p>
            </p:txBody>
          </p:sp>
        </mc:Fallback>
      </mc:AlternateContent>
    </p:spTree>
    <p:extLst>
      <p:ext uri="{BB962C8B-B14F-4D97-AF65-F5344CB8AC3E}">
        <p14:creationId xmlns:p14="http://schemas.microsoft.com/office/powerpoint/2010/main" val="14393456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235973" y="250491"/>
            <a:ext cx="11606981" cy="1253843"/>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Relaciones entre conjuntos – En términos de subconjuntos  </a:t>
            </a:r>
            <a:endParaRPr dirty="0">
              <a:solidFill>
                <a:schemeClr val="tx1"/>
              </a:solidFill>
              <a:latin typeface="+mj-lt"/>
            </a:endParaRPr>
          </a:p>
        </p:txBody>
      </p:sp>
      <p:sp>
        <p:nvSpPr>
          <p:cNvPr id="7" name="Google Shape;310;p34">
            <a:extLst>
              <a:ext uri="{FF2B5EF4-FFF2-40B4-BE49-F238E27FC236}">
                <a16:creationId xmlns:a16="http://schemas.microsoft.com/office/drawing/2014/main" id="{C1EB8144-8BAC-4290-B469-B1AFD5BDF721}"/>
              </a:ext>
            </a:extLst>
          </p:cNvPr>
          <p:cNvSpPr txBox="1">
            <a:spLocks/>
          </p:cNvSpPr>
          <p:nvPr/>
        </p:nvSpPr>
        <p:spPr>
          <a:xfrm>
            <a:off x="105487" y="1504334"/>
            <a:ext cx="11427752" cy="84225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200" dirty="0">
                <a:latin typeface="+mn-lt"/>
                <a:ea typeface="Roboto" panose="02000000000000000000" pitchFamily="2" charset="0"/>
              </a:rPr>
              <a:t>En la siguiente tabla se muestra que es posible expresar las relaciones anteriores en términos de subconjuntos:</a:t>
            </a:r>
          </a:p>
          <a:p>
            <a:endParaRPr lang="es-MX" sz="2200" dirty="0">
              <a:latin typeface="+mn-lt"/>
              <a:ea typeface="Roboto" panose="02000000000000000000" pitchFamily="2" charset="0"/>
            </a:endParaRPr>
          </a:p>
        </p:txBody>
      </p:sp>
      <mc:AlternateContent xmlns:mc="http://schemas.openxmlformats.org/markup-compatibility/2006" xmlns:a14="http://schemas.microsoft.com/office/drawing/2010/main">
        <mc:Choice Requires="a14">
          <p:graphicFrame>
            <p:nvGraphicFramePr>
              <p:cNvPr id="5" name="Tabla 5">
                <a:extLst>
                  <a:ext uri="{FF2B5EF4-FFF2-40B4-BE49-F238E27FC236}">
                    <a16:creationId xmlns:a16="http://schemas.microsoft.com/office/drawing/2014/main" id="{2DBF53F1-9415-47E9-B97D-F3F86479216A}"/>
                  </a:ext>
                </a:extLst>
              </p:cNvPr>
              <p:cNvGraphicFramePr>
                <a:graphicFrameLocks noGrp="1"/>
              </p:cNvGraphicFramePr>
              <p:nvPr>
                <p:extLst>
                  <p:ext uri="{D42A27DB-BD31-4B8C-83A1-F6EECF244321}">
                    <p14:modId xmlns:p14="http://schemas.microsoft.com/office/powerpoint/2010/main" val="4209945825"/>
                  </p:ext>
                </p:extLst>
              </p:nvPr>
            </p:nvGraphicFramePr>
            <p:xfrm>
              <a:off x="2536088" y="2687320"/>
              <a:ext cx="7269138" cy="1706880"/>
            </p:xfrm>
            <a:graphic>
              <a:graphicData uri="http://schemas.openxmlformats.org/drawingml/2006/table">
                <a:tbl>
                  <a:tblPr firstRow="1" bandRow="1">
                    <a:tableStyleId>{AD6A3598-7CB8-4345-8D95-17CE05F158A0}</a:tableStyleId>
                  </a:tblPr>
                  <a:tblGrid>
                    <a:gridCol w="2477326">
                      <a:extLst>
                        <a:ext uri="{9D8B030D-6E8A-4147-A177-3AD203B41FA5}">
                          <a16:colId xmlns:a16="http://schemas.microsoft.com/office/drawing/2014/main" val="3733434961"/>
                        </a:ext>
                      </a:extLst>
                    </a:gridCol>
                    <a:gridCol w="4791812">
                      <a:extLst>
                        <a:ext uri="{9D8B030D-6E8A-4147-A177-3AD203B41FA5}">
                          <a16:colId xmlns:a16="http://schemas.microsoft.com/office/drawing/2014/main" val="1948649761"/>
                        </a:ext>
                      </a:extLst>
                    </a:gridCol>
                  </a:tblGrid>
                  <a:tr h="370840">
                    <a:tc>
                      <a:txBody>
                        <a:bodyPr/>
                        <a:lstStyle/>
                        <a:p>
                          <a:r>
                            <a:rPr lang="es-CO" sz="2200" b="1" dirty="0">
                              <a:solidFill>
                                <a:schemeClr val="bg1"/>
                              </a:solidFill>
                              <a:latin typeface="+mn-lt"/>
                              <a:ea typeface="Roboto" panose="02000000000000000000" pitchFamily="2" charset="0"/>
                            </a:rPr>
                            <a:t>Relación</a:t>
                          </a:r>
                        </a:p>
                      </a:txBody>
                      <a:tcPr>
                        <a:solidFill>
                          <a:schemeClr val="tx1"/>
                        </a:solidFill>
                      </a:tcPr>
                    </a:tc>
                    <a:tc>
                      <a:txBody>
                        <a:bodyPr/>
                        <a:lstStyle/>
                        <a:p>
                          <a:r>
                            <a:rPr lang="es-CO" sz="2200" b="1" dirty="0">
                              <a:solidFill>
                                <a:schemeClr val="bg1"/>
                              </a:solidFill>
                              <a:latin typeface="+mn-lt"/>
                              <a:ea typeface="Roboto" panose="02000000000000000000" pitchFamily="2" charset="0"/>
                            </a:rPr>
                            <a:t>Expresión en términos de subconjuntos</a:t>
                          </a:r>
                        </a:p>
                      </a:txBody>
                      <a:tcPr>
                        <a:solidFill>
                          <a:schemeClr val="tx1"/>
                        </a:solidFill>
                      </a:tcPr>
                    </a:tc>
                    <a:extLst>
                      <a:ext uri="{0D108BD9-81ED-4DB2-BD59-A6C34878D82A}">
                        <a16:rowId xmlns:a16="http://schemas.microsoft.com/office/drawing/2014/main" val="711689577"/>
                      </a:ext>
                    </a:extLst>
                  </a:tr>
                  <a:tr h="370840">
                    <a:tc>
                      <a:txBody>
                        <a:bodyPr/>
                        <a:lstStyle/>
                        <a:p>
                          <a:r>
                            <a:rPr lang="es-CO" sz="2200" dirty="0">
                              <a:latin typeface="+mn-lt"/>
                              <a:ea typeface="Roboto" panose="02000000000000000000" pitchFamily="2" charset="0"/>
                            </a:rPr>
                            <a:t>Igualdad</a:t>
                          </a:r>
                        </a:p>
                      </a:txBody>
                      <a:tcPr/>
                    </a:tc>
                    <a:tc>
                      <a:txBody>
                        <a:bodyPr/>
                        <a:lstStyle/>
                        <a:p>
                          <a:pPr/>
                          <a14:m>
                            <m:oMathPara xmlns:m="http://schemas.openxmlformats.org/officeDocument/2006/math">
                              <m:oMathParaPr>
                                <m:jc m:val="centerGroup"/>
                              </m:oMathParaPr>
                              <m:oMath xmlns:m="http://schemas.openxmlformats.org/officeDocument/2006/math">
                                <m:r>
                                  <a:rPr lang="es-MX" sz="2200" b="0" i="1" smtClean="0">
                                    <a:latin typeface="Cambria Math" panose="02040503050406030204" pitchFamily="18" charset="0"/>
                                    <a:ea typeface="Roboto" panose="02000000000000000000" pitchFamily="2" charset="0"/>
                                  </a:rPr>
                                  <m:t>𝐴</m:t>
                                </m:r>
                                <m:r>
                                  <a:rPr lang="es-MX" sz="2200" b="0" i="1" smtClean="0">
                                    <a:latin typeface="Cambria Math" panose="02040503050406030204" pitchFamily="18" charset="0"/>
                                    <a:ea typeface="Cambria Math" panose="02040503050406030204" pitchFamily="18" charset="0"/>
                                  </a:rPr>
                                  <m:t>=</m:t>
                                </m:r>
                                <m:r>
                                  <a:rPr lang="es-MX" sz="2200" b="0" i="1" smtClean="0">
                                    <a:latin typeface="Cambria Math" panose="02040503050406030204" pitchFamily="18" charset="0"/>
                                    <a:ea typeface="Cambria Math" panose="02040503050406030204" pitchFamily="18" charset="0"/>
                                  </a:rPr>
                                  <m:t>𝐵</m:t>
                                </m:r>
                                <m:r>
                                  <a:rPr lang="es-MX" sz="2200" i="1" smtClean="0">
                                    <a:latin typeface="Cambria Math" panose="02040503050406030204" pitchFamily="18" charset="0"/>
                                    <a:ea typeface="Cambria Math" panose="02040503050406030204" pitchFamily="18" charset="0"/>
                                  </a:rPr>
                                  <m:t>⇔</m:t>
                                </m:r>
                                <m:d>
                                  <m:dPr>
                                    <m:ctrlPr>
                                      <a:rPr lang="es-MX" sz="2200" b="0" i="1" smtClean="0">
                                        <a:latin typeface="Cambria Math" panose="02040503050406030204" pitchFamily="18" charset="0"/>
                                        <a:ea typeface="Cambria Math" panose="02040503050406030204" pitchFamily="18" charset="0"/>
                                      </a:rPr>
                                    </m:ctrlPr>
                                  </m:dPr>
                                  <m:e>
                                    <m:r>
                                      <a:rPr lang="es-MX" sz="2200" b="0" i="1" smtClean="0">
                                        <a:latin typeface="Cambria Math" panose="02040503050406030204" pitchFamily="18" charset="0"/>
                                        <a:ea typeface="Cambria Math" panose="02040503050406030204" pitchFamily="18" charset="0"/>
                                      </a:rPr>
                                      <m:t>𝐴</m:t>
                                    </m:r>
                                    <m:r>
                                      <a:rPr lang="es-MX" sz="2200" b="0" i="1" smtClean="0">
                                        <a:latin typeface="Cambria Math" panose="02040503050406030204" pitchFamily="18" charset="0"/>
                                        <a:ea typeface="Cambria Math" panose="02040503050406030204" pitchFamily="18" charset="0"/>
                                      </a:rPr>
                                      <m:t>⊆</m:t>
                                    </m:r>
                                    <m:r>
                                      <a:rPr lang="es-MX" sz="2200" b="0" i="1" smtClean="0">
                                        <a:latin typeface="Cambria Math" panose="02040503050406030204" pitchFamily="18" charset="0"/>
                                        <a:ea typeface="Cambria Math" panose="02040503050406030204" pitchFamily="18" charset="0"/>
                                      </a:rPr>
                                      <m:t>𝐵</m:t>
                                    </m:r>
                                  </m:e>
                                </m:d>
                                <m:r>
                                  <a:rPr lang="es-MX" sz="2200" i="1">
                                    <a:latin typeface="Cambria Math" panose="02040503050406030204" pitchFamily="18" charset="0"/>
                                    <a:ea typeface="Cambria Math" panose="02040503050406030204" pitchFamily="18" charset="0"/>
                                  </a:rPr>
                                  <m:t>∧</m:t>
                                </m:r>
                                <m:d>
                                  <m:dPr>
                                    <m:ctrlPr>
                                      <a:rPr lang="es-MX" sz="2200" b="0" i="1" smtClean="0">
                                        <a:latin typeface="Cambria Math" panose="02040503050406030204" pitchFamily="18" charset="0"/>
                                        <a:ea typeface="Cambria Math" panose="02040503050406030204" pitchFamily="18" charset="0"/>
                                      </a:rPr>
                                    </m:ctrlPr>
                                  </m:dPr>
                                  <m:e>
                                    <m:r>
                                      <a:rPr lang="es-MX" sz="2200" b="0" i="1" smtClean="0">
                                        <a:latin typeface="Cambria Math" panose="02040503050406030204" pitchFamily="18" charset="0"/>
                                        <a:ea typeface="Cambria Math" panose="02040503050406030204" pitchFamily="18" charset="0"/>
                                      </a:rPr>
                                      <m:t>𝐵</m:t>
                                    </m:r>
                                    <m:r>
                                      <a:rPr lang="es-MX" sz="2200" i="1">
                                        <a:latin typeface="Cambria Math" panose="02040503050406030204" pitchFamily="18" charset="0"/>
                                        <a:ea typeface="Cambria Math" panose="02040503050406030204" pitchFamily="18" charset="0"/>
                                      </a:rPr>
                                      <m:t>⊆</m:t>
                                    </m:r>
                                    <m:r>
                                      <a:rPr lang="es-MX" sz="2200" b="0" i="1" smtClean="0">
                                        <a:latin typeface="Cambria Math" panose="02040503050406030204" pitchFamily="18" charset="0"/>
                                        <a:ea typeface="Cambria Math" panose="02040503050406030204" pitchFamily="18" charset="0"/>
                                      </a:rPr>
                                      <m:t>𝐴</m:t>
                                    </m:r>
                                  </m:e>
                                </m:d>
                              </m:oMath>
                            </m:oMathPara>
                          </a14:m>
                          <a:endParaRPr lang="es-CO" sz="2200" dirty="0">
                            <a:latin typeface="+mn-lt"/>
                            <a:ea typeface="Roboto" panose="02000000000000000000" pitchFamily="2" charset="0"/>
                          </a:endParaRPr>
                        </a:p>
                      </a:txBody>
                      <a:tcPr/>
                    </a:tc>
                    <a:extLst>
                      <a:ext uri="{0D108BD9-81ED-4DB2-BD59-A6C34878D82A}">
                        <a16:rowId xmlns:a16="http://schemas.microsoft.com/office/drawing/2014/main" val="4242704352"/>
                      </a:ext>
                    </a:extLst>
                  </a:tr>
                  <a:tr h="370840">
                    <a:tc>
                      <a:txBody>
                        <a:bodyPr/>
                        <a:lstStyle/>
                        <a:p>
                          <a:r>
                            <a:rPr lang="es-CO" sz="2200" dirty="0">
                              <a:latin typeface="+mn-lt"/>
                              <a:ea typeface="Roboto" panose="02000000000000000000" pitchFamily="2" charset="0"/>
                            </a:rPr>
                            <a:t>Diferencia</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200" b="0" i="1" smtClean="0">
                                    <a:latin typeface="Cambria Math" panose="02040503050406030204" pitchFamily="18" charset="0"/>
                                    <a:ea typeface="Roboto" panose="02000000000000000000" pitchFamily="2" charset="0"/>
                                  </a:rPr>
                                  <m:t>𝐴</m:t>
                                </m:r>
                                <m:r>
                                  <a:rPr lang="es-MX" sz="2200" b="0" i="1" smtClean="0">
                                    <a:latin typeface="Cambria Math" panose="02040503050406030204" pitchFamily="18" charset="0"/>
                                    <a:ea typeface="Cambria Math" panose="02040503050406030204" pitchFamily="18" charset="0"/>
                                  </a:rPr>
                                  <m:t>≠</m:t>
                                </m:r>
                                <m:r>
                                  <a:rPr lang="es-MX" sz="2200" b="0" i="1" smtClean="0">
                                    <a:latin typeface="Cambria Math" panose="02040503050406030204" pitchFamily="18" charset="0"/>
                                    <a:ea typeface="Cambria Math" panose="02040503050406030204" pitchFamily="18" charset="0"/>
                                  </a:rPr>
                                  <m:t>𝐵</m:t>
                                </m:r>
                                <m:r>
                                  <a:rPr lang="es-MX" sz="2200" i="1" smtClean="0">
                                    <a:latin typeface="Cambria Math" panose="02040503050406030204" pitchFamily="18" charset="0"/>
                                    <a:ea typeface="Cambria Math" panose="02040503050406030204" pitchFamily="18" charset="0"/>
                                  </a:rPr>
                                  <m:t>⇔</m:t>
                                </m:r>
                                <m:d>
                                  <m:dPr>
                                    <m:ctrlPr>
                                      <a:rPr lang="es-MX" sz="2200" b="0" i="1" smtClean="0">
                                        <a:latin typeface="Cambria Math" panose="02040503050406030204" pitchFamily="18" charset="0"/>
                                        <a:ea typeface="Cambria Math" panose="02040503050406030204" pitchFamily="18" charset="0"/>
                                      </a:rPr>
                                    </m:ctrlPr>
                                  </m:dPr>
                                  <m:e>
                                    <m:r>
                                      <a:rPr lang="es-MX" sz="2200" b="0" i="1" smtClean="0">
                                        <a:latin typeface="Cambria Math" panose="02040503050406030204" pitchFamily="18" charset="0"/>
                                        <a:ea typeface="Cambria Math" panose="02040503050406030204" pitchFamily="18" charset="0"/>
                                      </a:rPr>
                                      <m:t>𝐴</m:t>
                                    </m:r>
                                    <m:r>
                                      <a:rPr lang="es-MX" sz="2200" b="0" i="1" smtClean="0">
                                        <a:latin typeface="Cambria Math" panose="02040503050406030204" pitchFamily="18" charset="0"/>
                                        <a:ea typeface="Cambria Math" panose="02040503050406030204" pitchFamily="18" charset="0"/>
                                      </a:rPr>
                                      <m:t>⊈</m:t>
                                    </m:r>
                                    <m:r>
                                      <a:rPr lang="es-MX" sz="2200" b="0" i="1" smtClean="0">
                                        <a:latin typeface="Cambria Math" panose="02040503050406030204" pitchFamily="18" charset="0"/>
                                        <a:ea typeface="Cambria Math" panose="02040503050406030204" pitchFamily="18" charset="0"/>
                                      </a:rPr>
                                      <m:t>𝐵</m:t>
                                    </m:r>
                                  </m:e>
                                </m:d>
                                <m:r>
                                  <a:rPr lang="es-MX" sz="2200" i="1">
                                    <a:latin typeface="Cambria Math" panose="02040503050406030204" pitchFamily="18" charset="0"/>
                                    <a:ea typeface="Cambria Math" panose="02040503050406030204" pitchFamily="18" charset="0"/>
                                  </a:rPr>
                                  <m:t>∨</m:t>
                                </m:r>
                                <m:d>
                                  <m:dPr>
                                    <m:ctrlPr>
                                      <a:rPr lang="es-MX" sz="2200" b="0" i="1" smtClean="0">
                                        <a:latin typeface="Cambria Math" panose="02040503050406030204" pitchFamily="18" charset="0"/>
                                        <a:ea typeface="Cambria Math" panose="02040503050406030204" pitchFamily="18" charset="0"/>
                                      </a:rPr>
                                    </m:ctrlPr>
                                  </m:dPr>
                                  <m:e>
                                    <m:r>
                                      <a:rPr lang="es-MX" sz="2200" b="0" i="1" smtClean="0">
                                        <a:latin typeface="Cambria Math" panose="02040503050406030204" pitchFamily="18" charset="0"/>
                                        <a:ea typeface="Cambria Math" panose="02040503050406030204" pitchFamily="18" charset="0"/>
                                      </a:rPr>
                                      <m:t>𝐵</m:t>
                                    </m:r>
                                    <m:r>
                                      <a:rPr lang="es-MX" sz="2200" i="1">
                                        <a:latin typeface="Cambria Math" panose="02040503050406030204" pitchFamily="18" charset="0"/>
                                        <a:ea typeface="Cambria Math" panose="02040503050406030204" pitchFamily="18" charset="0"/>
                                      </a:rPr>
                                      <m:t>⊈</m:t>
                                    </m:r>
                                    <m:r>
                                      <a:rPr lang="es-MX" sz="2200" b="0" i="1" smtClean="0">
                                        <a:latin typeface="Cambria Math" panose="02040503050406030204" pitchFamily="18" charset="0"/>
                                        <a:ea typeface="Cambria Math" panose="02040503050406030204" pitchFamily="18" charset="0"/>
                                      </a:rPr>
                                      <m:t>𝐴</m:t>
                                    </m:r>
                                  </m:e>
                                </m:d>
                              </m:oMath>
                            </m:oMathPara>
                          </a14:m>
                          <a:endParaRPr lang="es-CO" sz="2200" dirty="0">
                            <a:latin typeface="+mn-lt"/>
                            <a:ea typeface="Roboto" panose="02000000000000000000" pitchFamily="2" charset="0"/>
                          </a:endParaRPr>
                        </a:p>
                      </a:txBody>
                      <a:tcPr/>
                    </a:tc>
                    <a:extLst>
                      <a:ext uri="{0D108BD9-81ED-4DB2-BD59-A6C34878D82A}">
                        <a16:rowId xmlns:a16="http://schemas.microsoft.com/office/drawing/2014/main" val="438863595"/>
                      </a:ext>
                    </a:extLst>
                  </a:tr>
                  <a:tr h="370840">
                    <a:tc>
                      <a:txBody>
                        <a:bodyPr/>
                        <a:lstStyle/>
                        <a:p>
                          <a:r>
                            <a:rPr lang="es-CO" sz="2200" dirty="0">
                              <a:latin typeface="+mn-lt"/>
                              <a:ea typeface="Roboto" panose="02000000000000000000" pitchFamily="2" charset="0"/>
                            </a:rPr>
                            <a:t>Subconjunto propio</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200" b="0" i="1" smtClean="0">
                                    <a:latin typeface="Cambria Math" panose="02040503050406030204" pitchFamily="18" charset="0"/>
                                    <a:ea typeface="Roboto" panose="02000000000000000000" pitchFamily="2" charset="0"/>
                                  </a:rPr>
                                  <m:t>𝐴</m:t>
                                </m:r>
                                <m:r>
                                  <a:rPr lang="es-MX" sz="2200" b="0" i="1" smtClean="0">
                                    <a:latin typeface="Cambria Math" panose="02040503050406030204" pitchFamily="18" charset="0"/>
                                    <a:ea typeface="Cambria Math" panose="02040503050406030204" pitchFamily="18" charset="0"/>
                                  </a:rPr>
                                  <m:t>⊂</m:t>
                                </m:r>
                                <m:r>
                                  <a:rPr lang="es-MX" sz="2200" b="0" i="1" smtClean="0">
                                    <a:latin typeface="Cambria Math" panose="02040503050406030204" pitchFamily="18" charset="0"/>
                                    <a:ea typeface="Cambria Math" panose="02040503050406030204" pitchFamily="18" charset="0"/>
                                  </a:rPr>
                                  <m:t>𝐵</m:t>
                                </m:r>
                                <m:r>
                                  <a:rPr lang="es-MX" sz="2200" i="1">
                                    <a:latin typeface="Cambria Math" panose="02040503050406030204" pitchFamily="18" charset="0"/>
                                    <a:ea typeface="Cambria Math" panose="02040503050406030204" pitchFamily="18" charset="0"/>
                                  </a:rPr>
                                  <m:t>⇔</m:t>
                                </m:r>
                                <m:d>
                                  <m:dPr>
                                    <m:ctrlPr>
                                      <a:rPr lang="es-MX" sz="2200" b="0" i="1" smtClean="0">
                                        <a:latin typeface="Cambria Math" panose="02040503050406030204" pitchFamily="18" charset="0"/>
                                        <a:ea typeface="Cambria Math" panose="02040503050406030204" pitchFamily="18" charset="0"/>
                                      </a:rPr>
                                    </m:ctrlPr>
                                  </m:dPr>
                                  <m:e>
                                    <m:r>
                                      <a:rPr lang="es-MX" sz="2200" b="0" i="1" smtClean="0">
                                        <a:latin typeface="Cambria Math" panose="02040503050406030204" pitchFamily="18" charset="0"/>
                                        <a:ea typeface="Cambria Math" panose="02040503050406030204" pitchFamily="18" charset="0"/>
                                      </a:rPr>
                                      <m:t>𝐴</m:t>
                                    </m:r>
                                    <m:r>
                                      <a:rPr lang="es-MX" sz="2200" b="0" i="1" smtClean="0">
                                        <a:latin typeface="Cambria Math" panose="02040503050406030204" pitchFamily="18" charset="0"/>
                                        <a:ea typeface="Cambria Math" panose="02040503050406030204" pitchFamily="18" charset="0"/>
                                      </a:rPr>
                                      <m:t>⊆</m:t>
                                    </m:r>
                                    <m:r>
                                      <a:rPr lang="es-MX" sz="2200" b="0" i="1" smtClean="0">
                                        <a:latin typeface="Cambria Math" panose="02040503050406030204" pitchFamily="18" charset="0"/>
                                        <a:ea typeface="Cambria Math" panose="02040503050406030204" pitchFamily="18" charset="0"/>
                                      </a:rPr>
                                      <m:t>𝐵</m:t>
                                    </m:r>
                                  </m:e>
                                </m:d>
                                <m:r>
                                  <a:rPr lang="es-MX" sz="2200" i="1">
                                    <a:latin typeface="Cambria Math" panose="02040503050406030204" pitchFamily="18" charset="0"/>
                                    <a:ea typeface="Cambria Math" panose="02040503050406030204" pitchFamily="18" charset="0"/>
                                  </a:rPr>
                                  <m:t>∧</m:t>
                                </m:r>
                                <m:d>
                                  <m:dPr>
                                    <m:ctrlPr>
                                      <a:rPr lang="es-MX" sz="2200" b="0" i="1" smtClean="0">
                                        <a:latin typeface="Cambria Math" panose="02040503050406030204" pitchFamily="18" charset="0"/>
                                        <a:ea typeface="Cambria Math" panose="02040503050406030204" pitchFamily="18" charset="0"/>
                                      </a:rPr>
                                    </m:ctrlPr>
                                  </m:dPr>
                                  <m:e>
                                    <m:r>
                                      <a:rPr lang="es-MX" sz="2200" b="0" i="1" smtClean="0">
                                        <a:latin typeface="Cambria Math" panose="02040503050406030204" pitchFamily="18" charset="0"/>
                                        <a:ea typeface="Roboto" panose="02000000000000000000" pitchFamily="2" charset="0"/>
                                      </a:rPr>
                                      <m:t>𝐴</m:t>
                                    </m:r>
                                    <m:r>
                                      <a:rPr lang="es-MX" sz="2200" b="0" i="1" smtClean="0">
                                        <a:latin typeface="Cambria Math" panose="02040503050406030204" pitchFamily="18" charset="0"/>
                                        <a:ea typeface="Cambria Math" panose="02040503050406030204" pitchFamily="18" charset="0"/>
                                      </a:rPr>
                                      <m:t>≠</m:t>
                                    </m:r>
                                    <m:r>
                                      <a:rPr lang="es-MX" sz="2200" b="0" i="1" smtClean="0">
                                        <a:latin typeface="Cambria Math" panose="02040503050406030204" pitchFamily="18" charset="0"/>
                                        <a:ea typeface="Cambria Math" panose="02040503050406030204" pitchFamily="18" charset="0"/>
                                      </a:rPr>
                                      <m:t>𝐵</m:t>
                                    </m:r>
                                  </m:e>
                                </m:d>
                              </m:oMath>
                            </m:oMathPara>
                          </a14:m>
                          <a:endParaRPr lang="es-MX" sz="2200" dirty="0">
                            <a:latin typeface="+mn-lt"/>
                            <a:ea typeface="Roboto" panose="02000000000000000000" pitchFamily="2" charset="0"/>
                          </a:endParaRPr>
                        </a:p>
                      </a:txBody>
                      <a:tcPr/>
                    </a:tc>
                    <a:extLst>
                      <a:ext uri="{0D108BD9-81ED-4DB2-BD59-A6C34878D82A}">
                        <a16:rowId xmlns:a16="http://schemas.microsoft.com/office/drawing/2014/main" val="2049377589"/>
                      </a:ext>
                    </a:extLst>
                  </a:tr>
                </a:tbl>
              </a:graphicData>
            </a:graphic>
          </p:graphicFrame>
        </mc:Choice>
        <mc:Fallback xmlns="">
          <p:graphicFrame>
            <p:nvGraphicFramePr>
              <p:cNvPr id="5" name="Tabla 5">
                <a:extLst>
                  <a:ext uri="{FF2B5EF4-FFF2-40B4-BE49-F238E27FC236}">
                    <a16:creationId xmlns:a16="http://schemas.microsoft.com/office/drawing/2014/main" id="{2DBF53F1-9415-47E9-B97D-F3F86479216A}"/>
                  </a:ext>
                </a:extLst>
              </p:cNvPr>
              <p:cNvGraphicFramePr>
                <a:graphicFrameLocks noGrp="1"/>
              </p:cNvGraphicFramePr>
              <p:nvPr>
                <p:extLst>
                  <p:ext uri="{D42A27DB-BD31-4B8C-83A1-F6EECF244321}">
                    <p14:modId xmlns:p14="http://schemas.microsoft.com/office/powerpoint/2010/main" val="4209945825"/>
                  </p:ext>
                </p:extLst>
              </p:nvPr>
            </p:nvGraphicFramePr>
            <p:xfrm>
              <a:off x="2536088" y="2687320"/>
              <a:ext cx="7269138" cy="1706880"/>
            </p:xfrm>
            <a:graphic>
              <a:graphicData uri="http://schemas.openxmlformats.org/drawingml/2006/table">
                <a:tbl>
                  <a:tblPr firstRow="1" bandRow="1">
                    <a:tableStyleId>{AD6A3598-7CB8-4345-8D95-17CE05F158A0}</a:tableStyleId>
                  </a:tblPr>
                  <a:tblGrid>
                    <a:gridCol w="2477326">
                      <a:extLst>
                        <a:ext uri="{9D8B030D-6E8A-4147-A177-3AD203B41FA5}">
                          <a16:colId xmlns:a16="http://schemas.microsoft.com/office/drawing/2014/main" val="3733434961"/>
                        </a:ext>
                      </a:extLst>
                    </a:gridCol>
                    <a:gridCol w="4791812">
                      <a:extLst>
                        <a:ext uri="{9D8B030D-6E8A-4147-A177-3AD203B41FA5}">
                          <a16:colId xmlns:a16="http://schemas.microsoft.com/office/drawing/2014/main" val="1948649761"/>
                        </a:ext>
                      </a:extLst>
                    </a:gridCol>
                  </a:tblGrid>
                  <a:tr h="426720">
                    <a:tc>
                      <a:txBody>
                        <a:bodyPr/>
                        <a:lstStyle/>
                        <a:p>
                          <a:r>
                            <a:rPr lang="es-CO" sz="2200" b="1" dirty="0">
                              <a:solidFill>
                                <a:schemeClr val="bg1"/>
                              </a:solidFill>
                              <a:latin typeface="+mn-lt"/>
                              <a:ea typeface="Roboto" panose="02000000000000000000" pitchFamily="2" charset="0"/>
                            </a:rPr>
                            <a:t>Relación</a:t>
                          </a:r>
                        </a:p>
                      </a:txBody>
                      <a:tcPr>
                        <a:solidFill>
                          <a:schemeClr val="tx1"/>
                        </a:solidFill>
                      </a:tcPr>
                    </a:tc>
                    <a:tc>
                      <a:txBody>
                        <a:bodyPr/>
                        <a:lstStyle/>
                        <a:p>
                          <a:r>
                            <a:rPr lang="es-CO" sz="2200" b="1" dirty="0">
                              <a:solidFill>
                                <a:schemeClr val="bg1"/>
                              </a:solidFill>
                              <a:latin typeface="+mn-lt"/>
                              <a:ea typeface="Roboto" panose="02000000000000000000" pitchFamily="2" charset="0"/>
                            </a:rPr>
                            <a:t>Expresión en términos de subconjuntos</a:t>
                          </a:r>
                        </a:p>
                      </a:txBody>
                      <a:tcPr>
                        <a:solidFill>
                          <a:schemeClr val="tx1"/>
                        </a:solidFill>
                      </a:tcPr>
                    </a:tc>
                    <a:extLst>
                      <a:ext uri="{0D108BD9-81ED-4DB2-BD59-A6C34878D82A}">
                        <a16:rowId xmlns:a16="http://schemas.microsoft.com/office/drawing/2014/main" val="711689577"/>
                      </a:ext>
                    </a:extLst>
                  </a:tr>
                  <a:tr h="426720">
                    <a:tc>
                      <a:txBody>
                        <a:bodyPr/>
                        <a:lstStyle/>
                        <a:p>
                          <a:r>
                            <a:rPr lang="es-CO" sz="2200" dirty="0">
                              <a:latin typeface="+mn-lt"/>
                              <a:ea typeface="Roboto" panose="02000000000000000000" pitchFamily="2" charset="0"/>
                            </a:rPr>
                            <a:t>Igualdad</a:t>
                          </a:r>
                        </a:p>
                      </a:txBody>
                      <a:tcPr/>
                    </a:tc>
                    <a:tc>
                      <a:txBody>
                        <a:bodyPr/>
                        <a:lstStyle/>
                        <a:p>
                          <a:endParaRPr lang="es-CO"/>
                        </a:p>
                      </a:txBody>
                      <a:tcPr>
                        <a:blipFill>
                          <a:blip r:embed="rId3"/>
                          <a:stretch>
                            <a:fillRect l="-51908" t="-107042" r="-254" b="-225352"/>
                          </a:stretch>
                        </a:blipFill>
                      </a:tcPr>
                    </a:tc>
                    <a:extLst>
                      <a:ext uri="{0D108BD9-81ED-4DB2-BD59-A6C34878D82A}">
                        <a16:rowId xmlns:a16="http://schemas.microsoft.com/office/drawing/2014/main" val="4242704352"/>
                      </a:ext>
                    </a:extLst>
                  </a:tr>
                  <a:tr h="426720">
                    <a:tc>
                      <a:txBody>
                        <a:bodyPr/>
                        <a:lstStyle/>
                        <a:p>
                          <a:r>
                            <a:rPr lang="es-CO" sz="2200" dirty="0">
                              <a:latin typeface="+mn-lt"/>
                              <a:ea typeface="Roboto" panose="02000000000000000000" pitchFamily="2" charset="0"/>
                            </a:rPr>
                            <a:t>Diferencia</a:t>
                          </a:r>
                        </a:p>
                      </a:txBody>
                      <a:tcPr/>
                    </a:tc>
                    <a:tc>
                      <a:txBody>
                        <a:bodyPr/>
                        <a:lstStyle/>
                        <a:p>
                          <a:endParaRPr lang="es-CO"/>
                        </a:p>
                      </a:txBody>
                      <a:tcPr>
                        <a:blipFill>
                          <a:blip r:embed="rId3"/>
                          <a:stretch>
                            <a:fillRect l="-51908" t="-210000" r="-254" b="-128571"/>
                          </a:stretch>
                        </a:blipFill>
                      </a:tcPr>
                    </a:tc>
                    <a:extLst>
                      <a:ext uri="{0D108BD9-81ED-4DB2-BD59-A6C34878D82A}">
                        <a16:rowId xmlns:a16="http://schemas.microsoft.com/office/drawing/2014/main" val="438863595"/>
                      </a:ext>
                    </a:extLst>
                  </a:tr>
                  <a:tr h="426720">
                    <a:tc>
                      <a:txBody>
                        <a:bodyPr/>
                        <a:lstStyle/>
                        <a:p>
                          <a:r>
                            <a:rPr lang="es-CO" sz="2200" dirty="0">
                              <a:latin typeface="+mn-lt"/>
                              <a:ea typeface="Roboto" panose="02000000000000000000" pitchFamily="2" charset="0"/>
                            </a:rPr>
                            <a:t>Subconjunto propio</a:t>
                          </a:r>
                        </a:p>
                      </a:txBody>
                      <a:tcPr/>
                    </a:tc>
                    <a:tc>
                      <a:txBody>
                        <a:bodyPr/>
                        <a:lstStyle/>
                        <a:p>
                          <a:endParaRPr lang="es-CO"/>
                        </a:p>
                      </a:txBody>
                      <a:tcPr>
                        <a:blipFill>
                          <a:blip r:embed="rId3"/>
                          <a:stretch>
                            <a:fillRect l="-51908" t="-310000" r="-254" b="-28571"/>
                          </a:stretch>
                        </a:blipFill>
                      </a:tcPr>
                    </a:tc>
                    <a:extLst>
                      <a:ext uri="{0D108BD9-81ED-4DB2-BD59-A6C34878D82A}">
                        <a16:rowId xmlns:a16="http://schemas.microsoft.com/office/drawing/2014/main" val="2049377589"/>
                      </a:ext>
                    </a:extLst>
                  </a:tr>
                </a:tbl>
              </a:graphicData>
            </a:graphic>
          </p:graphicFrame>
        </mc:Fallback>
      </mc:AlternateContent>
    </p:spTree>
    <p:extLst>
      <p:ext uri="{BB962C8B-B14F-4D97-AF65-F5344CB8AC3E}">
        <p14:creationId xmlns:p14="http://schemas.microsoft.com/office/powerpoint/2010/main" val="32236146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412955" y="307374"/>
            <a:ext cx="11267768" cy="107823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Relaciones entre conjuntos - En términos de subconjuntos </a:t>
            </a:r>
            <a:endParaRPr dirty="0">
              <a:solidFill>
                <a:schemeClr val="tx1"/>
              </a:solidFill>
              <a:latin typeface="+mj-lt"/>
            </a:endParaRPr>
          </a:p>
        </p:txBody>
      </p:sp>
      <mc:AlternateContent xmlns:mc="http://schemas.openxmlformats.org/markup-compatibility/2006" xmlns:a14="http://schemas.microsoft.com/office/drawing/2010/main">
        <mc:Choice Requires="a14">
          <p:sp>
            <p:nvSpPr>
              <p:cNvPr id="7" name="Google Shape;310;p34">
                <a:extLst>
                  <a:ext uri="{FF2B5EF4-FFF2-40B4-BE49-F238E27FC236}">
                    <a16:creationId xmlns:a16="http://schemas.microsoft.com/office/drawing/2014/main" id="{C1EB8144-8BAC-4290-B469-B1AFD5BDF721}"/>
                  </a:ext>
                </a:extLst>
              </p:cNvPr>
              <p:cNvSpPr txBox="1">
                <a:spLocks/>
              </p:cNvSpPr>
              <p:nvPr/>
            </p:nvSpPr>
            <p:spPr>
              <a:xfrm>
                <a:off x="412955" y="1445978"/>
                <a:ext cx="11267768" cy="107823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200" b="1" dirty="0">
                    <a:latin typeface="+mn-lt"/>
                    <a:ea typeface="Roboto" panose="02000000000000000000" pitchFamily="2" charset="0"/>
                  </a:rPr>
                  <a:t>Ejemplo</a:t>
                </a:r>
                <a:r>
                  <a:rPr lang="es-MX" sz="2200" dirty="0">
                    <a:latin typeface="+mn-lt"/>
                    <a:ea typeface="Roboto" panose="02000000000000000000" pitchFamily="2" charset="0"/>
                  </a:rPr>
                  <a:t>: Aplicando los conceptos de lógica cuantificacional y las definiciones de conjuntos previamente vistas demuestre la equivalencia para la igualdad de la tabla anterior: </a:t>
                </a:r>
                <a14:m>
                  <m:oMath xmlns:m="http://schemas.openxmlformats.org/officeDocument/2006/math">
                    <m:r>
                      <a:rPr lang="es-MX" sz="2200" b="0" i="1" smtClean="0">
                        <a:latin typeface="Cambria Math" panose="02040503050406030204" pitchFamily="18" charset="0"/>
                        <a:ea typeface="Roboto" panose="02000000000000000000" pitchFamily="2" charset="0"/>
                      </a:rPr>
                      <m:t>𝐴</m:t>
                    </m:r>
                    <m:r>
                      <a:rPr lang="es-MX" sz="2200" b="0" i="1" smtClean="0">
                        <a:latin typeface="Cambria Math" panose="02040503050406030204" pitchFamily="18" charset="0"/>
                        <a:ea typeface="Cambria Math" panose="02040503050406030204" pitchFamily="18" charset="0"/>
                      </a:rPr>
                      <m:t>=</m:t>
                    </m:r>
                    <m:r>
                      <a:rPr lang="es-MX" sz="2200" b="0" i="1" smtClean="0">
                        <a:latin typeface="Cambria Math" panose="02040503050406030204" pitchFamily="18" charset="0"/>
                        <a:ea typeface="Cambria Math" panose="02040503050406030204" pitchFamily="18" charset="0"/>
                      </a:rPr>
                      <m:t>𝐵</m:t>
                    </m:r>
                    <m:r>
                      <a:rPr lang="es-MX" sz="2200" i="1" smtClean="0">
                        <a:latin typeface="Cambria Math" panose="02040503050406030204" pitchFamily="18" charset="0"/>
                        <a:ea typeface="Cambria Math" panose="02040503050406030204" pitchFamily="18" charset="0"/>
                      </a:rPr>
                      <m:t>⇔</m:t>
                    </m:r>
                    <m:d>
                      <m:dPr>
                        <m:ctrlPr>
                          <a:rPr lang="es-MX" sz="2200" b="0" i="1" smtClean="0">
                            <a:latin typeface="Cambria Math" panose="02040503050406030204" pitchFamily="18" charset="0"/>
                            <a:ea typeface="Cambria Math" panose="02040503050406030204" pitchFamily="18" charset="0"/>
                          </a:rPr>
                        </m:ctrlPr>
                      </m:dPr>
                      <m:e>
                        <m:r>
                          <a:rPr lang="es-MX" sz="2200" b="0" i="1" smtClean="0">
                            <a:latin typeface="Cambria Math" panose="02040503050406030204" pitchFamily="18" charset="0"/>
                            <a:ea typeface="Cambria Math" panose="02040503050406030204" pitchFamily="18" charset="0"/>
                          </a:rPr>
                          <m:t>𝐴</m:t>
                        </m:r>
                        <m:r>
                          <a:rPr lang="es-MX" sz="2200" b="0" i="1" smtClean="0">
                            <a:latin typeface="Cambria Math" panose="02040503050406030204" pitchFamily="18" charset="0"/>
                            <a:ea typeface="Cambria Math" panose="02040503050406030204" pitchFamily="18" charset="0"/>
                          </a:rPr>
                          <m:t>⊆</m:t>
                        </m:r>
                        <m:r>
                          <a:rPr lang="es-MX" sz="2200" b="0" i="1" smtClean="0">
                            <a:latin typeface="Cambria Math" panose="02040503050406030204" pitchFamily="18" charset="0"/>
                            <a:ea typeface="Cambria Math" panose="02040503050406030204" pitchFamily="18" charset="0"/>
                          </a:rPr>
                          <m:t>𝐵</m:t>
                        </m:r>
                      </m:e>
                    </m:d>
                    <m:r>
                      <a:rPr lang="es-MX" sz="2200" i="1">
                        <a:latin typeface="Cambria Math" panose="02040503050406030204" pitchFamily="18" charset="0"/>
                        <a:ea typeface="Cambria Math" panose="02040503050406030204" pitchFamily="18" charset="0"/>
                      </a:rPr>
                      <m:t>∧</m:t>
                    </m:r>
                    <m:d>
                      <m:dPr>
                        <m:ctrlPr>
                          <a:rPr lang="es-MX" sz="2200" b="0" i="1" smtClean="0">
                            <a:latin typeface="Cambria Math" panose="02040503050406030204" pitchFamily="18" charset="0"/>
                            <a:ea typeface="Cambria Math" panose="02040503050406030204" pitchFamily="18" charset="0"/>
                          </a:rPr>
                        </m:ctrlPr>
                      </m:dPr>
                      <m:e>
                        <m:r>
                          <a:rPr lang="es-MX" sz="2200" b="0" i="1" smtClean="0">
                            <a:latin typeface="Cambria Math" panose="02040503050406030204" pitchFamily="18" charset="0"/>
                            <a:ea typeface="Cambria Math" panose="02040503050406030204" pitchFamily="18" charset="0"/>
                          </a:rPr>
                          <m:t>𝐵</m:t>
                        </m:r>
                        <m:r>
                          <a:rPr lang="es-MX" sz="2200" i="1">
                            <a:latin typeface="Cambria Math" panose="02040503050406030204" pitchFamily="18" charset="0"/>
                            <a:ea typeface="Cambria Math" panose="02040503050406030204" pitchFamily="18" charset="0"/>
                          </a:rPr>
                          <m:t>⊆</m:t>
                        </m:r>
                        <m:r>
                          <a:rPr lang="es-MX" sz="2200" b="0" i="1" smtClean="0">
                            <a:latin typeface="Cambria Math" panose="02040503050406030204" pitchFamily="18" charset="0"/>
                            <a:ea typeface="Cambria Math" panose="02040503050406030204" pitchFamily="18" charset="0"/>
                          </a:rPr>
                          <m:t>𝐴</m:t>
                        </m:r>
                      </m:e>
                    </m:d>
                  </m:oMath>
                </a14:m>
                <a:endParaRPr lang="es-CO" sz="2200" dirty="0">
                  <a:latin typeface="+mn-lt"/>
                  <a:ea typeface="Roboto" panose="02000000000000000000" pitchFamily="2" charset="0"/>
                </a:endParaRPr>
              </a:p>
              <a:p>
                <a:pPr marL="127000" indent="0">
                  <a:buNone/>
                </a:pPr>
                <a:endParaRPr lang="es-MX" sz="2200" dirty="0">
                  <a:latin typeface="+mn-lt"/>
                  <a:ea typeface="Roboto" panose="02000000000000000000" pitchFamily="2" charset="0"/>
                </a:endParaRPr>
              </a:p>
              <a:p>
                <a:pPr marL="127000" indent="0">
                  <a:buNone/>
                </a:pPr>
                <a:endParaRPr lang="es-MX" sz="2200" dirty="0">
                  <a:latin typeface="+mn-lt"/>
                  <a:ea typeface="Roboto" panose="02000000000000000000" pitchFamily="2" charset="0"/>
                </a:endParaRPr>
              </a:p>
              <a:p>
                <a:pPr marL="127000" indent="0">
                  <a:buNone/>
                </a:pPr>
                <a:endParaRPr lang="es-MX" sz="2200" dirty="0">
                  <a:latin typeface="+mn-lt"/>
                  <a:ea typeface="Roboto" panose="02000000000000000000" pitchFamily="2" charset="0"/>
                </a:endParaRPr>
              </a:p>
              <a:p>
                <a:pPr marL="127000" indent="0">
                  <a:buNone/>
                </a:pPr>
                <a:endParaRPr lang="es-MX" sz="2200" dirty="0">
                  <a:latin typeface="+mn-lt"/>
                  <a:ea typeface="Roboto" panose="02000000000000000000" pitchFamily="2" charset="0"/>
                </a:endParaRPr>
              </a:p>
              <a:p>
                <a:pPr marL="127000" indent="0">
                  <a:buNone/>
                </a:pPr>
                <a:endParaRPr lang="es-MX" sz="2200" dirty="0">
                  <a:latin typeface="+mn-lt"/>
                  <a:ea typeface="Roboto" panose="02000000000000000000" pitchFamily="2" charset="0"/>
                </a:endParaRPr>
              </a:p>
              <a:p>
                <a:pPr marL="127000" indent="0">
                  <a:buNone/>
                </a:pPr>
                <a:endParaRPr lang="es-CO" sz="2200" dirty="0">
                  <a:latin typeface="+mn-lt"/>
                  <a:ea typeface="Roboto" panose="02000000000000000000" pitchFamily="2" charset="0"/>
                </a:endParaRPr>
              </a:p>
              <a:p>
                <a:pPr marL="127000" indent="0">
                  <a:buNone/>
                </a:pPr>
                <a:r>
                  <a:rPr lang="es-MX" sz="2200" dirty="0">
                    <a:latin typeface="+mn-lt"/>
                    <a:ea typeface="Roboto" panose="02000000000000000000" pitchFamily="2" charset="0"/>
                  </a:rPr>
                  <a:t> </a:t>
                </a:r>
              </a:p>
              <a:p>
                <a:endParaRPr lang="es-MX" sz="2200" dirty="0">
                  <a:latin typeface="+mn-lt"/>
                  <a:ea typeface="Roboto" panose="02000000000000000000" pitchFamily="2" charset="0"/>
                </a:endParaRPr>
              </a:p>
            </p:txBody>
          </p:sp>
        </mc:Choice>
        <mc:Fallback xmlns="">
          <p:sp>
            <p:nvSpPr>
              <p:cNvPr id="7" name="Google Shape;310;p34">
                <a:extLst>
                  <a:ext uri="{FF2B5EF4-FFF2-40B4-BE49-F238E27FC236}">
                    <a16:creationId xmlns:a16="http://schemas.microsoft.com/office/drawing/2014/main" id="{C1EB8144-8BAC-4290-B469-B1AFD5BDF721}"/>
                  </a:ext>
                </a:extLst>
              </p:cNvPr>
              <p:cNvSpPr txBox="1">
                <a:spLocks noRot="1" noChangeAspect="1" noMove="1" noResize="1" noEditPoints="1" noAdjustHandles="1" noChangeArrowheads="1" noChangeShapeType="1" noTextEdit="1"/>
              </p:cNvSpPr>
              <p:nvPr/>
            </p:nvSpPr>
            <p:spPr>
              <a:xfrm>
                <a:off x="412955" y="1445978"/>
                <a:ext cx="11267768" cy="1078230"/>
              </a:xfrm>
              <a:prstGeom prst="rect">
                <a:avLst/>
              </a:prstGeom>
              <a:blipFill>
                <a:blip r:embed="rId3"/>
                <a:stretch>
                  <a:fillRect b="-2260"/>
                </a:stretch>
              </a:blipFill>
              <a:ln>
                <a:noFill/>
              </a:ln>
            </p:spPr>
            <p:txBody>
              <a:bodyPr/>
              <a:lstStyle/>
              <a:p>
                <a:r>
                  <a:rPr lang="es-CO">
                    <a:noFill/>
                  </a:rPr>
                  <a:t> </a:t>
                </a:r>
              </a:p>
            </p:txBody>
          </p:sp>
        </mc:Fallback>
      </mc:AlternateContent>
      <mc:AlternateContent xmlns:mc="http://schemas.openxmlformats.org/markup-compatibility/2006">
        <mc:Choice xmlns:a14="http://schemas.microsoft.com/office/drawing/2010/main" Requires="a14">
          <p:graphicFrame>
            <p:nvGraphicFramePr>
              <p:cNvPr id="17" name="Tabla 2">
                <a:extLst>
                  <a:ext uri="{FF2B5EF4-FFF2-40B4-BE49-F238E27FC236}">
                    <a16:creationId xmlns:a16="http://schemas.microsoft.com/office/drawing/2014/main" id="{2FC4F6BD-7C55-4888-9083-C0712DD6630B}"/>
                  </a:ext>
                </a:extLst>
              </p:cNvPr>
              <p:cNvGraphicFramePr>
                <a:graphicFrameLocks noGrp="1"/>
              </p:cNvGraphicFramePr>
              <p:nvPr>
                <p:extLst>
                  <p:ext uri="{D42A27DB-BD31-4B8C-83A1-F6EECF244321}">
                    <p14:modId xmlns:p14="http://schemas.microsoft.com/office/powerpoint/2010/main" val="2062848449"/>
                  </p:ext>
                </p:extLst>
              </p:nvPr>
            </p:nvGraphicFramePr>
            <p:xfrm>
              <a:off x="2107441" y="2775109"/>
              <a:ext cx="8890183" cy="3026283"/>
            </p:xfrm>
            <a:graphic>
              <a:graphicData uri="http://schemas.openxmlformats.org/drawingml/2006/table">
                <a:tbl>
                  <a:tblPr firstRow="1" bandRow="1">
                    <a:tableStyleId>{AD6A3598-7CB8-4345-8D95-17CE05F158A0}</a:tableStyleId>
                  </a:tblPr>
                  <a:tblGrid>
                    <a:gridCol w="695743">
                      <a:extLst>
                        <a:ext uri="{9D8B030D-6E8A-4147-A177-3AD203B41FA5}">
                          <a16:colId xmlns:a16="http://schemas.microsoft.com/office/drawing/2014/main" val="1610952478"/>
                        </a:ext>
                      </a:extLst>
                    </a:gridCol>
                    <a:gridCol w="4692523">
                      <a:extLst>
                        <a:ext uri="{9D8B030D-6E8A-4147-A177-3AD203B41FA5}">
                          <a16:colId xmlns:a16="http://schemas.microsoft.com/office/drawing/2014/main" val="2942974496"/>
                        </a:ext>
                      </a:extLst>
                    </a:gridCol>
                    <a:gridCol w="3501917">
                      <a:extLst>
                        <a:ext uri="{9D8B030D-6E8A-4147-A177-3AD203B41FA5}">
                          <a16:colId xmlns:a16="http://schemas.microsoft.com/office/drawing/2014/main" val="4281859008"/>
                        </a:ext>
                      </a:extLst>
                    </a:gridCol>
                  </a:tblGrid>
                  <a:tr h="155944">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2000" b="1" dirty="0">
                              <a:latin typeface="+mn-lt"/>
                              <a:ea typeface="Roboto" panose="02000000000000000000" pitchFamily="2" charset="0"/>
                            </a:rPr>
                            <a:t>Afirmación</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2000" b="1" dirty="0">
                              <a:latin typeface="+mn-lt"/>
                              <a:ea typeface="Roboto" panose="02000000000000000000" pitchFamily="2" charset="0"/>
                            </a:rPr>
                            <a:t>Razón</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0073712"/>
                      </a:ext>
                    </a:extLst>
                  </a:tr>
                  <a:tr h="129954">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Cambria Math" panose="02040503050406030204" pitchFamily="18" charset="0"/>
                                  </a:rPr>
                                  <m:t>1</m:t>
                                </m:r>
                              </m:oMath>
                            </m:oMathPara>
                          </a14:m>
                          <a:endParaRPr lang="es-CO" sz="2000" b="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a14:m>
                            <m:oMathPara xmlns:m="http://schemas.openxmlformats.org/officeDocument/2006/math">
                              <m:oMathParaPr>
                                <m:jc m:val="left"/>
                              </m:oMathParaPr>
                              <m:oMath xmlns:m="http://schemas.openxmlformats.org/officeDocument/2006/math">
                                <m:r>
                                  <a:rPr lang="es-MX" sz="2000" b="0" i="1" smtClean="0">
                                    <a:latin typeface="Cambria Math" panose="02040503050406030204" pitchFamily="18" charset="0"/>
                                    <a:ea typeface="Roboto" panose="02000000000000000000" pitchFamily="2" charset="0"/>
                                  </a:rPr>
                                  <m:t>𝐴</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𝐵</m:t>
                                </m:r>
                              </m:oMath>
                            </m:oMathPara>
                          </a14:m>
                          <a:endParaRPr lang="es-CO" sz="20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r>
                            <a:rPr lang="es-CO" sz="2000" dirty="0">
                              <a:latin typeface="+mn-lt"/>
                              <a:ea typeface="Roboto" panose="02000000000000000000" pitchFamily="2" charset="0"/>
                            </a:rPr>
                            <a:t>Expresión inicial</a:t>
                          </a:r>
                          <a:endParaRPr lang="es-CO" sz="20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43470127"/>
                      </a:ext>
                    </a:extLst>
                  </a:tr>
                  <a:tr h="129954">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Cambria Math" panose="02040503050406030204" pitchFamily="18" charset="0"/>
                                  </a:rPr>
                                  <m:t>2</m:t>
                                </m:r>
                              </m:oMath>
                            </m:oMathPara>
                          </a14:m>
                          <a:endParaRPr lang="es-CO" sz="2000" b="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a14:m>
                            <m:oMathPara xmlns:m="http://schemas.openxmlformats.org/officeDocument/2006/math">
                              <m:oMathParaPr>
                                <m:jc m:val="left"/>
                              </m:oMathParaPr>
                              <m:oMath xmlns:m="http://schemas.openxmlformats.org/officeDocument/2006/math">
                                <m:r>
                                  <a:rPr lang="es-MX" sz="2000" i="1" smtClean="0">
                                    <a:latin typeface="Cambria Math" panose="02040503050406030204" pitchFamily="18" charset="0"/>
                                    <a:ea typeface="Cambria Math" panose="02040503050406030204" pitchFamily="18" charset="0"/>
                                  </a:rPr>
                                  <m:t>∀</m:t>
                                </m:r>
                                <m:r>
                                  <a:rPr lang="es-MX" sz="2000" i="1" smtClean="0">
                                    <a:latin typeface="Cambria Math" panose="02040503050406030204" pitchFamily="18" charset="0"/>
                                    <a:ea typeface="Cambria Math" panose="02040503050406030204" pitchFamily="18" charset="0"/>
                                  </a:rPr>
                                  <m:t>𝑥</m:t>
                                </m:r>
                                <m:r>
                                  <a:rPr lang="es-MX" sz="2000" i="1" smtClean="0">
                                    <a:latin typeface="Cambria Math" panose="02040503050406030204" pitchFamily="18" charset="0"/>
                                    <a:ea typeface="Cambria Math" panose="02040503050406030204" pitchFamily="18" charset="0"/>
                                  </a:rPr>
                                  <m:t>(</m:t>
                                </m:r>
                                <m:r>
                                  <a:rPr lang="es-MX" sz="2000" i="1" smtClean="0">
                                    <a:latin typeface="Cambria Math" panose="02040503050406030204" pitchFamily="18" charset="0"/>
                                    <a:ea typeface="Cambria Math" panose="02040503050406030204" pitchFamily="18" charset="0"/>
                                  </a:rPr>
                                  <m:t>𝑥</m:t>
                                </m:r>
                                <m:r>
                                  <a:rPr lang="es-MX" sz="2000" i="1" smtClean="0">
                                    <a:latin typeface="Cambria Math" panose="02040503050406030204" pitchFamily="18" charset="0"/>
                                    <a:ea typeface="Cambria Math" panose="02040503050406030204" pitchFamily="18" charset="0"/>
                                  </a:rPr>
                                  <m:t>∈</m:t>
                                </m:r>
                                <m:r>
                                  <a:rPr lang="es-MX" sz="2000" i="1" smtClean="0">
                                    <a:latin typeface="Cambria Math" panose="02040503050406030204" pitchFamily="18" charset="0"/>
                                    <a:ea typeface="Cambria Math" panose="02040503050406030204" pitchFamily="18" charset="0"/>
                                  </a:rPr>
                                  <m:t>𝐴</m:t>
                                </m:r>
                                <m:r>
                                  <a:rPr lang="es-MX" sz="2000" i="1" smtClean="0">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𝑥</m:t>
                                </m:r>
                                <m:r>
                                  <a:rPr lang="es-MX" sz="2000" i="1">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𝐵</m:t>
                                </m:r>
                                <m:r>
                                  <a:rPr lang="es-MX" sz="2000" i="1">
                                    <a:latin typeface="Cambria Math" panose="02040503050406030204" pitchFamily="18" charset="0"/>
                                    <a:ea typeface="Cambria Math" panose="02040503050406030204" pitchFamily="18" charset="0"/>
                                  </a:rPr>
                                  <m:t>)</m:t>
                                </m:r>
                              </m:oMath>
                            </m:oMathPara>
                          </a14:m>
                          <a:endParaRPr lang="es-CO" sz="20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r>
                            <a:rPr lang="es-CO" sz="2000" b="0" dirty="0">
                              <a:latin typeface="+mn-lt"/>
                              <a:ea typeface="Roboto" panose="02000000000000000000" pitchFamily="2" charset="0"/>
                            </a:rPr>
                            <a:t>Definición de igualdad entre conjuntos.</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7809005"/>
                      </a:ext>
                    </a:extLst>
                  </a:tr>
                  <a:tr h="141649">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Cambria Math" panose="02040503050406030204" pitchFamily="18" charset="0"/>
                                  </a:rPr>
                                  <m:t>3</m:t>
                                </m:r>
                              </m:oMath>
                            </m:oMathPara>
                          </a14:m>
                          <a:endParaRPr lang="es-CO" sz="2000" b="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a14:m>
                            <m:oMathPara xmlns:m="http://schemas.openxmlformats.org/officeDocument/2006/math">
                              <m:oMathParaPr>
                                <m:jc m:val="left"/>
                              </m:oMathParaPr>
                              <m:oMath xmlns:m="http://schemas.openxmlformats.org/officeDocument/2006/math">
                                <m:r>
                                  <a:rPr lang="es-MX" sz="2000" i="1" smtClean="0">
                                    <a:latin typeface="Cambria Math" panose="02040503050406030204" pitchFamily="18" charset="0"/>
                                    <a:ea typeface="Cambria Math" panose="02040503050406030204" pitchFamily="18" charset="0"/>
                                  </a:rPr>
                                  <m:t>∀</m:t>
                                </m:r>
                                <m:r>
                                  <a:rPr lang="es-MX" sz="2000" i="1" smtClean="0">
                                    <a:latin typeface="Cambria Math" panose="02040503050406030204" pitchFamily="18" charset="0"/>
                                    <a:ea typeface="Cambria Math" panose="02040503050406030204" pitchFamily="18" charset="0"/>
                                  </a:rPr>
                                  <m:t>𝑥</m:t>
                                </m:r>
                                <m:d>
                                  <m:dPr>
                                    <m:ctrlPr>
                                      <a:rPr lang="es-MX" sz="2000" i="1">
                                        <a:latin typeface="Cambria Math" panose="02040503050406030204" pitchFamily="18" charset="0"/>
                                        <a:ea typeface="Cambria Math" panose="02040503050406030204" pitchFamily="18" charset="0"/>
                                      </a:rPr>
                                    </m:ctrlPr>
                                  </m:dPr>
                                  <m:e>
                                    <m:d>
                                      <m:dPr>
                                        <m:ctrlPr>
                                          <a:rPr lang="es-MX" sz="2000" b="0" i="1" smtClean="0">
                                            <a:latin typeface="Cambria Math" panose="02040503050406030204" pitchFamily="18" charset="0"/>
                                            <a:ea typeface="Cambria Math" panose="02040503050406030204" pitchFamily="18" charset="0"/>
                                          </a:rPr>
                                        </m:ctrlPr>
                                      </m:dPr>
                                      <m:e>
                                        <m:r>
                                          <a:rPr lang="es-MX" sz="2000" i="1">
                                            <a:latin typeface="Cambria Math" panose="02040503050406030204" pitchFamily="18" charset="0"/>
                                            <a:ea typeface="Cambria Math" panose="02040503050406030204" pitchFamily="18" charset="0"/>
                                          </a:rPr>
                                          <m:t>𝑥</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𝐴</m:t>
                                        </m:r>
                                        <m:r>
                                          <a:rPr lang="es-MX" sz="2000" b="0" i="1" smtClean="0">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𝑥</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𝐵</m:t>
                                        </m:r>
                                      </m:e>
                                    </m:d>
                                    <m:r>
                                      <a:rPr lang="es-MX" sz="2000" i="1" smtClean="0">
                                        <a:latin typeface="Cambria Math" panose="02040503050406030204" pitchFamily="18" charset="0"/>
                                        <a:ea typeface="Cambria Math" panose="02040503050406030204" pitchFamily="18" charset="0"/>
                                      </a:rPr>
                                      <m:t>∧</m:t>
                                    </m:r>
                                    <m:d>
                                      <m:dPr>
                                        <m:ctrlPr>
                                          <a:rPr lang="es-MX" sz="2000" i="1">
                                            <a:latin typeface="Cambria Math" panose="02040503050406030204" pitchFamily="18" charset="0"/>
                                            <a:ea typeface="Cambria Math" panose="02040503050406030204" pitchFamily="18" charset="0"/>
                                          </a:rPr>
                                        </m:ctrlPr>
                                      </m:dPr>
                                      <m:e>
                                        <m:r>
                                          <a:rPr lang="es-MX" sz="2000" i="1">
                                            <a:latin typeface="Cambria Math" panose="02040503050406030204" pitchFamily="18" charset="0"/>
                                            <a:ea typeface="Cambria Math" panose="02040503050406030204" pitchFamily="18" charset="0"/>
                                          </a:rPr>
                                          <m:t>𝑥</m:t>
                                        </m:r>
                                        <m:r>
                                          <a:rPr lang="es-MX" sz="2000" i="1">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𝐵</m:t>
                                        </m:r>
                                        <m:r>
                                          <a:rPr lang="es-MX" sz="2000" b="0" i="1" smtClean="0">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𝑥</m:t>
                                        </m:r>
                                        <m:r>
                                          <a:rPr lang="es-MX" sz="2000" i="1">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𝐴</m:t>
                                        </m:r>
                                      </m:e>
                                    </m:d>
                                  </m:e>
                                </m:d>
                              </m:oMath>
                            </m:oMathPara>
                          </a14:m>
                          <a:endParaRPr lang="es-CO" sz="20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r>
                            <a:rPr lang="es-CO" sz="2000" dirty="0">
                              <a:latin typeface="+mn-lt"/>
                              <a:ea typeface="Roboto" panose="02000000000000000000" pitchFamily="2" charset="0"/>
                            </a:rPr>
                            <a:t>Definición de equivalencia en 2</a:t>
                          </a:r>
                          <a:endParaRPr lang="es-CO" sz="20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4396960"/>
                      </a:ext>
                    </a:extLst>
                  </a:tr>
                  <a:tr h="129954">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Cambria Math" panose="02040503050406030204" pitchFamily="18" charset="0"/>
                                  </a:rPr>
                                  <m:t>4</m:t>
                                </m:r>
                              </m:oMath>
                            </m:oMathPara>
                          </a14:m>
                          <a:endParaRPr lang="es-CO" sz="2000" b="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a14:m>
                            <m:oMathPara xmlns:m="http://schemas.openxmlformats.org/officeDocument/2006/math">
                              <m:oMathParaPr>
                                <m:jc m:val="left"/>
                              </m:oMathParaPr>
                              <m:oMath xmlns:m="http://schemas.openxmlformats.org/officeDocument/2006/math">
                                <m:r>
                                  <a:rPr lang="es-MX" sz="2000" i="1" smtClean="0">
                                    <a:latin typeface="Cambria Math" panose="02040503050406030204" pitchFamily="18" charset="0"/>
                                    <a:ea typeface="Cambria Math" panose="02040503050406030204" pitchFamily="18" charset="0"/>
                                  </a:rPr>
                                  <m:t>∀</m:t>
                                </m:r>
                                <m:r>
                                  <a:rPr lang="es-MX" sz="2000" i="1" smtClean="0">
                                    <a:latin typeface="Cambria Math" panose="02040503050406030204" pitchFamily="18" charset="0"/>
                                    <a:ea typeface="Cambria Math" panose="02040503050406030204" pitchFamily="18" charset="0"/>
                                  </a:rPr>
                                  <m:t>𝑥</m:t>
                                </m:r>
                                <m:d>
                                  <m:dPr>
                                    <m:ctrlPr>
                                      <a:rPr lang="es-MX" sz="2000" i="1">
                                        <a:latin typeface="Cambria Math" panose="02040503050406030204" pitchFamily="18" charset="0"/>
                                        <a:ea typeface="Cambria Math" panose="02040503050406030204" pitchFamily="18" charset="0"/>
                                      </a:rPr>
                                    </m:ctrlPr>
                                  </m:dPr>
                                  <m:e>
                                    <m:r>
                                      <a:rPr lang="es-MX" sz="2000" i="1">
                                        <a:latin typeface="Cambria Math" panose="02040503050406030204" pitchFamily="18" charset="0"/>
                                        <a:ea typeface="Cambria Math" panose="02040503050406030204" pitchFamily="18" charset="0"/>
                                      </a:rPr>
                                      <m:t>𝑥</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𝐴</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𝑥</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𝐵</m:t>
                                    </m:r>
                                  </m:e>
                                </m:d>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𝑥</m:t>
                                </m:r>
                                <m:d>
                                  <m:dPr>
                                    <m:ctrlPr>
                                      <a:rPr lang="es-MX" sz="2000" i="1">
                                        <a:latin typeface="Cambria Math" panose="02040503050406030204" pitchFamily="18" charset="0"/>
                                        <a:ea typeface="Cambria Math" panose="02040503050406030204" pitchFamily="18" charset="0"/>
                                      </a:rPr>
                                    </m:ctrlPr>
                                  </m:dPr>
                                  <m:e>
                                    <m:r>
                                      <a:rPr lang="es-MX" sz="2000" i="1">
                                        <a:latin typeface="Cambria Math" panose="02040503050406030204" pitchFamily="18" charset="0"/>
                                        <a:ea typeface="Cambria Math" panose="02040503050406030204" pitchFamily="18" charset="0"/>
                                      </a:rPr>
                                      <m:t>𝑥</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𝐵</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𝑥</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𝐴</m:t>
                                    </m:r>
                                  </m:e>
                                </m:d>
                              </m:oMath>
                            </m:oMathPara>
                          </a14:m>
                          <a:endParaRPr lang="es-CO" sz="20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r>
                            <a:rPr lang="es-CO" sz="2000" dirty="0">
                              <a:latin typeface="+mn-lt"/>
                              <a:ea typeface="Roboto" panose="02000000000000000000" pitchFamily="2" charset="0"/>
                            </a:rPr>
                            <a:t>Distributividad del cuantificador en 3</a:t>
                          </a:r>
                          <a:endParaRPr lang="es-CO" sz="20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2463555"/>
                      </a:ext>
                    </a:extLst>
                  </a:tr>
                  <a:tr h="129954">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Cambria Math" panose="02040503050406030204" pitchFamily="18" charset="0"/>
                                  </a:rPr>
                                  <m:t>5</m:t>
                                </m:r>
                              </m:oMath>
                            </m:oMathPara>
                          </a14:m>
                          <a:endParaRPr lang="es-CO" sz="2000" b="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d>
                                  <m:dPr>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𝐴</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𝐵</m:t>
                                    </m:r>
                                  </m:e>
                                </m:d>
                                <m:r>
                                  <a:rPr lang="es-MX" sz="2000" i="1">
                                    <a:latin typeface="Cambria Math" panose="02040503050406030204" pitchFamily="18" charset="0"/>
                                    <a:ea typeface="Cambria Math" panose="02040503050406030204" pitchFamily="18" charset="0"/>
                                  </a:rPr>
                                  <m:t>∧</m:t>
                                </m:r>
                                <m:d>
                                  <m:dPr>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𝐵</m:t>
                                    </m:r>
                                    <m:r>
                                      <a:rPr lang="es-MX" sz="2000" i="1">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𝐴</m:t>
                                    </m:r>
                                  </m:e>
                                </m:d>
                              </m:oMath>
                            </m:oMathPara>
                          </a14:m>
                          <a:endParaRPr lang="es-CO" sz="20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r>
                            <a:rPr lang="es-CO" sz="2000" b="0" dirty="0">
                              <a:latin typeface="+mn-lt"/>
                              <a:ea typeface="Roboto" panose="02000000000000000000" pitchFamily="2" charset="0"/>
                            </a:rPr>
                            <a:t>Definición de subconjunto en 4</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34150395"/>
                      </a:ext>
                    </a:extLst>
                  </a:tr>
                </a:tbl>
              </a:graphicData>
            </a:graphic>
          </p:graphicFrame>
        </mc:Choice>
        <mc:Fallback>
          <p:graphicFrame>
            <p:nvGraphicFramePr>
              <p:cNvPr id="17" name="Tabla 2">
                <a:extLst>
                  <a:ext uri="{FF2B5EF4-FFF2-40B4-BE49-F238E27FC236}">
                    <a16:creationId xmlns:a16="http://schemas.microsoft.com/office/drawing/2014/main" id="{2FC4F6BD-7C55-4888-9083-C0712DD6630B}"/>
                  </a:ext>
                </a:extLst>
              </p:cNvPr>
              <p:cNvGraphicFramePr>
                <a:graphicFrameLocks noGrp="1"/>
              </p:cNvGraphicFramePr>
              <p:nvPr>
                <p:extLst>
                  <p:ext uri="{D42A27DB-BD31-4B8C-83A1-F6EECF244321}">
                    <p14:modId xmlns:p14="http://schemas.microsoft.com/office/powerpoint/2010/main" val="2062848449"/>
                  </p:ext>
                </p:extLst>
              </p:nvPr>
            </p:nvGraphicFramePr>
            <p:xfrm>
              <a:off x="2107441" y="2775109"/>
              <a:ext cx="8890183" cy="3026283"/>
            </p:xfrm>
            <a:graphic>
              <a:graphicData uri="http://schemas.openxmlformats.org/drawingml/2006/table">
                <a:tbl>
                  <a:tblPr firstRow="1" bandRow="1">
                    <a:tableStyleId>{AD6A3598-7CB8-4345-8D95-17CE05F158A0}</a:tableStyleId>
                  </a:tblPr>
                  <a:tblGrid>
                    <a:gridCol w="695743">
                      <a:extLst>
                        <a:ext uri="{9D8B030D-6E8A-4147-A177-3AD203B41FA5}">
                          <a16:colId xmlns:a16="http://schemas.microsoft.com/office/drawing/2014/main" val="1610952478"/>
                        </a:ext>
                      </a:extLst>
                    </a:gridCol>
                    <a:gridCol w="4692523">
                      <a:extLst>
                        <a:ext uri="{9D8B030D-6E8A-4147-A177-3AD203B41FA5}">
                          <a16:colId xmlns:a16="http://schemas.microsoft.com/office/drawing/2014/main" val="2942974496"/>
                        </a:ext>
                      </a:extLst>
                    </a:gridCol>
                    <a:gridCol w="3501917">
                      <a:extLst>
                        <a:ext uri="{9D8B030D-6E8A-4147-A177-3AD203B41FA5}">
                          <a16:colId xmlns:a16="http://schemas.microsoft.com/office/drawing/2014/main" val="4281859008"/>
                        </a:ext>
                      </a:extLst>
                    </a:gridCol>
                  </a:tblGrid>
                  <a:tr h="39624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2000" b="1" dirty="0">
                              <a:latin typeface="+mn-lt"/>
                              <a:ea typeface="Roboto" panose="02000000000000000000" pitchFamily="2" charset="0"/>
                            </a:rPr>
                            <a:t>Afirmación</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2000" b="1" dirty="0">
                              <a:latin typeface="+mn-lt"/>
                              <a:ea typeface="Roboto" panose="02000000000000000000" pitchFamily="2" charset="0"/>
                            </a:rPr>
                            <a:t>Razón</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0073712"/>
                      </a:ext>
                    </a:extLst>
                  </a:tr>
                  <a:tr h="396240">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t="-107692" r="-1181579" b="-592308"/>
                          </a:stretch>
                        </a:blipFill>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l="-14786" t="-107692" r="-74708" b="-592308"/>
                          </a:stretch>
                        </a:blipFill>
                      </a:tcPr>
                    </a:tc>
                    <a:tc>
                      <a:txBody>
                        <a:bodyPr/>
                        <a:lstStyle/>
                        <a:p>
                          <a:r>
                            <a:rPr lang="es-CO" sz="2000" dirty="0">
                              <a:latin typeface="+mn-lt"/>
                              <a:ea typeface="Roboto" panose="02000000000000000000" pitchFamily="2" charset="0"/>
                            </a:rPr>
                            <a:t>Expresión inicial</a:t>
                          </a:r>
                          <a:endParaRPr lang="es-CO" sz="20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43470127"/>
                      </a:ext>
                    </a:extLst>
                  </a:tr>
                  <a:tr h="701040">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t="-117391" r="-1181579" b="-234783"/>
                          </a:stretch>
                        </a:blipFill>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l="-14786" t="-117391" r="-74708" b="-234783"/>
                          </a:stretch>
                        </a:blipFill>
                      </a:tcPr>
                    </a:tc>
                    <a:tc>
                      <a:txBody>
                        <a:bodyPr/>
                        <a:lstStyle/>
                        <a:p>
                          <a:r>
                            <a:rPr lang="es-CO" sz="2000" b="0" dirty="0">
                              <a:latin typeface="+mn-lt"/>
                              <a:ea typeface="Roboto" panose="02000000000000000000" pitchFamily="2" charset="0"/>
                            </a:rPr>
                            <a:t>Definición de igualdad entre conjuntos.</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7809005"/>
                      </a:ext>
                    </a:extLst>
                  </a:tr>
                  <a:tr h="435483">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t="-347222" r="-1181579" b="-275000"/>
                          </a:stretch>
                        </a:blipFill>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l="-14786" t="-347222" r="-74708" b="-275000"/>
                          </a:stretch>
                        </a:blipFill>
                      </a:tcPr>
                    </a:tc>
                    <a:tc>
                      <a:txBody>
                        <a:bodyPr/>
                        <a:lstStyle/>
                        <a:p>
                          <a:r>
                            <a:rPr lang="es-CO" sz="2000" dirty="0">
                              <a:latin typeface="+mn-lt"/>
                              <a:ea typeface="Roboto" panose="02000000000000000000" pitchFamily="2" charset="0"/>
                            </a:rPr>
                            <a:t>Definición de equivalencia en 2</a:t>
                          </a:r>
                          <a:endParaRPr lang="es-CO" sz="20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4396960"/>
                      </a:ext>
                    </a:extLst>
                  </a:tr>
                  <a:tr h="701040">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t="-280000" r="-1181579" b="-72174"/>
                          </a:stretch>
                        </a:blipFill>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l="-14786" t="-280000" r="-74708" b="-72174"/>
                          </a:stretch>
                        </a:blipFill>
                      </a:tcPr>
                    </a:tc>
                    <a:tc>
                      <a:txBody>
                        <a:bodyPr/>
                        <a:lstStyle/>
                        <a:p>
                          <a:r>
                            <a:rPr lang="es-CO" sz="2000" dirty="0">
                              <a:latin typeface="+mn-lt"/>
                              <a:ea typeface="Roboto" panose="02000000000000000000" pitchFamily="2" charset="0"/>
                            </a:rPr>
                            <a:t>Distributividad del cuantificador en 3</a:t>
                          </a:r>
                          <a:endParaRPr lang="es-CO" sz="20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2463555"/>
                      </a:ext>
                    </a:extLst>
                  </a:tr>
                  <a:tr h="396240">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t="-672308" r="-1181579" b="-27692"/>
                          </a:stretch>
                        </a:blipFill>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l="-14786" t="-672308" r="-74708" b="-27692"/>
                          </a:stretch>
                        </a:blipFill>
                      </a:tcPr>
                    </a:tc>
                    <a:tc>
                      <a:txBody>
                        <a:bodyPr/>
                        <a:lstStyle/>
                        <a:p>
                          <a:r>
                            <a:rPr lang="es-CO" sz="2000" b="0" dirty="0">
                              <a:latin typeface="+mn-lt"/>
                              <a:ea typeface="Roboto" panose="02000000000000000000" pitchFamily="2" charset="0"/>
                            </a:rPr>
                            <a:t>Definición de subconjunto en 4</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34150395"/>
                      </a:ext>
                    </a:extLst>
                  </a:tr>
                </a:tbl>
              </a:graphicData>
            </a:graphic>
          </p:graphicFrame>
        </mc:Fallback>
      </mc:AlternateContent>
    </p:spTree>
    <p:extLst>
      <p:ext uri="{BB962C8B-B14F-4D97-AF65-F5344CB8AC3E}">
        <p14:creationId xmlns:p14="http://schemas.microsoft.com/office/powerpoint/2010/main" val="22443193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326715" y="314698"/>
            <a:ext cx="11295014" cy="1056902"/>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Relaciones entre conjuntos - En términos de subconjuntos </a:t>
            </a:r>
            <a:endParaRPr dirty="0">
              <a:solidFill>
                <a:schemeClr val="tx1"/>
              </a:solidFill>
              <a:latin typeface="+mj-lt"/>
            </a:endParaRPr>
          </a:p>
        </p:txBody>
      </p:sp>
      <mc:AlternateContent xmlns:mc="http://schemas.openxmlformats.org/markup-compatibility/2006" xmlns:a14="http://schemas.microsoft.com/office/drawing/2010/main">
        <mc:Choice Requires="a14">
          <p:sp>
            <p:nvSpPr>
              <p:cNvPr id="7" name="Google Shape;310;p34">
                <a:extLst>
                  <a:ext uri="{FF2B5EF4-FFF2-40B4-BE49-F238E27FC236}">
                    <a16:creationId xmlns:a16="http://schemas.microsoft.com/office/drawing/2014/main" id="{C1EB8144-8BAC-4290-B469-B1AFD5BDF721}"/>
                  </a:ext>
                </a:extLst>
              </p:cNvPr>
              <p:cNvSpPr txBox="1">
                <a:spLocks/>
              </p:cNvSpPr>
              <p:nvPr/>
            </p:nvSpPr>
            <p:spPr>
              <a:xfrm>
                <a:off x="164482" y="1371600"/>
                <a:ext cx="11700803" cy="88490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200" b="1" dirty="0">
                    <a:latin typeface="+mn-lt"/>
                    <a:ea typeface="Roboto" panose="02000000000000000000" pitchFamily="2" charset="0"/>
                  </a:rPr>
                  <a:t>Ejemplo</a:t>
                </a:r>
                <a:r>
                  <a:rPr lang="es-MX" sz="2200" dirty="0">
                    <a:latin typeface="+mn-lt"/>
                    <a:ea typeface="Roboto" panose="02000000000000000000" pitchFamily="2" charset="0"/>
                  </a:rPr>
                  <a:t>: Aplicando los conceptos de lógica cuantificacional y las definiciones de conjuntos previamente vistas demuestre la equivalencia para la diferencia de la tabla anterior: </a:t>
                </a:r>
                <a14:m>
                  <m:oMath xmlns:m="http://schemas.openxmlformats.org/officeDocument/2006/math">
                    <m:r>
                      <a:rPr lang="es-MX" sz="2200" b="0" i="1" smtClean="0">
                        <a:latin typeface="Cambria Math" panose="02040503050406030204" pitchFamily="18" charset="0"/>
                        <a:ea typeface="Roboto" panose="02000000000000000000" pitchFamily="2" charset="0"/>
                      </a:rPr>
                      <m:t>𝐴</m:t>
                    </m:r>
                    <m:r>
                      <a:rPr lang="es-MX" sz="2200" b="0" i="1" smtClean="0">
                        <a:latin typeface="Cambria Math" panose="02040503050406030204" pitchFamily="18" charset="0"/>
                        <a:ea typeface="Cambria Math" panose="02040503050406030204" pitchFamily="18" charset="0"/>
                      </a:rPr>
                      <m:t>≠</m:t>
                    </m:r>
                    <m:r>
                      <a:rPr lang="es-MX" sz="2200" b="0" i="1" smtClean="0">
                        <a:latin typeface="Cambria Math" panose="02040503050406030204" pitchFamily="18" charset="0"/>
                        <a:ea typeface="Cambria Math" panose="02040503050406030204" pitchFamily="18" charset="0"/>
                      </a:rPr>
                      <m:t>𝐵</m:t>
                    </m:r>
                    <m:r>
                      <a:rPr lang="es-MX" sz="2200" i="1" smtClean="0">
                        <a:latin typeface="Cambria Math" panose="02040503050406030204" pitchFamily="18" charset="0"/>
                        <a:ea typeface="Cambria Math" panose="02040503050406030204" pitchFamily="18" charset="0"/>
                      </a:rPr>
                      <m:t>⇔</m:t>
                    </m:r>
                    <m:d>
                      <m:dPr>
                        <m:ctrlPr>
                          <a:rPr lang="es-MX" sz="2200" b="0" i="1" smtClean="0">
                            <a:latin typeface="Cambria Math" panose="02040503050406030204" pitchFamily="18" charset="0"/>
                            <a:ea typeface="Cambria Math" panose="02040503050406030204" pitchFamily="18" charset="0"/>
                          </a:rPr>
                        </m:ctrlPr>
                      </m:dPr>
                      <m:e>
                        <m:r>
                          <a:rPr lang="es-MX" sz="2200" b="0" i="1" smtClean="0">
                            <a:latin typeface="Cambria Math" panose="02040503050406030204" pitchFamily="18" charset="0"/>
                            <a:ea typeface="Cambria Math" panose="02040503050406030204" pitchFamily="18" charset="0"/>
                          </a:rPr>
                          <m:t>𝐴</m:t>
                        </m:r>
                        <m:r>
                          <a:rPr lang="es-MX" sz="2200" b="0" i="1" smtClean="0">
                            <a:latin typeface="Cambria Math" panose="02040503050406030204" pitchFamily="18" charset="0"/>
                            <a:ea typeface="Cambria Math" panose="02040503050406030204" pitchFamily="18" charset="0"/>
                          </a:rPr>
                          <m:t>⊈</m:t>
                        </m:r>
                        <m:r>
                          <a:rPr lang="es-MX" sz="2200" b="0" i="1" smtClean="0">
                            <a:latin typeface="Cambria Math" panose="02040503050406030204" pitchFamily="18" charset="0"/>
                            <a:ea typeface="Cambria Math" panose="02040503050406030204" pitchFamily="18" charset="0"/>
                          </a:rPr>
                          <m:t>𝐵</m:t>
                        </m:r>
                      </m:e>
                    </m:d>
                    <m:r>
                      <a:rPr lang="es-MX" sz="2200" i="1" smtClean="0">
                        <a:latin typeface="Cambria Math" panose="02040503050406030204" pitchFamily="18" charset="0"/>
                        <a:ea typeface="Cambria Math" panose="02040503050406030204" pitchFamily="18" charset="0"/>
                      </a:rPr>
                      <m:t>∨</m:t>
                    </m:r>
                    <m:d>
                      <m:dPr>
                        <m:ctrlPr>
                          <a:rPr lang="es-MX" sz="2200" b="0" i="1" smtClean="0">
                            <a:latin typeface="Cambria Math" panose="02040503050406030204" pitchFamily="18" charset="0"/>
                            <a:ea typeface="Cambria Math" panose="02040503050406030204" pitchFamily="18" charset="0"/>
                          </a:rPr>
                        </m:ctrlPr>
                      </m:dPr>
                      <m:e>
                        <m:r>
                          <a:rPr lang="es-MX" sz="2200" b="0" i="1" smtClean="0">
                            <a:latin typeface="Cambria Math" panose="02040503050406030204" pitchFamily="18" charset="0"/>
                            <a:ea typeface="Cambria Math" panose="02040503050406030204" pitchFamily="18" charset="0"/>
                          </a:rPr>
                          <m:t>𝐵</m:t>
                        </m:r>
                        <m:r>
                          <a:rPr lang="es-MX" sz="2200" i="1">
                            <a:latin typeface="Cambria Math" panose="02040503050406030204" pitchFamily="18" charset="0"/>
                            <a:ea typeface="Cambria Math" panose="02040503050406030204" pitchFamily="18" charset="0"/>
                          </a:rPr>
                          <m:t>⊈</m:t>
                        </m:r>
                        <m:r>
                          <a:rPr lang="es-MX" sz="2200" b="0" i="1" smtClean="0">
                            <a:latin typeface="Cambria Math" panose="02040503050406030204" pitchFamily="18" charset="0"/>
                            <a:ea typeface="Cambria Math" panose="02040503050406030204" pitchFamily="18" charset="0"/>
                          </a:rPr>
                          <m:t>𝐴</m:t>
                        </m:r>
                      </m:e>
                    </m:d>
                  </m:oMath>
                </a14:m>
                <a:endParaRPr lang="es-CO" sz="2200" dirty="0">
                  <a:latin typeface="+mn-lt"/>
                  <a:ea typeface="Roboto" panose="02000000000000000000" pitchFamily="2" charset="0"/>
                </a:endParaRPr>
              </a:p>
              <a:p>
                <a:pPr marL="127000" indent="0">
                  <a:buNone/>
                </a:pPr>
                <a:endParaRPr lang="es-MX" sz="2200" dirty="0">
                  <a:latin typeface="+mn-lt"/>
                  <a:ea typeface="Roboto" panose="02000000000000000000" pitchFamily="2" charset="0"/>
                </a:endParaRPr>
              </a:p>
              <a:p>
                <a:endParaRPr lang="es-MX" sz="2200" dirty="0">
                  <a:latin typeface="+mn-lt"/>
                  <a:ea typeface="Roboto" panose="02000000000000000000" pitchFamily="2" charset="0"/>
                </a:endParaRPr>
              </a:p>
            </p:txBody>
          </p:sp>
        </mc:Choice>
        <mc:Fallback xmlns="">
          <p:sp>
            <p:nvSpPr>
              <p:cNvPr id="7" name="Google Shape;310;p34">
                <a:extLst>
                  <a:ext uri="{FF2B5EF4-FFF2-40B4-BE49-F238E27FC236}">
                    <a16:creationId xmlns:a16="http://schemas.microsoft.com/office/drawing/2014/main" id="{C1EB8144-8BAC-4290-B469-B1AFD5BDF721}"/>
                  </a:ext>
                </a:extLst>
              </p:cNvPr>
              <p:cNvSpPr txBox="1">
                <a:spLocks noRot="1" noChangeAspect="1" noMove="1" noResize="1" noEditPoints="1" noAdjustHandles="1" noChangeArrowheads="1" noChangeShapeType="1" noTextEdit="1"/>
              </p:cNvSpPr>
              <p:nvPr/>
            </p:nvSpPr>
            <p:spPr>
              <a:xfrm>
                <a:off x="164482" y="1371600"/>
                <a:ext cx="11700803" cy="884903"/>
              </a:xfrm>
              <a:prstGeom prst="rect">
                <a:avLst/>
              </a:prstGeom>
              <a:blipFill>
                <a:blip r:embed="rId3"/>
                <a:stretch>
                  <a:fillRect b="-28966"/>
                </a:stretch>
              </a:blipFill>
              <a:ln>
                <a:noFill/>
              </a:ln>
            </p:spPr>
            <p:txBody>
              <a:bodyPr/>
              <a:lstStyle/>
              <a:p>
                <a:r>
                  <a:rPr lang="es-CO">
                    <a:noFill/>
                  </a:rPr>
                  <a:t> </a:t>
                </a:r>
              </a:p>
            </p:txBody>
          </p:sp>
        </mc:Fallback>
      </mc:AlternateContent>
      <mc:AlternateContent xmlns:mc="http://schemas.openxmlformats.org/markup-compatibility/2006">
        <mc:Choice xmlns:a14="http://schemas.microsoft.com/office/drawing/2010/main" Requires="a14">
          <p:graphicFrame>
            <p:nvGraphicFramePr>
              <p:cNvPr id="23" name="Tabla 2">
                <a:extLst>
                  <a:ext uri="{FF2B5EF4-FFF2-40B4-BE49-F238E27FC236}">
                    <a16:creationId xmlns:a16="http://schemas.microsoft.com/office/drawing/2014/main" id="{4BB1EDB8-E36D-4F1E-89E6-B340B123F9F7}"/>
                  </a:ext>
                </a:extLst>
              </p:cNvPr>
              <p:cNvGraphicFramePr>
                <a:graphicFrameLocks noGrp="1"/>
              </p:cNvGraphicFramePr>
              <p:nvPr>
                <p:extLst>
                  <p:ext uri="{D42A27DB-BD31-4B8C-83A1-F6EECF244321}">
                    <p14:modId xmlns:p14="http://schemas.microsoft.com/office/powerpoint/2010/main" val="267366864"/>
                  </p:ext>
                </p:extLst>
              </p:nvPr>
            </p:nvGraphicFramePr>
            <p:xfrm>
              <a:off x="1582299" y="2966944"/>
              <a:ext cx="9414136" cy="3269107"/>
            </p:xfrm>
            <a:graphic>
              <a:graphicData uri="http://schemas.openxmlformats.org/drawingml/2006/table">
                <a:tbl>
                  <a:tblPr firstRow="1" bandRow="1">
                    <a:tableStyleId>{AD6A3598-7CB8-4345-8D95-17CE05F158A0}</a:tableStyleId>
                  </a:tblPr>
                  <a:tblGrid>
                    <a:gridCol w="750578">
                      <a:extLst>
                        <a:ext uri="{9D8B030D-6E8A-4147-A177-3AD203B41FA5}">
                          <a16:colId xmlns:a16="http://schemas.microsoft.com/office/drawing/2014/main" val="1610952478"/>
                        </a:ext>
                      </a:extLst>
                    </a:gridCol>
                    <a:gridCol w="5086985">
                      <a:extLst>
                        <a:ext uri="{9D8B030D-6E8A-4147-A177-3AD203B41FA5}">
                          <a16:colId xmlns:a16="http://schemas.microsoft.com/office/drawing/2014/main" val="2942974496"/>
                        </a:ext>
                      </a:extLst>
                    </a:gridCol>
                    <a:gridCol w="3576573">
                      <a:extLst>
                        <a:ext uri="{9D8B030D-6E8A-4147-A177-3AD203B41FA5}">
                          <a16:colId xmlns:a16="http://schemas.microsoft.com/office/drawing/2014/main" val="4281859008"/>
                        </a:ext>
                      </a:extLst>
                    </a:gridCol>
                  </a:tblGrid>
                  <a:tr h="250901">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2000" b="1" dirty="0">
                              <a:latin typeface="+mn-lt"/>
                              <a:ea typeface="Roboto" panose="02000000000000000000" pitchFamily="2" charset="0"/>
                            </a:rPr>
                            <a:t>Afirmación</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2000" b="1" dirty="0">
                              <a:latin typeface="+mn-lt"/>
                              <a:ea typeface="Roboto" panose="02000000000000000000" pitchFamily="2" charset="0"/>
                            </a:rPr>
                            <a:t>Razón</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0073712"/>
                      </a:ext>
                    </a:extLst>
                  </a:tr>
                  <a:tr h="225811">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Cambria Math" panose="02040503050406030204" pitchFamily="18" charset="0"/>
                                  </a:rPr>
                                  <m:t>1</m:t>
                                </m:r>
                              </m:oMath>
                            </m:oMathPara>
                          </a14:m>
                          <a:endParaRPr lang="es-CO" sz="2000" b="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a14:m>
                            <m:oMathPara xmlns:m="http://schemas.openxmlformats.org/officeDocument/2006/math">
                              <m:oMathParaPr>
                                <m:jc m:val="left"/>
                              </m:oMathParaPr>
                              <m:oMath xmlns:m="http://schemas.openxmlformats.org/officeDocument/2006/math">
                                <m:r>
                                  <a:rPr lang="es-MX" sz="2000" b="0" i="1" smtClean="0">
                                    <a:latin typeface="Cambria Math" panose="02040503050406030204" pitchFamily="18" charset="0"/>
                                    <a:ea typeface="Roboto" panose="02000000000000000000" pitchFamily="2" charset="0"/>
                                  </a:rPr>
                                  <m:t>𝐴</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𝐵</m:t>
                                </m:r>
                              </m:oMath>
                            </m:oMathPara>
                          </a14:m>
                          <a:endParaRPr lang="es-CO" sz="200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r>
                            <a:rPr lang="es-CO" sz="2000" dirty="0">
                              <a:latin typeface="+mn-lt"/>
                              <a:ea typeface="Roboto" panose="02000000000000000000" pitchFamily="2" charset="0"/>
                            </a:rPr>
                            <a:t>Expresión inicial</a:t>
                          </a:r>
                          <a:endParaRPr lang="es-CO" sz="20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43470127"/>
                      </a:ext>
                    </a:extLst>
                  </a:tr>
                  <a:tr h="225811">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Cambria Math" panose="02040503050406030204" pitchFamily="18" charset="0"/>
                                  </a:rPr>
                                  <m:t>2</m:t>
                                </m:r>
                              </m:oMath>
                            </m:oMathPara>
                          </a14:m>
                          <a:endParaRPr lang="es-CO" sz="2000" b="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a14:m>
                            <m:oMathPara xmlns:m="http://schemas.openxmlformats.org/officeDocument/2006/math">
                              <m:oMathParaPr>
                                <m:jc m:val="left"/>
                              </m:oMathParaPr>
                              <m:oMath xmlns:m="http://schemas.openxmlformats.org/officeDocument/2006/math">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𝐴</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𝐵</m:t>
                                </m:r>
                                <m:r>
                                  <a:rPr lang="es-MX" sz="2000" b="0" i="1" smtClean="0">
                                    <a:latin typeface="Cambria Math" panose="02040503050406030204" pitchFamily="18" charset="0"/>
                                    <a:ea typeface="Cambria Math" panose="02040503050406030204" pitchFamily="18" charset="0"/>
                                  </a:rPr>
                                  <m:t>)</m:t>
                                </m:r>
                              </m:oMath>
                            </m:oMathPara>
                          </a14:m>
                          <a:endParaRPr lang="es-CO" sz="200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r>
                            <a:rPr lang="es-CO" sz="2000" b="0" dirty="0">
                              <a:latin typeface="+mn-lt"/>
                              <a:ea typeface="Roboto" panose="02000000000000000000" pitchFamily="2" charset="0"/>
                            </a:rPr>
                            <a:t>Premisa 1 en términos de la igualdad</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7809005"/>
                      </a:ext>
                    </a:extLst>
                  </a:tr>
                  <a:tr h="300611">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Cambria Math" panose="02040503050406030204" pitchFamily="18" charset="0"/>
                                  </a:rPr>
                                  <m:t>3</m:t>
                                </m:r>
                              </m:oMath>
                            </m:oMathPara>
                          </a14:m>
                          <a:endParaRPr lang="es-CO" sz="2000" b="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a14:m>
                            <m:oMathPara xmlns:m="http://schemas.openxmlformats.org/officeDocument/2006/math">
                              <m:oMathParaPr>
                                <m:jc m:val="left"/>
                              </m:oMathParaPr>
                              <m:oMath xmlns:m="http://schemas.openxmlformats.org/officeDocument/2006/math">
                                <m:r>
                                  <a:rPr lang="es-MX" sz="2000" b="0" i="1" smtClean="0">
                                    <a:latin typeface="Cambria Math" panose="02040503050406030204" pitchFamily="18" charset="0"/>
                                    <a:ea typeface="Cambria Math" panose="02040503050406030204" pitchFamily="18" charset="0"/>
                                  </a:rPr>
                                  <m:t>¬</m:t>
                                </m:r>
                                <m:d>
                                  <m:dPr>
                                    <m:ctrlPr>
                                      <a:rPr lang="es-MX" sz="2000" b="0" i="1" smtClean="0">
                                        <a:latin typeface="Cambria Math" panose="02040503050406030204" pitchFamily="18" charset="0"/>
                                        <a:ea typeface="Cambria Math" panose="02040503050406030204" pitchFamily="18" charset="0"/>
                                      </a:rPr>
                                    </m:ctrlPr>
                                  </m:dPr>
                                  <m:e>
                                    <m:r>
                                      <a:rPr lang="es-MX" sz="2000" i="1" smtClean="0">
                                        <a:latin typeface="Cambria Math" panose="02040503050406030204" pitchFamily="18" charset="0"/>
                                        <a:ea typeface="Cambria Math" panose="02040503050406030204" pitchFamily="18" charset="0"/>
                                      </a:rPr>
                                      <m:t>∀</m:t>
                                    </m:r>
                                    <m:r>
                                      <a:rPr lang="es-MX" sz="2000" i="1" smtClean="0">
                                        <a:latin typeface="Cambria Math" panose="02040503050406030204" pitchFamily="18" charset="0"/>
                                        <a:ea typeface="Cambria Math" panose="02040503050406030204" pitchFamily="18" charset="0"/>
                                      </a:rPr>
                                      <m:t>𝑥</m:t>
                                    </m:r>
                                    <m:d>
                                      <m:dPr>
                                        <m:ctrlPr>
                                          <a:rPr lang="es-MX" sz="2000" i="1">
                                            <a:latin typeface="Cambria Math" panose="02040503050406030204" pitchFamily="18" charset="0"/>
                                            <a:ea typeface="Cambria Math" panose="02040503050406030204" pitchFamily="18" charset="0"/>
                                          </a:rPr>
                                        </m:ctrlPr>
                                      </m:dPr>
                                      <m:e>
                                        <m:d>
                                          <m:dPr>
                                            <m:ctrlPr>
                                              <a:rPr lang="es-MX" sz="2000" b="0" i="1" smtClean="0">
                                                <a:latin typeface="Cambria Math" panose="02040503050406030204" pitchFamily="18" charset="0"/>
                                                <a:ea typeface="Cambria Math" panose="02040503050406030204" pitchFamily="18" charset="0"/>
                                              </a:rPr>
                                            </m:ctrlPr>
                                          </m:dPr>
                                          <m:e>
                                            <m:r>
                                              <a:rPr lang="es-MX" sz="2000" i="1">
                                                <a:latin typeface="Cambria Math" panose="02040503050406030204" pitchFamily="18" charset="0"/>
                                                <a:ea typeface="Cambria Math" panose="02040503050406030204" pitchFamily="18" charset="0"/>
                                              </a:rPr>
                                              <m:t>𝑥</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𝐴</m:t>
                                            </m:r>
                                            <m:r>
                                              <a:rPr lang="es-MX" sz="2000" b="0" i="1" smtClean="0">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𝑥</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𝐵</m:t>
                                            </m:r>
                                          </m:e>
                                        </m:d>
                                        <m:r>
                                          <a:rPr lang="es-MX" sz="2000" i="1" smtClean="0">
                                            <a:latin typeface="Cambria Math" panose="02040503050406030204" pitchFamily="18" charset="0"/>
                                            <a:ea typeface="Cambria Math" panose="02040503050406030204" pitchFamily="18" charset="0"/>
                                          </a:rPr>
                                          <m:t>∧</m:t>
                                        </m:r>
                                        <m:d>
                                          <m:dPr>
                                            <m:ctrlPr>
                                              <a:rPr lang="es-MX" sz="2000" i="1">
                                                <a:latin typeface="Cambria Math" panose="02040503050406030204" pitchFamily="18" charset="0"/>
                                                <a:ea typeface="Cambria Math" panose="02040503050406030204" pitchFamily="18" charset="0"/>
                                              </a:rPr>
                                            </m:ctrlPr>
                                          </m:dPr>
                                          <m:e>
                                            <m:r>
                                              <a:rPr lang="es-MX" sz="2000" i="1">
                                                <a:latin typeface="Cambria Math" panose="02040503050406030204" pitchFamily="18" charset="0"/>
                                                <a:ea typeface="Cambria Math" panose="02040503050406030204" pitchFamily="18" charset="0"/>
                                              </a:rPr>
                                              <m:t>𝑥</m:t>
                                            </m:r>
                                            <m:r>
                                              <a:rPr lang="es-MX" sz="2000" i="1">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𝐵</m:t>
                                            </m:r>
                                            <m:r>
                                              <a:rPr lang="es-MX" sz="2000" b="0" i="1" smtClean="0">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𝑥</m:t>
                                            </m:r>
                                            <m:r>
                                              <a:rPr lang="es-MX" sz="2000" i="1">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𝐴</m:t>
                                            </m:r>
                                          </m:e>
                                        </m:d>
                                      </m:e>
                                    </m:d>
                                  </m:e>
                                </m:d>
                              </m:oMath>
                            </m:oMathPara>
                          </a14:m>
                          <a:endParaRPr lang="es-CO" sz="200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r>
                            <a:rPr lang="es-CO" sz="2000" dirty="0">
                              <a:latin typeface="+mn-lt"/>
                              <a:ea typeface="Roboto" panose="02000000000000000000" pitchFamily="2" charset="0"/>
                            </a:rPr>
                            <a:t>Definición de igualdad en 2</a:t>
                          </a:r>
                          <a:endParaRPr lang="es-CO" sz="20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4396960"/>
                      </a:ext>
                    </a:extLst>
                  </a:tr>
                  <a:tr h="245204">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Cambria Math" panose="02040503050406030204" pitchFamily="18" charset="0"/>
                                  </a:rPr>
                                  <m:t>4</m:t>
                                </m:r>
                              </m:oMath>
                            </m:oMathPara>
                          </a14:m>
                          <a:endParaRPr lang="es-CO" sz="2000" b="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a14:m>
                            <m:oMathPara xmlns:m="http://schemas.openxmlformats.org/officeDocument/2006/math">
                              <m:oMathParaPr>
                                <m:jc m:val="left"/>
                              </m:oMathParaPr>
                              <m:oMath xmlns:m="http://schemas.openxmlformats.org/officeDocument/2006/math">
                                <m:r>
                                  <a:rPr lang="es-MX" sz="2000" b="0" i="1" smtClean="0">
                                    <a:latin typeface="Cambria Math" panose="02040503050406030204" pitchFamily="18" charset="0"/>
                                    <a:ea typeface="Cambria Math" panose="02040503050406030204" pitchFamily="18" charset="0"/>
                                  </a:rPr>
                                  <m:t>¬</m:t>
                                </m:r>
                                <m:d>
                                  <m:dPr>
                                    <m:ctrlPr>
                                      <a:rPr lang="es-MX" sz="2000" b="0" i="1" smtClean="0">
                                        <a:latin typeface="Cambria Math" panose="02040503050406030204" pitchFamily="18" charset="0"/>
                                        <a:ea typeface="Cambria Math" panose="02040503050406030204" pitchFamily="18" charset="0"/>
                                      </a:rPr>
                                    </m:ctrlPr>
                                  </m:dPr>
                                  <m:e>
                                    <m:d>
                                      <m:dPr>
                                        <m:ctrlPr>
                                          <a:rPr lang="es-MX" sz="2000" i="1" smtClean="0">
                                            <a:latin typeface="Cambria Math" panose="02040503050406030204" pitchFamily="18" charset="0"/>
                                            <a:ea typeface="Cambria Math" panose="02040503050406030204" pitchFamily="18" charset="0"/>
                                          </a:rPr>
                                        </m:ctrlPr>
                                      </m:dPr>
                                      <m:e>
                                        <m:r>
                                          <a:rPr lang="es-MX" sz="2000" i="1">
                                            <a:latin typeface="Cambria Math" panose="02040503050406030204" pitchFamily="18" charset="0"/>
                                            <a:ea typeface="Cambria Math" panose="02040503050406030204" pitchFamily="18" charset="0"/>
                                          </a:rPr>
                                          <m:t>𝐴</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𝐵</m:t>
                                        </m:r>
                                      </m:e>
                                    </m:d>
                                    <m:r>
                                      <a:rPr lang="es-MX" sz="2000" i="1">
                                        <a:latin typeface="Cambria Math" panose="02040503050406030204" pitchFamily="18" charset="0"/>
                                        <a:ea typeface="Cambria Math" panose="02040503050406030204" pitchFamily="18" charset="0"/>
                                      </a:rPr>
                                      <m:t>∧</m:t>
                                    </m:r>
                                    <m:d>
                                      <m:dPr>
                                        <m:ctrlPr>
                                          <a:rPr lang="es-MX" sz="2000" i="1" smtClean="0">
                                            <a:latin typeface="Cambria Math" panose="02040503050406030204" pitchFamily="18" charset="0"/>
                                            <a:ea typeface="Cambria Math" panose="02040503050406030204" pitchFamily="18" charset="0"/>
                                          </a:rPr>
                                        </m:ctrlPr>
                                      </m:dPr>
                                      <m:e>
                                        <m:r>
                                          <a:rPr lang="es-MX" sz="2000" i="1">
                                            <a:latin typeface="Cambria Math" panose="02040503050406030204" pitchFamily="18" charset="0"/>
                                            <a:ea typeface="Cambria Math" panose="02040503050406030204" pitchFamily="18" charset="0"/>
                                          </a:rPr>
                                          <m:t>𝐵</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𝐴</m:t>
                                        </m:r>
                                      </m:e>
                                    </m:d>
                                  </m:e>
                                </m:d>
                              </m:oMath>
                            </m:oMathPara>
                          </a14:m>
                          <a:endParaRPr lang="es-CO" sz="200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r>
                            <a:rPr lang="es-CO" sz="2000" dirty="0">
                              <a:latin typeface="+mn-lt"/>
                              <a:ea typeface="Roboto" panose="02000000000000000000" pitchFamily="2" charset="0"/>
                            </a:rPr>
                            <a:t>Definición de subconjunto en 3</a:t>
                          </a:r>
                          <a:endParaRPr lang="es-CO" sz="20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2463555"/>
                      </a:ext>
                    </a:extLst>
                  </a:tr>
                  <a:tr h="225811">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Cambria Math" panose="02040503050406030204" pitchFamily="18" charset="0"/>
                                  </a:rPr>
                                  <m:t>5</m:t>
                                </m:r>
                              </m:oMath>
                            </m:oMathPara>
                          </a14:m>
                          <a:endParaRPr lang="es-CO" sz="2000" b="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2000" b="0" i="1" smtClean="0">
                                    <a:latin typeface="Cambria Math" panose="02040503050406030204" pitchFamily="18" charset="0"/>
                                    <a:ea typeface="Cambria Math" panose="02040503050406030204" pitchFamily="18" charset="0"/>
                                  </a:rPr>
                                  <m:t>¬</m:t>
                                </m:r>
                                <m:d>
                                  <m:dPr>
                                    <m:ctrlPr>
                                      <a:rPr lang="es-MX" sz="2000" i="1" smtClean="0">
                                        <a:latin typeface="Cambria Math" panose="02040503050406030204" pitchFamily="18" charset="0"/>
                                        <a:ea typeface="Cambria Math" panose="02040503050406030204" pitchFamily="18" charset="0"/>
                                      </a:rPr>
                                    </m:ctrlPr>
                                  </m:dPr>
                                  <m:e>
                                    <m:r>
                                      <a:rPr lang="es-MX" sz="2000" i="1">
                                        <a:latin typeface="Cambria Math" panose="02040503050406030204" pitchFamily="18" charset="0"/>
                                        <a:ea typeface="Cambria Math" panose="02040503050406030204" pitchFamily="18" charset="0"/>
                                      </a:rPr>
                                      <m:t>𝐴</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𝐵</m:t>
                                    </m:r>
                                  </m:e>
                                </m:d>
                                <m:r>
                                  <a:rPr lang="es-MX" sz="200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m:t>
                                </m:r>
                                <m:d>
                                  <m:dPr>
                                    <m:ctrlPr>
                                      <a:rPr lang="es-MX" sz="2000" i="1" smtClean="0">
                                        <a:latin typeface="Cambria Math" panose="02040503050406030204" pitchFamily="18" charset="0"/>
                                        <a:ea typeface="Cambria Math" panose="02040503050406030204" pitchFamily="18" charset="0"/>
                                      </a:rPr>
                                    </m:ctrlPr>
                                  </m:dPr>
                                  <m:e>
                                    <m:r>
                                      <a:rPr lang="es-MX" sz="2000" i="1">
                                        <a:latin typeface="Cambria Math" panose="02040503050406030204" pitchFamily="18" charset="0"/>
                                        <a:ea typeface="Cambria Math" panose="02040503050406030204" pitchFamily="18" charset="0"/>
                                      </a:rPr>
                                      <m:t>𝐵</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𝐴</m:t>
                                    </m:r>
                                  </m:e>
                                </m:d>
                              </m:oMath>
                            </m:oMathPara>
                          </a14:m>
                          <a:endParaRPr lang="es-CO" sz="200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r>
                            <a:rPr lang="es-CO" sz="2000" b="0" dirty="0">
                              <a:latin typeface="+mn-lt"/>
                              <a:ea typeface="Roboto" panose="02000000000000000000" pitchFamily="2" charset="0"/>
                            </a:rPr>
                            <a:t>Ley de Morgan en 4</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34150395"/>
                      </a:ext>
                    </a:extLst>
                  </a:tr>
                  <a:tr h="225811">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Cambria Math" panose="02040503050406030204" pitchFamily="18" charset="0"/>
                                  </a:rPr>
                                  <m:t>6</m:t>
                                </m:r>
                              </m:oMath>
                            </m:oMathPara>
                          </a14:m>
                          <a:endParaRPr lang="es-CO" sz="2000" b="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d>
                                  <m:dPr>
                                    <m:ctrlPr>
                                      <a:rPr lang="es-MX" sz="2000" i="1" smtClean="0">
                                        <a:latin typeface="Cambria Math" panose="02040503050406030204" pitchFamily="18" charset="0"/>
                                        <a:ea typeface="Cambria Math" panose="02040503050406030204" pitchFamily="18" charset="0"/>
                                      </a:rPr>
                                    </m:ctrlPr>
                                  </m:dPr>
                                  <m:e>
                                    <m:r>
                                      <a:rPr lang="es-MX" sz="2000" i="1">
                                        <a:latin typeface="Cambria Math" panose="02040503050406030204" pitchFamily="18" charset="0"/>
                                        <a:ea typeface="Cambria Math" panose="02040503050406030204" pitchFamily="18" charset="0"/>
                                      </a:rPr>
                                      <m:t>𝐴</m:t>
                                    </m:r>
                                    <m:r>
                                      <a:rPr lang="es-MX" sz="2000" i="1" smtClean="0">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𝐵</m:t>
                                    </m:r>
                                  </m:e>
                                </m:d>
                                <m:r>
                                  <a:rPr lang="es-MX" sz="2000" i="1" smtClean="0">
                                    <a:latin typeface="Cambria Math" panose="02040503050406030204" pitchFamily="18" charset="0"/>
                                    <a:ea typeface="Cambria Math" panose="02040503050406030204" pitchFamily="18" charset="0"/>
                                  </a:rPr>
                                  <m:t>∨</m:t>
                                </m:r>
                                <m:d>
                                  <m:dPr>
                                    <m:ctrlPr>
                                      <a:rPr lang="es-MX" sz="2000" i="1" smtClean="0">
                                        <a:latin typeface="Cambria Math" panose="02040503050406030204" pitchFamily="18" charset="0"/>
                                        <a:ea typeface="Cambria Math" panose="02040503050406030204" pitchFamily="18" charset="0"/>
                                      </a:rPr>
                                    </m:ctrlPr>
                                  </m:dPr>
                                  <m:e>
                                    <m:r>
                                      <a:rPr lang="es-MX" sz="2000" i="1">
                                        <a:latin typeface="Cambria Math" panose="02040503050406030204" pitchFamily="18" charset="0"/>
                                        <a:ea typeface="Cambria Math" panose="02040503050406030204" pitchFamily="18" charset="0"/>
                                      </a:rPr>
                                      <m:t>𝐵</m:t>
                                    </m:r>
                                    <m:r>
                                      <a:rPr lang="es-MX" sz="2000" i="1" smtClean="0">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𝐴</m:t>
                                    </m:r>
                                  </m:e>
                                </m:d>
                              </m:oMath>
                            </m:oMathPara>
                          </a14:m>
                          <a:endParaRPr lang="es-CO" sz="200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r>
                            <a:rPr lang="es-CO" sz="2000" b="0" dirty="0">
                              <a:latin typeface="+mn-lt"/>
                              <a:ea typeface="Roboto" panose="02000000000000000000" pitchFamily="2" charset="0"/>
                            </a:rPr>
                            <a:t>Negación en 5</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99207181"/>
                      </a:ext>
                    </a:extLst>
                  </a:tr>
                </a:tbl>
              </a:graphicData>
            </a:graphic>
          </p:graphicFrame>
        </mc:Choice>
        <mc:Fallback>
          <p:graphicFrame>
            <p:nvGraphicFramePr>
              <p:cNvPr id="23" name="Tabla 2">
                <a:extLst>
                  <a:ext uri="{FF2B5EF4-FFF2-40B4-BE49-F238E27FC236}">
                    <a16:creationId xmlns:a16="http://schemas.microsoft.com/office/drawing/2014/main" id="{4BB1EDB8-E36D-4F1E-89E6-B340B123F9F7}"/>
                  </a:ext>
                </a:extLst>
              </p:cNvPr>
              <p:cNvGraphicFramePr>
                <a:graphicFrameLocks noGrp="1"/>
              </p:cNvGraphicFramePr>
              <p:nvPr>
                <p:extLst>
                  <p:ext uri="{D42A27DB-BD31-4B8C-83A1-F6EECF244321}">
                    <p14:modId xmlns:p14="http://schemas.microsoft.com/office/powerpoint/2010/main" val="267366864"/>
                  </p:ext>
                </p:extLst>
              </p:nvPr>
            </p:nvGraphicFramePr>
            <p:xfrm>
              <a:off x="1582299" y="2966944"/>
              <a:ext cx="9414136" cy="3269107"/>
            </p:xfrm>
            <a:graphic>
              <a:graphicData uri="http://schemas.openxmlformats.org/drawingml/2006/table">
                <a:tbl>
                  <a:tblPr firstRow="1" bandRow="1">
                    <a:tableStyleId>{AD6A3598-7CB8-4345-8D95-17CE05F158A0}</a:tableStyleId>
                  </a:tblPr>
                  <a:tblGrid>
                    <a:gridCol w="750578">
                      <a:extLst>
                        <a:ext uri="{9D8B030D-6E8A-4147-A177-3AD203B41FA5}">
                          <a16:colId xmlns:a16="http://schemas.microsoft.com/office/drawing/2014/main" val="1610952478"/>
                        </a:ext>
                      </a:extLst>
                    </a:gridCol>
                    <a:gridCol w="5086985">
                      <a:extLst>
                        <a:ext uri="{9D8B030D-6E8A-4147-A177-3AD203B41FA5}">
                          <a16:colId xmlns:a16="http://schemas.microsoft.com/office/drawing/2014/main" val="2942974496"/>
                        </a:ext>
                      </a:extLst>
                    </a:gridCol>
                    <a:gridCol w="3576573">
                      <a:extLst>
                        <a:ext uri="{9D8B030D-6E8A-4147-A177-3AD203B41FA5}">
                          <a16:colId xmlns:a16="http://schemas.microsoft.com/office/drawing/2014/main" val="4281859008"/>
                        </a:ext>
                      </a:extLst>
                    </a:gridCol>
                  </a:tblGrid>
                  <a:tr h="39624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2000" b="1" dirty="0">
                              <a:latin typeface="+mn-lt"/>
                              <a:ea typeface="Roboto" panose="02000000000000000000" pitchFamily="2" charset="0"/>
                            </a:rPr>
                            <a:t>Afirmación</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2000" b="1" dirty="0">
                              <a:latin typeface="+mn-lt"/>
                              <a:ea typeface="Roboto" panose="02000000000000000000" pitchFamily="2" charset="0"/>
                            </a:rPr>
                            <a:t>Razón</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0073712"/>
                      </a:ext>
                    </a:extLst>
                  </a:tr>
                  <a:tr h="396240">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t="-107692" r="-1156911" b="-653846"/>
                          </a:stretch>
                        </a:blipFill>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l="-14731" t="-107692" r="-70419" b="-653846"/>
                          </a:stretch>
                        </a:blipFill>
                      </a:tcPr>
                    </a:tc>
                    <a:tc>
                      <a:txBody>
                        <a:bodyPr/>
                        <a:lstStyle/>
                        <a:p>
                          <a:r>
                            <a:rPr lang="es-CO" sz="2000" dirty="0">
                              <a:latin typeface="+mn-lt"/>
                              <a:ea typeface="Roboto" panose="02000000000000000000" pitchFamily="2" charset="0"/>
                            </a:rPr>
                            <a:t>Expresión inicial</a:t>
                          </a:r>
                          <a:endParaRPr lang="es-CO" sz="20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43470127"/>
                      </a:ext>
                    </a:extLst>
                  </a:tr>
                  <a:tr h="701040">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t="-117391" r="-1156911" b="-269565"/>
                          </a:stretch>
                        </a:blipFill>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l="-14731" t="-117391" r="-70419" b="-269565"/>
                          </a:stretch>
                        </a:blipFill>
                      </a:tcPr>
                    </a:tc>
                    <a:tc>
                      <a:txBody>
                        <a:bodyPr/>
                        <a:lstStyle/>
                        <a:p>
                          <a:r>
                            <a:rPr lang="es-CO" sz="2000" b="0" dirty="0">
                              <a:latin typeface="+mn-lt"/>
                              <a:ea typeface="Roboto" panose="02000000000000000000" pitchFamily="2" charset="0"/>
                            </a:rPr>
                            <a:t>Premisa 1 en términos de la igualdad</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7809005"/>
                      </a:ext>
                    </a:extLst>
                  </a:tr>
                  <a:tr h="547624">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t="-277778" r="-1156911" b="-244444"/>
                          </a:stretch>
                        </a:blipFill>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l="-14731" t="-277778" r="-70419" b="-244444"/>
                          </a:stretch>
                        </a:blipFill>
                      </a:tcPr>
                    </a:tc>
                    <a:tc>
                      <a:txBody>
                        <a:bodyPr/>
                        <a:lstStyle/>
                        <a:p>
                          <a:r>
                            <a:rPr lang="es-CO" sz="2000" dirty="0">
                              <a:latin typeface="+mn-lt"/>
                              <a:ea typeface="Roboto" panose="02000000000000000000" pitchFamily="2" charset="0"/>
                            </a:rPr>
                            <a:t>Definición de igualdad en 2</a:t>
                          </a:r>
                          <a:endParaRPr lang="es-CO" sz="20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4396960"/>
                      </a:ext>
                    </a:extLst>
                  </a:tr>
                  <a:tr h="435483">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t="-472222" r="-1156911" b="-205556"/>
                          </a:stretch>
                        </a:blipFill>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l="-14731" t="-472222" r="-70419" b="-205556"/>
                          </a:stretch>
                        </a:blipFill>
                      </a:tcPr>
                    </a:tc>
                    <a:tc>
                      <a:txBody>
                        <a:bodyPr/>
                        <a:lstStyle/>
                        <a:p>
                          <a:r>
                            <a:rPr lang="es-CO" sz="2000" dirty="0">
                              <a:latin typeface="+mn-lt"/>
                              <a:ea typeface="Roboto" panose="02000000000000000000" pitchFamily="2" charset="0"/>
                            </a:rPr>
                            <a:t>Definición de subconjunto en 3</a:t>
                          </a:r>
                          <a:endParaRPr lang="es-CO" sz="20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2463555"/>
                      </a:ext>
                    </a:extLst>
                  </a:tr>
                  <a:tr h="396240">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t="-633846" r="-1156911" b="-127692"/>
                          </a:stretch>
                        </a:blipFill>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l="-14731" t="-633846" r="-70419" b="-127692"/>
                          </a:stretch>
                        </a:blipFill>
                      </a:tcPr>
                    </a:tc>
                    <a:tc>
                      <a:txBody>
                        <a:bodyPr/>
                        <a:lstStyle/>
                        <a:p>
                          <a:r>
                            <a:rPr lang="es-CO" sz="2000" b="0" dirty="0">
                              <a:latin typeface="+mn-lt"/>
                              <a:ea typeface="Roboto" panose="02000000000000000000" pitchFamily="2" charset="0"/>
                            </a:rPr>
                            <a:t>Ley de Morgan en 4</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34150395"/>
                      </a:ext>
                    </a:extLst>
                  </a:tr>
                  <a:tr h="396240">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t="-733846" r="-1156911" b="-27692"/>
                          </a:stretch>
                        </a:blipFill>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l="-14731" t="-733846" r="-70419" b="-27692"/>
                          </a:stretch>
                        </a:blipFill>
                      </a:tcPr>
                    </a:tc>
                    <a:tc>
                      <a:txBody>
                        <a:bodyPr/>
                        <a:lstStyle/>
                        <a:p>
                          <a:r>
                            <a:rPr lang="es-CO" sz="2000" b="0" dirty="0">
                              <a:latin typeface="+mn-lt"/>
                              <a:ea typeface="Roboto" panose="02000000000000000000" pitchFamily="2" charset="0"/>
                            </a:rPr>
                            <a:t>Negación en 5</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99207181"/>
                      </a:ext>
                    </a:extLst>
                  </a:tr>
                </a:tbl>
              </a:graphicData>
            </a:graphic>
          </p:graphicFrame>
        </mc:Fallback>
      </mc:AlternateContent>
    </p:spTree>
    <p:extLst>
      <p:ext uri="{BB962C8B-B14F-4D97-AF65-F5344CB8AC3E}">
        <p14:creationId xmlns:p14="http://schemas.microsoft.com/office/powerpoint/2010/main" val="33822656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427703" y="96038"/>
            <a:ext cx="11503742"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Relaciones entre conjuntos – Conjuntos disyuntos</a:t>
            </a:r>
            <a:endParaRPr dirty="0">
              <a:solidFill>
                <a:schemeClr val="tx1"/>
              </a:solidFill>
              <a:latin typeface="+mj-lt"/>
            </a:endParaRPr>
          </a:p>
        </p:txBody>
      </p:sp>
      <mc:AlternateContent xmlns:mc="http://schemas.openxmlformats.org/markup-compatibility/2006" xmlns:a14="http://schemas.microsoft.com/office/drawing/2010/main">
        <mc:Choice Requires="a14">
          <p:sp>
            <p:nvSpPr>
              <p:cNvPr id="7" name="Google Shape;310;p34">
                <a:extLst>
                  <a:ext uri="{FF2B5EF4-FFF2-40B4-BE49-F238E27FC236}">
                    <a16:creationId xmlns:a16="http://schemas.microsoft.com/office/drawing/2014/main" id="{C1EB8144-8BAC-4290-B469-B1AFD5BDF721}"/>
                  </a:ext>
                </a:extLst>
              </p:cNvPr>
              <p:cNvSpPr txBox="1">
                <a:spLocks/>
              </p:cNvSpPr>
              <p:nvPr/>
            </p:nvSpPr>
            <p:spPr>
              <a:xfrm>
                <a:off x="231059" y="927552"/>
                <a:ext cx="11287431" cy="296889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200" dirty="0">
                    <a:latin typeface="+mn-lt"/>
                    <a:ea typeface="Roboto" panose="02000000000000000000" pitchFamily="2" charset="0"/>
                  </a:rPr>
                  <a:t>Dos conjuntos </a:t>
                </a:r>
                <a14:m>
                  <m:oMath xmlns:m="http://schemas.openxmlformats.org/officeDocument/2006/math">
                    <m:r>
                      <a:rPr lang="es-MX" sz="2200" i="1">
                        <a:latin typeface="Cambria Math" panose="02040503050406030204" pitchFamily="18" charset="0"/>
                        <a:ea typeface="Roboto" panose="02000000000000000000" pitchFamily="2" charset="0"/>
                      </a:rPr>
                      <m:t>𝐴</m:t>
                    </m:r>
                  </m:oMath>
                </a14:m>
                <a:r>
                  <a:rPr lang="es-MX" sz="2200" dirty="0">
                    <a:latin typeface="+mn-lt"/>
                    <a:ea typeface="Roboto" panose="02000000000000000000" pitchFamily="2" charset="0"/>
                  </a:rPr>
                  <a:t> y </a:t>
                </a:r>
                <a14:m>
                  <m:oMath xmlns:m="http://schemas.openxmlformats.org/officeDocument/2006/math">
                    <m:r>
                      <a:rPr lang="es-MX" sz="2200" b="0" i="1" smtClean="0">
                        <a:latin typeface="Cambria Math" panose="02040503050406030204" pitchFamily="18" charset="0"/>
                        <a:ea typeface="Roboto" panose="02000000000000000000" pitchFamily="2" charset="0"/>
                      </a:rPr>
                      <m:t>𝐵</m:t>
                    </m:r>
                  </m:oMath>
                </a14:m>
                <a:r>
                  <a:rPr lang="es-MX" sz="2200" dirty="0">
                    <a:latin typeface="+mn-lt"/>
                    <a:ea typeface="Roboto" panose="02000000000000000000" pitchFamily="2" charset="0"/>
                  </a:rPr>
                  <a:t> son disyuntos si no tienen ningún elemento en común. En otras palabras, no existe un elemento que pertenezca a </a:t>
                </a:r>
                <a14:m>
                  <m:oMath xmlns:m="http://schemas.openxmlformats.org/officeDocument/2006/math">
                    <m:r>
                      <a:rPr lang="es-MX" sz="2200" i="1">
                        <a:latin typeface="Cambria Math" panose="02040503050406030204" pitchFamily="18" charset="0"/>
                        <a:ea typeface="Roboto" panose="02000000000000000000" pitchFamily="2" charset="0"/>
                      </a:rPr>
                      <m:t>𝐴</m:t>
                    </m:r>
                  </m:oMath>
                </a14:m>
                <a:r>
                  <a:rPr lang="es-MX" sz="2200" dirty="0">
                    <a:latin typeface="+mn-lt"/>
                    <a:ea typeface="Roboto" panose="02000000000000000000" pitchFamily="2" charset="0"/>
                  </a:rPr>
                  <a:t> y a </a:t>
                </a:r>
                <a14:m>
                  <m:oMath xmlns:m="http://schemas.openxmlformats.org/officeDocument/2006/math">
                    <m:r>
                      <a:rPr lang="es-MX" sz="2200" b="0" i="1" smtClean="0">
                        <a:latin typeface="Cambria Math" panose="02040503050406030204" pitchFamily="18" charset="0"/>
                        <a:ea typeface="Roboto" panose="02000000000000000000" pitchFamily="2" charset="0"/>
                      </a:rPr>
                      <m:t>𝐵</m:t>
                    </m:r>
                  </m:oMath>
                </a14:m>
                <a:r>
                  <a:rPr lang="es-MX" sz="2200" dirty="0">
                    <a:latin typeface="+mn-lt"/>
                    <a:ea typeface="Roboto" panose="02000000000000000000" pitchFamily="2" charset="0"/>
                  </a:rPr>
                  <a:t> al mismo tiempo. Es decir:</a:t>
                </a:r>
              </a:p>
              <a:p>
                <a:pPr marL="127000" indent="0">
                  <a:buNone/>
                </a:pPr>
                <a:endParaRPr lang="es-MX" sz="2200" dirty="0">
                  <a:latin typeface="+mn-lt"/>
                  <a:ea typeface="Roboto" panose="02000000000000000000" pitchFamily="2" charset="0"/>
                </a:endParaRPr>
              </a:p>
              <a:p>
                <a:pPr marL="127000" indent="0">
                  <a:buNone/>
                </a:pPr>
                <a:endParaRPr lang="es-MX" sz="2200" dirty="0">
                  <a:latin typeface="+mn-lt"/>
                  <a:ea typeface="Roboto" panose="02000000000000000000" pitchFamily="2" charset="0"/>
                </a:endParaRPr>
              </a:p>
              <a:p>
                <a:pPr marL="584200" lvl="1" indent="0">
                  <a:buNone/>
                </a:pPr>
                <a14:m>
                  <m:oMathPara xmlns:m="http://schemas.openxmlformats.org/officeDocument/2006/math">
                    <m:oMathParaPr>
                      <m:jc m:val="left"/>
                    </m:oMathParaPr>
                    <m:oMath xmlns:m="http://schemas.openxmlformats.org/officeDocument/2006/math">
                      <m:r>
                        <a:rPr lang="es-MX" b="0" i="1" smtClean="0">
                          <a:latin typeface="Cambria Math" panose="02040503050406030204" pitchFamily="18" charset="0"/>
                          <a:ea typeface="Roboto" panose="02000000000000000000" pitchFamily="2" charset="0"/>
                        </a:rPr>
                        <m:t>𝐴</m:t>
                      </m:r>
                      <m:r>
                        <a:rPr lang="es-MX" b="0" i="1" smtClean="0">
                          <a:latin typeface="Cambria Math" panose="02040503050406030204" pitchFamily="18" charset="0"/>
                          <a:ea typeface="Cambria Math" panose="02040503050406030204" pitchFamily="18" charset="0"/>
                        </a:rPr>
                        <m:t>∩</m:t>
                      </m:r>
                      <m:r>
                        <a:rPr lang="es-MX" b="0" i="1" smtClean="0">
                          <a:latin typeface="Cambria Math" panose="02040503050406030204" pitchFamily="18" charset="0"/>
                          <a:ea typeface="Cambria Math" panose="02040503050406030204" pitchFamily="18" charset="0"/>
                        </a:rPr>
                        <m:t>𝐵</m:t>
                      </m:r>
                      <m:r>
                        <a:rPr lang="es-MX" b="0" i="1" smtClean="0">
                          <a:latin typeface="Cambria Math" panose="02040503050406030204" pitchFamily="18" charset="0"/>
                          <a:ea typeface="Cambria Math" panose="02040503050406030204" pitchFamily="18" charset="0"/>
                        </a:rPr>
                        <m:t>=∅⇔∀</m:t>
                      </m:r>
                      <m:r>
                        <a:rPr lang="es-MX" i="1">
                          <a:latin typeface="Cambria Math" panose="02040503050406030204" pitchFamily="18" charset="0"/>
                          <a:ea typeface="Cambria Math" panose="02040503050406030204" pitchFamily="18" charset="0"/>
                        </a:rPr>
                        <m:t>𝑥</m:t>
                      </m:r>
                      <m:r>
                        <a:rPr lang="es-MX" i="1">
                          <a:latin typeface="Cambria Math" panose="02040503050406030204" pitchFamily="18" charset="0"/>
                          <a:ea typeface="Cambria Math" panose="02040503050406030204" pitchFamily="18" charset="0"/>
                        </a:rPr>
                        <m:t> (</m:t>
                      </m:r>
                      <m:r>
                        <a:rPr lang="es-MX" i="1">
                          <a:latin typeface="Cambria Math" panose="02040503050406030204" pitchFamily="18" charset="0"/>
                          <a:ea typeface="Cambria Math" panose="02040503050406030204" pitchFamily="18" charset="0"/>
                        </a:rPr>
                        <m:t>𝑥</m:t>
                      </m:r>
                      <m:r>
                        <a:rPr lang="es-MX" i="1">
                          <a:latin typeface="Cambria Math" panose="02040503050406030204" pitchFamily="18" charset="0"/>
                          <a:ea typeface="Cambria Math" panose="02040503050406030204" pitchFamily="18" charset="0"/>
                        </a:rPr>
                        <m:t>∈</m:t>
                      </m:r>
                      <m:r>
                        <a:rPr lang="es-MX" i="1">
                          <a:latin typeface="Cambria Math" panose="02040503050406030204" pitchFamily="18" charset="0"/>
                          <a:ea typeface="Cambria Math" panose="02040503050406030204" pitchFamily="18" charset="0"/>
                        </a:rPr>
                        <m:t>𝐴</m:t>
                      </m:r>
                      <m:r>
                        <a:rPr lang="es-MX" i="1">
                          <a:latin typeface="Cambria Math" panose="02040503050406030204" pitchFamily="18" charset="0"/>
                          <a:ea typeface="Cambria Math" panose="02040503050406030204" pitchFamily="18" charset="0"/>
                        </a:rPr>
                        <m:t>→</m:t>
                      </m:r>
                      <m:r>
                        <a:rPr lang="es-MX" i="1">
                          <a:latin typeface="Cambria Math" panose="02040503050406030204" pitchFamily="18" charset="0"/>
                          <a:ea typeface="Cambria Math" panose="02040503050406030204" pitchFamily="18" charset="0"/>
                        </a:rPr>
                        <m:t>𝑥</m:t>
                      </m:r>
                      <m:r>
                        <a:rPr lang="es-MX" b="0" i="1" smtClean="0">
                          <a:latin typeface="Cambria Math" panose="02040503050406030204" pitchFamily="18" charset="0"/>
                          <a:ea typeface="Cambria Math" panose="02040503050406030204" pitchFamily="18" charset="0"/>
                        </a:rPr>
                        <m:t>∉</m:t>
                      </m:r>
                      <m:r>
                        <a:rPr lang="es-MX" i="1">
                          <a:latin typeface="Cambria Math" panose="02040503050406030204" pitchFamily="18" charset="0"/>
                          <a:ea typeface="Cambria Math" panose="02040503050406030204" pitchFamily="18" charset="0"/>
                        </a:rPr>
                        <m:t>𝐵</m:t>
                      </m:r>
                      <m:r>
                        <a:rPr lang="es-MX" i="1">
                          <a:latin typeface="Cambria Math" panose="02040503050406030204" pitchFamily="18" charset="0"/>
                          <a:ea typeface="Cambria Math" panose="02040503050406030204" pitchFamily="18" charset="0"/>
                        </a:rPr>
                        <m:t>)</m:t>
                      </m:r>
                    </m:oMath>
                  </m:oMathPara>
                </a14:m>
                <a:endParaRPr lang="es-MX" dirty="0">
                  <a:latin typeface="+mn-lt"/>
                  <a:ea typeface="Roboto" panose="02000000000000000000" pitchFamily="2" charset="0"/>
                </a:endParaRPr>
              </a:p>
              <a:p>
                <a:pPr marL="127000" indent="0">
                  <a:buNone/>
                </a:pPr>
                <a:endParaRPr lang="es-MX" sz="2200" dirty="0">
                  <a:latin typeface="+mn-lt"/>
                  <a:ea typeface="Cambria Math" panose="02040503050406030204" pitchFamily="18" charset="0"/>
                </a:endParaRPr>
              </a:p>
              <a:p>
                <a:pPr marL="127000" indent="0">
                  <a:buNone/>
                </a:pPr>
                <a:endParaRPr lang="es-MX" sz="2200" b="0" dirty="0">
                  <a:latin typeface="+mn-lt"/>
                  <a:ea typeface="Cambria Math" panose="02040503050406030204" pitchFamily="18" charset="0"/>
                </a:endParaRPr>
              </a:p>
              <a:p>
                <a:pPr marL="127000" indent="0">
                  <a:buNone/>
                </a:pPr>
                <a:r>
                  <a:rPr lang="es-MX" sz="2200" b="1" dirty="0">
                    <a:latin typeface="+mn-lt"/>
                    <a:ea typeface="Cambria Math" panose="02040503050406030204" pitchFamily="18" charset="0"/>
                  </a:rPr>
                  <a:t>Ejemplo</a:t>
                </a:r>
                <a:r>
                  <a:rPr lang="es-MX" sz="2200" dirty="0">
                    <a:latin typeface="+mn-lt"/>
                    <a:ea typeface="Cambria Math" panose="02040503050406030204" pitchFamily="18" charset="0"/>
                  </a:rPr>
                  <a:t>: Dados los conjuntos </a:t>
                </a:r>
                <a14:m>
                  <m:oMath xmlns:m="http://schemas.openxmlformats.org/officeDocument/2006/math">
                    <m:r>
                      <a:rPr lang="es-MX" sz="2200" b="0" i="1" smtClean="0">
                        <a:latin typeface="Cambria Math" panose="02040503050406030204" pitchFamily="18" charset="0"/>
                        <a:ea typeface="Cambria Math" panose="02040503050406030204" pitchFamily="18" charset="0"/>
                      </a:rPr>
                      <m:t>𝐴</m:t>
                    </m:r>
                    <m:r>
                      <a:rPr lang="es-MX" sz="2200" b="0" i="1" smtClean="0">
                        <a:latin typeface="Cambria Math" panose="02040503050406030204" pitchFamily="18" charset="0"/>
                        <a:ea typeface="Cambria Math" panose="02040503050406030204" pitchFamily="18" charset="0"/>
                      </a:rPr>
                      <m:t>={2, 3, 4}</m:t>
                    </m:r>
                  </m:oMath>
                </a14:m>
                <a:r>
                  <a:rPr lang="es-MX" sz="2200" b="0" dirty="0">
                    <a:latin typeface="+mn-lt"/>
                    <a:ea typeface="Cambria Math" panose="02040503050406030204" pitchFamily="18" charset="0"/>
                  </a:rPr>
                  <a:t>, </a:t>
                </a:r>
                <a14:m>
                  <m:oMath xmlns:m="http://schemas.openxmlformats.org/officeDocument/2006/math">
                    <m:r>
                      <a:rPr lang="es-MX" sz="2200" b="0" i="1" smtClean="0">
                        <a:latin typeface="Cambria Math" panose="02040503050406030204" pitchFamily="18" charset="0"/>
                        <a:ea typeface="Cambria Math" panose="02040503050406030204" pitchFamily="18" charset="0"/>
                      </a:rPr>
                      <m:t>𝐵</m:t>
                    </m:r>
                    <m:r>
                      <a:rPr lang="es-MX" sz="2200" i="1">
                        <a:latin typeface="Cambria Math" panose="02040503050406030204" pitchFamily="18" charset="0"/>
                        <a:ea typeface="Cambria Math" panose="02040503050406030204" pitchFamily="18" charset="0"/>
                      </a:rPr>
                      <m:t>={</m:t>
                    </m:r>
                    <m:r>
                      <a:rPr lang="es-MX" sz="2200" b="0" i="1" smtClean="0">
                        <a:latin typeface="Cambria Math" panose="02040503050406030204" pitchFamily="18" charset="0"/>
                        <a:ea typeface="Cambria Math" panose="02040503050406030204" pitchFamily="18" charset="0"/>
                      </a:rPr>
                      <m:t>5</m:t>
                    </m:r>
                    <m:r>
                      <a:rPr lang="es-MX" sz="2200" i="1">
                        <a:latin typeface="Cambria Math" panose="02040503050406030204" pitchFamily="18" charset="0"/>
                        <a:ea typeface="Cambria Math" panose="02040503050406030204" pitchFamily="18" charset="0"/>
                      </a:rPr>
                      <m:t>, </m:t>
                    </m:r>
                    <m:r>
                      <a:rPr lang="es-MX" sz="2200" b="0" i="1" smtClean="0">
                        <a:latin typeface="Cambria Math" panose="02040503050406030204" pitchFamily="18" charset="0"/>
                        <a:ea typeface="Cambria Math" panose="02040503050406030204" pitchFamily="18" charset="0"/>
                      </a:rPr>
                      <m:t>6</m:t>
                    </m:r>
                    <m:r>
                      <a:rPr lang="es-MX" sz="2200" i="1">
                        <a:latin typeface="Cambria Math" panose="02040503050406030204" pitchFamily="18" charset="0"/>
                        <a:ea typeface="Cambria Math" panose="02040503050406030204" pitchFamily="18" charset="0"/>
                      </a:rPr>
                      <m:t>, </m:t>
                    </m:r>
                    <m:r>
                      <a:rPr lang="es-MX" sz="2200" b="0" i="1" smtClean="0">
                        <a:latin typeface="Cambria Math" panose="02040503050406030204" pitchFamily="18" charset="0"/>
                        <a:ea typeface="Cambria Math" panose="02040503050406030204" pitchFamily="18" charset="0"/>
                      </a:rPr>
                      <m:t>7</m:t>
                    </m:r>
                    <m:r>
                      <a:rPr lang="es-MX" sz="2200" i="1">
                        <a:latin typeface="Cambria Math" panose="02040503050406030204" pitchFamily="18" charset="0"/>
                        <a:ea typeface="Cambria Math" panose="02040503050406030204" pitchFamily="18" charset="0"/>
                      </a:rPr>
                      <m:t>}</m:t>
                    </m:r>
                  </m:oMath>
                </a14:m>
                <a:r>
                  <a:rPr lang="es-MX" sz="2200" b="0" dirty="0">
                    <a:latin typeface="+mn-lt"/>
                    <a:ea typeface="Cambria Math" panose="02040503050406030204" pitchFamily="18" charset="0"/>
                  </a:rPr>
                  <a:t> y </a:t>
                </a:r>
                <a14:m>
                  <m:oMath xmlns:m="http://schemas.openxmlformats.org/officeDocument/2006/math">
                    <m:r>
                      <a:rPr lang="es-MX" sz="2200" b="0" i="1" smtClean="0">
                        <a:latin typeface="Cambria Math" panose="02040503050406030204" pitchFamily="18" charset="0"/>
                        <a:ea typeface="Cambria Math" panose="02040503050406030204" pitchFamily="18" charset="0"/>
                      </a:rPr>
                      <m:t>𝐶</m:t>
                    </m:r>
                    <m:r>
                      <a:rPr lang="es-MX" sz="2200" i="1">
                        <a:latin typeface="Cambria Math" panose="02040503050406030204" pitchFamily="18" charset="0"/>
                        <a:ea typeface="Cambria Math" panose="02040503050406030204" pitchFamily="18" charset="0"/>
                      </a:rPr>
                      <m:t>={</m:t>
                    </m:r>
                    <m:r>
                      <a:rPr lang="es-MX" sz="2200" b="0" i="1" smtClean="0">
                        <a:latin typeface="Cambria Math" panose="02040503050406030204" pitchFamily="18" charset="0"/>
                        <a:ea typeface="Cambria Math" panose="02040503050406030204" pitchFamily="18" charset="0"/>
                      </a:rPr>
                      <m:t>6</m:t>
                    </m:r>
                    <m:r>
                      <a:rPr lang="es-MX" sz="2200" i="1">
                        <a:latin typeface="Cambria Math" panose="02040503050406030204" pitchFamily="18" charset="0"/>
                        <a:ea typeface="Cambria Math" panose="02040503050406030204" pitchFamily="18" charset="0"/>
                      </a:rPr>
                      <m:t>, 7</m:t>
                    </m:r>
                    <m:r>
                      <a:rPr lang="es-MX" sz="2200" b="0" i="1" smtClean="0">
                        <a:latin typeface="Cambria Math" panose="02040503050406030204" pitchFamily="18" charset="0"/>
                        <a:ea typeface="Cambria Math" panose="02040503050406030204" pitchFamily="18" charset="0"/>
                      </a:rPr>
                      <m:t>,8</m:t>
                    </m:r>
                    <m:r>
                      <a:rPr lang="es-MX" sz="2200" i="1">
                        <a:latin typeface="Cambria Math" panose="02040503050406030204" pitchFamily="18" charset="0"/>
                        <a:ea typeface="Cambria Math" panose="02040503050406030204" pitchFamily="18" charset="0"/>
                      </a:rPr>
                      <m:t>}</m:t>
                    </m:r>
                  </m:oMath>
                </a14:m>
                <a:r>
                  <a:rPr lang="es-MX" sz="2200" b="0" dirty="0">
                    <a:latin typeface="+mn-lt"/>
                    <a:ea typeface="Cambria Math" panose="02040503050406030204" pitchFamily="18" charset="0"/>
                  </a:rPr>
                  <a:t>. ¿Cuáles son disyuntos?</a:t>
                </a:r>
              </a:p>
            </p:txBody>
          </p:sp>
        </mc:Choice>
        <mc:Fallback xmlns="">
          <p:sp>
            <p:nvSpPr>
              <p:cNvPr id="7" name="Google Shape;310;p34">
                <a:extLst>
                  <a:ext uri="{FF2B5EF4-FFF2-40B4-BE49-F238E27FC236}">
                    <a16:creationId xmlns:a16="http://schemas.microsoft.com/office/drawing/2014/main" id="{C1EB8144-8BAC-4290-B469-B1AFD5BDF721}"/>
                  </a:ext>
                </a:extLst>
              </p:cNvPr>
              <p:cNvSpPr txBox="1">
                <a:spLocks noRot="1" noChangeAspect="1" noMove="1" noResize="1" noEditPoints="1" noAdjustHandles="1" noChangeArrowheads="1" noChangeShapeType="1" noTextEdit="1"/>
              </p:cNvSpPr>
              <p:nvPr/>
            </p:nvSpPr>
            <p:spPr>
              <a:xfrm>
                <a:off x="231059" y="927552"/>
                <a:ext cx="11287431" cy="2968892"/>
              </a:xfrm>
              <a:prstGeom prst="rect">
                <a:avLst/>
              </a:prstGeom>
              <a:blipFill>
                <a:blip r:embed="rId3"/>
                <a:stretch>
                  <a:fillRect r="-1188" b="-14374"/>
                </a:stretch>
              </a:blipFill>
              <a:ln>
                <a:noFill/>
              </a:ln>
            </p:spPr>
            <p:txBody>
              <a:bodyPr/>
              <a:lstStyle/>
              <a:p>
                <a:r>
                  <a:rPr lang="es-CO">
                    <a:noFill/>
                  </a:rPr>
                  <a:t> </a:t>
                </a:r>
              </a:p>
            </p:txBody>
          </p:sp>
        </mc:Fallback>
      </mc:AlternateContent>
      <p:pic>
        <p:nvPicPr>
          <p:cNvPr id="3" name="Imagen 2">
            <a:extLst>
              <a:ext uri="{FF2B5EF4-FFF2-40B4-BE49-F238E27FC236}">
                <a16:creationId xmlns:a16="http://schemas.microsoft.com/office/drawing/2014/main" id="{F5D2D6C1-C7D3-46C1-89B2-0EB3A77053A8}"/>
              </a:ext>
            </a:extLst>
          </p:cNvPr>
          <p:cNvPicPr>
            <a:picLocks noChangeAspect="1"/>
          </p:cNvPicPr>
          <p:nvPr/>
        </p:nvPicPr>
        <p:blipFill>
          <a:blip r:embed="rId4"/>
          <a:stretch>
            <a:fillRect/>
          </a:stretch>
        </p:blipFill>
        <p:spPr>
          <a:xfrm>
            <a:off x="6799006" y="1759068"/>
            <a:ext cx="3498086" cy="1898533"/>
          </a:xfrm>
          <a:prstGeom prst="rect">
            <a:avLst/>
          </a:prstGeom>
        </p:spPr>
      </p:pic>
    </p:spTree>
    <p:extLst>
      <p:ext uri="{BB962C8B-B14F-4D97-AF65-F5344CB8AC3E}">
        <p14:creationId xmlns:p14="http://schemas.microsoft.com/office/powerpoint/2010/main" val="21196232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78E8DF2-7986-4872-8459-F68D43B26317}"/>
              </a:ext>
            </a:extLst>
          </p:cNvPr>
          <p:cNvSpPr>
            <a:spLocks noGrp="1"/>
          </p:cNvSpPr>
          <p:nvPr>
            <p:ph type="title"/>
          </p:nvPr>
        </p:nvSpPr>
        <p:spPr>
          <a:xfrm>
            <a:off x="429953" y="96038"/>
            <a:ext cx="8790697" cy="949500"/>
          </a:xfrm>
        </p:spPr>
        <p:txBody>
          <a:bodyPr/>
          <a:lstStyle/>
          <a:p>
            <a:r>
              <a:rPr lang="es-ES" dirty="0">
                <a:solidFill>
                  <a:schemeClr val="tx1"/>
                </a:solidFill>
                <a:latin typeface="+mj-lt"/>
              </a:rPr>
              <a:t>Tipos de conjuntos - Clasificación</a:t>
            </a:r>
            <a:endParaRPr lang="es-CO" dirty="0">
              <a:solidFill>
                <a:schemeClr val="tx1"/>
              </a:solidFill>
              <a:latin typeface="+mj-lt"/>
            </a:endParaRPr>
          </a:p>
        </p:txBody>
      </p:sp>
      <p:sp>
        <p:nvSpPr>
          <p:cNvPr id="7" name="Google Shape;310;p34">
            <a:extLst>
              <a:ext uri="{FF2B5EF4-FFF2-40B4-BE49-F238E27FC236}">
                <a16:creationId xmlns:a16="http://schemas.microsoft.com/office/drawing/2014/main" id="{6F7568D7-A06A-4828-B1CE-C8CEB5838F7C}"/>
              </a:ext>
            </a:extLst>
          </p:cNvPr>
          <p:cNvSpPr txBox="1">
            <a:spLocks/>
          </p:cNvSpPr>
          <p:nvPr/>
        </p:nvSpPr>
        <p:spPr>
          <a:xfrm>
            <a:off x="294969" y="998213"/>
            <a:ext cx="11253018" cy="492056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r>
              <a:rPr lang="es-MX" sz="2200" dirty="0">
                <a:latin typeface="+mn-lt"/>
                <a:ea typeface="Roboto" panose="02000000000000000000" pitchFamily="2" charset="0"/>
              </a:rPr>
              <a:t>Existen diferentes criterios de clasificación de conjuntos.</a:t>
            </a:r>
          </a:p>
          <a:p>
            <a:r>
              <a:rPr lang="es-MX" sz="2200" dirty="0">
                <a:latin typeface="+mn-lt"/>
                <a:ea typeface="Roboto" panose="02000000000000000000" pitchFamily="2" charset="0"/>
              </a:rPr>
              <a:t>En nuestro caso, los solo vamos a profundiza un poco en algunos tipos de conjuntos los cuales se listan a continuación:</a:t>
            </a:r>
          </a:p>
          <a:p>
            <a:pPr lvl="1"/>
            <a:r>
              <a:rPr lang="es-MX" dirty="0">
                <a:latin typeface="+mn-lt"/>
                <a:ea typeface="Roboto" panose="02000000000000000000" pitchFamily="2" charset="0"/>
              </a:rPr>
              <a:t>Conjunto vacío.</a:t>
            </a:r>
          </a:p>
          <a:p>
            <a:pPr lvl="1"/>
            <a:r>
              <a:rPr lang="es-MX" dirty="0">
                <a:latin typeface="+mn-lt"/>
                <a:ea typeface="Roboto" panose="02000000000000000000" pitchFamily="2" charset="0"/>
              </a:rPr>
              <a:t>Conjunto finito.</a:t>
            </a:r>
          </a:p>
          <a:p>
            <a:pPr lvl="1"/>
            <a:r>
              <a:rPr lang="es-MX" dirty="0">
                <a:latin typeface="+mn-lt"/>
                <a:ea typeface="Roboto" panose="02000000000000000000" pitchFamily="2" charset="0"/>
              </a:rPr>
              <a:t>Conjunto infinito.</a:t>
            </a:r>
          </a:p>
          <a:p>
            <a:pPr lvl="1"/>
            <a:r>
              <a:rPr lang="es-MX" dirty="0">
                <a:latin typeface="+mn-lt"/>
                <a:ea typeface="Roboto" panose="02000000000000000000" pitchFamily="2" charset="0"/>
              </a:rPr>
              <a:t>Conjunto unitario.</a:t>
            </a:r>
          </a:p>
          <a:p>
            <a:pPr lvl="1"/>
            <a:r>
              <a:rPr lang="es-MX" dirty="0">
                <a:latin typeface="+mn-lt"/>
                <a:ea typeface="Roboto" panose="02000000000000000000" pitchFamily="2" charset="0"/>
              </a:rPr>
              <a:t>Conjunto universal.</a:t>
            </a:r>
          </a:p>
          <a:p>
            <a:pPr lvl="1"/>
            <a:r>
              <a:rPr lang="es-MX" dirty="0">
                <a:latin typeface="+mn-lt"/>
                <a:ea typeface="Roboto" panose="02000000000000000000" pitchFamily="2" charset="0"/>
              </a:rPr>
              <a:t>Conjunto homogéneo.</a:t>
            </a:r>
          </a:p>
          <a:p>
            <a:pPr lvl="1"/>
            <a:r>
              <a:rPr lang="es-MX" dirty="0">
                <a:latin typeface="+mn-lt"/>
                <a:ea typeface="Roboto" panose="02000000000000000000" pitchFamily="2" charset="0"/>
              </a:rPr>
              <a:t>Conjunto heterogéneo.</a:t>
            </a:r>
          </a:p>
        </p:txBody>
      </p:sp>
    </p:spTree>
    <p:extLst>
      <p:ext uri="{BB962C8B-B14F-4D97-AF65-F5344CB8AC3E}">
        <p14:creationId xmlns:p14="http://schemas.microsoft.com/office/powerpoint/2010/main" val="9438899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78E8DF2-7986-4872-8459-F68D43B26317}"/>
              </a:ext>
            </a:extLst>
          </p:cNvPr>
          <p:cNvSpPr>
            <a:spLocks noGrp="1"/>
          </p:cNvSpPr>
          <p:nvPr>
            <p:ph type="title"/>
          </p:nvPr>
        </p:nvSpPr>
        <p:spPr>
          <a:xfrm>
            <a:off x="412955" y="96038"/>
            <a:ext cx="8807695" cy="949500"/>
          </a:xfrm>
        </p:spPr>
        <p:txBody>
          <a:bodyPr/>
          <a:lstStyle/>
          <a:p>
            <a:r>
              <a:rPr lang="es-ES" dirty="0">
                <a:solidFill>
                  <a:schemeClr val="tx1"/>
                </a:solidFill>
                <a:latin typeface="+mj-lt"/>
              </a:rPr>
              <a:t>Tipos de conjuntos – Conjunto vacío</a:t>
            </a:r>
            <a:endParaRPr lang="es-CO" dirty="0">
              <a:solidFill>
                <a:schemeClr val="tx1"/>
              </a:solidFill>
              <a:latin typeface="+mj-lt"/>
            </a:endParaRPr>
          </a:p>
        </p:txBody>
      </p:sp>
      <mc:AlternateContent xmlns:mc="http://schemas.openxmlformats.org/markup-compatibility/2006" xmlns:a14="http://schemas.microsoft.com/office/drawing/2010/main">
        <mc:Choice Requires="a14">
          <p:sp>
            <p:nvSpPr>
              <p:cNvPr id="5" name="Google Shape;310;p34">
                <a:extLst>
                  <a:ext uri="{FF2B5EF4-FFF2-40B4-BE49-F238E27FC236}">
                    <a16:creationId xmlns:a16="http://schemas.microsoft.com/office/drawing/2014/main" id="{F102D340-F804-4113-9FEB-9A4128546791}"/>
                  </a:ext>
                </a:extLst>
              </p:cNvPr>
              <p:cNvSpPr txBox="1">
                <a:spLocks/>
              </p:cNvSpPr>
              <p:nvPr/>
            </p:nvSpPr>
            <p:spPr>
              <a:xfrm>
                <a:off x="280219" y="993537"/>
                <a:ext cx="11415251" cy="492056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200" dirty="0">
                    <a:latin typeface="+mn-lt"/>
                    <a:ea typeface="Roboto" panose="02000000000000000000" pitchFamily="2" charset="0"/>
                  </a:rPr>
                  <a:t>El conjunto vacío o nulo, es un conjunto especial que se caracteriza por que no posee ningún elemento.</a:t>
                </a:r>
              </a:p>
              <a:p>
                <a:r>
                  <a:rPr lang="es-MX" sz="2200" dirty="0">
                    <a:latin typeface="+mn-lt"/>
                    <a:ea typeface="Roboto" panose="02000000000000000000" pitchFamily="2" charset="0"/>
                  </a:rPr>
                  <a:t> </a:t>
                </a:r>
                <a:r>
                  <a:rPr lang="es-MX" sz="2200" b="1" dirty="0">
                    <a:latin typeface="+mn-lt"/>
                    <a:ea typeface="Roboto" panose="02000000000000000000" pitchFamily="2" charset="0"/>
                  </a:rPr>
                  <a:t>Notación</a:t>
                </a:r>
                <a:r>
                  <a:rPr lang="es-MX" sz="2200" dirty="0">
                    <a:latin typeface="+mn-lt"/>
                    <a:ea typeface="Roboto" panose="02000000000000000000" pitchFamily="2" charset="0"/>
                  </a:rPr>
                  <a:t>:</a:t>
                </a:r>
              </a:p>
              <a:p>
                <a:endParaRPr lang="es-MX" sz="2200" dirty="0">
                  <a:latin typeface="+mn-lt"/>
                  <a:ea typeface="Roboto" panose="02000000000000000000" pitchFamily="2" charset="0"/>
                </a:endParaRPr>
              </a:p>
              <a:p>
                <a:pPr marL="127000" indent="0">
                  <a:buNone/>
                </a:pPr>
                <a14:m>
                  <m:oMathPara xmlns:m="http://schemas.openxmlformats.org/officeDocument/2006/math">
                    <m:oMathParaPr>
                      <m:jc m:val="centerGroup"/>
                    </m:oMathParaPr>
                    <m:oMath xmlns:m="http://schemas.openxmlformats.org/officeDocument/2006/math">
                      <m:r>
                        <a:rPr lang="es-CO" sz="2200" i="1" smtClean="0">
                          <a:latin typeface="Cambria Math" panose="02040503050406030204" pitchFamily="18" charset="0"/>
                        </a:rPr>
                        <m:t>∅</m:t>
                      </m:r>
                      <m:r>
                        <a:rPr lang="es-MX" sz="2200" b="0" i="1" smtClean="0">
                          <a:latin typeface="Cambria Math" panose="02040503050406030204" pitchFamily="18" charset="0"/>
                          <a:ea typeface="Cambria Math" panose="02040503050406030204" pitchFamily="18" charset="0"/>
                        </a:rPr>
                        <m:t>=</m:t>
                      </m:r>
                      <m:d>
                        <m:dPr>
                          <m:begChr m:val="{"/>
                          <m:endChr m:val="}"/>
                          <m:ctrlPr>
                            <a:rPr lang="es-MX" sz="2200" b="0" i="1" smtClean="0">
                              <a:latin typeface="Cambria Math" panose="02040503050406030204" pitchFamily="18" charset="0"/>
                              <a:ea typeface="Cambria Math" panose="02040503050406030204" pitchFamily="18" charset="0"/>
                            </a:rPr>
                          </m:ctrlPr>
                        </m:dPr>
                        <m:e/>
                      </m:d>
                    </m:oMath>
                  </m:oMathPara>
                </a14:m>
                <a:endParaRPr lang="es-MX" sz="2200" b="0" dirty="0">
                  <a:latin typeface="+mn-lt"/>
                  <a:ea typeface="Cambria Math" panose="02040503050406030204" pitchFamily="18" charset="0"/>
                </a:endParaRPr>
              </a:p>
              <a:p>
                <a:r>
                  <a:rPr lang="es-MX" sz="2200" b="1" dirty="0">
                    <a:latin typeface="+mn-lt"/>
                    <a:ea typeface="Roboto" panose="02000000000000000000" pitchFamily="2" charset="0"/>
                  </a:rPr>
                  <a:t>Definición formal</a:t>
                </a:r>
                <a:r>
                  <a:rPr lang="es-MX" sz="2200" dirty="0">
                    <a:latin typeface="+mn-lt"/>
                    <a:ea typeface="Roboto" panose="02000000000000000000" pitchFamily="2" charset="0"/>
                  </a:rPr>
                  <a:t>:</a:t>
                </a:r>
              </a:p>
              <a:p>
                <a:endParaRPr lang="es-MX" sz="2200" dirty="0">
                  <a:latin typeface="+mn-lt"/>
                  <a:ea typeface="Roboto" panose="02000000000000000000" pitchFamily="2" charset="0"/>
                </a:endParaRPr>
              </a:p>
              <a:p>
                <a:pPr marL="127000" indent="0">
                  <a:buNone/>
                </a:pPr>
                <a14:m>
                  <m:oMathPara xmlns:m="http://schemas.openxmlformats.org/officeDocument/2006/math">
                    <m:oMathParaPr>
                      <m:jc m:val="centerGroup"/>
                    </m:oMathParaPr>
                    <m:oMath xmlns:m="http://schemas.openxmlformats.org/officeDocument/2006/math">
                      <m:r>
                        <a:rPr lang="es-CO" sz="2200" i="1">
                          <a:latin typeface="Cambria Math" panose="02040503050406030204" pitchFamily="18" charset="0"/>
                        </a:rPr>
                        <m:t>∅</m:t>
                      </m:r>
                      <m:r>
                        <a:rPr lang="es-MX" sz="2200" b="0" i="1" smtClean="0">
                          <a:latin typeface="Cambria Math" panose="02040503050406030204" pitchFamily="18" charset="0"/>
                          <a:ea typeface="Cambria Math" panose="02040503050406030204" pitchFamily="18" charset="0"/>
                        </a:rPr>
                        <m:t>=</m:t>
                      </m:r>
                      <m:d>
                        <m:dPr>
                          <m:begChr m:val="{"/>
                          <m:endChr m:val="}"/>
                          <m:ctrlPr>
                            <a:rPr lang="es-MX" sz="2200" b="0" i="1" smtClean="0">
                              <a:latin typeface="Cambria Math" panose="02040503050406030204" pitchFamily="18" charset="0"/>
                              <a:ea typeface="Cambria Math" panose="02040503050406030204" pitchFamily="18" charset="0"/>
                            </a:rPr>
                          </m:ctrlPr>
                        </m:dPr>
                        <m:e>
                          <m:r>
                            <a:rPr lang="es-MX" sz="2200" b="0" i="1" smtClean="0">
                              <a:latin typeface="Cambria Math" panose="02040503050406030204" pitchFamily="18" charset="0"/>
                              <a:ea typeface="Cambria Math" panose="02040503050406030204" pitchFamily="18" charset="0"/>
                            </a:rPr>
                            <m:t>𝑥</m:t>
                          </m:r>
                        </m:e>
                        <m:e>
                          <m:r>
                            <a:rPr lang="es-MX" sz="2200" b="0" i="1" smtClean="0">
                              <a:latin typeface="Cambria Math" panose="02040503050406030204" pitchFamily="18" charset="0"/>
                              <a:ea typeface="Cambria Math" panose="02040503050406030204" pitchFamily="18" charset="0"/>
                            </a:rPr>
                            <m:t>𝑥</m:t>
                          </m:r>
                          <m:r>
                            <a:rPr lang="es-MX" sz="2200" b="0" i="1" smtClean="0">
                              <a:latin typeface="Cambria Math" panose="02040503050406030204" pitchFamily="18" charset="0"/>
                              <a:ea typeface="Cambria Math" panose="02040503050406030204" pitchFamily="18" charset="0"/>
                            </a:rPr>
                            <m:t>∈</m:t>
                          </m:r>
                          <m:r>
                            <a:rPr lang="es-MX" sz="2200" b="0" i="1" smtClean="0">
                              <a:latin typeface="Cambria Math" panose="02040503050406030204" pitchFamily="18" charset="0"/>
                              <a:ea typeface="Cambria Math" panose="02040503050406030204" pitchFamily="18" charset="0"/>
                            </a:rPr>
                            <m:t>𝐴</m:t>
                          </m:r>
                          <m:r>
                            <a:rPr lang="es-MX" sz="2200" b="0" i="1" smtClean="0">
                              <a:latin typeface="Cambria Math" panose="02040503050406030204" pitchFamily="18" charset="0"/>
                              <a:ea typeface="Cambria Math" panose="02040503050406030204" pitchFamily="18" charset="0"/>
                            </a:rPr>
                            <m:t> ∧</m:t>
                          </m:r>
                          <m:r>
                            <a:rPr lang="es-MX" sz="2200" b="0" i="1" smtClean="0">
                              <a:latin typeface="Cambria Math" panose="02040503050406030204" pitchFamily="18" charset="0"/>
                              <a:ea typeface="Cambria Math" panose="02040503050406030204" pitchFamily="18" charset="0"/>
                            </a:rPr>
                            <m:t>𝑥</m:t>
                          </m:r>
                          <m:r>
                            <a:rPr lang="es-MX" sz="2200" b="0" i="1" smtClean="0">
                              <a:latin typeface="Cambria Math" panose="02040503050406030204" pitchFamily="18" charset="0"/>
                              <a:ea typeface="Cambria Math" panose="02040503050406030204" pitchFamily="18" charset="0"/>
                            </a:rPr>
                            <m:t>∉</m:t>
                          </m:r>
                          <m:r>
                            <a:rPr lang="es-MX" sz="2200" b="0" i="1" smtClean="0">
                              <a:latin typeface="Cambria Math" panose="02040503050406030204" pitchFamily="18" charset="0"/>
                              <a:ea typeface="Cambria Math" panose="02040503050406030204" pitchFamily="18" charset="0"/>
                            </a:rPr>
                            <m:t>𝐴</m:t>
                          </m:r>
                        </m:e>
                      </m:d>
                    </m:oMath>
                  </m:oMathPara>
                </a14:m>
                <a:endParaRPr lang="es-MX" sz="2200" b="0" dirty="0">
                  <a:latin typeface="+mn-lt"/>
                  <a:ea typeface="Cambria Math" panose="02040503050406030204" pitchFamily="18" charset="0"/>
                </a:endParaRPr>
              </a:p>
              <a:p>
                <a:endParaRPr lang="es-MX" sz="2200" b="1" dirty="0">
                  <a:latin typeface="+mn-lt"/>
                  <a:ea typeface="Roboto" panose="02000000000000000000" pitchFamily="2" charset="0"/>
                </a:endParaRPr>
              </a:p>
            </p:txBody>
          </p:sp>
        </mc:Choice>
        <mc:Fallback xmlns="">
          <p:sp>
            <p:nvSpPr>
              <p:cNvPr id="5" name="Google Shape;310;p34">
                <a:extLst>
                  <a:ext uri="{FF2B5EF4-FFF2-40B4-BE49-F238E27FC236}">
                    <a16:creationId xmlns:a16="http://schemas.microsoft.com/office/drawing/2014/main" id="{F102D340-F804-4113-9FEB-9A4128546791}"/>
                  </a:ext>
                </a:extLst>
              </p:cNvPr>
              <p:cNvSpPr txBox="1">
                <a:spLocks noRot="1" noChangeAspect="1" noMove="1" noResize="1" noEditPoints="1" noAdjustHandles="1" noChangeArrowheads="1" noChangeShapeType="1" noTextEdit="1"/>
              </p:cNvSpPr>
              <p:nvPr/>
            </p:nvSpPr>
            <p:spPr>
              <a:xfrm>
                <a:off x="280219" y="993537"/>
                <a:ext cx="11415251" cy="4920565"/>
              </a:xfrm>
              <a:prstGeom prst="rect">
                <a:avLst/>
              </a:prstGeom>
              <a:blipFill>
                <a:blip r:embed="rId2"/>
                <a:stretch>
                  <a:fillRect/>
                </a:stretch>
              </a:blipFill>
              <a:ln>
                <a:noFill/>
              </a:ln>
            </p:spPr>
            <p:txBody>
              <a:bodyPr/>
              <a:lstStyle/>
              <a:p>
                <a:r>
                  <a:rPr lang="es-CO">
                    <a:noFill/>
                  </a:rPr>
                  <a:t> </a:t>
                </a:r>
              </a:p>
            </p:txBody>
          </p:sp>
        </mc:Fallback>
      </mc:AlternateContent>
    </p:spTree>
    <p:extLst>
      <p:ext uri="{BB962C8B-B14F-4D97-AF65-F5344CB8AC3E}">
        <p14:creationId xmlns:p14="http://schemas.microsoft.com/office/powerpoint/2010/main" val="235777599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78E8DF2-7986-4872-8459-F68D43B26317}"/>
              </a:ext>
            </a:extLst>
          </p:cNvPr>
          <p:cNvSpPr>
            <a:spLocks noGrp="1"/>
          </p:cNvSpPr>
          <p:nvPr>
            <p:ph type="title"/>
          </p:nvPr>
        </p:nvSpPr>
        <p:spPr>
          <a:xfrm>
            <a:off x="412955" y="96038"/>
            <a:ext cx="8807695" cy="949500"/>
          </a:xfrm>
        </p:spPr>
        <p:txBody>
          <a:bodyPr/>
          <a:lstStyle/>
          <a:p>
            <a:r>
              <a:rPr lang="es-ES" dirty="0">
                <a:solidFill>
                  <a:schemeClr val="tx1"/>
                </a:solidFill>
                <a:latin typeface="+mj-lt"/>
              </a:rPr>
              <a:t>Tipos de conjuntos – Conjunto vacío</a:t>
            </a:r>
            <a:endParaRPr lang="es-CO" dirty="0">
              <a:solidFill>
                <a:schemeClr val="tx1"/>
              </a:solidFill>
              <a:latin typeface="+mj-lt"/>
            </a:endParaRPr>
          </a:p>
        </p:txBody>
      </p:sp>
      <mc:AlternateContent xmlns:mc="http://schemas.openxmlformats.org/markup-compatibility/2006" xmlns:a14="http://schemas.microsoft.com/office/drawing/2010/main">
        <mc:Choice Requires="a14">
          <p:sp>
            <p:nvSpPr>
              <p:cNvPr id="5" name="Google Shape;310;p34">
                <a:extLst>
                  <a:ext uri="{FF2B5EF4-FFF2-40B4-BE49-F238E27FC236}">
                    <a16:creationId xmlns:a16="http://schemas.microsoft.com/office/drawing/2014/main" id="{F102D340-F804-4113-9FEB-9A4128546791}"/>
                  </a:ext>
                </a:extLst>
              </p:cNvPr>
              <p:cNvSpPr txBox="1">
                <a:spLocks/>
              </p:cNvSpPr>
              <p:nvPr/>
            </p:nvSpPr>
            <p:spPr>
              <a:xfrm>
                <a:off x="280219" y="993537"/>
                <a:ext cx="11415251" cy="492056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200" b="1" dirty="0">
                    <a:latin typeface="+mn-lt"/>
                    <a:ea typeface="Roboto" panose="02000000000000000000" pitchFamily="2" charset="0"/>
                  </a:rPr>
                  <a:t>Ejemplos:</a:t>
                </a:r>
              </a:p>
              <a:p>
                <a:r>
                  <a:rPr lang="es-MX" sz="2200" dirty="0">
                    <a:latin typeface="+mn-lt"/>
                    <a:ea typeface="Roboto" panose="02000000000000000000" pitchFamily="2" charset="0"/>
                  </a:rPr>
                  <a:t>Los números naturales menores que cero: </a:t>
                </a:r>
                <a14:m>
                  <m:oMath xmlns:m="http://schemas.openxmlformats.org/officeDocument/2006/math">
                    <m:r>
                      <m:rPr>
                        <m:sty m:val="p"/>
                      </m:rPr>
                      <a:rPr lang="es-MX" sz="2200" b="0" i="0" smtClean="0">
                        <a:latin typeface="Cambria Math" panose="02040503050406030204" pitchFamily="18" charset="0"/>
                        <a:ea typeface="Cambria Math" panose="02040503050406030204" pitchFamily="18" charset="0"/>
                      </a:rPr>
                      <m:t>A</m:t>
                    </m:r>
                    <m:r>
                      <a:rPr lang="es-MX" sz="2200" b="0" i="0" smtClean="0">
                        <a:latin typeface="Cambria Math" panose="02040503050406030204" pitchFamily="18" charset="0"/>
                        <a:ea typeface="Cambria Math" panose="02040503050406030204" pitchFamily="18" charset="0"/>
                      </a:rPr>
                      <m:t>=</m:t>
                    </m:r>
                    <m:d>
                      <m:dPr>
                        <m:begChr m:val="{"/>
                        <m:endChr m:val="}"/>
                        <m:ctrlPr>
                          <a:rPr lang="es-MX" sz="2200" b="0" i="1" smtClean="0">
                            <a:latin typeface="Cambria Math" panose="02040503050406030204" pitchFamily="18" charset="0"/>
                            <a:ea typeface="Cambria Math" panose="02040503050406030204" pitchFamily="18" charset="0"/>
                          </a:rPr>
                        </m:ctrlPr>
                      </m:dPr>
                      <m:e>
                        <m:r>
                          <a:rPr lang="es-MX" sz="2200" b="0" i="1" smtClean="0">
                            <a:latin typeface="Cambria Math" panose="02040503050406030204" pitchFamily="18" charset="0"/>
                            <a:ea typeface="Cambria Math" panose="02040503050406030204" pitchFamily="18" charset="0"/>
                          </a:rPr>
                          <m:t>𝑥</m:t>
                        </m:r>
                        <m:r>
                          <a:rPr lang="es-MX" sz="2200" b="0" i="1" smtClean="0">
                            <a:latin typeface="Cambria Math" panose="02040503050406030204" pitchFamily="18" charset="0"/>
                            <a:ea typeface="Cambria Math" panose="02040503050406030204" pitchFamily="18" charset="0"/>
                          </a:rPr>
                          <m:t>∈</m:t>
                        </m:r>
                        <m:r>
                          <a:rPr lang="es-MX" sz="2200" b="0" i="1" smtClean="0">
                            <a:latin typeface="Cambria Math" panose="02040503050406030204" pitchFamily="18" charset="0"/>
                            <a:ea typeface="Cambria Math" panose="02040503050406030204" pitchFamily="18" charset="0"/>
                          </a:rPr>
                          <m:t>ℕ</m:t>
                        </m:r>
                      </m:e>
                      <m:e>
                        <m:r>
                          <a:rPr lang="es-MX" sz="2200" b="0" i="1" smtClean="0">
                            <a:latin typeface="Cambria Math" panose="02040503050406030204" pitchFamily="18" charset="0"/>
                            <a:ea typeface="Cambria Math" panose="02040503050406030204" pitchFamily="18" charset="0"/>
                          </a:rPr>
                          <m:t>𝑥</m:t>
                        </m:r>
                        <m:r>
                          <a:rPr lang="es-MX" sz="2200" b="0" i="1" smtClean="0">
                            <a:latin typeface="Cambria Math" panose="02040503050406030204" pitchFamily="18" charset="0"/>
                            <a:ea typeface="Cambria Math" panose="02040503050406030204" pitchFamily="18" charset="0"/>
                          </a:rPr>
                          <m:t>&lt;0</m:t>
                        </m:r>
                      </m:e>
                    </m:d>
                    <m:r>
                      <a:rPr lang="es-MX" sz="2200" b="0" i="1" smtClean="0">
                        <a:latin typeface="Cambria Math" panose="02040503050406030204" pitchFamily="18" charset="0"/>
                        <a:ea typeface="Cambria Math" panose="02040503050406030204" pitchFamily="18" charset="0"/>
                      </a:rPr>
                      <m:t>=</m:t>
                    </m:r>
                    <m:d>
                      <m:dPr>
                        <m:begChr m:val="{"/>
                        <m:endChr m:val="}"/>
                        <m:ctrlPr>
                          <a:rPr lang="es-MX" sz="2200" b="0" i="1" smtClean="0">
                            <a:latin typeface="Cambria Math" panose="02040503050406030204" pitchFamily="18" charset="0"/>
                            <a:ea typeface="Cambria Math" panose="02040503050406030204" pitchFamily="18" charset="0"/>
                          </a:rPr>
                        </m:ctrlPr>
                      </m:dPr>
                      <m:e/>
                    </m:d>
                    <m:r>
                      <a:rPr lang="es-MX" sz="2200" b="0" i="1" smtClean="0">
                        <a:latin typeface="Cambria Math" panose="02040503050406030204" pitchFamily="18" charset="0"/>
                        <a:ea typeface="Cambria Math" panose="02040503050406030204" pitchFamily="18" charset="0"/>
                      </a:rPr>
                      <m:t>=</m:t>
                    </m:r>
                    <m:r>
                      <a:rPr lang="es-CO" sz="2200" i="1">
                        <a:latin typeface="Cambria Math" panose="02040503050406030204" pitchFamily="18" charset="0"/>
                      </a:rPr>
                      <m:t>∅</m:t>
                    </m:r>
                  </m:oMath>
                </a14:m>
                <a:endParaRPr lang="es-MX" sz="2200" dirty="0">
                  <a:latin typeface="+mn-lt"/>
                  <a:ea typeface="Roboto" panose="02000000000000000000" pitchFamily="2" charset="0"/>
                </a:endParaRPr>
              </a:p>
              <a:p>
                <a:endParaRPr lang="es-MX" sz="2200" dirty="0">
                  <a:latin typeface="+mn-lt"/>
                  <a:ea typeface="Roboto" panose="02000000000000000000" pitchFamily="2" charset="0"/>
                </a:endParaRPr>
              </a:p>
              <a:p>
                <a:endParaRPr lang="es-MX" sz="2200" dirty="0">
                  <a:latin typeface="+mn-lt"/>
                  <a:ea typeface="Roboto" panose="02000000000000000000" pitchFamily="2" charset="0"/>
                </a:endParaRPr>
              </a:p>
              <a:p>
                <a:endParaRPr lang="es-MX" sz="2200" dirty="0">
                  <a:latin typeface="+mn-lt"/>
                  <a:ea typeface="Roboto" panose="02000000000000000000" pitchFamily="2" charset="0"/>
                </a:endParaRPr>
              </a:p>
              <a:p>
                <a:r>
                  <a:rPr lang="es-MX" sz="2200" dirty="0">
                    <a:latin typeface="+mn-lt"/>
                    <a:ea typeface="Roboto" panose="02000000000000000000" pitchFamily="2" charset="0"/>
                  </a:rPr>
                  <a:t>Los meses del año con 32 días: </a:t>
                </a:r>
                <a14:m>
                  <m:oMath xmlns:m="http://schemas.openxmlformats.org/officeDocument/2006/math">
                    <m:r>
                      <a:rPr lang="es-MX" sz="2200" b="0" i="1" smtClean="0">
                        <a:latin typeface="Cambria Math" panose="02040503050406030204" pitchFamily="18" charset="0"/>
                        <a:ea typeface="Cambria Math" panose="02040503050406030204" pitchFamily="18" charset="0"/>
                      </a:rPr>
                      <m:t>𝐸</m:t>
                    </m:r>
                    <m:r>
                      <a:rPr lang="es-MX" sz="2200" b="0" i="0" smtClean="0">
                        <a:latin typeface="Cambria Math" panose="02040503050406030204" pitchFamily="18" charset="0"/>
                        <a:ea typeface="Cambria Math" panose="02040503050406030204" pitchFamily="18" charset="0"/>
                      </a:rPr>
                      <m:t>=</m:t>
                    </m:r>
                    <m:d>
                      <m:dPr>
                        <m:begChr m:val="{"/>
                        <m:endChr m:val="}"/>
                        <m:ctrlPr>
                          <a:rPr lang="es-MX" sz="2200" i="1">
                            <a:latin typeface="Cambria Math" panose="02040503050406030204" pitchFamily="18" charset="0"/>
                            <a:ea typeface="Cambria Math" panose="02040503050406030204" pitchFamily="18" charset="0"/>
                          </a:rPr>
                        </m:ctrlPr>
                      </m:dPr>
                      <m:e>
                        <m:r>
                          <a:rPr lang="es-MX" sz="2200" i="1">
                            <a:latin typeface="Cambria Math" panose="02040503050406030204" pitchFamily="18" charset="0"/>
                            <a:ea typeface="Cambria Math" panose="02040503050406030204" pitchFamily="18" charset="0"/>
                          </a:rPr>
                          <m:t>𝑥</m:t>
                        </m:r>
                        <m:r>
                          <a:rPr lang="es-MX" sz="2200" i="1">
                            <a:latin typeface="Cambria Math" panose="02040503050406030204" pitchFamily="18" charset="0"/>
                            <a:ea typeface="Cambria Math" panose="02040503050406030204" pitchFamily="18" charset="0"/>
                          </a:rPr>
                          <m:t>∈</m:t>
                        </m:r>
                        <m:r>
                          <m:rPr>
                            <m:sty m:val="p"/>
                          </m:rPr>
                          <a:rPr lang="es-MX" sz="2200" b="0" i="0" smtClean="0">
                            <a:latin typeface="Cambria Math" panose="02040503050406030204" pitchFamily="18" charset="0"/>
                            <a:ea typeface="Cambria Math" panose="02040503050406030204" pitchFamily="18" charset="0"/>
                          </a:rPr>
                          <m:t>Meses</m:t>
                        </m:r>
                      </m:e>
                      <m:e>
                        <m:r>
                          <a:rPr lang="es-MX" sz="2200" i="1">
                            <a:latin typeface="Cambria Math" panose="02040503050406030204" pitchFamily="18" charset="0"/>
                            <a:ea typeface="Cambria Math" panose="02040503050406030204" pitchFamily="18" charset="0"/>
                          </a:rPr>
                          <m:t>𝑥</m:t>
                        </m:r>
                        <m:r>
                          <a:rPr lang="es-MX" sz="2200" b="0" i="1" smtClean="0">
                            <a:latin typeface="Cambria Math" panose="02040503050406030204" pitchFamily="18" charset="0"/>
                            <a:ea typeface="Cambria Math" panose="02040503050406030204" pitchFamily="18" charset="0"/>
                          </a:rPr>
                          <m:t> </m:t>
                        </m:r>
                        <m:r>
                          <m:rPr>
                            <m:sty m:val="p"/>
                          </m:rPr>
                          <a:rPr lang="es-MX" sz="2200" b="0" i="0" smtClean="0">
                            <a:latin typeface="Cambria Math" panose="02040503050406030204" pitchFamily="18" charset="0"/>
                            <a:ea typeface="Cambria Math" panose="02040503050406030204" pitchFamily="18" charset="0"/>
                          </a:rPr>
                          <m:t>tiene</m:t>
                        </m:r>
                        <m:r>
                          <a:rPr lang="es-MX" sz="2200" b="0" i="0" smtClean="0">
                            <a:latin typeface="Cambria Math" panose="02040503050406030204" pitchFamily="18" charset="0"/>
                            <a:ea typeface="Cambria Math" panose="02040503050406030204" pitchFamily="18" charset="0"/>
                          </a:rPr>
                          <m:t> 32 </m:t>
                        </m:r>
                        <m:r>
                          <m:rPr>
                            <m:sty m:val="p"/>
                          </m:rPr>
                          <a:rPr lang="es-MX" sz="2200" b="0" i="0" smtClean="0">
                            <a:latin typeface="Cambria Math" panose="02040503050406030204" pitchFamily="18" charset="0"/>
                            <a:ea typeface="Cambria Math" panose="02040503050406030204" pitchFamily="18" charset="0"/>
                          </a:rPr>
                          <m:t>dias</m:t>
                        </m:r>
                      </m:e>
                    </m:d>
                    <m:r>
                      <a:rPr lang="es-MX" sz="2200" i="1">
                        <a:latin typeface="Cambria Math" panose="02040503050406030204" pitchFamily="18" charset="0"/>
                        <a:ea typeface="Cambria Math" panose="02040503050406030204" pitchFamily="18" charset="0"/>
                      </a:rPr>
                      <m:t>=</m:t>
                    </m:r>
                    <m:d>
                      <m:dPr>
                        <m:begChr m:val="{"/>
                        <m:endChr m:val="}"/>
                        <m:ctrlPr>
                          <a:rPr lang="es-MX" sz="2200" i="1">
                            <a:latin typeface="Cambria Math" panose="02040503050406030204" pitchFamily="18" charset="0"/>
                            <a:ea typeface="Cambria Math" panose="02040503050406030204" pitchFamily="18" charset="0"/>
                          </a:rPr>
                        </m:ctrlPr>
                      </m:dPr>
                      <m:e/>
                    </m:d>
                    <m:r>
                      <a:rPr lang="es-MX" sz="2200" i="1">
                        <a:latin typeface="Cambria Math" panose="02040503050406030204" pitchFamily="18" charset="0"/>
                        <a:ea typeface="Cambria Math" panose="02040503050406030204" pitchFamily="18" charset="0"/>
                      </a:rPr>
                      <m:t>=</m:t>
                    </m:r>
                    <m:r>
                      <a:rPr lang="es-CO" sz="2200" i="1">
                        <a:latin typeface="Cambria Math" panose="02040503050406030204" pitchFamily="18" charset="0"/>
                      </a:rPr>
                      <m:t>∅</m:t>
                    </m:r>
                  </m:oMath>
                </a14:m>
                <a:endParaRPr lang="es-MX" sz="2200" dirty="0">
                  <a:latin typeface="+mn-lt"/>
                  <a:ea typeface="Roboto" panose="02000000000000000000" pitchFamily="2" charset="0"/>
                </a:endParaRPr>
              </a:p>
              <a:p>
                <a:endParaRPr lang="es-MX" sz="2200" dirty="0">
                  <a:latin typeface="+mn-lt"/>
                  <a:ea typeface="Roboto" panose="02000000000000000000" pitchFamily="2" charset="0"/>
                </a:endParaRPr>
              </a:p>
              <a:p>
                <a:endParaRPr lang="es-MX" sz="2200" dirty="0">
                  <a:latin typeface="+mn-lt"/>
                  <a:ea typeface="Roboto" panose="02000000000000000000" pitchFamily="2" charset="0"/>
                </a:endParaRPr>
              </a:p>
              <a:p>
                <a:endParaRPr lang="es-MX" sz="2200" dirty="0">
                  <a:latin typeface="+mn-lt"/>
                  <a:ea typeface="Roboto" panose="02000000000000000000" pitchFamily="2" charset="0"/>
                </a:endParaRPr>
              </a:p>
              <a:p>
                <a:r>
                  <a:rPr lang="es-MX" sz="2200" dirty="0">
                    <a:latin typeface="+mn-lt"/>
                    <a:ea typeface="Roboto" panose="02000000000000000000" pitchFamily="2" charset="0"/>
                  </a:rPr>
                  <a:t>Los colores del arco iris que no son colores: </a:t>
                </a:r>
                <a14:m>
                  <m:oMath xmlns:m="http://schemas.openxmlformats.org/officeDocument/2006/math">
                    <m:r>
                      <a:rPr lang="es-MX" sz="2200" b="0" i="1" smtClean="0">
                        <a:latin typeface="Cambria Math" panose="02040503050406030204" pitchFamily="18" charset="0"/>
                        <a:ea typeface="Cambria Math" panose="02040503050406030204" pitchFamily="18" charset="0"/>
                      </a:rPr>
                      <m:t>𝐹</m:t>
                    </m:r>
                    <m:r>
                      <a:rPr lang="es-MX" sz="2200" b="0" i="0" smtClean="0">
                        <a:latin typeface="Cambria Math" panose="02040503050406030204" pitchFamily="18" charset="0"/>
                        <a:ea typeface="Cambria Math" panose="02040503050406030204" pitchFamily="18" charset="0"/>
                      </a:rPr>
                      <m:t>=</m:t>
                    </m:r>
                    <m:d>
                      <m:dPr>
                        <m:begChr m:val="{"/>
                        <m:endChr m:val="}"/>
                        <m:ctrlPr>
                          <a:rPr lang="es-MX" sz="2200" i="1">
                            <a:latin typeface="Cambria Math" panose="02040503050406030204" pitchFamily="18" charset="0"/>
                            <a:ea typeface="Cambria Math" panose="02040503050406030204" pitchFamily="18" charset="0"/>
                          </a:rPr>
                        </m:ctrlPr>
                      </m:dPr>
                      <m:e/>
                    </m:d>
                    <m:r>
                      <a:rPr lang="es-MX" sz="2200" i="1">
                        <a:latin typeface="Cambria Math" panose="02040503050406030204" pitchFamily="18" charset="0"/>
                        <a:ea typeface="Cambria Math" panose="02040503050406030204" pitchFamily="18" charset="0"/>
                      </a:rPr>
                      <m:t>=</m:t>
                    </m:r>
                    <m:r>
                      <a:rPr lang="es-CO" sz="2200" i="1">
                        <a:latin typeface="Cambria Math" panose="02040503050406030204" pitchFamily="18" charset="0"/>
                      </a:rPr>
                      <m:t>∅</m:t>
                    </m:r>
                  </m:oMath>
                </a14:m>
                <a:endParaRPr lang="es-MX" sz="2200" dirty="0">
                  <a:latin typeface="+mn-lt"/>
                  <a:ea typeface="Roboto" panose="02000000000000000000" pitchFamily="2" charset="0"/>
                </a:endParaRPr>
              </a:p>
              <a:p>
                <a:pPr lvl="1"/>
                <a:endParaRPr lang="es-MX" dirty="0">
                  <a:latin typeface="+mn-lt"/>
                  <a:ea typeface="Roboto" panose="02000000000000000000" pitchFamily="2" charset="0"/>
                </a:endParaRPr>
              </a:p>
              <a:p>
                <a:pPr lvl="1"/>
                <a:endParaRPr lang="es-MX" b="1" dirty="0">
                  <a:latin typeface="+mn-lt"/>
                  <a:ea typeface="Roboto" panose="02000000000000000000" pitchFamily="2" charset="0"/>
                </a:endParaRPr>
              </a:p>
            </p:txBody>
          </p:sp>
        </mc:Choice>
        <mc:Fallback xmlns="">
          <p:sp>
            <p:nvSpPr>
              <p:cNvPr id="5" name="Google Shape;310;p34">
                <a:extLst>
                  <a:ext uri="{FF2B5EF4-FFF2-40B4-BE49-F238E27FC236}">
                    <a16:creationId xmlns:a16="http://schemas.microsoft.com/office/drawing/2014/main" id="{F102D340-F804-4113-9FEB-9A4128546791}"/>
                  </a:ext>
                </a:extLst>
              </p:cNvPr>
              <p:cNvSpPr txBox="1">
                <a:spLocks noRot="1" noChangeAspect="1" noMove="1" noResize="1" noEditPoints="1" noAdjustHandles="1" noChangeArrowheads="1" noChangeShapeType="1" noTextEdit="1"/>
              </p:cNvSpPr>
              <p:nvPr/>
            </p:nvSpPr>
            <p:spPr>
              <a:xfrm>
                <a:off x="280219" y="993537"/>
                <a:ext cx="11415251" cy="4920565"/>
              </a:xfrm>
              <a:prstGeom prst="rect">
                <a:avLst/>
              </a:prstGeom>
              <a:blipFill>
                <a:blip r:embed="rId2"/>
                <a:stretch>
                  <a:fillRect/>
                </a:stretch>
              </a:blipFill>
              <a:ln>
                <a:noFill/>
              </a:ln>
            </p:spPr>
            <p:txBody>
              <a:bodyPr/>
              <a:lstStyle/>
              <a:p>
                <a:r>
                  <a:rPr lang="es-CO">
                    <a:noFill/>
                  </a:rPr>
                  <a:t> </a:t>
                </a:r>
              </a:p>
            </p:txBody>
          </p:sp>
        </mc:Fallback>
      </mc:AlternateContent>
    </p:spTree>
    <p:extLst>
      <p:ext uri="{BB962C8B-B14F-4D97-AF65-F5344CB8AC3E}">
        <p14:creationId xmlns:p14="http://schemas.microsoft.com/office/powerpoint/2010/main" val="388700871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78E8DF2-7986-4872-8459-F68D43B26317}"/>
              </a:ext>
            </a:extLst>
          </p:cNvPr>
          <p:cNvSpPr>
            <a:spLocks noGrp="1"/>
          </p:cNvSpPr>
          <p:nvPr>
            <p:ph type="title"/>
          </p:nvPr>
        </p:nvSpPr>
        <p:spPr>
          <a:xfrm>
            <a:off x="575187" y="96038"/>
            <a:ext cx="10958051" cy="949500"/>
          </a:xfrm>
        </p:spPr>
        <p:txBody>
          <a:bodyPr/>
          <a:lstStyle/>
          <a:p>
            <a:r>
              <a:rPr lang="es-ES" dirty="0">
                <a:solidFill>
                  <a:schemeClr val="tx1"/>
                </a:solidFill>
                <a:latin typeface="+mj-lt"/>
              </a:rPr>
              <a:t>Tipos de conjuntos – Conjuntos finito</a:t>
            </a:r>
            <a:endParaRPr lang="es-CO" dirty="0">
              <a:solidFill>
                <a:schemeClr val="tx1"/>
              </a:solidFill>
              <a:latin typeface="+mj-lt"/>
            </a:endParaRPr>
          </a:p>
        </p:txBody>
      </p:sp>
      <mc:AlternateContent xmlns:mc="http://schemas.openxmlformats.org/markup-compatibility/2006" xmlns:a14="http://schemas.microsoft.com/office/drawing/2010/main">
        <mc:Choice Requires="a14">
          <p:sp>
            <p:nvSpPr>
              <p:cNvPr id="5" name="Google Shape;310;p34">
                <a:extLst>
                  <a:ext uri="{FF2B5EF4-FFF2-40B4-BE49-F238E27FC236}">
                    <a16:creationId xmlns:a16="http://schemas.microsoft.com/office/drawing/2014/main" id="{F102D340-F804-4113-9FEB-9A4128546791}"/>
                  </a:ext>
                </a:extLst>
              </p:cNvPr>
              <p:cNvSpPr txBox="1">
                <a:spLocks/>
              </p:cNvSpPr>
              <p:nvPr/>
            </p:nvSpPr>
            <p:spPr>
              <a:xfrm>
                <a:off x="249389" y="932564"/>
                <a:ext cx="11608314" cy="5158519"/>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200" b="1" dirty="0">
                    <a:solidFill>
                      <a:schemeClr val="tx1"/>
                    </a:solidFill>
                    <a:latin typeface="+mn-lt"/>
                    <a:ea typeface="Roboto" panose="02000000000000000000" pitchFamily="2" charset="0"/>
                  </a:rPr>
                  <a:t>Conjunto finito</a:t>
                </a:r>
              </a:p>
              <a:p>
                <a:pPr marL="127000" indent="0">
                  <a:buNone/>
                </a:pPr>
                <a:r>
                  <a:rPr lang="es-MX" sz="2200" dirty="0">
                    <a:latin typeface="+mn-lt"/>
                    <a:ea typeface="Roboto" panose="02000000000000000000" pitchFamily="2" charset="0"/>
                  </a:rPr>
                  <a:t>Un conjunto es finito si tiene un número limitado de elementos. Es decir, se puede determinar la cantidad total de sus elementos y, teóricamente, se podrían listar todos.</a:t>
                </a:r>
              </a:p>
              <a:p>
                <a:r>
                  <a:rPr lang="es-MX" sz="2200" b="1" dirty="0">
                    <a:latin typeface="+mn-lt"/>
                    <a:ea typeface="Roboto" panose="02000000000000000000" pitchFamily="2" charset="0"/>
                  </a:rPr>
                  <a:t>Ejemplo:</a:t>
                </a:r>
              </a:p>
              <a:p>
                <a:pPr lvl="1"/>
                <a:r>
                  <a:rPr lang="es-MX" dirty="0">
                    <a:latin typeface="+mn-lt"/>
                    <a:ea typeface="Roboto" panose="02000000000000000000" pitchFamily="2" charset="0"/>
                  </a:rPr>
                  <a:t>Los estudiantes del curso de discretas 1: </a:t>
                </a:r>
                <a14:m>
                  <m:oMath xmlns:m="http://schemas.openxmlformats.org/officeDocument/2006/math">
                    <m:r>
                      <a:rPr lang="es-MX" b="0" i="1" smtClean="0">
                        <a:latin typeface="Cambria Math" panose="02040503050406030204" pitchFamily="18" charset="0"/>
                        <a:ea typeface="Roboto" panose="02000000000000000000" pitchFamily="2" charset="0"/>
                      </a:rPr>
                      <m:t>𝐶</m:t>
                    </m:r>
                    <m:r>
                      <a:rPr lang="es-MX" b="0" i="1" smtClean="0">
                        <a:latin typeface="Cambria Math" panose="02040503050406030204" pitchFamily="18" charset="0"/>
                        <a:ea typeface="Roboto" panose="02000000000000000000" pitchFamily="2" charset="0"/>
                      </a:rPr>
                      <m:t>={</m:t>
                    </m:r>
                    <m:sSub>
                      <m:sSubPr>
                        <m:ctrlPr>
                          <a:rPr lang="es-MX" b="0" i="1" smtClean="0">
                            <a:latin typeface="Cambria Math" panose="02040503050406030204" pitchFamily="18" charset="0"/>
                            <a:ea typeface="Roboto" panose="02000000000000000000" pitchFamily="2" charset="0"/>
                          </a:rPr>
                        </m:ctrlPr>
                      </m:sSubPr>
                      <m:e>
                        <m:r>
                          <a:rPr lang="es-MX" b="0" i="1" smtClean="0">
                            <a:latin typeface="Cambria Math" panose="02040503050406030204" pitchFamily="18" charset="0"/>
                            <a:ea typeface="Roboto" panose="02000000000000000000" pitchFamily="2" charset="0"/>
                          </a:rPr>
                          <m:t>𝑒</m:t>
                        </m:r>
                      </m:e>
                      <m:sub>
                        <m:r>
                          <a:rPr lang="es-MX" b="0" i="1" smtClean="0">
                            <a:latin typeface="Cambria Math" panose="02040503050406030204" pitchFamily="18" charset="0"/>
                            <a:ea typeface="Roboto" panose="02000000000000000000" pitchFamily="2" charset="0"/>
                          </a:rPr>
                          <m:t>1</m:t>
                        </m:r>
                      </m:sub>
                    </m:sSub>
                    <m:r>
                      <a:rPr lang="es-MX" b="0" i="1" smtClean="0">
                        <a:latin typeface="Cambria Math" panose="02040503050406030204" pitchFamily="18" charset="0"/>
                        <a:ea typeface="Roboto" panose="02000000000000000000" pitchFamily="2" charset="0"/>
                      </a:rPr>
                      <m:t>,</m:t>
                    </m:r>
                    <m:sSub>
                      <m:sSubPr>
                        <m:ctrlPr>
                          <a:rPr lang="es-MX" b="0" i="1" smtClean="0">
                            <a:latin typeface="Cambria Math" panose="02040503050406030204" pitchFamily="18" charset="0"/>
                            <a:ea typeface="Roboto" panose="02000000000000000000" pitchFamily="2" charset="0"/>
                          </a:rPr>
                        </m:ctrlPr>
                      </m:sSubPr>
                      <m:e>
                        <m:r>
                          <a:rPr lang="es-MX" b="0" i="1" smtClean="0">
                            <a:latin typeface="Cambria Math" panose="02040503050406030204" pitchFamily="18" charset="0"/>
                            <a:ea typeface="Roboto" panose="02000000000000000000" pitchFamily="2" charset="0"/>
                          </a:rPr>
                          <m:t>𝑒</m:t>
                        </m:r>
                      </m:e>
                      <m:sub>
                        <m:r>
                          <a:rPr lang="es-MX" b="0" i="1" smtClean="0">
                            <a:latin typeface="Cambria Math" panose="02040503050406030204" pitchFamily="18" charset="0"/>
                            <a:ea typeface="Roboto" panose="02000000000000000000" pitchFamily="2" charset="0"/>
                          </a:rPr>
                          <m:t>2</m:t>
                        </m:r>
                      </m:sub>
                    </m:sSub>
                    <m:r>
                      <a:rPr lang="es-MX" b="0" i="1" smtClean="0">
                        <a:latin typeface="Cambria Math" panose="02040503050406030204" pitchFamily="18" charset="0"/>
                        <a:ea typeface="Roboto" panose="02000000000000000000" pitchFamily="2" charset="0"/>
                      </a:rPr>
                      <m:t>,…,</m:t>
                    </m:r>
                    <m:sSub>
                      <m:sSubPr>
                        <m:ctrlPr>
                          <a:rPr lang="es-MX" b="0" i="1" smtClean="0">
                            <a:latin typeface="Cambria Math" panose="02040503050406030204" pitchFamily="18" charset="0"/>
                            <a:ea typeface="Roboto" panose="02000000000000000000" pitchFamily="2" charset="0"/>
                          </a:rPr>
                        </m:ctrlPr>
                      </m:sSubPr>
                      <m:e>
                        <m:r>
                          <a:rPr lang="es-MX" b="0" i="1" smtClean="0">
                            <a:latin typeface="Cambria Math" panose="02040503050406030204" pitchFamily="18" charset="0"/>
                            <a:ea typeface="Roboto" panose="02000000000000000000" pitchFamily="2" charset="0"/>
                          </a:rPr>
                          <m:t>𝑒</m:t>
                        </m:r>
                      </m:e>
                      <m:sub>
                        <m:r>
                          <a:rPr lang="es-MX" b="0" i="1" smtClean="0">
                            <a:latin typeface="Cambria Math" panose="02040503050406030204" pitchFamily="18" charset="0"/>
                            <a:ea typeface="Roboto" panose="02000000000000000000" pitchFamily="2" charset="0"/>
                          </a:rPr>
                          <m:t>𝑖</m:t>
                        </m:r>
                      </m:sub>
                    </m:sSub>
                    <m:r>
                      <a:rPr lang="es-MX" b="0" i="1" smtClean="0">
                        <a:latin typeface="Cambria Math" panose="02040503050406030204" pitchFamily="18" charset="0"/>
                        <a:ea typeface="Roboto" panose="02000000000000000000" pitchFamily="2" charset="0"/>
                      </a:rPr>
                      <m:t>,…,</m:t>
                    </m:r>
                    <m:sSub>
                      <m:sSubPr>
                        <m:ctrlPr>
                          <a:rPr lang="es-MX" b="0" i="1" smtClean="0">
                            <a:latin typeface="Cambria Math" panose="02040503050406030204" pitchFamily="18" charset="0"/>
                            <a:ea typeface="Roboto" panose="02000000000000000000" pitchFamily="2" charset="0"/>
                          </a:rPr>
                        </m:ctrlPr>
                      </m:sSubPr>
                      <m:e>
                        <m:r>
                          <a:rPr lang="es-MX" b="0" i="1" smtClean="0">
                            <a:latin typeface="Cambria Math" panose="02040503050406030204" pitchFamily="18" charset="0"/>
                            <a:ea typeface="Roboto" panose="02000000000000000000" pitchFamily="2" charset="0"/>
                          </a:rPr>
                          <m:t>𝑒</m:t>
                        </m:r>
                      </m:e>
                      <m:sub>
                        <m:r>
                          <a:rPr lang="es-MX" b="0" i="1" smtClean="0">
                            <a:latin typeface="Cambria Math" panose="02040503050406030204" pitchFamily="18" charset="0"/>
                            <a:ea typeface="Roboto" panose="02000000000000000000" pitchFamily="2" charset="0"/>
                          </a:rPr>
                          <m:t>𝑛</m:t>
                        </m:r>
                        <m:r>
                          <a:rPr lang="es-MX" b="0" i="1" smtClean="0">
                            <a:latin typeface="Cambria Math" panose="02040503050406030204" pitchFamily="18" charset="0"/>
                            <a:ea typeface="Roboto" panose="02000000000000000000" pitchFamily="2" charset="0"/>
                          </a:rPr>
                          <m:t>−1</m:t>
                        </m:r>
                      </m:sub>
                    </m:sSub>
                    <m:r>
                      <a:rPr lang="es-MX" b="0" i="1" smtClean="0">
                        <a:latin typeface="Cambria Math" panose="02040503050406030204" pitchFamily="18" charset="0"/>
                        <a:ea typeface="Roboto" panose="02000000000000000000" pitchFamily="2" charset="0"/>
                      </a:rPr>
                      <m:t>,</m:t>
                    </m:r>
                    <m:sSub>
                      <m:sSubPr>
                        <m:ctrlPr>
                          <a:rPr lang="es-MX" b="0" i="1" smtClean="0">
                            <a:latin typeface="Cambria Math" panose="02040503050406030204" pitchFamily="18" charset="0"/>
                            <a:ea typeface="Roboto" panose="02000000000000000000" pitchFamily="2" charset="0"/>
                          </a:rPr>
                        </m:ctrlPr>
                      </m:sSubPr>
                      <m:e>
                        <m:r>
                          <a:rPr lang="es-MX" b="0" i="1" smtClean="0">
                            <a:latin typeface="Cambria Math" panose="02040503050406030204" pitchFamily="18" charset="0"/>
                            <a:ea typeface="Roboto" panose="02000000000000000000" pitchFamily="2" charset="0"/>
                          </a:rPr>
                          <m:t>𝑒</m:t>
                        </m:r>
                      </m:e>
                      <m:sub>
                        <m:r>
                          <a:rPr lang="es-MX" b="0" i="1" smtClean="0">
                            <a:latin typeface="Cambria Math" panose="02040503050406030204" pitchFamily="18" charset="0"/>
                            <a:ea typeface="Roboto" panose="02000000000000000000" pitchFamily="2" charset="0"/>
                          </a:rPr>
                          <m:t>𝑛</m:t>
                        </m:r>
                      </m:sub>
                    </m:sSub>
                    <m:r>
                      <a:rPr lang="es-MX" b="0" i="1" smtClean="0">
                        <a:latin typeface="Cambria Math" panose="02040503050406030204" pitchFamily="18" charset="0"/>
                        <a:ea typeface="Roboto" panose="02000000000000000000" pitchFamily="2" charset="0"/>
                      </a:rPr>
                      <m:t>}</m:t>
                    </m:r>
                  </m:oMath>
                </a14:m>
                <a:endParaRPr lang="es-MX" dirty="0">
                  <a:latin typeface="+mn-lt"/>
                  <a:ea typeface="Roboto" panose="02000000000000000000" pitchFamily="2" charset="0"/>
                </a:endParaRPr>
              </a:p>
              <a:p>
                <a:pPr lvl="1"/>
                <a:endParaRPr lang="es-MX" dirty="0">
                  <a:latin typeface="+mn-lt"/>
                  <a:ea typeface="Roboto" panose="02000000000000000000" pitchFamily="2" charset="0"/>
                </a:endParaRPr>
              </a:p>
              <a:p>
                <a:pPr lvl="1"/>
                <a:endParaRPr lang="es-MX" dirty="0">
                  <a:latin typeface="+mn-lt"/>
                  <a:ea typeface="Roboto" panose="02000000000000000000" pitchFamily="2" charset="0"/>
                </a:endParaRPr>
              </a:p>
              <a:p>
                <a:pPr lvl="1"/>
                <a:endParaRPr lang="es-MX" dirty="0">
                  <a:latin typeface="+mn-lt"/>
                  <a:ea typeface="Roboto" panose="02000000000000000000" pitchFamily="2" charset="0"/>
                </a:endParaRPr>
              </a:p>
              <a:p>
                <a:pPr lvl="1"/>
                <a:r>
                  <a:rPr lang="es-MX" dirty="0">
                    <a:latin typeface="+mn-lt"/>
                    <a:ea typeface="Roboto" panose="02000000000000000000" pitchFamily="2" charset="0"/>
                  </a:rPr>
                  <a:t>Los días de la semana:  </a:t>
                </a:r>
                <a14:m>
                  <m:oMath xmlns:m="http://schemas.openxmlformats.org/officeDocument/2006/math">
                    <m:r>
                      <a:rPr lang="es-MX" b="0" i="1" smtClean="0">
                        <a:latin typeface="Cambria Math" panose="02040503050406030204" pitchFamily="18" charset="0"/>
                        <a:ea typeface="Roboto" panose="02000000000000000000" pitchFamily="2" charset="0"/>
                      </a:rPr>
                      <m:t>𝑆</m:t>
                    </m:r>
                    <m:r>
                      <a:rPr lang="es-MX" b="0" i="1" smtClean="0">
                        <a:latin typeface="Cambria Math" panose="02040503050406030204" pitchFamily="18" charset="0"/>
                        <a:ea typeface="Roboto" panose="02000000000000000000" pitchFamily="2" charset="0"/>
                      </a:rPr>
                      <m:t>={</m:t>
                    </m:r>
                    <m:r>
                      <a:rPr lang="es-MX" b="0" i="1" smtClean="0">
                        <a:latin typeface="Cambria Math" panose="02040503050406030204" pitchFamily="18" charset="0"/>
                        <a:ea typeface="Roboto" panose="02000000000000000000" pitchFamily="2" charset="0"/>
                      </a:rPr>
                      <m:t>𝐿</m:t>
                    </m:r>
                    <m:r>
                      <a:rPr lang="es-MX" b="0" i="1" smtClean="0">
                        <a:latin typeface="Cambria Math" panose="02040503050406030204" pitchFamily="18" charset="0"/>
                        <a:ea typeface="Roboto" panose="02000000000000000000" pitchFamily="2" charset="0"/>
                      </a:rPr>
                      <m:t>,</m:t>
                    </m:r>
                    <m:r>
                      <a:rPr lang="es-MX" b="0" i="1" smtClean="0">
                        <a:latin typeface="Cambria Math" panose="02040503050406030204" pitchFamily="18" charset="0"/>
                        <a:ea typeface="Roboto" panose="02000000000000000000" pitchFamily="2" charset="0"/>
                      </a:rPr>
                      <m:t>𝑀</m:t>
                    </m:r>
                    <m:r>
                      <a:rPr lang="es-MX" b="0" i="1" smtClean="0">
                        <a:latin typeface="Cambria Math" panose="02040503050406030204" pitchFamily="18" charset="0"/>
                        <a:ea typeface="Roboto" panose="02000000000000000000" pitchFamily="2" charset="0"/>
                      </a:rPr>
                      <m:t>,</m:t>
                    </m:r>
                    <m:r>
                      <a:rPr lang="es-MX" b="0" i="1" smtClean="0">
                        <a:latin typeface="Cambria Math" panose="02040503050406030204" pitchFamily="18" charset="0"/>
                        <a:ea typeface="Roboto" panose="02000000000000000000" pitchFamily="2" charset="0"/>
                      </a:rPr>
                      <m:t>𝑊</m:t>
                    </m:r>
                    <m:r>
                      <a:rPr lang="es-MX" b="0" i="1" smtClean="0">
                        <a:latin typeface="Cambria Math" panose="02040503050406030204" pitchFamily="18" charset="0"/>
                        <a:ea typeface="Roboto" panose="02000000000000000000" pitchFamily="2" charset="0"/>
                      </a:rPr>
                      <m:t>,</m:t>
                    </m:r>
                    <m:r>
                      <a:rPr lang="es-MX" b="0" i="1" smtClean="0">
                        <a:latin typeface="Cambria Math" panose="02040503050406030204" pitchFamily="18" charset="0"/>
                        <a:ea typeface="Roboto" panose="02000000000000000000" pitchFamily="2" charset="0"/>
                      </a:rPr>
                      <m:t>𝐽</m:t>
                    </m:r>
                    <m:r>
                      <a:rPr lang="es-MX" b="0" i="1" smtClean="0">
                        <a:latin typeface="Cambria Math" panose="02040503050406030204" pitchFamily="18" charset="0"/>
                        <a:ea typeface="Roboto" panose="02000000000000000000" pitchFamily="2" charset="0"/>
                      </a:rPr>
                      <m:t>,</m:t>
                    </m:r>
                    <m:r>
                      <a:rPr lang="es-MX" b="0" i="1" smtClean="0">
                        <a:latin typeface="Cambria Math" panose="02040503050406030204" pitchFamily="18" charset="0"/>
                        <a:ea typeface="Roboto" panose="02000000000000000000" pitchFamily="2" charset="0"/>
                      </a:rPr>
                      <m:t>𝑉</m:t>
                    </m:r>
                    <m:r>
                      <a:rPr lang="es-MX" b="0" i="1" smtClean="0">
                        <a:latin typeface="Cambria Math" panose="02040503050406030204" pitchFamily="18" charset="0"/>
                        <a:ea typeface="Roboto" panose="02000000000000000000" pitchFamily="2" charset="0"/>
                      </a:rPr>
                      <m:t>,</m:t>
                    </m:r>
                    <m:r>
                      <a:rPr lang="es-MX" b="0" i="1" smtClean="0">
                        <a:latin typeface="Cambria Math" panose="02040503050406030204" pitchFamily="18" charset="0"/>
                        <a:ea typeface="Roboto" panose="02000000000000000000" pitchFamily="2" charset="0"/>
                      </a:rPr>
                      <m:t>𝑆</m:t>
                    </m:r>
                    <m:r>
                      <a:rPr lang="es-MX" b="0" i="1" smtClean="0">
                        <a:latin typeface="Cambria Math" panose="02040503050406030204" pitchFamily="18" charset="0"/>
                        <a:ea typeface="Roboto" panose="02000000000000000000" pitchFamily="2" charset="0"/>
                      </a:rPr>
                      <m:t>,</m:t>
                    </m:r>
                    <m:r>
                      <a:rPr lang="es-MX" b="0" i="1" smtClean="0">
                        <a:latin typeface="Cambria Math" panose="02040503050406030204" pitchFamily="18" charset="0"/>
                        <a:ea typeface="Roboto" panose="02000000000000000000" pitchFamily="2" charset="0"/>
                      </a:rPr>
                      <m:t>𝐷</m:t>
                    </m:r>
                    <m:r>
                      <a:rPr lang="es-MX" b="0" i="1" smtClean="0">
                        <a:latin typeface="Cambria Math" panose="02040503050406030204" pitchFamily="18" charset="0"/>
                        <a:ea typeface="Roboto" panose="02000000000000000000" pitchFamily="2" charset="0"/>
                      </a:rPr>
                      <m:t>}</m:t>
                    </m:r>
                  </m:oMath>
                </a14:m>
                <a:endParaRPr lang="es-MX" dirty="0">
                  <a:latin typeface="+mn-lt"/>
                  <a:ea typeface="Roboto" panose="02000000000000000000" pitchFamily="2" charset="0"/>
                </a:endParaRPr>
              </a:p>
              <a:p>
                <a:pPr lvl="1"/>
                <a:endParaRPr lang="es-MX" dirty="0">
                  <a:latin typeface="+mn-lt"/>
                  <a:ea typeface="Roboto" panose="02000000000000000000" pitchFamily="2" charset="0"/>
                </a:endParaRPr>
              </a:p>
              <a:p>
                <a:pPr lvl="1"/>
                <a:endParaRPr lang="es-MX" dirty="0">
                  <a:latin typeface="+mn-lt"/>
                  <a:ea typeface="Roboto" panose="02000000000000000000" pitchFamily="2" charset="0"/>
                </a:endParaRPr>
              </a:p>
              <a:p>
                <a:pPr lvl="1"/>
                <a:endParaRPr lang="es-MX" dirty="0">
                  <a:latin typeface="+mn-lt"/>
                  <a:ea typeface="Roboto" panose="02000000000000000000" pitchFamily="2" charset="0"/>
                </a:endParaRPr>
              </a:p>
              <a:p>
                <a:pPr lvl="1"/>
                <a:r>
                  <a:rPr lang="es-MX" dirty="0">
                    <a:latin typeface="+mn-lt"/>
                    <a:ea typeface="Roboto" panose="02000000000000000000" pitchFamily="2" charset="0"/>
                  </a:rPr>
                  <a:t>Los primeros 10 números naturales:  </a:t>
                </a:r>
                <a14:m>
                  <m:oMath xmlns:m="http://schemas.openxmlformats.org/officeDocument/2006/math">
                    <m:r>
                      <a:rPr lang="es-MX" b="0" i="1" smtClean="0">
                        <a:latin typeface="Cambria Math" panose="02040503050406030204" pitchFamily="18" charset="0"/>
                        <a:ea typeface="Roboto" panose="02000000000000000000" pitchFamily="2" charset="0"/>
                      </a:rPr>
                      <m:t>𝐷</m:t>
                    </m:r>
                    <m:r>
                      <a:rPr lang="es-MX" b="0" i="1" smtClean="0">
                        <a:latin typeface="Cambria Math" panose="02040503050406030204" pitchFamily="18" charset="0"/>
                        <a:ea typeface="Roboto" panose="02000000000000000000" pitchFamily="2" charset="0"/>
                      </a:rPr>
                      <m:t>={0,1,2,3,4,5,6,7,8,9}</m:t>
                    </m:r>
                  </m:oMath>
                </a14:m>
                <a:endParaRPr lang="es-MX" dirty="0">
                  <a:latin typeface="+mn-lt"/>
                  <a:ea typeface="Roboto" panose="02000000000000000000" pitchFamily="2" charset="0"/>
                </a:endParaRPr>
              </a:p>
              <a:p>
                <a:pPr lvl="1"/>
                <a:endParaRPr lang="es-MX" dirty="0">
                  <a:latin typeface="+mn-lt"/>
                  <a:ea typeface="Roboto" panose="02000000000000000000" pitchFamily="2" charset="0"/>
                </a:endParaRPr>
              </a:p>
              <a:p>
                <a:pPr marL="127000" indent="0">
                  <a:buNone/>
                </a:pPr>
                <a:endParaRPr lang="es-MX" sz="2200" dirty="0">
                  <a:latin typeface="+mn-lt"/>
                  <a:ea typeface="Roboto" panose="02000000000000000000" pitchFamily="2" charset="0"/>
                </a:endParaRPr>
              </a:p>
              <a:p>
                <a:endParaRPr lang="es-MX" sz="2200" dirty="0">
                  <a:latin typeface="+mn-lt"/>
                  <a:ea typeface="Roboto" panose="02000000000000000000" pitchFamily="2" charset="0"/>
                </a:endParaRPr>
              </a:p>
            </p:txBody>
          </p:sp>
        </mc:Choice>
        <mc:Fallback xmlns="">
          <p:sp>
            <p:nvSpPr>
              <p:cNvPr id="5" name="Google Shape;310;p34">
                <a:extLst>
                  <a:ext uri="{FF2B5EF4-FFF2-40B4-BE49-F238E27FC236}">
                    <a16:creationId xmlns:a16="http://schemas.microsoft.com/office/drawing/2014/main" id="{F102D340-F804-4113-9FEB-9A4128546791}"/>
                  </a:ext>
                </a:extLst>
              </p:cNvPr>
              <p:cNvSpPr txBox="1">
                <a:spLocks noRot="1" noChangeAspect="1" noMove="1" noResize="1" noEditPoints="1" noAdjustHandles="1" noChangeArrowheads="1" noChangeShapeType="1" noTextEdit="1"/>
              </p:cNvSpPr>
              <p:nvPr/>
            </p:nvSpPr>
            <p:spPr>
              <a:xfrm>
                <a:off x="249389" y="932564"/>
                <a:ext cx="11608314" cy="5158519"/>
              </a:xfrm>
              <a:prstGeom prst="rect">
                <a:avLst/>
              </a:prstGeom>
              <a:blipFill>
                <a:blip r:embed="rId2"/>
                <a:stretch>
                  <a:fillRect/>
                </a:stretch>
              </a:blipFill>
              <a:ln>
                <a:noFill/>
              </a:ln>
            </p:spPr>
            <p:txBody>
              <a:bodyPr/>
              <a:lstStyle/>
              <a:p>
                <a:r>
                  <a:rPr lang="es-CO">
                    <a:noFill/>
                  </a:rPr>
                  <a:t> </a:t>
                </a:r>
              </a:p>
            </p:txBody>
          </p:sp>
        </mc:Fallback>
      </mc:AlternateContent>
    </p:spTree>
    <p:extLst>
      <p:ext uri="{BB962C8B-B14F-4D97-AF65-F5344CB8AC3E}">
        <p14:creationId xmlns:p14="http://schemas.microsoft.com/office/powerpoint/2010/main" val="408513103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78E8DF2-7986-4872-8459-F68D43B26317}"/>
              </a:ext>
            </a:extLst>
          </p:cNvPr>
          <p:cNvSpPr>
            <a:spLocks noGrp="1"/>
          </p:cNvSpPr>
          <p:nvPr>
            <p:ph type="title"/>
          </p:nvPr>
        </p:nvSpPr>
        <p:spPr>
          <a:xfrm>
            <a:off x="575187" y="96038"/>
            <a:ext cx="10958051" cy="949500"/>
          </a:xfrm>
        </p:spPr>
        <p:txBody>
          <a:bodyPr/>
          <a:lstStyle/>
          <a:p>
            <a:r>
              <a:rPr lang="es-ES" dirty="0">
                <a:solidFill>
                  <a:schemeClr val="tx1"/>
                </a:solidFill>
                <a:latin typeface="+mj-lt"/>
              </a:rPr>
              <a:t>Tipos de conjuntos – Conjunto infinito</a:t>
            </a:r>
            <a:endParaRPr lang="es-CO" dirty="0">
              <a:solidFill>
                <a:schemeClr val="tx1"/>
              </a:solidFill>
              <a:latin typeface="+mj-lt"/>
            </a:endParaRPr>
          </a:p>
        </p:txBody>
      </p:sp>
      <mc:AlternateContent xmlns:mc="http://schemas.openxmlformats.org/markup-compatibility/2006" xmlns:a14="http://schemas.microsoft.com/office/drawing/2010/main">
        <mc:Choice Requires="a14">
          <p:sp>
            <p:nvSpPr>
              <p:cNvPr id="6" name="Google Shape;310;p34">
                <a:extLst>
                  <a:ext uri="{FF2B5EF4-FFF2-40B4-BE49-F238E27FC236}">
                    <a16:creationId xmlns:a16="http://schemas.microsoft.com/office/drawing/2014/main" id="{05DC2B5D-5980-435F-9F2E-D371149A2A1E}"/>
                  </a:ext>
                </a:extLst>
              </p:cNvPr>
              <p:cNvSpPr txBox="1">
                <a:spLocks/>
              </p:cNvSpPr>
              <p:nvPr/>
            </p:nvSpPr>
            <p:spPr>
              <a:xfrm>
                <a:off x="249389" y="941211"/>
                <a:ext cx="11519824" cy="543009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200" b="1" dirty="0">
                    <a:solidFill>
                      <a:schemeClr val="tx1"/>
                    </a:solidFill>
                    <a:latin typeface="+mn-lt"/>
                    <a:ea typeface="Roboto" panose="02000000000000000000" pitchFamily="2" charset="0"/>
                  </a:rPr>
                  <a:t>Conjunto infinito</a:t>
                </a:r>
              </a:p>
              <a:p>
                <a:pPr marL="127000" indent="0">
                  <a:buNone/>
                </a:pPr>
                <a:r>
                  <a:rPr lang="es-MX" sz="2200" dirty="0">
                    <a:latin typeface="+mn-lt"/>
                    <a:ea typeface="Roboto" panose="02000000000000000000" pitchFamily="2" charset="0"/>
                  </a:rPr>
                  <a:t>Es aquel que tiene un número ilimitado de elementos. Por lo tanto, no es posible contar todos sus elementos.</a:t>
                </a:r>
              </a:p>
              <a:p>
                <a:r>
                  <a:rPr lang="es-MX" sz="2200" b="1" dirty="0">
                    <a:latin typeface="+mn-lt"/>
                    <a:ea typeface="Roboto" panose="02000000000000000000" pitchFamily="2" charset="0"/>
                  </a:rPr>
                  <a:t>Ejemplo:</a:t>
                </a:r>
              </a:p>
              <a:p>
                <a:pPr lvl="1"/>
                <a:r>
                  <a:rPr lang="es-MX" dirty="0">
                    <a:latin typeface="+mn-lt"/>
                    <a:ea typeface="Roboto" panose="02000000000000000000" pitchFamily="2" charset="0"/>
                  </a:rPr>
                  <a:t>El conjunto de números naturales: </a:t>
                </a:r>
                <a14:m>
                  <m:oMath xmlns:m="http://schemas.openxmlformats.org/officeDocument/2006/math">
                    <m:r>
                      <a:rPr lang="es-MX" b="0" i="1" smtClean="0">
                        <a:latin typeface="Cambria Math" panose="02040503050406030204" pitchFamily="18" charset="0"/>
                        <a:ea typeface="Cambria Math" panose="02040503050406030204" pitchFamily="18" charset="0"/>
                      </a:rPr>
                      <m:t>ℕ</m:t>
                    </m:r>
                    <m:r>
                      <a:rPr lang="es-MX" b="0" i="1" smtClean="0">
                        <a:latin typeface="Cambria Math" panose="02040503050406030204" pitchFamily="18" charset="0"/>
                        <a:ea typeface="Roboto" panose="02000000000000000000" pitchFamily="2" charset="0"/>
                      </a:rPr>
                      <m:t>={0,1,2,3,…}</m:t>
                    </m:r>
                  </m:oMath>
                </a14:m>
                <a:endParaRPr lang="es-MX" dirty="0">
                  <a:latin typeface="+mn-lt"/>
                  <a:ea typeface="Roboto" panose="02000000000000000000" pitchFamily="2" charset="0"/>
                </a:endParaRPr>
              </a:p>
              <a:p>
                <a:pPr lvl="1"/>
                <a:endParaRPr lang="es-MX" dirty="0">
                  <a:latin typeface="+mn-lt"/>
                  <a:ea typeface="Roboto" panose="02000000000000000000" pitchFamily="2" charset="0"/>
                </a:endParaRPr>
              </a:p>
              <a:p>
                <a:pPr lvl="1"/>
                <a:endParaRPr lang="es-MX" dirty="0">
                  <a:latin typeface="+mn-lt"/>
                  <a:ea typeface="Roboto" panose="02000000000000000000" pitchFamily="2" charset="0"/>
                </a:endParaRPr>
              </a:p>
              <a:p>
                <a:pPr lvl="1"/>
                <a:endParaRPr lang="es-MX" dirty="0">
                  <a:latin typeface="+mn-lt"/>
                  <a:ea typeface="Roboto" panose="02000000000000000000" pitchFamily="2" charset="0"/>
                </a:endParaRPr>
              </a:p>
              <a:p>
                <a:pPr lvl="1"/>
                <a:r>
                  <a:rPr lang="es-MX" dirty="0">
                    <a:latin typeface="+mn-lt"/>
                    <a:ea typeface="Roboto" panose="02000000000000000000" pitchFamily="2" charset="0"/>
                  </a:rPr>
                  <a:t>Las estrellas del universo:  </a:t>
                </a:r>
                <a14:m>
                  <m:oMath xmlns:m="http://schemas.openxmlformats.org/officeDocument/2006/math">
                    <m:r>
                      <a:rPr lang="es-MX" b="0" i="1" smtClean="0">
                        <a:latin typeface="Cambria Math" panose="02040503050406030204" pitchFamily="18" charset="0"/>
                        <a:ea typeface="Roboto" panose="02000000000000000000" pitchFamily="2" charset="0"/>
                      </a:rPr>
                      <m:t>𝐸</m:t>
                    </m:r>
                    <m:r>
                      <a:rPr lang="es-MX" b="0" i="1" smtClean="0">
                        <a:latin typeface="Cambria Math" panose="02040503050406030204" pitchFamily="18" charset="0"/>
                        <a:ea typeface="Roboto" panose="02000000000000000000" pitchFamily="2" charset="0"/>
                      </a:rPr>
                      <m:t>={</m:t>
                    </m:r>
                    <m:r>
                      <a:rPr lang="es-MX" b="0" i="1" smtClean="0">
                        <a:latin typeface="Cambria Math" panose="02040503050406030204" pitchFamily="18" charset="0"/>
                        <a:ea typeface="Roboto" panose="02000000000000000000" pitchFamily="2" charset="0"/>
                      </a:rPr>
                      <m:t>𝑆𝑜𝑙</m:t>
                    </m:r>
                    <m:r>
                      <a:rPr lang="es-MX" b="0" i="1" smtClean="0">
                        <a:latin typeface="Cambria Math" panose="02040503050406030204" pitchFamily="18" charset="0"/>
                        <a:ea typeface="Roboto" panose="02000000000000000000" pitchFamily="2" charset="0"/>
                      </a:rPr>
                      <m:t>, </m:t>
                    </m:r>
                    <m:r>
                      <a:rPr lang="es-MX" b="0" i="1" smtClean="0">
                        <a:latin typeface="Cambria Math" panose="02040503050406030204" pitchFamily="18" charset="0"/>
                        <a:ea typeface="Roboto" panose="02000000000000000000" pitchFamily="2" charset="0"/>
                      </a:rPr>
                      <m:t>𝐶𝑖𝑟𝑖𝑜</m:t>
                    </m:r>
                    <m:r>
                      <a:rPr lang="es-MX" b="0" i="1" smtClean="0">
                        <a:latin typeface="Cambria Math" panose="02040503050406030204" pitchFamily="18" charset="0"/>
                        <a:ea typeface="Roboto" panose="02000000000000000000" pitchFamily="2" charset="0"/>
                      </a:rPr>
                      <m:t>, </m:t>
                    </m:r>
                    <m:r>
                      <a:rPr lang="es-MX" b="0" i="1" smtClean="0">
                        <a:latin typeface="Cambria Math" panose="02040503050406030204" pitchFamily="18" charset="0"/>
                        <a:ea typeface="Roboto" panose="02000000000000000000" pitchFamily="2" charset="0"/>
                      </a:rPr>
                      <m:t>𝐴𝑟𝑡𝑢𝑟𝑜</m:t>
                    </m:r>
                    <m:r>
                      <a:rPr lang="es-MX" b="0" i="1" smtClean="0">
                        <a:latin typeface="Cambria Math" panose="02040503050406030204" pitchFamily="18" charset="0"/>
                        <a:ea typeface="Roboto" panose="02000000000000000000" pitchFamily="2" charset="0"/>
                      </a:rPr>
                      <m:t>, </m:t>
                    </m:r>
                    <m:r>
                      <a:rPr lang="es-MX" b="0" i="1" smtClean="0">
                        <a:latin typeface="Cambria Math" panose="02040503050406030204" pitchFamily="18" charset="0"/>
                        <a:ea typeface="Roboto" panose="02000000000000000000" pitchFamily="2" charset="0"/>
                      </a:rPr>
                      <m:t>𝑉𝑒𝑔𝑎</m:t>
                    </m:r>
                    <m:r>
                      <a:rPr lang="es-MX" b="0" i="1" smtClean="0">
                        <a:latin typeface="Cambria Math" panose="02040503050406030204" pitchFamily="18" charset="0"/>
                        <a:ea typeface="Roboto" panose="02000000000000000000" pitchFamily="2" charset="0"/>
                      </a:rPr>
                      <m:t>, </m:t>
                    </m:r>
                    <m:r>
                      <a:rPr lang="es-MX" b="0" i="1" smtClean="0">
                        <a:latin typeface="Cambria Math" panose="02040503050406030204" pitchFamily="18" charset="0"/>
                        <a:ea typeface="Roboto" panose="02000000000000000000" pitchFamily="2" charset="0"/>
                      </a:rPr>
                      <m:t>𝐶𝑎𝑛𝑜𝑝𝑢𝑠</m:t>
                    </m:r>
                    <m:r>
                      <a:rPr lang="es-MX" b="0" i="1" smtClean="0">
                        <a:latin typeface="Cambria Math" panose="02040503050406030204" pitchFamily="18" charset="0"/>
                        <a:ea typeface="Roboto" panose="02000000000000000000" pitchFamily="2" charset="0"/>
                      </a:rPr>
                      <m:t>, </m:t>
                    </m:r>
                    <m:r>
                      <a:rPr lang="es-MX" b="0" i="1" smtClean="0">
                        <a:latin typeface="Cambria Math" panose="02040503050406030204" pitchFamily="18" charset="0"/>
                        <a:ea typeface="Roboto" panose="02000000000000000000" pitchFamily="2" charset="0"/>
                      </a:rPr>
                      <m:t>𝐴𝑙𝑓𝑎</m:t>
                    </m:r>
                    <m:r>
                      <a:rPr lang="es-MX" b="0" i="1" smtClean="0">
                        <a:latin typeface="Cambria Math" panose="02040503050406030204" pitchFamily="18" charset="0"/>
                        <a:ea typeface="Roboto" panose="02000000000000000000" pitchFamily="2" charset="0"/>
                      </a:rPr>
                      <m:t> </m:t>
                    </m:r>
                    <m:r>
                      <a:rPr lang="es-MX" b="0" i="1" smtClean="0">
                        <a:latin typeface="Cambria Math" panose="02040503050406030204" pitchFamily="18" charset="0"/>
                        <a:ea typeface="Roboto" panose="02000000000000000000" pitchFamily="2" charset="0"/>
                      </a:rPr>
                      <m:t>𝐶𝑒𝑛𝑡𝑎𝑢𝑟𝑖</m:t>
                    </m:r>
                    <m:r>
                      <a:rPr lang="es-MX" b="0" i="1" smtClean="0">
                        <a:latin typeface="Cambria Math" panose="02040503050406030204" pitchFamily="18" charset="0"/>
                        <a:ea typeface="Roboto" panose="02000000000000000000" pitchFamily="2" charset="0"/>
                      </a:rPr>
                      <m:t>,…}</m:t>
                    </m:r>
                  </m:oMath>
                </a14:m>
                <a:endParaRPr lang="es-MX" dirty="0">
                  <a:latin typeface="+mn-lt"/>
                  <a:ea typeface="Roboto" panose="02000000000000000000" pitchFamily="2" charset="0"/>
                </a:endParaRPr>
              </a:p>
              <a:p>
                <a:pPr lvl="1"/>
                <a:endParaRPr lang="es-MX" dirty="0">
                  <a:latin typeface="+mn-lt"/>
                  <a:ea typeface="Roboto" panose="02000000000000000000" pitchFamily="2" charset="0"/>
                </a:endParaRPr>
              </a:p>
              <a:p>
                <a:pPr lvl="1"/>
                <a:endParaRPr lang="es-MX" dirty="0">
                  <a:latin typeface="+mn-lt"/>
                  <a:ea typeface="Roboto" panose="02000000000000000000" pitchFamily="2" charset="0"/>
                </a:endParaRPr>
              </a:p>
              <a:p>
                <a:pPr lvl="1"/>
                <a:endParaRPr lang="es-MX" dirty="0">
                  <a:latin typeface="+mn-lt"/>
                  <a:ea typeface="Roboto" panose="02000000000000000000" pitchFamily="2" charset="0"/>
                </a:endParaRPr>
              </a:p>
              <a:p>
                <a:pPr lvl="1"/>
                <a:r>
                  <a:rPr lang="es-MX" dirty="0">
                    <a:latin typeface="+mn-lt"/>
                    <a:ea typeface="Roboto" panose="02000000000000000000" pitchFamily="2" charset="0"/>
                  </a:rPr>
                  <a:t>El conjunto de puntos de una recta.</a:t>
                </a:r>
              </a:p>
              <a:p>
                <a:pPr marL="127000" indent="0">
                  <a:buNone/>
                </a:pPr>
                <a:endParaRPr lang="es-MX" sz="2200" dirty="0">
                  <a:latin typeface="+mn-lt"/>
                  <a:ea typeface="Roboto" panose="02000000000000000000" pitchFamily="2" charset="0"/>
                </a:endParaRPr>
              </a:p>
              <a:p>
                <a:endParaRPr lang="es-MX" sz="2200" dirty="0">
                  <a:latin typeface="+mn-lt"/>
                  <a:ea typeface="Roboto" panose="02000000000000000000" pitchFamily="2" charset="0"/>
                </a:endParaRPr>
              </a:p>
            </p:txBody>
          </p:sp>
        </mc:Choice>
        <mc:Fallback xmlns="">
          <p:sp>
            <p:nvSpPr>
              <p:cNvPr id="6" name="Google Shape;310;p34">
                <a:extLst>
                  <a:ext uri="{FF2B5EF4-FFF2-40B4-BE49-F238E27FC236}">
                    <a16:creationId xmlns:a16="http://schemas.microsoft.com/office/drawing/2014/main" id="{05DC2B5D-5980-435F-9F2E-D371149A2A1E}"/>
                  </a:ext>
                </a:extLst>
              </p:cNvPr>
              <p:cNvSpPr txBox="1">
                <a:spLocks noRot="1" noChangeAspect="1" noMove="1" noResize="1" noEditPoints="1" noAdjustHandles="1" noChangeArrowheads="1" noChangeShapeType="1" noTextEdit="1"/>
              </p:cNvSpPr>
              <p:nvPr/>
            </p:nvSpPr>
            <p:spPr>
              <a:xfrm>
                <a:off x="249389" y="941211"/>
                <a:ext cx="11519824" cy="5430092"/>
              </a:xfrm>
              <a:prstGeom prst="rect">
                <a:avLst/>
              </a:prstGeom>
              <a:blipFill>
                <a:blip r:embed="rId2"/>
                <a:stretch>
                  <a:fillRect/>
                </a:stretch>
              </a:blipFill>
              <a:ln>
                <a:noFill/>
              </a:ln>
            </p:spPr>
            <p:txBody>
              <a:bodyPr/>
              <a:lstStyle/>
              <a:p>
                <a:r>
                  <a:rPr lang="es-CO">
                    <a:noFill/>
                  </a:rPr>
                  <a:t> </a:t>
                </a:r>
              </a:p>
            </p:txBody>
          </p:sp>
        </mc:Fallback>
      </mc:AlternateContent>
    </p:spTree>
    <p:extLst>
      <p:ext uri="{BB962C8B-B14F-4D97-AF65-F5344CB8AC3E}">
        <p14:creationId xmlns:p14="http://schemas.microsoft.com/office/powerpoint/2010/main" val="161576478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78E8DF2-7986-4872-8459-F68D43B26317}"/>
              </a:ext>
            </a:extLst>
          </p:cNvPr>
          <p:cNvSpPr>
            <a:spLocks noGrp="1"/>
          </p:cNvSpPr>
          <p:nvPr>
            <p:ph type="title"/>
          </p:nvPr>
        </p:nvSpPr>
        <p:spPr>
          <a:xfrm>
            <a:off x="916649" y="96038"/>
            <a:ext cx="10085647" cy="949500"/>
          </a:xfrm>
        </p:spPr>
        <p:txBody>
          <a:bodyPr/>
          <a:lstStyle/>
          <a:p>
            <a:r>
              <a:rPr lang="es-ES" dirty="0">
                <a:solidFill>
                  <a:schemeClr val="tx1"/>
                </a:solidFill>
                <a:latin typeface="+mj-lt"/>
              </a:rPr>
              <a:t>Tipos de conjuntos – Conjunto unitario</a:t>
            </a:r>
            <a:endParaRPr lang="es-CO" dirty="0">
              <a:solidFill>
                <a:schemeClr val="tx1"/>
              </a:solidFill>
              <a:latin typeface="+mj-lt"/>
            </a:endParaRPr>
          </a:p>
        </p:txBody>
      </p:sp>
      <mc:AlternateContent xmlns:mc="http://schemas.openxmlformats.org/markup-compatibility/2006" xmlns:a14="http://schemas.microsoft.com/office/drawing/2010/main">
        <mc:Choice Requires="a14">
          <p:sp>
            <p:nvSpPr>
              <p:cNvPr id="5" name="Google Shape;310;p34">
                <a:extLst>
                  <a:ext uri="{FF2B5EF4-FFF2-40B4-BE49-F238E27FC236}">
                    <a16:creationId xmlns:a16="http://schemas.microsoft.com/office/drawing/2014/main" id="{F102D340-F804-4113-9FEB-9A4128546791}"/>
                  </a:ext>
                </a:extLst>
              </p:cNvPr>
              <p:cNvSpPr txBox="1">
                <a:spLocks/>
              </p:cNvSpPr>
              <p:nvPr/>
            </p:nvSpPr>
            <p:spPr>
              <a:xfrm>
                <a:off x="370959" y="1045538"/>
                <a:ext cx="11486744" cy="532576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200" dirty="0">
                    <a:latin typeface="+mn-lt"/>
                    <a:ea typeface="Roboto" panose="02000000000000000000" pitchFamily="2" charset="0"/>
                  </a:rPr>
                  <a:t>Un conjunto unitario es aquel que contiene exactamente un solo elemento. Es un tipo de conjunto no vacío y finito.</a:t>
                </a:r>
              </a:p>
              <a:p>
                <a:r>
                  <a:rPr lang="es-MX" sz="2200" dirty="0">
                    <a:latin typeface="+mn-lt"/>
                    <a:ea typeface="Roboto" panose="02000000000000000000" pitchFamily="2" charset="0"/>
                  </a:rPr>
                  <a:t> </a:t>
                </a:r>
                <a:r>
                  <a:rPr lang="es-MX" sz="2200" b="1" dirty="0">
                    <a:latin typeface="+mn-lt"/>
                    <a:ea typeface="Roboto" panose="02000000000000000000" pitchFamily="2" charset="0"/>
                  </a:rPr>
                  <a:t>Notación</a:t>
                </a:r>
                <a:r>
                  <a:rPr lang="es-MX" sz="2200" dirty="0">
                    <a:latin typeface="+mn-lt"/>
                    <a:ea typeface="Roboto" panose="02000000000000000000" pitchFamily="2" charset="0"/>
                  </a:rPr>
                  <a:t>:</a:t>
                </a:r>
              </a:p>
              <a:p>
                <a:endParaRPr lang="es-MX" sz="2200" dirty="0">
                  <a:latin typeface="+mn-lt"/>
                  <a:ea typeface="Roboto" panose="02000000000000000000" pitchFamily="2" charset="0"/>
                </a:endParaRPr>
              </a:p>
              <a:p>
                <a:pPr marL="127000" indent="0">
                  <a:buNone/>
                </a:pPr>
                <a14:m>
                  <m:oMathPara xmlns:m="http://schemas.openxmlformats.org/officeDocument/2006/math">
                    <m:oMathParaPr>
                      <m:jc m:val="centerGroup"/>
                    </m:oMathParaPr>
                    <m:oMath xmlns:m="http://schemas.openxmlformats.org/officeDocument/2006/math">
                      <m:r>
                        <a:rPr lang="es-MX" sz="2200" b="0" i="1" smtClean="0">
                          <a:latin typeface="Cambria Math" panose="02040503050406030204" pitchFamily="18" charset="0"/>
                        </a:rPr>
                        <m:t>𝐴</m:t>
                      </m:r>
                      <m:r>
                        <a:rPr lang="es-MX" sz="2200" b="0" i="1" smtClean="0">
                          <a:latin typeface="Cambria Math" panose="02040503050406030204" pitchFamily="18" charset="0"/>
                          <a:ea typeface="Cambria Math" panose="02040503050406030204" pitchFamily="18" charset="0"/>
                        </a:rPr>
                        <m:t>=</m:t>
                      </m:r>
                      <m:d>
                        <m:dPr>
                          <m:begChr m:val="{"/>
                          <m:endChr m:val="}"/>
                          <m:ctrlPr>
                            <a:rPr lang="es-MX" sz="2200" b="0" i="1" smtClean="0">
                              <a:latin typeface="Cambria Math" panose="02040503050406030204" pitchFamily="18" charset="0"/>
                              <a:ea typeface="Cambria Math" panose="02040503050406030204" pitchFamily="18" charset="0"/>
                            </a:rPr>
                          </m:ctrlPr>
                        </m:dPr>
                        <m:e>
                          <m:r>
                            <a:rPr lang="es-MX" sz="2200" b="0" i="1" smtClean="0">
                              <a:latin typeface="Cambria Math" panose="02040503050406030204" pitchFamily="18" charset="0"/>
                              <a:ea typeface="Cambria Math" panose="02040503050406030204" pitchFamily="18" charset="0"/>
                            </a:rPr>
                            <m:t>𝑎</m:t>
                          </m:r>
                        </m:e>
                      </m:d>
                    </m:oMath>
                  </m:oMathPara>
                </a14:m>
                <a:endParaRPr lang="es-MX" sz="2200" dirty="0">
                  <a:latin typeface="+mn-lt"/>
                  <a:ea typeface="Roboto" panose="02000000000000000000" pitchFamily="2" charset="0"/>
                </a:endParaRPr>
              </a:p>
              <a:p>
                <a:r>
                  <a:rPr lang="es-MX" sz="2200" b="1" dirty="0">
                    <a:latin typeface="+mn-lt"/>
                    <a:ea typeface="Roboto" panose="02000000000000000000" pitchFamily="2" charset="0"/>
                  </a:rPr>
                  <a:t>Ejemplo:</a:t>
                </a:r>
              </a:p>
              <a:p>
                <a:pPr lvl="1"/>
                <a:r>
                  <a:rPr lang="es-MX" dirty="0">
                    <a:latin typeface="+mn-lt"/>
                    <a:ea typeface="Roboto" panose="02000000000000000000" pitchFamily="2" charset="0"/>
                  </a:rPr>
                  <a:t>El conjunto que solo contiene el 7: </a:t>
                </a:r>
                <a14:m>
                  <m:oMath xmlns:m="http://schemas.openxmlformats.org/officeDocument/2006/math">
                    <m:r>
                      <a:rPr lang="es-MX" b="0" i="1" smtClean="0">
                        <a:latin typeface="Cambria Math" panose="02040503050406030204" pitchFamily="18" charset="0"/>
                        <a:ea typeface="Roboto" panose="02000000000000000000" pitchFamily="2" charset="0"/>
                      </a:rPr>
                      <m:t>𝐴</m:t>
                    </m:r>
                    <m:r>
                      <a:rPr lang="es-MX" b="0" i="1" smtClean="0">
                        <a:latin typeface="Cambria Math" panose="02040503050406030204" pitchFamily="18" charset="0"/>
                        <a:ea typeface="Roboto" panose="02000000000000000000" pitchFamily="2" charset="0"/>
                      </a:rPr>
                      <m:t>={7}</m:t>
                    </m:r>
                  </m:oMath>
                </a14:m>
                <a:endParaRPr lang="es-MX" dirty="0">
                  <a:latin typeface="+mn-lt"/>
                  <a:ea typeface="Roboto" panose="02000000000000000000" pitchFamily="2" charset="0"/>
                </a:endParaRPr>
              </a:p>
              <a:p>
                <a:pPr lvl="1"/>
                <a:endParaRPr lang="es-MX" dirty="0">
                  <a:latin typeface="+mn-lt"/>
                  <a:ea typeface="Roboto" panose="02000000000000000000" pitchFamily="2" charset="0"/>
                </a:endParaRPr>
              </a:p>
              <a:p>
                <a:pPr lvl="1"/>
                <a:r>
                  <a:rPr lang="es-MX" dirty="0">
                    <a:latin typeface="+mn-lt"/>
                    <a:ea typeface="Roboto" panose="02000000000000000000" pitchFamily="2" charset="0"/>
                  </a:rPr>
                  <a:t>El conjunto que contiene el ultimo día de la semana:  </a:t>
                </a:r>
                <a14:m>
                  <m:oMath xmlns:m="http://schemas.openxmlformats.org/officeDocument/2006/math">
                    <m:r>
                      <a:rPr lang="es-MX" b="0" i="1" smtClean="0">
                        <a:latin typeface="Cambria Math" panose="02040503050406030204" pitchFamily="18" charset="0"/>
                        <a:ea typeface="Roboto" panose="02000000000000000000" pitchFamily="2" charset="0"/>
                      </a:rPr>
                      <m:t>𝑊</m:t>
                    </m:r>
                    <m:r>
                      <a:rPr lang="es-MX" b="0" i="1" smtClean="0">
                        <a:latin typeface="Cambria Math" panose="02040503050406030204" pitchFamily="18" charset="0"/>
                        <a:ea typeface="Roboto" panose="02000000000000000000" pitchFamily="2" charset="0"/>
                      </a:rPr>
                      <m:t>={</m:t>
                    </m:r>
                    <m:r>
                      <a:rPr lang="es-MX" b="0" i="1" smtClean="0">
                        <a:latin typeface="Cambria Math" panose="02040503050406030204" pitchFamily="18" charset="0"/>
                        <a:ea typeface="Roboto" panose="02000000000000000000" pitchFamily="2" charset="0"/>
                      </a:rPr>
                      <m:t>𝑑𝑜𝑚𝑖𝑛𝑔𝑜</m:t>
                    </m:r>
                    <m:r>
                      <a:rPr lang="es-MX" b="0" i="1" smtClean="0">
                        <a:latin typeface="Cambria Math" panose="02040503050406030204" pitchFamily="18" charset="0"/>
                        <a:ea typeface="Roboto" panose="02000000000000000000" pitchFamily="2" charset="0"/>
                      </a:rPr>
                      <m:t>}</m:t>
                    </m:r>
                  </m:oMath>
                </a14:m>
                <a:endParaRPr lang="es-MX" dirty="0">
                  <a:latin typeface="+mn-lt"/>
                  <a:ea typeface="Roboto" panose="02000000000000000000" pitchFamily="2" charset="0"/>
                </a:endParaRPr>
              </a:p>
              <a:p>
                <a:pPr lvl="1"/>
                <a:endParaRPr lang="es-MX" dirty="0">
                  <a:latin typeface="+mn-lt"/>
                  <a:ea typeface="Roboto" panose="02000000000000000000" pitchFamily="2" charset="0"/>
                </a:endParaRPr>
              </a:p>
              <a:p>
                <a:pPr lvl="1"/>
                <a:r>
                  <a:rPr lang="es-MX" dirty="0">
                    <a:latin typeface="+mn-lt"/>
                    <a:ea typeface="Roboto" panose="02000000000000000000" pitchFamily="2" charset="0"/>
                  </a:rPr>
                  <a:t>El conjunto que contiene como único elemento al conjunto vacío:  </a:t>
                </a:r>
                <a14:m>
                  <m:oMath xmlns:m="http://schemas.openxmlformats.org/officeDocument/2006/math">
                    <m:r>
                      <a:rPr lang="es-MX" b="0" i="1" smtClean="0">
                        <a:latin typeface="Cambria Math" panose="02040503050406030204" pitchFamily="18" charset="0"/>
                        <a:ea typeface="Roboto" panose="02000000000000000000" pitchFamily="2" charset="0"/>
                      </a:rPr>
                      <m:t>𝐸</m:t>
                    </m:r>
                    <m:r>
                      <a:rPr lang="es-MX" b="0" i="1" smtClean="0">
                        <a:latin typeface="Cambria Math" panose="02040503050406030204" pitchFamily="18" charset="0"/>
                        <a:ea typeface="Roboto" panose="02000000000000000000" pitchFamily="2" charset="0"/>
                      </a:rPr>
                      <m:t>={∅}</m:t>
                    </m:r>
                  </m:oMath>
                </a14:m>
                <a:endParaRPr lang="es-MX" dirty="0">
                  <a:latin typeface="+mn-lt"/>
                  <a:ea typeface="Roboto" panose="02000000000000000000" pitchFamily="2" charset="0"/>
                </a:endParaRPr>
              </a:p>
              <a:p>
                <a:pPr lvl="1"/>
                <a:endParaRPr lang="es-MX" dirty="0">
                  <a:latin typeface="+mn-lt"/>
                  <a:ea typeface="Roboto" panose="02000000000000000000" pitchFamily="2" charset="0"/>
                </a:endParaRPr>
              </a:p>
              <a:p>
                <a:pPr lvl="1"/>
                <a:r>
                  <a:rPr lang="es-MX" dirty="0">
                    <a:latin typeface="+mn-lt"/>
                    <a:ea typeface="Roboto" panose="02000000000000000000" pitchFamily="2" charset="0"/>
                  </a:rPr>
                  <a:t>El perro de Superman: </a:t>
                </a:r>
                <a14:m>
                  <m:oMath xmlns:m="http://schemas.openxmlformats.org/officeDocument/2006/math">
                    <m:r>
                      <a:rPr lang="es-MX" b="0" i="1" smtClean="0">
                        <a:latin typeface="Cambria Math" panose="02040503050406030204" pitchFamily="18" charset="0"/>
                        <a:ea typeface="Roboto" panose="02000000000000000000" pitchFamily="2" charset="0"/>
                      </a:rPr>
                      <m:t>𝑃</m:t>
                    </m:r>
                    <m:r>
                      <a:rPr lang="es-MX" b="0" i="1" smtClean="0">
                        <a:latin typeface="Cambria Math" panose="02040503050406030204" pitchFamily="18" charset="0"/>
                        <a:ea typeface="Roboto" panose="02000000000000000000" pitchFamily="2" charset="0"/>
                      </a:rPr>
                      <m:t>={</m:t>
                    </m:r>
                    <m:r>
                      <a:rPr lang="es-MX" b="0" i="1" smtClean="0">
                        <a:latin typeface="Cambria Math" panose="02040503050406030204" pitchFamily="18" charset="0"/>
                        <a:ea typeface="Roboto" panose="02000000000000000000" pitchFamily="2" charset="0"/>
                      </a:rPr>
                      <m:t>𝐾𝑟𝑖𝑝𝑡𝑜</m:t>
                    </m:r>
                    <m:r>
                      <a:rPr lang="es-MX" b="0" i="1" smtClean="0">
                        <a:latin typeface="Cambria Math" panose="02040503050406030204" pitchFamily="18" charset="0"/>
                        <a:ea typeface="Roboto" panose="02000000000000000000" pitchFamily="2" charset="0"/>
                      </a:rPr>
                      <m:t>}</m:t>
                    </m:r>
                  </m:oMath>
                </a14:m>
                <a:endParaRPr lang="es-MX" dirty="0">
                  <a:latin typeface="+mn-lt"/>
                  <a:ea typeface="Roboto" panose="02000000000000000000" pitchFamily="2" charset="0"/>
                </a:endParaRPr>
              </a:p>
              <a:p>
                <a:pPr lvl="1"/>
                <a:endParaRPr lang="es-MX" dirty="0">
                  <a:latin typeface="+mn-lt"/>
                  <a:ea typeface="Roboto" panose="02000000000000000000" pitchFamily="2" charset="0"/>
                </a:endParaRPr>
              </a:p>
              <a:p>
                <a:pPr marL="127000" indent="0">
                  <a:buNone/>
                </a:pPr>
                <a:endParaRPr lang="es-MX" sz="2200" dirty="0">
                  <a:latin typeface="+mn-lt"/>
                  <a:ea typeface="Roboto" panose="02000000000000000000" pitchFamily="2" charset="0"/>
                </a:endParaRPr>
              </a:p>
              <a:p>
                <a:endParaRPr lang="es-MX" sz="2200" dirty="0">
                  <a:latin typeface="+mn-lt"/>
                  <a:ea typeface="Roboto" panose="02000000000000000000" pitchFamily="2" charset="0"/>
                </a:endParaRPr>
              </a:p>
            </p:txBody>
          </p:sp>
        </mc:Choice>
        <mc:Fallback xmlns="">
          <p:sp>
            <p:nvSpPr>
              <p:cNvPr id="5" name="Google Shape;310;p34">
                <a:extLst>
                  <a:ext uri="{FF2B5EF4-FFF2-40B4-BE49-F238E27FC236}">
                    <a16:creationId xmlns:a16="http://schemas.microsoft.com/office/drawing/2014/main" id="{F102D340-F804-4113-9FEB-9A4128546791}"/>
                  </a:ext>
                </a:extLst>
              </p:cNvPr>
              <p:cNvSpPr txBox="1">
                <a:spLocks noRot="1" noChangeAspect="1" noMove="1" noResize="1" noEditPoints="1" noAdjustHandles="1" noChangeArrowheads="1" noChangeShapeType="1" noTextEdit="1"/>
              </p:cNvSpPr>
              <p:nvPr/>
            </p:nvSpPr>
            <p:spPr>
              <a:xfrm>
                <a:off x="370959" y="1045538"/>
                <a:ext cx="11486744" cy="5325765"/>
              </a:xfrm>
              <a:prstGeom prst="rect">
                <a:avLst/>
              </a:prstGeom>
              <a:blipFill>
                <a:blip r:embed="rId2"/>
                <a:stretch>
                  <a:fillRect r="-849"/>
                </a:stretch>
              </a:blipFill>
              <a:ln>
                <a:noFill/>
              </a:ln>
            </p:spPr>
            <p:txBody>
              <a:bodyPr/>
              <a:lstStyle/>
              <a:p>
                <a:r>
                  <a:rPr lang="es-CO">
                    <a:noFill/>
                  </a:rPr>
                  <a:t> </a:t>
                </a:r>
              </a:p>
            </p:txBody>
          </p:sp>
        </mc:Fallback>
      </mc:AlternateContent>
    </p:spTree>
    <p:extLst>
      <p:ext uri="{BB962C8B-B14F-4D97-AF65-F5344CB8AC3E}">
        <p14:creationId xmlns:p14="http://schemas.microsoft.com/office/powerpoint/2010/main" val="157989787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78E8DF2-7986-4872-8459-F68D43B26317}"/>
              </a:ext>
            </a:extLst>
          </p:cNvPr>
          <p:cNvSpPr>
            <a:spLocks noGrp="1"/>
          </p:cNvSpPr>
          <p:nvPr>
            <p:ph type="title"/>
          </p:nvPr>
        </p:nvSpPr>
        <p:spPr>
          <a:xfrm>
            <a:off x="486697" y="96038"/>
            <a:ext cx="10955802" cy="949500"/>
          </a:xfrm>
        </p:spPr>
        <p:txBody>
          <a:bodyPr/>
          <a:lstStyle/>
          <a:p>
            <a:r>
              <a:rPr lang="es-ES" dirty="0">
                <a:solidFill>
                  <a:schemeClr val="tx1"/>
                </a:solidFill>
                <a:latin typeface="+mj-lt"/>
              </a:rPr>
              <a:t>Tipos de conjuntos – Conjunto universal</a:t>
            </a:r>
            <a:endParaRPr lang="es-CO" dirty="0">
              <a:solidFill>
                <a:schemeClr val="tx1"/>
              </a:solidFill>
              <a:latin typeface="+mj-lt"/>
            </a:endParaRPr>
          </a:p>
        </p:txBody>
      </p:sp>
      <mc:AlternateContent xmlns:mc="http://schemas.openxmlformats.org/markup-compatibility/2006" xmlns:a14="http://schemas.microsoft.com/office/drawing/2010/main">
        <mc:Choice Requires="a14">
          <p:sp>
            <p:nvSpPr>
              <p:cNvPr id="5" name="Google Shape;310;p34">
                <a:extLst>
                  <a:ext uri="{FF2B5EF4-FFF2-40B4-BE49-F238E27FC236}">
                    <a16:creationId xmlns:a16="http://schemas.microsoft.com/office/drawing/2014/main" id="{F102D340-F804-4113-9FEB-9A4128546791}"/>
                  </a:ext>
                </a:extLst>
              </p:cNvPr>
              <p:cNvSpPr txBox="1">
                <a:spLocks/>
              </p:cNvSpPr>
              <p:nvPr/>
            </p:nvSpPr>
            <p:spPr>
              <a:xfrm>
                <a:off x="223475" y="934545"/>
                <a:ext cx="11481827" cy="275255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200" dirty="0">
                    <a:latin typeface="+mn-lt"/>
                    <a:ea typeface="Roboto" panose="02000000000000000000" pitchFamily="2" charset="0"/>
                  </a:rPr>
                  <a:t>El conjunto universal, denotado comúnmente por </a:t>
                </a:r>
                <a14:m>
                  <m:oMath xmlns:m="http://schemas.openxmlformats.org/officeDocument/2006/math">
                    <m:r>
                      <a:rPr lang="es-MX" sz="2200" b="0" i="1" smtClean="0">
                        <a:latin typeface="Cambria Math" panose="02040503050406030204" pitchFamily="18" charset="0"/>
                      </a:rPr>
                      <m:t>𝑈</m:t>
                    </m:r>
                  </m:oMath>
                </a14:m>
                <a:r>
                  <a:rPr lang="es-MX" sz="2200" dirty="0">
                    <a:latin typeface="+mn-lt"/>
                    <a:ea typeface="Roboto" panose="02000000000000000000" pitchFamily="2" charset="0"/>
                  </a:rPr>
                  <a:t>, es el conjunto que contiene todos los elementos posibles dentro de un </a:t>
                </a:r>
                <a:r>
                  <a:rPr lang="es-MX" sz="2200" b="1" dirty="0">
                    <a:latin typeface="+mn-lt"/>
                    <a:ea typeface="Roboto" panose="02000000000000000000" pitchFamily="2" charset="0"/>
                  </a:rPr>
                  <a:t>contexto</a:t>
                </a:r>
                <a:r>
                  <a:rPr lang="es-MX" sz="2200" dirty="0">
                    <a:latin typeface="+mn-lt"/>
                    <a:ea typeface="Roboto" panose="02000000000000000000" pitchFamily="2" charset="0"/>
                  </a:rPr>
                  <a:t> o </a:t>
                </a:r>
                <a:r>
                  <a:rPr lang="es-MX" sz="2200" b="1" dirty="0">
                    <a:latin typeface="+mn-lt"/>
                    <a:ea typeface="Roboto" panose="02000000000000000000" pitchFamily="2" charset="0"/>
                  </a:rPr>
                  <a:t>universo de discurso específico</a:t>
                </a:r>
                <a:r>
                  <a:rPr lang="es-MX" sz="2200" dirty="0">
                    <a:latin typeface="+mn-lt"/>
                    <a:ea typeface="Roboto" panose="02000000000000000000" pitchFamily="2" charset="0"/>
                  </a:rPr>
                  <a:t>.</a:t>
                </a:r>
              </a:p>
              <a:p>
                <a:r>
                  <a:rPr lang="es-MX" sz="2200" dirty="0">
                    <a:latin typeface="+mn-lt"/>
                    <a:ea typeface="Roboto" panose="02000000000000000000" pitchFamily="2" charset="0"/>
                  </a:rPr>
                  <a:t>Depende del problema o del conjunto de referencia.</a:t>
                </a:r>
              </a:p>
              <a:p>
                <a:r>
                  <a:rPr lang="es-MX" sz="2200" dirty="0">
                    <a:latin typeface="+mn-lt"/>
                    <a:ea typeface="Roboto" panose="02000000000000000000" pitchFamily="2" charset="0"/>
                  </a:rPr>
                  <a:t>Todos los demás conjuntos en el problema se consideran subconjuntos de </a:t>
                </a:r>
                <a14:m>
                  <m:oMath xmlns:m="http://schemas.openxmlformats.org/officeDocument/2006/math">
                    <m:r>
                      <a:rPr lang="es-MX" sz="2200" b="0" i="1" smtClean="0">
                        <a:latin typeface="Cambria Math" panose="02040503050406030204" pitchFamily="18" charset="0"/>
                      </a:rPr>
                      <m:t>𝑈</m:t>
                    </m:r>
                  </m:oMath>
                </a14:m>
                <a:r>
                  <a:rPr lang="es-MX" sz="2200" dirty="0">
                    <a:latin typeface="+mn-lt"/>
                    <a:ea typeface="Roboto" panose="02000000000000000000" pitchFamily="2" charset="0"/>
                  </a:rPr>
                  <a:t>.</a:t>
                </a:r>
              </a:p>
              <a:p>
                <a:endParaRPr lang="es-MX" sz="2200" b="1" dirty="0">
                  <a:latin typeface="+mn-lt"/>
                  <a:ea typeface="Roboto" panose="02000000000000000000" pitchFamily="2" charset="0"/>
                </a:endParaRPr>
              </a:p>
              <a:p>
                <a:pPr marL="127000" indent="0">
                  <a:buNone/>
                </a:pPr>
                <a:r>
                  <a:rPr lang="es-MX" sz="2200" b="1" dirty="0">
                    <a:latin typeface="+mn-lt"/>
                    <a:ea typeface="Roboto" panose="02000000000000000000" pitchFamily="2" charset="0"/>
                  </a:rPr>
                  <a:t>Ejemplo</a:t>
                </a:r>
                <a:r>
                  <a:rPr lang="es-MX" sz="2200" dirty="0">
                    <a:latin typeface="+mn-lt"/>
                    <a:ea typeface="Roboto" panose="02000000000000000000" pitchFamily="2" charset="0"/>
                  </a:rPr>
                  <a:t>:  La siguiente tabla ilustra algunos ejemplos del conjunto universal dependiendo del contexto:</a:t>
                </a:r>
                <a:endParaRPr lang="es-MX" sz="2200" b="0" dirty="0">
                  <a:latin typeface="+mn-lt"/>
                  <a:ea typeface="Cambria Math" panose="02040503050406030204" pitchFamily="18" charset="0"/>
                </a:endParaRPr>
              </a:p>
              <a:p>
                <a:pPr marL="127000" indent="0">
                  <a:buNone/>
                </a:pPr>
                <a:endParaRPr lang="es-MX" sz="2200" dirty="0">
                  <a:latin typeface="+mn-lt"/>
                  <a:ea typeface="Roboto" panose="02000000000000000000" pitchFamily="2" charset="0"/>
                </a:endParaRPr>
              </a:p>
            </p:txBody>
          </p:sp>
        </mc:Choice>
        <mc:Fallback xmlns="">
          <p:sp>
            <p:nvSpPr>
              <p:cNvPr id="5" name="Google Shape;310;p34">
                <a:extLst>
                  <a:ext uri="{FF2B5EF4-FFF2-40B4-BE49-F238E27FC236}">
                    <a16:creationId xmlns:a16="http://schemas.microsoft.com/office/drawing/2014/main" id="{F102D340-F804-4113-9FEB-9A4128546791}"/>
                  </a:ext>
                </a:extLst>
              </p:cNvPr>
              <p:cNvSpPr txBox="1">
                <a:spLocks noRot="1" noChangeAspect="1" noMove="1" noResize="1" noEditPoints="1" noAdjustHandles="1" noChangeArrowheads="1" noChangeShapeType="1" noTextEdit="1"/>
              </p:cNvSpPr>
              <p:nvPr/>
            </p:nvSpPr>
            <p:spPr>
              <a:xfrm>
                <a:off x="223475" y="934545"/>
                <a:ext cx="11481827" cy="2752552"/>
              </a:xfrm>
              <a:prstGeom prst="rect">
                <a:avLst/>
              </a:prstGeom>
              <a:blipFill>
                <a:blip r:embed="rId2"/>
                <a:stretch>
                  <a:fillRect b="-7743"/>
                </a:stretch>
              </a:blipFill>
              <a:ln>
                <a:noFill/>
              </a:ln>
            </p:spPr>
            <p:txBody>
              <a:bodyPr/>
              <a:lstStyle/>
              <a:p>
                <a:r>
                  <a:rPr lang="es-CO">
                    <a:noFill/>
                  </a:rPr>
                  <a:t> </a:t>
                </a:r>
              </a:p>
            </p:txBody>
          </p:sp>
        </mc:Fallback>
      </mc:AlternateContent>
      <mc:AlternateContent xmlns:mc="http://schemas.openxmlformats.org/markup-compatibility/2006" xmlns:a14="http://schemas.microsoft.com/office/drawing/2010/main">
        <mc:Choice Requires="a14">
          <p:graphicFrame>
            <p:nvGraphicFramePr>
              <p:cNvPr id="3" name="Tabla 5">
                <a:extLst>
                  <a:ext uri="{FF2B5EF4-FFF2-40B4-BE49-F238E27FC236}">
                    <a16:creationId xmlns:a16="http://schemas.microsoft.com/office/drawing/2014/main" id="{B2736FCC-870C-4A6E-88DE-1EFFE46507A4}"/>
                  </a:ext>
                </a:extLst>
              </p:cNvPr>
              <p:cNvGraphicFramePr>
                <a:graphicFrameLocks noGrp="1"/>
              </p:cNvGraphicFramePr>
              <p:nvPr>
                <p:extLst>
                  <p:ext uri="{D42A27DB-BD31-4B8C-83A1-F6EECF244321}">
                    <p14:modId xmlns:p14="http://schemas.microsoft.com/office/powerpoint/2010/main" val="3904894403"/>
                  </p:ext>
                </p:extLst>
              </p:nvPr>
            </p:nvGraphicFramePr>
            <p:xfrm>
              <a:off x="456447" y="3961879"/>
              <a:ext cx="8524142" cy="2377440"/>
            </p:xfrm>
            <a:graphic>
              <a:graphicData uri="http://schemas.openxmlformats.org/drawingml/2006/table">
                <a:tbl>
                  <a:tblPr firstRow="1" bandRow="1">
                    <a:tableStyleId>{AD6A3598-7CB8-4345-8D95-17CE05F158A0}</a:tableStyleId>
                  </a:tblPr>
                  <a:tblGrid>
                    <a:gridCol w="4761611">
                      <a:extLst>
                        <a:ext uri="{9D8B030D-6E8A-4147-A177-3AD203B41FA5}">
                          <a16:colId xmlns:a16="http://schemas.microsoft.com/office/drawing/2014/main" val="2841649560"/>
                        </a:ext>
                      </a:extLst>
                    </a:gridCol>
                    <a:gridCol w="3762531">
                      <a:extLst>
                        <a:ext uri="{9D8B030D-6E8A-4147-A177-3AD203B41FA5}">
                          <a16:colId xmlns:a16="http://schemas.microsoft.com/office/drawing/2014/main" val="1797698316"/>
                        </a:ext>
                      </a:extLst>
                    </a:gridCol>
                  </a:tblGrid>
                  <a:tr h="267672">
                    <a:tc>
                      <a:txBody>
                        <a:bodyPr/>
                        <a:lstStyle/>
                        <a:p>
                          <a:pPr algn="ctr"/>
                          <a:r>
                            <a:rPr lang="es-CO" sz="2000" b="1" dirty="0">
                              <a:solidFill>
                                <a:schemeClr val="bg1"/>
                              </a:solidFill>
                              <a:latin typeface="+mn-lt"/>
                              <a:ea typeface="Roboto" panose="02000000000000000000" pitchFamily="2" charset="0"/>
                            </a:rPr>
                            <a:t>Contexto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ctr"/>
                          <a:r>
                            <a:rPr lang="es-CO" sz="2000" b="1" dirty="0">
                              <a:solidFill>
                                <a:schemeClr val="bg1"/>
                              </a:solidFill>
                              <a:latin typeface="+mn-lt"/>
                              <a:ea typeface="Roboto" panose="02000000000000000000" pitchFamily="2" charset="0"/>
                            </a:rPr>
                            <a:t>Conjunto universal </a:t>
                          </a:r>
                          <a14:m>
                            <m:oMath xmlns:m="http://schemas.openxmlformats.org/officeDocument/2006/math">
                              <m:r>
                                <a:rPr lang="es-MX" sz="2000" b="1" i="1" smtClean="0">
                                  <a:solidFill>
                                    <a:schemeClr val="bg1"/>
                                  </a:solidFill>
                                  <a:latin typeface="Cambria Math" panose="02040503050406030204" pitchFamily="18" charset="0"/>
                                </a:rPr>
                                <m:t>𝑼</m:t>
                              </m:r>
                            </m:oMath>
                          </a14:m>
                          <a:endParaRPr lang="es-CO" sz="2000" b="1" dirty="0">
                            <a:solidFill>
                              <a:schemeClr val="bg1"/>
                            </a:solidFill>
                            <a:latin typeface="+mn-lt"/>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4189383808"/>
                      </a:ext>
                    </a:extLst>
                  </a:tr>
                  <a:tr h="303231">
                    <a:tc>
                      <a:txBody>
                        <a:bodyPr/>
                        <a:lstStyle/>
                        <a:p>
                          <a:r>
                            <a:rPr lang="es-CO" sz="2000" dirty="0">
                              <a:latin typeface="+mn-lt"/>
                              <a:ea typeface="Roboto" panose="02000000000000000000" pitchFamily="2" charset="0"/>
                            </a:rPr>
                            <a:t>Letras del abecedario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rPr>
                                  <m:t>𝑈</m:t>
                                </m:r>
                                <m:r>
                                  <a:rPr lang="es-MX" sz="2000" b="0" i="1" smtClean="0">
                                    <a:latin typeface="Cambria Math" panose="02040503050406030204" pitchFamily="18" charset="0"/>
                                  </a:rPr>
                                  <m:t>=</m:t>
                                </m:r>
                                <m:d>
                                  <m:dPr>
                                    <m:begChr m:val="{"/>
                                    <m:endChr m:val="}"/>
                                    <m:ctrlPr>
                                      <a:rPr lang="es-MX" sz="2000" b="0" i="1" smtClean="0">
                                        <a:latin typeface="Cambria Math" panose="02040503050406030204" pitchFamily="18" charset="0"/>
                                      </a:rPr>
                                    </m:ctrlPr>
                                  </m:dPr>
                                  <m:e>
                                    <m:r>
                                      <a:rPr lang="es-MX" sz="2000" b="0" i="1" smtClean="0">
                                        <a:latin typeface="Cambria Math" panose="02040503050406030204" pitchFamily="18" charset="0"/>
                                      </a:rPr>
                                      <m:t>𝑎</m:t>
                                    </m:r>
                                    <m:r>
                                      <a:rPr lang="es-MX" sz="2000" b="0" i="1" smtClean="0">
                                        <a:latin typeface="Cambria Math" panose="02040503050406030204" pitchFamily="18" charset="0"/>
                                      </a:rPr>
                                      <m:t>,</m:t>
                                    </m:r>
                                    <m:r>
                                      <a:rPr lang="es-MX" sz="2000" b="0" i="1" smtClean="0">
                                        <a:latin typeface="Cambria Math" panose="02040503050406030204" pitchFamily="18" charset="0"/>
                                      </a:rPr>
                                      <m:t>𝑏</m:t>
                                    </m:r>
                                    <m:r>
                                      <a:rPr lang="es-MX" sz="2000" b="0" i="1" smtClean="0">
                                        <a:latin typeface="Cambria Math" panose="02040503050406030204" pitchFamily="18" charset="0"/>
                                      </a:rPr>
                                      <m:t>,</m:t>
                                    </m:r>
                                    <m:r>
                                      <a:rPr lang="es-MX" sz="2000" b="0" i="1" smtClean="0">
                                        <a:latin typeface="Cambria Math" panose="02040503050406030204" pitchFamily="18" charset="0"/>
                                      </a:rPr>
                                      <m:t>𝑐</m:t>
                                    </m:r>
                                    <m:r>
                                      <a:rPr lang="es-MX" sz="2000" b="0" i="1" smtClean="0">
                                        <a:latin typeface="Cambria Math" panose="02040503050406030204" pitchFamily="18" charset="0"/>
                                      </a:rPr>
                                      <m:t>,…,</m:t>
                                    </m:r>
                                    <m:r>
                                      <a:rPr lang="es-MX" sz="2000" b="0" i="1" smtClean="0">
                                        <a:latin typeface="Cambria Math" panose="02040503050406030204" pitchFamily="18" charset="0"/>
                                      </a:rPr>
                                      <m:t>𝑧</m:t>
                                    </m:r>
                                  </m:e>
                                </m:d>
                              </m:oMath>
                            </m:oMathPara>
                          </a14:m>
                          <a:endParaRPr lang="es-CO" sz="2000" b="0" dirty="0">
                            <a:latin typeface="+mn-lt"/>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50338880"/>
                      </a:ext>
                    </a:extLst>
                  </a:tr>
                  <a:tr h="303231">
                    <a:tc>
                      <a:txBody>
                        <a:bodyPr/>
                        <a:lstStyle/>
                        <a:p>
                          <a:r>
                            <a:rPr lang="es-CO" sz="2000" dirty="0">
                              <a:latin typeface="+mn-lt"/>
                              <a:ea typeface="Roboto" panose="02000000000000000000" pitchFamily="2" charset="0"/>
                            </a:rPr>
                            <a:t>Números naturales menores que 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rPr>
                                  <m:t>𝑈</m:t>
                                </m:r>
                                <m:r>
                                  <a:rPr lang="es-MX" sz="2000" b="0" i="1" smtClean="0">
                                    <a:latin typeface="Cambria Math" panose="02040503050406030204" pitchFamily="18" charset="0"/>
                                  </a:rPr>
                                  <m:t>=</m:t>
                                </m:r>
                                <m:d>
                                  <m:dPr>
                                    <m:begChr m:val="{"/>
                                    <m:endChr m:val="}"/>
                                    <m:ctrlPr>
                                      <a:rPr lang="es-MX" sz="2000" b="0" i="1" smtClean="0">
                                        <a:latin typeface="Cambria Math" panose="02040503050406030204" pitchFamily="18" charset="0"/>
                                      </a:rPr>
                                    </m:ctrlPr>
                                  </m:dPr>
                                  <m:e>
                                    <m:r>
                                      <a:rPr lang="es-MX" sz="2000" b="0" i="1" smtClean="0">
                                        <a:latin typeface="Cambria Math" panose="02040503050406030204" pitchFamily="18" charset="0"/>
                                      </a:rPr>
                                      <m:t>0,1,2,…,9</m:t>
                                    </m:r>
                                  </m:e>
                                </m:d>
                              </m:oMath>
                            </m:oMathPara>
                          </a14:m>
                          <a:endParaRPr lang="es-CO" sz="2000" b="0" dirty="0">
                            <a:latin typeface="+mn-lt"/>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43646513"/>
                      </a:ext>
                    </a:extLst>
                  </a:tr>
                  <a:tr h="303231">
                    <a:tc>
                      <a:txBody>
                        <a:bodyPr/>
                        <a:lstStyle/>
                        <a:p>
                          <a:r>
                            <a:rPr lang="es-CO" sz="2000" dirty="0">
                              <a:latin typeface="+mn-lt"/>
                              <a:ea typeface="Roboto" panose="02000000000000000000" pitchFamily="2" charset="0"/>
                            </a:rPr>
                            <a:t>Estudiantes de Matemáticas discretas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𝑈</m:t>
                                </m:r>
                                <m:r>
                                  <a:rPr lang="es-MX" sz="2000" b="0" i="1" smtClean="0">
                                    <a:latin typeface="Cambria Math" panose="02040503050406030204" pitchFamily="18" charset="0"/>
                                    <a:ea typeface="Roboto" panose="02000000000000000000" pitchFamily="2" charset="0"/>
                                  </a:rPr>
                                  <m:t>={</m:t>
                                </m:r>
                                <m:sSub>
                                  <m:sSubPr>
                                    <m:ctrlPr>
                                      <a:rPr lang="es-MX" sz="2000" b="0" i="1" smtClean="0">
                                        <a:latin typeface="Cambria Math" panose="02040503050406030204" pitchFamily="18" charset="0"/>
                                        <a:ea typeface="Roboto" panose="02000000000000000000" pitchFamily="2" charset="0"/>
                                      </a:rPr>
                                    </m:ctrlPr>
                                  </m:sSubPr>
                                  <m:e>
                                    <m:r>
                                      <a:rPr lang="es-MX" sz="2000" b="0" i="1" smtClean="0">
                                        <a:latin typeface="Cambria Math" panose="02040503050406030204" pitchFamily="18" charset="0"/>
                                        <a:ea typeface="Roboto" panose="02000000000000000000" pitchFamily="2" charset="0"/>
                                      </a:rPr>
                                      <m:t>𝑒</m:t>
                                    </m:r>
                                  </m:e>
                                  <m:sub>
                                    <m:r>
                                      <a:rPr lang="es-MX" sz="2000" b="0" i="1" smtClean="0">
                                        <a:latin typeface="Cambria Math" panose="02040503050406030204" pitchFamily="18" charset="0"/>
                                        <a:ea typeface="Roboto" panose="02000000000000000000" pitchFamily="2" charset="0"/>
                                      </a:rPr>
                                      <m:t>1</m:t>
                                    </m:r>
                                  </m:sub>
                                </m:sSub>
                                <m:r>
                                  <a:rPr lang="es-MX" sz="2000" b="0" i="1" smtClean="0">
                                    <a:latin typeface="Cambria Math" panose="02040503050406030204" pitchFamily="18" charset="0"/>
                                    <a:ea typeface="Roboto" panose="02000000000000000000" pitchFamily="2" charset="0"/>
                                  </a:rPr>
                                  <m:t>,</m:t>
                                </m:r>
                                <m:sSub>
                                  <m:sSubPr>
                                    <m:ctrlPr>
                                      <a:rPr lang="es-MX" sz="2000" b="0" i="1" smtClean="0">
                                        <a:latin typeface="Cambria Math" panose="02040503050406030204" pitchFamily="18" charset="0"/>
                                        <a:ea typeface="Roboto" panose="02000000000000000000" pitchFamily="2" charset="0"/>
                                      </a:rPr>
                                    </m:ctrlPr>
                                  </m:sSubPr>
                                  <m:e>
                                    <m:r>
                                      <a:rPr lang="es-MX" sz="2000" b="0" i="1" smtClean="0">
                                        <a:latin typeface="Cambria Math" panose="02040503050406030204" pitchFamily="18" charset="0"/>
                                        <a:ea typeface="Roboto" panose="02000000000000000000" pitchFamily="2" charset="0"/>
                                      </a:rPr>
                                      <m:t>𝑒</m:t>
                                    </m:r>
                                  </m:e>
                                  <m:sub>
                                    <m:r>
                                      <a:rPr lang="es-MX" sz="2000" b="0" i="1" smtClean="0">
                                        <a:latin typeface="Cambria Math" panose="02040503050406030204" pitchFamily="18" charset="0"/>
                                        <a:ea typeface="Roboto" panose="02000000000000000000" pitchFamily="2" charset="0"/>
                                      </a:rPr>
                                      <m:t>2</m:t>
                                    </m:r>
                                  </m:sub>
                                </m:sSub>
                                <m:r>
                                  <a:rPr lang="es-MX" sz="2000" b="0" i="1" smtClean="0">
                                    <a:latin typeface="Cambria Math" panose="02040503050406030204" pitchFamily="18" charset="0"/>
                                    <a:ea typeface="Roboto" panose="02000000000000000000" pitchFamily="2" charset="0"/>
                                  </a:rPr>
                                  <m:t>,…,</m:t>
                                </m:r>
                                <m:sSub>
                                  <m:sSubPr>
                                    <m:ctrlPr>
                                      <a:rPr lang="es-MX" sz="2000" b="0" i="1" smtClean="0">
                                        <a:latin typeface="Cambria Math" panose="02040503050406030204" pitchFamily="18" charset="0"/>
                                        <a:ea typeface="Roboto" panose="02000000000000000000" pitchFamily="2" charset="0"/>
                                      </a:rPr>
                                    </m:ctrlPr>
                                  </m:sSubPr>
                                  <m:e>
                                    <m:r>
                                      <a:rPr lang="es-MX" sz="2000" b="0" i="1" smtClean="0">
                                        <a:latin typeface="Cambria Math" panose="02040503050406030204" pitchFamily="18" charset="0"/>
                                        <a:ea typeface="Roboto" panose="02000000000000000000" pitchFamily="2" charset="0"/>
                                      </a:rPr>
                                      <m:t>𝑒</m:t>
                                    </m:r>
                                  </m:e>
                                  <m:sub>
                                    <m:r>
                                      <a:rPr lang="es-MX" sz="2000" b="0" i="1" smtClean="0">
                                        <a:latin typeface="Cambria Math" panose="02040503050406030204" pitchFamily="18" charset="0"/>
                                        <a:ea typeface="Roboto" panose="02000000000000000000" pitchFamily="2" charset="0"/>
                                      </a:rPr>
                                      <m:t>𝑖</m:t>
                                    </m:r>
                                  </m:sub>
                                </m:sSub>
                                <m:r>
                                  <a:rPr lang="es-MX" sz="2000" b="0" i="1" smtClean="0">
                                    <a:latin typeface="Cambria Math" panose="02040503050406030204" pitchFamily="18" charset="0"/>
                                    <a:ea typeface="Roboto" panose="02000000000000000000" pitchFamily="2" charset="0"/>
                                  </a:rPr>
                                  <m:t>,…,</m:t>
                                </m:r>
                                <m:sSub>
                                  <m:sSubPr>
                                    <m:ctrlPr>
                                      <a:rPr lang="es-MX" sz="2000" b="0" i="1" smtClean="0">
                                        <a:latin typeface="Cambria Math" panose="02040503050406030204" pitchFamily="18" charset="0"/>
                                        <a:ea typeface="Roboto" panose="02000000000000000000" pitchFamily="2" charset="0"/>
                                      </a:rPr>
                                    </m:ctrlPr>
                                  </m:sSubPr>
                                  <m:e>
                                    <m:r>
                                      <a:rPr lang="es-MX" sz="2000" b="0" i="1" smtClean="0">
                                        <a:latin typeface="Cambria Math" panose="02040503050406030204" pitchFamily="18" charset="0"/>
                                        <a:ea typeface="Roboto" panose="02000000000000000000" pitchFamily="2" charset="0"/>
                                      </a:rPr>
                                      <m:t>𝑒</m:t>
                                    </m:r>
                                  </m:e>
                                  <m:sub>
                                    <m:r>
                                      <a:rPr lang="es-MX" sz="2000" b="0" i="1" smtClean="0">
                                        <a:latin typeface="Cambria Math" panose="02040503050406030204" pitchFamily="18" charset="0"/>
                                        <a:ea typeface="Roboto" panose="02000000000000000000" pitchFamily="2" charset="0"/>
                                      </a:rPr>
                                      <m:t>𝑛</m:t>
                                    </m:r>
                                    <m:r>
                                      <a:rPr lang="es-MX" sz="2000" b="0" i="1" smtClean="0">
                                        <a:latin typeface="Cambria Math" panose="02040503050406030204" pitchFamily="18" charset="0"/>
                                        <a:ea typeface="Roboto" panose="02000000000000000000" pitchFamily="2" charset="0"/>
                                      </a:rPr>
                                      <m:t>−1</m:t>
                                    </m:r>
                                  </m:sub>
                                </m:sSub>
                                <m:r>
                                  <a:rPr lang="es-MX" sz="2000" b="0" i="1" smtClean="0">
                                    <a:latin typeface="Cambria Math" panose="02040503050406030204" pitchFamily="18" charset="0"/>
                                    <a:ea typeface="Roboto" panose="02000000000000000000" pitchFamily="2" charset="0"/>
                                  </a:rPr>
                                  <m:t>,</m:t>
                                </m:r>
                                <m:sSub>
                                  <m:sSubPr>
                                    <m:ctrlPr>
                                      <a:rPr lang="es-MX" sz="2000" b="0" i="1" smtClean="0">
                                        <a:latin typeface="Cambria Math" panose="02040503050406030204" pitchFamily="18" charset="0"/>
                                        <a:ea typeface="Roboto" panose="02000000000000000000" pitchFamily="2" charset="0"/>
                                      </a:rPr>
                                    </m:ctrlPr>
                                  </m:sSubPr>
                                  <m:e>
                                    <m:r>
                                      <a:rPr lang="es-MX" sz="2000" b="0" i="1" smtClean="0">
                                        <a:latin typeface="Cambria Math" panose="02040503050406030204" pitchFamily="18" charset="0"/>
                                        <a:ea typeface="Roboto" panose="02000000000000000000" pitchFamily="2" charset="0"/>
                                      </a:rPr>
                                      <m:t>𝑒</m:t>
                                    </m:r>
                                  </m:e>
                                  <m:sub>
                                    <m:r>
                                      <a:rPr lang="es-MX" sz="2000" b="0" i="1" smtClean="0">
                                        <a:latin typeface="Cambria Math" panose="02040503050406030204" pitchFamily="18" charset="0"/>
                                        <a:ea typeface="Roboto" panose="02000000000000000000" pitchFamily="2" charset="0"/>
                                      </a:rPr>
                                      <m:t>𝑛</m:t>
                                    </m:r>
                                  </m:sub>
                                </m:sSub>
                                <m:r>
                                  <a:rPr lang="es-MX" sz="2000" b="0" i="1" smtClean="0">
                                    <a:latin typeface="Cambria Math" panose="02040503050406030204" pitchFamily="18" charset="0"/>
                                    <a:ea typeface="Roboto" panose="02000000000000000000" pitchFamily="2" charset="0"/>
                                  </a:rPr>
                                  <m:t>}</m:t>
                                </m:r>
                              </m:oMath>
                            </m:oMathPara>
                          </a14:m>
                          <a:endParaRPr lang="es-CO" sz="2000" dirty="0">
                            <a:latin typeface="+mn-lt"/>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99323825"/>
                      </a:ext>
                    </a:extLst>
                  </a:tr>
                  <a:tr h="303231">
                    <a:tc>
                      <a:txBody>
                        <a:bodyPr/>
                        <a:lstStyle/>
                        <a:p>
                          <a:r>
                            <a:rPr lang="es-CO" sz="2000" dirty="0">
                              <a:latin typeface="+mn-lt"/>
                              <a:ea typeface="Roboto" panose="02000000000000000000" pitchFamily="2" charset="0"/>
                            </a:rPr>
                            <a:t>Palos de una baraja de póker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𝑈</m:t>
                                </m:r>
                                <m:r>
                                  <a:rPr lang="es-MX" sz="2000" b="0" i="1" smtClean="0">
                                    <a:latin typeface="Cambria Math" panose="02040503050406030204" pitchFamily="18" charset="0"/>
                                    <a:ea typeface="Roboto" panose="02000000000000000000" pitchFamily="2" charset="0"/>
                                  </a:rPr>
                                  <m:t>={</m:t>
                                </m:r>
                                <m:r>
                                  <m:rPr>
                                    <m:nor/>
                                  </m:rPr>
                                  <a:rPr lang="es-CO" sz="2000" smtClean="0">
                                    <a:latin typeface="+mn-lt"/>
                                  </a:rPr>
                                  <m:t>♠</m:t>
                                </m:r>
                                <m:r>
                                  <a:rPr lang="es-MX" sz="2000" b="0" i="1" smtClean="0">
                                    <a:latin typeface="Cambria Math" panose="02040503050406030204" pitchFamily="18" charset="0"/>
                                  </a:rPr>
                                  <m:t>,</m:t>
                                </m:r>
                                <m:r>
                                  <m:rPr>
                                    <m:nor/>
                                  </m:rPr>
                                  <a:rPr lang="es-CO" sz="2000" smtClean="0">
                                    <a:latin typeface="+mn-lt"/>
                                  </a:rPr>
                                  <m:t>♥</m:t>
                                </m:r>
                                <m:r>
                                  <m:rPr>
                                    <m:nor/>
                                  </m:rPr>
                                  <a:rPr lang="es-MX" sz="2000" b="0" i="0" smtClean="0">
                                    <a:latin typeface="+mn-lt"/>
                                  </a:rPr>
                                  <m:t>,</m:t>
                                </m:r>
                                <m:r>
                                  <m:rPr>
                                    <m:nor/>
                                  </m:rPr>
                                  <a:rPr lang="es-CO" sz="2000" smtClean="0">
                                    <a:latin typeface="+mn-lt"/>
                                  </a:rPr>
                                  <m:t>♦</m:t>
                                </m:r>
                                <m:r>
                                  <m:rPr>
                                    <m:nor/>
                                  </m:rPr>
                                  <a:rPr lang="es-MX" sz="2000" b="0" i="0" smtClean="0">
                                    <a:latin typeface="+mn-lt"/>
                                  </a:rPr>
                                  <m:t>,</m:t>
                                </m:r>
                                <m:r>
                                  <m:rPr>
                                    <m:nor/>
                                  </m:rPr>
                                  <a:rPr lang="es-CO" sz="2000" smtClean="0">
                                    <a:latin typeface="+mn-lt"/>
                                  </a:rPr>
                                  <m:t>♣</m:t>
                                </m:r>
                                <m:r>
                                  <a:rPr lang="es-MX" sz="2000" b="0" i="1" smtClean="0">
                                    <a:latin typeface="Cambria Math" panose="02040503050406030204" pitchFamily="18" charset="0"/>
                                    <a:ea typeface="Roboto" panose="02000000000000000000" pitchFamily="2" charset="0"/>
                                  </a:rPr>
                                  <m:t>}</m:t>
                                </m:r>
                              </m:oMath>
                            </m:oMathPara>
                          </a14:m>
                          <a:endParaRPr lang="es-CO" sz="2000" dirty="0">
                            <a:latin typeface="+mn-lt"/>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37595830"/>
                      </a:ext>
                    </a:extLst>
                  </a:tr>
                  <a:tr h="303231">
                    <a:tc>
                      <a:txBody>
                        <a:bodyPr/>
                        <a:lstStyle/>
                        <a:p>
                          <a:r>
                            <a:rPr lang="es-CO" sz="2000" dirty="0">
                              <a:latin typeface="+mn-lt"/>
                              <a:ea typeface="Roboto" panose="02000000000000000000" pitchFamily="2" charset="0"/>
                            </a:rPr>
                            <a:t>Valores de las cartas de una baraja de póker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𝑈</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rPr>
                                  <m:t>𝐴</m:t>
                                </m:r>
                                <m:r>
                                  <a:rPr lang="es-MX" sz="2000" b="0" i="1" smtClean="0">
                                    <a:latin typeface="Cambria Math" panose="02040503050406030204" pitchFamily="18" charset="0"/>
                                  </a:rPr>
                                  <m:t>,2,3,4,5,6,7,8,9,10,</m:t>
                                </m:r>
                                <m:r>
                                  <a:rPr lang="es-MX" sz="2000" b="0" i="1" smtClean="0">
                                    <a:latin typeface="Cambria Math" panose="02040503050406030204" pitchFamily="18" charset="0"/>
                                  </a:rPr>
                                  <m:t>𝐽</m:t>
                                </m:r>
                                <m:r>
                                  <a:rPr lang="es-MX" sz="2000" b="0" i="1" smtClean="0">
                                    <a:latin typeface="Cambria Math" panose="02040503050406030204" pitchFamily="18" charset="0"/>
                                  </a:rPr>
                                  <m:t>,</m:t>
                                </m:r>
                                <m:r>
                                  <a:rPr lang="es-MX" sz="2000" b="0" i="1" smtClean="0">
                                    <a:latin typeface="Cambria Math" panose="02040503050406030204" pitchFamily="18" charset="0"/>
                                  </a:rPr>
                                  <m:t>𝑄</m:t>
                                </m:r>
                                <m:r>
                                  <a:rPr lang="es-MX" sz="2000" b="0" i="1" smtClean="0">
                                    <a:latin typeface="Cambria Math" panose="02040503050406030204" pitchFamily="18" charset="0"/>
                                  </a:rPr>
                                  <m:t>,</m:t>
                                </m:r>
                                <m:r>
                                  <a:rPr lang="es-MX" sz="2000" b="0" i="1" smtClean="0">
                                    <a:latin typeface="Cambria Math" panose="02040503050406030204" pitchFamily="18" charset="0"/>
                                  </a:rPr>
                                  <m:t>𝐾</m:t>
                                </m:r>
                                <m:r>
                                  <a:rPr lang="es-MX" sz="2000" b="0" i="1" smtClean="0">
                                    <a:latin typeface="Cambria Math" panose="02040503050406030204" pitchFamily="18" charset="0"/>
                                    <a:ea typeface="Roboto" panose="02000000000000000000" pitchFamily="2" charset="0"/>
                                  </a:rPr>
                                  <m:t>}</m:t>
                                </m:r>
                              </m:oMath>
                            </m:oMathPara>
                          </a14:m>
                          <a:endParaRPr lang="es-CO" sz="2000" dirty="0">
                            <a:latin typeface="+mn-lt"/>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0792937"/>
                      </a:ext>
                    </a:extLst>
                  </a:tr>
                </a:tbl>
              </a:graphicData>
            </a:graphic>
          </p:graphicFrame>
        </mc:Choice>
        <mc:Fallback xmlns="">
          <p:graphicFrame>
            <p:nvGraphicFramePr>
              <p:cNvPr id="3" name="Tabla 5">
                <a:extLst>
                  <a:ext uri="{FF2B5EF4-FFF2-40B4-BE49-F238E27FC236}">
                    <a16:creationId xmlns:a16="http://schemas.microsoft.com/office/drawing/2014/main" id="{B2736FCC-870C-4A6E-88DE-1EFFE46507A4}"/>
                  </a:ext>
                </a:extLst>
              </p:cNvPr>
              <p:cNvGraphicFramePr>
                <a:graphicFrameLocks noGrp="1"/>
              </p:cNvGraphicFramePr>
              <p:nvPr>
                <p:extLst>
                  <p:ext uri="{D42A27DB-BD31-4B8C-83A1-F6EECF244321}">
                    <p14:modId xmlns:p14="http://schemas.microsoft.com/office/powerpoint/2010/main" val="3904894403"/>
                  </p:ext>
                </p:extLst>
              </p:nvPr>
            </p:nvGraphicFramePr>
            <p:xfrm>
              <a:off x="456447" y="3961879"/>
              <a:ext cx="8524142" cy="2377440"/>
            </p:xfrm>
            <a:graphic>
              <a:graphicData uri="http://schemas.openxmlformats.org/drawingml/2006/table">
                <a:tbl>
                  <a:tblPr firstRow="1" bandRow="1">
                    <a:tableStyleId>{AD6A3598-7CB8-4345-8D95-17CE05F158A0}</a:tableStyleId>
                  </a:tblPr>
                  <a:tblGrid>
                    <a:gridCol w="4761611">
                      <a:extLst>
                        <a:ext uri="{9D8B030D-6E8A-4147-A177-3AD203B41FA5}">
                          <a16:colId xmlns:a16="http://schemas.microsoft.com/office/drawing/2014/main" val="2841649560"/>
                        </a:ext>
                      </a:extLst>
                    </a:gridCol>
                    <a:gridCol w="3762531">
                      <a:extLst>
                        <a:ext uri="{9D8B030D-6E8A-4147-A177-3AD203B41FA5}">
                          <a16:colId xmlns:a16="http://schemas.microsoft.com/office/drawing/2014/main" val="1797698316"/>
                        </a:ext>
                      </a:extLst>
                    </a:gridCol>
                  </a:tblGrid>
                  <a:tr h="396240">
                    <a:tc>
                      <a:txBody>
                        <a:bodyPr/>
                        <a:lstStyle/>
                        <a:p>
                          <a:pPr algn="ctr"/>
                          <a:r>
                            <a:rPr lang="es-CO" sz="2000" b="1" dirty="0">
                              <a:solidFill>
                                <a:schemeClr val="bg1"/>
                              </a:solidFill>
                              <a:latin typeface="+mn-lt"/>
                              <a:ea typeface="Roboto" panose="02000000000000000000" pitchFamily="2" charset="0"/>
                            </a:rPr>
                            <a:t>Contexto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26699" t="-7692" r="-324" b="-529231"/>
                          </a:stretch>
                        </a:blipFill>
                      </a:tcPr>
                    </a:tc>
                    <a:extLst>
                      <a:ext uri="{0D108BD9-81ED-4DB2-BD59-A6C34878D82A}">
                        <a16:rowId xmlns:a16="http://schemas.microsoft.com/office/drawing/2014/main" val="4189383808"/>
                      </a:ext>
                    </a:extLst>
                  </a:tr>
                  <a:tr h="396240">
                    <a:tc>
                      <a:txBody>
                        <a:bodyPr/>
                        <a:lstStyle/>
                        <a:p>
                          <a:r>
                            <a:rPr lang="es-CO" sz="2000" dirty="0">
                              <a:latin typeface="+mn-lt"/>
                              <a:ea typeface="Roboto" panose="02000000000000000000" pitchFamily="2" charset="0"/>
                            </a:rPr>
                            <a:t>Letras del abecedario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26699" t="-107692" r="-324" b="-429231"/>
                          </a:stretch>
                        </a:blipFill>
                      </a:tcPr>
                    </a:tc>
                    <a:extLst>
                      <a:ext uri="{0D108BD9-81ED-4DB2-BD59-A6C34878D82A}">
                        <a16:rowId xmlns:a16="http://schemas.microsoft.com/office/drawing/2014/main" val="3350338880"/>
                      </a:ext>
                    </a:extLst>
                  </a:tr>
                  <a:tr h="396240">
                    <a:tc>
                      <a:txBody>
                        <a:bodyPr/>
                        <a:lstStyle/>
                        <a:p>
                          <a:r>
                            <a:rPr lang="es-CO" sz="2000" dirty="0">
                              <a:latin typeface="+mn-lt"/>
                              <a:ea typeface="Roboto" panose="02000000000000000000" pitchFamily="2" charset="0"/>
                            </a:rPr>
                            <a:t>Números naturales menores que 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26699" t="-204545" r="-324" b="-322727"/>
                          </a:stretch>
                        </a:blipFill>
                      </a:tcPr>
                    </a:tc>
                    <a:extLst>
                      <a:ext uri="{0D108BD9-81ED-4DB2-BD59-A6C34878D82A}">
                        <a16:rowId xmlns:a16="http://schemas.microsoft.com/office/drawing/2014/main" val="2343646513"/>
                      </a:ext>
                    </a:extLst>
                  </a:tr>
                  <a:tr h="396240">
                    <a:tc>
                      <a:txBody>
                        <a:bodyPr/>
                        <a:lstStyle/>
                        <a:p>
                          <a:r>
                            <a:rPr lang="es-CO" sz="2000" dirty="0">
                              <a:latin typeface="+mn-lt"/>
                              <a:ea typeface="Roboto" panose="02000000000000000000" pitchFamily="2" charset="0"/>
                            </a:rPr>
                            <a:t>Estudiantes de Matemáticas discretas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26699" t="-309231" r="-324" b="-227692"/>
                          </a:stretch>
                        </a:blipFill>
                      </a:tcPr>
                    </a:tc>
                    <a:extLst>
                      <a:ext uri="{0D108BD9-81ED-4DB2-BD59-A6C34878D82A}">
                        <a16:rowId xmlns:a16="http://schemas.microsoft.com/office/drawing/2014/main" val="2599323825"/>
                      </a:ext>
                    </a:extLst>
                  </a:tr>
                  <a:tr h="396240">
                    <a:tc>
                      <a:txBody>
                        <a:bodyPr/>
                        <a:lstStyle/>
                        <a:p>
                          <a:r>
                            <a:rPr lang="es-CO" sz="2000" dirty="0">
                              <a:latin typeface="+mn-lt"/>
                              <a:ea typeface="Roboto" panose="02000000000000000000" pitchFamily="2" charset="0"/>
                            </a:rPr>
                            <a:t>Palos de una baraja de póker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26699" t="-409231" r="-324" b="-127692"/>
                          </a:stretch>
                        </a:blipFill>
                      </a:tcPr>
                    </a:tc>
                    <a:extLst>
                      <a:ext uri="{0D108BD9-81ED-4DB2-BD59-A6C34878D82A}">
                        <a16:rowId xmlns:a16="http://schemas.microsoft.com/office/drawing/2014/main" val="3437595830"/>
                      </a:ext>
                    </a:extLst>
                  </a:tr>
                  <a:tr h="396240">
                    <a:tc>
                      <a:txBody>
                        <a:bodyPr/>
                        <a:lstStyle/>
                        <a:p>
                          <a:r>
                            <a:rPr lang="es-CO" sz="2000" dirty="0">
                              <a:latin typeface="+mn-lt"/>
                              <a:ea typeface="Roboto" panose="02000000000000000000" pitchFamily="2" charset="0"/>
                            </a:rPr>
                            <a:t>Valores de las cartas de una baraja de póker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26699" t="-509231" r="-324" b="-27692"/>
                          </a:stretch>
                        </a:blipFill>
                      </a:tcPr>
                    </a:tc>
                    <a:extLst>
                      <a:ext uri="{0D108BD9-81ED-4DB2-BD59-A6C34878D82A}">
                        <a16:rowId xmlns:a16="http://schemas.microsoft.com/office/drawing/2014/main" val="3140792937"/>
                      </a:ext>
                    </a:extLst>
                  </a:tr>
                </a:tbl>
              </a:graphicData>
            </a:graphic>
          </p:graphicFrame>
        </mc:Fallback>
      </mc:AlternateContent>
      <p:pic>
        <p:nvPicPr>
          <p:cNvPr id="1026" name="Picture 2" descr="Pin by KARLA OSUNA on Dibujos a pintar | Card drawing, Poker, Playing card  deck">
            <a:extLst>
              <a:ext uri="{FF2B5EF4-FFF2-40B4-BE49-F238E27FC236}">
                <a16:creationId xmlns:a16="http://schemas.microsoft.com/office/drawing/2014/main" id="{1B5462C2-2D9F-4C40-B96F-520A6B1BEFA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34567" y="4223899"/>
            <a:ext cx="2128170" cy="20116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694528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78E8DF2-7986-4872-8459-F68D43B26317}"/>
              </a:ext>
            </a:extLst>
          </p:cNvPr>
          <p:cNvSpPr>
            <a:spLocks noGrp="1"/>
          </p:cNvSpPr>
          <p:nvPr>
            <p:ph type="title"/>
          </p:nvPr>
        </p:nvSpPr>
        <p:spPr>
          <a:xfrm>
            <a:off x="377209" y="282708"/>
            <a:ext cx="11680722" cy="949500"/>
          </a:xfrm>
        </p:spPr>
        <p:txBody>
          <a:bodyPr/>
          <a:lstStyle/>
          <a:p>
            <a:r>
              <a:rPr lang="es-ES" dirty="0">
                <a:solidFill>
                  <a:schemeClr val="tx1"/>
                </a:solidFill>
                <a:latin typeface="+mj-lt"/>
              </a:rPr>
              <a:t>Tipos de conjuntos – Conjunto homogéneo</a:t>
            </a:r>
            <a:endParaRPr lang="es-CO" dirty="0">
              <a:solidFill>
                <a:schemeClr val="tx1"/>
              </a:solidFill>
              <a:latin typeface="+mj-lt"/>
            </a:endParaRPr>
          </a:p>
        </p:txBody>
      </p:sp>
      <mc:AlternateContent xmlns:mc="http://schemas.openxmlformats.org/markup-compatibility/2006" xmlns:a14="http://schemas.microsoft.com/office/drawing/2010/main">
        <mc:Choice Requires="a14">
          <p:sp>
            <p:nvSpPr>
              <p:cNvPr id="5" name="Google Shape;310;p34">
                <a:extLst>
                  <a:ext uri="{FF2B5EF4-FFF2-40B4-BE49-F238E27FC236}">
                    <a16:creationId xmlns:a16="http://schemas.microsoft.com/office/drawing/2014/main" id="{F102D340-F804-4113-9FEB-9A4128546791}"/>
                  </a:ext>
                </a:extLst>
              </p:cNvPr>
              <p:cNvSpPr txBox="1">
                <a:spLocks/>
              </p:cNvSpPr>
              <p:nvPr/>
            </p:nvSpPr>
            <p:spPr>
              <a:xfrm>
                <a:off x="323131" y="1096777"/>
                <a:ext cx="10631337" cy="495006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200" b="1" dirty="0">
                    <a:solidFill>
                      <a:schemeClr val="tx1"/>
                    </a:solidFill>
                    <a:latin typeface="+mn-lt"/>
                    <a:ea typeface="Roboto" panose="02000000000000000000" pitchFamily="2" charset="0"/>
                  </a:rPr>
                  <a:t>Conjunto homogéneo</a:t>
                </a:r>
              </a:p>
              <a:p>
                <a:pPr marL="127000" indent="0">
                  <a:buNone/>
                </a:pPr>
                <a:r>
                  <a:rPr lang="es-MX" sz="2200" dirty="0">
                    <a:latin typeface="+mn-lt"/>
                    <a:ea typeface="Roboto" panose="02000000000000000000" pitchFamily="2" charset="0"/>
                  </a:rPr>
                  <a:t>En este conjunto, todos los elementos son de la misma naturaleza o tipo.</a:t>
                </a:r>
              </a:p>
              <a:p>
                <a:pPr marL="127000" indent="0">
                  <a:buNone/>
                </a:pPr>
                <a:endParaRPr lang="es-MX" sz="2200" dirty="0">
                  <a:latin typeface="+mn-lt"/>
                  <a:ea typeface="Roboto" panose="02000000000000000000" pitchFamily="2" charset="0"/>
                </a:endParaRPr>
              </a:p>
              <a:p>
                <a:r>
                  <a:rPr lang="es-MX" sz="2200" b="1" dirty="0">
                    <a:latin typeface="+mn-lt"/>
                    <a:ea typeface="Roboto" panose="02000000000000000000" pitchFamily="2" charset="0"/>
                  </a:rPr>
                  <a:t>Ejemplo:</a:t>
                </a:r>
              </a:p>
              <a:p>
                <a:pPr lvl="1"/>
                <a:r>
                  <a:rPr lang="es-MX" dirty="0">
                    <a:latin typeface="+mn-lt"/>
                    <a:ea typeface="Roboto" panose="02000000000000000000" pitchFamily="2" charset="0"/>
                  </a:rPr>
                  <a:t>Los días de la semana:  </a:t>
                </a:r>
                <a14:m>
                  <m:oMath xmlns:m="http://schemas.openxmlformats.org/officeDocument/2006/math">
                    <m:r>
                      <a:rPr lang="es-MX" b="0" i="1" smtClean="0">
                        <a:latin typeface="Cambria Math" panose="02040503050406030204" pitchFamily="18" charset="0"/>
                        <a:ea typeface="Roboto" panose="02000000000000000000" pitchFamily="2" charset="0"/>
                      </a:rPr>
                      <m:t>𝑆</m:t>
                    </m:r>
                    <m:r>
                      <a:rPr lang="es-MX" b="0" i="1" smtClean="0">
                        <a:latin typeface="Cambria Math" panose="02040503050406030204" pitchFamily="18" charset="0"/>
                        <a:ea typeface="Roboto" panose="02000000000000000000" pitchFamily="2" charset="0"/>
                      </a:rPr>
                      <m:t>={</m:t>
                    </m:r>
                    <m:r>
                      <a:rPr lang="es-MX" b="0" i="1" smtClean="0">
                        <a:latin typeface="Cambria Math" panose="02040503050406030204" pitchFamily="18" charset="0"/>
                        <a:ea typeface="Roboto" panose="02000000000000000000" pitchFamily="2" charset="0"/>
                      </a:rPr>
                      <m:t>𝐿</m:t>
                    </m:r>
                    <m:r>
                      <a:rPr lang="es-MX" b="0" i="1" smtClean="0">
                        <a:latin typeface="Cambria Math" panose="02040503050406030204" pitchFamily="18" charset="0"/>
                        <a:ea typeface="Roboto" panose="02000000000000000000" pitchFamily="2" charset="0"/>
                      </a:rPr>
                      <m:t>,</m:t>
                    </m:r>
                    <m:r>
                      <a:rPr lang="es-MX" b="0" i="1" smtClean="0">
                        <a:latin typeface="Cambria Math" panose="02040503050406030204" pitchFamily="18" charset="0"/>
                        <a:ea typeface="Roboto" panose="02000000000000000000" pitchFamily="2" charset="0"/>
                      </a:rPr>
                      <m:t>𝑀</m:t>
                    </m:r>
                    <m:r>
                      <a:rPr lang="es-MX" b="0" i="1" smtClean="0">
                        <a:latin typeface="Cambria Math" panose="02040503050406030204" pitchFamily="18" charset="0"/>
                        <a:ea typeface="Roboto" panose="02000000000000000000" pitchFamily="2" charset="0"/>
                      </a:rPr>
                      <m:t>,</m:t>
                    </m:r>
                    <m:r>
                      <a:rPr lang="es-MX" b="0" i="1" smtClean="0">
                        <a:latin typeface="Cambria Math" panose="02040503050406030204" pitchFamily="18" charset="0"/>
                        <a:ea typeface="Roboto" panose="02000000000000000000" pitchFamily="2" charset="0"/>
                      </a:rPr>
                      <m:t>𝑊</m:t>
                    </m:r>
                    <m:r>
                      <a:rPr lang="es-MX" b="0" i="1" smtClean="0">
                        <a:latin typeface="Cambria Math" panose="02040503050406030204" pitchFamily="18" charset="0"/>
                        <a:ea typeface="Roboto" panose="02000000000000000000" pitchFamily="2" charset="0"/>
                      </a:rPr>
                      <m:t>,</m:t>
                    </m:r>
                    <m:r>
                      <a:rPr lang="es-MX" b="0" i="1" smtClean="0">
                        <a:latin typeface="Cambria Math" panose="02040503050406030204" pitchFamily="18" charset="0"/>
                        <a:ea typeface="Roboto" panose="02000000000000000000" pitchFamily="2" charset="0"/>
                      </a:rPr>
                      <m:t>𝐽</m:t>
                    </m:r>
                    <m:r>
                      <a:rPr lang="es-MX" b="0" i="1" smtClean="0">
                        <a:latin typeface="Cambria Math" panose="02040503050406030204" pitchFamily="18" charset="0"/>
                        <a:ea typeface="Roboto" panose="02000000000000000000" pitchFamily="2" charset="0"/>
                      </a:rPr>
                      <m:t>,</m:t>
                    </m:r>
                    <m:r>
                      <a:rPr lang="es-MX" b="0" i="1" smtClean="0">
                        <a:latin typeface="Cambria Math" panose="02040503050406030204" pitchFamily="18" charset="0"/>
                        <a:ea typeface="Roboto" panose="02000000000000000000" pitchFamily="2" charset="0"/>
                      </a:rPr>
                      <m:t>𝑉</m:t>
                    </m:r>
                    <m:r>
                      <a:rPr lang="es-MX" b="0" i="1" smtClean="0">
                        <a:latin typeface="Cambria Math" panose="02040503050406030204" pitchFamily="18" charset="0"/>
                        <a:ea typeface="Roboto" panose="02000000000000000000" pitchFamily="2" charset="0"/>
                      </a:rPr>
                      <m:t>,</m:t>
                    </m:r>
                    <m:r>
                      <a:rPr lang="es-MX" b="0" i="1" smtClean="0">
                        <a:latin typeface="Cambria Math" panose="02040503050406030204" pitchFamily="18" charset="0"/>
                        <a:ea typeface="Roboto" panose="02000000000000000000" pitchFamily="2" charset="0"/>
                      </a:rPr>
                      <m:t>𝑆</m:t>
                    </m:r>
                    <m:r>
                      <a:rPr lang="es-MX" b="0" i="1" smtClean="0">
                        <a:latin typeface="Cambria Math" panose="02040503050406030204" pitchFamily="18" charset="0"/>
                        <a:ea typeface="Roboto" panose="02000000000000000000" pitchFamily="2" charset="0"/>
                      </a:rPr>
                      <m:t>,</m:t>
                    </m:r>
                    <m:r>
                      <a:rPr lang="es-MX" b="0" i="1" smtClean="0">
                        <a:latin typeface="Cambria Math" panose="02040503050406030204" pitchFamily="18" charset="0"/>
                        <a:ea typeface="Roboto" panose="02000000000000000000" pitchFamily="2" charset="0"/>
                      </a:rPr>
                      <m:t>𝐷</m:t>
                    </m:r>
                    <m:r>
                      <a:rPr lang="es-MX" b="0" i="1" smtClean="0">
                        <a:latin typeface="Cambria Math" panose="02040503050406030204" pitchFamily="18" charset="0"/>
                        <a:ea typeface="Roboto" panose="02000000000000000000" pitchFamily="2" charset="0"/>
                      </a:rPr>
                      <m:t>}</m:t>
                    </m:r>
                  </m:oMath>
                </a14:m>
                <a:endParaRPr lang="es-MX" dirty="0">
                  <a:latin typeface="+mn-lt"/>
                  <a:ea typeface="Roboto" panose="02000000000000000000" pitchFamily="2" charset="0"/>
                </a:endParaRPr>
              </a:p>
              <a:p>
                <a:pPr lvl="1"/>
                <a:endParaRPr lang="es-MX" dirty="0">
                  <a:latin typeface="+mn-lt"/>
                  <a:ea typeface="Roboto" panose="02000000000000000000" pitchFamily="2" charset="0"/>
                </a:endParaRPr>
              </a:p>
              <a:p>
                <a:pPr lvl="1"/>
                <a:endParaRPr lang="es-MX" dirty="0">
                  <a:latin typeface="+mn-lt"/>
                  <a:ea typeface="Roboto" panose="02000000000000000000" pitchFamily="2" charset="0"/>
                </a:endParaRPr>
              </a:p>
              <a:p>
                <a:pPr lvl="1"/>
                <a:r>
                  <a:rPr lang="es-MX" dirty="0">
                    <a:latin typeface="+mn-lt"/>
                    <a:ea typeface="Roboto" panose="02000000000000000000" pitchFamily="2" charset="0"/>
                  </a:rPr>
                  <a:t>Algunas frutas:  </a:t>
                </a:r>
                <a14:m>
                  <m:oMath xmlns:m="http://schemas.openxmlformats.org/officeDocument/2006/math">
                    <m:r>
                      <a:rPr lang="es-MX" b="0" i="1" smtClean="0">
                        <a:latin typeface="Cambria Math" panose="02040503050406030204" pitchFamily="18" charset="0"/>
                        <a:ea typeface="Roboto" panose="02000000000000000000" pitchFamily="2" charset="0"/>
                      </a:rPr>
                      <m:t>𝐹</m:t>
                    </m:r>
                    <m:r>
                      <a:rPr lang="es-MX" b="0" i="1" smtClean="0">
                        <a:latin typeface="Cambria Math" panose="02040503050406030204" pitchFamily="18" charset="0"/>
                        <a:ea typeface="Roboto" panose="02000000000000000000" pitchFamily="2" charset="0"/>
                      </a:rPr>
                      <m:t>=</m:t>
                    </m:r>
                    <m:d>
                      <m:dPr>
                        <m:begChr m:val="{"/>
                        <m:endChr m:val="}"/>
                        <m:ctrlPr>
                          <a:rPr lang="es-MX" b="0" i="1" smtClean="0">
                            <a:latin typeface="Cambria Math" panose="02040503050406030204" pitchFamily="18" charset="0"/>
                            <a:ea typeface="Roboto" panose="02000000000000000000" pitchFamily="2" charset="0"/>
                          </a:rPr>
                        </m:ctrlPr>
                      </m:dPr>
                      <m:e>
                        <m:r>
                          <a:rPr lang="es-MX" b="0" i="1" smtClean="0">
                            <a:latin typeface="Cambria Math" panose="02040503050406030204" pitchFamily="18" charset="0"/>
                            <a:ea typeface="Roboto" panose="02000000000000000000" pitchFamily="2" charset="0"/>
                          </a:rPr>
                          <m:t>𝑝𝑒𝑟𝑎</m:t>
                        </m:r>
                        <m:r>
                          <a:rPr lang="es-MX" b="0" i="1" smtClean="0">
                            <a:latin typeface="Cambria Math" panose="02040503050406030204" pitchFamily="18" charset="0"/>
                            <a:ea typeface="Roboto" panose="02000000000000000000" pitchFamily="2" charset="0"/>
                          </a:rPr>
                          <m:t>, </m:t>
                        </m:r>
                        <m:r>
                          <a:rPr lang="es-MX" b="0" i="1" smtClean="0">
                            <a:latin typeface="Cambria Math" panose="02040503050406030204" pitchFamily="18" charset="0"/>
                            <a:ea typeface="Roboto" panose="02000000000000000000" pitchFamily="2" charset="0"/>
                          </a:rPr>
                          <m:t>𝑚𝑎𝑛𝑧𝑎𝑛𝑎</m:t>
                        </m:r>
                        <m:r>
                          <a:rPr lang="es-MX" b="0" i="1" smtClean="0">
                            <a:latin typeface="Cambria Math" panose="02040503050406030204" pitchFamily="18" charset="0"/>
                            <a:ea typeface="Roboto" panose="02000000000000000000" pitchFamily="2" charset="0"/>
                          </a:rPr>
                          <m:t>, </m:t>
                        </m:r>
                        <m:r>
                          <a:rPr lang="es-MX" b="0" i="1" smtClean="0">
                            <a:latin typeface="Cambria Math" panose="02040503050406030204" pitchFamily="18" charset="0"/>
                            <a:ea typeface="Roboto" panose="02000000000000000000" pitchFamily="2" charset="0"/>
                          </a:rPr>
                          <m:t>𝑢𝑣𝑎</m:t>
                        </m:r>
                      </m:e>
                    </m:d>
                  </m:oMath>
                </a14:m>
                <a:endParaRPr lang="es-MX" b="0" dirty="0">
                  <a:latin typeface="+mn-lt"/>
                  <a:ea typeface="Roboto" panose="02000000000000000000" pitchFamily="2" charset="0"/>
                </a:endParaRPr>
              </a:p>
              <a:p>
                <a:pPr lvl="1"/>
                <a:endParaRPr lang="es-MX" dirty="0">
                  <a:latin typeface="+mn-lt"/>
                  <a:ea typeface="Roboto" panose="02000000000000000000" pitchFamily="2" charset="0"/>
                </a:endParaRPr>
              </a:p>
              <a:p>
                <a:pPr lvl="1"/>
                <a:endParaRPr lang="es-MX" dirty="0">
                  <a:latin typeface="+mn-lt"/>
                  <a:ea typeface="Roboto" panose="02000000000000000000" pitchFamily="2" charset="0"/>
                </a:endParaRPr>
              </a:p>
              <a:p>
                <a:pPr lvl="1"/>
                <a:r>
                  <a:rPr lang="es-MX" dirty="0">
                    <a:latin typeface="+mn-lt"/>
                    <a:ea typeface="Roboto" panose="02000000000000000000" pitchFamily="2" charset="0"/>
                  </a:rPr>
                  <a:t>Edades de los estudiantes de discretas 1: </a:t>
                </a:r>
                <a14:m>
                  <m:oMath xmlns:m="http://schemas.openxmlformats.org/officeDocument/2006/math">
                    <m:r>
                      <a:rPr lang="es-MX" b="0" i="1" smtClean="0">
                        <a:latin typeface="Cambria Math" panose="02040503050406030204" pitchFamily="18" charset="0"/>
                        <a:ea typeface="Roboto" panose="02000000000000000000" pitchFamily="2" charset="0"/>
                      </a:rPr>
                      <m:t>𝐸</m:t>
                    </m:r>
                    <m:r>
                      <a:rPr lang="es-MX" b="0" i="1" smtClean="0">
                        <a:latin typeface="Cambria Math" panose="02040503050406030204" pitchFamily="18" charset="0"/>
                        <a:ea typeface="Roboto" panose="02000000000000000000" pitchFamily="2" charset="0"/>
                      </a:rPr>
                      <m:t>=</m:t>
                    </m:r>
                    <m:d>
                      <m:dPr>
                        <m:begChr m:val="{"/>
                        <m:endChr m:val="}"/>
                        <m:ctrlPr>
                          <a:rPr lang="es-MX" b="0" i="1" smtClean="0">
                            <a:latin typeface="Cambria Math" panose="02040503050406030204" pitchFamily="18" charset="0"/>
                            <a:ea typeface="Roboto" panose="02000000000000000000" pitchFamily="2" charset="0"/>
                          </a:rPr>
                        </m:ctrlPr>
                      </m:dPr>
                      <m:e>
                        <m:r>
                          <a:rPr lang="es-MX" b="0" i="1" smtClean="0">
                            <a:latin typeface="Cambria Math" panose="02040503050406030204" pitchFamily="18" charset="0"/>
                            <a:ea typeface="Roboto" panose="02000000000000000000" pitchFamily="2" charset="0"/>
                          </a:rPr>
                          <m:t>17,19,20,…,21</m:t>
                        </m:r>
                      </m:e>
                    </m:d>
                  </m:oMath>
                </a14:m>
                <a:endParaRPr lang="es-MX" dirty="0">
                  <a:latin typeface="+mn-lt"/>
                  <a:ea typeface="Roboto" panose="02000000000000000000" pitchFamily="2" charset="0"/>
                </a:endParaRPr>
              </a:p>
              <a:p>
                <a:pPr marL="127000" indent="0">
                  <a:buNone/>
                </a:pPr>
                <a:endParaRPr lang="es-MX" sz="2200" dirty="0">
                  <a:latin typeface="+mn-lt"/>
                  <a:ea typeface="Roboto" panose="02000000000000000000" pitchFamily="2" charset="0"/>
                </a:endParaRPr>
              </a:p>
              <a:p>
                <a:endParaRPr lang="es-MX" sz="2200" dirty="0">
                  <a:latin typeface="+mn-lt"/>
                  <a:ea typeface="Roboto" panose="02000000000000000000" pitchFamily="2" charset="0"/>
                </a:endParaRPr>
              </a:p>
            </p:txBody>
          </p:sp>
        </mc:Choice>
        <mc:Fallback xmlns="">
          <p:sp>
            <p:nvSpPr>
              <p:cNvPr id="5" name="Google Shape;310;p34">
                <a:extLst>
                  <a:ext uri="{FF2B5EF4-FFF2-40B4-BE49-F238E27FC236}">
                    <a16:creationId xmlns:a16="http://schemas.microsoft.com/office/drawing/2014/main" id="{F102D340-F804-4113-9FEB-9A4128546791}"/>
                  </a:ext>
                </a:extLst>
              </p:cNvPr>
              <p:cNvSpPr txBox="1">
                <a:spLocks noRot="1" noChangeAspect="1" noMove="1" noResize="1" noEditPoints="1" noAdjustHandles="1" noChangeArrowheads="1" noChangeShapeType="1" noTextEdit="1"/>
              </p:cNvSpPr>
              <p:nvPr/>
            </p:nvSpPr>
            <p:spPr>
              <a:xfrm>
                <a:off x="323131" y="1096777"/>
                <a:ext cx="10631337" cy="4950062"/>
              </a:xfrm>
              <a:prstGeom prst="rect">
                <a:avLst/>
              </a:prstGeom>
              <a:blipFill>
                <a:blip r:embed="rId2"/>
                <a:stretch>
                  <a:fillRect/>
                </a:stretch>
              </a:blipFill>
              <a:ln>
                <a:noFill/>
              </a:ln>
            </p:spPr>
            <p:txBody>
              <a:bodyPr/>
              <a:lstStyle/>
              <a:p>
                <a:r>
                  <a:rPr lang="es-CO">
                    <a:noFill/>
                  </a:rPr>
                  <a:t> </a:t>
                </a:r>
              </a:p>
            </p:txBody>
          </p:sp>
        </mc:Fallback>
      </mc:AlternateContent>
    </p:spTree>
    <p:extLst>
      <p:ext uri="{BB962C8B-B14F-4D97-AF65-F5344CB8AC3E}">
        <p14:creationId xmlns:p14="http://schemas.microsoft.com/office/powerpoint/2010/main" val="316896444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78E8DF2-7986-4872-8459-F68D43B26317}"/>
              </a:ext>
            </a:extLst>
          </p:cNvPr>
          <p:cNvSpPr>
            <a:spLocks noGrp="1"/>
          </p:cNvSpPr>
          <p:nvPr>
            <p:ph type="title"/>
          </p:nvPr>
        </p:nvSpPr>
        <p:spPr>
          <a:xfrm>
            <a:off x="377209" y="282708"/>
            <a:ext cx="11680722" cy="949500"/>
          </a:xfrm>
        </p:spPr>
        <p:txBody>
          <a:bodyPr/>
          <a:lstStyle/>
          <a:p>
            <a:r>
              <a:rPr lang="es-ES" dirty="0">
                <a:solidFill>
                  <a:schemeClr val="tx1"/>
                </a:solidFill>
                <a:latin typeface="+mj-lt"/>
              </a:rPr>
              <a:t>Tipos de conjuntos – Conjunto heterogéneo</a:t>
            </a:r>
            <a:endParaRPr lang="es-CO" dirty="0">
              <a:solidFill>
                <a:schemeClr val="tx1"/>
              </a:solidFill>
              <a:latin typeface="+mj-lt"/>
            </a:endParaRPr>
          </a:p>
        </p:txBody>
      </p:sp>
      <mc:AlternateContent xmlns:mc="http://schemas.openxmlformats.org/markup-compatibility/2006" xmlns:a14="http://schemas.microsoft.com/office/drawing/2010/main">
        <mc:Choice Requires="a14">
          <p:sp>
            <p:nvSpPr>
              <p:cNvPr id="6" name="Google Shape;310;p34">
                <a:extLst>
                  <a:ext uri="{FF2B5EF4-FFF2-40B4-BE49-F238E27FC236}">
                    <a16:creationId xmlns:a16="http://schemas.microsoft.com/office/drawing/2014/main" id="{05DC2B5D-5980-435F-9F2E-D371149A2A1E}"/>
                  </a:ext>
                </a:extLst>
              </p:cNvPr>
              <p:cNvSpPr txBox="1">
                <a:spLocks/>
              </p:cNvSpPr>
              <p:nvPr/>
            </p:nvSpPr>
            <p:spPr>
              <a:xfrm>
                <a:off x="311968" y="1270731"/>
                <a:ext cx="11471993" cy="3950198"/>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200" b="1" dirty="0">
                    <a:solidFill>
                      <a:schemeClr val="tx1"/>
                    </a:solidFill>
                    <a:latin typeface="+mn-lt"/>
                    <a:ea typeface="Roboto" panose="02000000000000000000" pitchFamily="2" charset="0"/>
                  </a:rPr>
                  <a:t>Conjunto heterogéneo</a:t>
                </a:r>
              </a:p>
              <a:p>
                <a:pPr marL="127000" indent="0">
                  <a:buNone/>
                </a:pPr>
                <a:r>
                  <a:rPr lang="es-MX" sz="2200" dirty="0">
                    <a:latin typeface="+mn-lt"/>
                    <a:ea typeface="Roboto" panose="02000000000000000000" pitchFamily="2" charset="0"/>
                  </a:rPr>
                  <a:t>Este tipo de conjunto contiene elementos de diferente tipo o categoría.</a:t>
                </a:r>
              </a:p>
              <a:p>
                <a:r>
                  <a:rPr lang="es-MX" sz="2200" b="1" dirty="0">
                    <a:latin typeface="+mn-lt"/>
                    <a:ea typeface="Roboto" panose="02000000000000000000" pitchFamily="2" charset="0"/>
                  </a:rPr>
                  <a:t>Ejemplo:</a:t>
                </a:r>
              </a:p>
              <a:p>
                <a:pPr lvl="1"/>
                <a:r>
                  <a:rPr lang="es-MX" dirty="0">
                    <a:latin typeface="+mn-lt"/>
                    <a:ea typeface="Roboto" panose="02000000000000000000" pitchFamily="2" charset="0"/>
                  </a:rPr>
                  <a:t>Elementos de la mochila de un estudiante: </a:t>
                </a:r>
                <a:endParaRPr lang="es-MX" b="0" i="1" dirty="0">
                  <a:latin typeface="Cambria Math" panose="02040503050406030204" pitchFamily="18" charset="0"/>
                  <a:ea typeface="Cambria Math" panose="02040503050406030204" pitchFamily="18" charset="0"/>
                </a:endParaRPr>
              </a:p>
              <a:p>
                <a:pPr marL="584200" lvl="1" indent="0">
                  <a:buNone/>
                </a:pPr>
                <a:endParaRPr lang="es-MX" b="0" i="1" dirty="0">
                  <a:latin typeface="Cambria Math" panose="02040503050406030204" pitchFamily="18" charset="0"/>
                  <a:ea typeface="Cambria Math" panose="02040503050406030204" pitchFamily="18" charset="0"/>
                </a:endParaRPr>
              </a:p>
              <a:p>
                <a:pPr marL="584200" lvl="1" indent="0">
                  <a:buNone/>
                </a:pPr>
                <a14:m>
                  <m:oMathPara xmlns:m="http://schemas.openxmlformats.org/officeDocument/2006/math">
                    <m:oMathParaPr>
                      <m:jc m:val="centerGroup"/>
                    </m:oMathParaPr>
                    <m:oMath xmlns:m="http://schemas.openxmlformats.org/officeDocument/2006/math">
                      <m:r>
                        <a:rPr lang="es-MX" b="0" i="1" smtClean="0">
                          <a:solidFill>
                            <a:schemeClr val="tx1"/>
                          </a:solidFill>
                          <a:latin typeface="Cambria Math" panose="02040503050406030204" pitchFamily="18" charset="0"/>
                          <a:ea typeface="Cambria Math" panose="02040503050406030204" pitchFamily="18" charset="0"/>
                        </a:rPr>
                        <m:t>𝑀</m:t>
                      </m:r>
                      <m:r>
                        <a:rPr lang="es-MX" b="0" i="1" smtClean="0">
                          <a:solidFill>
                            <a:schemeClr val="tx1"/>
                          </a:solidFill>
                          <a:latin typeface="Cambria Math" panose="02040503050406030204" pitchFamily="18" charset="0"/>
                          <a:ea typeface="Roboto" panose="02000000000000000000" pitchFamily="2" charset="0"/>
                        </a:rPr>
                        <m:t>=</m:t>
                      </m:r>
                      <m:d>
                        <m:dPr>
                          <m:begChr m:val="{"/>
                          <m:endChr m:val="}"/>
                          <m:ctrlPr>
                            <a:rPr lang="es-MX" b="0" i="1" smtClean="0">
                              <a:solidFill>
                                <a:schemeClr val="tx1"/>
                              </a:solidFill>
                              <a:latin typeface="Cambria Math" panose="02040503050406030204" pitchFamily="18" charset="0"/>
                              <a:ea typeface="Roboto" panose="02000000000000000000" pitchFamily="2" charset="0"/>
                            </a:rPr>
                          </m:ctrlPr>
                        </m:dPr>
                        <m:e>
                          <m:r>
                            <a:rPr lang="es-MX" b="0" i="1" smtClean="0">
                              <a:solidFill>
                                <a:schemeClr val="tx1"/>
                              </a:solidFill>
                              <a:latin typeface="Cambria Math" panose="02040503050406030204" pitchFamily="18" charset="0"/>
                              <a:ea typeface="Roboto" panose="02000000000000000000" pitchFamily="2" charset="0"/>
                            </a:rPr>
                            <m:t>𝑐𝑢𝑎𝑑𝑒𝑟𝑛𝑜</m:t>
                          </m:r>
                          <m:r>
                            <a:rPr lang="es-MX" b="0" i="1" smtClean="0">
                              <a:solidFill>
                                <a:schemeClr val="tx1"/>
                              </a:solidFill>
                              <a:latin typeface="Cambria Math" panose="02040503050406030204" pitchFamily="18" charset="0"/>
                              <a:ea typeface="Roboto" panose="02000000000000000000" pitchFamily="2" charset="0"/>
                            </a:rPr>
                            <m:t>,</m:t>
                          </m:r>
                          <m:r>
                            <a:rPr lang="es-MX" b="0" i="1" smtClean="0">
                              <a:solidFill>
                                <a:schemeClr val="tx1"/>
                              </a:solidFill>
                              <a:latin typeface="Cambria Math" panose="02040503050406030204" pitchFamily="18" charset="0"/>
                              <a:ea typeface="Roboto" panose="02000000000000000000" pitchFamily="2" charset="0"/>
                            </a:rPr>
                            <m:t>𝑙𝑎𝑝𝑖𝑧</m:t>
                          </m:r>
                          <m:r>
                            <a:rPr lang="es-MX" b="0" i="1" smtClean="0">
                              <a:solidFill>
                                <a:schemeClr val="tx1"/>
                              </a:solidFill>
                              <a:latin typeface="Cambria Math" panose="02040503050406030204" pitchFamily="18" charset="0"/>
                              <a:ea typeface="Roboto" panose="02000000000000000000" pitchFamily="2" charset="0"/>
                            </a:rPr>
                            <m:t>,</m:t>
                          </m:r>
                          <m:r>
                            <a:rPr lang="es-MX" b="0" i="1" smtClean="0">
                              <a:solidFill>
                                <a:schemeClr val="tx1"/>
                              </a:solidFill>
                              <a:latin typeface="Cambria Math" panose="02040503050406030204" pitchFamily="18" charset="0"/>
                              <a:ea typeface="Roboto" panose="02000000000000000000" pitchFamily="2" charset="0"/>
                            </a:rPr>
                            <m:t>𝑙𝑎𝑝𝑖𝑐𝑒𝑟𝑜</m:t>
                          </m:r>
                          <m:r>
                            <a:rPr lang="es-MX" b="0" i="1" smtClean="0">
                              <a:solidFill>
                                <a:schemeClr val="tx1"/>
                              </a:solidFill>
                              <a:latin typeface="Cambria Math" panose="02040503050406030204" pitchFamily="18" charset="0"/>
                              <a:ea typeface="Roboto" panose="02000000000000000000" pitchFamily="2" charset="0"/>
                            </a:rPr>
                            <m:t>,</m:t>
                          </m:r>
                          <m:r>
                            <a:rPr lang="es-MX" b="0" i="1" smtClean="0">
                              <a:solidFill>
                                <a:schemeClr val="tx1"/>
                              </a:solidFill>
                              <a:latin typeface="Cambria Math" panose="02040503050406030204" pitchFamily="18" charset="0"/>
                              <a:ea typeface="Roboto" panose="02000000000000000000" pitchFamily="2" charset="0"/>
                            </a:rPr>
                            <m:t>𝑐𝑎𝑙𝑐𝑢𝑙𝑎𝑑𝑜𝑟𝑎</m:t>
                          </m:r>
                          <m:r>
                            <a:rPr lang="es-MX" b="0" i="1" smtClean="0">
                              <a:solidFill>
                                <a:schemeClr val="tx1"/>
                              </a:solidFill>
                              <a:latin typeface="Cambria Math" panose="02040503050406030204" pitchFamily="18" charset="0"/>
                              <a:ea typeface="Roboto" panose="02000000000000000000" pitchFamily="2" charset="0"/>
                            </a:rPr>
                            <m:t>,…</m:t>
                          </m:r>
                        </m:e>
                      </m:d>
                    </m:oMath>
                  </m:oMathPara>
                </a14:m>
                <a:endParaRPr lang="es-MX" b="0" dirty="0">
                  <a:solidFill>
                    <a:schemeClr val="tx1"/>
                  </a:solidFill>
                  <a:latin typeface="+mn-lt"/>
                  <a:ea typeface="Roboto" panose="02000000000000000000" pitchFamily="2" charset="0"/>
                </a:endParaRPr>
              </a:p>
              <a:p>
                <a:pPr marL="584200" lvl="1" indent="0">
                  <a:buNone/>
                </a:pPr>
                <a:endParaRPr lang="es-MX" dirty="0">
                  <a:latin typeface="+mn-lt"/>
                  <a:ea typeface="Roboto" panose="02000000000000000000" pitchFamily="2" charset="0"/>
                </a:endParaRPr>
              </a:p>
              <a:p>
                <a:pPr lvl="1"/>
                <a:r>
                  <a:rPr lang="es-MX" dirty="0">
                    <a:latin typeface="+mn-lt"/>
                    <a:ea typeface="Roboto" panose="02000000000000000000" pitchFamily="2" charset="0"/>
                  </a:rPr>
                  <a:t>Personajes de la Odisea:  </a:t>
                </a:r>
              </a:p>
              <a:p>
                <a:pPr lvl="1"/>
                <a:endParaRPr lang="es-MX" dirty="0">
                  <a:latin typeface="+mn-lt"/>
                  <a:ea typeface="Roboto" panose="02000000000000000000" pitchFamily="2" charset="0"/>
                </a:endParaRPr>
              </a:p>
              <a:p>
                <a:pPr marL="584200" lvl="1" indent="0">
                  <a:buNone/>
                </a:pPr>
                <a14:m>
                  <m:oMathPara xmlns:m="http://schemas.openxmlformats.org/officeDocument/2006/math">
                    <m:oMathParaPr>
                      <m:jc m:val="centerGroup"/>
                    </m:oMathParaPr>
                    <m:oMath xmlns:m="http://schemas.openxmlformats.org/officeDocument/2006/math">
                      <m:r>
                        <a:rPr lang="es-MX" b="0" i="1" smtClean="0">
                          <a:solidFill>
                            <a:schemeClr val="tx1"/>
                          </a:solidFill>
                          <a:latin typeface="Cambria Math" panose="02040503050406030204" pitchFamily="18" charset="0"/>
                          <a:ea typeface="Roboto" panose="02000000000000000000" pitchFamily="2" charset="0"/>
                        </a:rPr>
                        <m:t>𝑂</m:t>
                      </m:r>
                      <m:r>
                        <a:rPr lang="es-MX" b="0" i="1" smtClean="0">
                          <a:solidFill>
                            <a:schemeClr val="tx1"/>
                          </a:solidFill>
                          <a:latin typeface="Cambria Math" panose="02040503050406030204" pitchFamily="18" charset="0"/>
                          <a:ea typeface="Roboto" panose="02000000000000000000" pitchFamily="2" charset="0"/>
                        </a:rPr>
                        <m:t>={</m:t>
                      </m:r>
                      <m:r>
                        <a:rPr lang="es-MX" b="0" i="1" smtClean="0">
                          <a:solidFill>
                            <a:schemeClr val="tx1"/>
                          </a:solidFill>
                          <a:latin typeface="Cambria Math" panose="02040503050406030204" pitchFamily="18" charset="0"/>
                          <a:ea typeface="Roboto" panose="02000000000000000000" pitchFamily="2" charset="0"/>
                        </a:rPr>
                        <m:t>𝑈𝑙𝑖𝑠𝑒𝑠</m:t>
                      </m:r>
                      <m:r>
                        <a:rPr lang="es-MX" b="0" i="1" smtClean="0">
                          <a:solidFill>
                            <a:schemeClr val="tx1"/>
                          </a:solidFill>
                          <a:latin typeface="Cambria Math" panose="02040503050406030204" pitchFamily="18" charset="0"/>
                          <a:ea typeface="Roboto" panose="02000000000000000000" pitchFamily="2" charset="0"/>
                        </a:rPr>
                        <m:t>, </m:t>
                      </m:r>
                      <m:r>
                        <a:rPr lang="es-MX" b="0" i="1" smtClean="0">
                          <a:solidFill>
                            <a:schemeClr val="tx1"/>
                          </a:solidFill>
                          <a:latin typeface="Cambria Math" panose="02040503050406030204" pitchFamily="18" charset="0"/>
                          <a:ea typeface="Roboto" panose="02000000000000000000" pitchFamily="2" charset="0"/>
                        </a:rPr>
                        <m:t>𝐴𝑡𝑒𝑛𝑒𝑎</m:t>
                      </m:r>
                      <m:r>
                        <a:rPr lang="es-MX" b="0" i="1" smtClean="0">
                          <a:solidFill>
                            <a:schemeClr val="tx1"/>
                          </a:solidFill>
                          <a:latin typeface="Cambria Math" panose="02040503050406030204" pitchFamily="18" charset="0"/>
                          <a:ea typeface="Roboto" panose="02000000000000000000" pitchFamily="2" charset="0"/>
                        </a:rPr>
                        <m:t>,</m:t>
                      </m:r>
                      <m:r>
                        <a:rPr lang="es-MX" b="0" i="1" smtClean="0">
                          <a:solidFill>
                            <a:schemeClr val="tx1"/>
                          </a:solidFill>
                          <a:latin typeface="Cambria Math" panose="02040503050406030204" pitchFamily="18" charset="0"/>
                          <a:ea typeface="Roboto" panose="02000000000000000000" pitchFamily="2" charset="0"/>
                        </a:rPr>
                        <m:t>𝑃𝑜𝑙𝑖𝑓𝑒𝑚𝑜</m:t>
                      </m:r>
                      <m:r>
                        <a:rPr lang="es-MX" b="0" i="1" smtClean="0">
                          <a:solidFill>
                            <a:schemeClr val="tx1"/>
                          </a:solidFill>
                          <a:latin typeface="Cambria Math" panose="02040503050406030204" pitchFamily="18" charset="0"/>
                          <a:ea typeface="Roboto" panose="02000000000000000000" pitchFamily="2" charset="0"/>
                        </a:rPr>
                        <m:t>,</m:t>
                      </m:r>
                      <m:r>
                        <a:rPr lang="es-MX" b="0" i="1" smtClean="0">
                          <a:solidFill>
                            <a:schemeClr val="tx1"/>
                          </a:solidFill>
                          <a:latin typeface="Cambria Math" panose="02040503050406030204" pitchFamily="18" charset="0"/>
                          <a:ea typeface="Roboto" panose="02000000000000000000" pitchFamily="2" charset="0"/>
                        </a:rPr>
                        <m:t>𝐸𝑠𝑐𝑖𝑙𝑎</m:t>
                      </m:r>
                      <m:r>
                        <a:rPr lang="es-MX" b="0" i="1" smtClean="0">
                          <a:solidFill>
                            <a:schemeClr val="tx1"/>
                          </a:solidFill>
                          <a:latin typeface="Cambria Math" panose="02040503050406030204" pitchFamily="18" charset="0"/>
                          <a:ea typeface="Roboto" panose="02000000000000000000" pitchFamily="2" charset="0"/>
                        </a:rPr>
                        <m:t>,</m:t>
                      </m:r>
                      <m:r>
                        <a:rPr lang="es-MX" b="0" i="1" smtClean="0">
                          <a:solidFill>
                            <a:schemeClr val="tx1"/>
                          </a:solidFill>
                          <a:latin typeface="Cambria Math" panose="02040503050406030204" pitchFamily="18" charset="0"/>
                          <a:ea typeface="Roboto" panose="02000000000000000000" pitchFamily="2" charset="0"/>
                        </a:rPr>
                        <m:t>𝐶𝑖𝑟𝑠𝑒</m:t>
                      </m:r>
                      <m:r>
                        <a:rPr lang="es-MX" b="0" i="1" smtClean="0">
                          <a:solidFill>
                            <a:schemeClr val="tx1"/>
                          </a:solidFill>
                          <a:latin typeface="Cambria Math" panose="02040503050406030204" pitchFamily="18" charset="0"/>
                          <a:ea typeface="Roboto" panose="02000000000000000000" pitchFamily="2" charset="0"/>
                        </a:rPr>
                        <m:t>,</m:t>
                      </m:r>
                      <m:r>
                        <a:rPr lang="es-MX" b="0" i="1" smtClean="0">
                          <a:solidFill>
                            <a:schemeClr val="tx1"/>
                          </a:solidFill>
                          <a:latin typeface="Cambria Math" panose="02040503050406030204" pitchFamily="18" charset="0"/>
                          <a:ea typeface="Roboto" panose="02000000000000000000" pitchFamily="2" charset="0"/>
                        </a:rPr>
                        <m:t>𝑃𝑒𝑛𝑒𝑙𝑜𝑝𝑒</m:t>
                      </m:r>
                      <m:r>
                        <a:rPr lang="es-MX" b="0" i="1" smtClean="0">
                          <a:solidFill>
                            <a:schemeClr val="tx1"/>
                          </a:solidFill>
                          <a:latin typeface="Cambria Math" panose="02040503050406030204" pitchFamily="18" charset="0"/>
                          <a:ea typeface="Roboto" panose="02000000000000000000" pitchFamily="2" charset="0"/>
                        </a:rPr>
                        <m:t>}</m:t>
                      </m:r>
                    </m:oMath>
                  </m:oMathPara>
                </a14:m>
                <a:endParaRPr lang="es-MX" dirty="0">
                  <a:solidFill>
                    <a:schemeClr val="tx1"/>
                  </a:solidFill>
                  <a:latin typeface="+mn-lt"/>
                  <a:ea typeface="Roboto" panose="02000000000000000000" pitchFamily="2" charset="0"/>
                </a:endParaRPr>
              </a:p>
              <a:p>
                <a:pPr marL="127000" indent="0">
                  <a:buNone/>
                </a:pPr>
                <a:endParaRPr lang="es-MX" sz="2200" dirty="0">
                  <a:latin typeface="+mn-lt"/>
                  <a:ea typeface="Roboto" panose="02000000000000000000" pitchFamily="2" charset="0"/>
                </a:endParaRPr>
              </a:p>
              <a:p>
                <a:endParaRPr lang="es-MX" sz="2200" dirty="0">
                  <a:latin typeface="+mn-lt"/>
                  <a:ea typeface="Roboto" panose="02000000000000000000" pitchFamily="2" charset="0"/>
                </a:endParaRPr>
              </a:p>
            </p:txBody>
          </p:sp>
        </mc:Choice>
        <mc:Fallback xmlns="">
          <p:sp>
            <p:nvSpPr>
              <p:cNvPr id="6" name="Google Shape;310;p34">
                <a:extLst>
                  <a:ext uri="{FF2B5EF4-FFF2-40B4-BE49-F238E27FC236}">
                    <a16:creationId xmlns:a16="http://schemas.microsoft.com/office/drawing/2014/main" id="{05DC2B5D-5980-435F-9F2E-D371149A2A1E}"/>
                  </a:ext>
                </a:extLst>
              </p:cNvPr>
              <p:cNvSpPr txBox="1">
                <a:spLocks noRot="1" noChangeAspect="1" noMove="1" noResize="1" noEditPoints="1" noAdjustHandles="1" noChangeArrowheads="1" noChangeShapeType="1" noTextEdit="1"/>
              </p:cNvSpPr>
              <p:nvPr/>
            </p:nvSpPr>
            <p:spPr>
              <a:xfrm>
                <a:off x="311968" y="1270731"/>
                <a:ext cx="11471993" cy="3950198"/>
              </a:xfrm>
              <a:prstGeom prst="rect">
                <a:avLst/>
              </a:prstGeom>
              <a:blipFill>
                <a:blip r:embed="rId2"/>
                <a:stretch>
                  <a:fillRect/>
                </a:stretch>
              </a:blipFill>
              <a:ln>
                <a:noFill/>
              </a:ln>
            </p:spPr>
            <p:txBody>
              <a:bodyPr/>
              <a:lstStyle/>
              <a:p>
                <a:r>
                  <a:rPr lang="es-CO">
                    <a:noFill/>
                  </a:rPr>
                  <a:t> </a:t>
                </a:r>
              </a:p>
            </p:txBody>
          </p:sp>
        </mc:Fallback>
      </mc:AlternateContent>
    </p:spTree>
    <p:extLst>
      <p:ext uri="{BB962C8B-B14F-4D97-AF65-F5344CB8AC3E}">
        <p14:creationId xmlns:p14="http://schemas.microsoft.com/office/powerpoint/2010/main" val="318155901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78E8DF2-7986-4872-8459-F68D43B26317}"/>
              </a:ext>
            </a:extLst>
          </p:cNvPr>
          <p:cNvSpPr>
            <a:spLocks noGrp="1"/>
          </p:cNvSpPr>
          <p:nvPr>
            <p:ph type="title"/>
          </p:nvPr>
        </p:nvSpPr>
        <p:spPr>
          <a:xfrm>
            <a:off x="442452" y="96038"/>
            <a:ext cx="11533648" cy="949500"/>
          </a:xfrm>
        </p:spPr>
        <p:txBody>
          <a:bodyPr/>
          <a:lstStyle/>
          <a:p>
            <a:r>
              <a:rPr lang="es-ES" dirty="0">
                <a:solidFill>
                  <a:schemeClr val="tx1"/>
                </a:solidFill>
                <a:latin typeface="+mj-lt"/>
              </a:rPr>
              <a:t>Cardinalidad de un conjunto</a:t>
            </a:r>
            <a:endParaRPr lang="es-CO" dirty="0">
              <a:solidFill>
                <a:schemeClr val="tx1"/>
              </a:solidFill>
              <a:latin typeface="+mj-lt"/>
            </a:endParaRPr>
          </a:p>
        </p:txBody>
      </p:sp>
      <mc:AlternateContent xmlns:mc="http://schemas.openxmlformats.org/markup-compatibility/2006" xmlns:a14="http://schemas.microsoft.com/office/drawing/2010/main">
        <mc:Choice Requires="a14">
          <p:sp>
            <p:nvSpPr>
              <p:cNvPr id="5" name="Google Shape;310;p34">
                <a:extLst>
                  <a:ext uri="{FF2B5EF4-FFF2-40B4-BE49-F238E27FC236}">
                    <a16:creationId xmlns:a16="http://schemas.microsoft.com/office/drawing/2014/main" id="{F102D340-F804-4113-9FEB-9A4128546791}"/>
                  </a:ext>
                </a:extLst>
              </p:cNvPr>
              <p:cNvSpPr txBox="1">
                <a:spLocks/>
              </p:cNvSpPr>
              <p:nvPr/>
            </p:nvSpPr>
            <p:spPr>
              <a:xfrm>
                <a:off x="215900" y="937513"/>
                <a:ext cx="11195769" cy="2300414"/>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200" dirty="0">
                    <a:latin typeface="+mn-lt"/>
                    <a:ea typeface="Roboto" panose="02000000000000000000" pitchFamily="2" charset="0"/>
                  </a:rPr>
                  <a:t>La cardinalidad es una medida del tamaño de un conjunto que es equivalente a la cantidad de elementos que este tiene.</a:t>
                </a:r>
              </a:p>
              <a:p>
                <a:r>
                  <a:rPr lang="es-MX" sz="2200" b="1" dirty="0">
                    <a:latin typeface="+mn-lt"/>
                    <a:ea typeface="Roboto" panose="02000000000000000000" pitchFamily="2" charset="0"/>
                  </a:rPr>
                  <a:t>Notación: </a:t>
                </a:r>
                <a:r>
                  <a:rPr lang="es-MX" sz="2200" dirty="0">
                    <a:latin typeface="+mn-lt"/>
                    <a:ea typeface="Roboto" panose="02000000000000000000" pitchFamily="2" charset="0"/>
                  </a:rPr>
                  <a:t>Sea </a:t>
                </a:r>
                <a14:m>
                  <m:oMath xmlns:m="http://schemas.openxmlformats.org/officeDocument/2006/math">
                    <m:r>
                      <a:rPr lang="es-MX" sz="2200" b="0" i="1" smtClean="0">
                        <a:latin typeface="Cambria Math" panose="02040503050406030204" pitchFamily="18" charset="0"/>
                        <a:ea typeface="Roboto" panose="02000000000000000000" pitchFamily="2" charset="0"/>
                      </a:rPr>
                      <m:t>𝐴</m:t>
                    </m:r>
                  </m:oMath>
                </a14:m>
                <a:r>
                  <a:rPr lang="es-MX" sz="2200" dirty="0">
                    <a:latin typeface="+mn-lt"/>
                    <a:ea typeface="Roboto" panose="02000000000000000000" pitchFamily="2" charset="0"/>
                  </a:rPr>
                  <a:t> un conjunto, la cardinalidad de </a:t>
                </a:r>
                <a14:m>
                  <m:oMath xmlns:m="http://schemas.openxmlformats.org/officeDocument/2006/math">
                    <m:r>
                      <a:rPr lang="es-MX" sz="2200" i="1">
                        <a:latin typeface="Cambria Math" panose="02040503050406030204" pitchFamily="18" charset="0"/>
                        <a:ea typeface="Roboto" panose="02000000000000000000" pitchFamily="2" charset="0"/>
                      </a:rPr>
                      <m:t>𝐴</m:t>
                    </m:r>
                  </m:oMath>
                </a14:m>
                <a:r>
                  <a:rPr lang="es-MX" sz="2200" dirty="0">
                    <a:latin typeface="+mn-lt"/>
                    <a:ea typeface="Roboto" panose="02000000000000000000" pitchFamily="2" charset="0"/>
                  </a:rPr>
                  <a:t> se representa como se muestra a continuación:</a:t>
                </a:r>
              </a:p>
              <a:p>
                <a:endParaRPr lang="es-MX" sz="2200" b="1" dirty="0">
                  <a:latin typeface="+mn-lt"/>
                  <a:ea typeface="Roboto" panose="02000000000000000000" pitchFamily="2" charset="0"/>
                </a:endParaRPr>
              </a:p>
              <a:p>
                <a:pPr marL="127000" indent="0" algn="ctr">
                  <a:buNone/>
                </a:pPr>
                <a14:m>
                  <m:oMathPara xmlns:m="http://schemas.openxmlformats.org/officeDocument/2006/math">
                    <m:oMathParaPr>
                      <m:jc m:val="centerGroup"/>
                    </m:oMathParaPr>
                    <m:oMath xmlns:m="http://schemas.openxmlformats.org/officeDocument/2006/math">
                      <m:d>
                        <m:dPr>
                          <m:begChr m:val="|"/>
                          <m:endChr m:val="|"/>
                          <m:ctrlPr>
                            <a:rPr lang="es-MX" sz="2200" b="0" i="1" smtClean="0">
                              <a:latin typeface="Cambria Math" panose="02040503050406030204" pitchFamily="18" charset="0"/>
                              <a:ea typeface="Roboto" panose="02000000000000000000" pitchFamily="2" charset="0"/>
                            </a:rPr>
                          </m:ctrlPr>
                        </m:dPr>
                        <m:e>
                          <m:r>
                            <a:rPr lang="es-MX" sz="2200" b="0" i="1" smtClean="0">
                              <a:latin typeface="Cambria Math" panose="02040503050406030204" pitchFamily="18" charset="0"/>
                              <a:ea typeface="Roboto" panose="02000000000000000000" pitchFamily="2" charset="0"/>
                            </a:rPr>
                            <m:t>𝐴</m:t>
                          </m:r>
                        </m:e>
                      </m:d>
                      <m:r>
                        <a:rPr lang="es-MX" sz="2200" b="0" i="1" smtClean="0">
                          <a:latin typeface="Cambria Math" panose="02040503050406030204" pitchFamily="18" charset="0"/>
                          <a:ea typeface="Roboto" panose="02000000000000000000" pitchFamily="2" charset="0"/>
                        </a:rPr>
                        <m:t>=</m:t>
                      </m:r>
                      <m:r>
                        <a:rPr lang="es-MX" sz="2200" b="0" i="1" smtClean="0">
                          <a:latin typeface="Cambria Math" panose="02040503050406030204" pitchFamily="18" charset="0"/>
                          <a:ea typeface="Roboto" panose="02000000000000000000" pitchFamily="2" charset="0"/>
                        </a:rPr>
                        <m:t>𝑐𝑎𝑟𝑑</m:t>
                      </m:r>
                      <m:d>
                        <m:dPr>
                          <m:ctrlPr>
                            <a:rPr lang="es-MX" sz="2200" b="0" i="1" smtClean="0">
                              <a:latin typeface="Cambria Math" panose="02040503050406030204" pitchFamily="18" charset="0"/>
                              <a:ea typeface="Roboto" panose="02000000000000000000" pitchFamily="2" charset="0"/>
                            </a:rPr>
                          </m:ctrlPr>
                        </m:dPr>
                        <m:e>
                          <m:r>
                            <a:rPr lang="es-MX" sz="2200" b="0" i="1" smtClean="0">
                              <a:latin typeface="Cambria Math" panose="02040503050406030204" pitchFamily="18" charset="0"/>
                              <a:ea typeface="Roboto" panose="02000000000000000000" pitchFamily="2" charset="0"/>
                            </a:rPr>
                            <m:t>𝐴</m:t>
                          </m:r>
                        </m:e>
                      </m:d>
                      <m:r>
                        <a:rPr lang="es-MX" sz="2200" b="0" i="1" smtClean="0">
                          <a:latin typeface="Cambria Math" panose="02040503050406030204" pitchFamily="18" charset="0"/>
                          <a:ea typeface="Roboto" panose="02000000000000000000" pitchFamily="2" charset="0"/>
                        </a:rPr>
                        <m:t>=</m:t>
                      </m:r>
                      <m:r>
                        <a:rPr lang="es-MX" sz="2200" b="0" i="1" smtClean="0">
                          <a:latin typeface="Cambria Math" panose="02040503050406030204" pitchFamily="18" charset="0"/>
                          <a:ea typeface="Roboto" panose="02000000000000000000" pitchFamily="2" charset="0"/>
                        </a:rPr>
                        <m:t>𝑛</m:t>
                      </m:r>
                      <m:d>
                        <m:dPr>
                          <m:ctrlPr>
                            <a:rPr lang="es-MX" sz="2200" b="0" i="1" smtClean="0">
                              <a:latin typeface="Cambria Math" panose="02040503050406030204" pitchFamily="18" charset="0"/>
                              <a:ea typeface="Roboto" panose="02000000000000000000" pitchFamily="2" charset="0"/>
                            </a:rPr>
                          </m:ctrlPr>
                        </m:dPr>
                        <m:e>
                          <m:r>
                            <a:rPr lang="es-MX" sz="2200" b="0" i="1" smtClean="0">
                              <a:latin typeface="Cambria Math" panose="02040503050406030204" pitchFamily="18" charset="0"/>
                              <a:ea typeface="Roboto" panose="02000000000000000000" pitchFamily="2" charset="0"/>
                            </a:rPr>
                            <m:t>𝐴</m:t>
                          </m:r>
                        </m:e>
                      </m:d>
                    </m:oMath>
                  </m:oMathPara>
                </a14:m>
                <a:endParaRPr lang="es-MX" sz="2200" dirty="0">
                  <a:latin typeface="+mn-lt"/>
                  <a:ea typeface="Roboto" panose="02000000000000000000" pitchFamily="2" charset="0"/>
                </a:endParaRPr>
              </a:p>
              <a:p>
                <a:pPr marL="127000" indent="0">
                  <a:buNone/>
                </a:pPr>
                <a:endParaRPr lang="es-MX" sz="2200" dirty="0">
                  <a:latin typeface="+mn-lt"/>
                  <a:ea typeface="Roboto" panose="02000000000000000000" pitchFamily="2" charset="0"/>
                </a:endParaRPr>
              </a:p>
              <a:p>
                <a:endParaRPr lang="es-MX" sz="2200" dirty="0">
                  <a:latin typeface="+mn-lt"/>
                  <a:ea typeface="Roboto" panose="02000000000000000000" pitchFamily="2" charset="0"/>
                </a:endParaRPr>
              </a:p>
            </p:txBody>
          </p:sp>
        </mc:Choice>
        <mc:Fallback xmlns="">
          <p:sp>
            <p:nvSpPr>
              <p:cNvPr id="5" name="Google Shape;310;p34">
                <a:extLst>
                  <a:ext uri="{FF2B5EF4-FFF2-40B4-BE49-F238E27FC236}">
                    <a16:creationId xmlns:a16="http://schemas.microsoft.com/office/drawing/2014/main" id="{F102D340-F804-4113-9FEB-9A4128546791}"/>
                  </a:ext>
                </a:extLst>
              </p:cNvPr>
              <p:cNvSpPr txBox="1">
                <a:spLocks noRot="1" noChangeAspect="1" noMove="1" noResize="1" noEditPoints="1" noAdjustHandles="1" noChangeArrowheads="1" noChangeShapeType="1" noTextEdit="1"/>
              </p:cNvSpPr>
              <p:nvPr/>
            </p:nvSpPr>
            <p:spPr>
              <a:xfrm>
                <a:off x="215900" y="937513"/>
                <a:ext cx="11195769" cy="2300414"/>
              </a:xfrm>
              <a:prstGeom prst="rect">
                <a:avLst/>
              </a:prstGeom>
              <a:blipFill>
                <a:blip r:embed="rId2"/>
                <a:stretch>
                  <a:fillRect/>
                </a:stretch>
              </a:blipFill>
              <a:ln>
                <a:noFill/>
              </a:ln>
            </p:spPr>
            <p:txBody>
              <a:bodyPr/>
              <a:lstStyle/>
              <a:p>
                <a:r>
                  <a:rPr lang="es-CO">
                    <a:noFill/>
                  </a:rPr>
                  <a:t> </a:t>
                </a:r>
              </a:p>
            </p:txBody>
          </p:sp>
        </mc:Fallback>
      </mc:AlternateContent>
    </p:spTree>
    <p:extLst>
      <p:ext uri="{BB962C8B-B14F-4D97-AF65-F5344CB8AC3E}">
        <p14:creationId xmlns:p14="http://schemas.microsoft.com/office/powerpoint/2010/main" val="363024740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78E8DF2-7986-4872-8459-F68D43B26317}"/>
              </a:ext>
            </a:extLst>
          </p:cNvPr>
          <p:cNvSpPr>
            <a:spLocks noGrp="1"/>
          </p:cNvSpPr>
          <p:nvPr>
            <p:ph type="title"/>
          </p:nvPr>
        </p:nvSpPr>
        <p:spPr>
          <a:xfrm>
            <a:off x="442452" y="96038"/>
            <a:ext cx="11533648" cy="949500"/>
          </a:xfrm>
        </p:spPr>
        <p:txBody>
          <a:bodyPr/>
          <a:lstStyle/>
          <a:p>
            <a:r>
              <a:rPr lang="es-ES" dirty="0">
                <a:solidFill>
                  <a:schemeClr val="tx1"/>
                </a:solidFill>
                <a:latin typeface="+mj-lt"/>
              </a:rPr>
              <a:t>Cardinalidad de un conjunto</a:t>
            </a:r>
            <a:endParaRPr lang="es-CO" dirty="0">
              <a:solidFill>
                <a:schemeClr val="tx1"/>
              </a:solidFill>
              <a:latin typeface="+mj-lt"/>
            </a:endParaRPr>
          </a:p>
        </p:txBody>
      </p:sp>
      <mc:AlternateContent xmlns:mc="http://schemas.openxmlformats.org/markup-compatibility/2006" xmlns:a14="http://schemas.microsoft.com/office/drawing/2010/main">
        <mc:Choice Requires="a14">
          <p:sp>
            <p:nvSpPr>
              <p:cNvPr id="5" name="Google Shape;310;p34">
                <a:extLst>
                  <a:ext uri="{FF2B5EF4-FFF2-40B4-BE49-F238E27FC236}">
                    <a16:creationId xmlns:a16="http://schemas.microsoft.com/office/drawing/2014/main" id="{F102D340-F804-4113-9FEB-9A4128546791}"/>
                  </a:ext>
                </a:extLst>
              </p:cNvPr>
              <p:cNvSpPr txBox="1">
                <a:spLocks/>
              </p:cNvSpPr>
              <p:nvPr/>
            </p:nvSpPr>
            <p:spPr>
              <a:xfrm>
                <a:off x="215900" y="937512"/>
                <a:ext cx="11195769" cy="558127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200" b="1" dirty="0">
                    <a:latin typeface="+mn-lt"/>
                    <a:ea typeface="Roboto" panose="02000000000000000000" pitchFamily="2" charset="0"/>
                  </a:rPr>
                  <a:t>Ejemplo</a:t>
                </a:r>
                <a:r>
                  <a:rPr lang="es-MX" sz="2200" dirty="0">
                    <a:latin typeface="+mn-lt"/>
                    <a:ea typeface="Roboto" panose="02000000000000000000" pitchFamily="2" charset="0"/>
                  </a:rPr>
                  <a:t>: Determine la cardinalidad de cada uno de los siguientes conjuntos.</a:t>
                </a:r>
              </a:p>
              <a:p>
                <a:r>
                  <a:rPr lang="es-MX" sz="2200" dirty="0">
                    <a:latin typeface="+mn-lt"/>
                    <a:ea typeface="Roboto" panose="02000000000000000000" pitchFamily="2" charset="0"/>
                  </a:rPr>
                  <a:t>Sea </a:t>
                </a:r>
                <a14:m>
                  <m:oMath xmlns:m="http://schemas.openxmlformats.org/officeDocument/2006/math">
                    <m:r>
                      <a:rPr lang="es-MX" sz="2200" b="0" i="1" smtClean="0">
                        <a:latin typeface="Cambria Math" panose="02040503050406030204" pitchFamily="18" charset="0"/>
                        <a:ea typeface="Roboto" panose="02000000000000000000" pitchFamily="2" charset="0"/>
                      </a:rPr>
                      <m:t>𝐴</m:t>
                    </m:r>
                  </m:oMath>
                </a14:m>
                <a:r>
                  <a:rPr lang="es-MX" sz="2200" dirty="0">
                    <a:latin typeface="+mn-lt"/>
                    <a:ea typeface="Roboto" panose="02000000000000000000" pitchFamily="2" charset="0"/>
                  </a:rPr>
                  <a:t> el conjunto de los enteros positivos impares menores a 10.</a:t>
                </a:r>
                <a:endParaRPr lang="es-MX" sz="2200" b="0" i="1" dirty="0">
                  <a:latin typeface="Cambria Math" panose="02040503050406030204" pitchFamily="18" charset="0"/>
                </a:endParaRPr>
              </a:p>
              <a:p>
                <a:pPr marL="127000" indent="0">
                  <a:buNone/>
                </a:pPr>
                <a14:m>
                  <m:oMathPara xmlns:m="http://schemas.openxmlformats.org/officeDocument/2006/math">
                    <m:oMathParaPr>
                      <m:jc m:val="centerGroup"/>
                    </m:oMathParaPr>
                    <m:oMath xmlns:m="http://schemas.openxmlformats.org/officeDocument/2006/math">
                      <m:r>
                        <a:rPr lang="es-MX" sz="2200" b="0" i="1" smtClean="0">
                          <a:latin typeface="Cambria Math" panose="02040503050406030204" pitchFamily="18" charset="0"/>
                        </a:rPr>
                        <m:t>𝐴</m:t>
                      </m:r>
                      <m:r>
                        <a:rPr lang="es-MX" sz="2200" b="0" i="1" smtClean="0">
                          <a:latin typeface="Cambria Math" panose="02040503050406030204" pitchFamily="18" charset="0"/>
                        </a:rPr>
                        <m:t>=</m:t>
                      </m:r>
                      <m:d>
                        <m:dPr>
                          <m:begChr m:val="{"/>
                          <m:endChr m:val="}"/>
                          <m:ctrlPr>
                            <a:rPr lang="es-MX" sz="2200" b="0" i="1" smtClean="0">
                              <a:latin typeface="Cambria Math" panose="02040503050406030204" pitchFamily="18" charset="0"/>
                            </a:rPr>
                          </m:ctrlPr>
                        </m:dPr>
                        <m:e>
                          <m:r>
                            <a:rPr lang="es-MX" sz="2200" b="0" i="1" smtClean="0">
                              <a:latin typeface="Cambria Math" panose="02040503050406030204" pitchFamily="18" charset="0"/>
                            </a:rPr>
                            <m:t>1,3,5,7, 9</m:t>
                          </m:r>
                        </m:e>
                      </m:d>
                      <m:r>
                        <a:rPr lang="es-MX" sz="2200" b="0" i="1" smtClean="0">
                          <a:latin typeface="Cambria Math" panose="02040503050406030204" pitchFamily="18" charset="0"/>
                        </a:rPr>
                        <m:t>→</m:t>
                      </m:r>
                      <m:d>
                        <m:dPr>
                          <m:begChr m:val="|"/>
                          <m:endChr m:val="|"/>
                          <m:ctrlPr>
                            <a:rPr lang="es-MX" sz="2200" b="0" i="1" smtClean="0">
                              <a:latin typeface="Cambria Math" panose="02040503050406030204" pitchFamily="18" charset="0"/>
                            </a:rPr>
                          </m:ctrlPr>
                        </m:dPr>
                        <m:e>
                          <m:r>
                            <a:rPr lang="es-MX" sz="2200" b="0" i="1" smtClean="0">
                              <a:latin typeface="Cambria Math" panose="02040503050406030204" pitchFamily="18" charset="0"/>
                            </a:rPr>
                            <m:t>𝐴</m:t>
                          </m:r>
                        </m:e>
                      </m:d>
                      <m:r>
                        <a:rPr lang="es-MX" sz="2200" b="0" i="1" smtClean="0">
                          <a:latin typeface="Cambria Math" panose="02040503050406030204" pitchFamily="18" charset="0"/>
                        </a:rPr>
                        <m:t>=</m:t>
                      </m:r>
                      <m:r>
                        <a:rPr lang="es-MX" sz="2200" b="0" i="1" smtClean="0">
                          <a:latin typeface="Cambria Math" panose="02040503050406030204" pitchFamily="18" charset="0"/>
                        </a:rPr>
                        <m:t>𝑛</m:t>
                      </m:r>
                      <m:d>
                        <m:dPr>
                          <m:ctrlPr>
                            <a:rPr lang="es-MX" sz="2200" b="0" i="1" smtClean="0">
                              <a:latin typeface="Cambria Math" panose="02040503050406030204" pitchFamily="18" charset="0"/>
                            </a:rPr>
                          </m:ctrlPr>
                        </m:dPr>
                        <m:e>
                          <m:r>
                            <a:rPr lang="es-MX" sz="2200" b="0" i="1" smtClean="0">
                              <a:latin typeface="Cambria Math" panose="02040503050406030204" pitchFamily="18" charset="0"/>
                            </a:rPr>
                            <m:t>𝐴</m:t>
                          </m:r>
                        </m:e>
                      </m:d>
                      <m:r>
                        <a:rPr lang="es-MX" sz="2200" b="0" i="1" smtClean="0">
                          <a:latin typeface="Cambria Math" panose="02040503050406030204" pitchFamily="18" charset="0"/>
                        </a:rPr>
                        <m:t>=5</m:t>
                      </m:r>
                    </m:oMath>
                  </m:oMathPara>
                </a14:m>
                <a:endParaRPr lang="es-CO" sz="2200" dirty="0"/>
              </a:p>
              <a:p>
                <a:r>
                  <a:rPr lang="es-MX" sz="2200" dirty="0">
                    <a:latin typeface="+mn-lt"/>
                    <a:ea typeface="Roboto" panose="02000000000000000000" pitchFamily="2" charset="0"/>
                  </a:rPr>
                  <a:t>Sea </a:t>
                </a:r>
                <a14:m>
                  <m:oMath xmlns:m="http://schemas.openxmlformats.org/officeDocument/2006/math">
                    <m:r>
                      <a:rPr lang="es-MX" sz="2200" b="0" i="1" smtClean="0">
                        <a:latin typeface="Cambria Math" panose="02040503050406030204" pitchFamily="18" charset="0"/>
                        <a:ea typeface="Roboto" panose="02000000000000000000" pitchFamily="2" charset="0"/>
                      </a:rPr>
                      <m:t>𝑆</m:t>
                    </m:r>
                  </m:oMath>
                </a14:m>
                <a:r>
                  <a:rPr lang="es-MX" sz="2200" dirty="0">
                    <a:latin typeface="+mn-lt"/>
                    <a:ea typeface="Roboto" panose="02000000000000000000" pitchFamily="2" charset="0"/>
                  </a:rPr>
                  <a:t> el conjunto de letras del alfabeto español:</a:t>
                </a:r>
              </a:p>
              <a:p>
                <a:pPr marL="127000" indent="0">
                  <a:buNone/>
                </a:pPr>
                <a14:m>
                  <m:oMathPara xmlns:m="http://schemas.openxmlformats.org/officeDocument/2006/math">
                    <m:oMathParaPr>
                      <m:jc m:val="centerGroup"/>
                    </m:oMathParaPr>
                    <m:oMath xmlns:m="http://schemas.openxmlformats.org/officeDocument/2006/math">
                      <m:r>
                        <a:rPr lang="es-MX" sz="2200" b="0" i="1" smtClean="0">
                          <a:latin typeface="Cambria Math" panose="02040503050406030204" pitchFamily="18" charset="0"/>
                        </a:rPr>
                        <m:t>𝑆</m:t>
                      </m:r>
                      <m:r>
                        <a:rPr lang="es-MX" sz="2200" b="0" i="1" smtClean="0">
                          <a:latin typeface="Cambria Math" panose="02040503050406030204" pitchFamily="18" charset="0"/>
                        </a:rPr>
                        <m:t>=</m:t>
                      </m:r>
                      <m:d>
                        <m:dPr>
                          <m:begChr m:val="{"/>
                          <m:endChr m:val="}"/>
                          <m:ctrlPr>
                            <a:rPr lang="es-MX" sz="2200" b="0" i="1" smtClean="0">
                              <a:latin typeface="Cambria Math" panose="02040503050406030204" pitchFamily="18" charset="0"/>
                            </a:rPr>
                          </m:ctrlPr>
                        </m:dPr>
                        <m:e>
                          <m:r>
                            <a:rPr lang="es-MX" sz="2200" b="0" i="1" smtClean="0">
                              <a:latin typeface="Cambria Math" panose="02040503050406030204" pitchFamily="18" charset="0"/>
                            </a:rPr>
                            <m:t>𝑎</m:t>
                          </m:r>
                          <m:r>
                            <a:rPr lang="es-MX" sz="2200" b="0" i="1" smtClean="0">
                              <a:latin typeface="Cambria Math" panose="02040503050406030204" pitchFamily="18" charset="0"/>
                            </a:rPr>
                            <m:t>,</m:t>
                          </m:r>
                          <m:r>
                            <a:rPr lang="es-MX" sz="2200" b="0" i="1" smtClean="0">
                              <a:latin typeface="Cambria Math" panose="02040503050406030204" pitchFamily="18" charset="0"/>
                            </a:rPr>
                            <m:t>𝑏</m:t>
                          </m:r>
                          <m:r>
                            <a:rPr lang="es-MX" sz="2200" b="0" i="1" smtClean="0">
                              <a:latin typeface="Cambria Math" panose="02040503050406030204" pitchFamily="18" charset="0"/>
                            </a:rPr>
                            <m:t>,…,ñ,…,</m:t>
                          </m:r>
                          <m:r>
                            <a:rPr lang="es-MX" sz="2200" b="0" i="1" smtClean="0">
                              <a:latin typeface="Cambria Math" panose="02040503050406030204" pitchFamily="18" charset="0"/>
                            </a:rPr>
                            <m:t>𝑧</m:t>
                          </m:r>
                        </m:e>
                      </m:d>
                      <m:r>
                        <a:rPr lang="es-MX" sz="2200" b="0" i="1" smtClean="0">
                          <a:latin typeface="Cambria Math" panose="02040503050406030204" pitchFamily="18" charset="0"/>
                        </a:rPr>
                        <m:t>→</m:t>
                      </m:r>
                      <m:d>
                        <m:dPr>
                          <m:begChr m:val="|"/>
                          <m:endChr m:val="|"/>
                          <m:ctrlPr>
                            <a:rPr lang="es-MX" sz="2200" b="0" i="1" smtClean="0">
                              <a:latin typeface="Cambria Math" panose="02040503050406030204" pitchFamily="18" charset="0"/>
                            </a:rPr>
                          </m:ctrlPr>
                        </m:dPr>
                        <m:e>
                          <m:r>
                            <a:rPr lang="es-MX" sz="2200" b="0" i="1" smtClean="0">
                              <a:latin typeface="Cambria Math" panose="02040503050406030204" pitchFamily="18" charset="0"/>
                            </a:rPr>
                            <m:t>𝑆</m:t>
                          </m:r>
                        </m:e>
                      </m:d>
                      <m:r>
                        <a:rPr lang="es-MX" sz="2200" b="0" i="1" smtClean="0">
                          <a:latin typeface="Cambria Math" panose="02040503050406030204" pitchFamily="18" charset="0"/>
                        </a:rPr>
                        <m:t>=</m:t>
                      </m:r>
                      <m:r>
                        <a:rPr lang="es-MX" sz="2200" b="0" i="1" smtClean="0">
                          <a:latin typeface="Cambria Math" panose="02040503050406030204" pitchFamily="18" charset="0"/>
                        </a:rPr>
                        <m:t>𝑛</m:t>
                      </m:r>
                      <m:d>
                        <m:dPr>
                          <m:ctrlPr>
                            <a:rPr lang="es-MX" sz="2200" b="0" i="1" smtClean="0">
                              <a:latin typeface="Cambria Math" panose="02040503050406030204" pitchFamily="18" charset="0"/>
                            </a:rPr>
                          </m:ctrlPr>
                        </m:dPr>
                        <m:e>
                          <m:r>
                            <a:rPr lang="es-MX" sz="2200" b="0" i="1" smtClean="0">
                              <a:latin typeface="Cambria Math" panose="02040503050406030204" pitchFamily="18" charset="0"/>
                            </a:rPr>
                            <m:t>𝑆</m:t>
                          </m:r>
                        </m:e>
                      </m:d>
                      <m:r>
                        <a:rPr lang="es-MX" sz="2200" b="0" i="1" smtClean="0">
                          <a:latin typeface="Cambria Math" panose="02040503050406030204" pitchFamily="18" charset="0"/>
                        </a:rPr>
                        <m:t>=27</m:t>
                      </m:r>
                    </m:oMath>
                  </m:oMathPara>
                </a14:m>
                <a:endParaRPr lang="es-CO" sz="2200" dirty="0"/>
              </a:p>
              <a:p>
                <a:r>
                  <a:rPr lang="es-MX" sz="2200" dirty="0">
                    <a:latin typeface="+mn-lt"/>
                    <a:ea typeface="Roboto" panose="02000000000000000000" pitchFamily="2" charset="0"/>
                  </a:rPr>
                  <a:t>Conjunto nulo </a:t>
                </a:r>
                <a14:m>
                  <m:oMath xmlns:m="http://schemas.openxmlformats.org/officeDocument/2006/math">
                    <m:r>
                      <a:rPr lang="es-MX" sz="2200" b="0" i="1" smtClean="0">
                        <a:latin typeface="Cambria Math" panose="02040503050406030204" pitchFamily="18" charset="0"/>
                        <a:ea typeface="Roboto" panose="02000000000000000000" pitchFamily="2" charset="0"/>
                      </a:rPr>
                      <m:t>∅</m:t>
                    </m:r>
                  </m:oMath>
                </a14:m>
                <a:r>
                  <a:rPr lang="es-MX" sz="2200" dirty="0">
                    <a:latin typeface="+mn-lt"/>
                    <a:ea typeface="Roboto" panose="02000000000000000000" pitchFamily="2" charset="0"/>
                  </a:rPr>
                  <a:t>:</a:t>
                </a:r>
              </a:p>
              <a:p>
                <a:pPr marL="127000" indent="0">
                  <a:buNone/>
                </a:pPr>
                <a14:m>
                  <m:oMathPara xmlns:m="http://schemas.openxmlformats.org/officeDocument/2006/math">
                    <m:oMathParaPr>
                      <m:jc m:val="centerGroup"/>
                    </m:oMathParaPr>
                    <m:oMath xmlns:m="http://schemas.openxmlformats.org/officeDocument/2006/math">
                      <m:r>
                        <a:rPr lang="es-MX" sz="2200" b="0" i="1" smtClean="0">
                          <a:latin typeface="Cambria Math" panose="02040503050406030204" pitchFamily="18" charset="0"/>
                        </a:rPr>
                        <m:t>∅=</m:t>
                      </m:r>
                      <m:d>
                        <m:dPr>
                          <m:begChr m:val="{"/>
                          <m:endChr m:val="}"/>
                          <m:ctrlPr>
                            <a:rPr lang="es-MX" sz="2200" b="0" i="1" smtClean="0">
                              <a:latin typeface="Cambria Math" panose="02040503050406030204" pitchFamily="18" charset="0"/>
                            </a:rPr>
                          </m:ctrlPr>
                        </m:dPr>
                        <m:e/>
                      </m:d>
                      <m:r>
                        <a:rPr lang="es-MX" sz="2200" b="0" i="1" smtClean="0">
                          <a:latin typeface="Cambria Math" panose="02040503050406030204" pitchFamily="18" charset="0"/>
                        </a:rPr>
                        <m:t>→</m:t>
                      </m:r>
                      <m:d>
                        <m:dPr>
                          <m:begChr m:val="|"/>
                          <m:endChr m:val="|"/>
                          <m:ctrlPr>
                            <a:rPr lang="es-MX" sz="2200" b="0" i="1" smtClean="0">
                              <a:latin typeface="Cambria Math" panose="02040503050406030204" pitchFamily="18" charset="0"/>
                            </a:rPr>
                          </m:ctrlPr>
                        </m:dPr>
                        <m:e>
                          <m:r>
                            <a:rPr lang="es-MX" sz="2200" i="1">
                              <a:latin typeface="Cambria Math" panose="02040503050406030204" pitchFamily="18" charset="0"/>
                            </a:rPr>
                            <m:t>∅</m:t>
                          </m:r>
                        </m:e>
                      </m:d>
                      <m:r>
                        <a:rPr lang="es-MX" sz="2200" b="0" i="1" smtClean="0">
                          <a:latin typeface="Cambria Math" panose="02040503050406030204" pitchFamily="18" charset="0"/>
                        </a:rPr>
                        <m:t>=</m:t>
                      </m:r>
                      <m:r>
                        <a:rPr lang="es-MX" sz="2200" b="0" i="1" smtClean="0">
                          <a:latin typeface="Cambria Math" panose="02040503050406030204" pitchFamily="18" charset="0"/>
                        </a:rPr>
                        <m:t>𝑛</m:t>
                      </m:r>
                      <m:d>
                        <m:dPr>
                          <m:ctrlPr>
                            <a:rPr lang="es-MX" sz="2200" b="0" i="1" smtClean="0">
                              <a:latin typeface="Cambria Math" panose="02040503050406030204" pitchFamily="18" charset="0"/>
                            </a:rPr>
                          </m:ctrlPr>
                        </m:dPr>
                        <m:e>
                          <m:r>
                            <a:rPr lang="es-MX" sz="2200" b="0" i="1" smtClean="0">
                              <a:latin typeface="Cambria Math" panose="02040503050406030204" pitchFamily="18" charset="0"/>
                            </a:rPr>
                            <m:t>∅</m:t>
                          </m:r>
                        </m:e>
                      </m:d>
                      <m:r>
                        <a:rPr lang="es-MX" sz="2200" b="0" i="1" smtClean="0">
                          <a:latin typeface="Cambria Math" panose="02040503050406030204" pitchFamily="18" charset="0"/>
                        </a:rPr>
                        <m:t>=0</m:t>
                      </m:r>
                    </m:oMath>
                  </m:oMathPara>
                </a14:m>
                <a:endParaRPr lang="es-CO" sz="2200" dirty="0"/>
              </a:p>
              <a:p>
                <a:r>
                  <a:rPr lang="es-MX" sz="2200" dirty="0">
                    <a:latin typeface="+mn-lt"/>
                    <a:ea typeface="Roboto" panose="02000000000000000000" pitchFamily="2" charset="0"/>
                  </a:rPr>
                  <a:t>Sea </a:t>
                </a:r>
                <a14:m>
                  <m:oMath xmlns:m="http://schemas.openxmlformats.org/officeDocument/2006/math">
                    <m:r>
                      <a:rPr lang="es-MX" sz="2200" b="0" i="1" smtClean="0">
                        <a:latin typeface="Cambria Math" panose="02040503050406030204" pitchFamily="18" charset="0"/>
                        <a:ea typeface="Roboto" panose="02000000000000000000" pitchFamily="2" charset="0"/>
                      </a:rPr>
                      <m:t>𝐵</m:t>
                    </m:r>
                    <m:r>
                      <a:rPr lang="es-MX" sz="2200" b="0" i="1" smtClean="0">
                        <a:latin typeface="Cambria Math" panose="02040503050406030204" pitchFamily="18" charset="0"/>
                        <a:ea typeface="Roboto" panose="02000000000000000000" pitchFamily="2" charset="0"/>
                      </a:rPr>
                      <m:t>=</m:t>
                    </m:r>
                    <m:d>
                      <m:dPr>
                        <m:begChr m:val="{"/>
                        <m:endChr m:val="}"/>
                        <m:ctrlPr>
                          <a:rPr lang="es-MX" sz="2200" b="0" i="1" smtClean="0">
                            <a:latin typeface="Cambria Math" panose="02040503050406030204" pitchFamily="18" charset="0"/>
                            <a:ea typeface="Roboto" panose="02000000000000000000" pitchFamily="2" charset="0"/>
                          </a:rPr>
                        </m:ctrlPr>
                      </m:dPr>
                      <m:e>
                        <m:r>
                          <a:rPr lang="es-MX" sz="2200" b="0" i="1" smtClean="0">
                            <a:latin typeface="Cambria Math" panose="02040503050406030204" pitchFamily="18" charset="0"/>
                            <a:ea typeface="Roboto" panose="02000000000000000000" pitchFamily="2" charset="0"/>
                          </a:rPr>
                          <m:t>∅</m:t>
                        </m:r>
                      </m:e>
                    </m:d>
                  </m:oMath>
                </a14:m>
                <a:r>
                  <a:rPr lang="es-MX" sz="2200" b="0" dirty="0">
                    <a:latin typeface="+mn-lt"/>
                    <a:ea typeface="Roboto" panose="02000000000000000000" pitchFamily="2" charset="0"/>
                  </a:rPr>
                  <a:t>:</a:t>
                </a:r>
              </a:p>
              <a:p>
                <a:pPr marL="127000" indent="0">
                  <a:buNone/>
                </a:pPr>
                <a14:m>
                  <m:oMathPara xmlns:m="http://schemas.openxmlformats.org/officeDocument/2006/math">
                    <m:oMathParaPr>
                      <m:jc m:val="centerGroup"/>
                    </m:oMathParaPr>
                    <m:oMath xmlns:m="http://schemas.openxmlformats.org/officeDocument/2006/math">
                      <m:r>
                        <a:rPr lang="es-MX" sz="2200" b="0" i="1" smtClean="0">
                          <a:latin typeface="Cambria Math" panose="02040503050406030204" pitchFamily="18" charset="0"/>
                        </a:rPr>
                        <m:t>𝐵</m:t>
                      </m:r>
                      <m:r>
                        <a:rPr lang="es-MX" sz="2200" b="0" i="1" smtClean="0">
                          <a:latin typeface="Cambria Math" panose="02040503050406030204" pitchFamily="18" charset="0"/>
                        </a:rPr>
                        <m:t>=</m:t>
                      </m:r>
                      <m:d>
                        <m:dPr>
                          <m:begChr m:val="{"/>
                          <m:endChr m:val="}"/>
                          <m:ctrlPr>
                            <a:rPr lang="es-MX" sz="2200" b="0" i="1" smtClean="0">
                              <a:latin typeface="Cambria Math" panose="02040503050406030204" pitchFamily="18" charset="0"/>
                            </a:rPr>
                          </m:ctrlPr>
                        </m:dPr>
                        <m:e>
                          <m:r>
                            <a:rPr lang="es-MX" sz="2200" i="1">
                              <a:latin typeface="Cambria Math" panose="02040503050406030204" pitchFamily="18" charset="0"/>
                            </a:rPr>
                            <m:t>∅</m:t>
                          </m:r>
                        </m:e>
                      </m:d>
                      <m:r>
                        <a:rPr lang="es-MX" sz="2200" b="0" i="1" smtClean="0">
                          <a:latin typeface="Cambria Math" panose="02040503050406030204" pitchFamily="18" charset="0"/>
                        </a:rPr>
                        <m:t>→</m:t>
                      </m:r>
                      <m:d>
                        <m:dPr>
                          <m:begChr m:val="|"/>
                          <m:endChr m:val="|"/>
                          <m:ctrlPr>
                            <a:rPr lang="es-MX" sz="2200" b="0" i="1" smtClean="0">
                              <a:latin typeface="Cambria Math" panose="02040503050406030204" pitchFamily="18" charset="0"/>
                            </a:rPr>
                          </m:ctrlPr>
                        </m:dPr>
                        <m:e>
                          <m:r>
                            <a:rPr lang="es-MX" sz="2200" b="0" i="1" smtClean="0">
                              <a:latin typeface="Cambria Math" panose="02040503050406030204" pitchFamily="18" charset="0"/>
                            </a:rPr>
                            <m:t>𝐵</m:t>
                          </m:r>
                        </m:e>
                      </m:d>
                      <m:r>
                        <a:rPr lang="es-MX" sz="2200" b="0" i="1" smtClean="0">
                          <a:latin typeface="Cambria Math" panose="02040503050406030204" pitchFamily="18" charset="0"/>
                        </a:rPr>
                        <m:t>=</m:t>
                      </m:r>
                      <m:r>
                        <a:rPr lang="es-MX" sz="2200" b="0" i="1" smtClean="0">
                          <a:latin typeface="Cambria Math" panose="02040503050406030204" pitchFamily="18" charset="0"/>
                        </a:rPr>
                        <m:t>𝑛</m:t>
                      </m:r>
                      <m:d>
                        <m:dPr>
                          <m:ctrlPr>
                            <a:rPr lang="es-MX" sz="2200" b="0" i="1" smtClean="0">
                              <a:latin typeface="Cambria Math" panose="02040503050406030204" pitchFamily="18" charset="0"/>
                            </a:rPr>
                          </m:ctrlPr>
                        </m:dPr>
                        <m:e>
                          <m:r>
                            <a:rPr lang="es-MX" sz="2200" b="0" i="1" smtClean="0">
                              <a:latin typeface="Cambria Math" panose="02040503050406030204" pitchFamily="18" charset="0"/>
                            </a:rPr>
                            <m:t>𝐵</m:t>
                          </m:r>
                        </m:e>
                      </m:d>
                      <m:r>
                        <a:rPr lang="es-MX" sz="2200" b="0" i="1" smtClean="0">
                          <a:latin typeface="Cambria Math" panose="02040503050406030204" pitchFamily="18" charset="0"/>
                        </a:rPr>
                        <m:t>=1</m:t>
                      </m:r>
                    </m:oMath>
                  </m:oMathPara>
                </a14:m>
                <a:endParaRPr lang="es-CO" sz="2200" dirty="0"/>
              </a:p>
              <a:p>
                <a:r>
                  <a:rPr lang="es-MX" sz="2200" dirty="0">
                    <a:latin typeface="+mn-lt"/>
                    <a:ea typeface="Roboto" panose="02000000000000000000" pitchFamily="2" charset="0"/>
                  </a:rPr>
                  <a:t>El conjunto de números enteros:</a:t>
                </a:r>
              </a:p>
              <a:p>
                <a:pPr marL="127000" indent="0">
                  <a:buNone/>
                </a:pPr>
                <a14:m>
                  <m:oMathPara xmlns:m="http://schemas.openxmlformats.org/officeDocument/2006/math">
                    <m:oMathParaPr>
                      <m:jc m:val="centerGroup"/>
                    </m:oMathParaPr>
                    <m:oMath xmlns:m="http://schemas.openxmlformats.org/officeDocument/2006/math">
                      <m:r>
                        <a:rPr lang="es-MX" sz="2200" b="0" i="1" smtClean="0">
                          <a:latin typeface="Cambria Math" panose="02040503050406030204" pitchFamily="18" charset="0"/>
                        </a:rPr>
                        <m:t>𝐶</m:t>
                      </m:r>
                      <m:r>
                        <a:rPr lang="es-MX" sz="2200" b="0" i="1" smtClean="0">
                          <a:latin typeface="Cambria Math" panose="02040503050406030204" pitchFamily="18" charset="0"/>
                        </a:rPr>
                        <m:t>=</m:t>
                      </m:r>
                      <m:d>
                        <m:dPr>
                          <m:begChr m:val="{"/>
                          <m:endChr m:val="}"/>
                          <m:ctrlPr>
                            <a:rPr lang="es-MX" sz="2200" b="0" i="1" smtClean="0">
                              <a:latin typeface="Cambria Math" panose="02040503050406030204" pitchFamily="18" charset="0"/>
                            </a:rPr>
                          </m:ctrlPr>
                        </m:dPr>
                        <m:e>
                          <m:r>
                            <a:rPr lang="es-MX" sz="2200" b="0" i="1" smtClean="0">
                              <a:latin typeface="Cambria Math" panose="02040503050406030204" pitchFamily="18" charset="0"/>
                            </a:rPr>
                            <m:t>…,−1,0,1,… </m:t>
                          </m:r>
                        </m:e>
                      </m:d>
                      <m:r>
                        <a:rPr lang="es-MX" sz="2200" b="0" i="1" smtClean="0">
                          <a:latin typeface="Cambria Math" panose="02040503050406030204" pitchFamily="18" charset="0"/>
                        </a:rPr>
                        <m:t>→</m:t>
                      </m:r>
                      <m:d>
                        <m:dPr>
                          <m:begChr m:val="|"/>
                          <m:endChr m:val="|"/>
                          <m:ctrlPr>
                            <a:rPr lang="es-MX" sz="2200" b="0" i="1" smtClean="0">
                              <a:solidFill>
                                <a:srgbClr val="0070C0"/>
                              </a:solidFill>
                              <a:latin typeface="Cambria Math" panose="02040503050406030204" pitchFamily="18" charset="0"/>
                            </a:rPr>
                          </m:ctrlPr>
                        </m:dPr>
                        <m:e>
                          <m:r>
                            <a:rPr lang="es-MX" sz="2200" b="0" i="1" smtClean="0">
                              <a:solidFill>
                                <a:srgbClr val="0070C0"/>
                              </a:solidFill>
                              <a:latin typeface="Cambria Math" panose="02040503050406030204" pitchFamily="18" charset="0"/>
                            </a:rPr>
                            <m:t>𝐶</m:t>
                          </m:r>
                        </m:e>
                      </m:d>
                      <m:r>
                        <a:rPr lang="es-MX" sz="2200" b="0" i="0" smtClean="0">
                          <a:solidFill>
                            <a:srgbClr val="0070C0"/>
                          </a:solidFill>
                          <a:latin typeface="Cambria Math" panose="02040503050406030204" pitchFamily="18" charset="0"/>
                        </a:rPr>
                        <m:t>=</m:t>
                      </m:r>
                      <m:r>
                        <m:rPr>
                          <m:sty m:val="p"/>
                        </m:rPr>
                        <a:rPr lang="es-MX" sz="2200" b="0" i="0" smtClean="0">
                          <a:solidFill>
                            <a:srgbClr val="0070C0"/>
                          </a:solidFill>
                          <a:latin typeface="Cambria Math" panose="02040503050406030204" pitchFamily="18" charset="0"/>
                        </a:rPr>
                        <m:t>n</m:t>
                      </m:r>
                      <m:d>
                        <m:dPr>
                          <m:ctrlPr>
                            <a:rPr lang="es-MX" sz="2200" b="0" i="1" smtClean="0">
                              <a:solidFill>
                                <a:srgbClr val="0070C0"/>
                              </a:solidFill>
                              <a:latin typeface="Cambria Math" panose="02040503050406030204" pitchFamily="18" charset="0"/>
                            </a:rPr>
                          </m:ctrlPr>
                        </m:dPr>
                        <m:e>
                          <m:r>
                            <a:rPr lang="es-MX" sz="2200" b="0" i="1" smtClean="0">
                              <a:solidFill>
                                <a:srgbClr val="0070C0"/>
                              </a:solidFill>
                              <a:latin typeface="Cambria Math" panose="02040503050406030204" pitchFamily="18" charset="0"/>
                            </a:rPr>
                            <m:t>𝐶</m:t>
                          </m:r>
                        </m:e>
                      </m:d>
                      <m:r>
                        <a:rPr lang="es-MX" sz="2200" b="0" i="0" smtClean="0">
                          <a:solidFill>
                            <a:srgbClr val="0070C0"/>
                          </a:solidFill>
                          <a:latin typeface="Cambria Math" panose="02040503050406030204" pitchFamily="18" charset="0"/>
                        </a:rPr>
                        <m:t>=</m:t>
                      </m:r>
                      <m:sSub>
                        <m:sSubPr>
                          <m:ctrlPr>
                            <a:rPr lang="es-MX" sz="2200" b="0" i="1" smtClean="0">
                              <a:solidFill>
                                <a:srgbClr val="0070C0"/>
                              </a:solidFill>
                              <a:latin typeface="Cambria Math" panose="02040503050406030204" pitchFamily="18" charset="0"/>
                            </a:rPr>
                          </m:ctrlPr>
                        </m:sSubPr>
                        <m:e>
                          <m:r>
                            <a:rPr lang="es-MX" sz="2200" b="0" i="1" smtClean="0">
                              <a:solidFill>
                                <a:srgbClr val="0070C0"/>
                              </a:solidFill>
                              <a:latin typeface="Cambria Math" panose="02040503050406030204" pitchFamily="18" charset="0"/>
                            </a:rPr>
                            <m:t>ℵ</m:t>
                          </m:r>
                        </m:e>
                        <m:sub>
                          <m:r>
                            <a:rPr lang="es-MX" sz="2200" b="0" i="1" smtClean="0">
                              <a:solidFill>
                                <a:srgbClr val="0070C0"/>
                              </a:solidFill>
                              <a:latin typeface="Cambria Math" panose="02040503050406030204" pitchFamily="18" charset="0"/>
                            </a:rPr>
                            <m:t>0</m:t>
                          </m:r>
                        </m:sub>
                      </m:sSub>
                      <m:r>
                        <a:rPr lang="es-MX" sz="2200" b="0" i="0" smtClean="0">
                          <a:solidFill>
                            <a:srgbClr val="0070C0"/>
                          </a:solidFill>
                          <a:latin typeface="Cambria Math" panose="02040503050406030204" pitchFamily="18" charset="0"/>
                        </a:rPr>
                        <m:t> (</m:t>
                      </m:r>
                      <m:d>
                        <m:dPr>
                          <m:begChr m:val="|"/>
                          <m:endChr m:val="|"/>
                          <m:ctrlPr>
                            <a:rPr lang="es-MX" sz="2200" i="1">
                              <a:solidFill>
                                <a:srgbClr val="0070C0"/>
                              </a:solidFill>
                              <a:latin typeface="Cambria Math" panose="02040503050406030204" pitchFamily="18" charset="0"/>
                            </a:rPr>
                          </m:ctrlPr>
                        </m:dPr>
                        <m:e>
                          <m:r>
                            <a:rPr lang="es-MX" sz="2200" i="1">
                              <a:solidFill>
                                <a:srgbClr val="0070C0"/>
                              </a:solidFill>
                              <a:latin typeface="Cambria Math" panose="02040503050406030204" pitchFamily="18" charset="0"/>
                            </a:rPr>
                            <m:t>𝐶</m:t>
                          </m:r>
                        </m:e>
                      </m:d>
                      <m:r>
                        <m:rPr>
                          <m:sty m:val="p"/>
                        </m:rPr>
                        <a:rPr lang="es-MX" sz="2200" b="0" i="0" smtClean="0">
                          <a:solidFill>
                            <a:srgbClr val="0070C0"/>
                          </a:solidFill>
                          <a:latin typeface="Cambria Math" panose="02040503050406030204" pitchFamily="18" charset="0"/>
                        </a:rPr>
                        <m:t>es</m:t>
                      </m:r>
                      <m:r>
                        <a:rPr lang="es-MX" sz="2200" b="0" i="1" smtClean="0">
                          <a:solidFill>
                            <a:srgbClr val="0070C0"/>
                          </a:solidFill>
                          <a:latin typeface="Cambria Math" panose="02040503050406030204" pitchFamily="18" charset="0"/>
                        </a:rPr>
                        <m:t> </m:t>
                      </m:r>
                      <m:r>
                        <a:rPr lang="es-MX" sz="2200" b="0" i="1" smtClean="0">
                          <a:solidFill>
                            <a:srgbClr val="0070C0"/>
                          </a:solidFill>
                          <a:latin typeface="Cambria Math" panose="02040503050406030204" pitchFamily="18" charset="0"/>
                          <a:ea typeface="Cambria Math" panose="02040503050406030204" pitchFamily="18" charset="0"/>
                        </a:rPr>
                        <m:t>∞)</m:t>
                      </m:r>
                    </m:oMath>
                  </m:oMathPara>
                </a14:m>
                <a:endParaRPr lang="es-CO" sz="2200" dirty="0">
                  <a:solidFill>
                    <a:srgbClr val="0070C0"/>
                  </a:solidFill>
                </a:endParaRPr>
              </a:p>
              <a:p>
                <a:endParaRPr lang="es-MX" sz="2200" dirty="0">
                  <a:latin typeface="+mn-lt"/>
                  <a:ea typeface="Roboto" panose="02000000000000000000" pitchFamily="2" charset="0"/>
                </a:endParaRPr>
              </a:p>
              <a:p>
                <a:pPr lvl="1"/>
                <a:endParaRPr lang="es-MX" dirty="0">
                  <a:latin typeface="+mn-lt"/>
                  <a:ea typeface="Roboto" panose="02000000000000000000" pitchFamily="2" charset="0"/>
                </a:endParaRPr>
              </a:p>
              <a:p>
                <a:pPr marL="127000" indent="0">
                  <a:buNone/>
                </a:pPr>
                <a:endParaRPr lang="es-MX" sz="2200" dirty="0">
                  <a:latin typeface="+mn-lt"/>
                  <a:ea typeface="Roboto" panose="02000000000000000000" pitchFamily="2" charset="0"/>
                </a:endParaRPr>
              </a:p>
              <a:p>
                <a:endParaRPr lang="es-MX" sz="2200" dirty="0">
                  <a:latin typeface="+mn-lt"/>
                  <a:ea typeface="Roboto" panose="02000000000000000000" pitchFamily="2" charset="0"/>
                </a:endParaRPr>
              </a:p>
            </p:txBody>
          </p:sp>
        </mc:Choice>
        <mc:Fallback xmlns="">
          <p:sp>
            <p:nvSpPr>
              <p:cNvPr id="5" name="Google Shape;310;p34">
                <a:extLst>
                  <a:ext uri="{FF2B5EF4-FFF2-40B4-BE49-F238E27FC236}">
                    <a16:creationId xmlns:a16="http://schemas.microsoft.com/office/drawing/2014/main" id="{F102D340-F804-4113-9FEB-9A4128546791}"/>
                  </a:ext>
                </a:extLst>
              </p:cNvPr>
              <p:cNvSpPr txBox="1">
                <a:spLocks noRot="1" noChangeAspect="1" noMove="1" noResize="1" noEditPoints="1" noAdjustHandles="1" noChangeArrowheads="1" noChangeShapeType="1" noTextEdit="1"/>
              </p:cNvSpPr>
              <p:nvPr/>
            </p:nvSpPr>
            <p:spPr>
              <a:xfrm>
                <a:off x="215900" y="937512"/>
                <a:ext cx="11195769" cy="5581275"/>
              </a:xfrm>
              <a:prstGeom prst="rect">
                <a:avLst/>
              </a:prstGeom>
              <a:blipFill>
                <a:blip r:embed="rId2"/>
                <a:stretch>
                  <a:fillRect/>
                </a:stretch>
              </a:blipFill>
              <a:ln>
                <a:noFill/>
              </a:ln>
            </p:spPr>
            <p:txBody>
              <a:bodyPr/>
              <a:lstStyle/>
              <a:p>
                <a:r>
                  <a:rPr lang="es-CO">
                    <a:noFill/>
                  </a:rPr>
                  <a:t> </a:t>
                </a:r>
              </a:p>
            </p:txBody>
          </p:sp>
        </mc:Fallback>
      </mc:AlternateContent>
    </p:spTree>
    <p:extLst>
      <p:ext uri="{BB962C8B-B14F-4D97-AF65-F5344CB8AC3E}">
        <p14:creationId xmlns:p14="http://schemas.microsoft.com/office/powerpoint/2010/main" val="159520693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78E8DF2-7986-4872-8459-F68D43B26317}"/>
              </a:ext>
            </a:extLst>
          </p:cNvPr>
          <p:cNvSpPr>
            <a:spLocks noGrp="1"/>
          </p:cNvSpPr>
          <p:nvPr>
            <p:ph type="title"/>
          </p:nvPr>
        </p:nvSpPr>
        <p:spPr>
          <a:xfrm>
            <a:off x="501445" y="96038"/>
            <a:ext cx="11474655" cy="949500"/>
          </a:xfrm>
        </p:spPr>
        <p:txBody>
          <a:bodyPr/>
          <a:lstStyle/>
          <a:p>
            <a:r>
              <a:rPr lang="es-ES" dirty="0">
                <a:solidFill>
                  <a:schemeClr val="tx1"/>
                </a:solidFill>
                <a:latin typeface="+mj-lt"/>
              </a:rPr>
              <a:t>Tipos de conjuntos – Conjunto potencia</a:t>
            </a:r>
            <a:endParaRPr lang="es-CO" dirty="0">
              <a:solidFill>
                <a:schemeClr val="tx1"/>
              </a:solidFill>
              <a:latin typeface="+mj-lt"/>
            </a:endParaRPr>
          </a:p>
        </p:txBody>
      </p:sp>
      <mc:AlternateContent xmlns:mc="http://schemas.openxmlformats.org/markup-compatibility/2006" xmlns:a14="http://schemas.microsoft.com/office/drawing/2010/main">
        <mc:Choice Requires="a14">
          <p:sp>
            <p:nvSpPr>
              <p:cNvPr id="5" name="Google Shape;310;p34">
                <a:extLst>
                  <a:ext uri="{FF2B5EF4-FFF2-40B4-BE49-F238E27FC236}">
                    <a16:creationId xmlns:a16="http://schemas.microsoft.com/office/drawing/2014/main" id="{F102D340-F804-4113-9FEB-9A4128546791}"/>
                  </a:ext>
                </a:extLst>
              </p:cNvPr>
              <p:cNvSpPr txBox="1">
                <a:spLocks/>
              </p:cNvSpPr>
              <p:nvPr/>
            </p:nvSpPr>
            <p:spPr>
              <a:xfrm>
                <a:off x="367376" y="1045538"/>
                <a:ext cx="11195769" cy="183464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200" dirty="0">
                    <a:latin typeface="+mn-lt"/>
                    <a:ea typeface="Roboto" panose="02000000000000000000" pitchFamily="2" charset="0"/>
                  </a:rPr>
                  <a:t>El conjunto potencia </a:t>
                </a:r>
                <a14:m>
                  <m:oMath xmlns:m="http://schemas.openxmlformats.org/officeDocument/2006/math">
                    <m:r>
                      <a:rPr lang="es-MX" sz="2200" b="0" i="1" smtClean="0">
                        <a:latin typeface="Cambria Math" panose="02040503050406030204" pitchFamily="18" charset="0"/>
                        <a:ea typeface="Cambria Math" panose="02040503050406030204" pitchFamily="18" charset="0"/>
                      </a:rPr>
                      <m:t>𝒫</m:t>
                    </m:r>
                    <m:r>
                      <a:rPr lang="es-MX" sz="2200" b="0" i="1" smtClean="0">
                        <a:latin typeface="Cambria Math" panose="02040503050406030204" pitchFamily="18" charset="0"/>
                        <a:ea typeface="Cambria Math" panose="02040503050406030204" pitchFamily="18" charset="0"/>
                      </a:rPr>
                      <m:t>(</m:t>
                    </m:r>
                    <m:r>
                      <a:rPr lang="es-MX" sz="2200" b="0" i="1" smtClean="0">
                        <a:latin typeface="Cambria Math" panose="02040503050406030204" pitchFamily="18" charset="0"/>
                        <a:ea typeface="Cambria Math" panose="02040503050406030204" pitchFamily="18" charset="0"/>
                      </a:rPr>
                      <m:t>𝐴</m:t>
                    </m:r>
                    <m:r>
                      <a:rPr lang="es-MX" sz="2200" b="0" i="1" smtClean="0">
                        <a:latin typeface="Cambria Math" panose="02040503050406030204" pitchFamily="18" charset="0"/>
                        <a:ea typeface="Cambria Math" panose="02040503050406030204" pitchFamily="18" charset="0"/>
                      </a:rPr>
                      <m:t>)</m:t>
                    </m:r>
                  </m:oMath>
                </a14:m>
                <a:r>
                  <a:rPr lang="es-MX" sz="2200" dirty="0">
                    <a:latin typeface="+mn-lt"/>
                    <a:ea typeface="Roboto" panose="02000000000000000000" pitchFamily="2" charset="0"/>
                  </a:rPr>
                  <a:t> de un conjunto </a:t>
                </a:r>
                <a14:m>
                  <m:oMath xmlns:m="http://schemas.openxmlformats.org/officeDocument/2006/math">
                    <m:r>
                      <a:rPr lang="es-MX" sz="2200" b="0" i="1" smtClean="0">
                        <a:latin typeface="Cambria Math" panose="02040503050406030204" pitchFamily="18" charset="0"/>
                        <a:ea typeface="Roboto" panose="02000000000000000000" pitchFamily="2" charset="0"/>
                      </a:rPr>
                      <m:t>𝐴</m:t>
                    </m:r>
                  </m:oMath>
                </a14:m>
                <a:r>
                  <a:rPr lang="es-MX" sz="2200" dirty="0">
                    <a:latin typeface="+mn-lt"/>
                    <a:ea typeface="Roboto" panose="02000000000000000000" pitchFamily="2" charset="0"/>
                  </a:rPr>
                  <a:t>, es el conjunto formado por todos los subconjuntos posibles de </a:t>
                </a:r>
                <a14:m>
                  <m:oMath xmlns:m="http://schemas.openxmlformats.org/officeDocument/2006/math">
                    <m:r>
                      <a:rPr lang="es-MX" sz="2200" i="1">
                        <a:latin typeface="Cambria Math" panose="02040503050406030204" pitchFamily="18" charset="0"/>
                        <a:ea typeface="Cambria Math" panose="02040503050406030204" pitchFamily="18" charset="0"/>
                      </a:rPr>
                      <m:t>𝐴</m:t>
                    </m:r>
                  </m:oMath>
                </a14:m>
                <a:r>
                  <a:rPr lang="es-MX" sz="2200" dirty="0">
                    <a:latin typeface="+mn-lt"/>
                    <a:ea typeface="Roboto" panose="02000000000000000000" pitchFamily="2" charset="0"/>
                  </a:rPr>
                  <a:t>, incluyendo el conjunto vacío (</a:t>
                </a:r>
                <a14:m>
                  <m:oMath xmlns:m="http://schemas.openxmlformats.org/officeDocument/2006/math">
                    <m:r>
                      <a:rPr lang="es-MX" sz="2200" b="0" i="1" smtClean="0">
                        <a:latin typeface="Cambria Math" panose="02040503050406030204" pitchFamily="18" charset="0"/>
                        <a:ea typeface="Cambria Math" panose="02040503050406030204" pitchFamily="18" charset="0"/>
                      </a:rPr>
                      <m:t>∅</m:t>
                    </m:r>
                  </m:oMath>
                </a14:m>
                <a:r>
                  <a:rPr lang="es-MX" sz="2200" dirty="0">
                    <a:latin typeface="+mn-lt"/>
                    <a:ea typeface="Roboto" panose="02000000000000000000" pitchFamily="2" charset="0"/>
                  </a:rPr>
                  <a:t>) y el conjunto mismo conjunto (</a:t>
                </a:r>
                <a14:m>
                  <m:oMath xmlns:m="http://schemas.openxmlformats.org/officeDocument/2006/math">
                    <m:r>
                      <a:rPr lang="es-MX" sz="2200" i="1">
                        <a:latin typeface="Cambria Math" panose="02040503050406030204" pitchFamily="18" charset="0"/>
                        <a:ea typeface="Cambria Math" panose="02040503050406030204" pitchFamily="18" charset="0"/>
                      </a:rPr>
                      <m:t>𝐴</m:t>
                    </m:r>
                  </m:oMath>
                </a14:m>
                <a:r>
                  <a:rPr lang="es-MX" sz="2200" dirty="0">
                    <a:latin typeface="+mn-lt"/>
                    <a:ea typeface="Roboto" panose="02000000000000000000" pitchFamily="2" charset="0"/>
                  </a:rPr>
                  <a:t>). El numero de elementos de este conjunto (cardinalidad) esta dado por:</a:t>
                </a:r>
              </a:p>
              <a:p>
                <a:pPr marL="127000" indent="0">
                  <a:buNone/>
                </a:pPr>
                <a:endParaRPr lang="es-MX" sz="2200" b="1" dirty="0">
                  <a:latin typeface="+mn-lt"/>
                  <a:ea typeface="Roboto" panose="02000000000000000000" pitchFamily="2" charset="0"/>
                </a:endParaRPr>
              </a:p>
              <a:p>
                <a:pPr marL="127000" indent="0" algn="ctr">
                  <a:buNone/>
                </a:pPr>
                <a14:m>
                  <m:oMathPara xmlns:m="http://schemas.openxmlformats.org/officeDocument/2006/math">
                    <m:oMathParaPr>
                      <m:jc m:val="centerGroup"/>
                    </m:oMathParaPr>
                    <m:oMath xmlns:m="http://schemas.openxmlformats.org/officeDocument/2006/math">
                      <m:d>
                        <m:dPr>
                          <m:begChr m:val="|"/>
                          <m:endChr m:val="|"/>
                          <m:ctrlPr>
                            <a:rPr lang="es-MX" sz="2200" b="0" i="1" smtClean="0">
                              <a:latin typeface="Cambria Math" panose="02040503050406030204" pitchFamily="18" charset="0"/>
                              <a:ea typeface="Roboto" panose="02000000000000000000" pitchFamily="2" charset="0"/>
                            </a:rPr>
                          </m:ctrlPr>
                        </m:dPr>
                        <m:e>
                          <m:r>
                            <a:rPr lang="es-MX" sz="2200" i="1">
                              <a:latin typeface="Cambria Math" panose="02040503050406030204" pitchFamily="18" charset="0"/>
                              <a:ea typeface="Cambria Math" panose="02040503050406030204" pitchFamily="18" charset="0"/>
                            </a:rPr>
                            <m:t>𝒫</m:t>
                          </m:r>
                          <m:r>
                            <a:rPr lang="es-MX" sz="2200" i="1">
                              <a:latin typeface="Cambria Math" panose="02040503050406030204" pitchFamily="18" charset="0"/>
                              <a:ea typeface="Cambria Math" panose="02040503050406030204" pitchFamily="18" charset="0"/>
                            </a:rPr>
                            <m:t>(</m:t>
                          </m:r>
                          <m:r>
                            <a:rPr lang="es-MX" sz="2200" i="1">
                              <a:latin typeface="Cambria Math" panose="02040503050406030204" pitchFamily="18" charset="0"/>
                              <a:ea typeface="Cambria Math" panose="02040503050406030204" pitchFamily="18" charset="0"/>
                            </a:rPr>
                            <m:t>𝐴</m:t>
                          </m:r>
                          <m:r>
                            <a:rPr lang="es-MX" sz="2200" i="1">
                              <a:latin typeface="Cambria Math" panose="02040503050406030204" pitchFamily="18" charset="0"/>
                              <a:ea typeface="Cambria Math" panose="02040503050406030204" pitchFamily="18" charset="0"/>
                            </a:rPr>
                            <m:t>)</m:t>
                          </m:r>
                        </m:e>
                      </m:d>
                      <m:r>
                        <a:rPr lang="es-MX" sz="2200" b="0" i="1" smtClean="0">
                          <a:latin typeface="Cambria Math" panose="02040503050406030204" pitchFamily="18" charset="0"/>
                          <a:ea typeface="Roboto" panose="02000000000000000000" pitchFamily="2" charset="0"/>
                        </a:rPr>
                        <m:t>=</m:t>
                      </m:r>
                      <m:r>
                        <a:rPr lang="es-MX" sz="2200" b="0" i="1" smtClean="0">
                          <a:latin typeface="Cambria Math" panose="02040503050406030204" pitchFamily="18" charset="0"/>
                          <a:ea typeface="Roboto" panose="02000000000000000000" pitchFamily="2" charset="0"/>
                        </a:rPr>
                        <m:t>𝑛</m:t>
                      </m:r>
                      <m:d>
                        <m:dPr>
                          <m:ctrlPr>
                            <a:rPr lang="es-MX" sz="2200" b="0" i="1" smtClean="0">
                              <a:latin typeface="Cambria Math" panose="02040503050406030204" pitchFamily="18" charset="0"/>
                              <a:ea typeface="Roboto" panose="02000000000000000000" pitchFamily="2" charset="0"/>
                            </a:rPr>
                          </m:ctrlPr>
                        </m:dPr>
                        <m:e>
                          <m:r>
                            <a:rPr lang="es-MX" sz="2200" i="1">
                              <a:latin typeface="Cambria Math" panose="02040503050406030204" pitchFamily="18" charset="0"/>
                              <a:ea typeface="Cambria Math" panose="02040503050406030204" pitchFamily="18" charset="0"/>
                            </a:rPr>
                            <m:t>𝒫</m:t>
                          </m:r>
                          <m:r>
                            <a:rPr lang="es-MX" sz="2200" i="1">
                              <a:latin typeface="Cambria Math" panose="02040503050406030204" pitchFamily="18" charset="0"/>
                              <a:ea typeface="Cambria Math" panose="02040503050406030204" pitchFamily="18" charset="0"/>
                            </a:rPr>
                            <m:t>(</m:t>
                          </m:r>
                          <m:r>
                            <a:rPr lang="es-MX" sz="2200" i="1">
                              <a:latin typeface="Cambria Math" panose="02040503050406030204" pitchFamily="18" charset="0"/>
                              <a:ea typeface="Cambria Math" panose="02040503050406030204" pitchFamily="18" charset="0"/>
                            </a:rPr>
                            <m:t>𝐴</m:t>
                          </m:r>
                          <m:r>
                            <a:rPr lang="es-MX" sz="2200" i="1">
                              <a:latin typeface="Cambria Math" panose="02040503050406030204" pitchFamily="18" charset="0"/>
                              <a:ea typeface="Cambria Math" panose="02040503050406030204" pitchFamily="18" charset="0"/>
                            </a:rPr>
                            <m:t>)</m:t>
                          </m:r>
                        </m:e>
                      </m:d>
                      <m:r>
                        <a:rPr lang="es-MX" sz="2200" b="0" i="1" smtClean="0">
                          <a:latin typeface="Cambria Math" panose="02040503050406030204" pitchFamily="18" charset="0"/>
                          <a:ea typeface="Roboto" panose="02000000000000000000" pitchFamily="2" charset="0"/>
                        </a:rPr>
                        <m:t>=</m:t>
                      </m:r>
                      <m:sSup>
                        <m:sSupPr>
                          <m:ctrlPr>
                            <a:rPr lang="es-MX" sz="2200" b="0" i="1" smtClean="0">
                              <a:latin typeface="Cambria Math" panose="02040503050406030204" pitchFamily="18" charset="0"/>
                              <a:ea typeface="Roboto" panose="02000000000000000000" pitchFamily="2" charset="0"/>
                            </a:rPr>
                          </m:ctrlPr>
                        </m:sSupPr>
                        <m:e>
                          <m:r>
                            <a:rPr lang="es-MX" sz="2200" b="0" i="1" smtClean="0">
                              <a:latin typeface="Cambria Math" panose="02040503050406030204" pitchFamily="18" charset="0"/>
                              <a:ea typeface="Roboto" panose="02000000000000000000" pitchFamily="2" charset="0"/>
                            </a:rPr>
                            <m:t>2</m:t>
                          </m:r>
                        </m:e>
                        <m:sup>
                          <m:d>
                            <m:dPr>
                              <m:begChr m:val="|"/>
                              <m:endChr m:val="|"/>
                              <m:ctrlPr>
                                <a:rPr lang="es-MX" sz="2200" b="0" i="1" smtClean="0">
                                  <a:latin typeface="Cambria Math" panose="02040503050406030204" pitchFamily="18" charset="0"/>
                                  <a:ea typeface="Roboto" panose="02000000000000000000" pitchFamily="2" charset="0"/>
                                </a:rPr>
                              </m:ctrlPr>
                            </m:dPr>
                            <m:e>
                              <m:r>
                                <a:rPr lang="es-MX" sz="2200" b="0" i="1" smtClean="0">
                                  <a:latin typeface="Cambria Math" panose="02040503050406030204" pitchFamily="18" charset="0"/>
                                  <a:ea typeface="Roboto" panose="02000000000000000000" pitchFamily="2" charset="0"/>
                                </a:rPr>
                                <m:t>𝐴</m:t>
                              </m:r>
                            </m:e>
                          </m:d>
                        </m:sup>
                      </m:sSup>
                      <m:r>
                        <a:rPr lang="es-MX" sz="2200" b="0" i="1" smtClean="0">
                          <a:latin typeface="Cambria Math" panose="02040503050406030204" pitchFamily="18" charset="0"/>
                          <a:ea typeface="Roboto" panose="02000000000000000000" pitchFamily="2" charset="0"/>
                        </a:rPr>
                        <m:t>=</m:t>
                      </m:r>
                      <m:sSup>
                        <m:sSupPr>
                          <m:ctrlPr>
                            <a:rPr lang="es-MX" sz="2200" b="0" i="1" smtClean="0">
                              <a:latin typeface="Cambria Math" panose="02040503050406030204" pitchFamily="18" charset="0"/>
                              <a:ea typeface="Roboto" panose="02000000000000000000" pitchFamily="2" charset="0"/>
                            </a:rPr>
                          </m:ctrlPr>
                        </m:sSupPr>
                        <m:e>
                          <m:r>
                            <a:rPr lang="es-MX" sz="2200" b="0" i="1" smtClean="0">
                              <a:latin typeface="Cambria Math" panose="02040503050406030204" pitchFamily="18" charset="0"/>
                              <a:ea typeface="Roboto" panose="02000000000000000000" pitchFamily="2" charset="0"/>
                            </a:rPr>
                            <m:t>2</m:t>
                          </m:r>
                        </m:e>
                        <m:sup>
                          <m:r>
                            <a:rPr lang="es-MX" sz="2200" b="0" i="1" smtClean="0">
                              <a:latin typeface="Cambria Math" panose="02040503050406030204" pitchFamily="18" charset="0"/>
                              <a:ea typeface="Roboto" panose="02000000000000000000" pitchFamily="2" charset="0"/>
                            </a:rPr>
                            <m:t>𝑛</m:t>
                          </m:r>
                          <m:r>
                            <a:rPr lang="es-MX" sz="2200" b="0" i="1" smtClean="0">
                              <a:latin typeface="Cambria Math" panose="02040503050406030204" pitchFamily="18" charset="0"/>
                              <a:ea typeface="Roboto" panose="02000000000000000000" pitchFamily="2" charset="0"/>
                            </a:rPr>
                            <m:t>(</m:t>
                          </m:r>
                          <m:r>
                            <a:rPr lang="es-MX" sz="2200" b="0" i="1" smtClean="0">
                              <a:latin typeface="Cambria Math" panose="02040503050406030204" pitchFamily="18" charset="0"/>
                              <a:ea typeface="Roboto" panose="02000000000000000000" pitchFamily="2" charset="0"/>
                            </a:rPr>
                            <m:t>𝐴</m:t>
                          </m:r>
                          <m:r>
                            <a:rPr lang="es-MX" sz="2200" b="0" i="1" smtClean="0">
                              <a:latin typeface="Cambria Math" panose="02040503050406030204" pitchFamily="18" charset="0"/>
                              <a:ea typeface="Roboto" panose="02000000000000000000" pitchFamily="2" charset="0"/>
                            </a:rPr>
                            <m:t>)</m:t>
                          </m:r>
                        </m:sup>
                      </m:sSup>
                    </m:oMath>
                  </m:oMathPara>
                </a14:m>
                <a:endParaRPr lang="es-MX" sz="2200" dirty="0">
                  <a:latin typeface="+mn-lt"/>
                  <a:ea typeface="Roboto" panose="02000000000000000000" pitchFamily="2" charset="0"/>
                </a:endParaRPr>
              </a:p>
              <a:p>
                <a:pPr marL="127000" indent="0">
                  <a:buNone/>
                </a:pPr>
                <a:endParaRPr lang="es-MX" sz="2200" dirty="0">
                  <a:latin typeface="+mn-lt"/>
                  <a:ea typeface="Roboto" panose="02000000000000000000" pitchFamily="2" charset="0"/>
                </a:endParaRPr>
              </a:p>
              <a:p>
                <a:endParaRPr lang="es-MX" sz="2200" dirty="0">
                  <a:latin typeface="+mn-lt"/>
                  <a:ea typeface="Roboto" panose="02000000000000000000" pitchFamily="2" charset="0"/>
                </a:endParaRPr>
              </a:p>
            </p:txBody>
          </p:sp>
        </mc:Choice>
        <mc:Fallback xmlns="">
          <p:sp>
            <p:nvSpPr>
              <p:cNvPr id="5" name="Google Shape;310;p34">
                <a:extLst>
                  <a:ext uri="{FF2B5EF4-FFF2-40B4-BE49-F238E27FC236}">
                    <a16:creationId xmlns:a16="http://schemas.microsoft.com/office/drawing/2014/main" id="{F102D340-F804-4113-9FEB-9A4128546791}"/>
                  </a:ext>
                </a:extLst>
              </p:cNvPr>
              <p:cNvSpPr txBox="1">
                <a:spLocks noRot="1" noChangeAspect="1" noMove="1" noResize="1" noEditPoints="1" noAdjustHandles="1" noChangeArrowheads="1" noChangeShapeType="1" noTextEdit="1"/>
              </p:cNvSpPr>
              <p:nvPr/>
            </p:nvSpPr>
            <p:spPr>
              <a:xfrm>
                <a:off x="367376" y="1045538"/>
                <a:ext cx="11195769" cy="1834645"/>
              </a:xfrm>
              <a:prstGeom prst="rect">
                <a:avLst/>
              </a:prstGeom>
              <a:blipFill>
                <a:blip r:embed="rId2"/>
                <a:stretch>
                  <a:fillRect r="-109" b="-6667"/>
                </a:stretch>
              </a:blipFill>
              <a:ln>
                <a:noFill/>
              </a:ln>
            </p:spPr>
            <p:txBody>
              <a:bodyPr/>
              <a:lstStyle/>
              <a:p>
                <a:r>
                  <a:rPr lang="es-CO">
                    <a:noFill/>
                  </a:rPr>
                  <a:t> </a:t>
                </a:r>
              </a:p>
            </p:txBody>
          </p:sp>
        </mc:Fallback>
      </mc:AlternateContent>
    </p:spTree>
    <p:extLst>
      <p:ext uri="{BB962C8B-B14F-4D97-AF65-F5344CB8AC3E}">
        <p14:creationId xmlns:p14="http://schemas.microsoft.com/office/powerpoint/2010/main" val="57420790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78E8DF2-7986-4872-8459-F68D43B26317}"/>
              </a:ext>
            </a:extLst>
          </p:cNvPr>
          <p:cNvSpPr>
            <a:spLocks noGrp="1"/>
          </p:cNvSpPr>
          <p:nvPr>
            <p:ph type="title"/>
          </p:nvPr>
        </p:nvSpPr>
        <p:spPr>
          <a:xfrm>
            <a:off x="501445" y="96038"/>
            <a:ext cx="11474655" cy="949500"/>
          </a:xfrm>
        </p:spPr>
        <p:txBody>
          <a:bodyPr/>
          <a:lstStyle/>
          <a:p>
            <a:r>
              <a:rPr lang="es-ES" dirty="0">
                <a:solidFill>
                  <a:schemeClr val="tx1"/>
                </a:solidFill>
                <a:latin typeface="+mj-lt"/>
              </a:rPr>
              <a:t>Tipos de conjuntos – Conjunto potencia</a:t>
            </a:r>
            <a:endParaRPr lang="es-CO" dirty="0">
              <a:solidFill>
                <a:schemeClr val="tx1"/>
              </a:solidFill>
              <a:latin typeface="+mj-lt"/>
            </a:endParaRPr>
          </a:p>
        </p:txBody>
      </p:sp>
      <mc:AlternateContent xmlns:mc="http://schemas.openxmlformats.org/markup-compatibility/2006" xmlns:a14="http://schemas.microsoft.com/office/drawing/2010/main">
        <mc:Choice Requires="a14">
          <p:sp>
            <p:nvSpPr>
              <p:cNvPr id="5" name="Google Shape;310;p34">
                <a:extLst>
                  <a:ext uri="{FF2B5EF4-FFF2-40B4-BE49-F238E27FC236}">
                    <a16:creationId xmlns:a16="http://schemas.microsoft.com/office/drawing/2014/main" id="{F102D340-F804-4113-9FEB-9A4128546791}"/>
                  </a:ext>
                </a:extLst>
              </p:cNvPr>
              <p:cNvSpPr txBox="1">
                <a:spLocks/>
              </p:cNvSpPr>
              <p:nvPr/>
            </p:nvSpPr>
            <p:spPr>
              <a:xfrm>
                <a:off x="367376" y="1045538"/>
                <a:ext cx="11474655" cy="365919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200" b="1" dirty="0">
                    <a:latin typeface="+mn-lt"/>
                    <a:ea typeface="Roboto" panose="02000000000000000000" pitchFamily="2" charset="0"/>
                  </a:rPr>
                  <a:t>Ejemplo 1:  </a:t>
                </a:r>
                <a:r>
                  <a:rPr lang="es-MX" sz="2200" dirty="0">
                    <a:latin typeface="+mn-lt"/>
                    <a:ea typeface="Roboto" panose="02000000000000000000" pitchFamily="2" charset="0"/>
                  </a:rPr>
                  <a:t>Dado el conjunto </a:t>
                </a:r>
                <a14:m>
                  <m:oMath xmlns:m="http://schemas.openxmlformats.org/officeDocument/2006/math">
                    <m:r>
                      <a:rPr lang="es-MX" sz="2200" i="1" smtClean="0">
                        <a:latin typeface="Cambria Math" panose="02040503050406030204" pitchFamily="18" charset="0"/>
                        <a:ea typeface="Cambria Math" panose="02040503050406030204" pitchFamily="18" charset="0"/>
                      </a:rPr>
                      <m:t>𝐴</m:t>
                    </m:r>
                    <m:r>
                      <a:rPr lang="es-MX" sz="2200" b="0" i="1" smtClean="0">
                        <a:latin typeface="Cambria Math" panose="02040503050406030204" pitchFamily="18" charset="0"/>
                        <a:ea typeface="Cambria Math" panose="02040503050406030204" pitchFamily="18" charset="0"/>
                      </a:rPr>
                      <m:t>=</m:t>
                    </m:r>
                    <m:d>
                      <m:dPr>
                        <m:begChr m:val="{"/>
                        <m:endChr m:val="}"/>
                        <m:ctrlPr>
                          <a:rPr lang="es-MX" sz="2200" b="0" i="1" smtClean="0">
                            <a:latin typeface="Cambria Math" panose="02040503050406030204" pitchFamily="18" charset="0"/>
                            <a:ea typeface="Cambria Math" panose="02040503050406030204" pitchFamily="18" charset="0"/>
                          </a:rPr>
                        </m:ctrlPr>
                      </m:dPr>
                      <m:e>
                        <m:r>
                          <a:rPr lang="es-MX" sz="2200" b="0" i="1" smtClean="0">
                            <a:latin typeface="Cambria Math" panose="02040503050406030204" pitchFamily="18" charset="0"/>
                            <a:ea typeface="Cambria Math" panose="02040503050406030204" pitchFamily="18" charset="0"/>
                          </a:rPr>
                          <m:t>1,2,3</m:t>
                        </m:r>
                      </m:e>
                    </m:d>
                  </m:oMath>
                </a14:m>
                <a:r>
                  <a:rPr lang="es-MX" sz="2200" dirty="0">
                    <a:latin typeface="+mn-lt"/>
                    <a:ea typeface="Roboto" panose="02000000000000000000" pitchFamily="2" charset="0"/>
                  </a:rPr>
                  <a:t>, determine el conjunto </a:t>
                </a:r>
                <a14:m>
                  <m:oMath xmlns:m="http://schemas.openxmlformats.org/officeDocument/2006/math">
                    <m:r>
                      <a:rPr lang="es-MX" sz="2200" i="1">
                        <a:latin typeface="Cambria Math" panose="02040503050406030204" pitchFamily="18" charset="0"/>
                        <a:ea typeface="Cambria Math" panose="02040503050406030204" pitchFamily="18" charset="0"/>
                      </a:rPr>
                      <m:t>𝒫</m:t>
                    </m:r>
                    <m:r>
                      <a:rPr lang="es-MX" sz="2200" i="1">
                        <a:latin typeface="Cambria Math" panose="02040503050406030204" pitchFamily="18" charset="0"/>
                        <a:ea typeface="Cambria Math" panose="02040503050406030204" pitchFamily="18" charset="0"/>
                      </a:rPr>
                      <m:t>(</m:t>
                    </m:r>
                    <m:r>
                      <a:rPr lang="es-MX" sz="2200" i="1">
                        <a:latin typeface="Cambria Math" panose="02040503050406030204" pitchFamily="18" charset="0"/>
                        <a:ea typeface="Cambria Math" panose="02040503050406030204" pitchFamily="18" charset="0"/>
                      </a:rPr>
                      <m:t>𝐴</m:t>
                    </m:r>
                    <m:r>
                      <a:rPr lang="es-MX" sz="2200" i="1">
                        <a:latin typeface="Cambria Math" panose="02040503050406030204" pitchFamily="18" charset="0"/>
                        <a:ea typeface="Cambria Math" panose="02040503050406030204" pitchFamily="18" charset="0"/>
                      </a:rPr>
                      <m:t>)</m:t>
                    </m:r>
                  </m:oMath>
                </a14:m>
                <a:r>
                  <a:rPr lang="es-MX" sz="2200" dirty="0">
                    <a:latin typeface="+mn-lt"/>
                    <a:ea typeface="Roboto" panose="02000000000000000000" pitchFamily="2" charset="0"/>
                  </a:rPr>
                  <a:t> y su cantidad de elementos: </a:t>
                </a:r>
              </a:p>
              <a:p>
                <a:r>
                  <a:rPr lang="es-MX" sz="2200" dirty="0">
                    <a:latin typeface="+mn-lt"/>
                    <a:ea typeface="Roboto" panose="02000000000000000000" pitchFamily="2" charset="0"/>
                  </a:rPr>
                  <a:t>Inicialmente se determina la cardinalidad de </a:t>
                </a:r>
                <a14:m>
                  <m:oMath xmlns:m="http://schemas.openxmlformats.org/officeDocument/2006/math">
                    <m:r>
                      <a:rPr lang="es-MX" sz="2200" i="1" smtClean="0">
                        <a:latin typeface="Cambria Math" panose="02040503050406030204" pitchFamily="18" charset="0"/>
                        <a:ea typeface="Cambria Math" panose="02040503050406030204" pitchFamily="18" charset="0"/>
                      </a:rPr>
                      <m:t>𝒫</m:t>
                    </m:r>
                    <m:r>
                      <a:rPr lang="es-MX" sz="2200" i="1" smtClean="0">
                        <a:latin typeface="Cambria Math" panose="02040503050406030204" pitchFamily="18" charset="0"/>
                        <a:ea typeface="Cambria Math" panose="02040503050406030204" pitchFamily="18" charset="0"/>
                      </a:rPr>
                      <m:t>(</m:t>
                    </m:r>
                    <m:r>
                      <a:rPr lang="es-MX" sz="2200" i="1" smtClean="0">
                        <a:latin typeface="Cambria Math" panose="02040503050406030204" pitchFamily="18" charset="0"/>
                        <a:ea typeface="Cambria Math" panose="02040503050406030204" pitchFamily="18" charset="0"/>
                      </a:rPr>
                      <m:t>𝐴</m:t>
                    </m:r>
                    <m:r>
                      <a:rPr lang="es-MX" sz="2200" i="1" smtClean="0">
                        <a:latin typeface="Cambria Math" panose="02040503050406030204" pitchFamily="18" charset="0"/>
                        <a:ea typeface="Cambria Math" panose="02040503050406030204" pitchFamily="18" charset="0"/>
                      </a:rPr>
                      <m:t>)</m:t>
                    </m:r>
                  </m:oMath>
                </a14:m>
                <a:r>
                  <a:rPr lang="es-MX" sz="2200" dirty="0">
                    <a:latin typeface="+mn-lt"/>
                    <a:ea typeface="Roboto" panose="02000000000000000000" pitchFamily="2" charset="0"/>
                  </a:rPr>
                  <a:t>.</a:t>
                </a:r>
              </a:p>
              <a:p>
                <a:pPr marL="127000" indent="0">
                  <a:buNone/>
                </a:pPr>
                <a:endParaRPr lang="es-MX" sz="2200" dirty="0">
                  <a:latin typeface="+mn-lt"/>
                  <a:ea typeface="Roboto" panose="02000000000000000000" pitchFamily="2" charset="0"/>
                </a:endParaRPr>
              </a:p>
              <a:p>
                <a:pPr marL="127000" indent="0">
                  <a:buNone/>
                </a:pPr>
                <a14:m>
                  <m:oMathPara xmlns:m="http://schemas.openxmlformats.org/officeDocument/2006/math">
                    <m:oMathParaPr>
                      <m:jc m:val="centerGroup"/>
                    </m:oMathParaPr>
                    <m:oMath xmlns:m="http://schemas.openxmlformats.org/officeDocument/2006/math">
                      <m:d>
                        <m:dPr>
                          <m:begChr m:val="|"/>
                          <m:endChr m:val="|"/>
                          <m:ctrlPr>
                            <a:rPr lang="es-MX" sz="2200" b="0" i="1" smtClean="0">
                              <a:latin typeface="Cambria Math" panose="02040503050406030204" pitchFamily="18" charset="0"/>
                            </a:rPr>
                          </m:ctrlPr>
                        </m:dPr>
                        <m:e>
                          <m:r>
                            <a:rPr lang="es-MX" sz="2200" i="1">
                              <a:latin typeface="Cambria Math" panose="02040503050406030204" pitchFamily="18" charset="0"/>
                              <a:ea typeface="Cambria Math" panose="02040503050406030204" pitchFamily="18" charset="0"/>
                            </a:rPr>
                            <m:t>𝒫</m:t>
                          </m:r>
                          <m:r>
                            <a:rPr lang="es-MX" sz="2200" i="1">
                              <a:latin typeface="Cambria Math" panose="02040503050406030204" pitchFamily="18" charset="0"/>
                              <a:ea typeface="Cambria Math" panose="02040503050406030204" pitchFamily="18" charset="0"/>
                            </a:rPr>
                            <m:t>(</m:t>
                          </m:r>
                          <m:r>
                            <a:rPr lang="es-MX" sz="2200" i="1">
                              <a:latin typeface="Cambria Math" panose="02040503050406030204" pitchFamily="18" charset="0"/>
                              <a:ea typeface="Cambria Math" panose="02040503050406030204" pitchFamily="18" charset="0"/>
                            </a:rPr>
                            <m:t>𝐴</m:t>
                          </m:r>
                          <m:r>
                            <a:rPr lang="es-MX" sz="2200" i="1">
                              <a:latin typeface="Cambria Math" panose="02040503050406030204" pitchFamily="18" charset="0"/>
                              <a:ea typeface="Cambria Math" panose="02040503050406030204" pitchFamily="18" charset="0"/>
                            </a:rPr>
                            <m:t>)</m:t>
                          </m:r>
                        </m:e>
                      </m:d>
                      <m:r>
                        <a:rPr lang="es-MX" sz="2200" b="0" i="1" smtClean="0">
                          <a:latin typeface="Cambria Math" panose="02040503050406030204" pitchFamily="18" charset="0"/>
                        </a:rPr>
                        <m:t>=</m:t>
                      </m:r>
                      <m:sSup>
                        <m:sSupPr>
                          <m:ctrlPr>
                            <a:rPr lang="es-MX" sz="2200" b="0" i="1" smtClean="0">
                              <a:latin typeface="Cambria Math" panose="02040503050406030204" pitchFamily="18" charset="0"/>
                            </a:rPr>
                          </m:ctrlPr>
                        </m:sSupPr>
                        <m:e>
                          <m:r>
                            <a:rPr lang="es-MX" sz="2200" b="0" i="1" smtClean="0">
                              <a:latin typeface="Cambria Math" panose="02040503050406030204" pitchFamily="18" charset="0"/>
                            </a:rPr>
                            <m:t>2</m:t>
                          </m:r>
                        </m:e>
                        <m:sup>
                          <m:d>
                            <m:dPr>
                              <m:begChr m:val="|"/>
                              <m:endChr m:val="|"/>
                              <m:ctrlPr>
                                <a:rPr lang="es-MX" sz="2200" b="0" i="1" smtClean="0">
                                  <a:latin typeface="Cambria Math" panose="02040503050406030204" pitchFamily="18" charset="0"/>
                                </a:rPr>
                              </m:ctrlPr>
                            </m:dPr>
                            <m:e>
                              <m:r>
                                <a:rPr lang="es-MX" sz="2200" b="0" i="1" smtClean="0">
                                  <a:latin typeface="Cambria Math" panose="02040503050406030204" pitchFamily="18" charset="0"/>
                                </a:rPr>
                                <m:t>𝐴</m:t>
                              </m:r>
                            </m:e>
                          </m:d>
                        </m:sup>
                      </m:sSup>
                      <m:r>
                        <a:rPr lang="es-MX" sz="2200" b="0" i="1" smtClean="0">
                          <a:latin typeface="Cambria Math" panose="02040503050406030204" pitchFamily="18" charset="0"/>
                        </a:rPr>
                        <m:t>=</m:t>
                      </m:r>
                      <m:sSup>
                        <m:sSupPr>
                          <m:ctrlPr>
                            <a:rPr lang="es-MX" sz="2200" b="0" i="1" smtClean="0">
                              <a:latin typeface="Cambria Math" panose="02040503050406030204" pitchFamily="18" charset="0"/>
                            </a:rPr>
                          </m:ctrlPr>
                        </m:sSupPr>
                        <m:e>
                          <m:r>
                            <a:rPr lang="es-MX" sz="2200" b="0" i="1" smtClean="0">
                              <a:latin typeface="Cambria Math" panose="02040503050406030204" pitchFamily="18" charset="0"/>
                            </a:rPr>
                            <m:t>2</m:t>
                          </m:r>
                        </m:e>
                        <m:sup>
                          <m:r>
                            <a:rPr lang="es-MX" sz="2200" b="0" i="1" smtClean="0">
                              <a:latin typeface="Cambria Math" panose="02040503050406030204" pitchFamily="18" charset="0"/>
                            </a:rPr>
                            <m:t>3</m:t>
                          </m:r>
                        </m:sup>
                      </m:sSup>
                      <m:r>
                        <a:rPr lang="es-MX" sz="2200" b="0" i="1" smtClean="0">
                          <a:latin typeface="Cambria Math" panose="02040503050406030204" pitchFamily="18" charset="0"/>
                        </a:rPr>
                        <m:t>=8</m:t>
                      </m:r>
                    </m:oMath>
                  </m:oMathPara>
                </a14:m>
                <a:endParaRPr lang="es-CO" sz="2200" dirty="0"/>
              </a:p>
              <a:p>
                <a:endParaRPr lang="es-MX" sz="2200" dirty="0">
                  <a:latin typeface="+mn-lt"/>
                  <a:ea typeface="Roboto" panose="02000000000000000000" pitchFamily="2" charset="0"/>
                </a:endParaRPr>
              </a:p>
              <a:p>
                <a:r>
                  <a:rPr lang="es-MX" sz="2200" dirty="0">
                    <a:latin typeface="+mn-lt"/>
                    <a:ea typeface="Roboto" panose="02000000000000000000" pitchFamily="2" charset="0"/>
                  </a:rPr>
                  <a:t>Finalmente, el </a:t>
                </a:r>
                <a14:m>
                  <m:oMath xmlns:m="http://schemas.openxmlformats.org/officeDocument/2006/math">
                    <m:r>
                      <a:rPr lang="es-MX" sz="2200" i="1" smtClean="0">
                        <a:latin typeface="Cambria Math" panose="02040503050406030204" pitchFamily="18" charset="0"/>
                        <a:ea typeface="Cambria Math" panose="02040503050406030204" pitchFamily="18" charset="0"/>
                      </a:rPr>
                      <m:t>𝒫</m:t>
                    </m:r>
                    <m:r>
                      <a:rPr lang="es-MX" sz="2200" i="1" smtClean="0">
                        <a:latin typeface="Cambria Math" panose="02040503050406030204" pitchFamily="18" charset="0"/>
                        <a:ea typeface="Cambria Math" panose="02040503050406030204" pitchFamily="18" charset="0"/>
                      </a:rPr>
                      <m:t>(</m:t>
                    </m:r>
                    <m:r>
                      <a:rPr lang="es-MX" sz="2200" i="1" smtClean="0">
                        <a:latin typeface="Cambria Math" panose="02040503050406030204" pitchFamily="18" charset="0"/>
                        <a:ea typeface="Cambria Math" panose="02040503050406030204" pitchFamily="18" charset="0"/>
                      </a:rPr>
                      <m:t>𝐴</m:t>
                    </m:r>
                    <m:r>
                      <a:rPr lang="es-MX" sz="2200" i="1" smtClean="0">
                        <a:latin typeface="Cambria Math" panose="02040503050406030204" pitchFamily="18" charset="0"/>
                        <a:ea typeface="Cambria Math" panose="02040503050406030204" pitchFamily="18" charset="0"/>
                      </a:rPr>
                      <m:t>)</m:t>
                    </m:r>
                  </m:oMath>
                </a14:m>
                <a:r>
                  <a:rPr lang="es-MX" sz="2200" dirty="0">
                    <a:latin typeface="+mn-lt"/>
                    <a:ea typeface="Roboto" panose="02000000000000000000" pitchFamily="2" charset="0"/>
                  </a:rPr>
                  <a:t> esta formado por:</a:t>
                </a:r>
              </a:p>
              <a:p>
                <a:pPr marL="127000" indent="0">
                  <a:buNone/>
                </a:pPr>
                <a:endParaRPr lang="es-MX" sz="2200" b="0" i="1" dirty="0">
                  <a:latin typeface="Cambria Math" panose="02040503050406030204" pitchFamily="18" charset="0"/>
                </a:endParaRPr>
              </a:p>
              <a:p>
                <a:pPr marL="127000" indent="0">
                  <a:buNone/>
                </a:pPr>
                <a14:m>
                  <m:oMathPara xmlns:m="http://schemas.openxmlformats.org/officeDocument/2006/math">
                    <m:oMathParaPr>
                      <m:jc m:val="centerGroup"/>
                    </m:oMathParaPr>
                    <m:oMath xmlns:m="http://schemas.openxmlformats.org/officeDocument/2006/math">
                      <m:d>
                        <m:dPr>
                          <m:begChr m:val="|"/>
                          <m:endChr m:val="|"/>
                          <m:ctrlPr>
                            <a:rPr lang="es-MX" sz="2200" b="0" i="1" smtClean="0">
                              <a:latin typeface="Cambria Math" panose="02040503050406030204" pitchFamily="18" charset="0"/>
                            </a:rPr>
                          </m:ctrlPr>
                        </m:dPr>
                        <m:e>
                          <m:r>
                            <a:rPr lang="es-MX" sz="2200" i="1">
                              <a:latin typeface="Cambria Math" panose="02040503050406030204" pitchFamily="18" charset="0"/>
                              <a:ea typeface="Cambria Math" panose="02040503050406030204" pitchFamily="18" charset="0"/>
                            </a:rPr>
                            <m:t>𝒫</m:t>
                          </m:r>
                          <m:r>
                            <a:rPr lang="es-MX" sz="2200" i="1">
                              <a:latin typeface="Cambria Math" panose="02040503050406030204" pitchFamily="18" charset="0"/>
                              <a:ea typeface="Cambria Math" panose="02040503050406030204" pitchFamily="18" charset="0"/>
                            </a:rPr>
                            <m:t>(</m:t>
                          </m:r>
                          <m:r>
                            <a:rPr lang="es-MX" sz="2200" i="1">
                              <a:latin typeface="Cambria Math" panose="02040503050406030204" pitchFamily="18" charset="0"/>
                              <a:ea typeface="Cambria Math" panose="02040503050406030204" pitchFamily="18" charset="0"/>
                            </a:rPr>
                            <m:t>𝐴</m:t>
                          </m:r>
                          <m:r>
                            <a:rPr lang="es-MX" sz="2200" i="1">
                              <a:latin typeface="Cambria Math" panose="02040503050406030204" pitchFamily="18" charset="0"/>
                              <a:ea typeface="Cambria Math" panose="02040503050406030204" pitchFamily="18" charset="0"/>
                            </a:rPr>
                            <m:t>)</m:t>
                          </m:r>
                        </m:e>
                      </m:d>
                      <m:r>
                        <a:rPr lang="es-MX" sz="2200" b="0" i="1" smtClean="0">
                          <a:latin typeface="Cambria Math" panose="02040503050406030204" pitchFamily="18" charset="0"/>
                        </a:rPr>
                        <m:t>=</m:t>
                      </m:r>
                      <m:d>
                        <m:dPr>
                          <m:begChr m:val="{"/>
                          <m:endChr m:val="}"/>
                          <m:ctrlPr>
                            <a:rPr lang="es-MX" sz="2200" b="0" i="1" smtClean="0">
                              <a:latin typeface="Cambria Math" panose="02040503050406030204" pitchFamily="18" charset="0"/>
                            </a:rPr>
                          </m:ctrlPr>
                        </m:dPr>
                        <m:e>
                          <m:r>
                            <a:rPr lang="es-MX" sz="2200" b="0" i="1" smtClean="0">
                              <a:latin typeface="Cambria Math" panose="02040503050406030204" pitchFamily="18" charset="0"/>
                            </a:rPr>
                            <m:t>∅,</m:t>
                          </m:r>
                          <m:d>
                            <m:dPr>
                              <m:begChr m:val="{"/>
                              <m:endChr m:val="}"/>
                              <m:ctrlPr>
                                <a:rPr lang="es-MX" sz="2200" b="0" i="1" smtClean="0">
                                  <a:latin typeface="Cambria Math" panose="02040503050406030204" pitchFamily="18" charset="0"/>
                                </a:rPr>
                              </m:ctrlPr>
                            </m:dPr>
                            <m:e>
                              <m:r>
                                <a:rPr lang="es-MX" sz="2200" b="0" i="1" smtClean="0">
                                  <a:latin typeface="Cambria Math" panose="02040503050406030204" pitchFamily="18" charset="0"/>
                                </a:rPr>
                                <m:t>1</m:t>
                              </m:r>
                            </m:e>
                          </m:d>
                          <m:r>
                            <a:rPr lang="es-MX" sz="2200" b="0" i="1" smtClean="0">
                              <a:latin typeface="Cambria Math" panose="02040503050406030204" pitchFamily="18" charset="0"/>
                            </a:rPr>
                            <m:t>,</m:t>
                          </m:r>
                          <m:d>
                            <m:dPr>
                              <m:begChr m:val="{"/>
                              <m:endChr m:val="}"/>
                              <m:ctrlPr>
                                <a:rPr lang="es-MX" sz="2200" b="0" i="1" smtClean="0">
                                  <a:latin typeface="Cambria Math" panose="02040503050406030204" pitchFamily="18" charset="0"/>
                                </a:rPr>
                              </m:ctrlPr>
                            </m:dPr>
                            <m:e>
                              <m:r>
                                <a:rPr lang="es-MX" sz="2200" b="0" i="1" smtClean="0">
                                  <a:latin typeface="Cambria Math" panose="02040503050406030204" pitchFamily="18" charset="0"/>
                                </a:rPr>
                                <m:t>2</m:t>
                              </m:r>
                            </m:e>
                          </m:d>
                          <m:r>
                            <a:rPr lang="es-MX" sz="2200" b="0" i="1" smtClean="0">
                              <a:latin typeface="Cambria Math" panose="02040503050406030204" pitchFamily="18" charset="0"/>
                            </a:rPr>
                            <m:t>,</m:t>
                          </m:r>
                          <m:d>
                            <m:dPr>
                              <m:begChr m:val="{"/>
                              <m:endChr m:val="}"/>
                              <m:ctrlPr>
                                <a:rPr lang="es-MX" sz="2200" b="0" i="1" smtClean="0">
                                  <a:latin typeface="Cambria Math" panose="02040503050406030204" pitchFamily="18" charset="0"/>
                                </a:rPr>
                              </m:ctrlPr>
                            </m:dPr>
                            <m:e>
                              <m:r>
                                <a:rPr lang="es-MX" sz="2200" b="0" i="1" smtClean="0">
                                  <a:latin typeface="Cambria Math" panose="02040503050406030204" pitchFamily="18" charset="0"/>
                                </a:rPr>
                                <m:t>3</m:t>
                              </m:r>
                            </m:e>
                          </m:d>
                          <m:r>
                            <a:rPr lang="es-MX" sz="2200" b="0" i="1" smtClean="0">
                              <a:latin typeface="Cambria Math" panose="02040503050406030204" pitchFamily="18" charset="0"/>
                            </a:rPr>
                            <m:t>,</m:t>
                          </m:r>
                          <m:d>
                            <m:dPr>
                              <m:begChr m:val="{"/>
                              <m:endChr m:val="}"/>
                              <m:ctrlPr>
                                <a:rPr lang="es-MX" sz="2200" b="0" i="1" smtClean="0">
                                  <a:latin typeface="Cambria Math" panose="02040503050406030204" pitchFamily="18" charset="0"/>
                                </a:rPr>
                              </m:ctrlPr>
                            </m:dPr>
                            <m:e>
                              <m:r>
                                <a:rPr lang="es-MX" sz="2200" b="0" i="1" smtClean="0">
                                  <a:latin typeface="Cambria Math" panose="02040503050406030204" pitchFamily="18" charset="0"/>
                                </a:rPr>
                                <m:t>1,2</m:t>
                              </m:r>
                            </m:e>
                          </m:d>
                          <m:r>
                            <a:rPr lang="es-MX" sz="2200" b="0" i="1" smtClean="0">
                              <a:latin typeface="Cambria Math" panose="02040503050406030204" pitchFamily="18" charset="0"/>
                            </a:rPr>
                            <m:t>,</m:t>
                          </m:r>
                          <m:d>
                            <m:dPr>
                              <m:begChr m:val="{"/>
                              <m:endChr m:val="}"/>
                              <m:ctrlPr>
                                <a:rPr lang="es-MX" sz="2200" b="0" i="1" smtClean="0">
                                  <a:latin typeface="Cambria Math" panose="02040503050406030204" pitchFamily="18" charset="0"/>
                                </a:rPr>
                              </m:ctrlPr>
                            </m:dPr>
                            <m:e>
                              <m:r>
                                <a:rPr lang="es-MX" sz="2200" b="0" i="1" smtClean="0">
                                  <a:latin typeface="Cambria Math" panose="02040503050406030204" pitchFamily="18" charset="0"/>
                                </a:rPr>
                                <m:t>1,3</m:t>
                              </m:r>
                            </m:e>
                          </m:d>
                          <m:r>
                            <a:rPr lang="es-MX" sz="2200" b="0" i="1" smtClean="0">
                              <a:latin typeface="Cambria Math" panose="02040503050406030204" pitchFamily="18" charset="0"/>
                            </a:rPr>
                            <m:t>,</m:t>
                          </m:r>
                          <m:d>
                            <m:dPr>
                              <m:begChr m:val="{"/>
                              <m:endChr m:val="}"/>
                              <m:ctrlPr>
                                <a:rPr lang="es-MX" sz="2200" b="0" i="1" smtClean="0">
                                  <a:latin typeface="Cambria Math" panose="02040503050406030204" pitchFamily="18" charset="0"/>
                                </a:rPr>
                              </m:ctrlPr>
                            </m:dPr>
                            <m:e>
                              <m:r>
                                <a:rPr lang="es-MX" sz="2200" b="0" i="1" smtClean="0">
                                  <a:latin typeface="Cambria Math" panose="02040503050406030204" pitchFamily="18" charset="0"/>
                                </a:rPr>
                                <m:t>2,3</m:t>
                              </m:r>
                            </m:e>
                          </m:d>
                          <m:r>
                            <a:rPr lang="es-MX" sz="2200" b="0" i="1" smtClean="0">
                              <a:latin typeface="Cambria Math" panose="02040503050406030204" pitchFamily="18" charset="0"/>
                            </a:rPr>
                            <m:t> ,</m:t>
                          </m:r>
                          <m:d>
                            <m:dPr>
                              <m:begChr m:val="{"/>
                              <m:endChr m:val="}"/>
                              <m:ctrlPr>
                                <a:rPr lang="es-MX" sz="2200" b="0" i="1" smtClean="0">
                                  <a:latin typeface="Cambria Math" panose="02040503050406030204" pitchFamily="18" charset="0"/>
                                </a:rPr>
                              </m:ctrlPr>
                            </m:dPr>
                            <m:e>
                              <m:r>
                                <a:rPr lang="es-MX" sz="2200" b="0" i="1" smtClean="0">
                                  <a:latin typeface="Cambria Math" panose="02040503050406030204" pitchFamily="18" charset="0"/>
                                </a:rPr>
                                <m:t>1,2,3</m:t>
                              </m:r>
                            </m:e>
                          </m:d>
                        </m:e>
                      </m:d>
                      <m:r>
                        <a:rPr lang="es-MX" sz="2200" b="0" i="1" smtClean="0">
                          <a:latin typeface="Cambria Math" panose="02040503050406030204" pitchFamily="18" charset="0"/>
                        </a:rPr>
                        <m:t> </m:t>
                      </m:r>
                    </m:oMath>
                  </m:oMathPara>
                </a14:m>
                <a:endParaRPr lang="es-CO" sz="2200" dirty="0"/>
              </a:p>
              <a:p>
                <a:pPr marL="127000" indent="0">
                  <a:buNone/>
                </a:pPr>
                <a:endParaRPr lang="es-MX" sz="2200" dirty="0">
                  <a:latin typeface="+mn-lt"/>
                  <a:ea typeface="Roboto" panose="02000000000000000000" pitchFamily="2" charset="0"/>
                </a:endParaRPr>
              </a:p>
              <a:p>
                <a:pPr marL="127000" indent="0">
                  <a:buNone/>
                </a:pPr>
                <a:endParaRPr lang="es-MX" sz="2200" b="1" dirty="0">
                  <a:latin typeface="+mn-lt"/>
                  <a:ea typeface="Roboto" panose="02000000000000000000" pitchFamily="2" charset="0"/>
                </a:endParaRPr>
              </a:p>
              <a:p>
                <a:endParaRPr lang="es-MX" sz="2200" dirty="0">
                  <a:latin typeface="+mn-lt"/>
                  <a:ea typeface="Roboto" panose="02000000000000000000" pitchFamily="2" charset="0"/>
                </a:endParaRPr>
              </a:p>
            </p:txBody>
          </p:sp>
        </mc:Choice>
        <mc:Fallback xmlns="">
          <p:sp>
            <p:nvSpPr>
              <p:cNvPr id="5" name="Google Shape;310;p34">
                <a:extLst>
                  <a:ext uri="{FF2B5EF4-FFF2-40B4-BE49-F238E27FC236}">
                    <a16:creationId xmlns:a16="http://schemas.microsoft.com/office/drawing/2014/main" id="{F102D340-F804-4113-9FEB-9A4128546791}"/>
                  </a:ext>
                </a:extLst>
              </p:cNvPr>
              <p:cNvSpPr txBox="1">
                <a:spLocks noRot="1" noChangeAspect="1" noMove="1" noResize="1" noEditPoints="1" noAdjustHandles="1" noChangeArrowheads="1" noChangeShapeType="1" noTextEdit="1"/>
              </p:cNvSpPr>
              <p:nvPr/>
            </p:nvSpPr>
            <p:spPr>
              <a:xfrm>
                <a:off x="367376" y="1045538"/>
                <a:ext cx="11474655" cy="3659197"/>
              </a:xfrm>
              <a:prstGeom prst="rect">
                <a:avLst/>
              </a:prstGeom>
              <a:blipFill>
                <a:blip r:embed="rId2"/>
                <a:stretch>
                  <a:fillRect b="-833"/>
                </a:stretch>
              </a:blipFill>
              <a:ln>
                <a:noFill/>
              </a:ln>
            </p:spPr>
            <p:txBody>
              <a:bodyPr/>
              <a:lstStyle/>
              <a:p>
                <a:r>
                  <a:rPr lang="es-CO">
                    <a:noFill/>
                  </a:rPr>
                  <a:t> </a:t>
                </a:r>
              </a:p>
            </p:txBody>
          </p:sp>
        </mc:Fallback>
      </mc:AlternateContent>
    </p:spTree>
    <p:extLst>
      <p:ext uri="{BB962C8B-B14F-4D97-AF65-F5344CB8AC3E}">
        <p14:creationId xmlns:p14="http://schemas.microsoft.com/office/powerpoint/2010/main" val="228123103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78E8DF2-7986-4872-8459-F68D43B26317}"/>
              </a:ext>
            </a:extLst>
          </p:cNvPr>
          <p:cNvSpPr>
            <a:spLocks noGrp="1"/>
          </p:cNvSpPr>
          <p:nvPr>
            <p:ph type="title"/>
          </p:nvPr>
        </p:nvSpPr>
        <p:spPr>
          <a:xfrm>
            <a:off x="501445" y="96038"/>
            <a:ext cx="11474655" cy="949500"/>
          </a:xfrm>
        </p:spPr>
        <p:txBody>
          <a:bodyPr/>
          <a:lstStyle/>
          <a:p>
            <a:r>
              <a:rPr lang="es-ES" dirty="0">
                <a:solidFill>
                  <a:schemeClr val="tx1"/>
                </a:solidFill>
                <a:latin typeface="+mj-lt"/>
              </a:rPr>
              <a:t>Tipos de conjuntos – Conjunto potencia</a:t>
            </a:r>
            <a:endParaRPr lang="es-CO" dirty="0">
              <a:solidFill>
                <a:schemeClr val="tx1"/>
              </a:solidFill>
              <a:latin typeface="+mj-lt"/>
            </a:endParaRPr>
          </a:p>
        </p:txBody>
      </p:sp>
      <mc:AlternateContent xmlns:mc="http://schemas.openxmlformats.org/markup-compatibility/2006">
        <mc:Choice xmlns:a14="http://schemas.microsoft.com/office/drawing/2010/main" Requires="a14">
          <p:sp>
            <p:nvSpPr>
              <p:cNvPr id="5" name="Google Shape;310;p34">
                <a:extLst>
                  <a:ext uri="{FF2B5EF4-FFF2-40B4-BE49-F238E27FC236}">
                    <a16:creationId xmlns:a16="http://schemas.microsoft.com/office/drawing/2014/main" id="{F102D340-F804-4113-9FEB-9A4128546791}"/>
                  </a:ext>
                </a:extLst>
              </p:cNvPr>
              <p:cNvSpPr txBox="1">
                <a:spLocks/>
              </p:cNvSpPr>
              <p:nvPr/>
            </p:nvSpPr>
            <p:spPr>
              <a:xfrm>
                <a:off x="367376" y="1045538"/>
                <a:ext cx="11474655" cy="365919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200" b="1" dirty="0">
                    <a:latin typeface="+mn-lt"/>
                    <a:ea typeface="Roboto" panose="02000000000000000000" pitchFamily="2" charset="0"/>
                  </a:rPr>
                  <a:t>Ejemplo 2: </a:t>
                </a:r>
                <a:r>
                  <a:rPr lang="es-MX" sz="2200" dirty="0">
                    <a:latin typeface="+mn-lt"/>
                    <a:ea typeface="Roboto" panose="02000000000000000000" pitchFamily="2" charset="0"/>
                  </a:rPr>
                  <a:t>Dado el conjunto </a:t>
                </a:r>
                <a14:m>
                  <m:oMath xmlns:m="http://schemas.openxmlformats.org/officeDocument/2006/math">
                    <m:r>
                      <a:rPr lang="es-MX" sz="2200" i="1">
                        <a:latin typeface="Cambria Math" panose="02040503050406030204" pitchFamily="18" charset="0"/>
                        <a:ea typeface="Cambria Math" panose="02040503050406030204" pitchFamily="18" charset="0"/>
                      </a:rPr>
                      <m:t>∅</m:t>
                    </m:r>
                  </m:oMath>
                </a14:m>
                <a:r>
                  <a:rPr lang="es-MX" sz="2200" dirty="0">
                    <a:latin typeface="+mn-lt"/>
                    <a:ea typeface="Roboto" panose="02000000000000000000" pitchFamily="2" charset="0"/>
                  </a:rPr>
                  <a:t>, determine el conjunto </a:t>
                </a:r>
                <a14:m>
                  <m:oMath xmlns:m="http://schemas.openxmlformats.org/officeDocument/2006/math">
                    <m:r>
                      <a:rPr lang="es-MX" sz="2200" i="1">
                        <a:latin typeface="Cambria Math" panose="02040503050406030204" pitchFamily="18" charset="0"/>
                        <a:ea typeface="Cambria Math" panose="02040503050406030204" pitchFamily="18" charset="0"/>
                      </a:rPr>
                      <m:t>𝒫</m:t>
                    </m:r>
                    <m:r>
                      <a:rPr lang="es-MX" sz="2200" i="1">
                        <a:latin typeface="Cambria Math" panose="02040503050406030204" pitchFamily="18" charset="0"/>
                        <a:ea typeface="Cambria Math" panose="02040503050406030204" pitchFamily="18" charset="0"/>
                      </a:rPr>
                      <m:t>(∅)</m:t>
                    </m:r>
                  </m:oMath>
                </a14:m>
                <a:r>
                  <a:rPr lang="es-MX" sz="2200" dirty="0">
                    <a:latin typeface="+mn-lt"/>
                    <a:ea typeface="Roboto" panose="02000000000000000000" pitchFamily="2" charset="0"/>
                  </a:rPr>
                  <a:t> y su cantidad de elementos: </a:t>
                </a:r>
              </a:p>
              <a:p>
                <a:r>
                  <a:rPr lang="es-MX" sz="2200" dirty="0">
                    <a:latin typeface="+mn-lt"/>
                    <a:ea typeface="Roboto" panose="02000000000000000000" pitchFamily="2" charset="0"/>
                  </a:rPr>
                  <a:t>Inicialmente se determina la cardinalidad de </a:t>
                </a:r>
                <a14:m>
                  <m:oMath xmlns:m="http://schemas.openxmlformats.org/officeDocument/2006/math">
                    <m:r>
                      <a:rPr lang="es-MX" sz="2200" i="1" smtClean="0">
                        <a:latin typeface="Cambria Math" panose="02040503050406030204" pitchFamily="18" charset="0"/>
                        <a:ea typeface="Cambria Math" panose="02040503050406030204" pitchFamily="18" charset="0"/>
                      </a:rPr>
                      <m:t>𝒫</m:t>
                    </m:r>
                    <m:r>
                      <a:rPr lang="es-MX" sz="2200" i="1" smtClean="0">
                        <a:latin typeface="Cambria Math" panose="02040503050406030204" pitchFamily="18" charset="0"/>
                        <a:ea typeface="Cambria Math" panose="02040503050406030204" pitchFamily="18" charset="0"/>
                      </a:rPr>
                      <m:t>(∅)</m:t>
                    </m:r>
                  </m:oMath>
                </a14:m>
                <a:r>
                  <a:rPr lang="es-MX" sz="2200" dirty="0">
                    <a:latin typeface="+mn-lt"/>
                    <a:ea typeface="Roboto" panose="02000000000000000000" pitchFamily="2" charset="0"/>
                  </a:rPr>
                  <a:t>.</a:t>
                </a:r>
              </a:p>
              <a:p>
                <a:pPr marL="127000" indent="0">
                  <a:buNone/>
                </a:pPr>
                <a:endParaRPr lang="es-MX" sz="2200" dirty="0">
                  <a:latin typeface="+mn-lt"/>
                  <a:ea typeface="Roboto" panose="02000000000000000000" pitchFamily="2" charset="0"/>
                </a:endParaRPr>
              </a:p>
              <a:p>
                <a:pPr marL="127000" indent="0">
                  <a:buNone/>
                </a:pPr>
                <a14:m>
                  <m:oMathPara xmlns:m="http://schemas.openxmlformats.org/officeDocument/2006/math">
                    <m:oMathParaPr>
                      <m:jc m:val="centerGroup"/>
                    </m:oMathParaPr>
                    <m:oMath xmlns:m="http://schemas.openxmlformats.org/officeDocument/2006/math">
                      <m:d>
                        <m:dPr>
                          <m:begChr m:val="|"/>
                          <m:endChr m:val="|"/>
                          <m:ctrlPr>
                            <a:rPr lang="es-MX" sz="2200" b="0" i="1" smtClean="0">
                              <a:latin typeface="Cambria Math" panose="02040503050406030204" pitchFamily="18" charset="0"/>
                            </a:rPr>
                          </m:ctrlPr>
                        </m:dPr>
                        <m:e>
                          <m:r>
                            <a:rPr lang="es-MX" sz="2200" i="1">
                              <a:latin typeface="Cambria Math" panose="02040503050406030204" pitchFamily="18" charset="0"/>
                              <a:ea typeface="Cambria Math" panose="02040503050406030204" pitchFamily="18" charset="0"/>
                            </a:rPr>
                            <m:t>𝒫</m:t>
                          </m:r>
                          <m:r>
                            <a:rPr lang="es-MX" sz="2200" i="1">
                              <a:latin typeface="Cambria Math" panose="02040503050406030204" pitchFamily="18" charset="0"/>
                              <a:ea typeface="Cambria Math" panose="02040503050406030204" pitchFamily="18" charset="0"/>
                            </a:rPr>
                            <m:t>(∅)</m:t>
                          </m:r>
                        </m:e>
                      </m:d>
                      <m:r>
                        <a:rPr lang="es-MX" sz="2200" b="0" i="1" smtClean="0">
                          <a:latin typeface="Cambria Math" panose="02040503050406030204" pitchFamily="18" charset="0"/>
                        </a:rPr>
                        <m:t>=</m:t>
                      </m:r>
                      <m:sSup>
                        <m:sSupPr>
                          <m:ctrlPr>
                            <a:rPr lang="es-MX" sz="2200" b="0" i="1" smtClean="0">
                              <a:latin typeface="Cambria Math" panose="02040503050406030204" pitchFamily="18" charset="0"/>
                            </a:rPr>
                          </m:ctrlPr>
                        </m:sSupPr>
                        <m:e>
                          <m:r>
                            <a:rPr lang="es-MX" sz="2200" b="0" i="1" smtClean="0">
                              <a:latin typeface="Cambria Math" panose="02040503050406030204" pitchFamily="18" charset="0"/>
                            </a:rPr>
                            <m:t>2</m:t>
                          </m:r>
                        </m:e>
                        <m:sup>
                          <m:d>
                            <m:dPr>
                              <m:begChr m:val="|"/>
                              <m:endChr m:val="|"/>
                              <m:ctrlPr>
                                <a:rPr lang="es-MX" sz="2200" b="0" i="1" smtClean="0">
                                  <a:latin typeface="Cambria Math" panose="02040503050406030204" pitchFamily="18" charset="0"/>
                                </a:rPr>
                              </m:ctrlPr>
                            </m:dPr>
                            <m:e>
                              <m:r>
                                <a:rPr lang="es-MX" sz="2200" i="1">
                                  <a:latin typeface="Cambria Math" panose="02040503050406030204" pitchFamily="18" charset="0"/>
                                  <a:ea typeface="Cambria Math" panose="02040503050406030204" pitchFamily="18" charset="0"/>
                                </a:rPr>
                                <m:t>∅</m:t>
                              </m:r>
                            </m:e>
                          </m:d>
                        </m:sup>
                      </m:sSup>
                      <m:r>
                        <a:rPr lang="es-MX" sz="2200" b="0" i="1" smtClean="0">
                          <a:latin typeface="Cambria Math" panose="02040503050406030204" pitchFamily="18" charset="0"/>
                        </a:rPr>
                        <m:t>=</m:t>
                      </m:r>
                      <m:sSup>
                        <m:sSupPr>
                          <m:ctrlPr>
                            <a:rPr lang="es-MX" sz="2200" b="0" i="1" smtClean="0">
                              <a:latin typeface="Cambria Math" panose="02040503050406030204" pitchFamily="18" charset="0"/>
                            </a:rPr>
                          </m:ctrlPr>
                        </m:sSupPr>
                        <m:e>
                          <m:r>
                            <a:rPr lang="es-MX" sz="2200" b="0" i="1" smtClean="0">
                              <a:latin typeface="Cambria Math" panose="02040503050406030204" pitchFamily="18" charset="0"/>
                            </a:rPr>
                            <m:t>2</m:t>
                          </m:r>
                        </m:e>
                        <m:sup>
                          <m:r>
                            <a:rPr lang="es-MX" sz="2200" b="0" i="1" smtClean="0">
                              <a:latin typeface="Cambria Math" panose="02040503050406030204" pitchFamily="18" charset="0"/>
                            </a:rPr>
                            <m:t>0</m:t>
                          </m:r>
                        </m:sup>
                      </m:sSup>
                      <m:r>
                        <a:rPr lang="es-MX" sz="2200" b="0" i="1" smtClean="0">
                          <a:latin typeface="Cambria Math" panose="02040503050406030204" pitchFamily="18" charset="0"/>
                        </a:rPr>
                        <m:t>=</m:t>
                      </m:r>
                      <m:r>
                        <a:rPr lang="es-MX" sz="2200" b="0" i="1" smtClean="0">
                          <a:latin typeface="Cambria Math" panose="02040503050406030204" pitchFamily="18" charset="0"/>
                        </a:rPr>
                        <m:t>1</m:t>
                      </m:r>
                    </m:oMath>
                  </m:oMathPara>
                </a14:m>
                <a:endParaRPr lang="es-CO" sz="2200" dirty="0"/>
              </a:p>
              <a:p>
                <a:endParaRPr lang="es-MX" sz="2200" dirty="0">
                  <a:latin typeface="+mn-lt"/>
                  <a:ea typeface="Roboto" panose="02000000000000000000" pitchFamily="2" charset="0"/>
                </a:endParaRPr>
              </a:p>
              <a:p>
                <a:r>
                  <a:rPr lang="es-MX" sz="2200" dirty="0">
                    <a:latin typeface="+mn-lt"/>
                    <a:ea typeface="Roboto" panose="02000000000000000000" pitchFamily="2" charset="0"/>
                  </a:rPr>
                  <a:t>Finalmente, el </a:t>
                </a:r>
                <a14:m>
                  <m:oMath xmlns:m="http://schemas.openxmlformats.org/officeDocument/2006/math">
                    <m:r>
                      <a:rPr lang="es-MX" sz="2200" i="1" smtClean="0">
                        <a:latin typeface="Cambria Math" panose="02040503050406030204" pitchFamily="18" charset="0"/>
                        <a:ea typeface="Cambria Math" panose="02040503050406030204" pitchFamily="18" charset="0"/>
                      </a:rPr>
                      <m:t>𝒫</m:t>
                    </m:r>
                    <m:r>
                      <a:rPr lang="es-MX" sz="2200" i="1" smtClean="0">
                        <a:latin typeface="Cambria Math" panose="02040503050406030204" pitchFamily="18" charset="0"/>
                        <a:ea typeface="Cambria Math" panose="02040503050406030204" pitchFamily="18" charset="0"/>
                      </a:rPr>
                      <m:t>(∅)</m:t>
                    </m:r>
                  </m:oMath>
                </a14:m>
                <a:r>
                  <a:rPr lang="es-MX" sz="2200" dirty="0">
                    <a:latin typeface="+mn-lt"/>
                    <a:ea typeface="Roboto" panose="02000000000000000000" pitchFamily="2" charset="0"/>
                  </a:rPr>
                  <a:t> esta formado por:</a:t>
                </a:r>
              </a:p>
              <a:p>
                <a:pPr marL="127000" indent="0">
                  <a:buNone/>
                </a:pPr>
                <a:endParaRPr lang="es-MX" sz="2200" b="0" i="1" dirty="0">
                  <a:latin typeface="Cambria Math" panose="02040503050406030204" pitchFamily="18" charset="0"/>
                </a:endParaRPr>
              </a:p>
              <a:p>
                <a:pPr marL="127000" indent="0">
                  <a:buNone/>
                </a:pPr>
                <a14:m>
                  <m:oMathPara xmlns:m="http://schemas.openxmlformats.org/officeDocument/2006/math">
                    <m:oMathParaPr>
                      <m:jc m:val="centerGroup"/>
                    </m:oMathParaPr>
                    <m:oMath xmlns:m="http://schemas.openxmlformats.org/officeDocument/2006/math">
                      <m:d>
                        <m:dPr>
                          <m:begChr m:val="|"/>
                          <m:endChr m:val="|"/>
                          <m:ctrlPr>
                            <a:rPr lang="es-MX" sz="2200" b="0" i="1" smtClean="0">
                              <a:latin typeface="Cambria Math" panose="02040503050406030204" pitchFamily="18" charset="0"/>
                            </a:rPr>
                          </m:ctrlPr>
                        </m:dPr>
                        <m:e>
                          <m:r>
                            <a:rPr lang="es-MX" sz="2200" i="1">
                              <a:latin typeface="Cambria Math" panose="02040503050406030204" pitchFamily="18" charset="0"/>
                              <a:ea typeface="Cambria Math" panose="02040503050406030204" pitchFamily="18" charset="0"/>
                            </a:rPr>
                            <m:t>𝒫</m:t>
                          </m:r>
                          <m:r>
                            <a:rPr lang="es-MX" sz="2200" i="1">
                              <a:latin typeface="Cambria Math" panose="02040503050406030204" pitchFamily="18" charset="0"/>
                              <a:ea typeface="Cambria Math" panose="02040503050406030204" pitchFamily="18" charset="0"/>
                            </a:rPr>
                            <m:t>(∅)</m:t>
                          </m:r>
                        </m:e>
                      </m:d>
                      <m:r>
                        <a:rPr lang="es-MX" sz="2200" b="0" i="1" smtClean="0">
                          <a:latin typeface="Cambria Math" panose="02040503050406030204" pitchFamily="18" charset="0"/>
                        </a:rPr>
                        <m:t>=</m:t>
                      </m:r>
                      <m:d>
                        <m:dPr>
                          <m:begChr m:val="{"/>
                          <m:endChr m:val="}"/>
                          <m:ctrlPr>
                            <a:rPr lang="es-MX" sz="2200" b="0" i="1" smtClean="0">
                              <a:latin typeface="Cambria Math" panose="02040503050406030204" pitchFamily="18" charset="0"/>
                            </a:rPr>
                          </m:ctrlPr>
                        </m:dPr>
                        <m:e>
                          <m:r>
                            <a:rPr lang="es-MX" sz="2200" b="0" i="1" smtClean="0">
                              <a:latin typeface="Cambria Math" panose="02040503050406030204" pitchFamily="18" charset="0"/>
                            </a:rPr>
                            <m:t>∅</m:t>
                          </m:r>
                        </m:e>
                      </m:d>
                      <m:r>
                        <a:rPr lang="es-MX" sz="2200" b="0" i="1" smtClean="0">
                          <a:latin typeface="Cambria Math" panose="02040503050406030204" pitchFamily="18" charset="0"/>
                        </a:rPr>
                        <m:t> </m:t>
                      </m:r>
                    </m:oMath>
                  </m:oMathPara>
                </a14:m>
                <a:endParaRPr lang="es-CO" sz="2200" dirty="0"/>
              </a:p>
              <a:p>
                <a:pPr marL="127000" indent="0">
                  <a:buNone/>
                </a:pPr>
                <a:endParaRPr lang="es-MX" sz="2200" dirty="0">
                  <a:latin typeface="+mn-lt"/>
                  <a:ea typeface="Roboto" panose="02000000000000000000" pitchFamily="2" charset="0"/>
                </a:endParaRPr>
              </a:p>
              <a:p>
                <a:pPr marL="127000" indent="0">
                  <a:buNone/>
                </a:pPr>
                <a:endParaRPr lang="es-MX" sz="2200" b="1" dirty="0">
                  <a:latin typeface="+mn-lt"/>
                  <a:ea typeface="Roboto" panose="02000000000000000000" pitchFamily="2" charset="0"/>
                </a:endParaRPr>
              </a:p>
              <a:p>
                <a:endParaRPr lang="es-MX" sz="2200" dirty="0">
                  <a:latin typeface="+mn-lt"/>
                  <a:ea typeface="Roboto" panose="02000000000000000000" pitchFamily="2" charset="0"/>
                </a:endParaRPr>
              </a:p>
            </p:txBody>
          </p:sp>
        </mc:Choice>
        <mc:Fallback>
          <p:sp>
            <p:nvSpPr>
              <p:cNvPr id="5" name="Google Shape;310;p34">
                <a:extLst>
                  <a:ext uri="{FF2B5EF4-FFF2-40B4-BE49-F238E27FC236}">
                    <a16:creationId xmlns:a16="http://schemas.microsoft.com/office/drawing/2014/main" id="{F102D340-F804-4113-9FEB-9A4128546791}"/>
                  </a:ext>
                </a:extLst>
              </p:cNvPr>
              <p:cNvSpPr txBox="1">
                <a:spLocks noRot="1" noChangeAspect="1" noMove="1" noResize="1" noEditPoints="1" noAdjustHandles="1" noChangeArrowheads="1" noChangeShapeType="1" noTextEdit="1"/>
              </p:cNvSpPr>
              <p:nvPr/>
            </p:nvSpPr>
            <p:spPr>
              <a:xfrm>
                <a:off x="367376" y="1045538"/>
                <a:ext cx="11474655" cy="3659197"/>
              </a:xfrm>
              <a:prstGeom prst="rect">
                <a:avLst/>
              </a:prstGeom>
              <a:blipFill>
                <a:blip r:embed="rId2"/>
                <a:stretch>
                  <a:fillRect/>
                </a:stretch>
              </a:blipFill>
              <a:ln>
                <a:noFill/>
              </a:ln>
            </p:spPr>
            <p:txBody>
              <a:bodyPr/>
              <a:lstStyle/>
              <a:p>
                <a:r>
                  <a:rPr lang="es-CO">
                    <a:noFill/>
                  </a:rPr>
                  <a:t> </a:t>
                </a:r>
              </a:p>
            </p:txBody>
          </p:sp>
        </mc:Fallback>
      </mc:AlternateContent>
    </p:spTree>
    <p:extLst>
      <p:ext uri="{BB962C8B-B14F-4D97-AF65-F5344CB8AC3E}">
        <p14:creationId xmlns:p14="http://schemas.microsoft.com/office/powerpoint/2010/main" val="269638940"/>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28124</TotalTime>
  <Words>3598</Words>
  <Application>Microsoft Office PowerPoint</Application>
  <PresentationFormat>Panorámica</PresentationFormat>
  <Paragraphs>573</Paragraphs>
  <Slides>47</Slides>
  <Notes>33</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47</vt:i4>
      </vt:variant>
    </vt:vector>
  </HeadingPairs>
  <TitlesOfParts>
    <vt:vector size="55" baseType="lpstr">
      <vt:lpstr>Consolas</vt:lpstr>
      <vt:lpstr>Roboto Slab</vt:lpstr>
      <vt:lpstr>Arial</vt:lpstr>
      <vt:lpstr>Calibri</vt:lpstr>
      <vt:lpstr>Calibri Light</vt:lpstr>
      <vt:lpstr>Cambria Math</vt:lpstr>
      <vt:lpstr>Roboto</vt:lpstr>
      <vt:lpstr>Tema de Office</vt:lpstr>
      <vt:lpstr> Matemáticas Discretas I</vt:lpstr>
      <vt:lpstr>Introducción - Contextualización</vt:lpstr>
      <vt:lpstr>Introducción - Contextualización</vt:lpstr>
      <vt:lpstr>Presentación de PowerPoint</vt:lpstr>
      <vt:lpstr>Presentación de PowerPoint</vt:lpstr>
      <vt:lpstr>Introducción – El origen de los conjuntos</vt:lpstr>
      <vt:lpstr>Introducción – Para qué sirven los conjuntos</vt:lpstr>
      <vt:lpstr>Conceptos básicos – Conjunto y Elemento</vt:lpstr>
      <vt:lpstr>Conceptos básicos – Notación básica</vt:lpstr>
      <vt:lpstr>Conceptos básicos – Representación de conjuntos</vt:lpstr>
      <vt:lpstr>Conceptos básicos – Representación de conjuntos</vt:lpstr>
      <vt:lpstr>Representación por extensión (set-roster)</vt:lpstr>
      <vt:lpstr>Representación por comprensión (set-builder)</vt:lpstr>
      <vt:lpstr>Representación - Comparación</vt:lpstr>
      <vt:lpstr>Conceptos básicos - Ejemplos</vt:lpstr>
      <vt:lpstr>Conceptos básicos - Ejemplos</vt:lpstr>
      <vt:lpstr>Conceptos básicos – Representación grafica</vt:lpstr>
      <vt:lpstr>Conceptos básicos –Diagrama de Venn</vt:lpstr>
      <vt:lpstr>Conceptos básicos – Diagramas de Venn</vt:lpstr>
      <vt:lpstr>Relaciones entre conjuntos</vt:lpstr>
      <vt:lpstr>Igualdad entre conjuntos</vt:lpstr>
      <vt:lpstr>Igualdad entre conjuntos</vt:lpstr>
      <vt:lpstr>Igualdad entre conjuntos</vt:lpstr>
      <vt:lpstr>Subconjuntos</vt:lpstr>
      <vt:lpstr>Subconjuntos</vt:lpstr>
      <vt:lpstr>Subconjuntos</vt:lpstr>
      <vt:lpstr>Subconjuntos</vt:lpstr>
      <vt:lpstr>Subconjunto propio</vt:lpstr>
      <vt:lpstr>Subconjunto propio</vt:lpstr>
      <vt:lpstr>Relaciones entre conjuntos – En términos de subconjuntos  </vt:lpstr>
      <vt:lpstr>Relaciones entre conjuntos - En términos de subconjuntos </vt:lpstr>
      <vt:lpstr>Relaciones entre conjuntos - En términos de subconjuntos </vt:lpstr>
      <vt:lpstr>Relaciones entre conjuntos – Conjuntos disyuntos</vt:lpstr>
      <vt:lpstr>Tipos de conjuntos - Clasificación</vt:lpstr>
      <vt:lpstr>Tipos de conjuntos – Conjunto vacío</vt:lpstr>
      <vt:lpstr>Tipos de conjuntos – Conjunto vacío</vt:lpstr>
      <vt:lpstr>Tipos de conjuntos – Conjuntos finito</vt:lpstr>
      <vt:lpstr>Tipos de conjuntos – Conjunto infinito</vt:lpstr>
      <vt:lpstr>Tipos de conjuntos – Conjunto unitario</vt:lpstr>
      <vt:lpstr>Tipos de conjuntos – Conjunto universal</vt:lpstr>
      <vt:lpstr>Tipos de conjuntos – Conjunto homogéneo</vt:lpstr>
      <vt:lpstr>Tipos de conjuntos – Conjunto heterogéneo</vt:lpstr>
      <vt:lpstr>Cardinalidad de un conjunto</vt:lpstr>
      <vt:lpstr>Cardinalidad de un conjunto</vt:lpstr>
      <vt:lpstr>Tipos de conjuntos – Conjunto potencia</vt:lpstr>
      <vt:lpstr>Tipos de conjuntos – Conjunto potencia</vt:lpstr>
      <vt:lpstr>Tipos de conjuntos – Conjunto potencia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Curso Matemáticas Discretas I</dc:title>
  <dc:creator>Usuario</dc:creator>
  <cp:lastModifiedBy>HENRY ALBERTO ARCILA RAMIREZ</cp:lastModifiedBy>
  <cp:revision>372</cp:revision>
  <dcterms:modified xsi:type="dcterms:W3CDTF">2026-10-09T14:56:11Z</dcterms:modified>
</cp:coreProperties>
</file>