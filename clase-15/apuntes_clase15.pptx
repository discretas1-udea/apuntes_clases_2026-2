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 id="2147483712" r:id="rId2"/>
  </p:sldMasterIdLst>
  <p:notesMasterIdLst>
    <p:notesMasterId r:id="rId42"/>
  </p:notesMasterIdLst>
  <p:sldIdLst>
    <p:sldId id="256" r:id="rId3"/>
    <p:sldId id="717" r:id="rId4"/>
    <p:sldId id="618" r:id="rId5"/>
    <p:sldId id="614" r:id="rId6"/>
    <p:sldId id="615" r:id="rId7"/>
    <p:sldId id="616" r:id="rId8"/>
    <p:sldId id="619" r:id="rId9"/>
    <p:sldId id="617" r:id="rId10"/>
    <p:sldId id="491" r:id="rId11"/>
    <p:sldId id="585" r:id="rId12"/>
    <p:sldId id="716" r:id="rId13"/>
    <p:sldId id="678" r:id="rId14"/>
    <p:sldId id="679" r:id="rId15"/>
    <p:sldId id="718" r:id="rId16"/>
    <p:sldId id="613" r:id="rId17"/>
    <p:sldId id="593" r:id="rId18"/>
    <p:sldId id="676" r:id="rId19"/>
    <p:sldId id="621" r:id="rId20"/>
    <p:sldId id="622" r:id="rId21"/>
    <p:sldId id="623" r:id="rId22"/>
    <p:sldId id="624" r:id="rId23"/>
    <p:sldId id="681" r:id="rId24"/>
    <p:sldId id="682" r:id="rId25"/>
    <p:sldId id="719" r:id="rId26"/>
    <p:sldId id="720" r:id="rId27"/>
    <p:sldId id="721" r:id="rId28"/>
    <p:sldId id="625" r:id="rId29"/>
    <p:sldId id="626" r:id="rId30"/>
    <p:sldId id="627" r:id="rId31"/>
    <p:sldId id="629" r:id="rId32"/>
    <p:sldId id="631" r:id="rId33"/>
    <p:sldId id="632" r:id="rId34"/>
    <p:sldId id="633" r:id="rId35"/>
    <p:sldId id="634" r:id="rId36"/>
    <p:sldId id="635" r:id="rId37"/>
    <p:sldId id="636" r:id="rId38"/>
    <p:sldId id="637" r:id="rId39"/>
    <p:sldId id="638" r:id="rId40"/>
    <p:sldId id="639" r:id="rId41"/>
  </p:sldIdLst>
  <p:sldSz cx="12192000" cy="6858000"/>
  <p:notesSz cx="6858000" cy="9144000"/>
  <p:embeddedFontLst>
    <p:embeddedFont>
      <p:font typeface="Calibri" panose="020F0502020204030204" pitchFamily="34" charset="0"/>
      <p:regular r:id="rId43"/>
      <p:bold r:id="rId44"/>
      <p:italic r:id="rId45"/>
      <p:boldItalic r:id="rId46"/>
    </p:embeddedFont>
    <p:embeddedFont>
      <p:font typeface="Calibri Light" panose="020F0302020204030204" pitchFamily="34" charset="0"/>
      <p:regular r:id="rId47"/>
      <p:italic r:id="rId48"/>
    </p:embeddedFont>
    <p:embeddedFont>
      <p:font typeface="Cambria Math" panose="02040503050406030204" pitchFamily="18" charset="0"/>
      <p:regular r:id="rId49"/>
    </p:embeddedFont>
    <p:embeddedFont>
      <p:font typeface="Consolas" panose="020B0609020204030204" pitchFamily="49" charset="0"/>
      <p:regular r:id="rId50"/>
      <p:bold r:id="rId51"/>
      <p:italic r:id="rId52"/>
      <p:boldItalic r:id="rId53"/>
    </p:embeddedFont>
    <p:embeddedFont>
      <p:font typeface="Roboto" panose="02000000000000000000" pitchFamily="2" charset="0"/>
      <p:regular r:id="rId54"/>
      <p:bold r:id="rId55"/>
      <p:italic r:id="rId56"/>
      <p:boldItalic r:id="rId57"/>
    </p:embeddedFont>
    <p:embeddedFont>
      <p:font typeface="Roboto Slab" panose="020B0604020202020204" charset="0"/>
      <p:regular r:id="rId58"/>
      <p:bold r:id="rId59"/>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6A3598-7CB8-4345-8D95-17CE05F158A0}">
  <a:tblStyle styleId="{AD6A3598-7CB8-4345-8D95-17CE05F15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56" autoAdjust="0"/>
    <p:restoredTop sz="88950" autoAdjust="0"/>
  </p:normalViewPr>
  <p:slideViewPr>
    <p:cSldViewPr snapToGrid="0">
      <p:cViewPr varScale="1">
        <p:scale>
          <a:sx n="61" d="100"/>
          <a:sy n="61" d="100"/>
        </p:scale>
        <p:origin x="10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8" Type="http://schemas.openxmlformats.org/officeDocument/2006/relationships/slide" Target="slides/slide6.xml"/><Relationship Id="rId51"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59" Type="http://schemas.openxmlformats.org/officeDocument/2006/relationships/font" Target="fonts/font1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2.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1608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0381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38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6275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1555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8702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187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46160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274627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258441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924090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738704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088104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139724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5258363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2074840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142176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761706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940702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4752873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200733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9416986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2791103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4044253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3564703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2459377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9001634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0488471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3913422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4846798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142531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1067445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51139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5040741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783384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2946307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9013762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605862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197931-88D2-48EC-BDFD-C8C3C5166BD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8679D90-F057-4BD5-83C0-DDC6EE211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2C13BD3-4696-4B09-8A88-F3994E7C744A}"/>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FF285628-4B07-48C3-A0F4-63457190B1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2DA6BEC-6DF4-4166-BD89-B2E0A39B701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16564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D74B2C-17C9-4AA4-9668-F80AC962E69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258D9D8-9866-4269-8D7D-807856891CC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E009FBE-E524-4470-9FCD-AEB4BE30699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944FB710-71F8-4468-A8D3-4E66EDFF901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3AD742D-28B3-4CCB-96B9-49F1E45104F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9180487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24E514-96C5-4BA6-8853-8FD23DBA49B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CB46064-8B93-4EDC-9C8C-E62E5E204D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B64F67B-C4F9-4EEE-B654-135E40590AE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D642D2EB-0949-472E-B96E-7077F243965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8BF961-D28F-480C-A33B-2D90830F358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855607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D49851-BE79-4814-B324-7A715144F00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B8196A1-DDE1-4352-9C3D-A0CD29769B4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370082F4-C4BC-4497-8E38-2AAC216C98E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41CBF39F-7AC4-42AD-8BED-FB13480278B0}"/>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32CD1E40-2EDD-42B2-8717-B610AA70C44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C650591-7D21-4F93-B6A8-04637AA5290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258791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A18ABB-EB85-46DB-94FC-5071555A8DD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20E644E-2C94-4905-A3B3-39494B91F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91FDA4E-3792-47ED-A324-BE4AB193A7A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7BAA52EB-49DC-417B-A1D3-7E5D77F55D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6D28227-5811-416F-8EB6-97579857349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13328A4A-DB4B-4AF3-A5E0-7FDD49D01449}"/>
              </a:ext>
            </a:extLst>
          </p:cNvPr>
          <p:cNvSpPr>
            <a:spLocks noGrp="1"/>
          </p:cNvSpPr>
          <p:nvPr>
            <p:ph type="dt" sz="half" idx="10"/>
          </p:nvPr>
        </p:nvSpPr>
        <p:spPr/>
        <p:txBody>
          <a:bodyPr/>
          <a:lstStyle/>
          <a:p>
            <a:endParaRPr lang="es-CO"/>
          </a:p>
        </p:txBody>
      </p:sp>
      <p:sp>
        <p:nvSpPr>
          <p:cNvPr id="8" name="Marcador de pie de página 7">
            <a:extLst>
              <a:ext uri="{FF2B5EF4-FFF2-40B4-BE49-F238E27FC236}">
                <a16:creationId xmlns:a16="http://schemas.microsoft.com/office/drawing/2014/main" id="{8760E545-7BCF-40CB-8EA9-E2B4649257E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089E4DE-3B1B-4798-B272-2678EA5F2E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193544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87F13F-4B41-424E-B1EA-AD2F1961BB7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A0B4F20C-7C18-429B-BBC6-F1E1923258DF}"/>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D3DD1AD9-50A0-4CE3-8023-232BC37E16F2}"/>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0C54793-A555-45AF-9D0F-A5E3604809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069583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0C75C98-5CC7-41D3-8B42-1FBCC7B8604E}"/>
              </a:ext>
            </a:extLst>
          </p:cNvPr>
          <p:cNvSpPr>
            <a:spLocks noGrp="1"/>
          </p:cNvSpPr>
          <p:nvPr>
            <p:ph type="dt" sz="half" idx="10"/>
          </p:nvPr>
        </p:nvSpPr>
        <p:spPr/>
        <p:txBody>
          <a:bodyPr/>
          <a:lstStyle/>
          <a:p>
            <a:endParaRPr lang="es-CO"/>
          </a:p>
        </p:txBody>
      </p:sp>
      <p:sp>
        <p:nvSpPr>
          <p:cNvPr id="3" name="Marcador de pie de página 2">
            <a:extLst>
              <a:ext uri="{FF2B5EF4-FFF2-40B4-BE49-F238E27FC236}">
                <a16:creationId xmlns:a16="http://schemas.microsoft.com/office/drawing/2014/main" id="{A4F9A19D-8546-4DB7-943E-A6C40975FE6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E834467-C085-4B5F-A2D6-1D111E7B63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29740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15EE5-EEA6-4207-BAC5-8F00A701829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FEC8231-695B-4518-9BF7-E97F512387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2354B8A-1CBC-41E0-A9E8-5FB2EDDB22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4F94055-E401-4C0E-938D-614524727DC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83E66432-8574-4009-93CD-B90204AD67C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6F7A7D2-9509-468B-B64D-B399F9DB32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49093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419B6-6D50-4A22-8E95-82EE8602FE7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EF31C67-83EC-4E09-A025-68611B0A31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88D1882C-D761-4343-B07D-229B12E86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EC2773-E284-4FB7-96DB-FA2355335C5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D2179AA4-7DC2-4E0C-97DC-8A68C1379C7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407F01C-D4A8-4D86-8512-8420DA1E163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2001385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C9AA4-F3E2-4CC2-A284-905F19ECAC4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6CBEBAE-E35C-4899-864F-A5E0E8FF563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2D712-9AB0-4144-8F48-C505B6253E0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CD14778D-63AC-4546-B99B-D4A982BAA4F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B497614-F0BD-4E0B-BF9D-789914892D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315041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CF5863-9BB8-4C9A-9E37-8A7D97BE2D6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6A67F6-87AB-4DD7-B3BC-A39896F4C89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7C8C0A3-B3A6-4C11-B5E9-3F6DDA9113A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30C6C295-0416-473F-848C-AC3B030A9B1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9718280-2589-4855-81D4-C63D086CD7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75146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UdeA-Nueva 1">
  <p:cSld name="UdeA-Nueva 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
        <p:nvSpPr>
          <p:cNvPr id="29" name="Google Shape;29;p3"/>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0" name="Google Shape;30;p3"/>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31" name="Google Shape;31;p3"/>
          <p:cNvSpPr/>
          <p:nvPr/>
        </p:nvSpPr>
        <p:spPr>
          <a:xfrm rot="5400000">
            <a:off x="-3061973" y="3062100"/>
            <a:ext cx="6858000" cy="7338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32" name="Google Shape;32;p3"/>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3" name="Google Shape;33;p3"/>
          <p:cNvSpPr/>
          <p:nvPr/>
        </p:nvSpPr>
        <p:spPr>
          <a:xfrm>
            <a:off x="11347918" y="6390907"/>
            <a:ext cx="178200" cy="1782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 name="Google Shape;34;p3"/>
          <p:cNvSpPr/>
          <p:nvPr/>
        </p:nvSpPr>
        <p:spPr>
          <a:xfrm>
            <a:off x="11042181" y="6386352"/>
            <a:ext cx="178200" cy="1782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5" name="Google Shape;35;p3"/>
          <p:cNvSpPr/>
          <p:nvPr/>
        </p:nvSpPr>
        <p:spPr>
          <a:xfrm>
            <a:off x="10736444" y="6390907"/>
            <a:ext cx="178200" cy="1782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637107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deA-Nueva 1 1 1">
  <p:cSld name="UdeA-Nueva 1 1 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pic>
        <p:nvPicPr>
          <p:cNvPr id="54" name="Google Shape;54;p5"/>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55" name="Google Shape;55;p5"/>
          <p:cNvSpPr/>
          <p:nvPr/>
        </p:nvSpPr>
        <p:spPr>
          <a:xfrm rot="5400000">
            <a:off x="-3061973" y="3062100"/>
            <a:ext cx="6858000" cy="7338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56" name="Google Shape;56;p5"/>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7" name="Google Shape;57;p5"/>
          <p:cNvSpPr/>
          <p:nvPr/>
        </p:nvSpPr>
        <p:spPr>
          <a:xfrm>
            <a:off x="11347918" y="6390907"/>
            <a:ext cx="178200" cy="1782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8" name="Google Shape;58;p5"/>
          <p:cNvSpPr/>
          <p:nvPr/>
        </p:nvSpPr>
        <p:spPr>
          <a:xfrm>
            <a:off x="11042181" y="6386352"/>
            <a:ext cx="178200" cy="1782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9" name="Google Shape;59;p5"/>
          <p:cNvSpPr/>
          <p:nvPr/>
        </p:nvSpPr>
        <p:spPr>
          <a:xfrm>
            <a:off x="10736444" y="6390907"/>
            <a:ext cx="178200" cy="1782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40233359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pic>
        <p:nvPicPr>
          <p:cNvPr id="42" name="Google Shape;42;p4"/>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43" name="Google Shape;43;p4"/>
          <p:cNvSpPr/>
          <p:nvPr/>
        </p:nvSpPr>
        <p:spPr>
          <a:xfrm rot="5400000">
            <a:off x="-3061973" y="3062100"/>
            <a:ext cx="6858000" cy="7338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44" name="Google Shape;44;p4"/>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5" name="Google Shape;45;p4"/>
          <p:cNvSpPr/>
          <p:nvPr/>
        </p:nvSpPr>
        <p:spPr>
          <a:xfrm>
            <a:off x="11347918" y="6390907"/>
            <a:ext cx="178200" cy="1782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 name="Google Shape;46;p4"/>
          <p:cNvSpPr/>
          <p:nvPr/>
        </p:nvSpPr>
        <p:spPr>
          <a:xfrm>
            <a:off x="11042181" y="6386352"/>
            <a:ext cx="178200" cy="1782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 name="Google Shape;47;p4"/>
          <p:cNvSpPr/>
          <p:nvPr/>
        </p:nvSpPr>
        <p:spPr>
          <a:xfrm>
            <a:off x="10736444" y="6390907"/>
            <a:ext cx="178200" cy="1782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929626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AFFE9A-A417-49FE-A689-B6B8F3B54EC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9BCDE3CE-5C25-4D75-B1E8-601BEC3A03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DB345CD-D978-4478-86BC-D30AA7FBC1FA}"/>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5DC4F2C3-5846-4BF1-BF74-D719F20ED64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F26BDC5-4CF2-4362-A1B1-95A8F091472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216940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9A81F-D782-459B-9ECA-C8FDBF74991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921949F-F43D-46BA-86DB-C41ED300D85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2556E40-33B4-4D2F-981F-683E38BEE269}"/>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C65510E2-C9EA-4244-8E3E-A653DDCA037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BC446CF-C75D-4425-9864-F4E0E9E4809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14304726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D6096A-9154-428C-BEAF-F27AA61904D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A21B222-E0E5-4A28-AC65-8D33E8BE94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E95E541-A600-44BB-B03C-8EA9AEB6E911}"/>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82F69A72-44C3-4CD7-8632-80B9AA39726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259939E-D8BF-4ED0-A96D-3C075B2013A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6030417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B7F495-F900-4084-90A3-D03A6FC8413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5921C08-4321-4B88-9527-6CA32B0AE20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46EB8F8-B48E-4CEA-98BE-A6F0A26049E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9CD3F49-4699-400C-B4ED-75F4623461EC}"/>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DE1A9E01-2AE3-4296-A89B-8A3BFA4FF57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A787672-B2D9-4540-BF33-5D0395983C2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7157385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AFC7F4-25A0-4091-948A-B3250DD7E4B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9B30B18-65A3-49DF-AB28-57C2927166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404E654-9BBC-4536-8629-0EB08F46303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3A19DF87-A8F4-458D-AE8D-A32220B131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4147DCC-131E-4CDF-B129-CAD0F7EEA3C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3E467E3A-7505-492B-9A0D-F5BE19CA0334}"/>
              </a:ext>
            </a:extLst>
          </p:cNvPr>
          <p:cNvSpPr>
            <a:spLocks noGrp="1"/>
          </p:cNvSpPr>
          <p:nvPr>
            <p:ph type="dt" sz="half" idx="10"/>
          </p:nvPr>
        </p:nvSpPr>
        <p:spPr/>
        <p:txBody>
          <a:bodyPr/>
          <a:lstStyle/>
          <a:p>
            <a:endParaRPr lang="es-CO"/>
          </a:p>
        </p:txBody>
      </p:sp>
      <p:sp>
        <p:nvSpPr>
          <p:cNvPr id="8" name="Marcador de pie de página 7">
            <a:extLst>
              <a:ext uri="{FF2B5EF4-FFF2-40B4-BE49-F238E27FC236}">
                <a16:creationId xmlns:a16="http://schemas.microsoft.com/office/drawing/2014/main" id="{02D965C2-14E2-448C-90E9-8084B12F4684}"/>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CDEC7A39-E8BD-402A-B0B5-C0422375CB0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8101086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A00798-7608-4077-8891-B7E9818E72F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117429B-9DFB-4A22-AD34-A206B023A1BE}"/>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079D6513-9725-4CBB-BC5E-5B57B0E3418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41A5A103-AAFF-48E8-BCE4-C606863DB2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127100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1AC886D-5DAD-4EBF-ABDF-0D6D50361229}"/>
              </a:ext>
            </a:extLst>
          </p:cNvPr>
          <p:cNvSpPr>
            <a:spLocks noGrp="1"/>
          </p:cNvSpPr>
          <p:nvPr>
            <p:ph type="dt" sz="half" idx="10"/>
          </p:nvPr>
        </p:nvSpPr>
        <p:spPr/>
        <p:txBody>
          <a:bodyPr/>
          <a:lstStyle/>
          <a:p>
            <a:endParaRPr lang="es-CO"/>
          </a:p>
        </p:txBody>
      </p:sp>
      <p:sp>
        <p:nvSpPr>
          <p:cNvPr id="3" name="Marcador de pie de página 2">
            <a:extLst>
              <a:ext uri="{FF2B5EF4-FFF2-40B4-BE49-F238E27FC236}">
                <a16:creationId xmlns:a16="http://schemas.microsoft.com/office/drawing/2014/main" id="{BE76F4A8-8066-48C2-9DC1-9181C20C4802}"/>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B1D8469B-A72C-4E36-82EE-4D0EB2BAFDF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0033214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DD3618-A05A-44A6-B4CC-4C374C18C8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F3121F3-EF8A-4ED7-8718-67DDE198FA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C449BBE3-A17A-4762-B3AB-D43BF29D8E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B607123-93A8-4D4C-B404-A444FAA2A429}"/>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1E23344E-0C4D-4A07-AC26-2080E087308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E9CBE4F-8891-4273-9EF2-688C1C91EAD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42105532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4AAF77-186F-4730-A135-F23727E2E39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64436F4C-1038-497F-9430-0E48278F5A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680645CA-97ED-400F-8B73-37F9C995A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48EADD-F282-4E9E-9F6D-6AC3A71FA720}"/>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F2B1FF73-BD0D-4136-9544-FD0C1F7F222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2E67645-D4E4-4AFB-A797-89F025DCD4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541429856"/>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B7FAB-D592-490F-AB1D-B83BE9A013F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E6A8C98-F81D-4BD7-BA72-3D711A4F5BD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2E0E42C-1CFC-40E8-BB7A-AF4E25B6D96F}"/>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BF6BF48B-8518-4C75-A0E6-D82580A3FCA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BDA933D-073A-4157-8588-6B7B9DF3C35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6920926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080420E-76BF-4145-B1EC-805FAE4502C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06A5153-DD80-4362-8834-C3E356F6257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8D883B-914C-4858-89D9-C6F153D21601}"/>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AAB43954-EE32-4BB8-8BBE-B0634096F6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D9C55D8-E6B3-4A1F-9738-C7B7C54503B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7733163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UdeA-Nueva 1 1 1">
  <p:cSld name="UdeA-Nueva 1 1 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5173348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287615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1E7B29E-FD20-45CE-B6B9-11DBA95B4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6E3B48-B3F4-480E-AA13-7F98C293F8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C5C6A56-744E-406A-A3F4-EB0DB79BF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a:extLst>
              <a:ext uri="{FF2B5EF4-FFF2-40B4-BE49-F238E27FC236}">
                <a16:creationId xmlns:a16="http://schemas.microsoft.com/office/drawing/2014/main" id="{6AFCF1F0-6C88-47BC-ABAB-E51E406569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87FB6FA-3336-4974-922C-505465D63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81927930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9" r:id="rId12"/>
    <p:sldLayoutId id="2147483710" r:id="rId13"/>
    <p:sldLayoutId id="2147483711"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C0DC71A-3361-40A9-B642-F4482181AA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42EF320-A41C-4D87-ACA2-ADF742E0BD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DFCA02E-F067-4D87-867B-DDDA684C4F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a:extLst>
              <a:ext uri="{FF2B5EF4-FFF2-40B4-BE49-F238E27FC236}">
                <a16:creationId xmlns:a16="http://schemas.microsoft.com/office/drawing/2014/main" id="{A138B066-89C7-426A-B233-DA4FF62CF8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018512A4-01C6-40E0-A0BA-EEAB89FA06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28321289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6.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12"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6.xml"/><Relationship Id="rId6" Type="http://schemas.openxmlformats.org/officeDocument/2006/relationships/image" Target="../media/image14.png"/><Relationship Id="rId11" Type="http://schemas.openxmlformats.org/officeDocument/2006/relationships/image" Target="../media/image10.png"/><Relationship Id="rId5" Type="http://schemas.openxmlformats.org/officeDocument/2006/relationships/image" Target="../media/image13.jpeg"/><Relationship Id="rId10" Type="http://schemas.openxmlformats.org/officeDocument/2006/relationships/image" Target="../media/image18.png"/><Relationship Id="rId4" Type="http://schemas.openxmlformats.org/officeDocument/2006/relationships/image" Target="../media/image11.jpe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www.manning.com/books/grokking-algorithms-second-edition" TargetMode="External"/><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6.xml"/><Relationship Id="rId6" Type="http://schemas.openxmlformats.org/officeDocument/2006/relationships/image" Target="../media/image22.jpeg"/><Relationship Id="rId5" Type="http://schemas.openxmlformats.org/officeDocument/2006/relationships/image" Target="../media/image21.jpeg"/><Relationship Id="rId10" Type="http://schemas.openxmlformats.org/officeDocument/2006/relationships/image" Target="../media/image26.png"/><Relationship Id="rId4" Type="http://schemas.openxmlformats.org/officeDocument/2006/relationships/image" Target="../media/image20.jpe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hyperlink" Target="https://www.manning.com/books/grokking-algorithms-second-edition" TargetMode="External"/><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6.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10.png"/><Relationship Id="rId10" Type="http://schemas.openxmlformats.org/officeDocument/2006/relationships/image" Target="../media/image31.png"/><Relationship Id="rId4" Type="http://schemas.openxmlformats.org/officeDocument/2006/relationships/image" Target="../media/image2.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hyperlink" Target="https://pythontutor.com/visualize.html#code=%23%20Red%20social%20representada%20como%20lista%20de%20adyacencia%20%28diccionario%20de%20listas%29%3A%0A%23%20cada%20llave%20es%20una%20persona%20y%20su%20lista%20contiene%20a%20quienes%20conoce%20directamente.%0Agraph%20%3D%20%7B%7D%0Agraph%5B%22you%22%5D%20%3D%20%5B%22alice%22,%20%22bob%22,%20%22claire%22%5D%0Agraph%5B%22bob%22%5D%20%3D%20%5B%22anuj%22,%20%22peggy%22%5D%0Agraph%5B%22alice%22%5D%20%3D%20%5B%22peggy%22%5D%0Agraph%5B%22claire%22%5D%20%3D%20%5B%22thom%22,%20%22jonny%22%5D%0Agraph%5B%22anuj%22%5D%20%3D%20%5B%5D%0Agraph%5B%22peggy%22%5D%20%3D%20%5B%5D%0Agraph%5B%22thom%22%5D%20%3D%20%5B%5D%0Agraph%5B%22jonny%22%5D%20%3D%20%5B%5D%0A%0A%23%20La%20misma%20relaci%C3%B3n%20como%20conjunto%20de%20pares%20ordenados%3A%20R%20%E2%8A%86%20Personas%20%C3%97%20Personas.%0A%23%20Se%20lee%3A%20%22para%20cada%20persona%20x%20y%20cada%20persona%20y%20de%20la%20lista%20de%20x,%20el%20par%20%28x,%20y%29%20est%C3%A1%20en%20R%22,%0A%23%20es%20decir,%20R%20%3D%20%7B%28x,%20y%29%20%7C%20y%20est%C3%A1%20en%20la%20lista%20de%20contactos%20de%20x%7D.%0AR%20%3D%20%7B%28x,%20y%29%20for%20x%20in%20graph%20for%20y%20in%20graph%5Bx%5D%7D%0A%0A%23%20Un%20set%20no%20garantiza%20orden%20al%20imprimir%3B%20sorted%28%29%20da%20siempre%20la%20misma%20salida.%0Aprint%28sorted%28R%29%29%0Aprint%28len%28R%29%29%20%20%23%20n%C3%BAmero%20de%20pares%20de%20la%20relaci%C3%B3n%20%28aristas%20del%20grafo%29&amp;curInstr=0&amp;mode=display&amp;origin=opt-frontend.js&amp;py=311" TargetMode="External"/><Relationship Id="rId3" Type="http://schemas.openxmlformats.org/officeDocument/2006/relationships/hyperlink" Target="https://www.manning.com/books/grokking-algorithms-second-edition" TargetMode="External"/><Relationship Id="rId7"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6.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hyperlink" Target="https://github.com/egonSchiele/grokking_algorithms/blob/master/06_breadth-first_search/python/01_breadth-first_search.py"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57.png"/><Relationship Id="rId5" Type="http://schemas.openxmlformats.org/officeDocument/2006/relationships/image" Target="../media/image56.jpeg"/><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27.xml"/><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27.xml"/><Relationship Id="rId4" Type="http://schemas.openxmlformats.org/officeDocument/2006/relationships/image" Target="../media/image61.png"/></Relationships>
</file>

<file path=ppt/slides/_rels/slide1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27.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1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9.xml"/><Relationship Id="rId1" Type="http://schemas.openxmlformats.org/officeDocument/2006/relationships/slideLayout" Target="../slideLayouts/slideLayout2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2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0.xml"/><Relationship Id="rId1" Type="http://schemas.openxmlformats.org/officeDocument/2006/relationships/slideLayout" Target="../slideLayouts/slideLayout27.xml"/><Relationship Id="rId5" Type="http://schemas.openxmlformats.org/officeDocument/2006/relationships/image" Target="../media/image78.png"/><Relationship Id="rId4" Type="http://schemas.openxmlformats.org/officeDocument/2006/relationships/image" Target="../media/image77.png"/></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1.xml"/><Relationship Id="rId1" Type="http://schemas.openxmlformats.org/officeDocument/2006/relationships/slideLayout" Target="../slideLayouts/slideLayout27.xml"/><Relationship Id="rId6" Type="http://schemas.openxmlformats.org/officeDocument/2006/relationships/image" Target="../media/image82.jpeg"/><Relationship Id="rId5" Type="http://schemas.openxmlformats.org/officeDocument/2006/relationships/image" Target="../media/image81.jpeg"/><Relationship Id="rId4" Type="http://schemas.openxmlformats.org/officeDocument/2006/relationships/image" Target="../media/image80.jpeg"/></Relationships>
</file>

<file path=ppt/slides/_rels/slide2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16.xml"/><Relationship Id="rId4" Type="http://schemas.openxmlformats.org/officeDocument/2006/relationships/image" Target="../media/image85.png"/></Relationships>
</file>

<file path=ppt/slides/_rels/slide2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image" Target="../media/image87.png"/></Relationships>
</file>

<file path=ppt/slides/_rels/slide2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89.png"/></Relationships>
</file>

<file path=ppt/slides/_rels/slide2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6.xml"/><Relationship Id="rId1" Type="http://schemas.openxmlformats.org/officeDocument/2006/relationships/slideLayout" Target="../slideLayouts/slideLayout16.xml"/><Relationship Id="rId4" Type="http://schemas.openxmlformats.org/officeDocument/2006/relationships/image" Target="../media/image91.png"/></Relationships>
</file>

<file path=ppt/slides/_rels/slide2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7.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notesSlide" Target="../notesSlides/notesSlide28.xml"/><Relationship Id="rId1" Type="http://schemas.openxmlformats.org/officeDocument/2006/relationships/slideLayout" Target="../slideLayouts/slideLayout27.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9" Type="http://schemas.openxmlformats.org/officeDocument/2006/relationships/hyperlink" Target="https://pythontutor.com/visualize.html#code=A%20%3D%20%7B1,%202,%203,%204%7D%0AR%20%3D%20%7B%28a,%20b%29%20for%20a%20in%20A%20for%20b%20in%20A%20if%20b%20%25%20a%20%3D%3D%200%7D%0Aprint%28R%29&amp;curInstr=0&amp;mode=display&amp;origin=opt-frontend.js&amp;py=311"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27.xml"/><Relationship Id="rId6" Type="http://schemas.openxmlformats.org/officeDocument/2006/relationships/hyperlink" Target="https://pythontutor.com/visualize.html#code=A%20%3D%20set%28range%281,%2013%29%29%0AR%20%3D%20%7B%28x,%20x%20%25%2012%20%2B%201%29%20for%20x%20in%20A%7D%0Aprint%28R%29&amp;curInstr=0&amp;mode=display&amp;origin=opt-frontend.js&amp;py=311" TargetMode="External"/><Relationship Id="rId5" Type="http://schemas.openxmlformats.org/officeDocument/2006/relationships/image" Target="../media/image98.jpeg"/><Relationship Id="rId4" Type="http://schemas.openxmlformats.org/officeDocument/2006/relationships/image" Target="../media/image830.png"/></Relationships>
</file>

<file path=ppt/slides/_rels/slide3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0.xml"/><Relationship Id="rId1" Type="http://schemas.openxmlformats.org/officeDocument/2006/relationships/slideLayout" Target="../slideLayouts/slideLayout27.xml"/><Relationship Id="rId4" Type="http://schemas.openxmlformats.org/officeDocument/2006/relationships/image" Target="../media/image100.png"/></Relationships>
</file>

<file path=ppt/slides/_rels/slide31.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notesSlide" Target="../notesSlides/notesSlide31.xml"/><Relationship Id="rId1" Type="http://schemas.openxmlformats.org/officeDocument/2006/relationships/slideLayout" Target="../slideLayouts/slideLayout27.xml"/><Relationship Id="rId6" Type="http://schemas.openxmlformats.org/officeDocument/2006/relationships/image" Target="../media/image910.png"/><Relationship Id="rId5" Type="http://schemas.openxmlformats.org/officeDocument/2006/relationships/image" Target="../media/image900.png"/><Relationship Id="rId4" Type="http://schemas.openxmlformats.org/officeDocument/2006/relationships/image" Target="../media/image880.png"/></Relationships>
</file>

<file path=ppt/slides/_rels/slide32.xml.rels><?xml version="1.0" encoding="UTF-8" standalone="yes"?>
<Relationships xmlns="http://schemas.openxmlformats.org/package/2006/relationships"><Relationship Id="rId8" Type="http://schemas.openxmlformats.org/officeDocument/2006/relationships/image" Target="../media/image970.png"/><Relationship Id="rId13" Type="http://schemas.openxmlformats.org/officeDocument/2006/relationships/image" Target="../media/image102.png"/><Relationship Id="rId18" Type="http://schemas.openxmlformats.org/officeDocument/2006/relationships/image" Target="../media/image107.png"/><Relationship Id="rId3" Type="http://schemas.openxmlformats.org/officeDocument/2006/relationships/image" Target="../media/image920.png"/><Relationship Id="rId7" Type="http://schemas.openxmlformats.org/officeDocument/2006/relationships/image" Target="../media/image960.png"/><Relationship Id="rId12" Type="http://schemas.openxmlformats.org/officeDocument/2006/relationships/image" Target="../media/image1010.png"/><Relationship Id="rId17" Type="http://schemas.openxmlformats.org/officeDocument/2006/relationships/image" Target="../media/image106.png"/><Relationship Id="rId2" Type="http://schemas.openxmlformats.org/officeDocument/2006/relationships/notesSlide" Target="../notesSlides/notesSlide32.xml"/><Relationship Id="rId16" Type="http://schemas.openxmlformats.org/officeDocument/2006/relationships/image" Target="../media/image105.png"/><Relationship Id="rId1" Type="http://schemas.openxmlformats.org/officeDocument/2006/relationships/slideLayout" Target="../slideLayouts/slideLayout27.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04.png"/><Relationship Id="rId10" Type="http://schemas.openxmlformats.org/officeDocument/2006/relationships/image" Target="../media/image990.png"/><Relationship Id="rId4" Type="http://schemas.openxmlformats.org/officeDocument/2006/relationships/image" Target="../media/image101.png"/><Relationship Id="rId9" Type="http://schemas.openxmlformats.org/officeDocument/2006/relationships/image" Target="../media/image98.png"/><Relationship Id="rId14" Type="http://schemas.openxmlformats.org/officeDocument/2006/relationships/image" Target="../media/image103.png"/></Relationships>
</file>

<file path=ppt/slides/_rels/slide3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33.xml"/><Relationship Id="rId1" Type="http://schemas.openxmlformats.org/officeDocument/2006/relationships/slideLayout" Target="../slideLayouts/slideLayout27.xml"/><Relationship Id="rId5" Type="http://schemas.openxmlformats.org/officeDocument/2006/relationships/image" Target="../media/image110.png"/><Relationship Id="rId4" Type="http://schemas.openxmlformats.org/officeDocument/2006/relationships/image" Target="../media/image109.png"/></Relationships>
</file>

<file path=ppt/slides/_rels/slide34.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18" Type="http://schemas.openxmlformats.org/officeDocument/2006/relationships/image" Target="../media/image125.png"/><Relationship Id="rId26" Type="http://schemas.openxmlformats.org/officeDocument/2006/relationships/image" Target="../media/image133.png"/><Relationship Id="rId3" Type="http://schemas.openxmlformats.org/officeDocument/2006/relationships/image" Target="../media/image111.png"/><Relationship Id="rId21" Type="http://schemas.openxmlformats.org/officeDocument/2006/relationships/image" Target="../media/image128.png"/><Relationship Id="rId7" Type="http://schemas.openxmlformats.org/officeDocument/2006/relationships/image" Target="../media/image114.png"/><Relationship Id="rId12" Type="http://schemas.openxmlformats.org/officeDocument/2006/relationships/image" Target="../media/image119.png"/><Relationship Id="rId17" Type="http://schemas.openxmlformats.org/officeDocument/2006/relationships/image" Target="../media/image124.png"/><Relationship Id="rId25" Type="http://schemas.openxmlformats.org/officeDocument/2006/relationships/image" Target="../media/image132.png"/><Relationship Id="rId2" Type="http://schemas.openxmlformats.org/officeDocument/2006/relationships/notesSlide" Target="../notesSlides/notesSlide34.xml"/><Relationship Id="rId16" Type="http://schemas.openxmlformats.org/officeDocument/2006/relationships/image" Target="../media/image123.png"/><Relationship Id="rId20" Type="http://schemas.openxmlformats.org/officeDocument/2006/relationships/image" Target="../media/image127.png"/><Relationship Id="rId29" Type="http://schemas.openxmlformats.org/officeDocument/2006/relationships/image" Target="../media/image136.png"/><Relationship Id="rId1" Type="http://schemas.openxmlformats.org/officeDocument/2006/relationships/slideLayout" Target="../slideLayouts/slideLayout27.xml"/><Relationship Id="rId6" Type="http://schemas.openxmlformats.org/officeDocument/2006/relationships/image" Target="../media/image113.png"/><Relationship Id="rId11" Type="http://schemas.openxmlformats.org/officeDocument/2006/relationships/image" Target="../media/image118.png"/><Relationship Id="rId24" Type="http://schemas.openxmlformats.org/officeDocument/2006/relationships/image" Target="../media/image131.png"/><Relationship Id="rId5" Type="http://schemas.openxmlformats.org/officeDocument/2006/relationships/image" Target="../media/image112.png"/><Relationship Id="rId15" Type="http://schemas.openxmlformats.org/officeDocument/2006/relationships/image" Target="../media/image122.png"/><Relationship Id="rId23" Type="http://schemas.openxmlformats.org/officeDocument/2006/relationships/image" Target="../media/image130.png"/><Relationship Id="rId28" Type="http://schemas.openxmlformats.org/officeDocument/2006/relationships/image" Target="../media/image135.png"/><Relationship Id="rId10" Type="http://schemas.openxmlformats.org/officeDocument/2006/relationships/image" Target="../media/image117.png"/><Relationship Id="rId19" Type="http://schemas.openxmlformats.org/officeDocument/2006/relationships/image" Target="../media/image126.png"/><Relationship Id="rId4" Type="http://schemas.openxmlformats.org/officeDocument/2006/relationships/image" Target="../media/image101.png"/><Relationship Id="rId9" Type="http://schemas.openxmlformats.org/officeDocument/2006/relationships/image" Target="../media/image116.png"/><Relationship Id="rId14" Type="http://schemas.openxmlformats.org/officeDocument/2006/relationships/image" Target="../media/image121.png"/><Relationship Id="rId22" Type="http://schemas.openxmlformats.org/officeDocument/2006/relationships/image" Target="../media/image129.png"/><Relationship Id="rId27" Type="http://schemas.openxmlformats.org/officeDocument/2006/relationships/image" Target="../media/image134.png"/></Relationships>
</file>

<file path=ppt/slides/_rels/slide3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36.xml"/><Relationship Id="rId1" Type="http://schemas.openxmlformats.org/officeDocument/2006/relationships/slideLayout" Target="../slideLayouts/slideLayout27.xml"/><Relationship Id="rId6" Type="http://schemas.openxmlformats.org/officeDocument/2006/relationships/image" Target="../media/image141.png"/><Relationship Id="rId11" Type="http://schemas.openxmlformats.org/officeDocument/2006/relationships/image" Target="../media/image146.png"/><Relationship Id="rId5" Type="http://schemas.openxmlformats.org/officeDocument/2006/relationships/image" Target="../media/image140.png"/><Relationship Id="rId10" Type="http://schemas.openxmlformats.org/officeDocument/2006/relationships/image" Target="../media/image145.png"/><Relationship Id="rId4" Type="http://schemas.openxmlformats.org/officeDocument/2006/relationships/image" Target="../media/image139.png"/><Relationship Id="rId9" Type="http://schemas.openxmlformats.org/officeDocument/2006/relationships/image" Target="../media/image144.png"/></Relationships>
</file>

<file path=ppt/slides/_rels/slide3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7.xml"/><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3" Type="http://schemas.openxmlformats.org/officeDocument/2006/relationships/image" Target="../media/image148.png"/><Relationship Id="rId7" Type="http://schemas.openxmlformats.org/officeDocument/2006/relationships/image" Target="../media/image152.png"/><Relationship Id="rId2" Type="http://schemas.openxmlformats.org/officeDocument/2006/relationships/notesSlide" Target="../notesSlides/notesSlide38.xml"/><Relationship Id="rId1" Type="http://schemas.openxmlformats.org/officeDocument/2006/relationships/slideLayout" Target="../slideLayouts/slideLayout27.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s>
</file>

<file path=ppt/slides/_rels/slide3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9.xml"/><Relationship Id="rId1" Type="http://schemas.openxmlformats.org/officeDocument/2006/relationships/slideLayout" Target="../slideLayouts/slideLayout27.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08724" y="2964875"/>
            <a:ext cx="11021275" cy="922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chemeClr val="lt1"/>
              </a:buClr>
              <a:buSzPts val="2800"/>
              <a:buFont typeface="Roboto Slab"/>
              <a:buNone/>
            </a:pPr>
            <a:endParaRPr sz="3200" b="1" dirty="0">
              <a:solidFill>
                <a:schemeClr val="dk1"/>
              </a:solidFill>
              <a:latin typeface="Arial"/>
              <a:ea typeface="Arial"/>
              <a:cs typeface="Arial"/>
              <a:sym typeface="Arial"/>
            </a:endParaRPr>
          </a:p>
          <a:p>
            <a:pPr marL="0" lvl="0" indent="0" rtl="0">
              <a:spcBef>
                <a:spcPts val="0"/>
              </a:spcBef>
              <a:spcAft>
                <a:spcPts val="0"/>
              </a:spcAft>
              <a:buClr>
                <a:schemeClr val="lt1"/>
              </a:buClr>
              <a:buSzPts val="2800"/>
              <a:buFont typeface="Roboto Slab"/>
              <a:buNone/>
            </a:pPr>
            <a:r>
              <a:rPr lang="es-ES" b="1" dirty="0"/>
              <a:t>Matemáticas Discretas I</a:t>
            </a:r>
            <a:endParaRPr sz="3200" b="1" dirty="0"/>
          </a:p>
        </p:txBody>
      </p:sp>
      <p:sp>
        <p:nvSpPr>
          <p:cNvPr id="140" name="Google Shape;140;p17"/>
          <p:cNvSpPr txBox="1">
            <a:spLocks noGrp="1"/>
          </p:cNvSpPr>
          <p:nvPr>
            <p:ph type="subTitle" idx="1"/>
          </p:nvPr>
        </p:nvSpPr>
        <p:spPr>
          <a:xfrm>
            <a:off x="1524000" y="3602038"/>
            <a:ext cx="9144000" cy="2404624"/>
          </a:xfrm>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sz="3600" b="1" dirty="0"/>
              <a:t>Clase 15 – Relaciones (Parte 1) </a:t>
            </a:r>
          </a:p>
          <a:p>
            <a:pPr marL="0" lvl="0" indent="0" algn="ctr" rtl="0">
              <a:spcBef>
                <a:spcPts val="1000"/>
              </a:spcBef>
              <a:spcAft>
                <a:spcPts val="0"/>
              </a:spcAft>
              <a:buNone/>
            </a:pPr>
            <a:r>
              <a:rPr lang="es-CO" sz="2800" dirty="0"/>
              <a:t>Universidad de Antioquia</a:t>
            </a:r>
          </a:p>
          <a:p>
            <a:r>
              <a:rPr lang="es-CO" sz="2800" dirty="0"/>
              <a:t>Facultad de Ingeniería</a:t>
            </a:r>
          </a:p>
          <a:p>
            <a:r>
              <a:rPr lang="es-CO" sz="2800" dirty="0"/>
              <a:t>Ingeniería de Sistemas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95605" y="169005"/>
            <a:ext cx="8304000" cy="949500"/>
          </a:xfrm>
        </p:spPr>
        <p:txBody>
          <a:bodyPr/>
          <a:lstStyle/>
          <a:p>
            <a:r>
              <a:rPr lang="es-CO" dirty="0">
                <a:solidFill>
                  <a:schemeClr val="tx1"/>
                </a:solidFill>
                <a:latin typeface="+mj-lt"/>
              </a:rPr>
              <a:t>Objetivos</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295605" y="1119790"/>
            <a:ext cx="11670423" cy="230921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400" dirty="0">
                <a:solidFill>
                  <a:schemeClr val="tx1"/>
                </a:solidFill>
                <a:latin typeface="+mn-lt"/>
                <a:ea typeface="Roboto" panose="02000000000000000000" pitchFamily="2" charset="0"/>
              </a:rPr>
              <a:t>Al terminar la clase, se espera que usted se encuentre en la capacidad de:</a:t>
            </a:r>
          </a:p>
          <a:p>
            <a:r>
              <a:rPr lang="es-MX" sz="2400" dirty="0"/>
              <a:t>Definir una relación como subconjunto de un producto cartesiano </a:t>
            </a:r>
          </a:p>
          <a:p>
            <a:r>
              <a:rPr lang="es-MX" sz="2400" dirty="0"/>
              <a:t>Determinar el dominio, el rango y la inversa de una relación </a:t>
            </a:r>
          </a:p>
          <a:p>
            <a:r>
              <a:rPr lang="es-MX" sz="2400" dirty="0"/>
              <a:t>Reconocer cuándo una relación es una función</a:t>
            </a:r>
            <a:endParaRPr lang="es-MX" sz="3200" dirty="0">
              <a:solidFill>
                <a:schemeClr val="tx1"/>
              </a:solidFill>
              <a:latin typeface="+mn-lt"/>
              <a:ea typeface="Roboto" panose="02000000000000000000" pitchFamily="2" charset="0"/>
            </a:endParaRPr>
          </a:p>
        </p:txBody>
      </p:sp>
      <p:pic>
        <p:nvPicPr>
          <p:cNvPr id="10" name="Picture 6">
            <a:extLst>
              <a:ext uri="{FF2B5EF4-FFF2-40B4-BE49-F238E27FC236}">
                <a16:creationId xmlns:a16="http://schemas.microsoft.com/office/drawing/2014/main" id="{53899BDE-F0AB-4115-9381-15B0197292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058" y="4018483"/>
            <a:ext cx="5088416" cy="201970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62F3E2E5-C48D-4B4A-92A9-1CF518E9A6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8475" y="3796742"/>
            <a:ext cx="4136573" cy="2726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30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95605" y="169005"/>
            <a:ext cx="8304000" cy="949500"/>
          </a:xfrm>
        </p:spPr>
        <p:txBody>
          <a:bodyPr/>
          <a:lstStyle/>
          <a:p>
            <a:r>
              <a:rPr lang="es-CO" dirty="0">
                <a:solidFill>
                  <a:schemeClr val="tx1"/>
                </a:solidFill>
                <a:latin typeface="+mj-lt"/>
              </a:rPr>
              <a:t>Introducción</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224801" y="887741"/>
            <a:ext cx="11600790" cy="97957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800" b="1" dirty="0">
                <a:solidFill>
                  <a:schemeClr val="tx1"/>
                </a:solidFill>
                <a:latin typeface="+mn-lt"/>
                <a:ea typeface="Roboto" panose="02000000000000000000" pitchFamily="2" charset="0"/>
              </a:rPr>
              <a:t>Las relaciones estructuran nuestro mundo.</a:t>
            </a:r>
          </a:p>
          <a:p>
            <a:pPr marL="127000" indent="0">
              <a:buNone/>
            </a:pPr>
            <a:r>
              <a:rPr lang="es-MX" sz="2000" b="1" dirty="0"/>
              <a:t>¿Qué tienen en común estas imágenes?</a:t>
            </a:r>
            <a:r>
              <a:rPr lang="es-MX" sz="2000" dirty="0"/>
              <a:t> En todas hay elementos que se conectan de a pares.</a:t>
            </a:r>
            <a:endParaRPr lang="es-MX" sz="2800" b="1" dirty="0">
              <a:solidFill>
                <a:schemeClr val="tx1"/>
              </a:solidFill>
              <a:latin typeface="+mn-lt"/>
              <a:ea typeface="Roboto" panose="02000000000000000000" pitchFamily="2" charset="0"/>
            </a:endParaRPr>
          </a:p>
        </p:txBody>
      </p:sp>
      <p:pic>
        <p:nvPicPr>
          <p:cNvPr id="1034" name="Picture 10" descr="The Simpsons Family Tree : r/TheSimpsons">
            <a:extLst>
              <a:ext uri="{FF2B5EF4-FFF2-40B4-BE49-F238E27FC236}">
                <a16:creationId xmlns:a16="http://schemas.microsoft.com/office/drawing/2014/main" id="{DAAE07AC-EE90-4AC0-B91F-D0D847B14A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88" y="2003731"/>
            <a:ext cx="3984465" cy="358601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DA0BAD1B-7BBE-4D21-A083-6DA8C8AF28EF}"/>
              </a:ext>
            </a:extLst>
          </p:cNvPr>
          <p:cNvPicPr>
            <a:picLocks noChangeAspect="1"/>
          </p:cNvPicPr>
          <p:nvPr/>
        </p:nvPicPr>
        <p:blipFill>
          <a:blip r:embed="rId4"/>
          <a:stretch>
            <a:fillRect/>
          </a:stretch>
        </p:blipFill>
        <p:spPr>
          <a:xfrm>
            <a:off x="5169327" y="4305858"/>
            <a:ext cx="2748958" cy="2170803"/>
          </a:xfrm>
          <a:prstGeom prst="rect">
            <a:avLst/>
          </a:prstGeom>
        </p:spPr>
      </p:pic>
      <p:pic>
        <p:nvPicPr>
          <p:cNvPr id="2070" name="Picture 22" descr="When Lisa becomes a vegetarian : r/TheSimpsons">
            <a:extLst>
              <a:ext uri="{FF2B5EF4-FFF2-40B4-BE49-F238E27FC236}">
                <a16:creationId xmlns:a16="http://schemas.microsoft.com/office/drawing/2014/main" id="{38DC8935-2083-4F0D-B35E-D5864F91E9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4898" y="2123004"/>
            <a:ext cx="2054470" cy="1609604"/>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0BE68836-DAF8-4FE2-BA59-8CBB66262D9C}"/>
              </a:ext>
            </a:extLst>
          </p:cNvPr>
          <p:cNvSpPr txBox="1"/>
          <p:nvPr/>
        </p:nvSpPr>
        <p:spPr>
          <a:xfrm>
            <a:off x="456099" y="5589748"/>
            <a:ext cx="3382129" cy="584775"/>
          </a:xfrm>
          <a:prstGeom prst="rect">
            <a:avLst/>
          </a:prstGeom>
          <a:noFill/>
        </p:spPr>
        <p:txBody>
          <a:bodyPr wrap="square">
            <a:spAutoFit/>
          </a:bodyPr>
          <a:lstStyle/>
          <a:p>
            <a:pPr algn="ctr"/>
            <a:r>
              <a:rPr lang="es-MX" sz="1600" dirty="0"/>
              <a:t>¿cuántas relaciones distintas se ven en el árbol?</a:t>
            </a:r>
            <a:endParaRPr lang="es-CO" sz="1600" dirty="0"/>
          </a:p>
        </p:txBody>
      </p:sp>
      <p:sp>
        <p:nvSpPr>
          <p:cNvPr id="12" name="CuadroTexto 11">
            <a:extLst>
              <a:ext uri="{FF2B5EF4-FFF2-40B4-BE49-F238E27FC236}">
                <a16:creationId xmlns:a16="http://schemas.microsoft.com/office/drawing/2014/main" id="{9228DD52-69A4-4E72-82C0-99F66BB11EE9}"/>
              </a:ext>
            </a:extLst>
          </p:cNvPr>
          <p:cNvSpPr txBox="1"/>
          <p:nvPr/>
        </p:nvSpPr>
        <p:spPr>
          <a:xfrm>
            <a:off x="4447605" y="3784663"/>
            <a:ext cx="1602304" cy="369332"/>
          </a:xfrm>
          <a:prstGeom prst="rect">
            <a:avLst/>
          </a:prstGeom>
          <a:noFill/>
        </p:spPr>
        <p:txBody>
          <a:bodyPr wrap="square">
            <a:spAutoFit/>
          </a:bodyPr>
          <a:lstStyle/>
          <a:p>
            <a:pPr algn="ctr"/>
            <a:r>
              <a:rPr lang="es-CO" b="1" dirty="0"/>
              <a:t>x</a:t>
            </a:r>
            <a:r>
              <a:rPr lang="es-CO" dirty="0"/>
              <a:t> se come a </a:t>
            </a:r>
            <a:r>
              <a:rPr lang="es-CO" b="1" dirty="0"/>
              <a:t>y</a:t>
            </a:r>
          </a:p>
        </p:txBody>
      </p:sp>
      <p:sp>
        <p:nvSpPr>
          <p:cNvPr id="14" name="CuadroTexto 13">
            <a:extLst>
              <a:ext uri="{FF2B5EF4-FFF2-40B4-BE49-F238E27FC236}">
                <a16:creationId xmlns:a16="http://schemas.microsoft.com/office/drawing/2014/main" id="{60F74497-CE74-4E08-AD6E-B9A7FF9FEBE1}"/>
              </a:ext>
            </a:extLst>
          </p:cNvPr>
          <p:cNvSpPr txBox="1"/>
          <p:nvPr/>
        </p:nvSpPr>
        <p:spPr>
          <a:xfrm>
            <a:off x="4930813" y="6439336"/>
            <a:ext cx="3225986" cy="369332"/>
          </a:xfrm>
          <a:prstGeom prst="rect">
            <a:avLst/>
          </a:prstGeom>
          <a:noFill/>
        </p:spPr>
        <p:txBody>
          <a:bodyPr wrap="square">
            <a:spAutoFit/>
          </a:bodyPr>
          <a:lstStyle/>
          <a:p>
            <a:pPr algn="ctr"/>
            <a:r>
              <a:rPr lang="es-MX" b="1" dirty="0"/>
              <a:t>x</a:t>
            </a:r>
            <a:r>
              <a:rPr lang="es-MX" dirty="0"/>
              <a:t> tiene como comida favorita </a:t>
            </a:r>
            <a:r>
              <a:rPr lang="es-MX" b="1" dirty="0"/>
              <a:t>y</a:t>
            </a:r>
            <a:endParaRPr lang="es-CO" b="1" dirty="0"/>
          </a:p>
        </p:txBody>
      </p:sp>
      <p:pic>
        <p:nvPicPr>
          <p:cNvPr id="15" name="Imagen 14">
            <a:extLst>
              <a:ext uri="{FF2B5EF4-FFF2-40B4-BE49-F238E27FC236}">
                <a16:creationId xmlns:a16="http://schemas.microsoft.com/office/drawing/2014/main" id="{F233E1F3-5923-4F3B-A461-520C2BA4AB01}"/>
              </a:ext>
            </a:extLst>
          </p:cNvPr>
          <p:cNvPicPr>
            <a:picLocks noChangeAspect="1"/>
          </p:cNvPicPr>
          <p:nvPr/>
        </p:nvPicPr>
        <p:blipFill>
          <a:blip r:embed="rId6"/>
          <a:stretch>
            <a:fillRect/>
          </a:stretch>
        </p:blipFill>
        <p:spPr>
          <a:xfrm>
            <a:off x="9373233" y="2256309"/>
            <a:ext cx="2362668" cy="3998361"/>
          </a:xfrm>
          <a:prstGeom prst="rect">
            <a:avLst/>
          </a:prstGeom>
        </p:spPr>
      </p:pic>
      <p:pic>
        <p:nvPicPr>
          <p:cNvPr id="16" name="Imagen 15">
            <a:extLst>
              <a:ext uri="{FF2B5EF4-FFF2-40B4-BE49-F238E27FC236}">
                <a16:creationId xmlns:a16="http://schemas.microsoft.com/office/drawing/2014/main" id="{92D4FCC6-C9BD-49D9-90C5-3A4596B760A2}"/>
              </a:ext>
            </a:extLst>
          </p:cNvPr>
          <p:cNvPicPr>
            <a:picLocks noChangeAspect="1"/>
          </p:cNvPicPr>
          <p:nvPr/>
        </p:nvPicPr>
        <p:blipFill>
          <a:blip r:embed="rId7"/>
          <a:stretch>
            <a:fillRect/>
          </a:stretch>
        </p:blipFill>
        <p:spPr>
          <a:xfrm>
            <a:off x="6402973" y="2126011"/>
            <a:ext cx="2617196" cy="1710065"/>
          </a:xfrm>
          <a:prstGeom prst="rect">
            <a:avLst/>
          </a:prstGeom>
        </p:spPr>
      </p:pic>
      <p:sp>
        <p:nvSpPr>
          <p:cNvPr id="17" name="CuadroTexto 16">
            <a:extLst>
              <a:ext uri="{FF2B5EF4-FFF2-40B4-BE49-F238E27FC236}">
                <a16:creationId xmlns:a16="http://schemas.microsoft.com/office/drawing/2014/main" id="{9834CC08-2192-4966-A874-4703017D5346}"/>
              </a:ext>
            </a:extLst>
          </p:cNvPr>
          <p:cNvSpPr txBox="1"/>
          <p:nvPr/>
        </p:nvSpPr>
        <p:spPr>
          <a:xfrm>
            <a:off x="6730736" y="3784663"/>
            <a:ext cx="1961669" cy="369332"/>
          </a:xfrm>
          <a:prstGeom prst="rect">
            <a:avLst/>
          </a:prstGeom>
          <a:noFill/>
        </p:spPr>
        <p:txBody>
          <a:bodyPr wrap="square">
            <a:spAutoFit/>
          </a:bodyPr>
          <a:lstStyle/>
          <a:p>
            <a:pPr algn="ctr"/>
            <a:r>
              <a:rPr lang="es-CO" b="1" dirty="0"/>
              <a:t>x</a:t>
            </a:r>
            <a:r>
              <a:rPr lang="es-CO" dirty="0"/>
              <a:t> es un tipo de </a:t>
            </a:r>
            <a:r>
              <a:rPr lang="es-CO" b="1" dirty="0"/>
              <a:t>y</a:t>
            </a:r>
          </a:p>
        </p:txBody>
      </p:sp>
      <p:sp>
        <p:nvSpPr>
          <p:cNvPr id="18" name="CuadroTexto 17">
            <a:extLst>
              <a:ext uri="{FF2B5EF4-FFF2-40B4-BE49-F238E27FC236}">
                <a16:creationId xmlns:a16="http://schemas.microsoft.com/office/drawing/2014/main" id="{1333E268-04ED-4072-9146-F17EB10FE611}"/>
              </a:ext>
            </a:extLst>
          </p:cNvPr>
          <p:cNvSpPr txBox="1"/>
          <p:nvPr/>
        </p:nvSpPr>
        <p:spPr>
          <a:xfrm>
            <a:off x="9514243" y="6254670"/>
            <a:ext cx="2075000" cy="369332"/>
          </a:xfrm>
          <a:prstGeom prst="rect">
            <a:avLst/>
          </a:prstGeom>
          <a:noFill/>
        </p:spPr>
        <p:txBody>
          <a:bodyPr wrap="square">
            <a:spAutoFit/>
          </a:bodyPr>
          <a:lstStyle/>
          <a:p>
            <a:pPr algn="ctr"/>
            <a:r>
              <a:rPr lang="es-CO" b="1" dirty="0"/>
              <a:t>x</a:t>
            </a:r>
            <a:r>
              <a:rPr lang="es-CO" dirty="0"/>
              <a:t> esta inscrito en </a:t>
            </a:r>
            <a:r>
              <a:rPr lang="es-CO" b="1" dirty="0"/>
              <a:t>y</a:t>
            </a:r>
          </a:p>
        </p:txBody>
      </p:sp>
    </p:spTree>
    <p:extLst>
      <p:ext uri="{BB962C8B-B14F-4D97-AF65-F5344CB8AC3E}">
        <p14:creationId xmlns:p14="http://schemas.microsoft.com/office/powerpoint/2010/main" val="249141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57200" y="96038"/>
            <a:ext cx="8763450" cy="949500"/>
          </a:xfrm>
        </p:spPr>
        <p:txBody>
          <a:bodyPr/>
          <a:lstStyle/>
          <a:p>
            <a:r>
              <a:rPr lang="es-CO" dirty="0">
                <a:solidFill>
                  <a:schemeClr val="tx1"/>
                </a:solidFill>
                <a:latin typeface="+mj-lt"/>
              </a:rPr>
              <a:t>Introducción</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457200" y="993085"/>
            <a:ext cx="9394721" cy="6451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800" b="1" dirty="0">
                <a:solidFill>
                  <a:schemeClr val="tx1"/>
                </a:solidFill>
                <a:latin typeface="+mn-lt"/>
                <a:ea typeface="Roboto" panose="02000000000000000000" pitchFamily="2" charset="0"/>
              </a:rPr>
              <a:t>¿Cómo puedo representar las relaciones?</a:t>
            </a:r>
          </a:p>
        </p:txBody>
      </p:sp>
      <p:pic>
        <p:nvPicPr>
          <p:cNvPr id="8" name="Imagen 7">
            <a:extLst>
              <a:ext uri="{FF2B5EF4-FFF2-40B4-BE49-F238E27FC236}">
                <a16:creationId xmlns:a16="http://schemas.microsoft.com/office/drawing/2014/main" id="{06C7EF0D-AB2A-4F89-AB44-B7F2172CCE01}"/>
              </a:ext>
            </a:extLst>
          </p:cNvPr>
          <p:cNvPicPr>
            <a:picLocks noChangeAspect="1"/>
          </p:cNvPicPr>
          <p:nvPr/>
        </p:nvPicPr>
        <p:blipFill>
          <a:blip r:embed="rId3"/>
          <a:stretch>
            <a:fillRect/>
          </a:stretch>
        </p:blipFill>
        <p:spPr>
          <a:xfrm>
            <a:off x="577272" y="1968388"/>
            <a:ext cx="2611337" cy="4419186"/>
          </a:xfrm>
          <a:prstGeom prst="rect">
            <a:avLst/>
          </a:prstGeom>
        </p:spPr>
      </p:pic>
      <p:grpSp>
        <p:nvGrpSpPr>
          <p:cNvPr id="16" name="Grupo 15">
            <a:extLst>
              <a:ext uri="{FF2B5EF4-FFF2-40B4-BE49-F238E27FC236}">
                <a16:creationId xmlns:a16="http://schemas.microsoft.com/office/drawing/2014/main" id="{07BF43F1-90B4-4DEE-8DAE-53C625E01C73}"/>
              </a:ext>
            </a:extLst>
          </p:cNvPr>
          <p:cNvGrpSpPr/>
          <p:nvPr/>
        </p:nvGrpSpPr>
        <p:grpSpPr>
          <a:xfrm>
            <a:off x="3694609" y="1971989"/>
            <a:ext cx="3652440" cy="4415585"/>
            <a:chOff x="8360505" y="1957313"/>
            <a:chExt cx="3652440" cy="4415585"/>
          </a:xfrm>
        </p:grpSpPr>
        <p:pic>
          <p:nvPicPr>
            <p:cNvPr id="6" name="Imagen 5">
              <a:extLst>
                <a:ext uri="{FF2B5EF4-FFF2-40B4-BE49-F238E27FC236}">
                  <a16:creationId xmlns:a16="http://schemas.microsoft.com/office/drawing/2014/main" id="{F59C7D7E-36B1-4263-A13D-64363745DA65}"/>
                </a:ext>
              </a:extLst>
            </p:cNvPr>
            <p:cNvPicPr>
              <a:picLocks noChangeAspect="1"/>
            </p:cNvPicPr>
            <p:nvPr/>
          </p:nvPicPr>
          <p:blipFill>
            <a:blip r:embed="rId4"/>
            <a:stretch>
              <a:fillRect/>
            </a:stretch>
          </p:blipFill>
          <p:spPr>
            <a:xfrm>
              <a:off x="8360505" y="2167786"/>
              <a:ext cx="3257631" cy="4205112"/>
            </a:xfrm>
            <a:prstGeom prst="rect">
              <a:avLst/>
            </a:prstGeom>
          </p:spPr>
        </p:pic>
        <p:pic>
          <p:nvPicPr>
            <p:cNvPr id="13" name="Picture 12" descr="Math flat icons. Vector colorful ...">
              <a:extLst>
                <a:ext uri="{FF2B5EF4-FFF2-40B4-BE49-F238E27FC236}">
                  <a16:creationId xmlns:a16="http://schemas.microsoft.com/office/drawing/2014/main" id="{A26656B1-4B2E-4537-9265-5A97B9A6B9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06538" y="1957313"/>
              <a:ext cx="606407" cy="60640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Grupo 6">
            <a:extLst>
              <a:ext uri="{FF2B5EF4-FFF2-40B4-BE49-F238E27FC236}">
                <a16:creationId xmlns:a16="http://schemas.microsoft.com/office/drawing/2014/main" id="{2FDE253F-33B9-4912-8522-DD7C80FCF126}"/>
              </a:ext>
            </a:extLst>
          </p:cNvPr>
          <p:cNvGrpSpPr/>
          <p:nvPr/>
        </p:nvGrpSpPr>
        <p:grpSpPr>
          <a:xfrm>
            <a:off x="7928562" y="2031481"/>
            <a:ext cx="3846718" cy="3007830"/>
            <a:chOff x="4083081" y="1927646"/>
            <a:chExt cx="3846718" cy="3007830"/>
          </a:xfrm>
        </p:grpSpPr>
        <p:sp>
          <p:nvSpPr>
            <p:cNvPr id="2" name="CuadroTexto 1">
              <a:extLst>
                <a:ext uri="{FF2B5EF4-FFF2-40B4-BE49-F238E27FC236}">
                  <a16:creationId xmlns:a16="http://schemas.microsoft.com/office/drawing/2014/main" id="{57FC675F-F26A-43AE-A918-6EF3F788A5AD}"/>
                </a:ext>
              </a:extLst>
            </p:cNvPr>
            <p:cNvSpPr txBox="1"/>
            <p:nvPr/>
          </p:nvSpPr>
          <p:spPr>
            <a:xfrm>
              <a:off x="4083081" y="2134709"/>
              <a:ext cx="3608678" cy="2800767"/>
            </a:xfrm>
            <a:prstGeom prst="rect">
              <a:avLst/>
            </a:prstGeom>
            <a:noFill/>
            <a:ln>
              <a:solidFill>
                <a:schemeClr val="tx1"/>
              </a:solidFill>
            </a:ln>
          </p:spPr>
          <p:txBody>
            <a:bodyPr wrap="square" rtlCol="0">
              <a:spAutoFit/>
            </a:bodyPr>
            <a:lstStyle/>
            <a:p>
              <a:r>
                <a:rPr lang="es-CO" sz="1600" dirty="0">
                  <a:latin typeface="Consolas" panose="020B0609020204030204" pitchFamily="49" charset="0"/>
                </a:rPr>
                <a:t>registró materias = {</a:t>
              </a:r>
            </a:p>
            <a:p>
              <a:r>
                <a:rPr lang="es-CO" sz="1600" dirty="0">
                  <a:latin typeface="Consolas" panose="020B0609020204030204" pitchFamily="49" charset="0"/>
                </a:rPr>
                <a:t>    ("Ana", "Cálculo"),</a:t>
              </a:r>
            </a:p>
            <a:p>
              <a:r>
                <a:rPr lang="es-CO" sz="1600" dirty="0">
                  <a:latin typeface="Consolas" panose="020B0609020204030204" pitchFamily="49" charset="0"/>
                </a:rPr>
                <a:t>    ("Ana", "Lógica"),</a:t>
              </a:r>
            </a:p>
            <a:p>
              <a:r>
                <a:rPr lang="es-CO" sz="1600" dirty="0">
                  <a:latin typeface="Consolas" panose="020B0609020204030204" pitchFamily="49" charset="0"/>
                </a:rPr>
                <a:t>    ("Juan", "Lógica"),</a:t>
              </a:r>
            </a:p>
            <a:p>
              <a:r>
                <a:rPr lang="es-CO" sz="1600" dirty="0">
                  <a:latin typeface="Consolas" panose="020B0609020204030204" pitchFamily="49" charset="0"/>
                </a:rPr>
                <a:t>    ("Juan", "Programación"),</a:t>
              </a:r>
            </a:p>
            <a:p>
              <a:r>
                <a:rPr lang="es-CO" sz="1600" dirty="0">
                  <a:latin typeface="Consolas" panose="020B0609020204030204" pitchFamily="49" charset="0"/>
                </a:rPr>
                <a:t>    ("Carla", "Cálculo"),</a:t>
              </a:r>
            </a:p>
            <a:p>
              <a:r>
                <a:rPr lang="es-CO" sz="1600" dirty="0">
                  <a:latin typeface="Consolas" panose="020B0609020204030204" pitchFamily="49" charset="0"/>
                </a:rPr>
                <a:t>    ("Carla", "Programación"),</a:t>
              </a:r>
            </a:p>
            <a:p>
              <a:r>
                <a:rPr lang="es-CO" sz="1600" dirty="0">
                  <a:latin typeface="Consolas" panose="020B0609020204030204" pitchFamily="49" charset="0"/>
                </a:rPr>
                <a:t>    ("Pedro", "Álgebra"),</a:t>
              </a:r>
            </a:p>
            <a:p>
              <a:r>
                <a:rPr lang="es-CO" sz="1600" dirty="0">
                  <a:latin typeface="Consolas" panose="020B0609020204030204" pitchFamily="49" charset="0"/>
                </a:rPr>
                <a:t>    ("Sofía", "Lógica"),</a:t>
              </a:r>
            </a:p>
            <a:p>
              <a:r>
                <a:rPr lang="es-CO" sz="1600" dirty="0">
                  <a:latin typeface="Consolas" panose="020B0609020204030204" pitchFamily="49" charset="0"/>
                </a:rPr>
                <a:t>    ("Sofía", "Álgebra"),</a:t>
              </a:r>
            </a:p>
            <a:p>
              <a:r>
                <a:rPr lang="es-CO" sz="1600" dirty="0">
                  <a:latin typeface="Consolas" panose="020B0609020204030204" pitchFamily="49" charset="0"/>
                </a:rPr>
                <a:t>}</a:t>
              </a:r>
            </a:p>
          </p:txBody>
        </p:sp>
        <p:pic>
          <p:nvPicPr>
            <p:cNvPr id="15" name="Picture 10">
              <a:extLst>
                <a:ext uri="{FF2B5EF4-FFF2-40B4-BE49-F238E27FC236}">
                  <a16:creationId xmlns:a16="http://schemas.microsoft.com/office/drawing/2014/main" id="{227BD87F-794F-4462-A69C-060ECED279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3743" y="1927646"/>
              <a:ext cx="506056" cy="502660"/>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CuadroTexto 11">
            <a:extLst>
              <a:ext uri="{FF2B5EF4-FFF2-40B4-BE49-F238E27FC236}">
                <a16:creationId xmlns:a16="http://schemas.microsoft.com/office/drawing/2014/main" id="{8B4A8658-7DD3-46A9-8493-4F41692A3B97}"/>
              </a:ext>
            </a:extLst>
          </p:cNvPr>
          <p:cNvSpPr txBox="1"/>
          <p:nvPr/>
        </p:nvSpPr>
        <p:spPr>
          <a:xfrm>
            <a:off x="7621260" y="5142017"/>
            <a:ext cx="4191750" cy="1477328"/>
          </a:xfrm>
          <a:prstGeom prst="rect">
            <a:avLst/>
          </a:prstGeom>
          <a:solidFill>
            <a:schemeClr val="bg1">
              <a:lumMod val="95000"/>
            </a:schemeClr>
          </a:solidFill>
        </p:spPr>
        <p:txBody>
          <a:bodyPr wrap="square">
            <a:spAutoFit/>
          </a:bodyPr>
          <a:lstStyle/>
          <a:p>
            <a:pPr marL="285750" indent="-285750">
              <a:buFont typeface="Arial" panose="020B0604020202020204" pitchFamily="34" charset="0"/>
              <a:buChar char="•"/>
            </a:pPr>
            <a:r>
              <a:rPr lang="es-CO" dirty="0"/>
              <a:t>Un conjunto de pares ordenados: en Python, un set de tuplas.</a:t>
            </a:r>
          </a:p>
          <a:p>
            <a:pPr marL="285750" indent="-285750">
              <a:buFont typeface="Arial" panose="020B0604020202020204" pitchFamily="34" charset="0"/>
              <a:buChar char="•"/>
            </a:pPr>
            <a:r>
              <a:rPr lang="es-CO" dirty="0"/>
              <a:t>El orden de las filas no importa y no hay pares repetidos, igual que en un conjunto.</a:t>
            </a:r>
          </a:p>
        </p:txBody>
      </p:sp>
    </p:spTree>
    <p:extLst>
      <p:ext uri="{BB962C8B-B14F-4D97-AF65-F5344CB8AC3E}">
        <p14:creationId xmlns:p14="http://schemas.microsoft.com/office/powerpoint/2010/main" val="1946479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595529" y="271195"/>
            <a:ext cx="8304000" cy="949500"/>
          </a:xfrm>
        </p:spPr>
        <p:txBody>
          <a:bodyPr/>
          <a:lstStyle/>
          <a:p>
            <a:r>
              <a:rPr lang="es-CO" dirty="0">
                <a:latin typeface="+mj-lt"/>
              </a:rPr>
              <a:t>Introducción</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495951" y="1036780"/>
            <a:ext cx="10546281" cy="4924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800" b="1" dirty="0">
                <a:solidFill>
                  <a:schemeClr val="tx1"/>
                </a:solidFill>
                <a:latin typeface="+mn-lt"/>
                <a:ea typeface="Roboto" panose="02000000000000000000" pitchFamily="2" charset="0"/>
              </a:rPr>
              <a:t>¿Como puedo representar las relaciones?</a:t>
            </a:r>
          </a:p>
        </p:txBody>
      </p:sp>
      <p:pic>
        <p:nvPicPr>
          <p:cNvPr id="12" name="Imagen 11">
            <a:extLst>
              <a:ext uri="{FF2B5EF4-FFF2-40B4-BE49-F238E27FC236}">
                <a16:creationId xmlns:a16="http://schemas.microsoft.com/office/drawing/2014/main" id="{C31D6CF1-11DC-4AA1-81EC-D3A4FA230F7C}"/>
              </a:ext>
            </a:extLst>
          </p:cNvPr>
          <p:cNvPicPr>
            <a:picLocks noChangeAspect="1"/>
          </p:cNvPicPr>
          <p:nvPr/>
        </p:nvPicPr>
        <p:blipFill>
          <a:blip r:embed="rId3"/>
          <a:stretch>
            <a:fillRect/>
          </a:stretch>
        </p:blipFill>
        <p:spPr>
          <a:xfrm>
            <a:off x="509862" y="1986280"/>
            <a:ext cx="3448977" cy="2556478"/>
          </a:xfrm>
          <a:prstGeom prst="rect">
            <a:avLst/>
          </a:prstGeom>
        </p:spPr>
      </p:pic>
      <p:grpSp>
        <p:nvGrpSpPr>
          <p:cNvPr id="39" name="Grupo 38">
            <a:extLst>
              <a:ext uri="{FF2B5EF4-FFF2-40B4-BE49-F238E27FC236}">
                <a16:creationId xmlns:a16="http://schemas.microsoft.com/office/drawing/2014/main" id="{FF8D3947-70C5-432D-98CD-980C4BFF8572}"/>
              </a:ext>
            </a:extLst>
          </p:cNvPr>
          <p:cNvGrpSpPr/>
          <p:nvPr/>
        </p:nvGrpSpPr>
        <p:grpSpPr>
          <a:xfrm>
            <a:off x="4074267" y="4931648"/>
            <a:ext cx="4151837" cy="1272925"/>
            <a:chOff x="4321591" y="5475305"/>
            <a:chExt cx="4151837" cy="1272925"/>
          </a:xfrm>
        </p:grpSpPr>
        <p:sp>
          <p:nvSpPr>
            <p:cNvPr id="13" name="CuadroTexto 12">
              <a:extLst>
                <a:ext uri="{FF2B5EF4-FFF2-40B4-BE49-F238E27FC236}">
                  <a16:creationId xmlns:a16="http://schemas.microsoft.com/office/drawing/2014/main" id="{0C964664-07D6-4EF8-A220-BA7D40F97EF5}"/>
                </a:ext>
              </a:extLst>
            </p:cNvPr>
            <p:cNvSpPr txBox="1"/>
            <p:nvPr/>
          </p:nvSpPr>
          <p:spPr>
            <a:xfrm>
              <a:off x="4321591" y="5671012"/>
              <a:ext cx="3906597" cy="1077218"/>
            </a:xfrm>
            <a:prstGeom prst="rect">
              <a:avLst/>
            </a:prstGeom>
            <a:noFill/>
            <a:ln>
              <a:solidFill>
                <a:schemeClr val="tx1"/>
              </a:solidFill>
            </a:ln>
          </p:spPr>
          <p:txBody>
            <a:bodyPr wrap="square" rtlCol="0">
              <a:spAutoFit/>
            </a:bodyPr>
            <a:lstStyle/>
            <a:p>
              <a:r>
                <a:rPr lang="es-CO" sz="1600" dirty="0">
                  <a:latin typeface="Consolas" panose="020B0609020204030204" pitchFamily="49" charset="0"/>
                </a:rPr>
                <a:t>gemelo = {("</a:t>
              </a:r>
              <a:r>
                <a:rPr lang="es-CO" sz="1600" dirty="0" err="1">
                  <a:latin typeface="Consolas" panose="020B0609020204030204" pitchFamily="49" charset="0"/>
                </a:rPr>
                <a:t>Zan</a:t>
              </a:r>
              <a:r>
                <a:rPr lang="es-CO" sz="1600" dirty="0">
                  <a:latin typeface="Consolas" panose="020B0609020204030204" pitchFamily="49" charset="0"/>
                </a:rPr>
                <a:t>", "</a:t>
              </a:r>
              <a:r>
                <a:rPr lang="es-CO" sz="1600" dirty="0" err="1">
                  <a:latin typeface="Consolas" panose="020B0609020204030204" pitchFamily="49" charset="0"/>
                </a:rPr>
                <a:t>Jayna</a:t>
              </a:r>
              <a:r>
                <a:rPr lang="es-CO" sz="1600" dirty="0">
                  <a:latin typeface="Consolas" panose="020B0609020204030204" pitchFamily="49" charset="0"/>
                </a:rPr>
                <a:t>"), </a:t>
              </a:r>
            </a:p>
            <a:p>
              <a:r>
                <a:rPr lang="es-CO" sz="1600" dirty="0">
                  <a:latin typeface="Consolas" panose="020B0609020204030204" pitchFamily="49" charset="0"/>
                </a:rPr>
                <a:t>          ("</a:t>
              </a:r>
              <a:r>
                <a:rPr lang="es-CO" sz="1600" dirty="0" err="1">
                  <a:latin typeface="Consolas" panose="020B0609020204030204" pitchFamily="49" charset="0"/>
                </a:rPr>
                <a:t>Jayna</a:t>
              </a:r>
              <a:r>
                <a:rPr lang="es-CO" sz="1600" dirty="0">
                  <a:latin typeface="Consolas" panose="020B0609020204030204" pitchFamily="49" charset="0"/>
                </a:rPr>
                <a:t>", "</a:t>
              </a:r>
              <a:r>
                <a:rPr lang="es-CO" sz="1600" dirty="0" err="1">
                  <a:latin typeface="Consolas" panose="020B0609020204030204" pitchFamily="49" charset="0"/>
                </a:rPr>
                <a:t>Zan</a:t>
              </a:r>
              <a:r>
                <a:rPr lang="es-CO" sz="1600" dirty="0">
                  <a:latin typeface="Consolas" panose="020B0609020204030204" pitchFamily="49" charset="0"/>
                </a:rPr>
                <a:t>")}</a:t>
              </a:r>
            </a:p>
            <a:p>
              <a:r>
                <a:rPr lang="es-CO" sz="1600" dirty="0" err="1">
                  <a:latin typeface="Consolas" panose="020B0609020204030204" pitchFamily="49" charset="0"/>
                </a:rPr>
                <a:t>mascota_de</a:t>
              </a:r>
              <a:r>
                <a:rPr lang="es-CO" sz="1600" dirty="0">
                  <a:latin typeface="Consolas" panose="020B0609020204030204" pitchFamily="49" charset="0"/>
                </a:rPr>
                <a:t> = {("</a:t>
              </a:r>
              <a:r>
                <a:rPr lang="es-CO" sz="1600" dirty="0" err="1">
                  <a:latin typeface="Consolas" panose="020B0609020204030204" pitchFamily="49" charset="0"/>
                </a:rPr>
                <a:t>Gleek</a:t>
              </a:r>
              <a:r>
                <a:rPr lang="es-CO" sz="1600" dirty="0">
                  <a:latin typeface="Consolas" panose="020B0609020204030204" pitchFamily="49" charset="0"/>
                </a:rPr>
                <a:t>", "</a:t>
              </a:r>
              <a:r>
                <a:rPr lang="es-CO" sz="1600" dirty="0" err="1">
                  <a:latin typeface="Consolas" panose="020B0609020204030204" pitchFamily="49" charset="0"/>
                </a:rPr>
                <a:t>Zan</a:t>
              </a:r>
              <a:r>
                <a:rPr lang="es-CO" sz="1600" dirty="0">
                  <a:latin typeface="Consolas" panose="020B0609020204030204" pitchFamily="49" charset="0"/>
                </a:rPr>
                <a:t>"), </a:t>
              </a:r>
            </a:p>
            <a:p>
              <a:r>
                <a:rPr lang="es-CO" sz="1600" dirty="0">
                  <a:latin typeface="Consolas" panose="020B0609020204030204" pitchFamily="49" charset="0"/>
                </a:rPr>
                <a:t>              ("</a:t>
              </a:r>
              <a:r>
                <a:rPr lang="es-CO" sz="1600" dirty="0" err="1">
                  <a:latin typeface="Consolas" panose="020B0609020204030204" pitchFamily="49" charset="0"/>
                </a:rPr>
                <a:t>Gleek</a:t>
              </a:r>
              <a:r>
                <a:rPr lang="es-CO" sz="1600" dirty="0">
                  <a:latin typeface="Consolas" panose="020B0609020204030204" pitchFamily="49" charset="0"/>
                </a:rPr>
                <a:t>", "</a:t>
              </a:r>
              <a:r>
                <a:rPr lang="es-CO" sz="1600" dirty="0" err="1">
                  <a:latin typeface="Consolas" panose="020B0609020204030204" pitchFamily="49" charset="0"/>
                </a:rPr>
                <a:t>Jayna</a:t>
              </a:r>
              <a:r>
                <a:rPr lang="es-CO" sz="1600" dirty="0">
                  <a:latin typeface="Consolas" panose="020B0609020204030204" pitchFamily="49" charset="0"/>
                </a:rPr>
                <a:t>")}</a:t>
              </a:r>
            </a:p>
          </p:txBody>
        </p:sp>
        <p:pic>
          <p:nvPicPr>
            <p:cNvPr id="3082" name="Picture 10">
              <a:extLst>
                <a:ext uri="{FF2B5EF4-FFF2-40B4-BE49-F238E27FC236}">
                  <a16:creationId xmlns:a16="http://schemas.microsoft.com/office/drawing/2014/main" id="{C893BBB0-968D-4074-8F11-E640F9869B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8514" y="5475305"/>
              <a:ext cx="444914" cy="4419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8" name="Grupo 37">
            <a:extLst>
              <a:ext uri="{FF2B5EF4-FFF2-40B4-BE49-F238E27FC236}">
                <a16:creationId xmlns:a16="http://schemas.microsoft.com/office/drawing/2014/main" id="{D397AB36-1398-440E-A3A6-39C8A2FF8F06}"/>
              </a:ext>
            </a:extLst>
          </p:cNvPr>
          <p:cNvGrpSpPr/>
          <p:nvPr/>
        </p:nvGrpSpPr>
        <p:grpSpPr>
          <a:xfrm>
            <a:off x="495951" y="4955984"/>
            <a:ext cx="3275363" cy="1272925"/>
            <a:chOff x="916650" y="5475305"/>
            <a:chExt cx="3275363" cy="1272925"/>
          </a:xfrm>
        </p:grpSpPr>
        <p:sp>
          <p:nvSpPr>
            <p:cNvPr id="40" name="CuadroTexto 39">
              <a:extLst>
                <a:ext uri="{FF2B5EF4-FFF2-40B4-BE49-F238E27FC236}">
                  <a16:creationId xmlns:a16="http://schemas.microsoft.com/office/drawing/2014/main" id="{4216BD7E-0770-4254-96B6-BA20D57A51E2}"/>
                </a:ext>
              </a:extLst>
            </p:cNvPr>
            <p:cNvSpPr txBox="1"/>
            <p:nvPr/>
          </p:nvSpPr>
          <p:spPr>
            <a:xfrm>
              <a:off x="916650" y="5671012"/>
              <a:ext cx="3075689" cy="1077218"/>
            </a:xfrm>
            <a:prstGeom prst="rect">
              <a:avLst/>
            </a:prstGeom>
            <a:noFill/>
            <a:ln>
              <a:solidFill>
                <a:schemeClr val="tx1"/>
              </a:solidFill>
            </a:ln>
          </p:spPr>
          <p:txBody>
            <a:bodyPr wrap="square">
              <a:spAutoFit/>
            </a:bodyPr>
            <a:lstStyle/>
            <a:p>
              <a:r>
                <a:rPr lang="es-CO" sz="1600" dirty="0">
                  <a:latin typeface="Consolas" panose="020B0609020204030204" pitchFamily="49" charset="0"/>
                </a:rPr>
                <a:t>gemelo(</a:t>
              </a:r>
              <a:r>
                <a:rPr lang="es-CO" sz="1600" dirty="0" err="1">
                  <a:latin typeface="Consolas" panose="020B0609020204030204" pitchFamily="49" charset="0"/>
                </a:rPr>
                <a:t>zan</a:t>
              </a:r>
              <a:r>
                <a:rPr lang="es-CO" sz="1600" dirty="0">
                  <a:latin typeface="Consolas" panose="020B0609020204030204" pitchFamily="49" charset="0"/>
                </a:rPr>
                <a:t>, </a:t>
              </a:r>
              <a:r>
                <a:rPr lang="es-CO" sz="1600" dirty="0" err="1">
                  <a:latin typeface="Consolas" panose="020B0609020204030204" pitchFamily="49" charset="0"/>
                </a:rPr>
                <a:t>jayna</a:t>
              </a:r>
              <a:r>
                <a:rPr lang="es-CO" sz="1600" dirty="0">
                  <a:latin typeface="Consolas" panose="020B0609020204030204" pitchFamily="49" charset="0"/>
                </a:rPr>
                <a:t>).</a:t>
              </a:r>
            </a:p>
            <a:p>
              <a:r>
                <a:rPr lang="es-CO" sz="1600" dirty="0">
                  <a:latin typeface="Consolas" panose="020B0609020204030204" pitchFamily="49" charset="0"/>
                </a:rPr>
                <a:t>gemelo(</a:t>
              </a:r>
              <a:r>
                <a:rPr lang="es-CO" sz="1600" dirty="0" err="1">
                  <a:latin typeface="Consolas" panose="020B0609020204030204" pitchFamily="49" charset="0"/>
                </a:rPr>
                <a:t>jayna</a:t>
              </a:r>
              <a:r>
                <a:rPr lang="es-CO" sz="1600" dirty="0">
                  <a:latin typeface="Consolas" panose="020B0609020204030204" pitchFamily="49" charset="0"/>
                </a:rPr>
                <a:t>, </a:t>
              </a:r>
              <a:r>
                <a:rPr lang="es-CO" sz="1600" dirty="0" err="1">
                  <a:latin typeface="Consolas" panose="020B0609020204030204" pitchFamily="49" charset="0"/>
                </a:rPr>
                <a:t>zan</a:t>
              </a:r>
              <a:r>
                <a:rPr lang="es-CO" sz="1600" dirty="0">
                  <a:latin typeface="Consolas" panose="020B0609020204030204" pitchFamily="49" charset="0"/>
                </a:rPr>
                <a:t>).</a:t>
              </a:r>
            </a:p>
            <a:p>
              <a:r>
                <a:rPr lang="es-CO" sz="1600" dirty="0" err="1">
                  <a:latin typeface="Consolas" panose="020B0609020204030204" pitchFamily="49" charset="0"/>
                </a:rPr>
                <a:t>mascota_de</a:t>
              </a:r>
              <a:r>
                <a:rPr lang="es-CO" sz="1600" dirty="0">
                  <a:latin typeface="Consolas" panose="020B0609020204030204" pitchFamily="49" charset="0"/>
                </a:rPr>
                <a:t>(</a:t>
              </a:r>
              <a:r>
                <a:rPr lang="es-CO" sz="1600" dirty="0" err="1">
                  <a:latin typeface="Consolas" panose="020B0609020204030204" pitchFamily="49" charset="0"/>
                </a:rPr>
                <a:t>gleek</a:t>
              </a:r>
              <a:r>
                <a:rPr lang="es-CO" sz="1600" dirty="0">
                  <a:latin typeface="Consolas" panose="020B0609020204030204" pitchFamily="49" charset="0"/>
                </a:rPr>
                <a:t>, </a:t>
              </a:r>
              <a:r>
                <a:rPr lang="es-CO" sz="1600" dirty="0" err="1">
                  <a:latin typeface="Consolas" panose="020B0609020204030204" pitchFamily="49" charset="0"/>
                </a:rPr>
                <a:t>zan</a:t>
              </a:r>
              <a:r>
                <a:rPr lang="es-CO" sz="1600" dirty="0">
                  <a:latin typeface="Consolas" panose="020B0609020204030204" pitchFamily="49" charset="0"/>
                </a:rPr>
                <a:t>).</a:t>
              </a:r>
            </a:p>
            <a:p>
              <a:r>
                <a:rPr lang="es-CO" sz="1600" dirty="0" err="1">
                  <a:latin typeface="Consolas" panose="020B0609020204030204" pitchFamily="49" charset="0"/>
                </a:rPr>
                <a:t>mascota_de</a:t>
              </a:r>
              <a:r>
                <a:rPr lang="es-CO" sz="1600" dirty="0">
                  <a:latin typeface="Consolas" panose="020B0609020204030204" pitchFamily="49" charset="0"/>
                </a:rPr>
                <a:t>(</a:t>
              </a:r>
              <a:r>
                <a:rPr lang="es-CO" sz="1600" dirty="0" err="1">
                  <a:latin typeface="Consolas" panose="020B0609020204030204" pitchFamily="49" charset="0"/>
                </a:rPr>
                <a:t>gleek</a:t>
              </a:r>
              <a:r>
                <a:rPr lang="es-CO" sz="1600" dirty="0">
                  <a:latin typeface="Consolas" panose="020B0609020204030204" pitchFamily="49" charset="0"/>
                </a:rPr>
                <a:t>, </a:t>
              </a:r>
              <a:r>
                <a:rPr lang="es-CO" sz="1600" dirty="0" err="1">
                  <a:latin typeface="Consolas" panose="020B0609020204030204" pitchFamily="49" charset="0"/>
                </a:rPr>
                <a:t>jayna</a:t>
              </a:r>
              <a:r>
                <a:rPr lang="es-CO" sz="1600" dirty="0">
                  <a:latin typeface="Consolas" panose="020B0609020204030204" pitchFamily="49" charset="0"/>
                </a:rPr>
                <a:t>).</a:t>
              </a:r>
              <a:endParaRPr lang="es-CO" dirty="0">
                <a:latin typeface="Consolas" panose="020B0609020204030204" pitchFamily="49" charset="0"/>
              </a:endParaRPr>
            </a:p>
          </p:txBody>
        </p:sp>
        <p:pic>
          <p:nvPicPr>
            <p:cNvPr id="3080" name="Picture 8" descr="Prolog / official or unofficial logo · Issue #67 · exercism ...">
              <a:extLst>
                <a:ext uri="{FF2B5EF4-FFF2-40B4-BE49-F238E27FC236}">
                  <a16:creationId xmlns:a16="http://schemas.microsoft.com/office/drawing/2014/main" id="{D5BB79F5-DC54-403B-B2CA-E2F16EEA75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665" y="5475305"/>
              <a:ext cx="399348" cy="39141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 name="Grupo 40">
            <a:extLst>
              <a:ext uri="{FF2B5EF4-FFF2-40B4-BE49-F238E27FC236}">
                <a16:creationId xmlns:a16="http://schemas.microsoft.com/office/drawing/2014/main" id="{4408192A-7FA9-465C-87B7-B5100D173540}"/>
              </a:ext>
            </a:extLst>
          </p:cNvPr>
          <p:cNvGrpSpPr/>
          <p:nvPr/>
        </p:nvGrpSpPr>
        <p:grpSpPr>
          <a:xfrm>
            <a:off x="8529057" y="4895387"/>
            <a:ext cx="3577345" cy="1507503"/>
            <a:chOff x="8574027" y="5240727"/>
            <a:chExt cx="3577345" cy="1507503"/>
          </a:xfrm>
        </p:grpSpPr>
        <p:sp>
          <p:nvSpPr>
            <p:cNvPr id="2" name="CuadroTexto 1">
              <a:extLst>
                <a:ext uri="{FF2B5EF4-FFF2-40B4-BE49-F238E27FC236}">
                  <a16:creationId xmlns:a16="http://schemas.microsoft.com/office/drawing/2014/main" id="{57FC675F-F26A-43AE-A918-6EF3F788A5AD}"/>
                </a:ext>
              </a:extLst>
            </p:cNvPr>
            <p:cNvSpPr txBox="1"/>
            <p:nvPr/>
          </p:nvSpPr>
          <p:spPr>
            <a:xfrm>
              <a:off x="8574027" y="5424791"/>
              <a:ext cx="3344691" cy="1323439"/>
            </a:xfrm>
            <a:prstGeom prst="rect">
              <a:avLst/>
            </a:prstGeom>
            <a:solidFill>
              <a:schemeClr val="bg1"/>
            </a:solidFill>
            <a:ln>
              <a:solidFill>
                <a:schemeClr val="tx1"/>
              </a:solidFill>
            </a:ln>
          </p:spPr>
          <p:txBody>
            <a:bodyPr wrap="square" rtlCol="0">
              <a:spAutoFit/>
            </a:bodyPr>
            <a:lstStyle/>
            <a:p>
              <a:r>
                <a:rPr lang="es-CO" sz="1600" dirty="0">
                  <a:latin typeface="Consolas" panose="020B0609020204030204" pitchFamily="49" charset="0"/>
                </a:rPr>
                <a:t>rol = {</a:t>
              </a:r>
            </a:p>
            <a:p>
              <a:r>
                <a:rPr lang="es-CO" sz="1600" dirty="0">
                  <a:latin typeface="Consolas" panose="020B0609020204030204" pitchFamily="49" charset="0"/>
                </a:rPr>
                <a:t>     ("Zan", "hermano"),</a:t>
              </a:r>
            </a:p>
            <a:p>
              <a:r>
                <a:rPr lang="es-CO" sz="1600" dirty="0">
                  <a:latin typeface="Consolas" panose="020B0609020204030204" pitchFamily="49" charset="0"/>
                </a:rPr>
                <a:t>     ("</a:t>
              </a:r>
              <a:r>
                <a:rPr lang="es-CO" sz="1600" dirty="0" err="1">
                  <a:latin typeface="Consolas" panose="020B0609020204030204" pitchFamily="49" charset="0"/>
                </a:rPr>
                <a:t>Jayna</a:t>
              </a:r>
              <a:r>
                <a:rPr lang="es-CO" sz="1600" dirty="0">
                  <a:latin typeface="Consolas" panose="020B0609020204030204" pitchFamily="49" charset="0"/>
                </a:rPr>
                <a:t>", "hermano"),</a:t>
              </a:r>
            </a:p>
            <a:p>
              <a:r>
                <a:rPr lang="es-CO" sz="1600" dirty="0">
                  <a:latin typeface="Consolas" panose="020B0609020204030204" pitchFamily="49" charset="0"/>
                </a:rPr>
                <a:t>     ("Gleek", "mascota"),</a:t>
              </a:r>
            </a:p>
            <a:p>
              <a:r>
                <a:rPr lang="es-CO" sz="1600" dirty="0">
                  <a:latin typeface="Consolas" panose="020B0609020204030204" pitchFamily="49" charset="0"/>
                </a:rPr>
                <a:t>   }</a:t>
              </a:r>
            </a:p>
          </p:txBody>
        </p:sp>
        <p:pic>
          <p:nvPicPr>
            <p:cNvPr id="43" name="Picture 10">
              <a:extLst>
                <a:ext uri="{FF2B5EF4-FFF2-40B4-BE49-F238E27FC236}">
                  <a16:creationId xmlns:a16="http://schemas.microsoft.com/office/drawing/2014/main" id="{E250703B-0009-4A5E-BC9D-6986BB1F3C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55602" y="5240727"/>
              <a:ext cx="495770" cy="49244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2" name="Grupo 41">
            <a:extLst>
              <a:ext uri="{FF2B5EF4-FFF2-40B4-BE49-F238E27FC236}">
                <a16:creationId xmlns:a16="http://schemas.microsoft.com/office/drawing/2014/main" id="{2F9C8A40-DB42-4312-BE6B-52B69D1724FA}"/>
              </a:ext>
            </a:extLst>
          </p:cNvPr>
          <p:cNvGrpSpPr/>
          <p:nvPr/>
        </p:nvGrpSpPr>
        <p:grpSpPr>
          <a:xfrm>
            <a:off x="8529057" y="1620618"/>
            <a:ext cx="2958987" cy="3088845"/>
            <a:chOff x="8899530" y="1630064"/>
            <a:chExt cx="2958987" cy="3088845"/>
          </a:xfrm>
        </p:grpSpPr>
        <p:grpSp>
          <p:nvGrpSpPr>
            <p:cNvPr id="35" name="Grupo 34">
              <a:extLst>
                <a:ext uri="{FF2B5EF4-FFF2-40B4-BE49-F238E27FC236}">
                  <a16:creationId xmlns:a16="http://schemas.microsoft.com/office/drawing/2014/main" id="{6F10F4C4-CF6D-4EB1-A651-8004A797B015}"/>
                </a:ext>
              </a:extLst>
            </p:cNvPr>
            <p:cNvGrpSpPr/>
            <p:nvPr/>
          </p:nvGrpSpPr>
          <p:grpSpPr>
            <a:xfrm>
              <a:off x="8899530" y="1957940"/>
              <a:ext cx="2693683" cy="2760969"/>
              <a:chOff x="8004748" y="1044380"/>
              <a:chExt cx="3763620" cy="3782454"/>
            </a:xfrm>
          </p:grpSpPr>
          <p:grpSp>
            <p:nvGrpSpPr>
              <p:cNvPr id="22" name="Grupo 21">
                <a:extLst>
                  <a:ext uri="{FF2B5EF4-FFF2-40B4-BE49-F238E27FC236}">
                    <a16:creationId xmlns:a16="http://schemas.microsoft.com/office/drawing/2014/main" id="{A2E28188-E282-42A2-A11A-3C9099A40D64}"/>
                  </a:ext>
                </a:extLst>
              </p:cNvPr>
              <p:cNvGrpSpPr/>
              <p:nvPr/>
            </p:nvGrpSpPr>
            <p:grpSpPr>
              <a:xfrm>
                <a:off x="8004748" y="1044380"/>
                <a:ext cx="1588957" cy="3782454"/>
                <a:chOff x="8004748" y="1119330"/>
                <a:chExt cx="1588957" cy="3782454"/>
              </a:xfrm>
            </p:grpSpPr>
            <p:pic>
              <p:nvPicPr>
                <p:cNvPr id="15" name="Imagen 14">
                  <a:extLst>
                    <a:ext uri="{FF2B5EF4-FFF2-40B4-BE49-F238E27FC236}">
                      <a16:creationId xmlns:a16="http://schemas.microsoft.com/office/drawing/2014/main" id="{4F3A7590-9947-435D-B17F-8751811A5E15}"/>
                    </a:ext>
                  </a:extLst>
                </p:cNvPr>
                <p:cNvPicPr>
                  <a:picLocks noChangeAspect="1"/>
                </p:cNvPicPr>
                <p:nvPr/>
              </p:nvPicPr>
              <p:blipFill>
                <a:blip r:embed="rId6"/>
                <a:stretch>
                  <a:fillRect/>
                </a:stretch>
              </p:blipFill>
              <p:spPr>
                <a:xfrm>
                  <a:off x="8379524" y="1452091"/>
                  <a:ext cx="786733" cy="950017"/>
                </a:xfrm>
                <a:prstGeom prst="rect">
                  <a:avLst/>
                </a:prstGeom>
              </p:spPr>
            </p:pic>
            <p:pic>
              <p:nvPicPr>
                <p:cNvPr id="17" name="Imagen 16">
                  <a:extLst>
                    <a:ext uri="{FF2B5EF4-FFF2-40B4-BE49-F238E27FC236}">
                      <a16:creationId xmlns:a16="http://schemas.microsoft.com/office/drawing/2014/main" id="{05501DEC-57E4-4CF2-8068-60BEBF180469}"/>
                    </a:ext>
                  </a:extLst>
                </p:cNvPr>
                <p:cNvPicPr>
                  <a:picLocks noChangeAspect="1"/>
                </p:cNvPicPr>
                <p:nvPr/>
              </p:nvPicPr>
              <p:blipFill>
                <a:blip r:embed="rId7"/>
                <a:stretch>
                  <a:fillRect/>
                </a:stretch>
              </p:blipFill>
              <p:spPr>
                <a:xfrm>
                  <a:off x="8372102" y="2642260"/>
                  <a:ext cx="794155" cy="942595"/>
                </a:xfrm>
                <a:prstGeom prst="rect">
                  <a:avLst/>
                </a:prstGeom>
              </p:spPr>
            </p:pic>
            <p:pic>
              <p:nvPicPr>
                <p:cNvPr id="19" name="Imagen 18">
                  <a:extLst>
                    <a:ext uri="{FF2B5EF4-FFF2-40B4-BE49-F238E27FC236}">
                      <a16:creationId xmlns:a16="http://schemas.microsoft.com/office/drawing/2014/main" id="{DBF90817-0FB5-4539-AB53-BF77E22FB0D9}"/>
                    </a:ext>
                  </a:extLst>
                </p:cNvPr>
                <p:cNvPicPr>
                  <a:picLocks noChangeAspect="1"/>
                </p:cNvPicPr>
                <p:nvPr/>
              </p:nvPicPr>
              <p:blipFill>
                <a:blip r:embed="rId8"/>
                <a:stretch>
                  <a:fillRect/>
                </a:stretch>
              </p:blipFill>
              <p:spPr>
                <a:xfrm>
                  <a:off x="8474855" y="3778265"/>
                  <a:ext cx="771889" cy="950017"/>
                </a:xfrm>
                <a:prstGeom prst="rect">
                  <a:avLst/>
                </a:prstGeom>
              </p:spPr>
            </p:pic>
            <p:sp>
              <p:nvSpPr>
                <p:cNvPr id="20" name="Elipse 19">
                  <a:extLst>
                    <a:ext uri="{FF2B5EF4-FFF2-40B4-BE49-F238E27FC236}">
                      <a16:creationId xmlns:a16="http://schemas.microsoft.com/office/drawing/2014/main" id="{3B94400A-B2D7-4CFA-A827-988B9F33A4E2}"/>
                    </a:ext>
                  </a:extLst>
                </p:cNvPr>
                <p:cNvSpPr/>
                <p:nvPr/>
              </p:nvSpPr>
              <p:spPr>
                <a:xfrm>
                  <a:off x="8004748" y="1119330"/>
                  <a:ext cx="1588957" cy="37824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21" name="Grupo 20">
                <a:extLst>
                  <a:ext uri="{FF2B5EF4-FFF2-40B4-BE49-F238E27FC236}">
                    <a16:creationId xmlns:a16="http://schemas.microsoft.com/office/drawing/2014/main" id="{2B2F8FC8-D398-4C9A-B1D0-A188C34F2FBC}"/>
                  </a:ext>
                </a:extLst>
              </p:cNvPr>
              <p:cNvGrpSpPr/>
              <p:nvPr/>
            </p:nvGrpSpPr>
            <p:grpSpPr>
              <a:xfrm>
                <a:off x="10179411" y="1657960"/>
                <a:ext cx="1588957" cy="2704178"/>
                <a:chOff x="10030240" y="1702930"/>
                <a:chExt cx="1588957" cy="2704178"/>
              </a:xfrm>
            </p:grpSpPr>
            <p:pic>
              <p:nvPicPr>
                <p:cNvPr id="3074" name="Picture 2" descr="Brother - Free people icons">
                  <a:extLst>
                    <a:ext uri="{FF2B5EF4-FFF2-40B4-BE49-F238E27FC236}">
                      <a16:creationId xmlns:a16="http://schemas.microsoft.com/office/drawing/2014/main" id="{417344B7-2871-4848-941F-9666C07AA0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06348" y="2127224"/>
                  <a:ext cx="654564" cy="65456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ets - Free animals icons">
                  <a:extLst>
                    <a:ext uri="{FF2B5EF4-FFF2-40B4-BE49-F238E27FC236}">
                      <a16:creationId xmlns:a16="http://schemas.microsoft.com/office/drawing/2014/main" id="{F2C47F1D-2E30-461B-B5D5-FDBA9EBBB34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50049" y="3257573"/>
                  <a:ext cx="654564" cy="654564"/>
                </a:xfrm>
                <a:prstGeom prst="rect">
                  <a:avLst/>
                </a:prstGeom>
                <a:noFill/>
                <a:extLst>
                  <a:ext uri="{909E8E84-426E-40DD-AFC4-6F175D3DCCD1}">
                    <a14:hiddenFill xmlns:a14="http://schemas.microsoft.com/office/drawing/2010/main">
                      <a:solidFill>
                        <a:srgbClr val="FFFFFF"/>
                      </a:solidFill>
                    </a14:hiddenFill>
                  </a:ext>
                </a:extLst>
              </p:spPr>
            </p:pic>
            <p:sp>
              <p:nvSpPr>
                <p:cNvPr id="24" name="Elipse 23">
                  <a:extLst>
                    <a:ext uri="{FF2B5EF4-FFF2-40B4-BE49-F238E27FC236}">
                      <a16:creationId xmlns:a16="http://schemas.microsoft.com/office/drawing/2014/main" id="{E166400F-D407-44C9-806C-C5C2B4A41137}"/>
                    </a:ext>
                  </a:extLst>
                </p:cNvPr>
                <p:cNvSpPr/>
                <p:nvPr/>
              </p:nvSpPr>
              <p:spPr>
                <a:xfrm>
                  <a:off x="10030240" y="1702930"/>
                  <a:ext cx="1588957" cy="270417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cxnSp>
            <p:nvCxnSpPr>
              <p:cNvPr id="25" name="Conector recto de flecha 24">
                <a:extLst>
                  <a:ext uri="{FF2B5EF4-FFF2-40B4-BE49-F238E27FC236}">
                    <a16:creationId xmlns:a16="http://schemas.microsoft.com/office/drawing/2014/main" id="{011409D2-27CA-4E29-B637-C57D3B8964D8}"/>
                  </a:ext>
                </a:extLst>
              </p:cNvPr>
              <p:cNvCxnSpPr>
                <a:cxnSpLocks/>
                <a:stCxn id="15" idx="3"/>
              </p:cNvCxnSpPr>
              <p:nvPr/>
            </p:nvCxnSpPr>
            <p:spPr>
              <a:xfrm>
                <a:off x="9166257" y="1852150"/>
                <a:ext cx="1328742" cy="52503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3F0E9056-1E51-42C1-A223-F6A4FA8A60AC}"/>
                  </a:ext>
                </a:extLst>
              </p:cNvPr>
              <p:cNvCxnSpPr>
                <a:cxnSpLocks/>
                <a:stCxn id="17" idx="3"/>
              </p:cNvCxnSpPr>
              <p:nvPr/>
            </p:nvCxnSpPr>
            <p:spPr>
              <a:xfrm flipV="1">
                <a:off x="9166257" y="2616020"/>
                <a:ext cx="1328742" cy="4225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33">
                <a:extLst>
                  <a:ext uri="{FF2B5EF4-FFF2-40B4-BE49-F238E27FC236}">
                    <a16:creationId xmlns:a16="http://schemas.microsoft.com/office/drawing/2014/main" id="{04D68481-D2E0-4E4D-AEB8-99A067EBCC83}"/>
                  </a:ext>
                </a:extLst>
              </p:cNvPr>
              <p:cNvCxnSpPr>
                <a:cxnSpLocks/>
              </p:cNvCxnSpPr>
              <p:nvPr/>
            </p:nvCxnSpPr>
            <p:spPr>
              <a:xfrm flipV="1">
                <a:off x="9263921" y="3612630"/>
                <a:ext cx="1274164" cy="40473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pic>
          <p:nvPicPr>
            <p:cNvPr id="3084" name="Picture 12" descr="Math flat icons. Vector colorful ...">
              <a:extLst>
                <a:ext uri="{FF2B5EF4-FFF2-40B4-BE49-F238E27FC236}">
                  <a16:creationId xmlns:a16="http://schemas.microsoft.com/office/drawing/2014/main" id="{9C1432CA-BE73-42AE-B73B-651054D6F25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252110" y="1630064"/>
              <a:ext cx="606407" cy="60640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4" name="Grupo 43">
            <a:extLst>
              <a:ext uri="{FF2B5EF4-FFF2-40B4-BE49-F238E27FC236}">
                <a16:creationId xmlns:a16="http://schemas.microsoft.com/office/drawing/2014/main" id="{F2CE0774-767B-495D-8E7E-56D325F85DE0}"/>
              </a:ext>
            </a:extLst>
          </p:cNvPr>
          <p:cNvGrpSpPr/>
          <p:nvPr/>
        </p:nvGrpSpPr>
        <p:grpSpPr>
          <a:xfrm>
            <a:off x="5031989" y="1797984"/>
            <a:ext cx="2324386" cy="2993085"/>
            <a:chOff x="6015468" y="1588432"/>
            <a:chExt cx="2324386" cy="2993085"/>
          </a:xfrm>
        </p:grpSpPr>
        <p:pic>
          <p:nvPicPr>
            <p:cNvPr id="5" name="Imagen 4">
              <a:extLst>
                <a:ext uri="{FF2B5EF4-FFF2-40B4-BE49-F238E27FC236}">
                  <a16:creationId xmlns:a16="http://schemas.microsoft.com/office/drawing/2014/main" id="{FB018566-9222-40B1-872A-A15EEA268C6B}"/>
                </a:ext>
              </a:extLst>
            </p:cNvPr>
            <p:cNvPicPr>
              <a:picLocks noChangeAspect="1"/>
            </p:cNvPicPr>
            <p:nvPr/>
          </p:nvPicPr>
          <p:blipFill>
            <a:blip r:embed="rId12"/>
            <a:stretch>
              <a:fillRect/>
            </a:stretch>
          </p:blipFill>
          <p:spPr>
            <a:xfrm>
              <a:off x="6015468" y="2096713"/>
              <a:ext cx="1883362" cy="2484804"/>
            </a:xfrm>
            <a:prstGeom prst="rect">
              <a:avLst/>
            </a:prstGeom>
          </p:spPr>
        </p:pic>
        <p:pic>
          <p:nvPicPr>
            <p:cNvPr id="45" name="Picture 12" descr="Math flat icons. Vector colorful ...">
              <a:extLst>
                <a:ext uri="{FF2B5EF4-FFF2-40B4-BE49-F238E27FC236}">
                  <a16:creationId xmlns:a16="http://schemas.microsoft.com/office/drawing/2014/main" id="{E65D9992-E209-40B9-83FC-1BDC10FF5F3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33447" y="1588432"/>
              <a:ext cx="606407" cy="606407"/>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CuadroTexto 35">
            <a:extLst>
              <a:ext uri="{FF2B5EF4-FFF2-40B4-BE49-F238E27FC236}">
                <a16:creationId xmlns:a16="http://schemas.microsoft.com/office/drawing/2014/main" id="{3CCDD039-3767-4D69-8196-81752106AD61}"/>
              </a:ext>
            </a:extLst>
          </p:cNvPr>
          <p:cNvSpPr txBox="1"/>
          <p:nvPr/>
        </p:nvSpPr>
        <p:spPr>
          <a:xfrm>
            <a:off x="491364" y="6395736"/>
            <a:ext cx="7227623" cy="372409"/>
          </a:xfrm>
          <a:prstGeom prst="rect">
            <a:avLst/>
          </a:prstGeom>
          <a:noFill/>
        </p:spPr>
        <p:txBody>
          <a:bodyPr wrap="square">
            <a:spAutoFit/>
          </a:bodyPr>
          <a:lstStyle/>
          <a:p>
            <a:pPr marL="285750" indent="-285750">
              <a:buFont typeface="Arial" panose="020B0604020202020204" pitchFamily="34" charset="0"/>
              <a:buChar char="•"/>
            </a:pPr>
            <a:r>
              <a:rPr lang="es-CO" sz="1600" dirty="0"/>
              <a:t>Cada predicado de </a:t>
            </a:r>
            <a:r>
              <a:rPr lang="es-CO" sz="1600" b="1" dirty="0"/>
              <a:t>Prolog</a:t>
            </a:r>
            <a:r>
              <a:rPr lang="es-CO" sz="1600" dirty="0"/>
              <a:t> es una relación; cada hecho, un par ordenado.</a:t>
            </a:r>
          </a:p>
        </p:txBody>
      </p:sp>
    </p:spTree>
    <p:extLst>
      <p:ext uri="{BB962C8B-B14F-4D97-AF65-F5344CB8AC3E}">
        <p14:creationId xmlns:p14="http://schemas.microsoft.com/office/powerpoint/2010/main" val="3732342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48814" y="221366"/>
            <a:ext cx="8304000" cy="949500"/>
          </a:xfrm>
        </p:spPr>
        <p:txBody>
          <a:bodyPr/>
          <a:lstStyle/>
          <a:p>
            <a:r>
              <a:rPr lang="es-CO" dirty="0">
                <a:solidFill>
                  <a:schemeClr val="tx1"/>
                </a:solidFill>
                <a:latin typeface="+mj-lt"/>
              </a:rPr>
              <a:t>Introducción</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213070" y="1020037"/>
            <a:ext cx="10546281" cy="4924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800" b="1" dirty="0">
                <a:solidFill>
                  <a:schemeClr val="tx1"/>
                </a:solidFill>
                <a:latin typeface="+mn-lt"/>
                <a:ea typeface="Roboto" panose="02000000000000000000" pitchFamily="2" charset="0"/>
              </a:rPr>
              <a:t>Problema típico: ¿cómo representar las conexiones?</a:t>
            </a:r>
          </a:p>
        </p:txBody>
      </p:sp>
      <p:sp>
        <p:nvSpPr>
          <p:cNvPr id="24" name="CuadroTexto 23">
            <a:extLst>
              <a:ext uri="{FF2B5EF4-FFF2-40B4-BE49-F238E27FC236}">
                <a16:creationId xmlns:a16="http://schemas.microsoft.com/office/drawing/2014/main" id="{7E3A5105-E8F1-4FE8-9AEB-E482004450EA}"/>
              </a:ext>
            </a:extLst>
          </p:cNvPr>
          <p:cNvSpPr txBox="1"/>
          <p:nvPr/>
        </p:nvSpPr>
        <p:spPr>
          <a:xfrm>
            <a:off x="348814" y="1679630"/>
            <a:ext cx="11414403" cy="769441"/>
          </a:xfrm>
          <a:prstGeom prst="rect">
            <a:avLst/>
          </a:prstGeom>
          <a:noFill/>
        </p:spPr>
        <p:txBody>
          <a:bodyPr wrap="square">
            <a:spAutoFit/>
          </a:bodyPr>
          <a:lstStyle/>
          <a:p>
            <a:r>
              <a:rPr lang="es-CO" sz="2200" b="1" dirty="0">
                <a:ea typeface="Roboto" panose="02000000000000000000" pitchFamily="2" charset="0"/>
              </a:rPr>
              <a:t>Ejemplo tomado de </a:t>
            </a:r>
            <a:r>
              <a:rPr lang="es-CO" sz="2200" b="1" i="0" dirty="0">
                <a:solidFill>
                  <a:srgbClr val="333333"/>
                </a:solidFill>
                <a:effectLst/>
                <a:ea typeface="Roboto" panose="02000000000000000000" pitchFamily="2" charset="0"/>
              </a:rPr>
              <a:t>Grokking Algorithms</a:t>
            </a:r>
            <a:r>
              <a:rPr lang="es-CO" sz="2200" b="1" dirty="0">
                <a:ea typeface="Roboto" panose="02000000000000000000" pitchFamily="2" charset="0"/>
              </a:rPr>
              <a:t> </a:t>
            </a:r>
            <a:r>
              <a:rPr lang="es-CO" sz="2200" dirty="0">
                <a:ea typeface="Roboto" panose="02000000000000000000" pitchFamily="2" charset="0"/>
              </a:rPr>
              <a:t>(</a:t>
            </a:r>
            <a:r>
              <a:rPr lang="es-CO" sz="2200" dirty="0">
                <a:ea typeface="Roboto" panose="02000000000000000000" pitchFamily="2" charset="0"/>
                <a:hlinkClick r:id="rId3"/>
              </a:rPr>
              <a:t>link</a:t>
            </a:r>
            <a:r>
              <a:rPr lang="es-CO" sz="2200" dirty="0">
                <a:ea typeface="Roboto" panose="02000000000000000000" pitchFamily="2" charset="0"/>
              </a:rPr>
              <a:t>): </a:t>
            </a:r>
            <a:r>
              <a:rPr lang="es-MX" sz="2200" dirty="0"/>
              <a:t>Imagine que está en Twin Peaks (San Francisco) y quiere llegar en autobús al puente Golden Gate. ¿Qué ruta requiere el menor número de tramos?</a:t>
            </a:r>
            <a:endParaRPr lang="es-CO" sz="2200" dirty="0">
              <a:ea typeface="Roboto" panose="02000000000000000000" pitchFamily="2" charset="0"/>
            </a:endParaRPr>
          </a:p>
        </p:txBody>
      </p:sp>
      <p:grpSp>
        <p:nvGrpSpPr>
          <p:cNvPr id="44" name="Grupo 43">
            <a:extLst>
              <a:ext uri="{FF2B5EF4-FFF2-40B4-BE49-F238E27FC236}">
                <a16:creationId xmlns:a16="http://schemas.microsoft.com/office/drawing/2014/main" id="{A499015E-06D7-4E72-9A4E-213D62506477}"/>
              </a:ext>
            </a:extLst>
          </p:cNvPr>
          <p:cNvGrpSpPr/>
          <p:nvPr/>
        </p:nvGrpSpPr>
        <p:grpSpPr>
          <a:xfrm>
            <a:off x="1075611" y="2868801"/>
            <a:ext cx="5820501" cy="2727092"/>
            <a:chOff x="933895" y="2519471"/>
            <a:chExt cx="5820501" cy="2727092"/>
          </a:xfrm>
        </p:grpSpPr>
        <p:grpSp>
          <p:nvGrpSpPr>
            <p:cNvPr id="42" name="Grupo 41">
              <a:extLst>
                <a:ext uri="{FF2B5EF4-FFF2-40B4-BE49-F238E27FC236}">
                  <a16:creationId xmlns:a16="http://schemas.microsoft.com/office/drawing/2014/main" id="{43E8BC57-26C9-466A-A4C8-3EB6369C23B3}"/>
                </a:ext>
              </a:extLst>
            </p:cNvPr>
            <p:cNvGrpSpPr/>
            <p:nvPr/>
          </p:nvGrpSpPr>
          <p:grpSpPr>
            <a:xfrm>
              <a:off x="933895" y="3362162"/>
              <a:ext cx="2017404" cy="1884401"/>
              <a:chOff x="933895" y="3362162"/>
              <a:chExt cx="2017404" cy="1884401"/>
            </a:xfrm>
          </p:grpSpPr>
          <p:pic>
            <p:nvPicPr>
              <p:cNvPr id="5124" name="Picture 4">
                <a:extLst>
                  <a:ext uri="{FF2B5EF4-FFF2-40B4-BE49-F238E27FC236}">
                    <a16:creationId xmlns:a16="http://schemas.microsoft.com/office/drawing/2014/main" id="{445757EB-853B-4C79-AFF0-0D46DDE055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603" y="3772291"/>
                <a:ext cx="1965696" cy="1474272"/>
              </a:xfrm>
              <a:prstGeom prst="rect">
                <a:avLst/>
              </a:prstGeom>
              <a:noFill/>
              <a:extLst>
                <a:ext uri="{909E8E84-426E-40DD-AFC4-6F175D3DCCD1}">
                  <a14:hiddenFill xmlns:a14="http://schemas.microsoft.com/office/drawing/2010/main">
                    <a:solidFill>
                      <a:srgbClr val="FFFFFF"/>
                    </a:solidFill>
                  </a14:hiddenFill>
                </a:ext>
              </a:extLst>
            </p:spPr>
          </p:pic>
          <p:sp>
            <p:nvSpPr>
              <p:cNvPr id="36" name="CuadroTexto 35">
                <a:extLst>
                  <a:ext uri="{FF2B5EF4-FFF2-40B4-BE49-F238E27FC236}">
                    <a16:creationId xmlns:a16="http://schemas.microsoft.com/office/drawing/2014/main" id="{BB3D0977-2AC5-4C75-BE43-36E8D8402D1A}"/>
                  </a:ext>
                </a:extLst>
              </p:cNvPr>
              <p:cNvSpPr txBox="1"/>
              <p:nvPr/>
            </p:nvSpPr>
            <p:spPr>
              <a:xfrm>
                <a:off x="933895" y="3362162"/>
                <a:ext cx="1969567" cy="338554"/>
              </a:xfrm>
              <a:prstGeom prst="rect">
                <a:avLst/>
              </a:prstGeom>
              <a:noFill/>
            </p:spPr>
            <p:txBody>
              <a:bodyPr wrap="square">
                <a:spAutoFit/>
              </a:bodyPr>
              <a:lstStyle/>
              <a:p>
                <a:pPr algn="ctr"/>
                <a:r>
                  <a:rPr lang="es-CO" sz="1600" b="1" dirty="0">
                    <a:latin typeface="Roboto" panose="02000000000000000000" pitchFamily="2" charset="0"/>
                    <a:ea typeface="Roboto" panose="02000000000000000000" pitchFamily="2" charset="0"/>
                  </a:rPr>
                  <a:t>Origen</a:t>
                </a:r>
                <a:r>
                  <a:rPr lang="es-CO" sz="1600" dirty="0">
                    <a:latin typeface="Roboto" panose="02000000000000000000" pitchFamily="2" charset="0"/>
                    <a:ea typeface="Roboto" panose="02000000000000000000" pitchFamily="2" charset="0"/>
                  </a:rPr>
                  <a:t>: Twin Peaks</a:t>
                </a:r>
                <a:endParaRPr lang="es-CO" sz="1600" dirty="0"/>
              </a:p>
            </p:txBody>
          </p:sp>
        </p:grpSp>
        <p:grpSp>
          <p:nvGrpSpPr>
            <p:cNvPr id="41" name="Grupo 40">
              <a:extLst>
                <a:ext uri="{FF2B5EF4-FFF2-40B4-BE49-F238E27FC236}">
                  <a16:creationId xmlns:a16="http://schemas.microsoft.com/office/drawing/2014/main" id="{707A03DB-0399-429B-81CA-96255596F3E5}"/>
                </a:ext>
              </a:extLst>
            </p:cNvPr>
            <p:cNvGrpSpPr/>
            <p:nvPr/>
          </p:nvGrpSpPr>
          <p:grpSpPr>
            <a:xfrm>
              <a:off x="4545353" y="3362162"/>
              <a:ext cx="2209043" cy="1882824"/>
              <a:chOff x="4545353" y="3362162"/>
              <a:chExt cx="2209043" cy="1882824"/>
            </a:xfrm>
          </p:grpSpPr>
          <p:pic>
            <p:nvPicPr>
              <p:cNvPr id="5122" name="Picture 2">
                <a:extLst>
                  <a:ext uri="{FF2B5EF4-FFF2-40B4-BE49-F238E27FC236}">
                    <a16:creationId xmlns:a16="http://schemas.microsoft.com/office/drawing/2014/main" id="{F742A58C-02E1-4473-8796-23C2849242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5353" y="3772291"/>
                <a:ext cx="2209042" cy="1472695"/>
              </a:xfrm>
              <a:prstGeom prst="rect">
                <a:avLst/>
              </a:prstGeom>
              <a:noFill/>
              <a:extLst>
                <a:ext uri="{909E8E84-426E-40DD-AFC4-6F175D3DCCD1}">
                  <a14:hiddenFill xmlns:a14="http://schemas.microsoft.com/office/drawing/2010/main">
                    <a:solidFill>
                      <a:srgbClr val="FFFFFF"/>
                    </a:solidFill>
                  </a14:hiddenFill>
                </a:ext>
              </a:extLst>
            </p:spPr>
          </p:pic>
          <p:sp>
            <p:nvSpPr>
              <p:cNvPr id="37" name="CuadroTexto 36">
                <a:extLst>
                  <a:ext uri="{FF2B5EF4-FFF2-40B4-BE49-F238E27FC236}">
                    <a16:creationId xmlns:a16="http://schemas.microsoft.com/office/drawing/2014/main" id="{2690388C-CD89-4EEB-909E-9C8F7ECCD422}"/>
                  </a:ext>
                </a:extLst>
              </p:cNvPr>
              <p:cNvSpPr txBox="1"/>
              <p:nvPr/>
            </p:nvSpPr>
            <p:spPr>
              <a:xfrm>
                <a:off x="4545354" y="3362162"/>
                <a:ext cx="2209042" cy="338554"/>
              </a:xfrm>
              <a:prstGeom prst="rect">
                <a:avLst/>
              </a:prstGeom>
              <a:noFill/>
            </p:spPr>
            <p:txBody>
              <a:bodyPr wrap="square">
                <a:spAutoFit/>
              </a:bodyPr>
              <a:lstStyle/>
              <a:p>
                <a:pPr algn="ctr"/>
                <a:r>
                  <a:rPr lang="es-CO" sz="1600" b="1" dirty="0">
                    <a:latin typeface="Roboto" panose="02000000000000000000" pitchFamily="2" charset="0"/>
                    <a:ea typeface="Roboto" panose="02000000000000000000" pitchFamily="2" charset="0"/>
                  </a:rPr>
                  <a:t>Destino</a:t>
                </a:r>
                <a:r>
                  <a:rPr lang="es-CO" sz="1600" dirty="0">
                    <a:latin typeface="Roboto" panose="02000000000000000000" pitchFamily="2" charset="0"/>
                    <a:ea typeface="Roboto" panose="02000000000000000000" pitchFamily="2" charset="0"/>
                  </a:rPr>
                  <a:t>: Golden Gate </a:t>
                </a:r>
                <a:endParaRPr lang="es-CO" sz="1600" dirty="0"/>
              </a:p>
            </p:txBody>
          </p:sp>
        </p:grpSp>
        <p:pic>
          <p:nvPicPr>
            <p:cNvPr id="5126" name="Picture 6" descr="Recap of &quot;The Simpsons&quot; Season 9 Episode 14 | Recap Guide">
              <a:extLst>
                <a:ext uri="{FF2B5EF4-FFF2-40B4-BE49-F238E27FC236}">
                  <a16:creationId xmlns:a16="http://schemas.microsoft.com/office/drawing/2014/main" id="{913C3DF6-2477-43A9-A3A3-51CCF2AC68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7961" y="2519471"/>
              <a:ext cx="1251232" cy="847904"/>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Conector recto de flecha 34">
              <a:extLst>
                <a:ext uri="{FF2B5EF4-FFF2-40B4-BE49-F238E27FC236}">
                  <a16:creationId xmlns:a16="http://schemas.microsoft.com/office/drawing/2014/main" id="{FC4D96F3-A781-46DA-8F4B-FE7FFA20F1A5}"/>
                </a:ext>
              </a:extLst>
            </p:cNvPr>
            <p:cNvCxnSpPr>
              <a:cxnSpLocks/>
              <a:stCxn id="36" idx="3"/>
              <a:endCxn id="37" idx="1"/>
            </p:cNvCxnSpPr>
            <p:nvPr/>
          </p:nvCxnSpPr>
          <p:spPr>
            <a:xfrm>
              <a:off x="2903462" y="3531439"/>
              <a:ext cx="164189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Grupo 38">
            <a:extLst>
              <a:ext uri="{FF2B5EF4-FFF2-40B4-BE49-F238E27FC236}">
                <a16:creationId xmlns:a16="http://schemas.microsoft.com/office/drawing/2014/main" id="{AF359BCE-8279-4422-8EAB-0187E8EDD5F0}"/>
              </a:ext>
            </a:extLst>
          </p:cNvPr>
          <p:cNvGrpSpPr/>
          <p:nvPr/>
        </p:nvGrpSpPr>
        <p:grpSpPr>
          <a:xfrm>
            <a:off x="7457908" y="2496644"/>
            <a:ext cx="1965696" cy="4049674"/>
            <a:chOff x="7497678" y="2609452"/>
            <a:chExt cx="1965696" cy="4049674"/>
          </a:xfrm>
        </p:grpSpPr>
        <p:pic>
          <p:nvPicPr>
            <p:cNvPr id="30" name="Imagen 29">
              <a:extLst>
                <a:ext uri="{FF2B5EF4-FFF2-40B4-BE49-F238E27FC236}">
                  <a16:creationId xmlns:a16="http://schemas.microsoft.com/office/drawing/2014/main" id="{A57904D4-CF4F-4746-81E9-CA021C2440C7}"/>
                </a:ext>
              </a:extLst>
            </p:cNvPr>
            <p:cNvPicPr>
              <a:picLocks noChangeAspect="1"/>
            </p:cNvPicPr>
            <p:nvPr/>
          </p:nvPicPr>
          <p:blipFill>
            <a:blip r:embed="rId7"/>
            <a:stretch>
              <a:fillRect/>
            </a:stretch>
          </p:blipFill>
          <p:spPr>
            <a:xfrm>
              <a:off x="7497678" y="3405561"/>
              <a:ext cx="1965696" cy="3253565"/>
            </a:xfrm>
            <a:prstGeom prst="rect">
              <a:avLst/>
            </a:prstGeom>
          </p:spPr>
        </p:pic>
        <p:pic>
          <p:nvPicPr>
            <p:cNvPr id="5128" name="Picture 8">
              <a:extLst>
                <a:ext uri="{FF2B5EF4-FFF2-40B4-BE49-F238E27FC236}">
                  <a16:creationId xmlns:a16="http://schemas.microsoft.com/office/drawing/2014/main" id="{734573A3-AB1D-4269-AB54-DFA451E218E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68467" y="2609452"/>
              <a:ext cx="424117" cy="61009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Grupo 39">
            <a:extLst>
              <a:ext uri="{FF2B5EF4-FFF2-40B4-BE49-F238E27FC236}">
                <a16:creationId xmlns:a16="http://schemas.microsoft.com/office/drawing/2014/main" id="{ECFC43F4-C3D4-44AE-9BD6-B960A2EC03AA}"/>
              </a:ext>
            </a:extLst>
          </p:cNvPr>
          <p:cNvGrpSpPr/>
          <p:nvPr/>
        </p:nvGrpSpPr>
        <p:grpSpPr>
          <a:xfrm>
            <a:off x="9944318" y="2558943"/>
            <a:ext cx="1965696" cy="3985285"/>
            <a:chOff x="9974465" y="2663473"/>
            <a:chExt cx="1965696" cy="3985285"/>
          </a:xfrm>
        </p:grpSpPr>
        <p:pic>
          <p:nvPicPr>
            <p:cNvPr id="32" name="Imagen 31">
              <a:extLst>
                <a:ext uri="{FF2B5EF4-FFF2-40B4-BE49-F238E27FC236}">
                  <a16:creationId xmlns:a16="http://schemas.microsoft.com/office/drawing/2014/main" id="{359886DB-E20A-4600-B514-8213B9578695}"/>
                </a:ext>
              </a:extLst>
            </p:cNvPr>
            <p:cNvPicPr>
              <a:picLocks noChangeAspect="1"/>
            </p:cNvPicPr>
            <p:nvPr/>
          </p:nvPicPr>
          <p:blipFill>
            <a:blip r:embed="rId9"/>
            <a:stretch>
              <a:fillRect/>
            </a:stretch>
          </p:blipFill>
          <p:spPr>
            <a:xfrm>
              <a:off x="9974465" y="3409156"/>
              <a:ext cx="1965696" cy="3239602"/>
            </a:xfrm>
            <a:prstGeom prst="rect">
              <a:avLst/>
            </a:prstGeom>
          </p:spPr>
        </p:pic>
        <p:pic>
          <p:nvPicPr>
            <p:cNvPr id="43" name="Picture 8">
              <a:extLst>
                <a:ext uri="{FF2B5EF4-FFF2-40B4-BE49-F238E27FC236}">
                  <a16:creationId xmlns:a16="http://schemas.microsoft.com/office/drawing/2014/main" id="{4B0612F1-3CA4-448A-8507-C9AE36C733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45254" y="2663473"/>
              <a:ext cx="424117" cy="610093"/>
            </a:xfrm>
            <a:prstGeom prst="rect">
              <a:avLst/>
            </a:prstGeom>
            <a:noFill/>
            <a:extLst>
              <a:ext uri="{909E8E84-426E-40DD-AFC4-6F175D3DCCD1}">
                <a14:hiddenFill xmlns:a14="http://schemas.microsoft.com/office/drawing/2010/main">
                  <a:solidFill>
                    <a:srgbClr val="FFFFFF"/>
                  </a:solidFill>
                </a14:hiddenFill>
              </a:ext>
            </a:extLst>
          </p:spPr>
        </p:pic>
      </p:grpSp>
      <p:pic>
        <p:nvPicPr>
          <p:cNvPr id="20" name="Picture 16" descr="Otto Mann | Simpsons Wiki | Fandom">
            <a:extLst>
              <a:ext uri="{FF2B5EF4-FFF2-40B4-BE49-F238E27FC236}">
                <a16:creationId xmlns:a16="http://schemas.microsoft.com/office/drawing/2014/main" id="{C91FE643-C330-41AB-9AB1-C1BE2B4244D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21127" y="4182240"/>
            <a:ext cx="1150978" cy="1704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21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62607" y="163359"/>
            <a:ext cx="8654778" cy="878844"/>
          </a:xfrm>
        </p:spPr>
        <p:txBody>
          <a:bodyPr/>
          <a:lstStyle/>
          <a:p>
            <a:r>
              <a:rPr lang="es-CO" dirty="0">
                <a:solidFill>
                  <a:schemeClr val="tx1"/>
                </a:solidFill>
                <a:latin typeface="+mj-lt"/>
              </a:rPr>
              <a:t>Introducción</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173421" y="866071"/>
            <a:ext cx="10958373" cy="4924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800" b="1" dirty="0">
                <a:solidFill>
                  <a:schemeClr val="tx1"/>
                </a:solidFill>
                <a:latin typeface="+mn-lt"/>
                <a:ea typeface="Roboto" panose="02000000000000000000" pitchFamily="2" charset="0"/>
              </a:rPr>
              <a:t>Problema típico: ¿Como puedo representar las relaciones?</a:t>
            </a:r>
          </a:p>
        </p:txBody>
      </p:sp>
      <p:sp>
        <p:nvSpPr>
          <p:cNvPr id="12" name="CuadroTexto 11">
            <a:extLst>
              <a:ext uri="{FF2B5EF4-FFF2-40B4-BE49-F238E27FC236}">
                <a16:creationId xmlns:a16="http://schemas.microsoft.com/office/drawing/2014/main" id="{2C9CD52E-3D84-4C0E-A7F7-D22BC3D60F72}"/>
              </a:ext>
            </a:extLst>
          </p:cNvPr>
          <p:cNvSpPr txBox="1"/>
          <p:nvPr/>
        </p:nvSpPr>
        <p:spPr>
          <a:xfrm>
            <a:off x="359552" y="1825170"/>
            <a:ext cx="4731273" cy="2123658"/>
          </a:xfrm>
          <a:prstGeom prst="rect">
            <a:avLst/>
          </a:prstGeom>
          <a:noFill/>
        </p:spPr>
        <p:txBody>
          <a:bodyPr wrap="square">
            <a:spAutoFit/>
          </a:bodyPr>
          <a:lstStyle/>
          <a:p>
            <a:r>
              <a:rPr lang="es-CO" sz="2200" dirty="0">
                <a:ea typeface="Roboto" panose="02000000000000000000" pitchFamily="2" charset="0"/>
              </a:rPr>
              <a:t>Ejemplo</a:t>
            </a:r>
            <a:r>
              <a:rPr lang="es-CO" sz="2200" b="1" dirty="0">
                <a:ea typeface="Roboto" panose="02000000000000000000" pitchFamily="2" charset="0"/>
              </a:rPr>
              <a:t> tomado de </a:t>
            </a:r>
            <a:r>
              <a:rPr lang="es-CO" sz="2200" b="1" i="0" dirty="0">
                <a:solidFill>
                  <a:srgbClr val="333333"/>
                </a:solidFill>
                <a:effectLst/>
                <a:ea typeface="Roboto" panose="02000000000000000000" pitchFamily="2" charset="0"/>
              </a:rPr>
              <a:t>Grokking Algorithms</a:t>
            </a:r>
            <a:r>
              <a:rPr lang="es-CO" sz="2200" b="1" dirty="0">
                <a:ea typeface="Roboto" panose="02000000000000000000" pitchFamily="2" charset="0"/>
              </a:rPr>
              <a:t> (</a:t>
            </a:r>
            <a:r>
              <a:rPr lang="es-CO" sz="2200" b="1" dirty="0">
                <a:ea typeface="Roboto" panose="02000000000000000000" pitchFamily="2" charset="0"/>
                <a:hlinkClick r:id="rId3"/>
              </a:rPr>
              <a:t>link</a:t>
            </a:r>
            <a:r>
              <a:rPr lang="es-CO" sz="2200" b="1" dirty="0">
                <a:ea typeface="Roboto" panose="02000000000000000000" pitchFamily="2" charset="0"/>
              </a:rPr>
              <a:t>)</a:t>
            </a:r>
            <a:r>
              <a:rPr lang="es-CO" sz="2200" dirty="0">
                <a:ea typeface="Roboto" panose="02000000000000000000" pitchFamily="2" charset="0"/>
              </a:rPr>
              <a:t>: </a:t>
            </a:r>
            <a:r>
              <a:rPr lang="es-MX" sz="2200" dirty="0"/>
              <a:t>Imagine que está en Twin Peaks (San Francisco) y quiere llegar en autobús al puente Golden Gate. ¿Qué ruta requiere el menor número de tramos?</a:t>
            </a:r>
          </a:p>
        </p:txBody>
      </p:sp>
      <p:grpSp>
        <p:nvGrpSpPr>
          <p:cNvPr id="5" name="Grupo 4">
            <a:extLst>
              <a:ext uri="{FF2B5EF4-FFF2-40B4-BE49-F238E27FC236}">
                <a16:creationId xmlns:a16="http://schemas.microsoft.com/office/drawing/2014/main" id="{DD2A2F41-068A-4DE5-B9AA-846BFAD0292E}"/>
              </a:ext>
            </a:extLst>
          </p:cNvPr>
          <p:cNvGrpSpPr/>
          <p:nvPr/>
        </p:nvGrpSpPr>
        <p:grpSpPr>
          <a:xfrm>
            <a:off x="5429813" y="1743493"/>
            <a:ext cx="5651261" cy="2697700"/>
            <a:chOff x="4386792" y="2343637"/>
            <a:chExt cx="5651261" cy="2697700"/>
          </a:xfrm>
        </p:grpSpPr>
        <p:grpSp>
          <p:nvGrpSpPr>
            <p:cNvPr id="2" name="Grupo 1">
              <a:extLst>
                <a:ext uri="{FF2B5EF4-FFF2-40B4-BE49-F238E27FC236}">
                  <a16:creationId xmlns:a16="http://schemas.microsoft.com/office/drawing/2014/main" id="{B3993ECE-46D0-4137-B219-534A001EB31A}"/>
                </a:ext>
              </a:extLst>
            </p:cNvPr>
            <p:cNvGrpSpPr/>
            <p:nvPr/>
          </p:nvGrpSpPr>
          <p:grpSpPr>
            <a:xfrm>
              <a:off x="4386792" y="2343637"/>
              <a:ext cx="5651261" cy="2543812"/>
              <a:chOff x="4277648" y="2454763"/>
              <a:chExt cx="5651261" cy="2543812"/>
            </a:xfrm>
          </p:grpSpPr>
          <p:pic>
            <p:nvPicPr>
              <p:cNvPr id="6150" name="Picture 6">
                <a:extLst>
                  <a:ext uri="{FF2B5EF4-FFF2-40B4-BE49-F238E27FC236}">
                    <a16:creationId xmlns:a16="http://schemas.microsoft.com/office/drawing/2014/main" id="{4572F0BA-F38C-4E30-BAFF-02F96FD62C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0367" y="2820046"/>
                <a:ext cx="5488542" cy="217852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2" descr="Math flat icons. Vector colorful ...">
                <a:extLst>
                  <a:ext uri="{FF2B5EF4-FFF2-40B4-BE49-F238E27FC236}">
                    <a16:creationId xmlns:a16="http://schemas.microsoft.com/office/drawing/2014/main" id="{5E8E373E-C855-4315-87B2-437330E835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7648" y="2454763"/>
                <a:ext cx="606407" cy="606407"/>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B9929AA4-6E37-496C-A366-0EAF56DE5D8D}"/>
                    </a:ext>
                  </a:extLst>
                </p:cNvPr>
                <p:cNvSpPr txBox="1"/>
                <p:nvPr/>
              </p:nvSpPr>
              <p:spPr>
                <a:xfrm>
                  <a:off x="6165850" y="2456689"/>
                  <a:ext cx="352097" cy="30777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s-MX" sz="2000" b="1" i="1" smtClean="0">
                            <a:solidFill>
                              <a:srgbClr val="002060"/>
                            </a:solidFill>
                            <a:latin typeface="Cambria Math" panose="02040503050406030204" pitchFamily="18" charset="0"/>
                          </a:rPr>
                          <m:t>𝑨</m:t>
                        </m:r>
                      </m:oMath>
                    </m:oMathPara>
                  </a14:m>
                  <a:endParaRPr lang="es-CO" sz="2000" b="1" dirty="0">
                    <a:solidFill>
                      <a:srgbClr val="002060"/>
                    </a:solidFill>
                  </a:endParaRPr>
                </a:p>
              </p:txBody>
            </p:sp>
          </mc:Choice>
          <mc:Fallback>
            <p:sp>
              <p:nvSpPr>
                <p:cNvPr id="4" name="CuadroTexto 3">
                  <a:extLst>
                    <a:ext uri="{FF2B5EF4-FFF2-40B4-BE49-F238E27FC236}">
                      <a16:creationId xmlns:a16="http://schemas.microsoft.com/office/drawing/2014/main" id="{B9929AA4-6E37-496C-A366-0EAF56DE5D8D}"/>
                    </a:ext>
                  </a:extLst>
                </p:cNvPr>
                <p:cNvSpPr txBox="1">
                  <a:spLocks noRot="1" noChangeAspect="1" noMove="1" noResize="1" noEditPoints="1" noAdjustHandles="1" noChangeArrowheads="1" noChangeShapeType="1" noTextEdit="1"/>
                </p:cNvSpPr>
                <p:nvPr/>
              </p:nvSpPr>
              <p:spPr>
                <a:xfrm>
                  <a:off x="6165850" y="2456689"/>
                  <a:ext cx="352097" cy="307777"/>
                </a:xfrm>
                <a:prstGeom prst="rect">
                  <a:avLst/>
                </a:prstGeom>
                <a:blipFill>
                  <a:blip r:embed="rId6"/>
                  <a:stretch>
                    <a:fillRect b="-6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0B55DC9D-7CBB-46E7-83C1-44C584C7EE79}"/>
                    </a:ext>
                  </a:extLst>
                </p:cNvPr>
                <p:cNvSpPr txBox="1"/>
                <p:nvPr/>
              </p:nvSpPr>
              <p:spPr>
                <a:xfrm>
                  <a:off x="4689996" y="3215799"/>
                  <a:ext cx="352097" cy="30777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s-MX" sz="2000" b="1" i="1" u="sng" smtClean="0">
                            <a:solidFill>
                              <a:srgbClr val="002060"/>
                            </a:solidFill>
                            <a:latin typeface="Cambria Math" panose="02040503050406030204" pitchFamily="18" charset="0"/>
                          </a:rPr>
                          <m:t>𝑻𝑷</m:t>
                        </m:r>
                      </m:oMath>
                    </m:oMathPara>
                  </a14:m>
                  <a:endParaRPr lang="es-CO" sz="2000" b="1" u="sng" dirty="0">
                    <a:solidFill>
                      <a:srgbClr val="002060"/>
                    </a:solidFill>
                  </a:endParaRPr>
                </a:p>
              </p:txBody>
            </p:sp>
          </mc:Choice>
          <mc:Fallback>
            <p:sp>
              <p:nvSpPr>
                <p:cNvPr id="16" name="CuadroTexto 15">
                  <a:extLst>
                    <a:ext uri="{FF2B5EF4-FFF2-40B4-BE49-F238E27FC236}">
                      <a16:creationId xmlns:a16="http://schemas.microsoft.com/office/drawing/2014/main" id="{0B55DC9D-7CBB-46E7-83C1-44C584C7EE79}"/>
                    </a:ext>
                  </a:extLst>
                </p:cNvPr>
                <p:cNvSpPr txBox="1">
                  <a:spLocks noRot="1" noChangeAspect="1" noMove="1" noResize="1" noEditPoints="1" noAdjustHandles="1" noChangeArrowheads="1" noChangeShapeType="1" noTextEdit="1"/>
                </p:cNvSpPr>
                <p:nvPr/>
              </p:nvSpPr>
              <p:spPr>
                <a:xfrm>
                  <a:off x="4689996" y="3215799"/>
                  <a:ext cx="352097" cy="307777"/>
                </a:xfrm>
                <a:prstGeom prst="rect">
                  <a:avLst/>
                </a:prstGeom>
                <a:blipFill>
                  <a:blip r:embed="rId7"/>
                  <a:stretch>
                    <a:fillRect l="-22414" r="-22414" b="-5882"/>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56D37087-5502-4959-B6D9-2ED41CC17894}"/>
                    </a:ext>
                  </a:extLst>
                </p:cNvPr>
                <p:cNvSpPr txBox="1"/>
                <p:nvPr/>
              </p:nvSpPr>
              <p:spPr>
                <a:xfrm>
                  <a:off x="5743903" y="4733560"/>
                  <a:ext cx="352097" cy="30777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s-MX" sz="2000" b="1" i="1" smtClean="0">
                            <a:solidFill>
                              <a:srgbClr val="002060"/>
                            </a:solidFill>
                            <a:latin typeface="Cambria Math" panose="02040503050406030204" pitchFamily="18" charset="0"/>
                          </a:rPr>
                          <m:t>𝑩</m:t>
                        </m:r>
                      </m:oMath>
                    </m:oMathPara>
                  </a14:m>
                  <a:endParaRPr lang="es-CO" sz="2000" b="1" dirty="0">
                    <a:solidFill>
                      <a:srgbClr val="002060"/>
                    </a:solidFill>
                  </a:endParaRPr>
                </a:p>
              </p:txBody>
            </p:sp>
          </mc:Choice>
          <mc:Fallback>
            <p:sp>
              <p:nvSpPr>
                <p:cNvPr id="17" name="CuadroTexto 16">
                  <a:extLst>
                    <a:ext uri="{FF2B5EF4-FFF2-40B4-BE49-F238E27FC236}">
                      <a16:creationId xmlns:a16="http://schemas.microsoft.com/office/drawing/2014/main" id="{56D37087-5502-4959-B6D9-2ED41CC17894}"/>
                    </a:ext>
                  </a:extLst>
                </p:cNvPr>
                <p:cNvSpPr txBox="1">
                  <a:spLocks noRot="1" noChangeAspect="1" noMove="1" noResize="1" noEditPoints="1" noAdjustHandles="1" noChangeArrowheads="1" noChangeShapeType="1" noTextEdit="1"/>
                </p:cNvSpPr>
                <p:nvPr/>
              </p:nvSpPr>
              <p:spPr>
                <a:xfrm>
                  <a:off x="5743903" y="4733560"/>
                  <a:ext cx="352097" cy="307777"/>
                </a:xfrm>
                <a:prstGeom prst="rect">
                  <a:avLst/>
                </a:prstGeom>
                <a:blipFill>
                  <a:blip r:embed="rId8"/>
                  <a:stretch>
                    <a:fillRect r="-1724" b="-5882"/>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95448343-AF79-4609-9A00-98BAB42C52CC}"/>
                    </a:ext>
                  </a:extLst>
                </p:cNvPr>
                <p:cNvSpPr txBox="1"/>
                <p:nvPr/>
              </p:nvSpPr>
              <p:spPr>
                <a:xfrm>
                  <a:off x="6678128" y="3440114"/>
                  <a:ext cx="352097" cy="30777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s-MX" sz="2000" b="1" i="1" smtClean="0">
                            <a:solidFill>
                              <a:srgbClr val="002060"/>
                            </a:solidFill>
                            <a:latin typeface="Cambria Math" panose="02040503050406030204" pitchFamily="18" charset="0"/>
                          </a:rPr>
                          <m:t>𝑪</m:t>
                        </m:r>
                      </m:oMath>
                    </m:oMathPara>
                  </a14:m>
                  <a:endParaRPr lang="es-CO" sz="2000" b="1" dirty="0">
                    <a:solidFill>
                      <a:srgbClr val="002060"/>
                    </a:solidFill>
                  </a:endParaRPr>
                </a:p>
              </p:txBody>
            </p:sp>
          </mc:Choice>
          <mc:Fallback>
            <p:sp>
              <p:nvSpPr>
                <p:cNvPr id="18" name="CuadroTexto 17">
                  <a:extLst>
                    <a:ext uri="{FF2B5EF4-FFF2-40B4-BE49-F238E27FC236}">
                      <a16:creationId xmlns:a16="http://schemas.microsoft.com/office/drawing/2014/main" id="{95448343-AF79-4609-9A00-98BAB42C52CC}"/>
                    </a:ext>
                  </a:extLst>
                </p:cNvPr>
                <p:cNvSpPr txBox="1">
                  <a:spLocks noRot="1" noChangeAspect="1" noMove="1" noResize="1" noEditPoints="1" noAdjustHandles="1" noChangeArrowheads="1" noChangeShapeType="1" noTextEdit="1"/>
                </p:cNvSpPr>
                <p:nvPr/>
              </p:nvSpPr>
              <p:spPr>
                <a:xfrm>
                  <a:off x="6678128" y="3440114"/>
                  <a:ext cx="352097" cy="307777"/>
                </a:xfrm>
                <a:prstGeom prst="rect">
                  <a:avLst/>
                </a:prstGeom>
                <a:blipFill>
                  <a:blip r:embed="rId9"/>
                  <a:stretch>
                    <a:fillRect b="-6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807CD2AC-F3E0-45C7-A8D7-8590CCD615E6}"/>
                    </a:ext>
                  </a:extLst>
                </p:cNvPr>
                <p:cNvSpPr txBox="1"/>
                <p:nvPr/>
              </p:nvSpPr>
              <p:spPr>
                <a:xfrm>
                  <a:off x="7890978" y="4733559"/>
                  <a:ext cx="352097" cy="30777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s-MX" sz="2000" b="1" i="1" smtClean="0">
                            <a:solidFill>
                              <a:srgbClr val="002060"/>
                            </a:solidFill>
                            <a:latin typeface="Cambria Math" panose="02040503050406030204" pitchFamily="18" charset="0"/>
                          </a:rPr>
                          <m:t>𝑬</m:t>
                        </m:r>
                      </m:oMath>
                    </m:oMathPara>
                  </a14:m>
                  <a:endParaRPr lang="es-CO" sz="2000" b="1" dirty="0">
                    <a:solidFill>
                      <a:srgbClr val="002060"/>
                    </a:solidFill>
                  </a:endParaRPr>
                </a:p>
              </p:txBody>
            </p:sp>
          </mc:Choice>
          <mc:Fallback>
            <p:sp>
              <p:nvSpPr>
                <p:cNvPr id="19" name="CuadroTexto 18">
                  <a:extLst>
                    <a:ext uri="{FF2B5EF4-FFF2-40B4-BE49-F238E27FC236}">
                      <a16:creationId xmlns:a16="http://schemas.microsoft.com/office/drawing/2014/main" id="{807CD2AC-F3E0-45C7-A8D7-8590CCD615E6}"/>
                    </a:ext>
                  </a:extLst>
                </p:cNvPr>
                <p:cNvSpPr txBox="1">
                  <a:spLocks noRot="1" noChangeAspect="1" noMove="1" noResize="1" noEditPoints="1" noAdjustHandles="1" noChangeArrowheads="1" noChangeShapeType="1" noTextEdit="1"/>
                </p:cNvSpPr>
                <p:nvPr/>
              </p:nvSpPr>
              <p:spPr>
                <a:xfrm>
                  <a:off x="7890978" y="4733559"/>
                  <a:ext cx="352097" cy="307777"/>
                </a:xfrm>
                <a:prstGeom prst="rect">
                  <a:avLst/>
                </a:prstGeom>
                <a:blipFill>
                  <a:blip r:embed="rId10"/>
                  <a:stretch>
                    <a:fillRect b="-5882"/>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74486A22-C2AE-4739-A886-19C58C30364C}"/>
                    </a:ext>
                  </a:extLst>
                </p:cNvPr>
                <p:cNvSpPr txBox="1"/>
                <p:nvPr/>
              </p:nvSpPr>
              <p:spPr>
                <a:xfrm>
                  <a:off x="8109768" y="2492953"/>
                  <a:ext cx="352097" cy="30777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s-MX" sz="2000" b="1" i="1" smtClean="0">
                            <a:solidFill>
                              <a:srgbClr val="002060"/>
                            </a:solidFill>
                            <a:latin typeface="Cambria Math" panose="02040503050406030204" pitchFamily="18" charset="0"/>
                          </a:rPr>
                          <m:t>𝑫</m:t>
                        </m:r>
                      </m:oMath>
                    </m:oMathPara>
                  </a14:m>
                  <a:endParaRPr lang="es-CO" sz="2000" b="1" dirty="0">
                    <a:solidFill>
                      <a:srgbClr val="002060"/>
                    </a:solidFill>
                  </a:endParaRPr>
                </a:p>
              </p:txBody>
            </p:sp>
          </mc:Choice>
          <mc:Fallback>
            <p:sp>
              <p:nvSpPr>
                <p:cNvPr id="20" name="CuadroTexto 19">
                  <a:extLst>
                    <a:ext uri="{FF2B5EF4-FFF2-40B4-BE49-F238E27FC236}">
                      <a16:creationId xmlns:a16="http://schemas.microsoft.com/office/drawing/2014/main" id="{74486A22-C2AE-4739-A886-19C58C30364C}"/>
                    </a:ext>
                  </a:extLst>
                </p:cNvPr>
                <p:cNvSpPr txBox="1">
                  <a:spLocks noRot="1" noChangeAspect="1" noMove="1" noResize="1" noEditPoints="1" noAdjustHandles="1" noChangeArrowheads="1" noChangeShapeType="1" noTextEdit="1"/>
                </p:cNvSpPr>
                <p:nvPr/>
              </p:nvSpPr>
              <p:spPr>
                <a:xfrm>
                  <a:off x="8109768" y="2492953"/>
                  <a:ext cx="352097" cy="307777"/>
                </a:xfrm>
                <a:prstGeom prst="rect">
                  <a:avLst/>
                </a:prstGeom>
                <a:blipFill>
                  <a:blip r:embed="rId11"/>
                  <a:stretch>
                    <a:fillRect l="-1724" r="-3448" b="-6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528ABD39-90D4-4D33-8EB0-793D251E9DF7}"/>
                    </a:ext>
                  </a:extLst>
                </p:cNvPr>
                <p:cNvSpPr txBox="1"/>
                <p:nvPr/>
              </p:nvSpPr>
              <p:spPr>
                <a:xfrm>
                  <a:off x="9492125" y="4159027"/>
                  <a:ext cx="352097" cy="307777"/>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s-MX" sz="2000" b="1" i="1" u="sng" smtClean="0">
                            <a:solidFill>
                              <a:srgbClr val="002060"/>
                            </a:solidFill>
                            <a:latin typeface="Cambria Math" panose="02040503050406030204" pitchFamily="18" charset="0"/>
                          </a:rPr>
                          <m:t>𝑮𝑮</m:t>
                        </m:r>
                      </m:oMath>
                    </m:oMathPara>
                  </a14:m>
                  <a:endParaRPr lang="es-CO" sz="2000" b="1" u="sng" dirty="0">
                    <a:solidFill>
                      <a:srgbClr val="002060"/>
                    </a:solidFill>
                  </a:endParaRPr>
                </a:p>
              </p:txBody>
            </p:sp>
          </mc:Choice>
          <mc:Fallback>
            <p:sp>
              <p:nvSpPr>
                <p:cNvPr id="22" name="CuadroTexto 21">
                  <a:extLst>
                    <a:ext uri="{FF2B5EF4-FFF2-40B4-BE49-F238E27FC236}">
                      <a16:creationId xmlns:a16="http://schemas.microsoft.com/office/drawing/2014/main" id="{528ABD39-90D4-4D33-8EB0-793D251E9DF7}"/>
                    </a:ext>
                  </a:extLst>
                </p:cNvPr>
                <p:cNvSpPr txBox="1">
                  <a:spLocks noRot="1" noChangeAspect="1" noMove="1" noResize="1" noEditPoints="1" noAdjustHandles="1" noChangeArrowheads="1" noChangeShapeType="1" noTextEdit="1"/>
                </p:cNvSpPr>
                <p:nvPr/>
              </p:nvSpPr>
              <p:spPr>
                <a:xfrm>
                  <a:off x="9492125" y="4159027"/>
                  <a:ext cx="352097" cy="307777"/>
                </a:xfrm>
                <a:prstGeom prst="rect">
                  <a:avLst/>
                </a:prstGeom>
                <a:blipFill>
                  <a:blip r:embed="rId12"/>
                  <a:stretch>
                    <a:fillRect l="-22414" r="-24138" b="-6000"/>
                  </a:stretch>
                </a:blipFill>
              </p:spPr>
              <p:txBody>
                <a:bodyPr/>
                <a:lstStyle/>
                <a:p>
                  <a:r>
                    <a:rPr lang="es-CO">
                      <a:noFill/>
                    </a:rPr>
                    <a:t> </a:t>
                  </a:r>
                </a:p>
              </p:txBody>
            </p:sp>
          </mc:Fallback>
        </mc:AlternateContent>
      </p:grpSp>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0B57BBFC-B71B-4A08-A92F-ACB3CF4EF1BE}"/>
                  </a:ext>
                </a:extLst>
              </p:cNvPr>
              <p:cNvSpPr txBox="1"/>
              <p:nvPr/>
            </p:nvSpPr>
            <p:spPr>
              <a:xfrm>
                <a:off x="362606" y="4832317"/>
                <a:ext cx="11445766" cy="1785104"/>
              </a:xfrm>
              <a:prstGeom prst="rect">
                <a:avLst/>
              </a:prstGeom>
              <a:noFill/>
            </p:spPr>
            <p:txBody>
              <a:bodyPr wrap="square">
                <a:spAutoFit/>
              </a:bodyPr>
              <a:lstStyle/>
              <a:p>
                <a:r>
                  <a:rPr lang="es-CO" sz="2200" b="1" dirty="0"/>
                  <a:t>El mapa es una relación</a:t>
                </a:r>
                <a:r>
                  <a:rPr lang="es-CO" sz="2200" dirty="0"/>
                  <a:t>:  </a:t>
                </a:r>
                <a14:m>
                  <m:oMath xmlns:m="http://schemas.openxmlformats.org/officeDocument/2006/math">
                    <m:r>
                      <a:rPr lang="es-CO" sz="2200" i="1" dirty="0" smtClean="0">
                        <a:latin typeface="Cambria Math" panose="02040503050406030204" pitchFamily="18" charset="0"/>
                      </a:rPr>
                      <m:t>𝑥</m:t>
                    </m:r>
                    <m:r>
                      <a:rPr lang="es-CO" sz="2200" i="1" dirty="0" smtClean="0">
                        <a:latin typeface="Cambria Math" panose="02040503050406030204" pitchFamily="18" charset="0"/>
                      </a:rPr>
                      <m:t> </m:t>
                    </m:r>
                    <m:r>
                      <a:rPr lang="es-CO" sz="2200" i="1" dirty="0" smtClean="0">
                        <a:latin typeface="Cambria Math" panose="02040503050406030204" pitchFamily="18" charset="0"/>
                      </a:rPr>
                      <m:t>𝑅</m:t>
                    </m:r>
                    <m:r>
                      <a:rPr lang="es-CO" sz="2200" i="1" dirty="0" smtClean="0">
                        <a:latin typeface="Cambria Math" panose="02040503050406030204" pitchFamily="18" charset="0"/>
                      </a:rPr>
                      <m:t> </m:t>
                    </m:r>
                    <m:r>
                      <a:rPr lang="es-CO" sz="2200" i="1" dirty="0" smtClean="0">
                        <a:latin typeface="Cambria Math" panose="02040503050406030204" pitchFamily="18" charset="0"/>
                      </a:rPr>
                      <m:t>𝑦</m:t>
                    </m:r>
                  </m:oMath>
                </a14:m>
                <a:r>
                  <a:rPr lang="es-CO" sz="2200" dirty="0"/>
                  <a:t>  “si hay un tramo directo de </a:t>
                </a:r>
                <a:r>
                  <a:rPr lang="es-CO" sz="2200" b="1" i="1" dirty="0"/>
                  <a:t>x</a:t>
                </a:r>
                <a:r>
                  <a:rPr lang="es-CO" sz="2200" dirty="0"/>
                  <a:t> a </a:t>
                </a:r>
                <a:r>
                  <a:rPr lang="es-CO" sz="2200" b="1" i="1" dirty="0"/>
                  <a:t>y</a:t>
                </a:r>
                <a:r>
                  <a:rPr lang="es-CO" sz="2200" dirty="0"/>
                  <a:t>”</a:t>
                </a:r>
              </a:p>
              <a:p>
                <a:endParaRPr lang="es-CO" sz="2200" dirty="0"/>
              </a:p>
              <a:p>
                <a14:m>
                  <m:oMathPara xmlns:m="http://schemas.openxmlformats.org/officeDocument/2006/math">
                    <m:oMathParaPr>
                      <m:jc m:val="centerGroup"/>
                    </m:oMathParaPr>
                    <m:oMath xmlns:m="http://schemas.openxmlformats.org/officeDocument/2006/math">
                      <m:r>
                        <a:rPr lang="es-CO" sz="2200" i="1" dirty="0" smtClean="0">
                          <a:latin typeface="Cambria Math" panose="02040503050406030204" pitchFamily="18" charset="0"/>
                        </a:rPr>
                        <m:t>𝑅</m:t>
                      </m:r>
                      <m:r>
                        <a:rPr lang="es-CO" sz="2200" i="1" dirty="0" smtClean="0">
                          <a:latin typeface="Cambria Math" panose="02040503050406030204" pitchFamily="18" charset="0"/>
                        </a:rPr>
                        <m:t> = {(</m:t>
                      </m:r>
                      <m:r>
                        <a:rPr lang="es-CO" sz="2200" i="1" dirty="0" smtClean="0">
                          <a:latin typeface="Cambria Math" panose="02040503050406030204" pitchFamily="18" charset="0"/>
                        </a:rPr>
                        <m:t>𝑇𝑃</m:t>
                      </m:r>
                      <m:r>
                        <a:rPr lang="es-CO" sz="2200" i="1" dirty="0" smtClean="0">
                          <a:latin typeface="Cambria Math" panose="02040503050406030204" pitchFamily="18" charset="0"/>
                        </a:rPr>
                        <m:t>, </m:t>
                      </m:r>
                      <m:r>
                        <a:rPr lang="es-CO" sz="2200" i="1" dirty="0" smtClean="0">
                          <a:latin typeface="Cambria Math" panose="02040503050406030204" pitchFamily="18" charset="0"/>
                        </a:rPr>
                        <m:t>𝐴</m:t>
                      </m:r>
                      <m:r>
                        <a:rPr lang="es-CO" sz="2200" i="1" dirty="0" smtClean="0">
                          <a:latin typeface="Cambria Math" panose="02040503050406030204" pitchFamily="18" charset="0"/>
                        </a:rPr>
                        <m:t>), (</m:t>
                      </m:r>
                      <m:r>
                        <a:rPr lang="es-CO" sz="2200" i="1" dirty="0" smtClean="0">
                          <a:latin typeface="Cambria Math" panose="02040503050406030204" pitchFamily="18" charset="0"/>
                        </a:rPr>
                        <m:t>𝑇𝑃</m:t>
                      </m:r>
                      <m:r>
                        <a:rPr lang="es-CO" sz="2200" i="1" dirty="0" smtClean="0">
                          <a:latin typeface="Cambria Math" panose="02040503050406030204" pitchFamily="18" charset="0"/>
                        </a:rPr>
                        <m:t>, </m:t>
                      </m:r>
                      <m:r>
                        <a:rPr lang="es-CO" sz="2200" i="1" dirty="0" smtClean="0">
                          <a:latin typeface="Cambria Math" panose="02040503050406030204" pitchFamily="18" charset="0"/>
                        </a:rPr>
                        <m:t>𝐵</m:t>
                      </m:r>
                      <m:r>
                        <a:rPr lang="es-CO" sz="2200" i="1" dirty="0" smtClean="0">
                          <a:latin typeface="Cambria Math" panose="02040503050406030204" pitchFamily="18" charset="0"/>
                        </a:rPr>
                        <m:t>), (</m:t>
                      </m:r>
                      <m:r>
                        <a:rPr lang="es-CO" sz="2200" i="1" dirty="0" smtClean="0">
                          <a:latin typeface="Cambria Math" panose="02040503050406030204" pitchFamily="18" charset="0"/>
                        </a:rPr>
                        <m:t>𝐴</m:t>
                      </m:r>
                      <m:r>
                        <a:rPr lang="es-CO" sz="2200" i="1" dirty="0" smtClean="0">
                          <a:latin typeface="Cambria Math" panose="02040503050406030204" pitchFamily="18" charset="0"/>
                        </a:rPr>
                        <m:t>, </m:t>
                      </m:r>
                      <m:r>
                        <a:rPr lang="es-CO" sz="2200" i="1" dirty="0" smtClean="0">
                          <a:latin typeface="Cambria Math" panose="02040503050406030204" pitchFamily="18" charset="0"/>
                        </a:rPr>
                        <m:t>𝐷</m:t>
                      </m:r>
                      <m:r>
                        <a:rPr lang="es-CO" sz="2200" i="1" dirty="0" smtClean="0">
                          <a:latin typeface="Cambria Math" panose="02040503050406030204" pitchFamily="18" charset="0"/>
                        </a:rPr>
                        <m:t>), (</m:t>
                      </m:r>
                      <m:r>
                        <a:rPr lang="es-CO" sz="2200" i="1" dirty="0" smtClean="0">
                          <a:latin typeface="Cambria Math" panose="02040503050406030204" pitchFamily="18" charset="0"/>
                        </a:rPr>
                        <m:t>𝐵</m:t>
                      </m:r>
                      <m:r>
                        <a:rPr lang="es-CO" sz="2200" i="1" dirty="0" smtClean="0">
                          <a:latin typeface="Cambria Math" panose="02040503050406030204" pitchFamily="18" charset="0"/>
                        </a:rPr>
                        <m:t>, </m:t>
                      </m:r>
                      <m:r>
                        <a:rPr lang="es-CO" sz="2200" i="1" dirty="0" smtClean="0">
                          <a:latin typeface="Cambria Math" panose="02040503050406030204" pitchFamily="18" charset="0"/>
                        </a:rPr>
                        <m:t>𝐶</m:t>
                      </m:r>
                      <m:r>
                        <a:rPr lang="es-CO" sz="2200" i="1" dirty="0" smtClean="0">
                          <a:latin typeface="Cambria Math" panose="02040503050406030204" pitchFamily="18" charset="0"/>
                        </a:rPr>
                        <m:t>), (</m:t>
                      </m:r>
                      <m:r>
                        <a:rPr lang="es-CO" sz="2200" i="1" dirty="0" smtClean="0">
                          <a:latin typeface="Cambria Math" panose="02040503050406030204" pitchFamily="18" charset="0"/>
                        </a:rPr>
                        <m:t>𝐵</m:t>
                      </m:r>
                      <m:r>
                        <a:rPr lang="es-CO" sz="2200" i="1" dirty="0" smtClean="0">
                          <a:latin typeface="Cambria Math" panose="02040503050406030204" pitchFamily="18" charset="0"/>
                        </a:rPr>
                        <m:t>, </m:t>
                      </m:r>
                      <m:r>
                        <a:rPr lang="es-CO" sz="2200" i="1" dirty="0" smtClean="0">
                          <a:latin typeface="Cambria Math" panose="02040503050406030204" pitchFamily="18" charset="0"/>
                        </a:rPr>
                        <m:t>𝐸</m:t>
                      </m:r>
                      <m:r>
                        <a:rPr lang="es-CO" sz="2200" i="1" dirty="0" smtClean="0">
                          <a:latin typeface="Cambria Math" panose="02040503050406030204" pitchFamily="18" charset="0"/>
                        </a:rPr>
                        <m:t>), (</m:t>
                      </m:r>
                      <m:r>
                        <a:rPr lang="es-CO" sz="2200" i="1" dirty="0" smtClean="0">
                          <a:latin typeface="Cambria Math" panose="02040503050406030204" pitchFamily="18" charset="0"/>
                        </a:rPr>
                        <m:t>𝐶</m:t>
                      </m:r>
                      <m:r>
                        <a:rPr lang="es-CO" sz="2200" i="1" dirty="0" smtClean="0">
                          <a:latin typeface="Cambria Math" panose="02040503050406030204" pitchFamily="18" charset="0"/>
                        </a:rPr>
                        <m:t>, </m:t>
                      </m:r>
                      <m:r>
                        <a:rPr lang="es-CO" sz="2200" i="1" dirty="0" smtClean="0">
                          <a:latin typeface="Cambria Math" panose="02040503050406030204" pitchFamily="18" charset="0"/>
                        </a:rPr>
                        <m:t>𝐷</m:t>
                      </m:r>
                      <m:r>
                        <a:rPr lang="es-CO" sz="2200" i="1" dirty="0" smtClean="0">
                          <a:latin typeface="Cambria Math" panose="02040503050406030204" pitchFamily="18" charset="0"/>
                        </a:rPr>
                        <m:t>), (</m:t>
                      </m:r>
                      <m:r>
                        <a:rPr lang="es-CO" sz="2200" i="1" dirty="0" smtClean="0">
                          <a:latin typeface="Cambria Math" panose="02040503050406030204" pitchFamily="18" charset="0"/>
                        </a:rPr>
                        <m:t>𝐸</m:t>
                      </m:r>
                      <m:r>
                        <a:rPr lang="es-CO" sz="2200" i="1" dirty="0" smtClean="0">
                          <a:latin typeface="Cambria Math" panose="02040503050406030204" pitchFamily="18" charset="0"/>
                        </a:rPr>
                        <m:t>, </m:t>
                      </m:r>
                      <m:r>
                        <a:rPr lang="es-CO" sz="2200" i="1" dirty="0" smtClean="0">
                          <a:latin typeface="Cambria Math" panose="02040503050406030204" pitchFamily="18" charset="0"/>
                        </a:rPr>
                        <m:t>𝐷</m:t>
                      </m:r>
                      <m:r>
                        <a:rPr lang="es-CO" sz="2200" i="1" dirty="0" smtClean="0">
                          <a:latin typeface="Cambria Math" panose="02040503050406030204" pitchFamily="18" charset="0"/>
                        </a:rPr>
                        <m:t>), (</m:t>
                      </m:r>
                      <m:r>
                        <a:rPr lang="es-CO" sz="2200" i="1" dirty="0" smtClean="0">
                          <a:latin typeface="Cambria Math" panose="02040503050406030204" pitchFamily="18" charset="0"/>
                        </a:rPr>
                        <m:t>𝐷</m:t>
                      </m:r>
                      <m:r>
                        <a:rPr lang="es-CO" sz="2200" i="1" dirty="0" smtClean="0">
                          <a:latin typeface="Cambria Math" panose="02040503050406030204" pitchFamily="18" charset="0"/>
                        </a:rPr>
                        <m:t>, </m:t>
                      </m:r>
                      <m:r>
                        <a:rPr lang="es-CO" sz="2200" i="1" dirty="0" smtClean="0">
                          <a:latin typeface="Cambria Math" panose="02040503050406030204" pitchFamily="18" charset="0"/>
                        </a:rPr>
                        <m:t>𝐺𝐺</m:t>
                      </m:r>
                      <m:r>
                        <a:rPr lang="es-CO" sz="2200" i="1" dirty="0" smtClean="0">
                          <a:latin typeface="Cambria Math" panose="02040503050406030204" pitchFamily="18" charset="0"/>
                        </a:rPr>
                        <m:t>)}</m:t>
                      </m:r>
                    </m:oMath>
                  </m:oMathPara>
                </a14:m>
                <a:endParaRPr lang="es-CO" sz="2200" dirty="0"/>
              </a:p>
              <a:p>
                <a:endParaRPr lang="es-CO" sz="2200" dirty="0"/>
              </a:p>
              <a:p>
                <a:r>
                  <a:rPr lang="es-CO" sz="2200" b="1" dirty="0"/>
                  <a:t>Respuesta</a:t>
                </a:r>
                <a:r>
                  <a:rPr lang="es-CO" sz="2200" dirty="0"/>
                  <a:t>: </a:t>
                </a:r>
                <a14:m>
                  <m:oMath xmlns:m="http://schemas.openxmlformats.org/officeDocument/2006/math">
                    <m:r>
                      <a:rPr lang="es-CO" sz="2200" b="1" i="1" dirty="0" smtClean="0">
                        <a:latin typeface="Cambria Math" panose="02040503050406030204" pitchFamily="18" charset="0"/>
                      </a:rPr>
                      <m:t>𝑻𝑷</m:t>
                    </m:r>
                    <m:r>
                      <a:rPr lang="es-CO" sz="2200" b="1" i="1" dirty="0" smtClean="0">
                        <a:latin typeface="Cambria Math" panose="02040503050406030204" pitchFamily="18" charset="0"/>
                      </a:rPr>
                      <m:t> → </m:t>
                    </m:r>
                    <m:r>
                      <a:rPr lang="es-CO" sz="2200" b="1" i="1" dirty="0" smtClean="0">
                        <a:latin typeface="Cambria Math" panose="02040503050406030204" pitchFamily="18" charset="0"/>
                      </a:rPr>
                      <m:t>𝑨</m:t>
                    </m:r>
                    <m:r>
                      <a:rPr lang="es-CO" sz="2200" b="1" i="1" dirty="0" smtClean="0">
                        <a:latin typeface="Cambria Math" panose="02040503050406030204" pitchFamily="18" charset="0"/>
                      </a:rPr>
                      <m:t> → </m:t>
                    </m:r>
                    <m:r>
                      <a:rPr lang="es-CO" sz="2200" b="1" i="1" dirty="0" smtClean="0">
                        <a:latin typeface="Cambria Math" panose="02040503050406030204" pitchFamily="18" charset="0"/>
                      </a:rPr>
                      <m:t>𝑫</m:t>
                    </m:r>
                    <m:r>
                      <a:rPr lang="es-CO" sz="2200" b="1" i="1" dirty="0" smtClean="0">
                        <a:latin typeface="Cambria Math" panose="02040503050406030204" pitchFamily="18" charset="0"/>
                      </a:rPr>
                      <m:t> → </m:t>
                    </m:r>
                    <m:r>
                      <a:rPr lang="es-CO" sz="2200" b="1" i="1" dirty="0" smtClean="0">
                        <a:latin typeface="Cambria Math" panose="02040503050406030204" pitchFamily="18" charset="0"/>
                      </a:rPr>
                      <m:t>𝑮𝑮</m:t>
                    </m:r>
                    <m:r>
                      <a:rPr lang="es-CO" sz="2200" i="1" dirty="0" smtClean="0">
                        <a:latin typeface="Cambria Math" panose="02040503050406030204" pitchFamily="18" charset="0"/>
                      </a:rPr>
                      <m:t> </m:t>
                    </m:r>
                  </m:oMath>
                </a14:m>
                <a:r>
                  <a:rPr lang="es-CO" sz="2200" dirty="0"/>
                  <a:t>  (3 tramos).</a:t>
                </a:r>
              </a:p>
            </p:txBody>
          </p:sp>
        </mc:Choice>
        <mc:Fallback>
          <p:sp>
            <p:nvSpPr>
              <p:cNvPr id="26" name="CuadroTexto 25">
                <a:extLst>
                  <a:ext uri="{FF2B5EF4-FFF2-40B4-BE49-F238E27FC236}">
                    <a16:creationId xmlns:a16="http://schemas.microsoft.com/office/drawing/2014/main" id="{0B57BBFC-B71B-4A08-A92F-ACB3CF4EF1BE}"/>
                  </a:ext>
                </a:extLst>
              </p:cNvPr>
              <p:cNvSpPr txBox="1">
                <a:spLocks noRot="1" noChangeAspect="1" noMove="1" noResize="1" noEditPoints="1" noAdjustHandles="1" noChangeArrowheads="1" noChangeShapeType="1" noTextEdit="1"/>
              </p:cNvSpPr>
              <p:nvPr/>
            </p:nvSpPr>
            <p:spPr>
              <a:xfrm>
                <a:off x="362606" y="4832317"/>
                <a:ext cx="11445766" cy="1785104"/>
              </a:xfrm>
              <a:prstGeom prst="rect">
                <a:avLst/>
              </a:prstGeom>
              <a:blipFill>
                <a:blip r:embed="rId13"/>
                <a:stretch>
                  <a:fillRect l="-692" t="-2389" b="-5802"/>
                </a:stretch>
              </a:blipFill>
            </p:spPr>
            <p:txBody>
              <a:bodyPr/>
              <a:lstStyle/>
              <a:p>
                <a:r>
                  <a:rPr lang="es-CO">
                    <a:noFill/>
                  </a:rPr>
                  <a:t> </a:t>
                </a:r>
              </a:p>
            </p:txBody>
          </p:sp>
        </mc:Fallback>
      </mc:AlternateContent>
    </p:spTree>
    <p:extLst>
      <p:ext uri="{BB962C8B-B14F-4D97-AF65-F5344CB8AC3E}">
        <p14:creationId xmlns:p14="http://schemas.microsoft.com/office/powerpoint/2010/main" val="637804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192755" y="96038"/>
            <a:ext cx="9027896" cy="949500"/>
          </a:xfrm>
        </p:spPr>
        <p:txBody>
          <a:bodyPr/>
          <a:lstStyle/>
          <a:p>
            <a:r>
              <a:rPr lang="es-CO" dirty="0">
                <a:solidFill>
                  <a:schemeClr val="tx1"/>
                </a:solidFill>
                <a:latin typeface="+mj-lt"/>
              </a:rPr>
              <a:t>Introducción</a:t>
            </a:r>
          </a:p>
        </p:txBody>
      </p:sp>
      <p:sp>
        <p:nvSpPr>
          <p:cNvPr id="11" name="Google Shape;310;p34">
            <a:extLst>
              <a:ext uri="{FF2B5EF4-FFF2-40B4-BE49-F238E27FC236}">
                <a16:creationId xmlns:a16="http://schemas.microsoft.com/office/drawing/2014/main" id="{33B0782A-130C-4CEB-96DD-AF7689A521DE}"/>
              </a:ext>
            </a:extLst>
          </p:cNvPr>
          <p:cNvSpPr txBox="1">
            <a:spLocks/>
          </p:cNvSpPr>
          <p:nvPr/>
        </p:nvSpPr>
        <p:spPr>
          <a:xfrm>
            <a:off x="192755" y="1599944"/>
            <a:ext cx="6252828" cy="4924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Redes sociales</a:t>
            </a:r>
            <a:r>
              <a:rPr lang="es-MX" sz="2200" dirty="0">
                <a:latin typeface="+mn-lt"/>
                <a:ea typeface="Roboto" panose="02000000000000000000" pitchFamily="2" charset="0"/>
              </a:rPr>
              <a:t> (Ver </a:t>
            </a:r>
            <a:r>
              <a:rPr lang="es-CO" sz="2200" i="0" dirty="0">
                <a:solidFill>
                  <a:srgbClr val="333333"/>
                </a:solidFill>
                <a:effectLst/>
                <a:latin typeface="+mn-lt"/>
                <a:ea typeface="Roboto" panose="02000000000000000000" pitchFamily="2" charset="0"/>
              </a:rPr>
              <a:t>Grokking Algorithms</a:t>
            </a:r>
            <a:r>
              <a:rPr lang="es-CO" sz="2200" dirty="0">
                <a:latin typeface="+mn-lt"/>
                <a:ea typeface="Roboto" panose="02000000000000000000" pitchFamily="2" charset="0"/>
              </a:rPr>
              <a:t> (</a:t>
            </a:r>
            <a:r>
              <a:rPr lang="es-CO" sz="2200" dirty="0">
                <a:latin typeface="+mn-lt"/>
                <a:ea typeface="Roboto" panose="02000000000000000000" pitchFamily="2" charset="0"/>
                <a:hlinkClick r:id="rId3"/>
              </a:rPr>
              <a:t>link</a:t>
            </a:r>
            <a:r>
              <a:rPr lang="es-CO" sz="2200" dirty="0">
                <a:latin typeface="+mn-lt"/>
                <a:ea typeface="Roboto" panose="02000000000000000000" pitchFamily="2" charset="0"/>
              </a:rPr>
              <a:t>))</a:t>
            </a:r>
            <a:endParaRPr lang="es-MX" sz="2200" dirty="0">
              <a:latin typeface="+mn-lt"/>
              <a:ea typeface="Roboto" panose="02000000000000000000" pitchFamily="2" charset="0"/>
            </a:endParaRPr>
          </a:p>
        </p:txBody>
      </p:sp>
      <p:sp>
        <p:nvSpPr>
          <p:cNvPr id="9" name="Google Shape;310;p34">
            <a:extLst>
              <a:ext uri="{FF2B5EF4-FFF2-40B4-BE49-F238E27FC236}">
                <a16:creationId xmlns:a16="http://schemas.microsoft.com/office/drawing/2014/main" id="{A60A92E9-3EF5-4B66-92B1-3233A52F4C2B}"/>
              </a:ext>
            </a:extLst>
          </p:cNvPr>
          <p:cNvSpPr txBox="1">
            <a:spLocks/>
          </p:cNvSpPr>
          <p:nvPr/>
        </p:nvSpPr>
        <p:spPr>
          <a:xfrm>
            <a:off x="192755" y="1009531"/>
            <a:ext cx="10775014" cy="4924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800" b="1" dirty="0">
                <a:solidFill>
                  <a:schemeClr val="tx1"/>
                </a:solidFill>
                <a:latin typeface="+mn-lt"/>
                <a:ea typeface="Roboto" panose="02000000000000000000" pitchFamily="2" charset="0"/>
              </a:rPr>
              <a:t>Problema típico: ¿Cómo puedo representar las relaciones?</a:t>
            </a:r>
          </a:p>
        </p:txBody>
      </p:sp>
      <p:sp>
        <p:nvSpPr>
          <p:cNvPr id="12" name="CuadroTexto 11">
            <a:extLst>
              <a:ext uri="{FF2B5EF4-FFF2-40B4-BE49-F238E27FC236}">
                <a16:creationId xmlns:a16="http://schemas.microsoft.com/office/drawing/2014/main" id="{140CA7D2-7672-4259-BFE1-3A4C18058F91}"/>
              </a:ext>
            </a:extLst>
          </p:cNvPr>
          <p:cNvSpPr txBox="1"/>
          <p:nvPr/>
        </p:nvSpPr>
        <p:spPr>
          <a:xfrm>
            <a:off x="192754" y="6549469"/>
            <a:ext cx="9743541" cy="276999"/>
          </a:xfrm>
          <a:prstGeom prst="rect">
            <a:avLst/>
          </a:prstGeom>
          <a:noFill/>
        </p:spPr>
        <p:txBody>
          <a:bodyPr wrap="square">
            <a:spAutoFit/>
          </a:bodyPr>
          <a:lstStyle/>
          <a:p>
            <a:r>
              <a:rPr lang="es-CO" sz="1200" dirty="0">
                <a:latin typeface="Roboto" panose="02000000000000000000" pitchFamily="2" charset="0"/>
                <a:ea typeface="Roboto" panose="02000000000000000000" pitchFamily="2" charset="0"/>
                <a:hlinkClick r:id="rId4"/>
              </a:rPr>
              <a:t>https://github.com/egonSchiele/grokking_algorithms/blob/master/06_breadth-first_search/python/01_breadth-first_search.py</a:t>
            </a:r>
            <a:r>
              <a:rPr lang="es-CO" sz="1200" dirty="0">
                <a:latin typeface="Roboto" panose="02000000000000000000" pitchFamily="2" charset="0"/>
                <a:ea typeface="Roboto" panose="02000000000000000000" pitchFamily="2" charset="0"/>
              </a:rPr>
              <a:t> </a:t>
            </a:r>
          </a:p>
        </p:txBody>
      </p:sp>
      <p:grpSp>
        <p:nvGrpSpPr>
          <p:cNvPr id="7" name="Grupo 6">
            <a:extLst>
              <a:ext uri="{FF2B5EF4-FFF2-40B4-BE49-F238E27FC236}">
                <a16:creationId xmlns:a16="http://schemas.microsoft.com/office/drawing/2014/main" id="{71F8642B-BC32-446F-9DF9-E293924478CB}"/>
              </a:ext>
            </a:extLst>
          </p:cNvPr>
          <p:cNvGrpSpPr/>
          <p:nvPr/>
        </p:nvGrpSpPr>
        <p:grpSpPr>
          <a:xfrm>
            <a:off x="590687" y="2394694"/>
            <a:ext cx="4746170" cy="3852467"/>
            <a:chOff x="1090120" y="2228586"/>
            <a:chExt cx="4746170" cy="3852467"/>
          </a:xfrm>
        </p:grpSpPr>
        <p:pic>
          <p:nvPicPr>
            <p:cNvPr id="7172" name="Picture 4">
              <a:extLst>
                <a:ext uri="{FF2B5EF4-FFF2-40B4-BE49-F238E27FC236}">
                  <a16:creationId xmlns:a16="http://schemas.microsoft.com/office/drawing/2014/main" id="{DF2F96EE-D525-434E-A035-F605B49F45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0120" y="2575917"/>
              <a:ext cx="4746170" cy="350513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2" descr="Math flat icons. Vector colorful ...">
              <a:extLst>
                <a:ext uri="{FF2B5EF4-FFF2-40B4-BE49-F238E27FC236}">
                  <a16:creationId xmlns:a16="http://schemas.microsoft.com/office/drawing/2014/main" id="{FBF881A9-E20A-46CC-B304-818586E697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5446" y="2228586"/>
              <a:ext cx="606407" cy="5871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upo 4">
            <a:extLst>
              <a:ext uri="{FF2B5EF4-FFF2-40B4-BE49-F238E27FC236}">
                <a16:creationId xmlns:a16="http://schemas.microsoft.com/office/drawing/2014/main" id="{8B3F690D-3C8F-4286-ADD3-B3105C719522}"/>
              </a:ext>
            </a:extLst>
          </p:cNvPr>
          <p:cNvGrpSpPr/>
          <p:nvPr/>
        </p:nvGrpSpPr>
        <p:grpSpPr>
          <a:xfrm>
            <a:off x="5958520" y="2585250"/>
            <a:ext cx="5883342" cy="3387539"/>
            <a:chOff x="6438793" y="2544273"/>
            <a:chExt cx="5883342" cy="3387539"/>
          </a:xfrm>
        </p:grpSpPr>
        <p:sp>
          <p:nvSpPr>
            <p:cNvPr id="2" name="CuadroTexto 1">
              <a:extLst>
                <a:ext uri="{FF2B5EF4-FFF2-40B4-BE49-F238E27FC236}">
                  <a16:creationId xmlns:a16="http://schemas.microsoft.com/office/drawing/2014/main" id="{57FC675F-F26A-43AE-A918-6EF3F788A5AD}"/>
                </a:ext>
              </a:extLst>
            </p:cNvPr>
            <p:cNvSpPr txBox="1"/>
            <p:nvPr/>
          </p:nvSpPr>
          <p:spPr>
            <a:xfrm>
              <a:off x="6438793" y="2792491"/>
              <a:ext cx="5883342" cy="3139321"/>
            </a:xfrm>
            <a:prstGeom prst="rect">
              <a:avLst/>
            </a:prstGeom>
            <a:noFill/>
            <a:ln>
              <a:solidFill>
                <a:schemeClr val="tx1"/>
              </a:solidFill>
            </a:ln>
          </p:spPr>
          <p:txBody>
            <a:bodyPr wrap="none" rtlCol="0">
              <a:spAutoFit/>
            </a:bodyPr>
            <a:lstStyle/>
            <a:p>
              <a:r>
                <a:rPr lang="es-CO" sz="1800" dirty="0" err="1">
                  <a:latin typeface="Consolas" panose="020B0609020204030204" pitchFamily="49" charset="0"/>
                </a:rPr>
                <a:t>graph</a:t>
              </a:r>
              <a:r>
                <a:rPr lang="es-CO" sz="1800" dirty="0">
                  <a:latin typeface="Consolas" panose="020B0609020204030204" pitchFamily="49" charset="0"/>
                </a:rPr>
                <a:t> = {}</a:t>
              </a:r>
            </a:p>
            <a:p>
              <a:r>
                <a:rPr lang="es-CO" sz="1800" dirty="0" err="1">
                  <a:latin typeface="Consolas" panose="020B0609020204030204" pitchFamily="49" charset="0"/>
                </a:rPr>
                <a:t>graph</a:t>
              </a:r>
              <a:r>
                <a:rPr lang="es-CO" sz="1800" dirty="0">
                  <a:latin typeface="Consolas" panose="020B0609020204030204" pitchFamily="49" charset="0"/>
                </a:rPr>
                <a:t>["</a:t>
              </a:r>
              <a:r>
                <a:rPr lang="es-CO" sz="1800" dirty="0" err="1">
                  <a:latin typeface="Consolas" panose="020B0609020204030204" pitchFamily="49" charset="0"/>
                </a:rPr>
                <a:t>you</a:t>
              </a:r>
              <a:r>
                <a:rPr lang="es-CO" sz="1800" dirty="0">
                  <a:latin typeface="Consolas" panose="020B0609020204030204" pitchFamily="49" charset="0"/>
                </a:rPr>
                <a:t>"] = ["</a:t>
              </a:r>
              <a:r>
                <a:rPr lang="es-CO" sz="1800" dirty="0" err="1">
                  <a:latin typeface="Consolas" panose="020B0609020204030204" pitchFamily="49" charset="0"/>
                </a:rPr>
                <a:t>alice</a:t>
              </a:r>
              <a:r>
                <a:rPr lang="es-CO" sz="1800" dirty="0">
                  <a:latin typeface="Consolas" panose="020B0609020204030204" pitchFamily="49" charset="0"/>
                </a:rPr>
                <a:t>", "</a:t>
              </a:r>
              <a:r>
                <a:rPr lang="es-CO" sz="1800" dirty="0" err="1">
                  <a:latin typeface="Consolas" panose="020B0609020204030204" pitchFamily="49" charset="0"/>
                </a:rPr>
                <a:t>bob</a:t>
              </a:r>
              <a:r>
                <a:rPr lang="es-CO" sz="1800" dirty="0">
                  <a:latin typeface="Consolas" panose="020B0609020204030204" pitchFamily="49" charset="0"/>
                </a:rPr>
                <a:t>", "</a:t>
              </a:r>
              <a:r>
                <a:rPr lang="es-CO" sz="1800" dirty="0" err="1">
                  <a:latin typeface="Consolas" panose="020B0609020204030204" pitchFamily="49" charset="0"/>
                </a:rPr>
                <a:t>claire</a:t>
              </a:r>
              <a:r>
                <a:rPr lang="es-CO" sz="1800" dirty="0">
                  <a:latin typeface="Consolas" panose="020B0609020204030204" pitchFamily="49" charset="0"/>
                </a:rPr>
                <a:t>"]</a:t>
              </a:r>
            </a:p>
            <a:p>
              <a:r>
                <a:rPr lang="es-CO" sz="1800" dirty="0" err="1">
                  <a:latin typeface="Consolas" panose="020B0609020204030204" pitchFamily="49" charset="0"/>
                </a:rPr>
                <a:t>graph</a:t>
              </a:r>
              <a:r>
                <a:rPr lang="es-CO" sz="1800" dirty="0">
                  <a:latin typeface="Consolas" panose="020B0609020204030204" pitchFamily="49" charset="0"/>
                </a:rPr>
                <a:t>["</a:t>
              </a:r>
              <a:r>
                <a:rPr lang="es-CO" sz="1800" dirty="0" err="1">
                  <a:latin typeface="Consolas" panose="020B0609020204030204" pitchFamily="49" charset="0"/>
                </a:rPr>
                <a:t>bob</a:t>
              </a:r>
              <a:r>
                <a:rPr lang="es-CO" sz="1800" dirty="0">
                  <a:latin typeface="Consolas" panose="020B0609020204030204" pitchFamily="49" charset="0"/>
                </a:rPr>
                <a:t>"] = ["</a:t>
              </a:r>
              <a:r>
                <a:rPr lang="es-CO" sz="1800" dirty="0" err="1">
                  <a:latin typeface="Consolas" panose="020B0609020204030204" pitchFamily="49" charset="0"/>
                </a:rPr>
                <a:t>anuj</a:t>
              </a:r>
              <a:r>
                <a:rPr lang="es-CO" sz="1800" dirty="0">
                  <a:latin typeface="Consolas" panose="020B0609020204030204" pitchFamily="49" charset="0"/>
                </a:rPr>
                <a:t>", "</a:t>
              </a:r>
              <a:r>
                <a:rPr lang="es-CO" sz="1800" dirty="0" err="1">
                  <a:latin typeface="Consolas" panose="020B0609020204030204" pitchFamily="49" charset="0"/>
                </a:rPr>
                <a:t>peggy</a:t>
              </a:r>
              <a:r>
                <a:rPr lang="es-CO" sz="1800" dirty="0">
                  <a:latin typeface="Consolas" panose="020B0609020204030204" pitchFamily="49" charset="0"/>
                </a:rPr>
                <a:t>"]</a:t>
              </a:r>
            </a:p>
            <a:p>
              <a:r>
                <a:rPr lang="es-CO" sz="1800" dirty="0" err="1">
                  <a:latin typeface="Consolas" panose="020B0609020204030204" pitchFamily="49" charset="0"/>
                </a:rPr>
                <a:t>graph</a:t>
              </a:r>
              <a:r>
                <a:rPr lang="es-CO" sz="1800" dirty="0">
                  <a:latin typeface="Consolas" panose="020B0609020204030204" pitchFamily="49" charset="0"/>
                </a:rPr>
                <a:t>["</a:t>
              </a:r>
              <a:r>
                <a:rPr lang="es-CO" sz="1800" dirty="0" err="1">
                  <a:latin typeface="Consolas" panose="020B0609020204030204" pitchFamily="49" charset="0"/>
                </a:rPr>
                <a:t>alice</a:t>
              </a:r>
              <a:r>
                <a:rPr lang="es-CO" sz="1800" dirty="0">
                  <a:latin typeface="Consolas" panose="020B0609020204030204" pitchFamily="49" charset="0"/>
                </a:rPr>
                <a:t>"] = ["</a:t>
              </a:r>
              <a:r>
                <a:rPr lang="es-CO" sz="1800" dirty="0" err="1">
                  <a:latin typeface="Consolas" panose="020B0609020204030204" pitchFamily="49" charset="0"/>
                </a:rPr>
                <a:t>peggy</a:t>
              </a:r>
              <a:r>
                <a:rPr lang="es-CO" sz="1800" dirty="0">
                  <a:latin typeface="Consolas" panose="020B0609020204030204" pitchFamily="49" charset="0"/>
                </a:rPr>
                <a:t>"]</a:t>
              </a:r>
            </a:p>
            <a:p>
              <a:r>
                <a:rPr lang="es-CO" sz="1800" dirty="0" err="1">
                  <a:latin typeface="Consolas" panose="020B0609020204030204" pitchFamily="49" charset="0"/>
                </a:rPr>
                <a:t>graph</a:t>
              </a:r>
              <a:r>
                <a:rPr lang="es-CO" sz="1800" dirty="0">
                  <a:latin typeface="Consolas" panose="020B0609020204030204" pitchFamily="49" charset="0"/>
                </a:rPr>
                <a:t>["</a:t>
              </a:r>
              <a:r>
                <a:rPr lang="es-CO" sz="1800" dirty="0" err="1">
                  <a:latin typeface="Consolas" panose="020B0609020204030204" pitchFamily="49" charset="0"/>
                </a:rPr>
                <a:t>claire</a:t>
              </a:r>
              <a:r>
                <a:rPr lang="es-CO" sz="1800" dirty="0">
                  <a:latin typeface="Consolas" panose="020B0609020204030204" pitchFamily="49" charset="0"/>
                </a:rPr>
                <a:t>"] = ["</a:t>
              </a:r>
              <a:r>
                <a:rPr lang="es-CO" sz="1800" dirty="0" err="1">
                  <a:latin typeface="Consolas" panose="020B0609020204030204" pitchFamily="49" charset="0"/>
                </a:rPr>
                <a:t>thom</a:t>
              </a:r>
              <a:r>
                <a:rPr lang="es-CO" sz="1800" dirty="0">
                  <a:latin typeface="Consolas" panose="020B0609020204030204" pitchFamily="49" charset="0"/>
                </a:rPr>
                <a:t>", "</a:t>
              </a:r>
              <a:r>
                <a:rPr lang="es-CO" sz="1800" dirty="0" err="1">
                  <a:latin typeface="Consolas" panose="020B0609020204030204" pitchFamily="49" charset="0"/>
                </a:rPr>
                <a:t>jonny</a:t>
              </a:r>
              <a:r>
                <a:rPr lang="es-CO" sz="1800" dirty="0">
                  <a:latin typeface="Consolas" panose="020B0609020204030204" pitchFamily="49" charset="0"/>
                </a:rPr>
                <a:t>"]</a:t>
              </a:r>
            </a:p>
            <a:p>
              <a:r>
                <a:rPr lang="es-CO" sz="1800" dirty="0" err="1">
                  <a:latin typeface="Consolas" panose="020B0609020204030204" pitchFamily="49" charset="0"/>
                </a:rPr>
                <a:t>graph</a:t>
              </a:r>
              <a:r>
                <a:rPr lang="es-CO" sz="1800" dirty="0">
                  <a:latin typeface="Consolas" panose="020B0609020204030204" pitchFamily="49" charset="0"/>
                </a:rPr>
                <a:t>["</a:t>
              </a:r>
              <a:r>
                <a:rPr lang="es-CO" sz="1800" dirty="0" err="1">
                  <a:latin typeface="Consolas" panose="020B0609020204030204" pitchFamily="49" charset="0"/>
                </a:rPr>
                <a:t>anuj</a:t>
              </a:r>
              <a:r>
                <a:rPr lang="es-CO" sz="1800" dirty="0">
                  <a:latin typeface="Consolas" panose="020B0609020204030204" pitchFamily="49" charset="0"/>
                </a:rPr>
                <a:t>"] = []</a:t>
              </a:r>
            </a:p>
            <a:p>
              <a:r>
                <a:rPr lang="es-CO" sz="1800" dirty="0" err="1">
                  <a:latin typeface="Consolas" panose="020B0609020204030204" pitchFamily="49" charset="0"/>
                </a:rPr>
                <a:t>graph</a:t>
              </a:r>
              <a:r>
                <a:rPr lang="es-CO" sz="1800" dirty="0">
                  <a:latin typeface="Consolas" panose="020B0609020204030204" pitchFamily="49" charset="0"/>
                </a:rPr>
                <a:t>["</a:t>
              </a:r>
              <a:r>
                <a:rPr lang="es-CO" sz="1800" dirty="0" err="1">
                  <a:latin typeface="Consolas" panose="020B0609020204030204" pitchFamily="49" charset="0"/>
                </a:rPr>
                <a:t>peggy</a:t>
              </a:r>
              <a:r>
                <a:rPr lang="es-CO" sz="1800" dirty="0">
                  <a:latin typeface="Consolas" panose="020B0609020204030204" pitchFamily="49" charset="0"/>
                </a:rPr>
                <a:t>"] = []</a:t>
              </a:r>
            </a:p>
            <a:p>
              <a:r>
                <a:rPr lang="es-CO" sz="1800" dirty="0" err="1">
                  <a:latin typeface="Consolas" panose="020B0609020204030204" pitchFamily="49" charset="0"/>
                </a:rPr>
                <a:t>graph</a:t>
              </a:r>
              <a:r>
                <a:rPr lang="es-CO" sz="1800" dirty="0">
                  <a:latin typeface="Consolas" panose="020B0609020204030204" pitchFamily="49" charset="0"/>
                </a:rPr>
                <a:t>["</a:t>
              </a:r>
              <a:r>
                <a:rPr lang="es-CO" sz="1800" dirty="0" err="1">
                  <a:latin typeface="Consolas" panose="020B0609020204030204" pitchFamily="49" charset="0"/>
                </a:rPr>
                <a:t>thom</a:t>
              </a:r>
              <a:r>
                <a:rPr lang="es-CO" sz="1800" dirty="0">
                  <a:latin typeface="Consolas" panose="020B0609020204030204" pitchFamily="49" charset="0"/>
                </a:rPr>
                <a:t>"] = []</a:t>
              </a:r>
            </a:p>
            <a:p>
              <a:r>
                <a:rPr lang="es-CO" sz="1800" dirty="0" err="1">
                  <a:latin typeface="Consolas" panose="020B0609020204030204" pitchFamily="49" charset="0"/>
                </a:rPr>
                <a:t>graph</a:t>
              </a:r>
              <a:r>
                <a:rPr lang="es-CO" sz="1800" dirty="0">
                  <a:latin typeface="Consolas" panose="020B0609020204030204" pitchFamily="49" charset="0"/>
                </a:rPr>
                <a:t>["</a:t>
              </a:r>
              <a:r>
                <a:rPr lang="es-CO" sz="1800" dirty="0" err="1">
                  <a:latin typeface="Consolas" panose="020B0609020204030204" pitchFamily="49" charset="0"/>
                </a:rPr>
                <a:t>jonny</a:t>
              </a:r>
              <a:r>
                <a:rPr lang="es-CO" sz="1800" dirty="0">
                  <a:latin typeface="Consolas" panose="020B0609020204030204" pitchFamily="49" charset="0"/>
                </a:rPr>
                <a:t>"] = []</a:t>
              </a:r>
            </a:p>
            <a:p>
              <a:endParaRPr lang="es-CO" dirty="0">
                <a:latin typeface="Consolas" panose="020B0609020204030204" pitchFamily="49" charset="0"/>
              </a:endParaRPr>
            </a:p>
            <a:p>
              <a:r>
                <a:rPr lang="en-US" sz="1800" dirty="0">
                  <a:latin typeface="Consolas" panose="020B0609020204030204" pitchFamily="49" charset="0"/>
                </a:rPr>
                <a:t>R = {(x, y) for x in graph for y in graph[x]}</a:t>
              </a:r>
              <a:endParaRPr lang="es-CO" sz="1800" dirty="0">
                <a:latin typeface="Consolas" panose="020B0609020204030204" pitchFamily="49" charset="0"/>
              </a:endParaRPr>
            </a:p>
          </p:txBody>
        </p:sp>
        <p:pic>
          <p:nvPicPr>
            <p:cNvPr id="15" name="Picture 10">
              <a:extLst>
                <a:ext uri="{FF2B5EF4-FFF2-40B4-BE49-F238E27FC236}">
                  <a16:creationId xmlns:a16="http://schemas.microsoft.com/office/drawing/2014/main" id="{8CE8B888-80FD-4D9F-AED1-2A582470FE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24343" y="2544273"/>
              <a:ext cx="557243" cy="553503"/>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CuadroTexto 3">
            <a:extLst>
              <a:ext uri="{FF2B5EF4-FFF2-40B4-BE49-F238E27FC236}">
                <a16:creationId xmlns:a16="http://schemas.microsoft.com/office/drawing/2014/main" id="{DBC737F0-A671-41EC-8821-F7351933728F}"/>
              </a:ext>
            </a:extLst>
          </p:cNvPr>
          <p:cNvSpPr txBox="1"/>
          <p:nvPr/>
        </p:nvSpPr>
        <p:spPr>
          <a:xfrm>
            <a:off x="7598980" y="6036341"/>
            <a:ext cx="2337316" cy="369332"/>
          </a:xfrm>
          <a:prstGeom prst="rect">
            <a:avLst/>
          </a:prstGeom>
          <a:noFill/>
        </p:spPr>
        <p:txBody>
          <a:bodyPr wrap="square" rtlCol="0">
            <a:spAutoFit/>
          </a:bodyPr>
          <a:lstStyle/>
          <a:p>
            <a:r>
              <a:rPr lang="es-CO" b="1" dirty="0"/>
              <a:t>Código Python</a:t>
            </a:r>
            <a:r>
              <a:rPr lang="es-CO" dirty="0"/>
              <a:t> (</a:t>
            </a:r>
            <a:r>
              <a:rPr lang="es-CO" dirty="0">
                <a:hlinkClick r:id="rId8"/>
              </a:rPr>
              <a:t>link</a:t>
            </a:r>
            <a:r>
              <a:rPr lang="es-CO" dirty="0"/>
              <a:t>)</a:t>
            </a:r>
          </a:p>
        </p:txBody>
      </p:sp>
    </p:spTree>
    <p:extLst>
      <p:ext uri="{BB962C8B-B14F-4D97-AF65-F5344CB8AC3E}">
        <p14:creationId xmlns:p14="http://schemas.microsoft.com/office/powerpoint/2010/main" val="3851431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09717" y="96038"/>
            <a:ext cx="891093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309716" y="811274"/>
            <a:ext cx="10587093" cy="523220"/>
          </a:xfrm>
          <a:prstGeom prst="rect">
            <a:avLst/>
          </a:prstGeom>
          <a:noFill/>
        </p:spPr>
        <p:txBody>
          <a:bodyPr wrap="square" rtlCol="0">
            <a:spAutoFit/>
          </a:bodyPr>
          <a:lstStyle/>
          <a:p>
            <a:r>
              <a:rPr lang="es-MX" sz="2800" b="1" dirty="0">
                <a:ea typeface="Roboto" panose="02000000000000000000" pitchFamily="2" charset="0"/>
              </a:rPr>
              <a:t>N-tupla ordenada</a:t>
            </a:r>
          </a:p>
        </p:txBody>
      </p:sp>
      <mc:AlternateContent xmlns:mc="http://schemas.openxmlformats.org/markup-compatibility/2006">
        <mc:Choice xmlns:a14="http://schemas.microsoft.com/office/drawing/2010/main" Requires="a14">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297016" y="1176922"/>
                <a:ext cx="11624781" cy="25313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Una n-tupla, </a:t>
                </a:r>
                <a14:m>
                  <m:oMath xmlns:m="http://schemas.openxmlformats.org/officeDocument/2006/math">
                    <m:d>
                      <m:dPr>
                        <m:ctrlPr>
                          <a:rPr lang="es-MX" sz="2000" b="0" i="1" smtClean="0">
                            <a:latin typeface="Cambria Math" panose="02040503050406030204" pitchFamily="18" charset="0"/>
                            <a:ea typeface="Roboto" panose="02000000000000000000" pitchFamily="2" charset="0"/>
                          </a:rPr>
                        </m:ctrlPr>
                      </m:dPr>
                      <m:e>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𝑎</m:t>
                            </m:r>
                          </m:e>
                          <m:sub>
                            <m:r>
                              <a:rPr lang="es-MX" sz="2000" b="0" i="1" smtClean="0">
                                <a:latin typeface="Cambria Math" panose="02040503050406030204" pitchFamily="18" charset="0"/>
                                <a:ea typeface="Roboto" panose="02000000000000000000" pitchFamily="2" charset="0"/>
                              </a:rPr>
                              <m:t>1</m:t>
                            </m:r>
                          </m:sub>
                        </m:sSub>
                        <m:r>
                          <a:rPr lang="es-MX" sz="2000" b="0" i="1" smtClean="0">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b="0" i="1" smtClean="0">
                                <a:latin typeface="Cambria Math" panose="02040503050406030204" pitchFamily="18" charset="0"/>
                                <a:ea typeface="Roboto" panose="02000000000000000000" pitchFamily="2" charset="0"/>
                              </a:rPr>
                              <m:t>2</m:t>
                            </m:r>
                          </m:sub>
                        </m:sSub>
                        <m:r>
                          <a:rPr lang="es-MX" sz="2000" b="0" i="1" smtClean="0">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b="0" i="1" smtClean="0">
                                <a:latin typeface="Cambria Math" panose="02040503050406030204" pitchFamily="18" charset="0"/>
                                <a:ea typeface="Roboto" panose="02000000000000000000" pitchFamily="2" charset="0"/>
                              </a:rPr>
                              <m:t>𝑛</m:t>
                            </m:r>
                          </m:sub>
                        </m:sSub>
                      </m:e>
                    </m:d>
                  </m:oMath>
                </a14:m>
                <a:r>
                  <a:rPr lang="es-MX" sz="2000" dirty="0">
                    <a:latin typeface="+mn-lt"/>
                    <a:ea typeface="Roboto" panose="02000000000000000000" pitchFamily="2" charset="0"/>
                  </a:rPr>
                  <a:t>, es una secuencia ordenada y finita de </a:t>
                </a:r>
                <a14:m>
                  <m:oMath xmlns:m="http://schemas.openxmlformats.org/officeDocument/2006/math">
                    <m:r>
                      <a:rPr lang="es-MX" sz="2000" i="1">
                        <a:latin typeface="Cambria Math" panose="02040503050406030204" pitchFamily="18" charset="0"/>
                        <a:ea typeface="Roboto" panose="02000000000000000000" pitchFamily="2" charset="0"/>
                      </a:rPr>
                      <m:t>𝑛</m:t>
                    </m:r>
                  </m:oMath>
                </a14:m>
                <a:r>
                  <a:rPr lang="es-MX" sz="2000" dirty="0">
                    <a:latin typeface="+mn-lt"/>
                    <a:ea typeface="Roboto" panose="02000000000000000000" pitchFamily="2" charset="0"/>
                  </a:rPr>
                  <a:t> elementos donde:</a:t>
                </a:r>
              </a:p>
              <a:p>
                <a:r>
                  <a:rPr lang="es-MX" sz="2000" dirty="0">
                    <a:latin typeface="+mn-lt"/>
                    <a:ea typeface="Roboto" panose="02000000000000000000" pitchFamily="2" charset="0"/>
                  </a:rPr>
                  <a:t>El orden importa</a:t>
                </a:r>
              </a:p>
              <a:p>
                <a:r>
                  <a:rPr lang="es-MX" sz="2000" dirty="0">
                    <a:latin typeface="+mn-lt"/>
                    <a:ea typeface="Roboto" panose="02000000000000000000" pitchFamily="2" charset="0"/>
                  </a:rPr>
                  <a:t>Se permiten repeticiones</a:t>
                </a:r>
              </a:p>
              <a:p>
                <a:r>
                  <a:rPr lang="es-MX" sz="2000" dirty="0">
                    <a:latin typeface="+mn-lt"/>
                    <a:ea typeface="Roboto" panose="02000000000000000000" pitchFamily="2" charset="0"/>
                  </a:rPr>
                  <a:t>Igualdad</a:t>
                </a:r>
              </a:p>
              <a:p>
                <a:endParaRPr lang="es-MX" sz="2000" b="0" i="1"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d>
                        <m:dPr>
                          <m:ctrlPr>
                            <a:rPr lang="es-MX" sz="2000" b="0" i="1" smtClean="0">
                              <a:latin typeface="Cambria Math" panose="02040503050406030204" pitchFamily="18" charset="0"/>
                              <a:ea typeface="Roboto" panose="02000000000000000000" pitchFamily="2" charset="0"/>
                            </a:rPr>
                          </m:ctrlPr>
                        </m:dPr>
                        <m:e>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𝑎</m:t>
                              </m:r>
                            </m:e>
                            <m:sub>
                              <m:r>
                                <a:rPr lang="es-MX" sz="2000" b="0" i="1" smtClean="0">
                                  <a:latin typeface="Cambria Math" panose="02040503050406030204" pitchFamily="18" charset="0"/>
                                  <a:ea typeface="Roboto" panose="02000000000000000000" pitchFamily="2" charset="0"/>
                                </a:rPr>
                                <m:t>1</m:t>
                              </m:r>
                            </m:sub>
                          </m:sSub>
                          <m:r>
                            <a:rPr lang="es-MX" sz="2000" b="0" i="1" smtClean="0">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b="0" i="1" smtClean="0">
                                  <a:latin typeface="Cambria Math" panose="02040503050406030204" pitchFamily="18" charset="0"/>
                                  <a:ea typeface="Roboto" panose="02000000000000000000" pitchFamily="2" charset="0"/>
                                </a:rPr>
                                <m:t>2</m:t>
                              </m:r>
                            </m:sub>
                          </m:sSub>
                          <m:r>
                            <a:rPr lang="es-MX" sz="2000" b="0" i="1" smtClean="0">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b="0" i="1" smtClean="0">
                                  <a:latin typeface="Cambria Math" panose="02040503050406030204" pitchFamily="18" charset="0"/>
                                  <a:ea typeface="Roboto" panose="02000000000000000000" pitchFamily="2" charset="0"/>
                                </a:rPr>
                                <m:t>𝑛</m:t>
                              </m:r>
                            </m:sub>
                          </m:sSub>
                        </m:e>
                      </m:d>
                      <m:r>
                        <a:rPr lang="es-MX" sz="2000" b="0" i="1" smtClean="0">
                          <a:latin typeface="Cambria Math" panose="02040503050406030204" pitchFamily="18" charset="0"/>
                          <a:ea typeface="Roboto" panose="02000000000000000000" pitchFamily="2" charset="0"/>
                        </a:rPr>
                        <m:t>=</m:t>
                      </m:r>
                      <m:d>
                        <m:dPr>
                          <m:ctrlPr>
                            <a:rPr lang="es-MX" sz="2000" i="1">
                              <a:latin typeface="Cambria Math" panose="02040503050406030204" pitchFamily="18" charset="0"/>
                              <a:ea typeface="Roboto" panose="02000000000000000000" pitchFamily="2" charset="0"/>
                            </a:rPr>
                          </m:ctrlPr>
                        </m:dPr>
                        <m:e>
                          <m:sSub>
                            <m:sSubPr>
                              <m:ctrlPr>
                                <a:rPr lang="es-MX" sz="2000" i="1">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𝑏</m:t>
                              </m:r>
                            </m:e>
                            <m:sub>
                              <m:r>
                                <a:rPr lang="es-MX" sz="2000" i="1">
                                  <a:latin typeface="Cambria Math" panose="02040503050406030204" pitchFamily="18" charset="0"/>
                                  <a:ea typeface="Roboto" panose="02000000000000000000" pitchFamily="2" charset="0"/>
                                </a:rPr>
                                <m:t>1</m:t>
                              </m:r>
                            </m:sub>
                          </m:sSub>
                          <m:r>
                            <a:rPr lang="es-MX" sz="2000" i="1">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𝑏</m:t>
                              </m:r>
                            </m:e>
                            <m:sub>
                              <m:r>
                                <a:rPr lang="es-MX" sz="2000" i="1">
                                  <a:latin typeface="Cambria Math" panose="02040503050406030204" pitchFamily="18" charset="0"/>
                                  <a:ea typeface="Roboto" panose="02000000000000000000" pitchFamily="2" charset="0"/>
                                </a:rPr>
                                <m:t>2</m:t>
                              </m:r>
                            </m:sub>
                          </m:sSub>
                          <m:r>
                            <a:rPr lang="es-MX" sz="2000" i="1">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𝑏</m:t>
                              </m:r>
                            </m:e>
                            <m:sub>
                              <m:r>
                                <a:rPr lang="es-MX" sz="2000" i="1">
                                  <a:latin typeface="Cambria Math" panose="02040503050406030204" pitchFamily="18" charset="0"/>
                                  <a:ea typeface="Roboto" panose="02000000000000000000" pitchFamily="2" charset="0"/>
                                </a:rPr>
                                <m:t>𝑛</m:t>
                              </m:r>
                            </m:sub>
                          </m:sSub>
                        </m:e>
                      </m:d>
                      <m:r>
                        <a:rPr lang="es-MX" sz="2000" i="1" smtClean="0">
                          <a:latin typeface="Cambria Math" panose="02040503050406030204" pitchFamily="18" charset="0"/>
                          <a:ea typeface="Cambria Math" panose="02040503050406030204" pitchFamily="18"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i="1">
                              <a:latin typeface="Cambria Math" panose="02040503050406030204" pitchFamily="18" charset="0"/>
                              <a:ea typeface="Roboto" panose="02000000000000000000" pitchFamily="2" charset="0"/>
                            </a:rPr>
                            <m:t>1</m:t>
                          </m:r>
                        </m:sub>
                      </m:sSub>
                      <m:r>
                        <a:rPr lang="es-MX" sz="2000" b="0" i="1" smtClean="0">
                          <a:latin typeface="Cambria Math" panose="02040503050406030204" pitchFamily="18" charset="0"/>
                          <a:ea typeface="Roboto" panose="02000000000000000000" pitchFamily="2" charset="0"/>
                        </a:rPr>
                        <m:t>=</m:t>
                      </m:r>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𝑏</m:t>
                          </m:r>
                        </m:e>
                        <m:sub>
                          <m:r>
                            <a:rPr lang="es-MX" sz="2000" b="0" i="1" smtClean="0">
                              <a:latin typeface="Cambria Math" panose="02040503050406030204" pitchFamily="18" charset="0"/>
                              <a:ea typeface="Roboto" panose="02000000000000000000" pitchFamily="2" charset="0"/>
                            </a:rPr>
                            <m:t>1</m:t>
                          </m:r>
                        </m:sub>
                      </m:sSub>
                      <m:r>
                        <a:rPr lang="es-MX" sz="2000" b="0" i="1" smtClean="0">
                          <a:latin typeface="Cambria Math" panose="02040503050406030204" pitchFamily="18" charset="0"/>
                          <a:ea typeface="Cambria Math" panose="02040503050406030204" pitchFamily="18"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b="0" i="1" smtClean="0">
                              <a:latin typeface="Cambria Math" panose="02040503050406030204" pitchFamily="18" charset="0"/>
                              <a:ea typeface="Roboto" panose="02000000000000000000" pitchFamily="2" charset="0"/>
                            </a:rPr>
                            <m:t>2</m:t>
                          </m:r>
                        </m:sub>
                      </m:sSub>
                      <m:r>
                        <a:rPr lang="es-MX" sz="2000" i="1">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𝑏</m:t>
                          </m:r>
                        </m:e>
                        <m:sub>
                          <m:r>
                            <a:rPr lang="es-MX" sz="2000" b="0" i="1" smtClean="0">
                              <a:latin typeface="Cambria Math" panose="02040503050406030204" pitchFamily="18" charset="0"/>
                              <a:ea typeface="Roboto" panose="02000000000000000000" pitchFamily="2" charset="0"/>
                            </a:rPr>
                            <m:t>2</m:t>
                          </m:r>
                        </m:sub>
                      </m:sSub>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b="0" i="1" smtClean="0">
                              <a:latin typeface="Cambria Math" panose="02040503050406030204" pitchFamily="18" charset="0"/>
                              <a:ea typeface="Roboto" panose="02000000000000000000" pitchFamily="2" charset="0"/>
                            </a:rPr>
                            <m:t>𝑛</m:t>
                          </m:r>
                        </m:sub>
                      </m:sSub>
                      <m:r>
                        <a:rPr lang="es-MX" sz="2000" i="1">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𝑏</m:t>
                          </m:r>
                        </m:e>
                        <m:sub>
                          <m:r>
                            <a:rPr lang="es-MX" sz="2000" b="0" i="1" smtClean="0">
                              <a:latin typeface="Cambria Math" panose="02040503050406030204" pitchFamily="18" charset="0"/>
                              <a:ea typeface="Roboto" panose="02000000000000000000" pitchFamily="2" charset="0"/>
                            </a:rPr>
                            <m:t>𝑛</m:t>
                          </m:r>
                        </m:sub>
                      </m:sSub>
                    </m:oMath>
                  </m:oMathPara>
                </a14:m>
                <a:endParaRPr lang="es-MX" sz="2000" b="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lvl="1"/>
                <a:endParaRPr lang="es-MX" sz="2000" dirty="0">
                  <a:latin typeface="+mn-lt"/>
                  <a:ea typeface="Roboto" panose="02000000000000000000" pitchFamily="2" charset="0"/>
                </a:endParaRPr>
              </a:p>
              <a:p>
                <a:pPr lvl="1"/>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8" name="Google Shape;310;p34">
                <a:extLst>
                  <a:ext uri="{FF2B5EF4-FFF2-40B4-BE49-F238E27FC236}">
                    <a16:creationId xmlns:a16="http://schemas.microsoft.com/office/drawing/2014/main" id="{F6716F76-3AFE-471D-B156-0250FFA69F6E}"/>
                  </a:ext>
                </a:extLst>
              </p:cNvPr>
              <p:cNvSpPr txBox="1">
                <a:spLocks noRot="1" noChangeAspect="1" noMove="1" noResize="1" noEditPoints="1" noAdjustHandles="1" noChangeArrowheads="1" noChangeShapeType="1" noTextEdit="1"/>
              </p:cNvSpPr>
              <p:nvPr/>
            </p:nvSpPr>
            <p:spPr>
              <a:xfrm>
                <a:off x="297016" y="1176922"/>
                <a:ext cx="11624781" cy="2531350"/>
              </a:xfrm>
              <a:prstGeom prst="rect">
                <a:avLst/>
              </a:prstGeom>
              <a:blipFill>
                <a:blip r:embed="rId3"/>
                <a:stretch>
                  <a:fillRect/>
                </a:stretch>
              </a:blipFill>
              <a:ln>
                <a:noFill/>
              </a:ln>
            </p:spPr>
            <p:txBody>
              <a:bodyPr/>
              <a:lstStyle/>
              <a:p>
                <a:r>
                  <a:rPr lang="es-CO">
                    <a:noFill/>
                  </a:rPr>
                  <a:t> </a:t>
                </a:r>
              </a:p>
            </p:txBody>
          </p:sp>
        </mc:Fallback>
      </mc:AlternateContent>
      <p:grpSp>
        <p:nvGrpSpPr>
          <p:cNvPr id="4" name="Grupo 3">
            <a:extLst>
              <a:ext uri="{FF2B5EF4-FFF2-40B4-BE49-F238E27FC236}">
                <a16:creationId xmlns:a16="http://schemas.microsoft.com/office/drawing/2014/main" id="{EE0F5BAA-E863-404D-BE5D-8E13BCE3EBCA}"/>
              </a:ext>
            </a:extLst>
          </p:cNvPr>
          <p:cNvGrpSpPr/>
          <p:nvPr/>
        </p:nvGrpSpPr>
        <p:grpSpPr>
          <a:xfrm>
            <a:off x="288149" y="4205098"/>
            <a:ext cx="3252472" cy="2162510"/>
            <a:chOff x="759597" y="4180423"/>
            <a:chExt cx="3252472" cy="2162510"/>
          </a:xfrm>
        </p:grpSpPr>
        <p:pic>
          <p:nvPicPr>
            <p:cNvPr id="5" name="Picture 2" descr="Tutorial 1: Image Filtering">
              <a:extLst>
                <a:ext uri="{FF2B5EF4-FFF2-40B4-BE49-F238E27FC236}">
                  <a16:creationId xmlns:a16="http://schemas.microsoft.com/office/drawing/2014/main" id="{3AFC7D32-2F63-4C4F-ADCD-B82809D810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982" y="4180423"/>
              <a:ext cx="3044356" cy="173298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CCF561B5-C140-4E95-ABC0-B15ECC3AD0BE}"/>
                    </a:ext>
                  </a:extLst>
                </p:cNvPr>
                <p:cNvSpPr txBox="1"/>
                <p:nvPr/>
              </p:nvSpPr>
              <p:spPr>
                <a:xfrm>
                  <a:off x="759597" y="5973601"/>
                  <a:ext cx="32524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s-MX" b="1" i="1" smtClean="0">
                                <a:latin typeface="Cambria Math" panose="02040503050406030204" pitchFamily="18" charset="0"/>
                              </a:rPr>
                            </m:ctrlPr>
                          </m:dPr>
                          <m:e>
                            <m:r>
                              <a:rPr lang="es-MX" b="1" i="1" smtClean="0">
                                <a:solidFill>
                                  <a:srgbClr val="FF0000"/>
                                </a:solidFill>
                                <a:latin typeface="Cambria Math" panose="02040503050406030204" pitchFamily="18" charset="0"/>
                              </a:rPr>
                              <m:t>𝑹</m:t>
                            </m:r>
                            <m:r>
                              <a:rPr lang="es-MX" b="1" i="1" smtClean="0">
                                <a:latin typeface="Cambria Math" panose="02040503050406030204" pitchFamily="18" charset="0"/>
                              </a:rPr>
                              <m:t>,</m:t>
                            </m:r>
                            <m:r>
                              <a:rPr lang="es-MX" b="1" i="1" smtClean="0">
                                <a:solidFill>
                                  <a:srgbClr val="00B050"/>
                                </a:solidFill>
                                <a:latin typeface="Cambria Math" panose="02040503050406030204" pitchFamily="18" charset="0"/>
                              </a:rPr>
                              <m:t>𝑮</m:t>
                            </m:r>
                            <m:r>
                              <a:rPr lang="es-MX" b="1" i="1" smtClean="0">
                                <a:latin typeface="Cambria Math" panose="02040503050406030204" pitchFamily="18" charset="0"/>
                              </a:rPr>
                              <m:t>,</m:t>
                            </m:r>
                            <m:r>
                              <a:rPr lang="es-MX" b="1" i="1" smtClean="0">
                                <a:solidFill>
                                  <a:srgbClr val="002060"/>
                                </a:solidFill>
                                <a:latin typeface="Cambria Math" panose="02040503050406030204" pitchFamily="18" charset="0"/>
                              </a:rPr>
                              <m:t>𝑩</m:t>
                            </m:r>
                          </m:e>
                        </m:d>
                        <m:r>
                          <a:rPr lang="es-MX" b="1" i="0" smtClean="0">
                            <a:solidFill>
                              <a:srgbClr val="002060"/>
                            </a:solidFill>
                            <a:latin typeface="Cambria Math" panose="02040503050406030204" pitchFamily="18" charset="0"/>
                          </a:rPr>
                          <m:t>=</m:t>
                        </m:r>
                        <m:r>
                          <a:rPr lang="es-MX" b="1" i="0" smtClean="0">
                            <a:solidFill>
                              <a:schemeClr val="tx1"/>
                            </a:solidFill>
                            <a:latin typeface="Cambria Math" panose="02040503050406030204" pitchFamily="18" charset="0"/>
                          </a:rPr>
                          <m:t>(</m:t>
                        </m:r>
                        <m:r>
                          <a:rPr lang="es-MX" b="1" i="0" smtClean="0">
                            <a:solidFill>
                              <a:srgbClr val="FF0000"/>
                            </a:solidFill>
                            <a:latin typeface="Cambria Math" panose="02040503050406030204" pitchFamily="18" charset="0"/>
                          </a:rPr>
                          <m:t>𝟐𝟒𝟗</m:t>
                        </m:r>
                        <m:r>
                          <a:rPr lang="es-MX" b="1" i="0" smtClean="0">
                            <a:solidFill>
                              <a:schemeClr val="tx1"/>
                            </a:solidFill>
                            <a:latin typeface="Cambria Math" panose="02040503050406030204" pitchFamily="18" charset="0"/>
                          </a:rPr>
                          <m:t>,</m:t>
                        </m:r>
                        <m:r>
                          <a:rPr lang="es-MX" b="1" i="0" smtClean="0">
                            <a:solidFill>
                              <a:srgbClr val="00B050"/>
                            </a:solidFill>
                            <a:latin typeface="Cambria Math" panose="02040503050406030204" pitchFamily="18" charset="0"/>
                          </a:rPr>
                          <m:t>𝟐𝟏𝟓</m:t>
                        </m:r>
                        <m:r>
                          <a:rPr lang="es-MX" b="1" i="0" smtClean="0">
                            <a:solidFill>
                              <a:schemeClr val="tx1"/>
                            </a:solidFill>
                            <a:latin typeface="Cambria Math" panose="02040503050406030204" pitchFamily="18" charset="0"/>
                          </a:rPr>
                          <m:t>,</m:t>
                        </m:r>
                        <m:r>
                          <a:rPr lang="es-MX" b="1" i="0" smtClean="0">
                            <a:solidFill>
                              <a:srgbClr val="002060"/>
                            </a:solidFill>
                            <a:latin typeface="Cambria Math" panose="02040503050406030204" pitchFamily="18" charset="0"/>
                          </a:rPr>
                          <m:t>𝟐𝟎𝟑</m:t>
                        </m:r>
                        <m:r>
                          <a:rPr lang="es-MX" b="1" i="0" smtClean="0">
                            <a:solidFill>
                              <a:schemeClr val="tx1"/>
                            </a:solidFill>
                            <a:latin typeface="Cambria Math" panose="02040503050406030204" pitchFamily="18" charset="0"/>
                          </a:rPr>
                          <m:t>)</m:t>
                        </m:r>
                      </m:oMath>
                    </m:oMathPara>
                  </a14:m>
                  <a:endParaRPr lang="es-CO" b="1" dirty="0">
                    <a:solidFill>
                      <a:schemeClr val="tx1"/>
                    </a:solidFill>
                  </a:endParaRPr>
                </a:p>
              </p:txBody>
            </p:sp>
          </mc:Choice>
          <mc:Fallback>
            <p:sp>
              <p:nvSpPr>
                <p:cNvPr id="6" name="CuadroTexto 5">
                  <a:extLst>
                    <a:ext uri="{FF2B5EF4-FFF2-40B4-BE49-F238E27FC236}">
                      <a16:creationId xmlns:a16="http://schemas.microsoft.com/office/drawing/2014/main" id="{CCF561B5-C140-4E95-ABC0-B15ECC3AD0BE}"/>
                    </a:ext>
                  </a:extLst>
                </p:cNvPr>
                <p:cNvSpPr txBox="1">
                  <a:spLocks noRot="1" noChangeAspect="1" noMove="1" noResize="1" noEditPoints="1" noAdjustHandles="1" noChangeArrowheads="1" noChangeShapeType="1" noTextEdit="1"/>
                </p:cNvSpPr>
                <p:nvPr/>
              </p:nvSpPr>
              <p:spPr>
                <a:xfrm>
                  <a:off x="759597" y="5973601"/>
                  <a:ext cx="3252472" cy="369332"/>
                </a:xfrm>
                <a:prstGeom prst="rect">
                  <a:avLst/>
                </a:prstGeom>
                <a:blipFill>
                  <a:blip r:embed="rId5"/>
                  <a:stretch>
                    <a:fillRect b="-11475"/>
                  </a:stretch>
                </a:blipFill>
              </p:spPr>
              <p:txBody>
                <a:bodyPr/>
                <a:lstStyle/>
                <a:p>
                  <a:r>
                    <a:rPr lang="es-CO">
                      <a:noFill/>
                    </a:rPr>
                    <a:t> </a:t>
                  </a:r>
                </a:p>
              </p:txBody>
            </p:sp>
          </mc:Fallback>
        </mc:AlternateContent>
      </p:grpSp>
      <p:grpSp>
        <p:nvGrpSpPr>
          <p:cNvPr id="11" name="Grupo 10">
            <a:extLst>
              <a:ext uri="{FF2B5EF4-FFF2-40B4-BE49-F238E27FC236}">
                <a16:creationId xmlns:a16="http://schemas.microsoft.com/office/drawing/2014/main" id="{F1ED71E1-EC3A-403A-B130-248EC5113057}"/>
              </a:ext>
            </a:extLst>
          </p:cNvPr>
          <p:cNvGrpSpPr/>
          <p:nvPr/>
        </p:nvGrpSpPr>
        <p:grpSpPr>
          <a:xfrm>
            <a:off x="3540621" y="4132898"/>
            <a:ext cx="2891064" cy="2334760"/>
            <a:chOff x="4203419" y="4230918"/>
            <a:chExt cx="2669540" cy="1953177"/>
          </a:xfrm>
        </p:grpSpPr>
        <p:pic>
          <p:nvPicPr>
            <p:cNvPr id="9" name="Picture 2" descr="Coordinate System and Units | Adafruit GFX Graphics Library | Adafruit  Learning System">
              <a:extLst>
                <a:ext uri="{FF2B5EF4-FFF2-40B4-BE49-F238E27FC236}">
                  <a16:creationId xmlns:a16="http://schemas.microsoft.com/office/drawing/2014/main" id="{7C76340F-BA70-4006-B42E-ACD27F956A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3419" y="4230918"/>
              <a:ext cx="2669540" cy="177969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B860FFF1-9189-4998-A219-268A9096F752}"/>
                    </a:ext>
                  </a:extLst>
                </p:cNvPr>
                <p:cNvSpPr txBox="1"/>
                <p:nvPr/>
              </p:nvSpPr>
              <p:spPr>
                <a:xfrm>
                  <a:off x="4758408" y="5875125"/>
                  <a:ext cx="1794430" cy="3089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s-MX" b="1" i="1" smtClean="0">
                                <a:latin typeface="Cambria Math" panose="02040503050406030204" pitchFamily="18" charset="0"/>
                              </a:rPr>
                            </m:ctrlPr>
                          </m:dPr>
                          <m:e>
                            <m:r>
                              <a:rPr lang="es-MX" b="1" i="1" smtClean="0">
                                <a:latin typeface="Cambria Math" panose="02040503050406030204" pitchFamily="18" charset="0"/>
                              </a:rPr>
                              <m:t>𝒊</m:t>
                            </m:r>
                            <m:r>
                              <a:rPr lang="es-MX" b="1" i="1" smtClean="0">
                                <a:latin typeface="Cambria Math" panose="02040503050406030204" pitchFamily="18" charset="0"/>
                              </a:rPr>
                              <m:t>,</m:t>
                            </m:r>
                            <m:r>
                              <a:rPr lang="es-MX" b="1" i="1" smtClean="0">
                                <a:latin typeface="Cambria Math" panose="02040503050406030204" pitchFamily="18" charset="0"/>
                              </a:rPr>
                              <m:t>𝒋</m:t>
                            </m:r>
                          </m:e>
                        </m:d>
                        <m:r>
                          <a:rPr lang="es-MX" b="1" i="1" smtClean="0">
                            <a:latin typeface="Cambria Math" panose="02040503050406030204" pitchFamily="18" charset="0"/>
                          </a:rPr>
                          <m:t>=(</m:t>
                        </m:r>
                        <m:r>
                          <a:rPr lang="es-MX" b="1" i="1" smtClean="0">
                            <a:latin typeface="Cambria Math" panose="02040503050406030204" pitchFamily="18" charset="0"/>
                          </a:rPr>
                          <m:t>𝟏𝟖</m:t>
                        </m:r>
                        <m:r>
                          <a:rPr lang="es-MX" b="1" i="1" smtClean="0">
                            <a:latin typeface="Cambria Math" panose="02040503050406030204" pitchFamily="18" charset="0"/>
                          </a:rPr>
                          <m:t>,</m:t>
                        </m:r>
                        <m:r>
                          <a:rPr lang="es-MX" b="1" i="1" smtClean="0">
                            <a:latin typeface="Cambria Math" panose="02040503050406030204" pitchFamily="18" charset="0"/>
                          </a:rPr>
                          <m:t>𝟔</m:t>
                        </m:r>
                        <m:r>
                          <a:rPr lang="es-MX" b="1" i="1" smtClean="0">
                            <a:latin typeface="Cambria Math" panose="02040503050406030204" pitchFamily="18" charset="0"/>
                          </a:rPr>
                          <m:t>)</m:t>
                        </m:r>
                      </m:oMath>
                    </m:oMathPara>
                  </a14:m>
                  <a:endParaRPr lang="es-CO" b="1" dirty="0"/>
                </a:p>
              </p:txBody>
            </p:sp>
          </mc:Choice>
          <mc:Fallback>
            <p:sp>
              <p:nvSpPr>
                <p:cNvPr id="10" name="CuadroTexto 9">
                  <a:extLst>
                    <a:ext uri="{FF2B5EF4-FFF2-40B4-BE49-F238E27FC236}">
                      <a16:creationId xmlns:a16="http://schemas.microsoft.com/office/drawing/2014/main" id="{B860FFF1-9189-4998-A219-268A9096F752}"/>
                    </a:ext>
                  </a:extLst>
                </p:cNvPr>
                <p:cNvSpPr txBox="1">
                  <a:spLocks noRot="1" noChangeAspect="1" noMove="1" noResize="1" noEditPoints="1" noAdjustHandles="1" noChangeArrowheads="1" noChangeShapeType="1" noTextEdit="1"/>
                </p:cNvSpPr>
                <p:nvPr/>
              </p:nvSpPr>
              <p:spPr>
                <a:xfrm>
                  <a:off x="4758408" y="5875125"/>
                  <a:ext cx="1794430" cy="308970"/>
                </a:xfrm>
                <a:prstGeom prst="rect">
                  <a:avLst/>
                </a:prstGeom>
                <a:blipFill>
                  <a:blip r:embed="rId7"/>
                  <a:stretch>
                    <a:fillRect b="-13115"/>
                  </a:stretch>
                </a:blipFill>
              </p:spPr>
              <p:txBody>
                <a:bodyPr/>
                <a:lstStyle/>
                <a:p>
                  <a:r>
                    <a:rPr lang="es-CO">
                      <a:noFill/>
                    </a:rPr>
                    <a:t> </a:t>
                  </a:r>
                </a:p>
              </p:txBody>
            </p:sp>
          </mc:Fallback>
        </mc:AlternateContent>
      </p:grpSp>
      <p:grpSp>
        <p:nvGrpSpPr>
          <p:cNvPr id="15" name="Grupo 14">
            <a:extLst>
              <a:ext uri="{FF2B5EF4-FFF2-40B4-BE49-F238E27FC236}">
                <a16:creationId xmlns:a16="http://schemas.microsoft.com/office/drawing/2014/main" id="{D434A953-EDD8-4DC5-AE11-45BEAAA1E3B8}"/>
              </a:ext>
            </a:extLst>
          </p:cNvPr>
          <p:cNvGrpSpPr/>
          <p:nvPr/>
        </p:nvGrpSpPr>
        <p:grpSpPr>
          <a:xfrm>
            <a:off x="6567377" y="4175520"/>
            <a:ext cx="3173234" cy="2648445"/>
            <a:chOff x="6686863" y="4395256"/>
            <a:chExt cx="3173234" cy="2648445"/>
          </a:xfrm>
        </p:grpSpPr>
        <p:pic>
          <p:nvPicPr>
            <p:cNvPr id="3" name="Imagen 2">
              <a:extLst>
                <a:ext uri="{FF2B5EF4-FFF2-40B4-BE49-F238E27FC236}">
                  <a16:creationId xmlns:a16="http://schemas.microsoft.com/office/drawing/2014/main" id="{1AD08A83-3DC6-47C0-BFCF-2EE8B5307E0A}"/>
                </a:ext>
              </a:extLst>
            </p:cNvPr>
            <p:cNvPicPr>
              <a:picLocks noChangeAspect="1"/>
            </p:cNvPicPr>
            <p:nvPr/>
          </p:nvPicPr>
          <p:blipFill>
            <a:blip r:embed="rId8"/>
            <a:stretch>
              <a:fillRect/>
            </a:stretch>
          </p:blipFill>
          <p:spPr>
            <a:xfrm>
              <a:off x="7373403" y="4395256"/>
              <a:ext cx="1749623" cy="2249516"/>
            </a:xfrm>
            <a:prstGeom prst="rect">
              <a:avLst/>
            </a:prstGeom>
          </p:spPr>
        </p:pic>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F693020D-F3CF-4801-A7B3-CE57E6EF65AD}"/>
                    </a:ext>
                  </a:extLst>
                </p:cNvPr>
                <p:cNvSpPr txBox="1"/>
                <p:nvPr/>
              </p:nvSpPr>
              <p:spPr>
                <a:xfrm>
                  <a:off x="6686863" y="6705147"/>
                  <a:ext cx="3173234"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s-MX" sz="1600" b="1" i="1" smtClean="0">
                                <a:latin typeface="Cambria Math" panose="02040503050406030204" pitchFamily="18" charset="0"/>
                              </a:rPr>
                            </m:ctrlPr>
                          </m:dPr>
                          <m:e>
                            <m:r>
                              <a:rPr lang="es-MX" sz="1600" b="1" i="1" smtClean="0">
                                <a:latin typeface="Cambria Math" panose="02040503050406030204" pitchFamily="18" charset="0"/>
                              </a:rPr>
                              <m:t>𝑫𝑫</m:t>
                            </m:r>
                            <m:r>
                              <a:rPr lang="es-MX" sz="1600" b="1" i="1" smtClean="0">
                                <a:latin typeface="Cambria Math" panose="02040503050406030204" pitchFamily="18" charset="0"/>
                              </a:rPr>
                              <m:t>,</m:t>
                            </m:r>
                            <m:r>
                              <a:rPr lang="es-MX" sz="1600" b="1" i="1" smtClean="0">
                                <a:latin typeface="Cambria Math" panose="02040503050406030204" pitchFamily="18" charset="0"/>
                              </a:rPr>
                              <m:t>𝑴𝑴</m:t>
                            </m:r>
                            <m:r>
                              <a:rPr lang="es-MX" sz="1600" b="1" i="1" smtClean="0">
                                <a:latin typeface="Cambria Math" panose="02040503050406030204" pitchFamily="18" charset="0"/>
                              </a:rPr>
                              <m:t>,</m:t>
                            </m:r>
                            <m:r>
                              <a:rPr lang="es-MX" sz="1600" b="1" i="1" smtClean="0">
                                <a:latin typeface="Cambria Math" panose="02040503050406030204" pitchFamily="18" charset="0"/>
                              </a:rPr>
                              <m:t>𝒀𝒀𝒀𝒀</m:t>
                            </m:r>
                          </m:e>
                        </m:d>
                        <m:r>
                          <a:rPr lang="es-MX" sz="1600" b="1" i="1" smtClean="0">
                            <a:latin typeface="Cambria Math" panose="02040503050406030204" pitchFamily="18" charset="0"/>
                          </a:rPr>
                          <m:t>=</m:t>
                        </m:r>
                        <m:r>
                          <a:rPr lang="es-MX" sz="1600" b="1" i="0" smtClean="0">
                            <a:latin typeface="Cambria Math" panose="02040503050406030204" pitchFamily="18" charset="0"/>
                          </a:rPr>
                          <m:t>(</m:t>
                        </m:r>
                        <m:r>
                          <a:rPr lang="es-MX" sz="1600" b="1" i="0" smtClean="0">
                            <a:latin typeface="Cambria Math" panose="02040503050406030204" pitchFamily="18" charset="0"/>
                          </a:rPr>
                          <m:t>𝟏𝟑</m:t>
                        </m:r>
                        <m:r>
                          <a:rPr lang="es-MX" sz="1600" b="1" i="0" smtClean="0">
                            <a:latin typeface="Cambria Math" panose="02040503050406030204" pitchFamily="18" charset="0"/>
                          </a:rPr>
                          <m:t>,</m:t>
                        </m:r>
                        <m:r>
                          <a:rPr lang="es-MX" sz="1600" b="1" i="0" smtClean="0">
                            <a:latin typeface="Cambria Math" panose="02040503050406030204" pitchFamily="18" charset="0"/>
                          </a:rPr>
                          <m:t>𝟖</m:t>
                        </m:r>
                        <m:r>
                          <a:rPr lang="es-MX" sz="1600" b="1" i="0" smtClean="0">
                            <a:latin typeface="Cambria Math" panose="02040503050406030204" pitchFamily="18" charset="0"/>
                          </a:rPr>
                          <m:t>,</m:t>
                        </m:r>
                        <m:r>
                          <a:rPr lang="es-MX" sz="1600" b="1" i="0" smtClean="0">
                            <a:latin typeface="Cambria Math" panose="02040503050406030204" pitchFamily="18" charset="0"/>
                          </a:rPr>
                          <m:t>𝟐𝟎𝟐𝟏</m:t>
                        </m:r>
                        <m:r>
                          <a:rPr lang="es-MX" sz="1600" b="1" i="0" smtClean="0">
                            <a:latin typeface="Cambria Math" panose="02040503050406030204" pitchFamily="18" charset="0"/>
                          </a:rPr>
                          <m:t>)</m:t>
                        </m:r>
                      </m:oMath>
                    </m:oMathPara>
                  </a14:m>
                  <a:endParaRPr lang="es-CO" sz="1600" b="1" dirty="0"/>
                </a:p>
              </p:txBody>
            </p:sp>
          </mc:Choice>
          <mc:Fallback>
            <p:sp>
              <p:nvSpPr>
                <p:cNvPr id="12" name="CuadroTexto 11">
                  <a:extLst>
                    <a:ext uri="{FF2B5EF4-FFF2-40B4-BE49-F238E27FC236}">
                      <a16:creationId xmlns:a16="http://schemas.microsoft.com/office/drawing/2014/main" id="{F693020D-F3CF-4801-A7B3-CE57E6EF65AD}"/>
                    </a:ext>
                  </a:extLst>
                </p:cNvPr>
                <p:cNvSpPr txBox="1">
                  <a:spLocks noRot="1" noChangeAspect="1" noMove="1" noResize="1" noEditPoints="1" noAdjustHandles="1" noChangeArrowheads="1" noChangeShapeType="1" noTextEdit="1"/>
                </p:cNvSpPr>
                <p:nvPr/>
              </p:nvSpPr>
              <p:spPr>
                <a:xfrm>
                  <a:off x="6686863" y="6705147"/>
                  <a:ext cx="3173234" cy="338554"/>
                </a:xfrm>
                <a:prstGeom prst="rect">
                  <a:avLst/>
                </a:prstGeom>
                <a:blipFill>
                  <a:blip r:embed="rId9"/>
                  <a:stretch>
                    <a:fillRect b="-10909"/>
                  </a:stretch>
                </a:blipFill>
              </p:spPr>
              <p:txBody>
                <a:bodyPr/>
                <a:lstStyle/>
                <a:p>
                  <a:r>
                    <a:rPr lang="es-CO">
                      <a:noFill/>
                    </a:rPr>
                    <a:t> </a:t>
                  </a:r>
                </a:p>
              </p:txBody>
            </p:sp>
          </mc:Fallback>
        </mc:AlternateContent>
      </p:grpSp>
      <p:grpSp>
        <p:nvGrpSpPr>
          <p:cNvPr id="16" name="Grupo 15">
            <a:extLst>
              <a:ext uri="{FF2B5EF4-FFF2-40B4-BE49-F238E27FC236}">
                <a16:creationId xmlns:a16="http://schemas.microsoft.com/office/drawing/2014/main" id="{ED6C1A4C-F93E-48F5-8CD0-0F7F55BF56C3}"/>
              </a:ext>
            </a:extLst>
          </p:cNvPr>
          <p:cNvGrpSpPr/>
          <p:nvPr/>
        </p:nvGrpSpPr>
        <p:grpSpPr>
          <a:xfrm>
            <a:off x="9909269" y="4134486"/>
            <a:ext cx="1812282" cy="2580516"/>
            <a:chOff x="9871693" y="4040777"/>
            <a:chExt cx="1812282" cy="2580516"/>
          </a:xfrm>
        </p:grpSpPr>
        <p:pic>
          <p:nvPicPr>
            <p:cNvPr id="13" name="Picture 7">
              <a:extLst>
                <a:ext uri="{FF2B5EF4-FFF2-40B4-BE49-F238E27FC236}">
                  <a16:creationId xmlns:a16="http://schemas.microsoft.com/office/drawing/2014/main" id="{34861A34-EB79-438A-A30D-8314B7C7F5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46643" y="4040777"/>
              <a:ext cx="1619983" cy="215997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F79FF141-80D8-497F-891E-210289A6DCA7}"/>
                    </a:ext>
                  </a:extLst>
                </p:cNvPr>
                <p:cNvSpPr txBox="1"/>
                <p:nvPr/>
              </p:nvSpPr>
              <p:spPr>
                <a:xfrm>
                  <a:off x="9871693" y="6251961"/>
                  <a:ext cx="1812282"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s-MX" b="1" i="1" smtClean="0">
                                <a:solidFill>
                                  <a:schemeClr val="tx2">
                                    <a:lumMod val="50000"/>
                                  </a:schemeClr>
                                </a:solidFill>
                                <a:latin typeface="Cambria Math" panose="02040503050406030204" pitchFamily="18" charset="0"/>
                              </a:rPr>
                            </m:ctrlPr>
                          </m:dPr>
                          <m:e>
                            <m:r>
                              <a:rPr lang="es-MX" b="1" i="1" smtClean="0">
                                <a:solidFill>
                                  <a:schemeClr val="tx2">
                                    <a:lumMod val="50000"/>
                                  </a:schemeClr>
                                </a:solidFill>
                                <a:latin typeface="Cambria Math" panose="02040503050406030204" pitchFamily="18" charset="0"/>
                              </a:rPr>
                              <m:t>𝑮</m:t>
                            </m:r>
                          </m:e>
                        </m:d>
                        <m:r>
                          <a:rPr lang="es-MX" b="1" i="1" smtClean="0">
                            <a:solidFill>
                              <a:schemeClr val="tx2">
                                <a:lumMod val="50000"/>
                              </a:schemeClr>
                            </a:solidFill>
                            <a:latin typeface="Cambria Math" panose="02040503050406030204" pitchFamily="18" charset="0"/>
                          </a:rPr>
                          <m:t>=</m:t>
                        </m:r>
                        <m:d>
                          <m:dPr>
                            <m:ctrlPr>
                              <a:rPr lang="es-MX" b="1" i="1" smtClean="0">
                                <a:solidFill>
                                  <a:schemeClr val="tx2">
                                    <a:lumMod val="50000"/>
                                  </a:schemeClr>
                                </a:solidFill>
                                <a:latin typeface="Cambria Math" panose="02040503050406030204" pitchFamily="18" charset="0"/>
                              </a:rPr>
                            </m:ctrlPr>
                          </m:dPr>
                          <m:e>
                            <m:r>
                              <a:rPr lang="es-MX" b="1" i="1" smtClean="0">
                                <a:solidFill>
                                  <a:schemeClr val="tx2">
                                    <a:lumMod val="50000"/>
                                  </a:schemeClr>
                                </a:solidFill>
                                <a:latin typeface="Cambria Math" panose="02040503050406030204" pitchFamily="18" charset="0"/>
                              </a:rPr>
                              <m:t>𝟏𝟐𝟖</m:t>
                            </m:r>
                          </m:e>
                        </m:d>
                      </m:oMath>
                    </m:oMathPara>
                  </a14:m>
                  <a:endParaRPr lang="es-CO" b="1" dirty="0">
                    <a:solidFill>
                      <a:schemeClr val="tx2">
                        <a:lumMod val="50000"/>
                      </a:schemeClr>
                    </a:solidFill>
                  </a:endParaRPr>
                </a:p>
              </p:txBody>
            </p:sp>
          </mc:Choice>
          <mc:Fallback>
            <p:sp>
              <p:nvSpPr>
                <p:cNvPr id="14" name="CuadroTexto 13">
                  <a:extLst>
                    <a:ext uri="{FF2B5EF4-FFF2-40B4-BE49-F238E27FC236}">
                      <a16:creationId xmlns:a16="http://schemas.microsoft.com/office/drawing/2014/main" id="{F79FF141-80D8-497F-891E-210289A6DCA7}"/>
                    </a:ext>
                  </a:extLst>
                </p:cNvPr>
                <p:cNvSpPr txBox="1">
                  <a:spLocks noRot="1" noChangeAspect="1" noMove="1" noResize="1" noEditPoints="1" noAdjustHandles="1" noChangeArrowheads="1" noChangeShapeType="1" noTextEdit="1"/>
                </p:cNvSpPr>
                <p:nvPr/>
              </p:nvSpPr>
              <p:spPr>
                <a:xfrm>
                  <a:off x="9871693" y="6251961"/>
                  <a:ext cx="1812282" cy="369332"/>
                </a:xfrm>
                <a:prstGeom prst="rect">
                  <a:avLst/>
                </a:prstGeom>
                <a:blipFill>
                  <a:blip r:embed="rId11"/>
                  <a:stretch>
                    <a:fillRect/>
                  </a:stretch>
                </a:blipFill>
              </p:spPr>
              <p:txBody>
                <a:bodyPr/>
                <a:lstStyle/>
                <a:p>
                  <a:r>
                    <a:rPr lang="es-CO">
                      <a:noFill/>
                    </a:rPr>
                    <a:t> </a:t>
                  </a:r>
                </a:p>
              </p:txBody>
            </p:sp>
          </mc:Fallback>
        </mc:AlternateContent>
      </p:grpSp>
      <p:sp>
        <p:nvSpPr>
          <p:cNvPr id="17" name="CuadroTexto 16">
            <a:extLst>
              <a:ext uri="{FF2B5EF4-FFF2-40B4-BE49-F238E27FC236}">
                <a16:creationId xmlns:a16="http://schemas.microsoft.com/office/drawing/2014/main" id="{46EF5984-4FE2-4A71-AA10-85AAEB688860}"/>
              </a:ext>
            </a:extLst>
          </p:cNvPr>
          <p:cNvSpPr txBox="1"/>
          <p:nvPr/>
        </p:nvSpPr>
        <p:spPr>
          <a:xfrm>
            <a:off x="724054" y="3743074"/>
            <a:ext cx="2337316" cy="400110"/>
          </a:xfrm>
          <a:prstGeom prst="rect">
            <a:avLst/>
          </a:prstGeom>
          <a:noFill/>
        </p:spPr>
        <p:txBody>
          <a:bodyPr wrap="square" rtlCol="0">
            <a:spAutoFit/>
          </a:bodyPr>
          <a:lstStyle/>
          <a:p>
            <a:pPr algn="ctr"/>
            <a:r>
              <a:rPr lang="es-CO" sz="2000" b="1" dirty="0"/>
              <a:t>3-tupla (terna)</a:t>
            </a:r>
            <a:endParaRPr lang="es-CO" sz="2000" dirty="0"/>
          </a:p>
        </p:txBody>
      </p:sp>
      <p:sp>
        <p:nvSpPr>
          <p:cNvPr id="18" name="CuadroTexto 17">
            <a:extLst>
              <a:ext uri="{FF2B5EF4-FFF2-40B4-BE49-F238E27FC236}">
                <a16:creationId xmlns:a16="http://schemas.microsoft.com/office/drawing/2014/main" id="{AAA60F04-8E4D-404E-89FE-F90BC4E5073E}"/>
              </a:ext>
            </a:extLst>
          </p:cNvPr>
          <p:cNvSpPr txBox="1"/>
          <p:nvPr/>
        </p:nvSpPr>
        <p:spPr>
          <a:xfrm>
            <a:off x="3878119" y="3683169"/>
            <a:ext cx="2337316" cy="400110"/>
          </a:xfrm>
          <a:prstGeom prst="rect">
            <a:avLst/>
          </a:prstGeom>
          <a:noFill/>
        </p:spPr>
        <p:txBody>
          <a:bodyPr wrap="square" rtlCol="0">
            <a:spAutoFit/>
          </a:bodyPr>
          <a:lstStyle/>
          <a:p>
            <a:pPr algn="ctr"/>
            <a:r>
              <a:rPr lang="es-CO" sz="2000" b="1" dirty="0"/>
              <a:t>2-tupla (par)</a:t>
            </a:r>
            <a:endParaRPr lang="es-CO" sz="2000" dirty="0"/>
          </a:p>
        </p:txBody>
      </p:sp>
      <p:sp>
        <p:nvSpPr>
          <p:cNvPr id="19" name="CuadroTexto 18">
            <a:extLst>
              <a:ext uri="{FF2B5EF4-FFF2-40B4-BE49-F238E27FC236}">
                <a16:creationId xmlns:a16="http://schemas.microsoft.com/office/drawing/2014/main" id="{DF610305-3F53-4A85-9AD3-C101A6320BC9}"/>
              </a:ext>
            </a:extLst>
          </p:cNvPr>
          <p:cNvSpPr txBox="1"/>
          <p:nvPr/>
        </p:nvSpPr>
        <p:spPr>
          <a:xfrm>
            <a:off x="6894203" y="3636721"/>
            <a:ext cx="2337316" cy="400110"/>
          </a:xfrm>
          <a:prstGeom prst="rect">
            <a:avLst/>
          </a:prstGeom>
          <a:noFill/>
        </p:spPr>
        <p:txBody>
          <a:bodyPr wrap="square" rtlCol="0">
            <a:spAutoFit/>
          </a:bodyPr>
          <a:lstStyle/>
          <a:p>
            <a:pPr algn="ctr"/>
            <a:r>
              <a:rPr lang="es-CO" sz="2000" b="1" dirty="0"/>
              <a:t>3-tupla (terna)</a:t>
            </a:r>
            <a:endParaRPr lang="es-CO" sz="2000" dirty="0"/>
          </a:p>
        </p:txBody>
      </p:sp>
      <p:sp>
        <p:nvSpPr>
          <p:cNvPr id="21" name="CuadroTexto 20">
            <a:extLst>
              <a:ext uri="{FF2B5EF4-FFF2-40B4-BE49-F238E27FC236}">
                <a16:creationId xmlns:a16="http://schemas.microsoft.com/office/drawing/2014/main" id="{1FCAE35A-09FF-4339-8EF5-720D9A996CAA}"/>
              </a:ext>
            </a:extLst>
          </p:cNvPr>
          <p:cNvSpPr txBox="1"/>
          <p:nvPr/>
        </p:nvSpPr>
        <p:spPr>
          <a:xfrm>
            <a:off x="10033006" y="3683169"/>
            <a:ext cx="1435149" cy="400110"/>
          </a:xfrm>
          <a:prstGeom prst="rect">
            <a:avLst/>
          </a:prstGeom>
          <a:noFill/>
        </p:spPr>
        <p:txBody>
          <a:bodyPr wrap="square" rtlCol="0">
            <a:spAutoFit/>
          </a:bodyPr>
          <a:lstStyle/>
          <a:p>
            <a:pPr algn="ctr"/>
            <a:r>
              <a:rPr lang="es-CO" sz="2000" b="1" dirty="0"/>
              <a:t>1-tupla</a:t>
            </a:r>
            <a:endParaRPr lang="es-CO" sz="2000" dirty="0"/>
          </a:p>
        </p:txBody>
      </p:sp>
    </p:spTree>
    <p:extLst>
      <p:ext uri="{BB962C8B-B14F-4D97-AF65-F5344CB8AC3E}">
        <p14:creationId xmlns:p14="http://schemas.microsoft.com/office/powerpoint/2010/main" val="3727400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53962" y="96038"/>
            <a:ext cx="886668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353962" y="798698"/>
            <a:ext cx="11149782" cy="492443"/>
          </a:xfrm>
          <a:prstGeom prst="rect">
            <a:avLst/>
          </a:prstGeom>
          <a:noFill/>
        </p:spPr>
        <p:txBody>
          <a:bodyPr wrap="square" rtlCol="0">
            <a:spAutoFit/>
          </a:bodyPr>
          <a:lstStyle/>
          <a:p>
            <a:r>
              <a:rPr lang="es-MX" sz="2600" b="1" dirty="0">
                <a:ea typeface="Roboto" panose="02000000000000000000" pitchFamily="2" charset="0"/>
              </a:rPr>
              <a:t>Producto cartesiano: Fabrica para crear tuplas</a:t>
            </a:r>
          </a:p>
        </p:txBody>
      </p:sp>
      <mc:AlternateContent xmlns:mc="http://schemas.openxmlformats.org/markup-compatibility/2006">
        <mc:Choice xmlns:a14="http://schemas.microsoft.com/office/drawing/2010/main" Requires="a14">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206478" y="1231181"/>
                <a:ext cx="11750696" cy="19957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El producto cartesiano </a:t>
                </a:r>
                <a14:m>
                  <m:oMath xmlns:m="http://schemas.openxmlformats.org/officeDocument/2006/math">
                    <m:r>
                      <a:rPr lang="es-MX" sz="2200" i="1">
                        <a:latin typeface="Cambria Math" panose="02040503050406030204" pitchFamily="18" charset="0"/>
                        <a:ea typeface="Roboto" panose="02000000000000000000" pitchFamily="2" charset="0"/>
                      </a:rPr>
                      <m:t>𝐴</m:t>
                    </m:r>
                    <m:r>
                      <a:rPr lang="es-MX" sz="2200" i="1">
                        <a:latin typeface="Cambria Math" panose="02040503050406030204" pitchFamily="18" charset="0"/>
                        <a:ea typeface="Roboto" panose="02000000000000000000" pitchFamily="2" charset="0"/>
                      </a:rPr>
                      <m:t> </m:t>
                    </m:r>
                  </m:oMath>
                </a14:m>
                <a:r>
                  <a:rPr lang="es-MX" sz="2200" dirty="0">
                    <a:latin typeface="+mn-lt"/>
                    <a:ea typeface="Roboto" panose="02000000000000000000" pitchFamily="2" charset="0"/>
                  </a:rPr>
                  <a:t>y </a:t>
                </a:r>
                <a14:m>
                  <m:oMath xmlns:m="http://schemas.openxmlformats.org/officeDocument/2006/math">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 es el conjunto de todas las posibles parejas </a:t>
                </a:r>
                <a14:m>
                  <m:oMath xmlns:m="http://schemas.openxmlformats.org/officeDocument/2006/math">
                    <m:d>
                      <m:dPr>
                        <m:ctrlPr>
                          <a:rPr lang="es-MX" sz="2200" b="0" i="1" smtClean="0">
                            <a:latin typeface="Cambria Math" panose="02040503050406030204" pitchFamily="18" charset="0"/>
                            <a:ea typeface="Roboto" panose="02000000000000000000" pitchFamily="2" charset="0"/>
                          </a:rPr>
                        </m:ctrlPr>
                      </m:dPr>
                      <m:e>
                        <m:r>
                          <a:rPr lang="es-MX" sz="2200" b="0" i="1" smtClean="0">
                            <a:latin typeface="Cambria Math" panose="02040503050406030204" pitchFamily="18" charset="0"/>
                            <a:ea typeface="Roboto" panose="02000000000000000000" pitchFamily="2" charset="0"/>
                          </a:rPr>
                          <m:t>𝑎</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𝑏</m:t>
                        </m:r>
                      </m:e>
                    </m:d>
                  </m:oMath>
                </a14:m>
                <a:r>
                  <a:rPr lang="es-MX" sz="2200" dirty="0">
                    <a:latin typeface="+mn-lt"/>
                    <a:ea typeface="Roboto" panose="02000000000000000000" pitchFamily="2" charset="0"/>
                  </a:rPr>
                  <a:t> donde </a:t>
                </a:r>
                <a14:m>
                  <m:oMath xmlns:m="http://schemas.openxmlformats.org/officeDocument/2006/math">
                    <m:r>
                      <a:rPr lang="es-MX" sz="2200" i="1">
                        <a:latin typeface="Cambria Math" panose="02040503050406030204" pitchFamily="18" charset="0"/>
                        <a:ea typeface="Roboto" panose="02000000000000000000" pitchFamily="2" charset="0"/>
                      </a:rPr>
                      <m:t>𝑎</m:t>
                    </m:r>
                    <m:r>
                      <a:rPr lang="es-MX" sz="2200" b="0" i="1" smtClean="0">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𝐴</m:t>
                    </m:r>
                  </m:oMath>
                </a14:m>
                <a:r>
                  <a:rPr lang="es-MX" sz="2200" dirty="0">
                    <a:latin typeface="+mn-lt"/>
                    <a:ea typeface="Roboto" panose="02000000000000000000" pitchFamily="2" charset="0"/>
                  </a:rPr>
                  <a:t> y </a:t>
                </a:r>
                <a14:m>
                  <m:oMath xmlns:m="http://schemas.openxmlformats.org/officeDocument/2006/math">
                    <m:r>
                      <a:rPr lang="es-MX" sz="2200" b="0" i="1" smtClean="0">
                        <a:latin typeface="Cambria Math" panose="02040503050406030204" pitchFamily="18" charset="0"/>
                        <a:ea typeface="Roboto" panose="02000000000000000000" pitchFamily="2" charset="0"/>
                      </a:rPr>
                      <m:t>𝑏</m:t>
                    </m:r>
                    <m:r>
                      <a:rPr lang="es-MX" sz="2200" i="1">
                        <a:latin typeface="Cambria Math" panose="02040503050406030204" pitchFamily="18" charset="0"/>
                        <a:ea typeface="Roboto" panose="02000000000000000000" pitchFamily="2" charset="0"/>
                      </a:rPr>
                      <m:t>∈</m:t>
                    </m:r>
                    <m:r>
                      <a:rPr lang="es-MX" sz="2200" b="0" i="1" smtClean="0">
                        <a:latin typeface="Cambria Math" panose="02040503050406030204" pitchFamily="18" charset="0"/>
                        <a:ea typeface="Roboto" panose="02000000000000000000" pitchFamily="2" charset="0"/>
                      </a:rPr>
                      <m:t>𝐵</m:t>
                    </m:r>
                  </m:oMath>
                </a14:m>
                <a:r>
                  <a:rPr lang="es-MX" sz="2200" dirty="0">
                    <a:latin typeface="+mn-lt"/>
                    <a:ea typeface="Roboto" panose="02000000000000000000" pitchFamily="2" charset="0"/>
                  </a:rPr>
                  <a:t>:</a:t>
                </a:r>
              </a:p>
              <a:p>
                <a:pPr marL="127000" indent="0">
                  <a:buNone/>
                </a:pPr>
                <a:endParaRPr lang="es-MX" sz="2000" i="1" dirty="0">
                  <a:latin typeface="Cambria Math" panose="02040503050406030204" pitchFamily="18" charset="0"/>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i="1" smtClean="0">
                          <a:latin typeface="Cambria Math" panose="02040503050406030204" pitchFamily="18" charset="0"/>
                          <a:ea typeface="Roboto" panose="02000000000000000000" pitchFamily="2"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𝐵</m:t>
                      </m:r>
                      <m:r>
                        <a:rPr lang="es-MX" sz="2000" i="1">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ea typeface="Roboto" panose="02000000000000000000" pitchFamily="2" charset="0"/>
                            </a:rPr>
                          </m:ctrlPr>
                        </m:dPr>
                        <m:e>
                          <m:d>
                            <m:dPr>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𝑎</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𝑏</m:t>
                              </m:r>
                            </m:e>
                          </m:d>
                        </m:e>
                        <m:e>
                          <m:r>
                            <a:rPr lang="es-MX" sz="2000" i="1">
                              <a:latin typeface="Cambria Math" panose="02040503050406030204" pitchFamily="18" charset="0"/>
                              <a:ea typeface="Roboto" panose="02000000000000000000" pitchFamily="2" charset="0"/>
                            </a:rPr>
                            <m:t>𝑎</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𝑏</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𝐵</m:t>
                          </m:r>
                        </m:e>
                      </m:d>
                    </m:oMath>
                  </m:oMathPara>
                </a14:m>
                <a:endParaRPr lang="es-CO" sz="2000" dirty="0"/>
              </a:p>
              <a:p>
                <a:pPr marL="127000" indent="0">
                  <a:buNone/>
                </a:pPr>
                <a:endParaRPr lang="es-CO" sz="2000" dirty="0"/>
              </a:p>
              <a:p>
                <a:pPr marL="127000" indent="0">
                  <a:buNone/>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𝐵</m:t>
                          </m:r>
                        </m:e>
                      </m:d>
                      <m:r>
                        <a:rPr lang="es-MX" sz="2000" i="1">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𝐴</m:t>
                          </m:r>
                        </m:e>
                      </m:d>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𝐵</m:t>
                          </m:r>
                        </m:e>
                      </m:d>
                    </m:oMath>
                  </m:oMathPara>
                </a14:m>
                <a:endParaRPr lang="es-CO" sz="2000" dirty="0"/>
              </a:p>
              <a:p>
                <a:pPr marL="127000" indent="0">
                  <a:buNone/>
                </a:pPr>
                <a:endParaRPr lang="es-MX" sz="2200" b="1" dirty="0">
                  <a:latin typeface="+mn-lt"/>
                  <a:ea typeface="Roboto" panose="02000000000000000000" pitchFamily="2" charset="0"/>
                </a:endParaRPr>
              </a:p>
              <a:p>
                <a:pPr marL="127000" indent="0">
                  <a:buNone/>
                </a:pPr>
                <a:r>
                  <a:rPr lang="es-MX" sz="2200" b="1" dirty="0">
                    <a:latin typeface="+mn-lt"/>
                    <a:ea typeface="Roboto" panose="02000000000000000000" pitchFamily="2" charset="0"/>
                  </a:rPr>
                  <a:t>Ejemplo -</a:t>
                </a:r>
                <a:r>
                  <a:rPr lang="es-MX" sz="2200" dirty="0">
                    <a:latin typeface="+mn-lt"/>
                    <a:ea typeface="Roboto" panose="02000000000000000000" pitchFamily="2" charset="0"/>
                  </a:rPr>
                  <a:t> </a:t>
                </a:r>
                <a:r>
                  <a:rPr lang="es-MX" sz="2200" b="1" dirty="0">
                    <a:latin typeface="+mn-lt"/>
                    <a:ea typeface="Roboto" panose="02000000000000000000" pitchFamily="2" charset="0"/>
                  </a:rPr>
                  <a:t>Combos para desayuno</a:t>
                </a:r>
                <a:r>
                  <a:rPr lang="es-MX" sz="2200" dirty="0">
                    <a:latin typeface="+mn-lt"/>
                    <a:ea typeface="Roboto" panose="02000000000000000000" pitchFamily="2" charset="0"/>
                  </a:rPr>
                  <a:t>:</a:t>
                </a:r>
              </a:p>
              <a:p>
                <a14:m>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𝑐𝑜𝑚𝑖𝑑𝑎𝑠</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𝑟𝑜𝑠𝑞𝑢𝑖𝑙𝑙𝑎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𝑎𝑟𝑒𝑝𝑎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𝑝𝑎𝑛</m:t>
                    </m:r>
                    <m:r>
                      <a:rPr lang="es-MX" sz="2000" b="0" i="1" smtClean="0">
                        <a:latin typeface="Cambria Math" panose="02040503050406030204" pitchFamily="18" charset="0"/>
                        <a:ea typeface="Roboto" panose="02000000000000000000" pitchFamily="2" charset="0"/>
                      </a:rPr>
                      <m:t>}</m:t>
                    </m:r>
                  </m:oMath>
                </a14:m>
                <a:endParaRPr lang="es-MX" sz="2000" dirty="0">
                  <a:latin typeface="+mn-lt"/>
                  <a:ea typeface="Roboto" panose="02000000000000000000" pitchFamily="2" charset="0"/>
                </a:endParaRPr>
              </a:p>
              <a:p>
                <a14:m>
                  <m:oMath xmlns:m="http://schemas.openxmlformats.org/officeDocument/2006/math">
                    <m:r>
                      <a:rPr lang="es-MX" sz="2000" b="0" i="1" smtClean="0">
                        <a:latin typeface="Cambria Math" panose="02040503050406030204" pitchFamily="18" charset="0"/>
                        <a:ea typeface="Roboto" panose="02000000000000000000" pitchFamily="2" charset="0"/>
                      </a:rPr>
                      <m:t>𝐵</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𝑏𝑒𝑏𝑖𝑑𝑎𝑠</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𝑐𝑎𝑓𝑒</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𝑗𝑢𝑔𝑜</m:t>
                        </m:r>
                      </m:e>
                    </m:d>
                  </m:oMath>
                </a14:m>
                <a:endParaRPr lang="es-MX" sz="2000" b="0" dirty="0">
                  <a:latin typeface="+mn-lt"/>
                  <a:ea typeface="Roboto" panose="02000000000000000000" pitchFamily="2" charset="0"/>
                </a:endParaRPr>
              </a:p>
              <a:p>
                <a14:m>
                  <m:oMath xmlns:m="http://schemas.openxmlformats.org/officeDocument/2006/math">
                    <m:r>
                      <a:rPr lang="es-MX" sz="2000" b="0" i="1" smtClean="0">
                        <a:latin typeface="Cambria Math" panose="02040503050406030204" pitchFamily="18" charset="0"/>
                        <a:ea typeface="Roboto" panose="02000000000000000000" pitchFamily="2" charset="0"/>
                      </a:rPr>
                      <m:t>𝑐𝑜𝑚𝑏𝑜𝑠</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𝐵</m:t>
                    </m:r>
                    <m:r>
                      <a:rPr lang="es-MX" sz="2000" b="0" i="1" smtClean="0">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rPr>
                        </m:ctrlPr>
                      </m:dPr>
                      <m:e>
                        <m:eqArr>
                          <m:eqArrPr>
                            <m:ctrlPr>
                              <a:rPr lang="es-MX" sz="2000" i="1">
                                <a:latin typeface="Cambria Math" panose="02040503050406030204" pitchFamily="18" charset="0"/>
                              </a:rPr>
                            </m:ctrlPr>
                          </m:eqArrPr>
                          <m:e>
                            <m:d>
                              <m:dPr>
                                <m:ctrlPr>
                                  <a:rPr lang="es-MX" sz="2000" i="1">
                                    <a:latin typeface="Cambria Math" panose="02040503050406030204" pitchFamily="18" charset="0"/>
                                  </a:rPr>
                                </m:ctrlPr>
                              </m:dPr>
                              <m:e>
                                <m:r>
                                  <a:rPr lang="es-MX" sz="2000" i="1">
                                    <a:latin typeface="Cambria Math" panose="02040503050406030204" pitchFamily="18" charset="0"/>
                                  </a:rPr>
                                  <m:t>𝑟𝑜𝑠𝑞𝑢𝑖𝑙𝑙𝑎</m:t>
                                </m:r>
                                <m:r>
                                  <a:rPr lang="es-MX" sz="2000" i="1">
                                    <a:latin typeface="Cambria Math" panose="02040503050406030204" pitchFamily="18" charset="0"/>
                                  </a:rPr>
                                  <m:t>,</m:t>
                                </m:r>
                                <m:r>
                                  <a:rPr lang="es-MX" sz="2000" i="1">
                                    <a:latin typeface="Cambria Math" panose="02040503050406030204" pitchFamily="18" charset="0"/>
                                  </a:rPr>
                                  <m:t>𝑐𝑎𝑓𝑒</m:t>
                                </m:r>
                              </m:e>
                            </m:d>
                            <m:r>
                              <a:rPr lang="es-MX" sz="2000" i="1">
                                <a:latin typeface="Cambria Math" panose="02040503050406030204" pitchFamily="18" charset="0"/>
                              </a:rPr>
                              <m:t>,</m:t>
                            </m:r>
                            <m:d>
                              <m:dPr>
                                <m:ctrlPr>
                                  <a:rPr lang="es-MX" sz="2000" i="1">
                                    <a:latin typeface="Cambria Math" panose="02040503050406030204" pitchFamily="18" charset="0"/>
                                  </a:rPr>
                                </m:ctrlPr>
                              </m:dPr>
                              <m:e>
                                <m:r>
                                  <a:rPr lang="es-MX" sz="2000" i="1">
                                    <a:latin typeface="Cambria Math" panose="02040503050406030204" pitchFamily="18" charset="0"/>
                                  </a:rPr>
                                  <m:t>𝑟𝑜𝑠𝑞𝑢𝑖𝑙𝑙𝑎</m:t>
                                </m:r>
                                <m:r>
                                  <a:rPr lang="es-MX" sz="2000" i="1">
                                    <a:latin typeface="Cambria Math" panose="02040503050406030204" pitchFamily="18" charset="0"/>
                                  </a:rPr>
                                  <m:t>,</m:t>
                                </m:r>
                                <m:r>
                                  <a:rPr lang="es-MX" sz="2000" i="1">
                                    <a:latin typeface="Cambria Math" panose="02040503050406030204" pitchFamily="18" charset="0"/>
                                  </a:rPr>
                                  <m:t>𝑗𝑢𝑔𝑜</m:t>
                                </m:r>
                              </m:e>
                            </m:d>
                            <m:r>
                              <a:rPr lang="es-MX" sz="2000" i="1">
                                <a:latin typeface="Cambria Math" panose="02040503050406030204" pitchFamily="18" charset="0"/>
                              </a:rPr>
                              <m:t>,</m:t>
                            </m:r>
                          </m:e>
                          <m:e>
                            <m:eqArr>
                              <m:eqArrPr>
                                <m:ctrlPr>
                                  <a:rPr lang="es-MX" sz="2000" i="1">
                                    <a:latin typeface="Cambria Math" panose="02040503050406030204" pitchFamily="18" charset="0"/>
                                  </a:rPr>
                                </m:ctrlPr>
                              </m:eqArrPr>
                              <m:e>
                                <m:d>
                                  <m:dPr>
                                    <m:ctrlPr>
                                      <a:rPr lang="es-MX" sz="2000" i="1">
                                        <a:latin typeface="Cambria Math" panose="02040503050406030204" pitchFamily="18" charset="0"/>
                                      </a:rPr>
                                    </m:ctrlPr>
                                  </m:dPr>
                                  <m:e>
                                    <m:r>
                                      <a:rPr lang="es-MX" sz="2000" i="1">
                                        <a:latin typeface="Cambria Math" panose="02040503050406030204" pitchFamily="18" charset="0"/>
                                      </a:rPr>
                                      <m:t>𝑎𝑟𝑒𝑝𝑎</m:t>
                                    </m:r>
                                    <m:r>
                                      <a:rPr lang="es-MX" sz="2000" i="1">
                                        <a:latin typeface="Cambria Math" panose="02040503050406030204" pitchFamily="18" charset="0"/>
                                      </a:rPr>
                                      <m:t>,</m:t>
                                    </m:r>
                                    <m:r>
                                      <a:rPr lang="es-MX" sz="2000" i="1">
                                        <a:latin typeface="Cambria Math" panose="02040503050406030204" pitchFamily="18" charset="0"/>
                                      </a:rPr>
                                      <m:t>𝑐𝑎𝑓𝑒</m:t>
                                    </m:r>
                                  </m:e>
                                </m:d>
                                <m:r>
                                  <a:rPr lang="es-MX" sz="2000" i="1">
                                    <a:latin typeface="Cambria Math" panose="02040503050406030204" pitchFamily="18" charset="0"/>
                                  </a:rPr>
                                  <m:t>,</m:t>
                                </m:r>
                                <m:d>
                                  <m:dPr>
                                    <m:ctrlPr>
                                      <a:rPr lang="es-MX" sz="2000" i="1">
                                        <a:latin typeface="Cambria Math" panose="02040503050406030204" pitchFamily="18" charset="0"/>
                                      </a:rPr>
                                    </m:ctrlPr>
                                  </m:dPr>
                                  <m:e>
                                    <m:r>
                                      <a:rPr lang="es-MX" sz="2000" i="1">
                                        <a:latin typeface="Cambria Math" panose="02040503050406030204" pitchFamily="18" charset="0"/>
                                      </a:rPr>
                                      <m:t>𝑎𝑟𝑒𝑝𝑎</m:t>
                                    </m:r>
                                    <m:r>
                                      <a:rPr lang="es-MX" sz="2000" i="1">
                                        <a:latin typeface="Cambria Math" panose="02040503050406030204" pitchFamily="18" charset="0"/>
                                      </a:rPr>
                                      <m:t>,</m:t>
                                    </m:r>
                                    <m:r>
                                      <a:rPr lang="es-MX" sz="2000" i="1">
                                        <a:latin typeface="Cambria Math" panose="02040503050406030204" pitchFamily="18" charset="0"/>
                                      </a:rPr>
                                      <m:t>𝑗𝑢𝑔𝑜</m:t>
                                    </m:r>
                                  </m:e>
                                </m:d>
                                <m:r>
                                  <a:rPr lang="es-MX" sz="2000" i="1">
                                    <a:latin typeface="Cambria Math" panose="02040503050406030204" pitchFamily="18" charset="0"/>
                                  </a:rPr>
                                  <m:t>,</m:t>
                                </m:r>
                              </m:e>
                              <m:e>
                                <m:d>
                                  <m:dPr>
                                    <m:ctrlPr>
                                      <a:rPr lang="es-MX" sz="2000" i="1">
                                        <a:latin typeface="Cambria Math" panose="02040503050406030204" pitchFamily="18" charset="0"/>
                                      </a:rPr>
                                    </m:ctrlPr>
                                  </m:dPr>
                                  <m:e>
                                    <m:r>
                                      <a:rPr lang="es-MX" sz="2000" i="1">
                                        <a:latin typeface="Cambria Math" panose="02040503050406030204" pitchFamily="18" charset="0"/>
                                      </a:rPr>
                                      <m:t>𝑝𝑎𝑛</m:t>
                                    </m:r>
                                    <m:r>
                                      <a:rPr lang="es-MX" sz="2000" i="1">
                                        <a:latin typeface="Cambria Math" panose="02040503050406030204" pitchFamily="18" charset="0"/>
                                      </a:rPr>
                                      <m:t>,</m:t>
                                    </m:r>
                                    <m:r>
                                      <a:rPr lang="es-MX" sz="2000" i="1">
                                        <a:latin typeface="Cambria Math" panose="02040503050406030204" pitchFamily="18" charset="0"/>
                                      </a:rPr>
                                      <m:t>𝑐𝑎𝑓𝑒</m:t>
                                    </m:r>
                                  </m:e>
                                </m:d>
                                <m:r>
                                  <a:rPr lang="es-MX" sz="2000" i="1">
                                    <a:latin typeface="Cambria Math" panose="02040503050406030204" pitchFamily="18" charset="0"/>
                                  </a:rPr>
                                  <m:t>,</m:t>
                                </m:r>
                                <m:d>
                                  <m:dPr>
                                    <m:ctrlPr>
                                      <a:rPr lang="es-MX" sz="2000" i="1">
                                        <a:latin typeface="Cambria Math" panose="02040503050406030204" pitchFamily="18" charset="0"/>
                                      </a:rPr>
                                    </m:ctrlPr>
                                  </m:dPr>
                                  <m:e>
                                    <m:r>
                                      <a:rPr lang="es-MX" sz="2000" i="1">
                                        <a:latin typeface="Cambria Math" panose="02040503050406030204" pitchFamily="18" charset="0"/>
                                      </a:rPr>
                                      <m:t>𝑝𝑎𝑛</m:t>
                                    </m:r>
                                    <m:r>
                                      <a:rPr lang="es-MX" sz="2000" i="1">
                                        <a:latin typeface="Cambria Math" panose="02040503050406030204" pitchFamily="18" charset="0"/>
                                      </a:rPr>
                                      <m:t>,</m:t>
                                    </m:r>
                                    <m:r>
                                      <a:rPr lang="es-MX" sz="2000" i="1">
                                        <a:latin typeface="Cambria Math" panose="02040503050406030204" pitchFamily="18" charset="0"/>
                                      </a:rPr>
                                      <m:t>𝑗𝑢𝑔𝑜</m:t>
                                    </m:r>
                                  </m:e>
                                </m:d>
                              </m:e>
                            </m:eqArr>
                          </m:e>
                        </m:eqArr>
                      </m:e>
                    </m:d>
                  </m:oMath>
                </a14:m>
                <a:endParaRPr lang="es-MX" sz="2000" dirty="0">
                  <a:latin typeface="+mn-lt"/>
                  <a:ea typeface="Roboto" panose="02000000000000000000" pitchFamily="2" charset="0"/>
                </a:endParaRPr>
              </a:p>
              <a:p>
                <a14:m>
                  <m:oMath xmlns:m="http://schemas.openxmlformats.org/officeDocument/2006/math">
                    <m:d>
                      <m:dPr>
                        <m:begChr m:val="|"/>
                        <m:endChr m:val="|"/>
                        <m:ctrlPr>
                          <a:rPr lang="es-MX" sz="2000" b="0" i="1" smtClean="0">
                            <a:latin typeface="Cambria Math" panose="02040503050406030204" pitchFamily="18" charset="0"/>
                          </a:rPr>
                        </m:ctrlPr>
                      </m:dPr>
                      <m:e>
                        <m:r>
                          <a:rPr lang="es-MX" sz="2000" b="0" i="1" smtClean="0">
                            <a:latin typeface="Cambria Math" panose="02040503050406030204" pitchFamily="18" charset="0"/>
                          </a:rPr>
                          <m:t>𝑐</m:t>
                        </m:r>
                        <m:r>
                          <a:rPr lang="es-MX" sz="2000" b="0" i="1" smtClean="0">
                            <a:latin typeface="Cambria Math" panose="02040503050406030204" pitchFamily="18" charset="0"/>
                          </a:rPr>
                          <m:t>𝑜𝑚𝑏𝑜𝑠</m:t>
                        </m:r>
                      </m:e>
                    </m:d>
                    <m:r>
                      <a:rPr lang="es-MX" sz="2000" b="0" i="1" smtClean="0">
                        <a:latin typeface="Cambria Math" panose="02040503050406030204" pitchFamily="18" charset="0"/>
                      </a:rPr>
                      <m:t>=</m:t>
                    </m:r>
                    <m:d>
                      <m:dPr>
                        <m:begChr m:val="|"/>
                        <m:endChr m:val="|"/>
                        <m:ctrlPr>
                          <a:rPr lang="es-MX" sz="2000" b="0" i="1" smtClean="0">
                            <a:latin typeface="Cambria Math" panose="02040503050406030204" pitchFamily="18" charset="0"/>
                          </a:rPr>
                        </m:ctrlPr>
                      </m:dPr>
                      <m:e>
                        <m:r>
                          <a:rPr lang="es-MX" sz="2000" b="0" i="1" smtClean="0">
                            <a:latin typeface="Cambria Math" panose="02040503050406030204" pitchFamily="18" charset="0"/>
                          </a:rPr>
                          <m:t>𝐴</m:t>
                        </m:r>
                      </m:e>
                    </m:d>
                    <m:d>
                      <m:dPr>
                        <m:begChr m:val="|"/>
                        <m:endChr m:val="|"/>
                        <m:ctrlPr>
                          <a:rPr lang="es-MX" sz="2000" b="0" i="1" smtClean="0">
                            <a:latin typeface="Cambria Math" panose="02040503050406030204" pitchFamily="18" charset="0"/>
                          </a:rPr>
                        </m:ctrlPr>
                      </m:dPr>
                      <m:e>
                        <m:r>
                          <a:rPr lang="es-MX" sz="2000" b="0" i="1" smtClean="0">
                            <a:latin typeface="Cambria Math" panose="02040503050406030204" pitchFamily="18" charset="0"/>
                          </a:rPr>
                          <m:t>𝐵</m:t>
                        </m:r>
                      </m:e>
                    </m:d>
                    <m:r>
                      <a:rPr lang="es-MX" sz="2000" b="0" i="1" smtClean="0">
                        <a:latin typeface="Cambria Math" panose="02040503050406030204" pitchFamily="18" charset="0"/>
                      </a:rPr>
                      <m:t>=</m:t>
                    </m:r>
                    <m:d>
                      <m:dPr>
                        <m:ctrlPr>
                          <a:rPr lang="es-MX" sz="2000" b="0" i="1" smtClean="0">
                            <a:latin typeface="Cambria Math" panose="02040503050406030204" pitchFamily="18" charset="0"/>
                          </a:rPr>
                        </m:ctrlPr>
                      </m:dPr>
                      <m:e>
                        <m:r>
                          <a:rPr lang="es-MX" sz="2000" b="0" i="1" smtClean="0">
                            <a:latin typeface="Cambria Math" panose="02040503050406030204" pitchFamily="18" charset="0"/>
                          </a:rPr>
                          <m:t>3</m:t>
                        </m:r>
                      </m:e>
                    </m:d>
                    <m:d>
                      <m:dPr>
                        <m:ctrlPr>
                          <a:rPr lang="es-MX" sz="2000" b="0" i="1" smtClean="0">
                            <a:latin typeface="Cambria Math" panose="02040503050406030204" pitchFamily="18" charset="0"/>
                          </a:rPr>
                        </m:ctrlPr>
                      </m:dPr>
                      <m:e>
                        <m:r>
                          <a:rPr lang="es-MX" sz="2000" b="0" i="1" smtClean="0">
                            <a:latin typeface="Cambria Math" panose="02040503050406030204" pitchFamily="18" charset="0"/>
                          </a:rPr>
                          <m:t>2</m:t>
                        </m:r>
                      </m:e>
                    </m:d>
                    <m:r>
                      <a:rPr lang="es-MX" sz="2000" b="0" i="1" smtClean="0">
                        <a:latin typeface="Cambria Math" panose="02040503050406030204" pitchFamily="18" charset="0"/>
                      </a:rPr>
                      <m:t>=6</m:t>
                    </m:r>
                  </m:oMath>
                </a14:m>
                <a:endParaRPr lang="es-CO" sz="2000" dirty="0"/>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8" name="Google Shape;310;p34">
                <a:extLst>
                  <a:ext uri="{FF2B5EF4-FFF2-40B4-BE49-F238E27FC236}">
                    <a16:creationId xmlns:a16="http://schemas.microsoft.com/office/drawing/2014/main" id="{F6716F76-3AFE-471D-B156-0250FFA69F6E}"/>
                  </a:ext>
                </a:extLst>
              </p:cNvPr>
              <p:cNvSpPr txBox="1">
                <a:spLocks noRot="1" noChangeAspect="1" noMove="1" noResize="1" noEditPoints="1" noAdjustHandles="1" noChangeArrowheads="1" noChangeShapeType="1" noTextEdit="1"/>
              </p:cNvSpPr>
              <p:nvPr/>
            </p:nvSpPr>
            <p:spPr>
              <a:xfrm>
                <a:off x="206478" y="1231181"/>
                <a:ext cx="11750696" cy="1995730"/>
              </a:xfrm>
              <a:prstGeom prst="rect">
                <a:avLst/>
              </a:prstGeom>
              <a:blipFill>
                <a:blip r:embed="rId3"/>
                <a:stretch>
                  <a:fillRect r="-363" b="-149847"/>
                </a:stretch>
              </a:blipFill>
              <a:ln>
                <a:noFill/>
              </a:ln>
            </p:spPr>
            <p:txBody>
              <a:bodyPr/>
              <a:lstStyle/>
              <a:p>
                <a:r>
                  <a:rPr lang="es-CO">
                    <a:noFill/>
                  </a:rPr>
                  <a:t> </a:t>
                </a:r>
              </a:p>
            </p:txBody>
          </p:sp>
        </mc:Fallback>
      </mc:AlternateContent>
      <p:pic>
        <p:nvPicPr>
          <p:cNvPr id="5" name="Imagen 4">
            <a:extLst>
              <a:ext uri="{FF2B5EF4-FFF2-40B4-BE49-F238E27FC236}">
                <a16:creationId xmlns:a16="http://schemas.microsoft.com/office/drawing/2014/main" id="{7A2F0394-5F5A-40CF-99BA-BB87B152EBCA}"/>
              </a:ext>
            </a:extLst>
          </p:cNvPr>
          <p:cNvPicPr>
            <a:picLocks noChangeAspect="1"/>
          </p:cNvPicPr>
          <p:nvPr/>
        </p:nvPicPr>
        <p:blipFill>
          <a:blip r:embed="rId4"/>
          <a:stretch>
            <a:fillRect/>
          </a:stretch>
        </p:blipFill>
        <p:spPr>
          <a:xfrm>
            <a:off x="8099379" y="3337272"/>
            <a:ext cx="3362636" cy="3258942"/>
          </a:xfrm>
          <a:prstGeom prst="rect">
            <a:avLst/>
          </a:prstGeom>
        </p:spPr>
      </p:pic>
    </p:spTree>
    <p:extLst>
      <p:ext uri="{BB962C8B-B14F-4D97-AF65-F5344CB8AC3E}">
        <p14:creationId xmlns:p14="http://schemas.microsoft.com/office/powerpoint/2010/main" val="159956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220652" y="32974"/>
            <a:ext cx="8999998" cy="718426"/>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220651" y="704102"/>
            <a:ext cx="11619251" cy="492443"/>
          </a:xfrm>
          <a:prstGeom prst="rect">
            <a:avLst/>
          </a:prstGeom>
          <a:noFill/>
        </p:spPr>
        <p:txBody>
          <a:bodyPr wrap="square" rtlCol="0">
            <a:spAutoFit/>
          </a:bodyPr>
          <a:lstStyle/>
          <a:p>
            <a:r>
              <a:rPr lang="es-MX" sz="2600" b="1" dirty="0">
                <a:ea typeface="Roboto" panose="02000000000000000000" pitchFamily="2" charset="0"/>
              </a:rPr>
              <a:t>Producto cartesiano: Fabrica para crear tuplas</a:t>
            </a:r>
          </a:p>
        </p:txBody>
      </p:sp>
      <mc:AlternateContent xmlns:mc="http://schemas.openxmlformats.org/markup-compatibility/2006">
        <mc:Choice xmlns:a14="http://schemas.microsoft.com/office/drawing/2010/main" Requires="a14">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89206" y="1049538"/>
                <a:ext cx="11750696" cy="174310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200" b="1" dirty="0">
                    <a:latin typeface="+mn-lt"/>
                    <a:ea typeface="Roboto" panose="02000000000000000000" pitchFamily="2" charset="0"/>
                  </a:rPr>
                  <a:t>Para dos conjuntos</a:t>
                </a:r>
                <a:r>
                  <a:rPr lang="es-MX" sz="2200" dirty="0">
                    <a:latin typeface="+mn-lt"/>
                    <a:ea typeface="Roboto" panose="02000000000000000000" pitchFamily="2" charset="0"/>
                  </a:rPr>
                  <a:t>: </a:t>
                </a:r>
                <a14:m>
                  <m:oMath xmlns:m="http://schemas.openxmlformats.org/officeDocument/2006/math">
                    <m:r>
                      <a:rPr lang="es-MX" sz="2000" i="1" smtClean="0">
                        <a:latin typeface="Cambria Math" panose="02040503050406030204" pitchFamily="18" charset="0"/>
                        <a:ea typeface="Roboto" panose="02000000000000000000" pitchFamily="2"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𝐵</m:t>
                    </m:r>
                    <m:r>
                      <a:rPr lang="es-MX" sz="2000" i="1">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ea typeface="Roboto" panose="02000000000000000000" pitchFamily="2" charset="0"/>
                          </a:rPr>
                        </m:ctrlPr>
                      </m:dPr>
                      <m:e>
                        <m:d>
                          <m:dPr>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𝑎</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𝑏</m:t>
                            </m:r>
                          </m:e>
                        </m:d>
                      </m:e>
                      <m:e>
                        <m:r>
                          <a:rPr lang="es-MX" sz="2000" i="1">
                            <a:latin typeface="Cambria Math" panose="02040503050406030204" pitchFamily="18" charset="0"/>
                            <a:ea typeface="Roboto" panose="02000000000000000000" pitchFamily="2" charset="0"/>
                          </a:rPr>
                          <m:t>𝑎</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𝑏</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𝐵</m:t>
                        </m:r>
                      </m:e>
                    </m:d>
                  </m:oMath>
                </a14:m>
                <a:endParaRPr lang="es-MX" sz="2000" dirty="0">
                  <a:latin typeface="+mn-lt"/>
                  <a:ea typeface="Roboto" panose="02000000000000000000" pitchFamily="2" charset="0"/>
                </a:endParaRPr>
              </a:p>
              <a:p>
                <a:r>
                  <a:rPr lang="es-MX" sz="2200" b="1" dirty="0">
                    <a:latin typeface="+mn-lt"/>
                    <a:ea typeface="Roboto" panose="02000000000000000000" pitchFamily="2" charset="0"/>
                  </a:rPr>
                  <a:t>Para dos conjuntos</a:t>
                </a:r>
                <a:r>
                  <a:rPr lang="es-MX" sz="2200" dirty="0">
                    <a:latin typeface="+mn-lt"/>
                    <a:ea typeface="Roboto" panose="02000000000000000000" pitchFamily="2" charset="0"/>
                  </a:rPr>
                  <a:t>: </a:t>
                </a:r>
                <a14:m>
                  <m:oMath xmlns:m="http://schemas.openxmlformats.org/officeDocument/2006/math">
                    <m:sSub>
                      <m:sSubPr>
                        <m:ctrlPr>
                          <a:rPr lang="es-MX" sz="2000" i="1" smtClean="0">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𝐴</m:t>
                        </m:r>
                      </m:e>
                      <m:sub>
                        <m:r>
                          <a:rPr lang="es-MX" sz="2000" i="1">
                            <a:latin typeface="Cambria Math" panose="02040503050406030204" pitchFamily="18" charset="0"/>
                            <a:ea typeface="Roboto" panose="02000000000000000000" pitchFamily="2" charset="0"/>
                          </a:rPr>
                          <m:t>1</m:t>
                        </m:r>
                      </m:sub>
                    </m:sSub>
                    <m:r>
                      <a:rPr lang="es-MX" sz="2000" i="1">
                        <a:latin typeface="Cambria Math" panose="02040503050406030204" pitchFamily="18" charset="0"/>
                        <a:ea typeface="Cambria Math" panose="02040503050406030204" pitchFamily="18"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𝐴</m:t>
                        </m:r>
                      </m:e>
                      <m:sub>
                        <m:r>
                          <a:rPr lang="es-MX" sz="2000" i="1">
                            <a:latin typeface="Cambria Math" panose="02040503050406030204" pitchFamily="18" charset="0"/>
                            <a:ea typeface="Roboto" panose="02000000000000000000" pitchFamily="2" charset="0"/>
                          </a:rPr>
                          <m:t>2</m:t>
                        </m:r>
                      </m:sub>
                    </m:sSub>
                    <m:r>
                      <a:rPr lang="es-MX" sz="2000" i="1">
                        <a:latin typeface="Cambria Math" panose="02040503050406030204" pitchFamily="18" charset="0"/>
                        <a:ea typeface="Cambria Math" panose="02040503050406030204" pitchFamily="18" charset="0"/>
                      </a:rPr>
                      <m:t>×…×</m:t>
                    </m:r>
                    <m:sSub>
                      <m:sSubPr>
                        <m:ctrlPr>
                          <a:rPr lang="es-MX" sz="2000" i="1">
                            <a:latin typeface="Cambria Math" panose="02040503050406030204" pitchFamily="18" charset="0"/>
                            <a:ea typeface="Cambria Math" panose="02040503050406030204" pitchFamily="18" charset="0"/>
                          </a:rPr>
                        </m:ctrlPr>
                      </m:sSubPr>
                      <m:e>
                        <m:r>
                          <a:rPr lang="es-MX" sz="2000" i="1">
                            <a:latin typeface="Cambria Math" panose="02040503050406030204" pitchFamily="18" charset="0"/>
                            <a:ea typeface="Roboto" panose="02000000000000000000" pitchFamily="2" charset="0"/>
                          </a:rPr>
                          <m:t>𝐴</m:t>
                        </m:r>
                      </m:e>
                      <m:sub>
                        <m:r>
                          <a:rPr lang="es-MX" sz="2000" i="1">
                            <a:latin typeface="Cambria Math" panose="02040503050406030204" pitchFamily="18" charset="0"/>
                            <a:ea typeface="Roboto" panose="02000000000000000000" pitchFamily="2" charset="0"/>
                          </a:rPr>
                          <m:t>𝑛</m:t>
                        </m:r>
                      </m:sub>
                    </m:sSub>
                    <m:r>
                      <a:rPr lang="es-MX" sz="2000" i="1">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ea typeface="Roboto" panose="02000000000000000000" pitchFamily="2" charset="0"/>
                          </a:rPr>
                        </m:ctrlPr>
                      </m:dPr>
                      <m:e>
                        <m:d>
                          <m:dPr>
                            <m:ctrlPr>
                              <a:rPr lang="es-MX" sz="2000" i="1">
                                <a:latin typeface="Cambria Math" panose="02040503050406030204" pitchFamily="18" charset="0"/>
                                <a:ea typeface="Roboto" panose="02000000000000000000" pitchFamily="2" charset="0"/>
                              </a:rPr>
                            </m:ctrlPr>
                          </m:dPr>
                          <m:e>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i="1">
                                    <a:latin typeface="Cambria Math" panose="02040503050406030204" pitchFamily="18" charset="0"/>
                                    <a:ea typeface="Roboto" panose="02000000000000000000" pitchFamily="2" charset="0"/>
                                  </a:rPr>
                                  <m:t>1</m:t>
                                </m:r>
                              </m:sub>
                            </m:sSub>
                            <m:r>
                              <a:rPr lang="es-MX" sz="2000" i="1">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i="1">
                                    <a:latin typeface="Cambria Math" panose="02040503050406030204" pitchFamily="18" charset="0"/>
                                    <a:ea typeface="Roboto" panose="02000000000000000000" pitchFamily="2" charset="0"/>
                                  </a:rPr>
                                  <m:t>2</m:t>
                                </m:r>
                              </m:sub>
                            </m:sSub>
                            <m:r>
                              <a:rPr lang="es-MX" sz="2000" i="1">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i="1">
                                    <a:latin typeface="Cambria Math" panose="02040503050406030204" pitchFamily="18" charset="0"/>
                                    <a:ea typeface="Roboto" panose="02000000000000000000" pitchFamily="2" charset="0"/>
                                  </a:rPr>
                                  <m:t>𝑛</m:t>
                                </m:r>
                              </m:sub>
                            </m:sSub>
                          </m:e>
                        </m:d>
                      </m:e>
                      <m:e>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𝑎</m:t>
                            </m:r>
                          </m:e>
                          <m:sub>
                            <m:r>
                              <a:rPr lang="es-MX" sz="2000" i="1">
                                <a:latin typeface="Cambria Math" panose="02040503050406030204" pitchFamily="18" charset="0"/>
                                <a:ea typeface="Roboto" panose="02000000000000000000" pitchFamily="2" charset="0"/>
                              </a:rPr>
                              <m:t>𝑖</m:t>
                            </m:r>
                          </m:sub>
                        </m:sSub>
                        <m:r>
                          <a:rPr lang="es-MX" sz="2000" i="1">
                            <a:latin typeface="Cambria Math" panose="02040503050406030204" pitchFamily="18" charset="0"/>
                            <a:ea typeface="Roboto" panose="02000000000000000000" pitchFamily="2" charset="0"/>
                          </a:rPr>
                          <m:t>∈</m:t>
                        </m:r>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𝐴</m:t>
                            </m:r>
                          </m:e>
                          <m:sub>
                            <m:r>
                              <a:rPr lang="es-MX" sz="2000" i="1">
                                <a:latin typeface="Cambria Math" panose="02040503050406030204" pitchFamily="18" charset="0"/>
                                <a:ea typeface="Roboto" panose="02000000000000000000" pitchFamily="2" charset="0"/>
                              </a:rPr>
                              <m:t>𝑖</m:t>
                            </m:r>
                          </m:sub>
                        </m:sSub>
                        <m:r>
                          <a:rPr lang="es-MX" sz="2000" i="1">
                            <a:latin typeface="Cambria Math" panose="02040503050406030204" pitchFamily="18" charset="0"/>
                            <a:ea typeface="Roboto" panose="02000000000000000000" pitchFamily="2" charset="0"/>
                          </a:rPr>
                          <m:t> </m:t>
                        </m:r>
                        <m:r>
                          <m:rPr>
                            <m:sty m:val="p"/>
                          </m:rPr>
                          <a:rPr lang="es-MX" sz="2000">
                            <a:latin typeface="Cambria Math" panose="02040503050406030204" pitchFamily="18" charset="0"/>
                            <a:ea typeface="Roboto" panose="02000000000000000000" pitchFamily="2" charset="0"/>
                          </a:rPr>
                          <m:t>para</m:t>
                        </m:r>
                        <m:r>
                          <a:rPr lang="es-MX" sz="2000">
                            <a:latin typeface="Cambria Math" panose="02040503050406030204" pitchFamily="18" charset="0"/>
                            <a:ea typeface="Roboto" panose="02000000000000000000" pitchFamily="2" charset="0"/>
                          </a:rPr>
                          <m:t> </m:t>
                        </m:r>
                        <m:r>
                          <a:rPr lang="es-MX" sz="2000" i="1">
                            <a:latin typeface="Cambria Math" panose="02040503050406030204" pitchFamily="18" charset="0"/>
                            <a:ea typeface="Roboto" panose="02000000000000000000" pitchFamily="2" charset="0"/>
                          </a:rPr>
                          <m:t>𝑖</m:t>
                        </m:r>
                        <m:r>
                          <a:rPr lang="es-MX" sz="2000" i="1">
                            <a:latin typeface="Cambria Math" panose="02040503050406030204" pitchFamily="18" charset="0"/>
                            <a:ea typeface="Roboto" panose="02000000000000000000" pitchFamily="2" charset="0"/>
                          </a:rPr>
                          <m:t>=1,2,…,</m:t>
                        </m:r>
                        <m:r>
                          <a:rPr lang="es-MX" sz="2000" i="1">
                            <a:latin typeface="Cambria Math" panose="02040503050406030204" pitchFamily="18" charset="0"/>
                            <a:ea typeface="Roboto" panose="02000000000000000000" pitchFamily="2" charset="0"/>
                          </a:rPr>
                          <m:t>𝑛</m:t>
                        </m:r>
                        <m:r>
                          <a:rPr lang="es-MX" sz="2000">
                            <a:latin typeface="Cambria Math" panose="02040503050406030204" pitchFamily="18" charset="0"/>
                            <a:ea typeface="Roboto" panose="02000000000000000000" pitchFamily="2" charset="0"/>
                          </a:rPr>
                          <m:t> </m:t>
                        </m:r>
                      </m:e>
                    </m:d>
                  </m:oMath>
                </a14:m>
                <a:endParaRPr lang="es-MX" sz="2000" dirty="0">
                  <a:latin typeface="+mn-lt"/>
                  <a:ea typeface="Roboto" panose="02000000000000000000" pitchFamily="2" charset="0"/>
                </a:endParaRPr>
              </a:p>
              <a:p>
                <a:pPr marL="127000" indent="0">
                  <a:buNone/>
                </a:pPr>
                <a:endParaRPr lang="es-MX" sz="2000" b="0" i="1" dirty="0">
                  <a:latin typeface="Cambria Math" panose="02040503050406030204" pitchFamily="18" charset="0"/>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𝐴</m:t>
                              </m:r>
                            </m:e>
                            <m:sub>
                              <m:r>
                                <a:rPr lang="es-MX" sz="2000" i="1">
                                  <a:latin typeface="Cambria Math" panose="02040503050406030204" pitchFamily="18" charset="0"/>
                                  <a:ea typeface="Roboto" panose="02000000000000000000" pitchFamily="2" charset="0"/>
                                </a:rPr>
                                <m:t>1</m:t>
                              </m:r>
                            </m:sub>
                          </m:sSub>
                          <m:r>
                            <a:rPr lang="es-MX" sz="2000" i="1">
                              <a:latin typeface="Cambria Math" panose="02040503050406030204" pitchFamily="18" charset="0"/>
                              <a:ea typeface="Cambria Math" panose="02040503050406030204" pitchFamily="18" charset="0"/>
                            </a:rPr>
                            <m:t>×…×</m:t>
                          </m:r>
                          <m:sSub>
                            <m:sSubPr>
                              <m:ctrlPr>
                                <a:rPr lang="es-MX" sz="2000" i="1">
                                  <a:latin typeface="Cambria Math" panose="02040503050406030204" pitchFamily="18" charset="0"/>
                                  <a:ea typeface="Cambria Math" panose="02040503050406030204" pitchFamily="18" charset="0"/>
                                </a:rPr>
                              </m:ctrlPr>
                            </m:sSubPr>
                            <m:e>
                              <m:r>
                                <a:rPr lang="es-MX" sz="2000" i="1">
                                  <a:latin typeface="Cambria Math" panose="02040503050406030204" pitchFamily="18" charset="0"/>
                                  <a:ea typeface="Roboto" panose="02000000000000000000" pitchFamily="2" charset="0"/>
                                </a:rPr>
                                <m:t>𝐴</m:t>
                              </m:r>
                            </m:e>
                            <m:sub>
                              <m:r>
                                <a:rPr lang="es-MX" sz="2000" i="1">
                                  <a:latin typeface="Cambria Math" panose="02040503050406030204" pitchFamily="18" charset="0"/>
                                  <a:ea typeface="Roboto" panose="02000000000000000000" pitchFamily="2" charset="0"/>
                                </a:rPr>
                                <m:t>𝑛</m:t>
                              </m:r>
                            </m:sub>
                          </m:sSub>
                        </m:e>
                      </m:d>
                      <m:r>
                        <a:rPr lang="es-MX" sz="2000" i="1">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𝐴</m:t>
                              </m:r>
                            </m:e>
                            <m:sub>
                              <m:r>
                                <a:rPr lang="es-MX" sz="2000" b="0" i="1" smtClean="0">
                                  <a:latin typeface="Cambria Math" panose="02040503050406030204" pitchFamily="18" charset="0"/>
                                  <a:ea typeface="Roboto" panose="02000000000000000000" pitchFamily="2" charset="0"/>
                                </a:rPr>
                                <m:t>1</m:t>
                              </m:r>
                            </m:sub>
                          </m:sSub>
                        </m:e>
                      </m:d>
                      <m:r>
                        <a:rPr lang="es-MX" sz="2000" i="1">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ea typeface="Roboto" panose="02000000000000000000" pitchFamily="2" charset="0"/>
                            </a:rPr>
                          </m:ctrlPr>
                        </m:dPr>
                        <m:e>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𝐴</m:t>
                              </m:r>
                            </m:e>
                            <m:sub>
                              <m:r>
                                <a:rPr lang="es-MX" sz="2000" b="0" i="1" smtClean="0">
                                  <a:latin typeface="Cambria Math" panose="02040503050406030204" pitchFamily="18" charset="0"/>
                                  <a:ea typeface="Roboto" panose="02000000000000000000" pitchFamily="2" charset="0"/>
                                </a:rPr>
                                <m:t>2</m:t>
                              </m:r>
                            </m:sub>
                          </m:sSub>
                        </m:e>
                      </m:d>
                      <m:r>
                        <a:rPr lang="es-MX" sz="2000" i="1">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ea typeface="Roboto" panose="02000000000000000000" pitchFamily="2" charset="0"/>
                            </a:rPr>
                          </m:ctrlPr>
                        </m:dPr>
                        <m:e>
                          <m:sSub>
                            <m:sSubPr>
                              <m:ctrlPr>
                                <a:rPr lang="es-MX" sz="2000" i="1">
                                  <a:latin typeface="Cambria Math" panose="02040503050406030204" pitchFamily="18" charset="0"/>
                                  <a:ea typeface="Roboto" panose="02000000000000000000" pitchFamily="2" charset="0"/>
                                </a:rPr>
                              </m:ctrlPr>
                            </m:sSubPr>
                            <m:e>
                              <m:r>
                                <a:rPr lang="es-MX" sz="2000" i="1">
                                  <a:latin typeface="Cambria Math" panose="02040503050406030204" pitchFamily="18" charset="0"/>
                                  <a:ea typeface="Roboto" panose="02000000000000000000" pitchFamily="2" charset="0"/>
                                </a:rPr>
                                <m:t>𝐴</m:t>
                              </m:r>
                            </m:e>
                            <m:sub>
                              <m:r>
                                <a:rPr lang="es-MX" sz="2000" b="0" i="1" smtClean="0">
                                  <a:latin typeface="Cambria Math" panose="02040503050406030204" pitchFamily="18" charset="0"/>
                                  <a:ea typeface="Roboto" panose="02000000000000000000" pitchFamily="2" charset="0"/>
                                </a:rPr>
                                <m:t>𝑛</m:t>
                              </m:r>
                            </m:sub>
                          </m:sSub>
                        </m:e>
                      </m:d>
                    </m:oMath>
                  </m:oMathPara>
                </a14:m>
                <a:endParaRPr lang="es-CO" sz="2000" dirty="0"/>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8" name="Google Shape;310;p34">
                <a:extLst>
                  <a:ext uri="{FF2B5EF4-FFF2-40B4-BE49-F238E27FC236}">
                    <a16:creationId xmlns:a16="http://schemas.microsoft.com/office/drawing/2014/main" id="{F6716F76-3AFE-471D-B156-0250FFA69F6E}"/>
                  </a:ext>
                </a:extLst>
              </p:cNvPr>
              <p:cNvSpPr txBox="1">
                <a:spLocks noRot="1" noChangeAspect="1" noMove="1" noResize="1" noEditPoints="1" noAdjustHandles="1" noChangeArrowheads="1" noChangeShapeType="1" noTextEdit="1"/>
              </p:cNvSpPr>
              <p:nvPr/>
            </p:nvSpPr>
            <p:spPr>
              <a:xfrm>
                <a:off x="89206" y="1049538"/>
                <a:ext cx="11750696" cy="1743104"/>
              </a:xfrm>
              <a:prstGeom prst="rect">
                <a:avLst/>
              </a:prstGeom>
              <a:blipFill>
                <a:blip r:embed="rId3"/>
                <a:stretch>
                  <a:fillRect/>
                </a:stretch>
              </a:blipFill>
              <a:ln>
                <a:noFill/>
              </a:ln>
            </p:spPr>
            <p:txBody>
              <a:bodyPr/>
              <a:lstStyle/>
              <a:p>
                <a:r>
                  <a:rPr lang="es-CO">
                    <a:noFill/>
                  </a:rPr>
                  <a:t> </a:t>
                </a:r>
              </a:p>
            </p:txBody>
          </p:sp>
        </mc:Fallback>
      </mc:AlternateContent>
      <p:pic>
        <p:nvPicPr>
          <p:cNvPr id="10" name="Imagen 9">
            <a:extLst>
              <a:ext uri="{FF2B5EF4-FFF2-40B4-BE49-F238E27FC236}">
                <a16:creationId xmlns:a16="http://schemas.microsoft.com/office/drawing/2014/main" id="{3A13ED0C-B348-4F0F-B6E9-D45B5F39A42F}"/>
              </a:ext>
            </a:extLst>
          </p:cNvPr>
          <p:cNvPicPr>
            <a:picLocks noChangeAspect="1"/>
          </p:cNvPicPr>
          <p:nvPr/>
        </p:nvPicPr>
        <p:blipFill>
          <a:blip r:embed="rId4"/>
          <a:stretch>
            <a:fillRect/>
          </a:stretch>
        </p:blipFill>
        <p:spPr>
          <a:xfrm>
            <a:off x="1544076" y="4421640"/>
            <a:ext cx="2168605" cy="2329905"/>
          </a:xfrm>
          <a:prstGeom prst="rect">
            <a:avLst/>
          </a:prstGeom>
        </p:spPr>
      </p:pic>
      <mc:AlternateContent xmlns:mc="http://schemas.openxmlformats.org/markup-compatibility/2006">
        <mc:Choice xmlns:a14="http://schemas.microsoft.com/office/drawing/2010/main" Requires="a14">
          <p:sp>
            <p:nvSpPr>
              <p:cNvPr id="12" name="Google Shape;310;p34">
                <a:extLst>
                  <a:ext uri="{FF2B5EF4-FFF2-40B4-BE49-F238E27FC236}">
                    <a16:creationId xmlns:a16="http://schemas.microsoft.com/office/drawing/2014/main" id="{5EF964DE-96D7-4E14-9FA1-2B2C865473CE}"/>
                  </a:ext>
                </a:extLst>
              </p:cNvPr>
              <p:cNvSpPr txBox="1">
                <a:spLocks/>
              </p:cNvSpPr>
              <p:nvPr/>
            </p:nvSpPr>
            <p:spPr>
              <a:xfrm>
                <a:off x="94462" y="2652574"/>
                <a:ext cx="5234217" cy="176906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Ejemplo – Tablero de ajedrez</a:t>
                </a:r>
                <a:r>
                  <a:rPr lang="es-MX" sz="2000" dirty="0">
                    <a:latin typeface="+mn-lt"/>
                    <a:ea typeface="Roboto" panose="02000000000000000000" pitchFamily="2" charset="0"/>
                  </a:rPr>
                  <a:t>: Conjuntos</a:t>
                </a:r>
              </a:p>
              <a:p>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𝑐𝑜𝑙𝑢𝑚𝑛𝑎𝑠</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i="1">
                            <a:solidFill>
                              <a:schemeClr val="tx1"/>
                            </a:solidFill>
                            <a:latin typeface="Cambria Math" panose="02040503050406030204" pitchFamily="18" charset="0"/>
                            <a:ea typeface="Roboto" panose="02000000000000000000" pitchFamily="2" charset="0"/>
                          </a:rPr>
                        </m:ctrlPr>
                      </m:dPr>
                      <m:e>
                        <m:r>
                          <a:rPr lang="es-MX" sz="2000" i="1">
                            <a:solidFill>
                              <a:schemeClr val="tx1"/>
                            </a:solidFill>
                            <a:latin typeface="Cambria Math" panose="02040503050406030204" pitchFamily="18" charset="0"/>
                            <a:ea typeface="Roboto" panose="02000000000000000000" pitchFamily="2" charset="0"/>
                          </a:rPr>
                          <m:t>𝑎</m:t>
                        </m:r>
                        <m:r>
                          <a:rPr lang="es-MX" sz="2000" i="1">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Roboto" panose="02000000000000000000" pitchFamily="2" charset="0"/>
                          </a:rPr>
                          <m:t>𝑏</m:t>
                        </m:r>
                        <m:r>
                          <a:rPr lang="es-MX" sz="2000" i="1">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Roboto" panose="02000000000000000000" pitchFamily="2" charset="0"/>
                          </a:rPr>
                          <m:t>𝑐</m:t>
                        </m:r>
                        <m:r>
                          <a:rPr lang="es-MX" sz="2000" i="1">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Roboto" panose="02000000000000000000" pitchFamily="2" charset="0"/>
                          </a:rPr>
                          <m:t>𝑑</m:t>
                        </m:r>
                        <m:r>
                          <a:rPr lang="es-MX" sz="2000" i="1">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Roboto" panose="02000000000000000000" pitchFamily="2" charset="0"/>
                          </a:rPr>
                          <m:t>𝑒</m:t>
                        </m:r>
                        <m:r>
                          <a:rPr lang="es-MX" sz="2000" i="1">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Roboto" panose="02000000000000000000" pitchFamily="2" charset="0"/>
                          </a:rPr>
                          <m:t>𝑓</m:t>
                        </m:r>
                        <m:r>
                          <a:rPr lang="es-MX" sz="2000" i="1">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Roboto" panose="02000000000000000000" pitchFamily="2" charset="0"/>
                          </a:rPr>
                          <m:t>𝑔</m:t>
                        </m:r>
                        <m:r>
                          <a:rPr lang="es-MX" sz="2000" i="1">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Roboto" panose="02000000000000000000" pitchFamily="2" charset="0"/>
                          </a:rPr>
                          <m:t>h</m:t>
                        </m:r>
                      </m:e>
                    </m:d>
                  </m:oMath>
                </a14:m>
                <a:endParaRPr lang="es-MX" sz="2000" b="0" i="1" dirty="0">
                  <a:solidFill>
                    <a:schemeClr val="tx1"/>
                  </a:solidFill>
                  <a:latin typeface="Cambria Math" panose="02040503050406030204" pitchFamily="18" charset="0"/>
                  <a:ea typeface="Roboto" panose="02000000000000000000" pitchFamily="2" charset="0"/>
                </a:endParaRPr>
              </a:p>
              <a:p>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𝐵</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𝑓𝑖𝑙𝑎𝑠</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i="1">
                            <a:solidFill>
                              <a:schemeClr val="tx1"/>
                            </a:solidFill>
                            <a:latin typeface="Cambria Math" panose="02040503050406030204" pitchFamily="18" charset="0"/>
                            <a:ea typeface="Roboto" panose="02000000000000000000" pitchFamily="2" charset="0"/>
                          </a:rPr>
                        </m:ctrlPr>
                      </m:dPr>
                      <m:e>
                        <m:r>
                          <a:rPr lang="es-MX" sz="2000" i="1">
                            <a:solidFill>
                              <a:schemeClr val="tx1"/>
                            </a:solidFill>
                            <a:latin typeface="Cambria Math" panose="02040503050406030204" pitchFamily="18" charset="0"/>
                            <a:ea typeface="Roboto" panose="02000000000000000000" pitchFamily="2" charset="0"/>
                          </a:rPr>
                          <m:t>1,2,3,4,5,6,7,8</m:t>
                        </m:r>
                      </m:e>
                    </m:d>
                  </m:oMath>
                </a14:m>
                <a:endParaRPr lang="es-MX" sz="2000" b="0" i="1" dirty="0">
                  <a:solidFill>
                    <a:schemeClr val="tx1"/>
                  </a:solidFill>
                  <a:latin typeface="Cambria Math" panose="02040503050406030204" pitchFamily="18" charset="0"/>
                  <a:ea typeface="Roboto" panose="02000000000000000000" pitchFamily="2" charset="0"/>
                </a:endParaRPr>
              </a:p>
              <a:p>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𝐶</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𝑝𝑖𝑒𝑧𝑎𝑠</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i="1">
                            <a:solidFill>
                              <a:schemeClr val="tx1"/>
                            </a:solidFill>
                            <a:latin typeface="Cambria Math" panose="02040503050406030204" pitchFamily="18" charset="0"/>
                            <a:ea typeface="Roboto" panose="02000000000000000000" pitchFamily="2" charset="0"/>
                          </a:rPr>
                        </m:ctrlPr>
                      </m:dPr>
                      <m:e>
                        <m:r>
                          <m:rPr>
                            <m:nor/>
                          </m:rPr>
                          <a:rPr lang="es-CO" sz="2000"/>
                          <m:t>♔, ♕, ♖, ♗, ♘, ♙</m:t>
                        </m:r>
                      </m:e>
                    </m:d>
                  </m:oMath>
                </a14:m>
                <a:endParaRPr lang="es-MX" sz="2000" b="0" i="1" dirty="0">
                  <a:solidFill>
                    <a:schemeClr val="tx1"/>
                  </a:solidFill>
                  <a:latin typeface="Cambria Math" panose="02040503050406030204" pitchFamily="18" charset="0"/>
                  <a:ea typeface="Roboto" panose="02000000000000000000" pitchFamily="2" charset="0"/>
                </a:endParaRPr>
              </a:p>
            </p:txBody>
          </p:sp>
        </mc:Choice>
        <mc:Fallback>
          <p:sp>
            <p:nvSpPr>
              <p:cNvPr id="12" name="Google Shape;310;p34">
                <a:extLst>
                  <a:ext uri="{FF2B5EF4-FFF2-40B4-BE49-F238E27FC236}">
                    <a16:creationId xmlns:a16="http://schemas.microsoft.com/office/drawing/2014/main" id="{5EF964DE-96D7-4E14-9FA1-2B2C865473CE}"/>
                  </a:ext>
                </a:extLst>
              </p:cNvPr>
              <p:cNvSpPr txBox="1">
                <a:spLocks noRot="1" noChangeAspect="1" noMove="1" noResize="1" noEditPoints="1" noAdjustHandles="1" noChangeArrowheads="1" noChangeShapeType="1" noTextEdit="1"/>
              </p:cNvSpPr>
              <p:nvPr/>
            </p:nvSpPr>
            <p:spPr>
              <a:xfrm>
                <a:off x="94462" y="2652574"/>
                <a:ext cx="5234217" cy="1769066"/>
              </a:xfrm>
              <a:prstGeom prst="rect">
                <a:avLst/>
              </a:prstGeom>
              <a:blipFill>
                <a:blip r:embed="rId5"/>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5" name="Google Shape;310;p34">
                <a:extLst>
                  <a:ext uri="{FF2B5EF4-FFF2-40B4-BE49-F238E27FC236}">
                    <a16:creationId xmlns:a16="http://schemas.microsoft.com/office/drawing/2014/main" id="{BB901D06-FB4A-4D9C-AF1E-BBD75DECCB5A}"/>
                  </a:ext>
                </a:extLst>
              </p:cNvPr>
              <p:cNvSpPr txBox="1">
                <a:spLocks/>
              </p:cNvSpPr>
              <p:nvPr/>
            </p:nvSpPr>
            <p:spPr>
              <a:xfrm>
                <a:off x="4720651" y="2714686"/>
                <a:ext cx="6574221" cy="176906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N = 2 - Casillas</a:t>
                </a:r>
                <a:r>
                  <a:rPr lang="es-MX" sz="2000" dirty="0">
                    <a:latin typeface="+mn-lt"/>
                    <a:ea typeface="Roboto" panose="02000000000000000000" pitchFamily="2" charset="0"/>
                  </a:rPr>
                  <a:t>:</a:t>
                </a:r>
              </a:p>
              <a:p>
                <a14:m>
                  <m:oMath xmlns:m="http://schemas.openxmlformats.org/officeDocument/2006/math">
                    <m:r>
                      <a:rPr lang="es-MX" sz="1800" b="0" i="1" smtClean="0">
                        <a:solidFill>
                          <a:schemeClr val="tx1"/>
                        </a:solidFill>
                        <a:latin typeface="Cambria Math" panose="02040503050406030204" pitchFamily="18" charset="0"/>
                        <a:ea typeface="Roboto" panose="02000000000000000000" pitchFamily="2" charset="0"/>
                      </a:rPr>
                      <m:t>𝑐𝑎𝑠𝑖𝑙𝑙𝑎𝑠</m:t>
                    </m:r>
                    <m:r>
                      <a:rPr lang="es-MX" sz="1800" b="0" i="1" smtClean="0">
                        <a:solidFill>
                          <a:schemeClr val="tx1"/>
                        </a:solidFill>
                        <a:latin typeface="Cambria Math" panose="02040503050406030204" pitchFamily="18" charset="0"/>
                        <a:ea typeface="Roboto" panose="02000000000000000000" pitchFamily="2" charset="0"/>
                      </a:rPr>
                      <m:t>=</m:t>
                    </m:r>
                    <m:r>
                      <a:rPr lang="es-MX" sz="1800" b="0" i="1" smtClean="0">
                        <a:solidFill>
                          <a:schemeClr val="tx1"/>
                        </a:solidFill>
                        <a:latin typeface="Cambria Math" panose="02040503050406030204" pitchFamily="18" charset="0"/>
                        <a:ea typeface="Roboto" panose="02000000000000000000" pitchFamily="2" charset="0"/>
                      </a:rPr>
                      <m:t>𝐴</m:t>
                    </m:r>
                    <m:r>
                      <a:rPr lang="es-MX" sz="1800" b="0" i="1" smtClean="0">
                        <a:solidFill>
                          <a:schemeClr val="tx1"/>
                        </a:solidFill>
                        <a:latin typeface="Cambria Math" panose="02040503050406030204" pitchFamily="18" charset="0"/>
                        <a:ea typeface="Roboto" panose="02000000000000000000" pitchFamily="2" charset="0"/>
                      </a:rPr>
                      <m:t>×</m:t>
                    </m:r>
                    <m:r>
                      <a:rPr lang="es-MX" sz="1800" b="0" i="1" smtClean="0">
                        <a:solidFill>
                          <a:schemeClr val="tx1"/>
                        </a:solidFill>
                        <a:latin typeface="Cambria Math" panose="02040503050406030204" pitchFamily="18" charset="0"/>
                        <a:ea typeface="Roboto" panose="02000000000000000000" pitchFamily="2" charset="0"/>
                      </a:rPr>
                      <m:t>𝐵</m:t>
                    </m:r>
                  </m:oMath>
                </a14:m>
                <a:endParaRPr lang="es-MX" sz="1800" b="0" i="1" dirty="0">
                  <a:solidFill>
                    <a:schemeClr val="tx1"/>
                  </a:solidFill>
                  <a:latin typeface="Cambria Math" panose="02040503050406030204" pitchFamily="18" charset="0"/>
                  <a:ea typeface="Roboto" panose="02000000000000000000" pitchFamily="2" charset="0"/>
                </a:endParaRPr>
              </a:p>
              <a:p>
                <a14:m>
                  <m:oMath xmlns:m="http://schemas.openxmlformats.org/officeDocument/2006/math">
                    <m:d>
                      <m:dPr>
                        <m:ctrlPr>
                          <a:rPr lang="es-MX" sz="1800" b="0" i="1" smtClean="0">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𝑒</m:t>
                        </m:r>
                        <m:r>
                          <a:rPr lang="es-MX" sz="1800" b="0" i="1" smtClean="0">
                            <a:solidFill>
                              <a:schemeClr val="tx1"/>
                            </a:solidFill>
                            <a:latin typeface="Cambria Math" panose="02040503050406030204" pitchFamily="18" charset="0"/>
                            <a:ea typeface="Roboto" panose="02000000000000000000" pitchFamily="2" charset="0"/>
                          </a:rPr>
                          <m:t>,1</m:t>
                        </m:r>
                      </m:e>
                    </m:d>
                    <m:r>
                      <a:rPr lang="es-MX" sz="1800" b="0" i="1" smtClean="0">
                        <a:solidFill>
                          <a:schemeClr val="tx1"/>
                        </a:solidFill>
                        <a:latin typeface="Cambria Math" panose="02040503050406030204" pitchFamily="18" charset="0"/>
                        <a:ea typeface="Roboto" panose="02000000000000000000" pitchFamily="2" charset="0"/>
                      </a:rPr>
                      <m:t>→</m:t>
                    </m:r>
                    <m:r>
                      <m:rPr>
                        <m:sty m:val="p"/>
                      </m:rPr>
                      <a:rPr lang="es-MX" sz="1800" b="0" i="0" smtClean="0">
                        <a:solidFill>
                          <a:schemeClr val="tx1"/>
                        </a:solidFill>
                        <a:latin typeface="Cambria Math" panose="02040503050406030204" pitchFamily="18" charset="0"/>
                        <a:ea typeface="Roboto" panose="02000000000000000000" pitchFamily="2" charset="0"/>
                      </a:rPr>
                      <m:t>Casilla</m:t>
                    </m:r>
                    <m:r>
                      <a:rPr lang="es-MX" sz="1800" b="0" i="0" smtClean="0">
                        <a:solidFill>
                          <a:schemeClr val="tx1"/>
                        </a:solidFill>
                        <a:latin typeface="Cambria Math" panose="02040503050406030204" pitchFamily="18" charset="0"/>
                        <a:ea typeface="Roboto" panose="02000000000000000000" pitchFamily="2" charset="0"/>
                      </a:rPr>
                      <m:t> </m:t>
                    </m:r>
                    <m:r>
                      <m:rPr>
                        <m:sty m:val="p"/>
                      </m:rPr>
                      <a:rPr lang="es-MX" sz="1800" b="0" i="0" smtClean="0">
                        <a:solidFill>
                          <a:schemeClr val="tx1"/>
                        </a:solidFill>
                        <a:latin typeface="Cambria Math" panose="02040503050406030204" pitchFamily="18" charset="0"/>
                        <a:ea typeface="Roboto" panose="02000000000000000000" pitchFamily="2" charset="0"/>
                      </a:rPr>
                      <m:t>e</m:t>
                    </m:r>
                    <m:r>
                      <a:rPr lang="es-MX" sz="1800" b="0" i="0" smtClean="0">
                        <a:solidFill>
                          <a:schemeClr val="tx1"/>
                        </a:solidFill>
                        <a:latin typeface="Cambria Math" panose="02040503050406030204" pitchFamily="18" charset="0"/>
                        <a:ea typeface="Roboto" panose="02000000000000000000" pitchFamily="2" charset="0"/>
                      </a:rPr>
                      <m:t>1</m:t>
                    </m:r>
                  </m:oMath>
                </a14:m>
                <a:endParaRPr lang="es-MX" sz="1800" b="0" i="1" dirty="0">
                  <a:solidFill>
                    <a:schemeClr val="tx1"/>
                  </a:solidFill>
                  <a:latin typeface="Cambria Math" panose="02040503050406030204" pitchFamily="18" charset="0"/>
                  <a:ea typeface="Roboto" panose="02000000000000000000" pitchFamily="2" charset="0"/>
                </a:endParaRPr>
              </a:p>
              <a:p>
                <a:pPr/>
                <a14:m>
                  <m:oMath xmlns:m="http://schemas.openxmlformats.org/officeDocument/2006/math">
                    <m:d>
                      <m:dPr>
                        <m:begChr m:val="|"/>
                        <m:endChr m:val="|"/>
                        <m:ctrlPr>
                          <a:rPr lang="es-MX" sz="1800" b="0" i="1" smtClean="0">
                            <a:solidFill>
                              <a:schemeClr val="tx1"/>
                            </a:solidFill>
                            <a:latin typeface="Cambria Math" panose="02040503050406030204" pitchFamily="18" charset="0"/>
                            <a:ea typeface="Roboto" panose="02000000000000000000" pitchFamily="2" charset="0"/>
                          </a:rPr>
                        </m:ctrlPr>
                      </m:dPr>
                      <m:e>
                        <m:r>
                          <a:rPr lang="es-MX" sz="1800" i="1">
                            <a:solidFill>
                              <a:schemeClr val="tx1"/>
                            </a:solidFill>
                            <a:latin typeface="Cambria Math" panose="02040503050406030204" pitchFamily="18" charset="0"/>
                            <a:ea typeface="Roboto" panose="02000000000000000000" pitchFamily="2" charset="0"/>
                          </a:rPr>
                          <m:t>𝑐𝑎𝑠𝑖𝑙𝑙𝑎𝑠</m:t>
                        </m:r>
                      </m:e>
                    </m:d>
                    <m:r>
                      <a:rPr lang="es-MX" sz="1800" i="1">
                        <a:solidFill>
                          <a:schemeClr val="tx1"/>
                        </a:solidFill>
                        <a:latin typeface="Cambria Math" panose="02040503050406030204" pitchFamily="18" charset="0"/>
                        <a:ea typeface="Roboto" panose="02000000000000000000" pitchFamily="2" charset="0"/>
                      </a:rPr>
                      <m:t>=</m:t>
                    </m:r>
                    <m:d>
                      <m:dPr>
                        <m:begChr m:val="|"/>
                        <m:endChr m:val="|"/>
                        <m:ctrlPr>
                          <a:rPr lang="es-MX" sz="1800" b="0" i="1" smtClean="0">
                            <a:solidFill>
                              <a:schemeClr val="tx1"/>
                            </a:solidFill>
                            <a:latin typeface="Cambria Math" panose="02040503050406030204" pitchFamily="18" charset="0"/>
                            <a:ea typeface="Roboto" panose="02000000000000000000" pitchFamily="2" charset="0"/>
                          </a:rPr>
                        </m:ctrlPr>
                      </m:dPr>
                      <m:e>
                        <m:r>
                          <a:rPr lang="es-MX" sz="1800" i="1">
                            <a:solidFill>
                              <a:schemeClr val="tx1"/>
                            </a:solidFill>
                            <a:latin typeface="Cambria Math" panose="02040503050406030204" pitchFamily="18" charset="0"/>
                            <a:ea typeface="Roboto" panose="02000000000000000000" pitchFamily="2" charset="0"/>
                          </a:rPr>
                          <m:t>𝐴</m:t>
                        </m:r>
                        <m:r>
                          <a:rPr lang="es-MX" sz="1800" i="1">
                            <a:solidFill>
                              <a:schemeClr val="tx1"/>
                            </a:solidFill>
                            <a:latin typeface="Cambria Math" panose="02040503050406030204" pitchFamily="18" charset="0"/>
                            <a:ea typeface="Roboto" panose="02000000000000000000" pitchFamily="2" charset="0"/>
                          </a:rPr>
                          <m:t>×</m:t>
                        </m:r>
                        <m:r>
                          <a:rPr lang="es-MX" sz="1800" i="1">
                            <a:solidFill>
                              <a:schemeClr val="tx1"/>
                            </a:solidFill>
                            <a:latin typeface="Cambria Math" panose="02040503050406030204" pitchFamily="18" charset="0"/>
                            <a:ea typeface="Roboto" panose="02000000000000000000" pitchFamily="2" charset="0"/>
                          </a:rPr>
                          <m:t>𝐵</m:t>
                        </m:r>
                      </m:e>
                    </m:d>
                    <m:r>
                      <a:rPr lang="es-MX" sz="1800" b="0" i="1" smtClean="0">
                        <a:solidFill>
                          <a:schemeClr val="tx1"/>
                        </a:solidFill>
                        <a:latin typeface="Cambria Math" panose="02040503050406030204" pitchFamily="18" charset="0"/>
                        <a:ea typeface="Roboto" panose="02000000000000000000" pitchFamily="2" charset="0"/>
                      </a:rPr>
                      <m:t>=</m:t>
                    </m:r>
                    <m:d>
                      <m:dPr>
                        <m:begChr m:val="|"/>
                        <m:endChr m:val="|"/>
                        <m:ctrlPr>
                          <a:rPr lang="es-MX" sz="1800" b="0" i="1" smtClean="0">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𝐴</m:t>
                        </m:r>
                      </m:e>
                    </m:d>
                    <m:r>
                      <a:rPr lang="es-MX" sz="1800" b="0" i="1" smtClean="0">
                        <a:solidFill>
                          <a:schemeClr val="tx1"/>
                        </a:solidFill>
                        <a:latin typeface="Cambria Math" panose="02040503050406030204" pitchFamily="18" charset="0"/>
                        <a:ea typeface="Roboto" panose="02000000000000000000" pitchFamily="2" charset="0"/>
                      </a:rPr>
                      <m:t>⋅</m:t>
                    </m:r>
                    <m:d>
                      <m:dPr>
                        <m:begChr m:val="|"/>
                        <m:endChr m:val="|"/>
                        <m:ctrlPr>
                          <a:rPr lang="es-MX" sz="1800" i="1">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𝐵</m:t>
                        </m:r>
                      </m:e>
                    </m:d>
                    <m:r>
                      <a:rPr lang="es-MX" sz="1800" b="0" i="1" smtClean="0">
                        <a:solidFill>
                          <a:schemeClr val="tx1"/>
                        </a:solidFill>
                        <a:latin typeface="Cambria Math" panose="02040503050406030204" pitchFamily="18" charset="0"/>
                        <a:ea typeface="Roboto" panose="02000000000000000000" pitchFamily="2" charset="0"/>
                      </a:rPr>
                      <m:t>=</m:t>
                    </m:r>
                    <m:d>
                      <m:dPr>
                        <m:ctrlPr>
                          <a:rPr lang="es-MX" sz="1800" b="0" i="1" smtClean="0">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8</m:t>
                        </m:r>
                      </m:e>
                    </m:d>
                    <m:d>
                      <m:dPr>
                        <m:ctrlPr>
                          <a:rPr lang="es-MX" sz="1800" b="0" i="1" smtClean="0">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8</m:t>
                        </m:r>
                      </m:e>
                    </m:d>
                    <m:r>
                      <a:rPr lang="es-MX" sz="1800" b="0" i="1" smtClean="0">
                        <a:solidFill>
                          <a:schemeClr val="tx1"/>
                        </a:solidFill>
                        <a:latin typeface="Cambria Math" panose="02040503050406030204" pitchFamily="18" charset="0"/>
                        <a:ea typeface="Roboto" panose="02000000000000000000" pitchFamily="2" charset="0"/>
                      </a:rPr>
                      <m:t>=64</m:t>
                    </m:r>
                  </m:oMath>
                </a14:m>
                <a:endParaRPr lang="es-MX" sz="1800" b="0" i="1" dirty="0">
                  <a:solidFill>
                    <a:schemeClr val="tx1"/>
                  </a:solidFill>
                  <a:latin typeface="Cambria Math" panose="02040503050406030204" pitchFamily="18" charset="0"/>
                  <a:ea typeface="Roboto" panose="02000000000000000000" pitchFamily="2" charset="0"/>
                </a:endParaRPr>
              </a:p>
              <a:p>
                <a:pPr marL="127000" indent="0">
                  <a:buNone/>
                </a:pPr>
                <a:endParaRPr lang="es-MX" sz="18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15" name="Google Shape;310;p34">
                <a:extLst>
                  <a:ext uri="{FF2B5EF4-FFF2-40B4-BE49-F238E27FC236}">
                    <a16:creationId xmlns:a16="http://schemas.microsoft.com/office/drawing/2014/main" id="{BB901D06-FB4A-4D9C-AF1E-BBD75DECCB5A}"/>
                  </a:ext>
                </a:extLst>
              </p:cNvPr>
              <p:cNvSpPr txBox="1">
                <a:spLocks noRot="1" noChangeAspect="1" noMove="1" noResize="1" noEditPoints="1" noAdjustHandles="1" noChangeArrowheads="1" noChangeShapeType="1" noTextEdit="1"/>
              </p:cNvSpPr>
              <p:nvPr/>
            </p:nvSpPr>
            <p:spPr>
              <a:xfrm>
                <a:off x="4720651" y="2714686"/>
                <a:ext cx="6574221" cy="1769066"/>
              </a:xfrm>
              <a:prstGeom prst="rect">
                <a:avLst/>
              </a:prstGeom>
              <a:blipFill>
                <a:blip r:embed="rId6"/>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7" name="Google Shape;310;p34">
                <a:extLst>
                  <a:ext uri="{FF2B5EF4-FFF2-40B4-BE49-F238E27FC236}">
                    <a16:creationId xmlns:a16="http://schemas.microsoft.com/office/drawing/2014/main" id="{092502EE-7C9D-4C42-AA86-B51DD46E7633}"/>
                  </a:ext>
                </a:extLst>
              </p:cNvPr>
              <p:cNvSpPr txBox="1">
                <a:spLocks/>
              </p:cNvSpPr>
              <p:nvPr/>
            </p:nvSpPr>
            <p:spPr>
              <a:xfrm>
                <a:off x="4720651" y="4628543"/>
                <a:ext cx="7234656" cy="19160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N = 3 – Piezas en casilla</a:t>
                </a:r>
                <a:r>
                  <a:rPr lang="es-MX" sz="2000" dirty="0">
                    <a:latin typeface="+mn-lt"/>
                    <a:ea typeface="Roboto" panose="02000000000000000000" pitchFamily="2" charset="0"/>
                  </a:rPr>
                  <a:t>:</a:t>
                </a:r>
              </a:p>
              <a:p>
                <a14:m>
                  <m:oMath xmlns:m="http://schemas.openxmlformats.org/officeDocument/2006/math">
                    <m:r>
                      <a:rPr lang="es-MX" sz="1800" i="1">
                        <a:solidFill>
                          <a:schemeClr val="tx1"/>
                        </a:solidFill>
                        <a:latin typeface="Cambria Math" panose="02040503050406030204" pitchFamily="18" charset="0"/>
                        <a:ea typeface="Roboto" panose="02000000000000000000" pitchFamily="2" charset="0"/>
                      </a:rPr>
                      <m:t>𝐴</m:t>
                    </m:r>
                    <m:r>
                      <a:rPr lang="es-MX" sz="1800" i="1">
                        <a:solidFill>
                          <a:schemeClr val="tx1"/>
                        </a:solidFill>
                        <a:latin typeface="Cambria Math" panose="02040503050406030204" pitchFamily="18" charset="0"/>
                        <a:ea typeface="Roboto" panose="02000000000000000000" pitchFamily="2" charset="0"/>
                      </a:rPr>
                      <m:t>×</m:t>
                    </m:r>
                    <m:r>
                      <a:rPr lang="es-MX" sz="1800" i="1">
                        <a:solidFill>
                          <a:schemeClr val="tx1"/>
                        </a:solidFill>
                        <a:latin typeface="Cambria Math" panose="02040503050406030204" pitchFamily="18" charset="0"/>
                        <a:ea typeface="Roboto" panose="02000000000000000000" pitchFamily="2" charset="0"/>
                      </a:rPr>
                      <m:t>𝐵</m:t>
                    </m:r>
                    <m:r>
                      <a:rPr lang="es-MX" sz="1800" i="1">
                        <a:solidFill>
                          <a:schemeClr val="tx1"/>
                        </a:solidFill>
                        <a:latin typeface="Cambria Math" panose="02040503050406030204" pitchFamily="18" charset="0"/>
                        <a:ea typeface="Roboto" panose="02000000000000000000" pitchFamily="2" charset="0"/>
                      </a:rPr>
                      <m:t>×</m:t>
                    </m:r>
                    <m:r>
                      <a:rPr lang="es-MX" sz="1800" b="0" i="1" smtClean="0">
                        <a:solidFill>
                          <a:schemeClr val="tx1"/>
                        </a:solidFill>
                        <a:latin typeface="Cambria Math" panose="02040503050406030204" pitchFamily="18" charset="0"/>
                        <a:ea typeface="Roboto" panose="02000000000000000000" pitchFamily="2" charset="0"/>
                      </a:rPr>
                      <m:t>𝐶</m:t>
                    </m:r>
                    <m:r>
                      <a:rPr lang="es-MX" sz="1800" b="0" i="1" smtClean="0">
                        <a:solidFill>
                          <a:schemeClr val="tx1"/>
                        </a:solidFill>
                        <a:latin typeface="Cambria Math" panose="02040503050406030204" pitchFamily="18" charset="0"/>
                        <a:ea typeface="Roboto" panose="02000000000000000000" pitchFamily="2" charset="0"/>
                      </a:rPr>
                      <m:t>=</m:t>
                    </m:r>
                    <m:r>
                      <a:rPr lang="es-MX" sz="1800" i="1">
                        <a:solidFill>
                          <a:schemeClr val="tx1"/>
                        </a:solidFill>
                        <a:latin typeface="Cambria Math" panose="02040503050406030204" pitchFamily="18" charset="0"/>
                        <a:ea typeface="Roboto" panose="02000000000000000000" pitchFamily="2" charset="0"/>
                      </a:rPr>
                      <m:t>𝑐𝑜𝑙𝑢𝑚𝑛𝑎𝑠</m:t>
                    </m:r>
                    <m:r>
                      <a:rPr lang="es-MX" sz="1800" b="0" i="1" smtClean="0">
                        <a:solidFill>
                          <a:schemeClr val="tx1"/>
                        </a:solidFill>
                        <a:latin typeface="Cambria Math" panose="02040503050406030204" pitchFamily="18" charset="0"/>
                        <a:ea typeface="Roboto" panose="02000000000000000000" pitchFamily="2" charset="0"/>
                      </a:rPr>
                      <m:t>×</m:t>
                    </m:r>
                    <m:r>
                      <a:rPr lang="es-MX" sz="1800" b="0" i="1" smtClean="0">
                        <a:solidFill>
                          <a:schemeClr val="tx1"/>
                        </a:solidFill>
                        <a:latin typeface="Cambria Math" panose="02040503050406030204" pitchFamily="18" charset="0"/>
                        <a:ea typeface="Roboto" panose="02000000000000000000" pitchFamily="2" charset="0"/>
                      </a:rPr>
                      <m:t>𝑓𝑖𝑙𝑎𝑠</m:t>
                    </m:r>
                    <m:r>
                      <a:rPr lang="es-MX" sz="1800" b="0" i="1" smtClean="0">
                        <a:solidFill>
                          <a:schemeClr val="tx1"/>
                        </a:solidFill>
                        <a:latin typeface="Cambria Math" panose="02040503050406030204" pitchFamily="18" charset="0"/>
                        <a:ea typeface="Roboto" panose="02000000000000000000" pitchFamily="2" charset="0"/>
                      </a:rPr>
                      <m:t>×</m:t>
                    </m:r>
                    <m:r>
                      <a:rPr lang="es-MX" sz="1800" b="0" i="1" smtClean="0">
                        <a:solidFill>
                          <a:schemeClr val="tx1"/>
                        </a:solidFill>
                        <a:latin typeface="Cambria Math" panose="02040503050406030204" pitchFamily="18" charset="0"/>
                        <a:ea typeface="Roboto" panose="02000000000000000000" pitchFamily="2" charset="0"/>
                      </a:rPr>
                      <m:t>𝑝𝑖𝑒𝑧𝑎𝑠</m:t>
                    </m:r>
                  </m:oMath>
                </a14:m>
                <a:endParaRPr lang="es-MX" sz="1800" b="0" i="1" dirty="0">
                  <a:solidFill>
                    <a:schemeClr val="tx1"/>
                  </a:solidFill>
                  <a:latin typeface="Cambria Math" panose="02040503050406030204" pitchFamily="18" charset="0"/>
                  <a:ea typeface="Roboto" panose="02000000000000000000" pitchFamily="2" charset="0"/>
                </a:endParaRPr>
              </a:p>
              <a:p>
                <a14:m>
                  <m:oMath xmlns:m="http://schemas.openxmlformats.org/officeDocument/2006/math">
                    <m:d>
                      <m:dPr>
                        <m:ctrlPr>
                          <a:rPr lang="es-MX" sz="1800" b="0" i="1" smtClean="0">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𝑒</m:t>
                        </m:r>
                        <m:r>
                          <a:rPr lang="es-MX" sz="1800" b="0" i="1" smtClean="0">
                            <a:solidFill>
                              <a:schemeClr val="tx1"/>
                            </a:solidFill>
                            <a:latin typeface="Cambria Math" panose="02040503050406030204" pitchFamily="18" charset="0"/>
                            <a:ea typeface="Roboto" panose="02000000000000000000" pitchFamily="2" charset="0"/>
                          </a:rPr>
                          <m:t>,1,</m:t>
                        </m:r>
                        <m:r>
                          <m:rPr>
                            <m:nor/>
                          </m:rPr>
                          <a:rPr lang="es-CO" sz="1800"/>
                          <m:t>♔</m:t>
                        </m:r>
                      </m:e>
                    </m:d>
                    <m:r>
                      <a:rPr lang="es-MX" sz="1800" b="0" i="1" smtClean="0">
                        <a:solidFill>
                          <a:schemeClr val="tx1"/>
                        </a:solidFill>
                        <a:latin typeface="Cambria Math" panose="02040503050406030204" pitchFamily="18" charset="0"/>
                        <a:ea typeface="Roboto" panose="02000000000000000000" pitchFamily="2" charset="0"/>
                      </a:rPr>
                      <m:t>→</m:t>
                    </m:r>
                    <m:r>
                      <m:rPr>
                        <m:sty m:val="p"/>
                      </m:rPr>
                      <a:rPr lang="es-MX" sz="1800" b="0" i="0" smtClean="0">
                        <a:solidFill>
                          <a:schemeClr val="tx1"/>
                        </a:solidFill>
                        <a:latin typeface="Cambria Math" panose="02040503050406030204" pitchFamily="18" charset="0"/>
                        <a:ea typeface="Roboto" panose="02000000000000000000" pitchFamily="2" charset="0"/>
                      </a:rPr>
                      <m:t>Rey</m:t>
                    </m:r>
                    <m:r>
                      <a:rPr lang="es-MX" sz="1800" b="0" i="0" smtClean="0">
                        <a:solidFill>
                          <a:schemeClr val="tx1"/>
                        </a:solidFill>
                        <a:latin typeface="Cambria Math" panose="02040503050406030204" pitchFamily="18" charset="0"/>
                        <a:ea typeface="Roboto" panose="02000000000000000000" pitchFamily="2" charset="0"/>
                      </a:rPr>
                      <m:t> </m:t>
                    </m:r>
                    <m:r>
                      <m:rPr>
                        <m:sty m:val="p"/>
                      </m:rPr>
                      <a:rPr lang="es-MX" sz="1800" b="0" i="0" smtClean="0">
                        <a:solidFill>
                          <a:schemeClr val="tx1"/>
                        </a:solidFill>
                        <a:latin typeface="Cambria Math" panose="02040503050406030204" pitchFamily="18" charset="0"/>
                        <a:ea typeface="Roboto" panose="02000000000000000000" pitchFamily="2" charset="0"/>
                      </a:rPr>
                      <m:t>en</m:t>
                    </m:r>
                    <m:r>
                      <a:rPr lang="es-MX" sz="1800" b="0" i="0" smtClean="0">
                        <a:solidFill>
                          <a:schemeClr val="tx1"/>
                        </a:solidFill>
                        <a:latin typeface="Cambria Math" panose="02040503050406030204" pitchFamily="18" charset="0"/>
                        <a:ea typeface="Roboto" panose="02000000000000000000" pitchFamily="2" charset="0"/>
                      </a:rPr>
                      <m:t> </m:t>
                    </m:r>
                    <m:r>
                      <a:rPr lang="es-MX" sz="1800" b="1" i="0" smtClean="0">
                        <a:solidFill>
                          <a:schemeClr val="tx1"/>
                        </a:solidFill>
                        <a:latin typeface="Cambria Math" panose="02040503050406030204" pitchFamily="18" charset="0"/>
                        <a:ea typeface="Roboto" panose="02000000000000000000" pitchFamily="2" charset="0"/>
                      </a:rPr>
                      <m:t>𝐞𝟏</m:t>
                    </m:r>
                  </m:oMath>
                </a14:m>
                <a:endParaRPr lang="es-MX" sz="1800" b="1" i="1" dirty="0">
                  <a:solidFill>
                    <a:schemeClr val="tx1"/>
                  </a:solidFill>
                  <a:latin typeface="Cambria Math" panose="02040503050406030204" pitchFamily="18" charset="0"/>
                  <a:ea typeface="Roboto" panose="02000000000000000000" pitchFamily="2" charset="0"/>
                </a:endParaRPr>
              </a:p>
              <a:p>
                <a14:m>
                  <m:oMath xmlns:m="http://schemas.openxmlformats.org/officeDocument/2006/math">
                    <m:d>
                      <m:dPr>
                        <m:ctrlPr>
                          <a:rPr lang="es-MX" sz="1800" b="0" i="1" smtClean="0">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𝑏</m:t>
                        </m:r>
                        <m:r>
                          <a:rPr lang="es-MX" sz="1800" b="0" i="1" smtClean="0">
                            <a:solidFill>
                              <a:schemeClr val="tx1"/>
                            </a:solidFill>
                            <a:latin typeface="Cambria Math" panose="02040503050406030204" pitchFamily="18" charset="0"/>
                            <a:ea typeface="Roboto" panose="02000000000000000000" pitchFamily="2" charset="0"/>
                          </a:rPr>
                          <m:t>,1,</m:t>
                        </m:r>
                        <m:r>
                          <m:rPr>
                            <m:nor/>
                          </m:rPr>
                          <a:rPr lang="es-CO" sz="1800"/>
                          <m:t>♘</m:t>
                        </m:r>
                      </m:e>
                    </m:d>
                    <m:r>
                      <a:rPr lang="es-MX" sz="1800" b="0" i="1" smtClean="0">
                        <a:solidFill>
                          <a:schemeClr val="tx1"/>
                        </a:solidFill>
                        <a:latin typeface="Cambria Math" panose="02040503050406030204" pitchFamily="18" charset="0"/>
                        <a:ea typeface="Roboto" panose="02000000000000000000" pitchFamily="2" charset="0"/>
                      </a:rPr>
                      <m:t>→</m:t>
                    </m:r>
                    <m:r>
                      <m:rPr>
                        <m:sty m:val="p"/>
                      </m:rPr>
                      <a:rPr lang="es-MX" sz="1800" b="0" i="0" smtClean="0">
                        <a:solidFill>
                          <a:schemeClr val="tx1"/>
                        </a:solidFill>
                        <a:latin typeface="Cambria Math" panose="02040503050406030204" pitchFamily="18" charset="0"/>
                        <a:ea typeface="Roboto" panose="02000000000000000000" pitchFamily="2" charset="0"/>
                      </a:rPr>
                      <m:t>Caballo</m:t>
                    </m:r>
                    <m:r>
                      <a:rPr lang="es-MX" sz="1800" b="0" i="0" smtClean="0">
                        <a:solidFill>
                          <a:schemeClr val="tx1"/>
                        </a:solidFill>
                        <a:latin typeface="Cambria Math" panose="02040503050406030204" pitchFamily="18" charset="0"/>
                        <a:ea typeface="Roboto" panose="02000000000000000000" pitchFamily="2" charset="0"/>
                      </a:rPr>
                      <m:t> </m:t>
                    </m:r>
                    <m:r>
                      <m:rPr>
                        <m:sty m:val="p"/>
                      </m:rPr>
                      <a:rPr lang="es-MX" sz="1800" b="0" i="0" smtClean="0">
                        <a:solidFill>
                          <a:schemeClr val="tx1"/>
                        </a:solidFill>
                        <a:latin typeface="Cambria Math" panose="02040503050406030204" pitchFamily="18" charset="0"/>
                        <a:ea typeface="Roboto" panose="02000000000000000000" pitchFamily="2" charset="0"/>
                      </a:rPr>
                      <m:t>en</m:t>
                    </m:r>
                    <m:r>
                      <a:rPr lang="es-MX" sz="1800" b="0" i="0" smtClean="0">
                        <a:solidFill>
                          <a:schemeClr val="tx1"/>
                        </a:solidFill>
                        <a:latin typeface="Cambria Math" panose="02040503050406030204" pitchFamily="18" charset="0"/>
                        <a:ea typeface="Roboto" panose="02000000000000000000" pitchFamily="2" charset="0"/>
                      </a:rPr>
                      <m:t> </m:t>
                    </m:r>
                    <m:r>
                      <a:rPr lang="es-MX" sz="1800" b="1" i="0" smtClean="0">
                        <a:solidFill>
                          <a:schemeClr val="tx1"/>
                        </a:solidFill>
                        <a:latin typeface="Cambria Math" panose="02040503050406030204" pitchFamily="18" charset="0"/>
                        <a:ea typeface="Roboto" panose="02000000000000000000" pitchFamily="2" charset="0"/>
                      </a:rPr>
                      <m:t>𝐛</m:t>
                    </m:r>
                    <m:r>
                      <a:rPr lang="es-MX" sz="1800" b="1" i="0" smtClean="0">
                        <a:solidFill>
                          <a:schemeClr val="tx1"/>
                        </a:solidFill>
                        <a:latin typeface="Cambria Math" panose="02040503050406030204" pitchFamily="18" charset="0"/>
                        <a:ea typeface="Roboto" panose="02000000000000000000" pitchFamily="2" charset="0"/>
                      </a:rPr>
                      <m:t>𝟏</m:t>
                    </m:r>
                  </m:oMath>
                </a14:m>
                <a:endParaRPr lang="es-MX" sz="1800" b="1" i="1" dirty="0">
                  <a:solidFill>
                    <a:schemeClr val="tx1"/>
                  </a:solidFill>
                  <a:latin typeface="Cambria Math" panose="02040503050406030204" pitchFamily="18" charset="0"/>
                  <a:ea typeface="Roboto" panose="02000000000000000000" pitchFamily="2" charset="0"/>
                </a:endParaRPr>
              </a:p>
              <a:p>
                <a:pPr/>
                <a14:m>
                  <m:oMath xmlns:m="http://schemas.openxmlformats.org/officeDocument/2006/math">
                    <m:d>
                      <m:dPr>
                        <m:begChr m:val="|"/>
                        <m:endChr m:val="|"/>
                        <m:ctrlPr>
                          <a:rPr lang="es-MX" sz="1800" b="0" i="1" smtClean="0">
                            <a:solidFill>
                              <a:schemeClr val="tx1"/>
                            </a:solidFill>
                            <a:latin typeface="Cambria Math" panose="02040503050406030204" pitchFamily="18" charset="0"/>
                            <a:ea typeface="Roboto" panose="02000000000000000000" pitchFamily="2" charset="0"/>
                          </a:rPr>
                        </m:ctrlPr>
                      </m:dPr>
                      <m:e>
                        <m:r>
                          <a:rPr lang="es-MX" sz="1800" i="1">
                            <a:solidFill>
                              <a:schemeClr val="tx1"/>
                            </a:solidFill>
                            <a:latin typeface="Cambria Math" panose="02040503050406030204" pitchFamily="18" charset="0"/>
                            <a:ea typeface="Roboto" panose="02000000000000000000" pitchFamily="2" charset="0"/>
                          </a:rPr>
                          <m:t>𝑐𝑜𝑙𝑢𝑚𝑛𝑎𝑠</m:t>
                        </m:r>
                        <m:r>
                          <a:rPr lang="es-MX" sz="1800" i="1">
                            <a:solidFill>
                              <a:schemeClr val="tx1"/>
                            </a:solidFill>
                            <a:latin typeface="Cambria Math" panose="02040503050406030204" pitchFamily="18" charset="0"/>
                            <a:ea typeface="Roboto" panose="02000000000000000000" pitchFamily="2" charset="0"/>
                          </a:rPr>
                          <m:t>×</m:t>
                        </m:r>
                        <m:r>
                          <a:rPr lang="es-MX" sz="1800" i="1">
                            <a:solidFill>
                              <a:schemeClr val="tx1"/>
                            </a:solidFill>
                            <a:latin typeface="Cambria Math" panose="02040503050406030204" pitchFamily="18" charset="0"/>
                            <a:ea typeface="Roboto" panose="02000000000000000000" pitchFamily="2" charset="0"/>
                          </a:rPr>
                          <m:t>𝑓𝑖𝑙𝑎𝑠</m:t>
                        </m:r>
                        <m:r>
                          <a:rPr lang="es-MX" sz="1800" i="1">
                            <a:solidFill>
                              <a:schemeClr val="tx1"/>
                            </a:solidFill>
                            <a:latin typeface="Cambria Math" panose="02040503050406030204" pitchFamily="18" charset="0"/>
                            <a:ea typeface="Roboto" panose="02000000000000000000" pitchFamily="2" charset="0"/>
                          </a:rPr>
                          <m:t>×</m:t>
                        </m:r>
                        <m:r>
                          <a:rPr lang="es-MX" sz="1800" i="1">
                            <a:solidFill>
                              <a:schemeClr val="tx1"/>
                            </a:solidFill>
                            <a:latin typeface="Cambria Math" panose="02040503050406030204" pitchFamily="18" charset="0"/>
                            <a:ea typeface="Roboto" panose="02000000000000000000" pitchFamily="2" charset="0"/>
                          </a:rPr>
                          <m:t>𝑝𝑖𝑒𝑧𝑎𝑠</m:t>
                        </m:r>
                      </m:e>
                    </m:d>
                    <m:r>
                      <a:rPr lang="es-MX" sz="1800" b="0" i="1" smtClean="0">
                        <a:solidFill>
                          <a:schemeClr val="tx1"/>
                        </a:solidFill>
                        <a:latin typeface="Cambria Math" panose="02040503050406030204" pitchFamily="18" charset="0"/>
                        <a:ea typeface="Roboto" panose="02000000000000000000" pitchFamily="2" charset="0"/>
                      </a:rPr>
                      <m:t>=</m:t>
                    </m:r>
                    <m:d>
                      <m:dPr>
                        <m:begChr m:val="|"/>
                        <m:endChr m:val="|"/>
                        <m:ctrlPr>
                          <a:rPr lang="es-MX" sz="1800" b="0" i="1" smtClean="0">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𝐴</m:t>
                        </m:r>
                      </m:e>
                    </m:d>
                    <m:r>
                      <a:rPr lang="es-MX" sz="1800" b="0" i="1" smtClean="0">
                        <a:solidFill>
                          <a:schemeClr val="tx1"/>
                        </a:solidFill>
                        <a:latin typeface="Cambria Math" panose="02040503050406030204" pitchFamily="18" charset="0"/>
                        <a:ea typeface="Roboto" panose="02000000000000000000" pitchFamily="2" charset="0"/>
                      </a:rPr>
                      <m:t>⋅</m:t>
                    </m:r>
                    <m:d>
                      <m:dPr>
                        <m:begChr m:val="|"/>
                        <m:endChr m:val="|"/>
                        <m:ctrlPr>
                          <a:rPr lang="es-MX" sz="1800" i="1">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𝐵</m:t>
                        </m:r>
                      </m:e>
                    </m:d>
                    <m:r>
                      <a:rPr lang="es-MX" sz="1800" i="1">
                        <a:solidFill>
                          <a:schemeClr val="tx1"/>
                        </a:solidFill>
                        <a:latin typeface="Cambria Math" panose="02040503050406030204" pitchFamily="18" charset="0"/>
                        <a:ea typeface="Roboto" panose="02000000000000000000" pitchFamily="2" charset="0"/>
                      </a:rPr>
                      <m:t>⋅</m:t>
                    </m:r>
                    <m:d>
                      <m:dPr>
                        <m:begChr m:val="|"/>
                        <m:endChr m:val="|"/>
                        <m:ctrlPr>
                          <a:rPr lang="es-MX" sz="1800" i="1">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𝐶</m:t>
                        </m:r>
                      </m:e>
                    </m:d>
                    <m:r>
                      <a:rPr lang="es-MX" sz="1800" b="0" i="1" smtClean="0">
                        <a:solidFill>
                          <a:schemeClr val="tx1"/>
                        </a:solidFill>
                        <a:latin typeface="Cambria Math" panose="02040503050406030204" pitchFamily="18" charset="0"/>
                        <a:ea typeface="Roboto" panose="02000000000000000000" pitchFamily="2" charset="0"/>
                      </a:rPr>
                      <m:t>=</m:t>
                    </m:r>
                    <m:d>
                      <m:dPr>
                        <m:ctrlPr>
                          <a:rPr lang="es-MX" sz="1800" b="0" i="1" smtClean="0">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8</m:t>
                        </m:r>
                      </m:e>
                    </m:d>
                    <m:d>
                      <m:dPr>
                        <m:ctrlPr>
                          <a:rPr lang="es-MX" sz="1800" b="0" i="1" smtClean="0">
                            <a:solidFill>
                              <a:schemeClr val="tx1"/>
                            </a:solidFill>
                            <a:latin typeface="Cambria Math" panose="02040503050406030204" pitchFamily="18" charset="0"/>
                            <a:ea typeface="Roboto" panose="02000000000000000000" pitchFamily="2" charset="0"/>
                          </a:rPr>
                        </m:ctrlPr>
                      </m:dPr>
                      <m:e>
                        <m:r>
                          <a:rPr lang="es-MX" sz="1800" b="0" i="1" smtClean="0">
                            <a:solidFill>
                              <a:schemeClr val="tx1"/>
                            </a:solidFill>
                            <a:latin typeface="Cambria Math" panose="02040503050406030204" pitchFamily="18" charset="0"/>
                            <a:ea typeface="Roboto" panose="02000000000000000000" pitchFamily="2" charset="0"/>
                          </a:rPr>
                          <m:t>8</m:t>
                        </m:r>
                      </m:e>
                    </m:d>
                    <m:r>
                      <a:rPr lang="es-MX" sz="1800" b="0" i="1" smtClean="0">
                        <a:solidFill>
                          <a:schemeClr val="tx1"/>
                        </a:solidFill>
                        <a:latin typeface="Cambria Math" panose="02040503050406030204" pitchFamily="18" charset="0"/>
                        <a:ea typeface="Roboto" panose="02000000000000000000" pitchFamily="2" charset="0"/>
                      </a:rPr>
                      <m:t>(6)=384</m:t>
                    </m:r>
                  </m:oMath>
                </a14:m>
                <a:endParaRPr lang="es-MX" sz="1800" b="0" i="1" dirty="0">
                  <a:solidFill>
                    <a:schemeClr val="tx1"/>
                  </a:solidFill>
                  <a:latin typeface="Cambria Math" panose="02040503050406030204" pitchFamily="18" charset="0"/>
                  <a:ea typeface="Roboto" panose="02000000000000000000" pitchFamily="2" charset="0"/>
                </a:endParaRPr>
              </a:p>
              <a:p>
                <a:pPr marL="127000" indent="0">
                  <a:buNone/>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17" name="Google Shape;310;p34">
                <a:extLst>
                  <a:ext uri="{FF2B5EF4-FFF2-40B4-BE49-F238E27FC236}">
                    <a16:creationId xmlns:a16="http://schemas.microsoft.com/office/drawing/2014/main" id="{092502EE-7C9D-4C42-AA86-B51DD46E7633}"/>
                  </a:ext>
                </a:extLst>
              </p:cNvPr>
              <p:cNvSpPr txBox="1">
                <a:spLocks noRot="1" noChangeAspect="1" noMove="1" noResize="1" noEditPoints="1" noAdjustHandles="1" noChangeArrowheads="1" noChangeShapeType="1" noTextEdit="1"/>
              </p:cNvSpPr>
              <p:nvPr/>
            </p:nvSpPr>
            <p:spPr>
              <a:xfrm>
                <a:off x="4720651" y="4628543"/>
                <a:ext cx="7234656" cy="1916098"/>
              </a:xfrm>
              <a:prstGeom prst="rect">
                <a:avLst/>
              </a:prstGeom>
              <a:blipFill>
                <a:blip r:embed="rId7"/>
                <a:stretch>
                  <a:fillRect b="-6984"/>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801641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463220" y="96038"/>
            <a:ext cx="875743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353962" y="943475"/>
            <a:ext cx="11149782" cy="492443"/>
          </a:xfrm>
          <a:prstGeom prst="rect">
            <a:avLst/>
          </a:prstGeom>
          <a:noFill/>
        </p:spPr>
        <p:txBody>
          <a:bodyPr wrap="square" rtlCol="0">
            <a:spAutoFit/>
          </a:bodyPr>
          <a:lstStyle/>
          <a:p>
            <a:r>
              <a:rPr lang="es-MX" sz="2600" b="1" dirty="0">
                <a:ea typeface="Roboto" panose="02000000000000000000" pitchFamily="2" charset="0"/>
              </a:rPr>
              <a:t>Ejercicio de repaso</a:t>
            </a:r>
          </a:p>
        </p:txBody>
      </p:sp>
      <mc:AlternateContent xmlns:mc="http://schemas.openxmlformats.org/markup-compatibility/2006">
        <mc:Choice xmlns:a14="http://schemas.microsoft.com/office/drawing/2010/main" Requires="a14">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220651" y="1366887"/>
                <a:ext cx="11839969" cy="244836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400" dirty="0">
                    <a:latin typeface="+mn-lt"/>
                    <a:ea typeface="Roboto" panose="02000000000000000000" pitchFamily="2" charset="0"/>
                  </a:rPr>
                  <a:t>Para </a:t>
                </a:r>
                <a14:m>
                  <m:oMath xmlns:m="http://schemas.openxmlformats.org/officeDocument/2006/math">
                    <m:r>
                      <a:rPr lang="es-MX" sz="2400" b="0" i="1" smtClean="0">
                        <a:latin typeface="Cambria Math" panose="02040503050406030204" pitchFamily="18" charset="0"/>
                        <a:ea typeface="Roboto" panose="02000000000000000000" pitchFamily="2" charset="0"/>
                      </a:rPr>
                      <m:t>𝐴</m:t>
                    </m:r>
                    <m:r>
                      <a:rPr lang="es-MX" sz="2400" b="0" i="1" smtClean="0">
                        <a:latin typeface="Cambria Math" panose="02040503050406030204" pitchFamily="18" charset="0"/>
                        <a:ea typeface="Roboto" panose="02000000000000000000" pitchFamily="2" charset="0"/>
                      </a:rPr>
                      <m:t>=</m:t>
                    </m:r>
                    <m:d>
                      <m:dPr>
                        <m:begChr m:val="{"/>
                        <m:endChr m:val="}"/>
                        <m:ctrlPr>
                          <a:rPr lang="es-MX" sz="2400" b="0" i="1" smtClean="0">
                            <a:latin typeface="Cambria Math" panose="02040503050406030204" pitchFamily="18" charset="0"/>
                            <a:ea typeface="Roboto" panose="02000000000000000000" pitchFamily="2" charset="0"/>
                          </a:rPr>
                        </m:ctrlPr>
                      </m:dPr>
                      <m:e>
                        <m:r>
                          <a:rPr lang="es-MX" sz="2400" b="0" i="1" smtClean="0">
                            <a:latin typeface="Cambria Math" panose="02040503050406030204" pitchFamily="18" charset="0"/>
                            <a:ea typeface="Roboto" panose="02000000000000000000" pitchFamily="2" charset="0"/>
                          </a:rPr>
                          <m:t>1,2,3</m:t>
                        </m:r>
                      </m:e>
                    </m:d>
                  </m:oMath>
                </a14:m>
                <a:r>
                  <a:rPr lang="es-MX" sz="2400" dirty="0">
                    <a:latin typeface="+mn-lt"/>
                    <a:ea typeface="Roboto" panose="02000000000000000000" pitchFamily="2" charset="0"/>
                  </a:rPr>
                  <a:t> y </a:t>
                </a:r>
                <a14:m>
                  <m:oMath xmlns:m="http://schemas.openxmlformats.org/officeDocument/2006/math">
                    <m:r>
                      <a:rPr lang="es-MX" sz="2400" b="0" i="1" smtClean="0">
                        <a:latin typeface="Cambria Math" panose="02040503050406030204" pitchFamily="18" charset="0"/>
                        <a:ea typeface="Roboto" panose="02000000000000000000" pitchFamily="2" charset="0"/>
                      </a:rPr>
                      <m:t>𝐵</m:t>
                    </m:r>
                    <m:r>
                      <a:rPr lang="es-MX" sz="2400" b="0" i="1" smtClean="0">
                        <a:latin typeface="Cambria Math" panose="02040503050406030204" pitchFamily="18" charset="0"/>
                        <a:ea typeface="Roboto" panose="02000000000000000000" pitchFamily="2" charset="0"/>
                      </a:rPr>
                      <m:t>=</m:t>
                    </m:r>
                    <m:d>
                      <m:dPr>
                        <m:begChr m:val="{"/>
                        <m:endChr m:val="}"/>
                        <m:ctrlPr>
                          <a:rPr lang="es-MX" sz="2400" b="0" i="1" smtClean="0">
                            <a:latin typeface="Cambria Math" panose="02040503050406030204" pitchFamily="18" charset="0"/>
                            <a:ea typeface="Roboto" panose="02000000000000000000" pitchFamily="2" charset="0"/>
                          </a:rPr>
                        </m:ctrlPr>
                      </m:dPr>
                      <m:e>
                        <m:r>
                          <a:rPr lang="es-MX" sz="2400" b="0" i="1" smtClean="0">
                            <a:latin typeface="Cambria Math" panose="02040503050406030204" pitchFamily="18" charset="0"/>
                            <a:ea typeface="Roboto" panose="02000000000000000000" pitchFamily="2" charset="0"/>
                          </a:rPr>
                          <m:t>0,1</m:t>
                        </m:r>
                      </m:e>
                    </m:d>
                  </m:oMath>
                </a14:m>
                <a:r>
                  <a:rPr lang="es-MX" sz="2400" b="0" dirty="0">
                    <a:latin typeface="+mn-lt"/>
                    <a:ea typeface="Roboto" panose="02000000000000000000" pitchFamily="2" charset="0"/>
                  </a:rPr>
                  <a:t> obtenga </a:t>
                </a:r>
                <a14:m>
                  <m:oMath xmlns:m="http://schemas.openxmlformats.org/officeDocument/2006/math">
                    <m:r>
                      <a:rPr lang="es-MX" sz="2400" i="1">
                        <a:latin typeface="Cambria Math" panose="02040503050406030204" pitchFamily="18" charset="0"/>
                        <a:ea typeface="Roboto" panose="02000000000000000000" pitchFamily="2" charset="0"/>
                      </a:rPr>
                      <m:t>𝐴</m:t>
                    </m:r>
                    <m:r>
                      <a:rPr lang="es-MX" sz="2400" i="1">
                        <a:latin typeface="Cambria Math" panose="02040503050406030204" pitchFamily="18" charset="0"/>
                        <a:ea typeface="Cambria Math" panose="02040503050406030204" pitchFamily="18" charset="0"/>
                      </a:rPr>
                      <m:t>×</m:t>
                    </m:r>
                    <m:r>
                      <a:rPr lang="es-MX" sz="2400" i="1">
                        <a:latin typeface="Cambria Math" panose="02040503050406030204" pitchFamily="18" charset="0"/>
                        <a:ea typeface="Roboto" panose="02000000000000000000" pitchFamily="2" charset="0"/>
                      </a:rPr>
                      <m:t>𝐵</m:t>
                    </m:r>
                  </m:oMath>
                </a14:m>
                <a:r>
                  <a:rPr lang="es-MX" sz="2400" i="1" dirty="0">
                    <a:latin typeface="Cambria Math" panose="02040503050406030204" pitchFamily="18" charset="0"/>
                    <a:ea typeface="Roboto" panose="02000000000000000000" pitchFamily="2" charset="0"/>
                  </a:rPr>
                  <a:t> </a:t>
                </a:r>
                <a:r>
                  <a:rPr lang="es-MX" sz="2400" dirty="0">
                    <a:latin typeface="+mn-lt"/>
                    <a:ea typeface="Roboto" panose="02000000000000000000" pitchFamily="2" charset="0"/>
                  </a:rPr>
                  <a:t>y </a:t>
                </a:r>
                <a14:m>
                  <m:oMath xmlns:m="http://schemas.openxmlformats.org/officeDocument/2006/math">
                    <m:r>
                      <a:rPr lang="es-MX" sz="2400" b="0" i="1" smtClean="0">
                        <a:latin typeface="Cambria Math" panose="02040503050406030204" pitchFamily="18" charset="0"/>
                        <a:ea typeface="Roboto" panose="02000000000000000000" pitchFamily="2" charset="0"/>
                      </a:rPr>
                      <m:t>𝐵</m:t>
                    </m:r>
                    <m:r>
                      <a:rPr lang="es-MX" sz="2400" i="1">
                        <a:latin typeface="Cambria Math" panose="02040503050406030204" pitchFamily="18" charset="0"/>
                        <a:ea typeface="Cambria Math" panose="02040503050406030204" pitchFamily="18" charset="0"/>
                      </a:rPr>
                      <m:t>×</m:t>
                    </m:r>
                    <m:r>
                      <a:rPr lang="es-MX" sz="2400" b="0" i="1" smtClean="0">
                        <a:latin typeface="Cambria Math" panose="02040503050406030204" pitchFamily="18" charset="0"/>
                        <a:ea typeface="Roboto" panose="02000000000000000000" pitchFamily="2" charset="0"/>
                      </a:rPr>
                      <m:t>𝐴</m:t>
                    </m:r>
                  </m:oMath>
                </a14:m>
                <a:r>
                  <a:rPr lang="es-MX" sz="2400" dirty="0">
                    <a:latin typeface="Cambria Math" panose="02040503050406030204" pitchFamily="18" charset="0"/>
                    <a:ea typeface="Roboto" panose="02000000000000000000" pitchFamily="2" charset="0"/>
                  </a:rPr>
                  <a:t> </a:t>
                </a:r>
                <a:r>
                  <a:rPr lang="es-MX" sz="2400" dirty="0">
                    <a:latin typeface="+mn-lt"/>
                    <a:ea typeface="Cambria Math" panose="02040503050406030204" pitchFamily="18" charset="0"/>
                  </a:rPr>
                  <a:t>representando cada producto como</a:t>
                </a:r>
              </a:p>
              <a:p>
                <a:pPr marL="584200" indent="-457200">
                  <a:buFont typeface="+mj-lt"/>
                  <a:buAutoNum type="arabicPeriod"/>
                </a:pPr>
                <a:r>
                  <a:rPr lang="es-MX" sz="2000" dirty="0">
                    <a:latin typeface="+mn-lt"/>
                  </a:rPr>
                  <a:t>Conjunto de pares ordenados </a:t>
                </a:r>
              </a:p>
              <a:p>
                <a:pPr marL="584200" indent="-457200">
                  <a:buFont typeface="+mj-lt"/>
                  <a:buAutoNum type="arabicPeriod"/>
                </a:pPr>
                <a:r>
                  <a:rPr lang="es-MX" sz="2000" dirty="0">
                    <a:latin typeface="+mn-lt"/>
                  </a:rPr>
                  <a:t>Tabla </a:t>
                </a:r>
              </a:p>
              <a:p>
                <a:pPr marL="584200" indent="-457200">
                  <a:buFont typeface="+mj-lt"/>
                  <a:buAutoNum type="arabicPeriod"/>
                </a:pPr>
                <a:r>
                  <a:rPr lang="es-MX" sz="2000" dirty="0">
                    <a:latin typeface="+mn-lt"/>
                  </a:rPr>
                  <a:t>Diagrama de flechas </a:t>
                </a:r>
              </a:p>
              <a:p>
                <a:pPr marL="584200" indent="-457200">
                  <a:buFont typeface="+mj-lt"/>
                  <a:buAutoNum type="arabicPeriod"/>
                </a:pPr>
                <a:r>
                  <a:rPr lang="es-MX" sz="2000" dirty="0">
                    <a:latin typeface="+mn-lt"/>
                  </a:rPr>
                  <a:t>Plano cartesiano </a:t>
                </a:r>
              </a:p>
              <a:p>
                <a:pPr marL="127000" indent="0">
                  <a:buNone/>
                </a:pPr>
                <a:endParaRPr lang="es-MX" sz="2000" dirty="0">
                  <a:latin typeface="+mn-lt"/>
                </a:endParaRPr>
              </a:p>
              <a:p>
                <a:pPr marL="127000" indent="0">
                  <a:buNone/>
                </a:pPr>
                <a:r>
                  <a:rPr lang="es-MX" sz="2000" dirty="0">
                    <a:latin typeface="+mn-lt"/>
                  </a:rPr>
                  <a:t>Finalmente verifique </a:t>
                </a:r>
                <a14:m>
                  <m:oMath xmlns:m="http://schemas.openxmlformats.org/officeDocument/2006/math">
                    <m:r>
                      <a:rPr lang="es-MX" sz="2000" i="1" dirty="0" smtClean="0">
                        <a:latin typeface="Cambria Math" panose="02040503050406030204" pitchFamily="18" charset="0"/>
                      </a:rPr>
                      <m:t>|</m:t>
                    </m:r>
                    <m:r>
                      <a:rPr lang="es-MX" sz="2000" i="1" dirty="0" smtClean="0">
                        <a:latin typeface="Cambria Math" panose="02040503050406030204" pitchFamily="18" charset="0"/>
                      </a:rPr>
                      <m:t>𝐴</m:t>
                    </m:r>
                    <m:r>
                      <a:rPr lang="es-MX" sz="2000" i="1" dirty="0" smtClean="0">
                        <a:latin typeface="Cambria Math" panose="02040503050406030204" pitchFamily="18" charset="0"/>
                      </a:rPr>
                      <m:t> × </m:t>
                    </m:r>
                    <m:r>
                      <a:rPr lang="es-MX" sz="2000" i="1" dirty="0" smtClean="0">
                        <a:latin typeface="Cambria Math" panose="02040503050406030204" pitchFamily="18" charset="0"/>
                      </a:rPr>
                      <m:t>𝐵</m:t>
                    </m:r>
                    <m:r>
                      <a:rPr lang="es-MX" sz="2000" i="1" dirty="0" smtClean="0">
                        <a:latin typeface="Cambria Math" panose="02040503050406030204" pitchFamily="18" charset="0"/>
                      </a:rPr>
                      <m:t>|</m:t>
                    </m:r>
                  </m:oMath>
                </a14:m>
                <a:r>
                  <a:rPr lang="es-MX" sz="2000" dirty="0">
                    <a:latin typeface="+mn-lt"/>
                  </a:rPr>
                  <a:t> y </a:t>
                </a:r>
                <a14:m>
                  <m:oMath xmlns:m="http://schemas.openxmlformats.org/officeDocument/2006/math">
                    <m:r>
                      <a:rPr lang="es-MX" sz="2000" i="1" dirty="0" smtClean="0">
                        <a:latin typeface="Cambria Math" panose="02040503050406030204" pitchFamily="18" charset="0"/>
                      </a:rPr>
                      <m:t>|</m:t>
                    </m:r>
                    <m:r>
                      <a:rPr lang="es-MX" sz="2000" i="1" dirty="0" smtClean="0">
                        <a:latin typeface="Cambria Math" panose="02040503050406030204" pitchFamily="18" charset="0"/>
                      </a:rPr>
                      <m:t>𝐵</m:t>
                    </m:r>
                    <m:r>
                      <a:rPr lang="es-MX" sz="2000" i="1" dirty="0" smtClean="0">
                        <a:latin typeface="Cambria Math" panose="02040503050406030204" pitchFamily="18" charset="0"/>
                      </a:rPr>
                      <m:t> × </m:t>
                    </m:r>
                    <m:r>
                      <a:rPr lang="es-MX" sz="2000" i="1" dirty="0" smtClean="0">
                        <a:latin typeface="Cambria Math" panose="02040503050406030204" pitchFamily="18" charset="0"/>
                      </a:rPr>
                      <m:t>𝐴</m:t>
                    </m:r>
                    <m:r>
                      <a:rPr lang="es-MX" sz="2000" i="1" dirty="0" smtClean="0">
                        <a:latin typeface="Cambria Math" panose="02040503050406030204" pitchFamily="18" charset="0"/>
                      </a:rPr>
                      <m:t>|</m:t>
                    </m:r>
                  </m:oMath>
                </a14:m>
                <a:r>
                  <a:rPr lang="es-MX" sz="2000" dirty="0">
                    <a:latin typeface="+mn-lt"/>
                  </a:rPr>
                  <a:t> usando la fórmula de cardinalidad. ¿Es </a:t>
                </a:r>
                <a14:m>
                  <m:oMath xmlns:m="http://schemas.openxmlformats.org/officeDocument/2006/math">
                    <m:r>
                      <a:rPr lang="es-MX" sz="2000" i="1" dirty="0" smtClean="0">
                        <a:latin typeface="Cambria Math" panose="02040503050406030204" pitchFamily="18" charset="0"/>
                      </a:rPr>
                      <m:t>𝐴</m:t>
                    </m:r>
                    <m:r>
                      <a:rPr lang="es-MX" sz="2000" i="1" dirty="0" smtClean="0">
                        <a:latin typeface="Cambria Math" panose="02040503050406030204" pitchFamily="18" charset="0"/>
                      </a:rPr>
                      <m:t> × </m:t>
                    </m:r>
                    <m:r>
                      <a:rPr lang="es-MX" sz="2000" i="1" dirty="0" smtClean="0">
                        <a:latin typeface="Cambria Math" panose="02040503050406030204" pitchFamily="18" charset="0"/>
                      </a:rPr>
                      <m:t>𝐵</m:t>
                    </m:r>
                    <m:r>
                      <a:rPr lang="es-MX" sz="2000" i="1" dirty="0" smtClean="0">
                        <a:latin typeface="Cambria Math" panose="02040503050406030204" pitchFamily="18" charset="0"/>
                      </a:rPr>
                      <m:t> = </m:t>
                    </m:r>
                    <m:r>
                      <a:rPr lang="es-MX" sz="2000" i="1" dirty="0" smtClean="0">
                        <a:latin typeface="Cambria Math" panose="02040503050406030204" pitchFamily="18" charset="0"/>
                      </a:rPr>
                      <m:t>𝐵</m:t>
                    </m:r>
                    <m:r>
                      <a:rPr lang="es-MX" sz="2000" i="1" dirty="0" smtClean="0">
                        <a:latin typeface="Cambria Math" panose="02040503050406030204" pitchFamily="18" charset="0"/>
                      </a:rPr>
                      <m:t> × </m:t>
                    </m:r>
                    <m:r>
                      <a:rPr lang="es-MX" sz="2000" i="1" dirty="0" smtClean="0">
                        <a:latin typeface="Cambria Math" panose="02040503050406030204" pitchFamily="18" charset="0"/>
                      </a:rPr>
                      <m:t>𝐴</m:t>
                    </m:r>
                  </m:oMath>
                </a14:m>
                <a:r>
                  <a:rPr lang="es-MX" sz="2000" dirty="0">
                    <a:latin typeface="+mn-lt"/>
                  </a:rPr>
                  <a:t>? ¿En qué casos sí lo sería?</a:t>
                </a:r>
                <a:endParaRPr lang="es-MX" sz="3200" i="1"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8" name="Google Shape;310;p34">
                <a:extLst>
                  <a:ext uri="{FF2B5EF4-FFF2-40B4-BE49-F238E27FC236}">
                    <a16:creationId xmlns:a16="http://schemas.microsoft.com/office/drawing/2014/main" id="{F6716F76-3AFE-471D-B156-0250FFA69F6E}"/>
                  </a:ext>
                </a:extLst>
              </p:cNvPr>
              <p:cNvSpPr txBox="1">
                <a:spLocks noRot="1" noChangeAspect="1" noMove="1" noResize="1" noEditPoints="1" noAdjustHandles="1" noChangeArrowheads="1" noChangeShapeType="1" noTextEdit="1"/>
              </p:cNvSpPr>
              <p:nvPr/>
            </p:nvSpPr>
            <p:spPr>
              <a:xfrm>
                <a:off x="220651" y="1366887"/>
                <a:ext cx="11839969" cy="2448367"/>
              </a:xfrm>
              <a:prstGeom prst="rect">
                <a:avLst/>
              </a:prstGeom>
              <a:blipFill>
                <a:blip r:embed="rId3"/>
                <a:stretch>
                  <a:fillRect b="-36318"/>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320251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463220" y="96038"/>
            <a:ext cx="875743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a:t>
            </a:r>
            <a:endParaRPr dirty="0"/>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EC981F08-C206-4A60-8BF8-5D902A118C7A}"/>
                  </a:ext>
                </a:extLst>
              </p:cNvPr>
              <p:cNvSpPr txBox="1"/>
              <p:nvPr/>
            </p:nvSpPr>
            <p:spPr>
              <a:xfrm>
                <a:off x="322431" y="1045538"/>
                <a:ext cx="11149782" cy="492443"/>
              </a:xfrm>
              <a:prstGeom prst="rect">
                <a:avLst/>
              </a:prstGeom>
              <a:noFill/>
            </p:spPr>
            <p:txBody>
              <a:bodyPr wrap="square" rtlCol="0">
                <a:spAutoFit/>
              </a:bodyPr>
              <a:lstStyle/>
              <a:p>
                <a:r>
                  <a:rPr lang="es-MX" sz="2600" b="1" dirty="0">
                    <a:ea typeface="Roboto" panose="02000000000000000000" pitchFamily="2" charset="0"/>
                  </a:rPr>
                  <a:t>Solución </a:t>
                </a:r>
                <a14:m>
                  <m:oMath xmlns:m="http://schemas.openxmlformats.org/officeDocument/2006/math">
                    <m:r>
                      <a:rPr lang="es-MX" sz="2600" b="1" i="1" smtClean="0">
                        <a:latin typeface="Cambria Math" panose="02040503050406030204" pitchFamily="18" charset="0"/>
                        <a:ea typeface="Roboto" panose="02000000000000000000" pitchFamily="2" charset="0"/>
                      </a:rPr>
                      <m:t>𝑨</m:t>
                    </m:r>
                    <m:r>
                      <a:rPr lang="es-MX" sz="2600" b="1" i="1" smtClean="0">
                        <a:latin typeface="Cambria Math" panose="02040503050406030204" pitchFamily="18" charset="0"/>
                        <a:ea typeface="Roboto" panose="02000000000000000000" pitchFamily="2" charset="0"/>
                      </a:rPr>
                      <m:t>×</m:t>
                    </m:r>
                    <m:r>
                      <a:rPr lang="es-MX" sz="2600" b="1" i="1" smtClean="0">
                        <a:latin typeface="Cambria Math" panose="02040503050406030204" pitchFamily="18" charset="0"/>
                        <a:ea typeface="Roboto" panose="02000000000000000000" pitchFamily="2" charset="0"/>
                      </a:rPr>
                      <m:t>𝑩</m:t>
                    </m:r>
                  </m:oMath>
                </a14:m>
                <a:endParaRPr lang="es-MX" sz="2600" b="1" dirty="0">
                  <a:ea typeface="Roboto" panose="02000000000000000000" pitchFamily="2" charset="0"/>
                </a:endParaRPr>
              </a:p>
            </p:txBody>
          </p:sp>
        </mc:Choice>
        <mc:Fallback>
          <p:sp>
            <p:nvSpPr>
              <p:cNvPr id="20" name="CuadroTexto 19">
                <a:extLst>
                  <a:ext uri="{FF2B5EF4-FFF2-40B4-BE49-F238E27FC236}">
                    <a16:creationId xmlns:a16="http://schemas.microsoft.com/office/drawing/2014/main" id="{EC981F08-C206-4A60-8BF8-5D902A118C7A}"/>
                  </a:ext>
                </a:extLst>
              </p:cNvPr>
              <p:cNvSpPr txBox="1">
                <a:spLocks noRot="1" noChangeAspect="1" noMove="1" noResize="1" noEditPoints="1" noAdjustHandles="1" noChangeArrowheads="1" noChangeShapeType="1" noTextEdit="1"/>
              </p:cNvSpPr>
              <p:nvPr/>
            </p:nvSpPr>
            <p:spPr>
              <a:xfrm>
                <a:off x="322431" y="1045538"/>
                <a:ext cx="11149782" cy="492443"/>
              </a:xfrm>
              <a:prstGeom prst="rect">
                <a:avLst/>
              </a:prstGeom>
              <a:blipFill>
                <a:blip r:embed="rId3"/>
                <a:stretch>
                  <a:fillRect l="-984" t="-11250" b="-32500"/>
                </a:stretch>
              </a:blipFill>
            </p:spPr>
            <p:txBody>
              <a:bodyPr/>
              <a:lstStyle/>
              <a:p>
                <a:r>
                  <a:rPr lang="es-CO">
                    <a:noFill/>
                  </a:rPr>
                  <a:t> </a:t>
                </a:r>
              </a:p>
            </p:txBody>
          </p:sp>
        </mc:Fallback>
      </mc:AlternateContent>
    </p:spTree>
    <p:extLst>
      <p:ext uri="{BB962C8B-B14F-4D97-AF65-F5344CB8AC3E}">
        <p14:creationId xmlns:p14="http://schemas.microsoft.com/office/powerpoint/2010/main" val="254281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463220" y="96038"/>
            <a:ext cx="875743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a:t>
            </a:r>
            <a:endParaRPr dirty="0"/>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EC981F08-C206-4A60-8BF8-5D902A118C7A}"/>
                  </a:ext>
                </a:extLst>
              </p:cNvPr>
              <p:cNvSpPr txBox="1"/>
              <p:nvPr/>
            </p:nvSpPr>
            <p:spPr>
              <a:xfrm>
                <a:off x="322431" y="1045538"/>
                <a:ext cx="11149782" cy="492443"/>
              </a:xfrm>
              <a:prstGeom prst="rect">
                <a:avLst/>
              </a:prstGeom>
              <a:noFill/>
            </p:spPr>
            <p:txBody>
              <a:bodyPr wrap="square" rtlCol="0">
                <a:spAutoFit/>
              </a:bodyPr>
              <a:lstStyle/>
              <a:p>
                <a:r>
                  <a:rPr lang="es-MX" sz="2600" b="1" dirty="0">
                    <a:ea typeface="Roboto" panose="02000000000000000000" pitchFamily="2" charset="0"/>
                  </a:rPr>
                  <a:t>Solución </a:t>
                </a:r>
                <a14:m>
                  <m:oMath xmlns:m="http://schemas.openxmlformats.org/officeDocument/2006/math">
                    <m:r>
                      <a:rPr lang="es-MX" sz="2600" b="1" i="1" smtClean="0">
                        <a:latin typeface="Cambria Math" panose="02040503050406030204" pitchFamily="18" charset="0"/>
                        <a:ea typeface="Roboto" panose="02000000000000000000" pitchFamily="2" charset="0"/>
                      </a:rPr>
                      <m:t>𝑩</m:t>
                    </m:r>
                    <m:r>
                      <a:rPr lang="es-MX" sz="2600" b="1" i="1" smtClean="0">
                        <a:latin typeface="Cambria Math" panose="02040503050406030204" pitchFamily="18" charset="0"/>
                        <a:ea typeface="Roboto" panose="02000000000000000000" pitchFamily="2" charset="0"/>
                      </a:rPr>
                      <m:t>×</m:t>
                    </m:r>
                    <m:r>
                      <a:rPr lang="es-MX" sz="2600" b="1" i="1" smtClean="0">
                        <a:latin typeface="Cambria Math" panose="02040503050406030204" pitchFamily="18" charset="0"/>
                        <a:ea typeface="Roboto" panose="02000000000000000000" pitchFamily="2" charset="0"/>
                      </a:rPr>
                      <m:t>𝑨</m:t>
                    </m:r>
                  </m:oMath>
                </a14:m>
                <a:endParaRPr lang="es-MX" sz="2600" b="1" dirty="0">
                  <a:ea typeface="Roboto" panose="02000000000000000000" pitchFamily="2" charset="0"/>
                </a:endParaRPr>
              </a:p>
            </p:txBody>
          </p:sp>
        </mc:Choice>
        <mc:Fallback>
          <p:sp>
            <p:nvSpPr>
              <p:cNvPr id="20" name="CuadroTexto 19">
                <a:extLst>
                  <a:ext uri="{FF2B5EF4-FFF2-40B4-BE49-F238E27FC236}">
                    <a16:creationId xmlns:a16="http://schemas.microsoft.com/office/drawing/2014/main" id="{EC981F08-C206-4A60-8BF8-5D902A118C7A}"/>
                  </a:ext>
                </a:extLst>
              </p:cNvPr>
              <p:cNvSpPr txBox="1">
                <a:spLocks noRot="1" noChangeAspect="1" noMove="1" noResize="1" noEditPoints="1" noAdjustHandles="1" noChangeArrowheads="1" noChangeShapeType="1" noTextEdit="1"/>
              </p:cNvSpPr>
              <p:nvPr/>
            </p:nvSpPr>
            <p:spPr>
              <a:xfrm>
                <a:off x="322431" y="1045538"/>
                <a:ext cx="11149782" cy="492443"/>
              </a:xfrm>
              <a:prstGeom prst="rect">
                <a:avLst/>
              </a:prstGeom>
              <a:blipFill>
                <a:blip r:embed="rId3"/>
                <a:stretch>
                  <a:fillRect l="-984" t="-11250" b="-32500"/>
                </a:stretch>
              </a:blipFill>
            </p:spPr>
            <p:txBody>
              <a:bodyPr/>
              <a:lstStyle/>
              <a:p>
                <a:r>
                  <a:rPr lang="es-CO">
                    <a:noFill/>
                  </a:rPr>
                  <a:t> </a:t>
                </a:r>
              </a:p>
            </p:txBody>
          </p:sp>
        </mc:Fallback>
      </mc:AlternateContent>
    </p:spTree>
    <p:extLst>
      <p:ext uri="{BB962C8B-B14F-4D97-AF65-F5344CB8AC3E}">
        <p14:creationId xmlns:p14="http://schemas.microsoft.com/office/powerpoint/2010/main" val="3575230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82919" y="96038"/>
            <a:ext cx="8837732"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Conceptos básicos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382918" y="799316"/>
            <a:ext cx="10587093" cy="492443"/>
          </a:xfrm>
          <a:prstGeom prst="rect">
            <a:avLst/>
          </a:prstGeom>
          <a:noFill/>
        </p:spPr>
        <p:txBody>
          <a:bodyPr wrap="square" rtlCol="0">
            <a:spAutoFit/>
          </a:bodyPr>
          <a:lstStyle/>
          <a:p>
            <a:r>
              <a:rPr lang="es-MX" sz="2600" b="1" dirty="0">
                <a:ea typeface="Roboto" panose="02000000000000000000" pitchFamily="2" charset="0"/>
              </a:rPr>
              <a:t>Funciones</a:t>
            </a:r>
          </a:p>
        </p:txBody>
      </p:sp>
      <mc:AlternateContent xmlns:mc="http://schemas.openxmlformats.org/markup-compatibility/2006">
        <mc:Choice xmlns:a14="http://schemas.microsoft.com/office/drawing/2010/main" Requires="a14">
          <p:sp>
            <p:nvSpPr>
              <p:cNvPr id="17" name="Google Shape;310;p34">
                <a:extLst>
                  <a:ext uri="{FF2B5EF4-FFF2-40B4-BE49-F238E27FC236}">
                    <a16:creationId xmlns:a16="http://schemas.microsoft.com/office/drawing/2014/main" id="{4B019FD0-1C3D-4ED9-A45C-DA5B5CA62FF9}"/>
                  </a:ext>
                </a:extLst>
              </p:cNvPr>
              <p:cNvSpPr txBox="1">
                <a:spLocks/>
              </p:cNvSpPr>
              <p:nvPr/>
            </p:nvSpPr>
            <p:spPr>
              <a:xfrm>
                <a:off x="225853" y="1215112"/>
                <a:ext cx="11740294" cy="35633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Sean </a:t>
                </a:r>
                <a14:m>
                  <m:oMath xmlns:m="http://schemas.openxmlformats.org/officeDocument/2006/math">
                    <m:r>
                      <a:rPr lang="es-MX" sz="2000" b="0" i="1"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y </a:t>
                </a:r>
                <a14:m>
                  <m:oMath xmlns:m="http://schemas.openxmlformats.org/officeDocument/2006/math">
                    <m:r>
                      <a:rPr lang="es-MX" sz="2000" b="0" i="1" smtClean="0">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conjuntos no vacíos. Una función </a:t>
                </a:r>
                <a14:m>
                  <m:oMath xmlns:m="http://schemas.openxmlformats.org/officeDocument/2006/math">
                    <m:r>
                      <a:rPr lang="es-MX" sz="2000" b="0" i="1" smtClean="0">
                        <a:latin typeface="Cambria Math" panose="02040503050406030204" pitchFamily="18" charset="0"/>
                        <a:ea typeface="Roboto" panose="02000000000000000000" pitchFamily="2" charset="0"/>
                      </a:rPr>
                      <m:t>𝑓</m:t>
                    </m:r>
                  </m:oMath>
                </a14:m>
                <a:r>
                  <a:rPr lang="es-MX" sz="2000" dirty="0">
                    <a:latin typeface="+mn-lt"/>
                    <a:ea typeface="Roboto" panose="02000000000000000000" pitchFamily="2" charset="0"/>
                  </a:rPr>
                  <a:t> de </a:t>
                </a:r>
                <a14:m>
                  <m:oMath xmlns:m="http://schemas.openxmlformats.org/officeDocument/2006/math">
                    <m:r>
                      <a:rPr lang="es-MX" sz="2000" b="0" i="1"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a </a:t>
                </a:r>
                <a14:m>
                  <m:oMath xmlns:m="http://schemas.openxmlformats.org/officeDocument/2006/math">
                    <m:r>
                      <a:rPr lang="es-MX" sz="2000" b="0" i="1" smtClean="0">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a:t>
                </a:r>
                <a:r>
                  <a:rPr lang="es-MX" sz="2000" dirty="0">
                    <a:latin typeface="+mn-lt"/>
                  </a:rPr>
                  <a:t>es una </a:t>
                </a:r>
                <a:r>
                  <a:rPr lang="es-MX" sz="2000" b="1" dirty="0">
                    <a:latin typeface="+mn-lt"/>
                  </a:rPr>
                  <a:t>regla</a:t>
                </a:r>
                <a:r>
                  <a:rPr lang="es-MX" sz="2000" dirty="0">
                    <a:latin typeface="+mn-lt"/>
                  </a:rPr>
                  <a:t> que asigna a </a:t>
                </a:r>
                <a:r>
                  <a:rPr lang="es-MX" sz="2000" b="1" dirty="0">
                    <a:latin typeface="+mn-lt"/>
                  </a:rPr>
                  <a:t>cada</a:t>
                </a:r>
                <a:r>
                  <a:rPr lang="es-MX" sz="2000" dirty="0">
                    <a:latin typeface="+mn-lt"/>
                  </a:rPr>
                  <a:t> elemento de </a:t>
                </a:r>
                <a14:m>
                  <m:oMath xmlns:m="http://schemas.openxmlformats.org/officeDocument/2006/math">
                    <m:r>
                      <a:rPr lang="es-MX" sz="2000" i="1">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a:t>
                </a:r>
                <a:r>
                  <a:rPr lang="es-MX" sz="2000" b="1" dirty="0">
                    <a:latin typeface="+mn-lt"/>
                    <a:ea typeface="Roboto" panose="02000000000000000000" pitchFamily="2" charset="0"/>
                  </a:rPr>
                  <a:t>exactamente un</a:t>
                </a:r>
                <a:r>
                  <a:rPr lang="es-MX" sz="2000" dirty="0">
                    <a:latin typeface="+mn-lt"/>
                    <a:ea typeface="Roboto" panose="02000000000000000000" pitchFamily="2" charset="0"/>
                  </a:rPr>
                  <a:t> elemento de </a:t>
                </a:r>
                <a14:m>
                  <m:oMath xmlns:m="http://schemas.openxmlformats.org/officeDocument/2006/math">
                    <m:r>
                      <a:rPr lang="es-MX" sz="2000" b="0" i="1" smtClean="0">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Esto se escribe como:</a:t>
                </a:r>
              </a:p>
              <a:p>
                <a:pPr marL="127000" indent="0">
                  <a:buNone/>
                </a:pPr>
                <a:endParaRPr lang="es-MX" sz="20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𝑓</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𝐵</m:t>
                      </m:r>
                    </m:oMath>
                  </m:oMathPara>
                </a14:m>
                <a:endParaRPr lang="es-MX" sz="2000" dirty="0">
                  <a:latin typeface="+mn-lt"/>
                  <a:ea typeface="Roboto" panose="02000000000000000000" pitchFamily="2" charset="0"/>
                </a:endParaRPr>
              </a:p>
              <a:p>
                <a:pPr marL="127000" indent="0">
                  <a:buNone/>
                </a:pPr>
                <a:r>
                  <a:rPr lang="es-MX" sz="2000" b="1" dirty="0">
                    <a:latin typeface="+mn-lt"/>
                    <a:ea typeface="Roboto" panose="02000000000000000000" pitchFamily="2" charset="0"/>
                  </a:rPr>
                  <a:t>Condiciones</a:t>
                </a:r>
                <a:r>
                  <a:rPr lang="es-MX" sz="2000" dirty="0">
                    <a:latin typeface="+mn-lt"/>
                    <a:ea typeface="Roboto" panose="02000000000000000000" pitchFamily="2" charset="0"/>
                  </a:rPr>
                  <a:t>:</a:t>
                </a:r>
              </a:p>
              <a:p>
                <a:r>
                  <a:rPr lang="es-MX" sz="2000" b="1" dirty="0">
                    <a:latin typeface="+mn-lt"/>
                    <a:ea typeface="Roboto" panose="02000000000000000000" pitchFamily="2" charset="0"/>
                  </a:rPr>
                  <a:t>Existencia</a:t>
                </a:r>
                <a:r>
                  <a:rPr lang="es-MX" sz="2000" dirty="0">
                    <a:latin typeface="+mn-lt"/>
                    <a:ea typeface="Roboto" panose="02000000000000000000" pitchFamily="2" charset="0"/>
                  </a:rPr>
                  <a:t>: Todo elemento de </a:t>
                </a:r>
                <a14:m>
                  <m:oMath xmlns:m="http://schemas.openxmlformats.org/officeDocument/2006/math">
                    <m:r>
                      <a:rPr lang="es-MX" sz="2000" b="0" i="1"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tiene una imagen.</a:t>
                </a:r>
              </a:p>
              <a:p>
                <a:r>
                  <a:rPr lang="es-MX" sz="2000" b="1" dirty="0">
                    <a:latin typeface="+mn-lt"/>
                    <a:ea typeface="Roboto" panose="02000000000000000000" pitchFamily="2" charset="0"/>
                  </a:rPr>
                  <a:t>Unicidad</a:t>
                </a:r>
                <a:r>
                  <a:rPr lang="es-MX" sz="2000" dirty="0">
                    <a:latin typeface="+mn-lt"/>
                    <a:ea typeface="Roboto" panose="02000000000000000000" pitchFamily="2" charset="0"/>
                  </a:rPr>
                  <a:t>: Ningún elemento de </a:t>
                </a:r>
                <a14:m>
                  <m:oMath xmlns:m="http://schemas.openxmlformats.org/officeDocument/2006/math">
                    <m:r>
                      <a:rPr lang="es-MX" sz="2000" b="0" i="1"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tiene dos imágenes.</a:t>
                </a:r>
              </a:p>
              <a:p>
                <a:pPr marL="127000" indent="0">
                  <a:buNone/>
                </a:pPr>
                <a:endParaRPr lang="es-MX" sz="20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𝑓</m:t>
                      </m:r>
                      <m:r>
                        <a:rPr lang="es-MX" sz="2000" i="1">
                          <a:latin typeface="Cambria Math" panose="02040503050406030204" pitchFamily="18" charset="0"/>
                          <a:ea typeface="Roboto" panose="02000000000000000000" pitchFamily="2" charset="0"/>
                        </a:rPr>
                        <m:t>⊆</m:t>
                      </m:r>
                      <m:r>
                        <a:rPr lang="es-MX" sz="2000" i="1" dirty="0">
                          <a:latin typeface="Cambria Math" panose="02040503050406030204" pitchFamily="18" charset="0"/>
                          <a:ea typeface="Roboto" panose="02000000000000000000" pitchFamily="2" charset="0"/>
                        </a:rPr>
                        <m:t>𝐴</m:t>
                      </m:r>
                      <m:r>
                        <a:rPr lang="es-MX" sz="2000" i="1" dirty="0">
                          <a:latin typeface="Cambria Math" panose="02040503050406030204" pitchFamily="18" charset="0"/>
                          <a:ea typeface="Roboto" panose="02000000000000000000" pitchFamily="2" charset="0"/>
                        </a:rPr>
                        <m:t>×</m:t>
                      </m:r>
                      <m:r>
                        <a:rPr lang="es-MX" sz="2000" i="1" dirty="0">
                          <a:latin typeface="Cambria Math" panose="02040503050406030204" pitchFamily="18" charset="0"/>
                          <a:ea typeface="Roboto" panose="02000000000000000000" pitchFamily="2" charset="0"/>
                        </a:rPr>
                        <m:t>𝐵</m:t>
                      </m:r>
                      <m:r>
                        <a:rPr lang="es-MX" sz="2000" b="0" i="1" dirty="0" smtClean="0">
                          <a:latin typeface="Cambria Math" panose="02040503050406030204" pitchFamily="18" charset="0"/>
                          <a:ea typeface="Roboto" panose="02000000000000000000" pitchFamily="2" charset="0"/>
                        </a:rPr>
                        <m:t> </m:t>
                      </m:r>
                      <m:r>
                        <m:rPr>
                          <m:sty m:val="p"/>
                        </m:rPr>
                        <a:rPr lang="es-MX" sz="2000" b="0" i="0" dirty="0" smtClean="0">
                          <a:latin typeface="Cambria Math" panose="02040503050406030204" pitchFamily="18" charset="0"/>
                          <a:ea typeface="Roboto" panose="02000000000000000000" pitchFamily="2" charset="0"/>
                        </a:rPr>
                        <m:t>tal</m:t>
                      </m:r>
                      <m:r>
                        <a:rPr lang="es-MX" sz="2000" b="0" i="0" dirty="0" smtClean="0">
                          <a:latin typeface="Cambria Math" panose="02040503050406030204" pitchFamily="18" charset="0"/>
                          <a:ea typeface="Roboto" panose="02000000000000000000" pitchFamily="2" charset="0"/>
                        </a:rPr>
                        <m:t> </m:t>
                      </m:r>
                      <m:r>
                        <m:rPr>
                          <m:sty m:val="p"/>
                        </m:rPr>
                        <a:rPr lang="es-MX" sz="2000" b="0" i="0" dirty="0" smtClean="0">
                          <a:latin typeface="Cambria Math" panose="02040503050406030204" pitchFamily="18" charset="0"/>
                          <a:ea typeface="Roboto" panose="02000000000000000000" pitchFamily="2" charset="0"/>
                        </a:rPr>
                        <m:t>que</m:t>
                      </m:r>
                      <m:r>
                        <a:rPr lang="es-MX" sz="2000" b="0" i="1" dirty="0" smtClean="0">
                          <a:latin typeface="Cambria Math" panose="02040503050406030204" pitchFamily="18" charset="0"/>
                          <a:ea typeface="Roboto" panose="02000000000000000000" pitchFamily="2" charset="0"/>
                        </a:rPr>
                        <m:t> </m:t>
                      </m:r>
                      <m:r>
                        <a:rPr lang="es-MX" sz="2000" i="1" dirty="0">
                          <a:latin typeface="Cambria Math" panose="02040503050406030204" pitchFamily="18" charset="0"/>
                        </a:rPr>
                        <m:t>∀</m:t>
                      </m:r>
                      <m:r>
                        <a:rPr lang="es-MX" sz="2000" i="1" dirty="0">
                          <a:latin typeface="Cambria Math" panose="02040503050406030204" pitchFamily="18" charset="0"/>
                        </a:rPr>
                        <m:t>𝑎</m:t>
                      </m:r>
                      <m:r>
                        <a:rPr lang="es-MX" sz="2000" i="1" dirty="0">
                          <a:latin typeface="Cambria Math" panose="02040503050406030204" pitchFamily="18" charset="0"/>
                        </a:rPr>
                        <m:t>∈</m:t>
                      </m:r>
                      <m:r>
                        <a:rPr lang="es-MX" sz="2000" i="1" dirty="0">
                          <a:latin typeface="Cambria Math" panose="02040503050406030204" pitchFamily="18" charset="0"/>
                        </a:rPr>
                        <m:t>𝐴</m:t>
                      </m:r>
                      <m:r>
                        <a:rPr lang="es-MX" sz="2000" i="1" dirty="0">
                          <a:latin typeface="Cambria Math" panose="02040503050406030204" pitchFamily="18" charset="0"/>
                        </a:rPr>
                        <m:t> ∃!</m:t>
                      </m:r>
                      <m:r>
                        <a:rPr lang="es-MX" sz="2000" i="1" dirty="0">
                          <a:latin typeface="Cambria Math" panose="02040503050406030204" pitchFamily="18" charset="0"/>
                        </a:rPr>
                        <m:t>𝑏</m:t>
                      </m:r>
                      <m:r>
                        <a:rPr lang="es-MX" sz="2000" i="1" dirty="0">
                          <a:latin typeface="Cambria Math" panose="02040503050406030204" pitchFamily="18" charset="0"/>
                        </a:rPr>
                        <m:t>:</m:t>
                      </m:r>
                      <m:d>
                        <m:dPr>
                          <m:ctrlPr>
                            <a:rPr lang="es-MX" sz="2000" i="1" dirty="0">
                              <a:latin typeface="Cambria Math" panose="02040503050406030204" pitchFamily="18" charset="0"/>
                            </a:rPr>
                          </m:ctrlPr>
                        </m:dPr>
                        <m:e>
                          <m:r>
                            <a:rPr lang="es-MX" sz="2000" i="1" dirty="0">
                              <a:latin typeface="Cambria Math" panose="02040503050406030204" pitchFamily="18" charset="0"/>
                            </a:rPr>
                            <m:t>𝑎</m:t>
                          </m:r>
                          <m:r>
                            <a:rPr lang="es-MX" sz="2000" i="1" dirty="0">
                              <a:latin typeface="Cambria Math" panose="02040503050406030204" pitchFamily="18" charset="0"/>
                            </a:rPr>
                            <m:t>,</m:t>
                          </m:r>
                          <m:r>
                            <a:rPr lang="es-MX" sz="2000" i="1" dirty="0">
                              <a:latin typeface="Cambria Math" panose="02040503050406030204" pitchFamily="18" charset="0"/>
                            </a:rPr>
                            <m:t>𝑏</m:t>
                          </m:r>
                        </m:e>
                      </m:d>
                      <m:r>
                        <a:rPr lang="es-MX" sz="2000" i="1" dirty="0">
                          <a:latin typeface="Cambria Math" panose="02040503050406030204" pitchFamily="18" charset="0"/>
                        </a:rPr>
                        <m:t>∈</m:t>
                      </m:r>
                      <m:r>
                        <a:rPr lang="es-MX" sz="2000" i="1" dirty="0">
                          <a:latin typeface="Cambria Math" panose="02040503050406030204" pitchFamily="18" charset="0"/>
                        </a:rPr>
                        <m:t>𝑓</m:t>
                      </m:r>
                    </m:oMath>
                  </m:oMathPara>
                </a14:m>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p:txBody>
          </p:sp>
        </mc:Choice>
        <mc:Fallback>
          <p:sp>
            <p:nvSpPr>
              <p:cNvPr id="17" name="Google Shape;310;p34">
                <a:extLst>
                  <a:ext uri="{FF2B5EF4-FFF2-40B4-BE49-F238E27FC236}">
                    <a16:creationId xmlns:a16="http://schemas.microsoft.com/office/drawing/2014/main" id="{4B019FD0-1C3D-4ED9-A45C-DA5B5CA62FF9}"/>
                  </a:ext>
                </a:extLst>
              </p:cNvPr>
              <p:cNvSpPr txBox="1">
                <a:spLocks noRot="1" noChangeAspect="1" noMove="1" noResize="1" noEditPoints="1" noAdjustHandles="1" noChangeArrowheads="1" noChangeShapeType="1" noTextEdit="1"/>
              </p:cNvSpPr>
              <p:nvPr/>
            </p:nvSpPr>
            <p:spPr>
              <a:xfrm>
                <a:off x="225853" y="1215112"/>
                <a:ext cx="11740294" cy="3563362"/>
              </a:xfrm>
              <a:prstGeom prst="rect">
                <a:avLst/>
              </a:prstGeom>
              <a:blipFill>
                <a:blip r:embed="rId3"/>
                <a:stretch>
                  <a:fillRect/>
                </a:stretch>
              </a:blipFill>
              <a:ln>
                <a:noFill/>
              </a:ln>
            </p:spPr>
            <p:txBody>
              <a:bodyPr/>
              <a:lstStyle/>
              <a:p>
                <a:r>
                  <a:rPr lang="es-CO">
                    <a:noFill/>
                  </a:rPr>
                  <a:t> </a:t>
                </a:r>
              </a:p>
            </p:txBody>
          </p:sp>
        </mc:Fallback>
      </mc:AlternateContent>
      <p:pic>
        <p:nvPicPr>
          <p:cNvPr id="18" name="Imagen 17">
            <a:extLst>
              <a:ext uri="{FF2B5EF4-FFF2-40B4-BE49-F238E27FC236}">
                <a16:creationId xmlns:a16="http://schemas.microsoft.com/office/drawing/2014/main" id="{2BA5977F-000B-40D7-A3B7-DAFD7E6C1F48}"/>
              </a:ext>
            </a:extLst>
          </p:cNvPr>
          <p:cNvPicPr>
            <a:picLocks noChangeAspect="1"/>
          </p:cNvPicPr>
          <p:nvPr/>
        </p:nvPicPr>
        <p:blipFill>
          <a:blip r:embed="rId4"/>
          <a:stretch>
            <a:fillRect/>
          </a:stretch>
        </p:blipFill>
        <p:spPr>
          <a:xfrm>
            <a:off x="555195" y="4770223"/>
            <a:ext cx="3110438" cy="1732833"/>
          </a:xfrm>
          <a:prstGeom prst="rect">
            <a:avLst/>
          </a:prstGeom>
        </p:spPr>
      </p:pic>
      <p:pic>
        <p:nvPicPr>
          <p:cNvPr id="19" name="Picture 5" descr="0213.jpg">
            <a:extLst>
              <a:ext uri="{FF2B5EF4-FFF2-40B4-BE49-F238E27FC236}">
                <a16:creationId xmlns:a16="http://schemas.microsoft.com/office/drawing/2014/main" id="{15037E42-9C96-4BF9-BF23-8F7F082EF684}"/>
              </a:ext>
            </a:extLst>
          </p:cNvPr>
          <p:cNvPicPr>
            <a:picLocks noChangeAspect="1"/>
          </p:cNvPicPr>
          <p:nvPr/>
        </p:nvPicPr>
        <p:blipFill>
          <a:blip r:embed="rId5" cstate="print"/>
          <a:stretch>
            <a:fillRect/>
          </a:stretch>
        </p:blipFill>
        <p:spPr>
          <a:xfrm>
            <a:off x="4193435" y="4863354"/>
            <a:ext cx="4535544" cy="1601080"/>
          </a:xfrm>
          <a:prstGeom prst="rect">
            <a:avLst/>
          </a:prstGeom>
        </p:spPr>
      </p:pic>
      <p:pic>
        <p:nvPicPr>
          <p:cNvPr id="21" name="Imagen 20">
            <a:extLst>
              <a:ext uri="{FF2B5EF4-FFF2-40B4-BE49-F238E27FC236}">
                <a16:creationId xmlns:a16="http://schemas.microsoft.com/office/drawing/2014/main" id="{8AC1DC52-AC8E-43DC-9C30-8378312F33B1}"/>
              </a:ext>
            </a:extLst>
          </p:cNvPr>
          <p:cNvPicPr>
            <a:picLocks noChangeAspect="1"/>
          </p:cNvPicPr>
          <p:nvPr/>
        </p:nvPicPr>
        <p:blipFill>
          <a:blip r:embed="rId6"/>
          <a:stretch>
            <a:fillRect/>
          </a:stretch>
        </p:blipFill>
        <p:spPr>
          <a:xfrm>
            <a:off x="9256782" y="4663872"/>
            <a:ext cx="2599177" cy="1839184"/>
          </a:xfrm>
          <a:prstGeom prst="rect">
            <a:avLst/>
          </a:prstGeom>
        </p:spPr>
      </p:pic>
    </p:spTree>
    <p:extLst>
      <p:ext uri="{BB962C8B-B14F-4D97-AF65-F5344CB8AC3E}">
        <p14:creationId xmlns:p14="http://schemas.microsoft.com/office/powerpoint/2010/main" val="1158932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24466" y="96038"/>
            <a:ext cx="889618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Conceptos básicos</a:t>
            </a: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324466" y="874750"/>
            <a:ext cx="9917172"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Relación</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24466" y="1405692"/>
                <a:ext cx="11543068" cy="53562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Una relación </a:t>
                </a:r>
                <a14:m>
                  <m:oMath xmlns:m="http://schemas.openxmlformats.org/officeDocument/2006/math">
                    <m:r>
                      <a:rPr lang="es-MX" sz="2000" b="0" i="1" smtClean="0">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de </a:t>
                </a:r>
                <a14:m>
                  <m:oMath xmlns:m="http://schemas.openxmlformats.org/officeDocument/2006/math">
                    <m:r>
                      <a:rPr lang="es-MX" sz="2000" i="1">
                        <a:latin typeface="Cambria Math" panose="02040503050406030204" pitchFamily="18" charset="0"/>
                        <a:ea typeface="Roboto" panose="02000000000000000000" pitchFamily="2" charset="0"/>
                      </a:rPr>
                      <m:t>𝐴</m:t>
                    </m:r>
                    <m:r>
                      <a:rPr lang="es-MX" sz="2000" i="1">
                        <a:latin typeface="Cambria Math" panose="02040503050406030204" pitchFamily="18" charset="0"/>
                        <a:ea typeface="Roboto" panose="02000000000000000000" pitchFamily="2" charset="0"/>
                      </a:rPr>
                      <m:t> </m:t>
                    </m:r>
                  </m:oMath>
                </a14:m>
                <a:r>
                  <a:rPr lang="es-MX" sz="2000" dirty="0">
                    <a:latin typeface="+mn-lt"/>
                    <a:ea typeface="Roboto" panose="02000000000000000000" pitchFamily="2" charset="0"/>
                  </a:rPr>
                  <a:t>en </a:t>
                </a:r>
                <a14:m>
                  <m:oMath xmlns:m="http://schemas.openxmlformats.org/officeDocument/2006/math">
                    <m:r>
                      <a:rPr lang="es-MX" sz="2000" i="1">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es un subconjunto del producto cartesiano </a:t>
                </a:r>
                <a14:m>
                  <m:oMath xmlns:m="http://schemas.openxmlformats.org/officeDocument/2006/math">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oMath>
                </a14:m>
                <a:r>
                  <a:rPr lang="es-MX" sz="2000" dirty="0">
                    <a:latin typeface="+mn-lt"/>
                    <a:ea typeface="Roboto" panose="02000000000000000000" pitchFamily="2" charset="0"/>
                  </a:rPr>
                  <a:t>:</a:t>
                </a:r>
              </a:p>
              <a:p>
                <a:pPr marL="127000" indent="0">
                  <a:buNone/>
                </a:pPr>
                <a:endParaRPr lang="es-MX" sz="20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ea typeface="Roboto" panose="02000000000000000000" pitchFamily="2" charset="0"/>
                        </a:rPr>
                        <m:t>𝑅</m:t>
                      </m:r>
                      <m:r>
                        <a:rPr lang="es-MX" sz="200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oMath>
                  </m:oMathPara>
                </a14:m>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r>
                  <a:rPr lang="es-MX" sz="2000" dirty="0">
                    <a:latin typeface="+mn-lt"/>
                    <a:ea typeface="Roboto" panose="02000000000000000000" pitchFamily="2" charset="0"/>
                  </a:rPr>
                  <a:t>Cuando los pares </a:t>
                </a:r>
                <a14:m>
                  <m:oMath xmlns:m="http://schemas.openxmlformats.org/officeDocument/2006/math">
                    <m:d>
                      <m:dPr>
                        <m:ctrlPr>
                          <a:rPr lang="es-MX" sz="2000" i="1" smtClean="0">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𝑥</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𝑦</m:t>
                        </m:r>
                      </m:e>
                    </m:d>
                    <m:r>
                      <a:rPr lang="es-MX" sz="2000" i="1">
                        <a:latin typeface="Cambria Math" panose="02040503050406030204" pitchFamily="18" charset="0"/>
                        <a:ea typeface="Roboto" panose="02000000000000000000" pitchFamily="2" charset="0"/>
                      </a:rPr>
                      <m:t> </m:t>
                    </m:r>
                  </m:oMath>
                </a14:m>
                <a:r>
                  <a:rPr lang="es-MX" sz="2000" dirty="0">
                    <a:latin typeface="+mn-lt"/>
                    <a:ea typeface="Roboto" panose="02000000000000000000" pitchFamily="2" charset="0"/>
                  </a:rPr>
                  <a:t>se eligen mediante una propiedad (predicado) </a:t>
                </a:r>
                <a14:m>
                  <m:oMath xmlns:m="http://schemas.openxmlformats.org/officeDocument/2006/math">
                    <m:r>
                      <a:rPr lang="es-MX" sz="2000" b="0" i="1" smtClean="0">
                        <a:latin typeface="Cambria Math" panose="02040503050406030204" pitchFamily="18" charset="0"/>
                        <a:ea typeface="Roboto" panose="02000000000000000000" pitchFamily="2" charset="0"/>
                      </a:rPr>
                      <m:t>𝑃</m:t>
                    </m:r>
                    <m:d>
                      <m:dPr>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𝑥</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𝑦</m:t>
                        </m:r>
                      </m:e>
                    </m:d>
                  </m:oMath>
                </a14:m>
                <a:r>
                  <a:rPr lang="es-MX" sz="2000" dirty="0">
                    <a:latin typeface="+mn-lt"/>
                    <a:ea typeface="Roboto" panose="02000000000000000000" pitchFamily="2" charset="0"/>
                  </a:rPr>
                  <a:t>:</a:t>
                </a:r>
              </a:p>
              <a:p>
                <a:pPr marL="127000" indent="0">
                  <a:buNone/>
                </a:pPr>
                <a:endParaRPr lang="es-MX" sz="2000" i="1"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i="1">
                          <a:latin typeface="Cambria Math" panose="02040503050406030204" pitchFamily="18" charset="0"/>
                          <a:ea typeface="Roboto" panose="02000000000000000000" pitchFamily="2" charset="0"/>
                        </a:rPr>
                        <m:t>𝑅</m:t>
                      </m:r>
                      <m:r>
                        <a:rPr lang="es-MX" sz="2000" i="1">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ea typeface="Roboto" panose="02000000000000000000" pitchFamily="2" charset="0"/>
                            </a:rPr>
                          </m:ctrlPr>
                        </m:dPr>
                        <m:e>
                          <m:d>
                            <m:dPr>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𝑥</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𝑦</m:t>
                              </m:r>
                            </m:e>
                          </m:d>
                        </m:e>
                        <m:e>
                          <m:d>
                            <m:dPr>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𝑥</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𝐴</m:t>
                              </m:r>
                            </m:e>
                          </m:d>
                          <m:r>
                            <a:rPr lang="es-MX" sz="2000" i="1">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𝑦</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𝑦</m:t>
                              </m:r>
                            </m:e>
                          </m:d>
                        </m:e>
                      </m:d>
                    </m:oMath>
                  </m:oMathPara>
                </a14:m>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r>
                  <a:rPr lang="es-MX" sz="2000" b="1" dirty="0">
                    <a:latin typeface="+mn-lt"/>
                    <a:ea typeface="Roboto" panose="02000000000000000000" pitchFamily="2" charset="0"/>
                  </a:rPr>
                  <a:t>Notación</a:t>
                </a:r>
                <a:r>
                  <a:rPr lang="es-MX" sz="2000" dirty="0">
                    <a:latin typeface="+mn-lt"/>
                    <a:ea typeface="Roboto" panose="02000000000000000000" pitchFamily="2" charset="0"/>
                  </a:rPr>
                  <a:t>:</a:t>
                </a:r>
              </a:p>
              <a:p>
                <a:pPr marL="127000" indent="0">
                  <a:buNone/>
                </a:pPr>
                <a:endParaRPr lang="es-MX" sz="2000" dirty="0">
                  <a:latin typeface="+mn-lt"/>
                  <a:ea typeface="Roboto" panose="02000000000000000000" pitchFamily="2" charset="0"/>
                </a:endParaRPr>
              </a:p>
              <a:p>
                <a:r>
                  <a:rPr lang="es-MX" sz="2000" dirty="0">
                    <a:latin typeface="+mn-lt"/>
                    <a:ea typeface="Roboto" panose="02000000000000000000" pitchFamily="2" charset="0"/>
                  </a:rPr>
                  <a:t>Si </a:t>
                </a:r>
                <a14:m>
                  <m:oMath xmlns:m="http://schemas.openxmlformats.org/officeDocument/2006/math">
                    <m:r>
                      <a:rPr lang="es-MX" sz="2000" i="1" dirty="0" smtClean="0">
                        <a:latin typeface="Cambria Math" panose="02040503050406030204" pitchFamily="18" charset="0"/>
                        <a:ea typeface="Roboto" panose="02000000000000000000" pitchFamily="2" charset="0"/>
                      </a:rPr>
                      <m:t>𝐴</m:t>
                    </m:r>
                    <m:r>
                      <a:rPr lang="es-MX" sz="2000" i="1" dirty="0" smtClean="0">
                        <a:latin typeface="Cambria Math" panose="02040503050406030204" pitchFamily="18" charset="0"/>
                        <a:ea typeface="Roboto" panose="02000000000000000000" pitchFamily="2" charset="0"/>
                      </a:rPr>
                      <m:t> × </m:t>
                    </m:r>
                    <m:r>
                      <a:rPr lang="es-MX" sz="2000" i="1" dirty="0" smtClean="0">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son todas las flechas posibles, una relación es quedarse con algunas.</a:t>
                </a:r>
              </a:p>
              <a:p>
                <a:r>
                  <a:rPr lang="es-MX" sz="2000" dirty="0">
                    <a:latin typeface="+mn-lt"/>
                    <a:ea typeface="Roboto" panose="02000000000000000000" pitchFamily="2" charset="0"/>
                  </a:rPr>
                  <a:t>Cualquier subconjunto de </a:t>
                </a:r>
                <a14:m>
                  <m:oMath xmlns:m="http://schemas.openxmlformats.org/officeDocument/2006/math">
                    <m:r>
                      <a:rPr lang="es-MX" sz="2000" i="1" dirty="0" smtClean="0">
                        <a:latin typeface="Cambria Math" panose="02040503050406030204" pitchFamily="18" charset="0"/>
                        <a:ea typeface="Roboto" panose="02000000000000000000" pitchFamily="2" charset="0"/>
                      </a:rPr>
                      <m:t>𝐴</m:t>
                    </m:r>
                    <m:r>
                      <a:rPr lang="es-MX" sz="2000" i="1" dirty="0" smtClean="0">
                        <a:latin typeface="Cambria Math" panose="02040503050406030204" pitchFamily="18" charset="0"/>
                        <a:ea typeface="Roboto" panose="02000000000000000000" pitchFamily="2" charset="0"/>
                      </a:rPr>
                      <m:t> × </m:t>
                    </m:r>
                    <m:r>
                      <a:rPr lang="es-MX" sz="2000" i="1" dirty="0" smtClean="0">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es una relación, incluso el vacío </a:t>
                </a:r>
                <a14:m>
                  <m:oMath xmlns:m="http://schemas.openxmlformats.org/officeDocument/2006/math">
                    <m:r>
                      <a:rPr lang="es-MX" sz="2000" i="1" dirty="0" smtClean="0">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o </a:t>
                </a:r>
                <a14:m>
                  <m:oMath xmlns:m="http://schemas.openxmlformats.org/officeDocument/2006/math">
                    <m:r>
                      <a:rPr lang="es-MX" sz="2000" i="1" dirty="0" smtClean="0">
                        <a:latin typeface="Cambria Math" panose="02040503050406030204" pitchFamily="18" charset="0"/>
                        <a:ea typeface="Roboto" panose="02000000000000000000" pitchFamily="2" charset="0"/>
                      </a:rPr>
                      <m:t>𝐴</m:t>
                    </m:r>
                    <m:r>
                      <a:rPr lang="es-MX" sz="2000" i="1" dirty="0" smtClean="0">
                        <a:latin typeface="Cambria Math" panose="02040503050406030204" pitchFamily="18" charset="0"/>
                        <a:ea typeface="Roboto" panose="02000000000000000000" pitchFamily="2" charset="0"/>
                      </a:rPr>
                      <m:t> × </m:t>
                    </m:r>
                    <m:r>
                      <a:rPr lang="es-MX" sz="2000" i="1" dirty="0" smtClean="0">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completo,  aunque no exista una propiedad que lo describa.</a:t>
                </a:r>
              </a:p>
              <a:p>
                <a:r>
                  <a:rPr lang="es-MX" sz="2000" dirty="0">
                    <a:latin typeface="+mn-lt"/>
                    <a:ea typeface="Roboto" panose="02000000000000000000" pitchFamily="2" charset="0"/>
                  </a:rPr>
                  <a:t>A estas relaciones se les llama relaciones binarias (relacionan pares).</a:t>
                </a: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24466" y="1405692"/>
                <a:ext cx="11543068" cy="5356270"/>
              </a:xfrm>
              <a:prstGeom prst="rect">
                <a:avLst/>
              </a:prstGeom>
              <a:blipFill>
                <a:blip r:embed="rId3"/>
                <a:stretch>
                  <a:fillRect b="-1595"/>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2" name="Tabla 2">
                <a:extLst>
                  <a:ext uri="{FF2B5EF4-FFF2-40B4-BE49-F238E27FC236}">
                    <a16:creationId xmlns:a16="http://schemas.microsoft.com/office/drawing/2014/main" id="{AC3383C8-472C-4481-8AEB-AC7F2865E3A2}"/>
                  </a:ext>
                </a:extLst>
              </p:cNvPr>
              <p:cNvGraphicFramePr>
                <a:graphicFrameLocks noGrp="1"/>
              </p:cNvGraphicFramePr>
              <p:nvPr>
                <p:extLst>
                  <p:ext uri="{D42A27DB-BD31-4B8C-83A1-F6EECF244321}">
                    <p14:modId xmlns:p14="http://schemas.microsoft.com/office/powerpoint/2010/main" val="2937544220"/>
                  </p:ext>
                </p:extLst>
              </p:nvPr>
            </p:nvGraphicFramePr>
            <p:xfrm>
              <a:off x="2790496" y="4724107"/>
              <a:ext cx="6558456" cy="370840"/>
            </p:xfrm>
            <a:graphic>
              <a:graphicData uri="http://schemas.openxmlformats.org/drawingml/2006/table">
                <a:tbl>
                  <a:tblPr firstRow="1" bandRow="1">
                    <a:tableStyleId>{AD6A3598-7CB8-4345-8D95-17CE05F158A0}</a:tableStyleId>
                  </a:tblPr>
                  <a:tblGrid>
                    <a:gridCol w="3279228">
                      <a:extLst>
                        <a:ext uri="{9D8B030D-6E8A-4147-A177-3AD203B41FA5}">
                          <a16:colId xmlns:a16="http://schemas.microsoft.com/office/drawing/2014/main" val="3194011781"/>
                        </a:ext>
                      </a:extLst>
                    </a:gridCol>
                    <a:gridCol w="3279228">
                      <a:extLst>
                        <a:ext uri="{9D8B030D-6E8A-4147-A177-3AD203B41FA5}">
                          <a16:colId xmlns:a16="http://schemas.microsoft.com/office/drawing/2014/main" val="1959379004"/>
                        </a:ext>
                      </a:extLst>
                    </a:gridCol>
                  </a:tblGrid>
                  <a:tr h="370840">
                    <a:tc>
                      <a:txBody>
                        <a:bodyPr/>
                        <a:lstStyle/>
                        <a:p>
                          <a14:m>
                            <m:oMathPara xmlns:m="http://schemas.openxmlformats.org/officeDocument/2006/math">
                              <m:oMathParaPr>
                                <m:jc m:val="centerGroup"/>
                              </m:oMathParaPr>
                              <m:oMath xmlns:m="http://schemas.openxmlformats.org/officeDocument/2006/math">
                                <m:d>
                                  <m:dPr>
                                    <m:ctrlPr>
                                      <a:rPr lang="es-MX" sz="1800" i="1" smtClean="0">
                                        <a:latin typeface="Cambria Math" panose="02040503050406030204" pitchFamily="18" charset="0"/>
                                        <a:ea typeface="Roboto" panose="02000000000000000000" pitchFamily="2" charset="0"/>
                                      </a:rPr>
                                    </m:ctrlPr>
                                  </m:dPr>
                                  <m:e>
                                    <m:r>
                                      <a:rPr lang="es-MX" sz="1800" i="1">
                                        <a:latin typeface="Cambria Math" panose="02040503050406030204" pitchFamily="18" charset="0"/>
                                        <a:ea typeface="Roboto" panose="02000000000000000000" pitchFamily="2" charset="0"/>
                                      </a:rPr>
                                      <m:t>𝑥</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𝑦</m:t>
                                    </m:r>
                                  </m:e>
                                </m:d>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𝑅</m:t>
                                </m:r>
                                <m:r>
                                  <a:rPr lang="es-MX" sz="1800" b="0" i="1" smtClean="0">
                                    <a:latin typeface="Cambria Math" panose="02040503050406030204" pitchFamily="18" charset="0"/>
                                    <a:ea typeface="Roboto" panose="02000000000000000000" pitchFamily="2" charset="0"/>
                                  </a:rPr>
                                  <m:t> </m:t>
                                </m:r>
                                <m:r>
                                  <m:rPr>
                                    <m:sty m:val="p"/>
                                  </m:rPr>
                                  <a:rPr lang="es-MX" sz="1800" b="0" i="0" smtClean="0">
                                    <a:latin typeface="Cambria Math" panose="02040503050406030204" pitchFamily="18" charset="0"/>
                                    <a:ea typeface="Roboto" panose="02000000000000000000" pitchFamily="2" charset="0"/>
                                  </a:rPr>
                                  <m:t>se</m:t>
                                </m:r>
                                <m:r>
                                  <a:rPr lang="es-MX" sz="1800" b="0" i="0" smtClean="0">
                                    <a:latin typeface="Cambria Math" panose="02040503050406030204" pitchFamily="18" charset="0"/>
                                    <a:ea typeface="Roboto" panose="02000000000000000000" pitchFamily="2" charset="0"/>
                                  </a:rPr>
                                  <m:t> </m:t>
                                </m:r>
                                <m:r>
                                  <m:rPr>
                                    <m:sty m:val="p"/>
                                  </m:rPr>
                                  <a:rPr lang="es-MX" sz="1800" b="0" i="0" smtClean="0">
                                    <a:latin typeface="Cambria Math" panose="02040503050406030204" pitchFamily="18" charset="0"/>
                                    <a:ea typeface="Roboto" panose="02000000000000000000" pitchFamily="2" charset="0"/>
                                  </a:rPr>
                                  <m:t>escribe</m:t>
                                </m:r>
                                <m:r>
                                  <a:rPr lang="es-MX" sz="1800" b="0" i="0" smtClean="0">
                                    <a:latin typeface="Cambria Math" panose="02040503050406030204" pitchFamily="18" charset="0"/>
                                    <a:ea typeface="Roboto" panose="02000000000000000000" pitchFamily="2" charset="0"/>
                                  </a:rPr>
                                  <m:t> </m:t>
                                </m:r>
                                <m:r>
                                  <a:rPr lang="es-MX" sz="1800" i="1" smtClean="0">
                                    <a:latin typeface="Cambria Math" panose="02040503050406030204" pitchFamily="18" charset="0"/>
                                    <a:ea typeface="Roboto" panose="02000000000000000000" pitchFamily="2" charset="0"/>
                                  </a:rPr>
                                  <m:t>𝑥</m:t>
                                </m:r>
                                <m:r>
                                  <a:rPr lang="es-MX" sz="1800" b="0" i="1" smtClean="0">
                                    <a:latin typeface="Cambria Math" panose="02040503050406030204" pitchFamily="18" charset="0"/>
                                    <a:ea typeface="Roboto" panose="02000000000000000000" pitchFamily="2" charset="0"/>
                                  </a:rPr>
                                  <m:t>𝑅𝑦</m:t>
                                </m:r>
                              </m:oMath>
                            </m:oMathPara>
                          </a14:m>
                          <a:endParaRPr lang="es-CO"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s-MX" sz="1800" i="1" smtClean="0">
                                        <a:latin typeface="Cambria Math" panose="02040503050406030204" pitchFamily="18" charset="0"/>
                                        <a:ea typeface="Roboto" panose="02000000000000000000" pitchFamily="2" charset="0"/>
                                      </a:rPr>
                                    </m:ctrlPr>
                                  </m:dPr>
                                  <m:e>
                                    <m:r>
                                      <a:rPr lang="es-MX" sz="1800" i="1">
                                        <a:latin typeface="Cambria Math" panose="02040503050406030204" pitchFamily="18" charset="0"/>
                                        <a:ea typeface="Roboto" panose="02000000000000000000" pitchFamily="2" charset="0"/>
                                      </a:rPr>
                                      <m:t>𝑥</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𝑦</m:t>
                                    </m:r>
                                  </m:e>
                                </m:d>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𝑅</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𝑠𝑒</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𝑒𝑠𝑐𝑟𝑖𝑏𝑒</m:t>
                                </m:r>
                                <m:r>
                                  <a:rPr lang="es-MX" sz="1800" b="0" i="1" smtClean="0">
                                    <a:latin typeface="Cambria Math" panose="02040503050406030204" pitchFamily="18" charset="0"/>
                                    <a:ea typeface="Roboto" panose="02000000000000000000" pitchFamily="2" charset="0"/>
                                  </a:rPr>
                                  <m:t>¬(</m:t>
                                </m:r>
                                <m:r>
                                  <a:rPr lang="es-MX" sz="1800" i="1" smtClean="0">
                                    <a:latin typeface="Cambria Math" panose="02040503050406030204" pitchFamily="18" charset="0"/>
                                    <a:ea typeface="Roboto" panose="02000000000000000000" pitchFamily="2" charset="0"/>
                                  </a:rPr>
                                  <m:t>𝑥</m:t>
                                </m:r>
                                <m:r>
                                  <a:rPr lang="es-MX" sz="1800" b="0" i="1" smtClean="0">
                                    <a:latin typeface="Cambria Math" panose="02040503050406030204" pitchFamily="18" charset="0"/>
                                    <a:ea typeface="Roboto" panose="02000000000000000000" pitchFamily="2" charset="0"/>
                                  </a:rPr>
                                  <m:t>𝑅𝑦</m:t>
                                </m:r>
                                <m:r>
                                  <a:rPr lang="es-MX" sz="1800" b="0" i="1" smtClean="0">
                                    <a:latin typeface="Cambria Math" panose="02040503050406030204" pitchFamily="18" charset="0"/>
                                    <a:ea typeface="Roboto" panose="02000000000000000000" pitchFamily="2" charset="0"/>
                                  </a:rPr>
                                  <m:t>)</m:t>
                                </m:r>
                              </m:oMath>
                            </m:oMathPara>
                          </a14:m>
                          <a:endParaRPr lang="es-CO" dirty="0"/>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131261941"/>
                      </a:ext>
                    </a:extLst>
                  </a:tr>
                </a:tbl>
              </a:graphicData>
            </a:graphic>
          </p:graphicFrame>
        </mc:Choice>
        <mc:Fallback>
          <p:graphicFrame>
            <p:nvGraphicFramePr>
              <p:cNvPr id="2" name="Tabla 2">
                <a:extLst>
                  <a:ext uri="{FF2B5EF4-FFF2-40B4-BE49-F238E27FC236}">
                    <a16:creationId xmlns:a16="http://schemas.microsoft.com/office/drawing/2014/main" id="{AC3383C8-472C-4481-8AEB-AC7F2865E3A2}"/>
                  </a:ext>
                </a:extLst>
              </p:cNvPr>
              <p:cNvGraphicFramePr>
                <a:graphicFrameLocks noGrp="1"/>
              </p:cNvGraphicFramePr>
              <p:nvPr>
                <p:extLst>
                  <p:ext uri="{D42A27DB-BD31-4B8C-83A1-F6EECF244321}">
                    <p14:modId xmlns:p14="http://schemas.microsoft.com/office/powerpoint/2010/main" val="2937544220"/>
                  </p:ext>
                </p:extLst>
              </p:nvPr>
            </p:nvGraphicFramePr>
            <p:xfrm>
              <a:off x="2790496" y="4724107"/>
              <a:ext cx="6558456" cy="370840"/>
            </p:xfrm>
            <a:graphic>
              <a:graphicData uri="http://schemas.openxmlformats.org/drawingml/2006/table">
                <a:tbl>
                  <a:tblPr firstRow="1" bandRow="1">
                    <a:tableStyleId>{AD6A3598-7CB8-4345-8D95-17CE05F158A0}</a:tableStyleId>
                  </a:tblPr>
                  <a:tblGrid>
                    <a:gridCol w="3279228">
                      <a:extLst>
                        <a:ext uri="{9D8B030D-6E8A-4147-A177-3AD203B41FA5}">
                          <a16:colId xmlns:a16="http://schemas.microsoft.com/office/drawing/2014/main" val="3194011781"/>
                        </a:ext>
                      </a:extLst>
                    </a:gridCol>
                    <a:gridCol w="3279228">
                      <a:extLst>
                        <a:ext uri="{9D8B030D-6E8A-4147-A177-3AD203B41FA5}">
                          <a16:colId xmlns:a16="http://schemas.microsoft.com/office/drawing/2014/main" val="1959379004"/>
                        </a:ext>
                      </a:extLst>
                    </a:gridCol>
                  </a:tblGrid>
                  <a:tr h="370840">
                    <a:tc>
                      <a:txBody>
                        <a:bodyPr/>
                        <a:lstStyle/>
                        <a:p>
                          <a:endParaRPr lang="es-CO"/>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r="-99814" b="-12903"/>
                          </a:stretch>
                        </a:blipFill>
                      </a:tcPr>
                    </a:tc>
                    <a:tc>
                      <a:txBody>
                        <a:bodyPr/>
                        <a:lstStyle/>
                        <a:p>
                          <a:endParaRPr lang="es-CO"/>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0186" b="-12903"/>
                          </a:stretch>
                        </a:blipFill>
                      </a:tcPr>
                    </a:tc>
                    <a:extLst>
                      <a:ext uri="{0D108BD9-81ED-4DB2-BD59-A6C34878D82A}">
                        <a16:rowId xmlns:a16="http://schemas.microsoft.com/office/drawing/2014/main" val="4131261941"/>
                      </a:ext>
                    </a:extLst>
                  </a:tr>
                </a:tbl>
              </a:graphicData>
            </a:graphic>
          </p:graphicFrame>
        </mc:Fallback>
      </mc:AlternateContent>
    </p:spTree>
    <p:extLst>
      <p:ext uri="{BB962C8B-B14F-4D97-AF65-F5344CB8AC3E}">
        <p14:creationId xmlns:p14="http://schemas.microsoft.com/office/powerpoint/2010/main" val="2371600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4721" y="96038"/>
            <a:ext cx="879593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Conceptos básicos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4720" y="780067"/>
            <a:ext cx="1134255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¿Cuántas relaciones hay?</a:t>
            </a: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24720" y="1297854"/>
                <a:ext cx="11522441" cy="426229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Cada par de </a:t>
                </a:r>
                <a14:m>
                  <m:oMath xmlns:m="http://schemas.openxmlformats.org/officeDocument/2006/math">
                    <m:r>
                      <a:rPr lang="es-MX" sz="200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oMath>
                </a14:m>
                <a:r>
                  <a:rPr lang="es-MX" sz="2000" dirty="0">
                    <a:latin typeface="+mn-lt"/>
                    <a:ea typeface="Roboto" panose="02000000000000000000" pitchFamily="2" charset="0"/>
                  </a:rPr>
                  <a:t> tiene dos opciones: </a:t>
                </a:r>
                <a:r>
                  <a:rPr lang="es-MX" sz="2000" b="1" dirty="0">
                    <a:latin typeface="+mn-lt"/>
                    <a:ea typeface="Roboto" panose="02000000000000000000" pitchFamily="2" charset="0"/>
                  </a:rPr>
                  <a:t>está</a:t>
                </a:r>
                <a:r>
                  <a:rPr lang="es-MX" sz="2000" dirty="0">
                    <a:latin typeface="+mn-lt"/>
                    <a:ea typeface="Roboto" panose="02000000000000000000" pitchFamily="2" charset="0"/>
                  </a:rPr>
                  <a:t> o </a:t>
                </a:r>
                <a:r>
                  <a:rPr lang="es-MX" sz="2000" b="1" dirty="0">
                    <a:latin typeface="+mn-lt"/>
                    <a:ea typeface="Roboto" panose="02000000000000000000" pitchFamily="2" charset="0"/>
                  </a:rPr>
                  <a:t>no está</a:t>
                </a:r>
                <a:r>
                  <a:rPr lang="es-MX" sz="2000" dirty="0">
                    <a:latin typeface="+mn-lt"/>
                    <a:ea typeface="Roboto" panose="02000000000000000000" pitchFamily="2" charset="0"/>
                  </a:rPr>
                  <a:t> en</a:t>
                </a:r>
                <a:r>
                  <a:rPr lang="es-MX" sz="2000" dirty="0">
                    <a:ea typeface="Roboto" panose="02000000000000000000" pitchFamily="2" charset="0"/>
                  </a:rPr>
                  <a:t> </a:t>
                </a:r>
                <a14:m>
                  <m:oMath xmlns:m="http://schemas.openxmlformats.org/officeDocument/2006/math">
                    <m:r>
                      <a:rPr lang="es-MX" sz="2000" i="1" dirty="0">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Con </a:t>
                </a:r>
                <a14:m>
                  <m:oMath xmlns:m="http://schemas.openxmlformats.org/officeDocument/2006/math">
                    <m:d>
                      <m:dPr>
                        <m:begChr m:val="|"/>
                        <m:endChr m:val="|"/>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𝐴</m:t>
                        </m:r>
                      </m:e>
                    </m:d>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𝑚</m:t>
                    </m:r>
                  </m:oMath>
                </a14:m>
                <a:r>
                  <a:rPr lang="es-MX" sz="2000" dirty="0">
                    <a:ea typeface="Roboto" panose="02000000000000000000" pitchFamily="2" charset="0"/>
                  </a:rPr>
                  <a:t> </a:t>
                </a:r>
                <a:r>
                  <a:rPr lang="es-MX" sz="2000" dirty="0">
                    <a:latin typeface="+mn-lt"/>
                    <a:ea typeface="Roboto" panose="02000000000000000000" pitchFamily="2" charset="0"/>
                  </a:rPr>
                  <a:t>y </a:t>
                </a:r>
                <a14:m>
                  <m:oMath xmlns:m="http://schemas.openxmlformats.org/officeDocument/2006/math">
                    <m:d>
                      <m:dPr>
                        <m:begChr m:val="|"/>
                        <m:endChr m:val="|"/>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𝐵</m:t>
                        </m:r>
                      </m:e>
                    </m:d>
                    <m:r>
                      <a:rPr lang="es-MX" sz="2000" i="1">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𝑛</m:t>
                    </m:r>
                  </m:oMath>
                </a14:m>
                <a:r>
                  <a:rPr lang="es-MX" sz="2000" dirty="0">
                    <a:latin typeface="+mn-lt"/>
                    <a:ea typeface="Roboto" panose="02000000000000000000" pitchFamily="2" charset="0"/>
                  </a:rPr>
                  <a:t> hay </a:t>
                </a:r>
                <a14:m>
                  <m:oMath xmlns:m="http://schemas.openxmlformats.org/officeDocument/2006/math">
                    <m:r>
                      <a:rPr lang="es-MX" sz="2000" i="1" dirty="0" smtClean="0">
                        <a:latin typeface="Cambria Math" panose="02040503050406030204" pitchFamily="18" charset="0"/>
                        <a:ea typeface="Roboto" panose="02000000000000000000" pitchFamily="2" charset="0"/>
                      </a:rPr>
                      <m:t>𝑚</m:t>
                    </m:r>
                    <m:r>
                      <a:rPr lang="es-MX" sz="2000" i="1" dirty="0" smtClean="0">
                        <a:latin typeface="Cambria Math" panose="02040503050406030204" pitchFamily="18" charset="0"/>
                        <a:ea typeface="Roboto" panose="02000000000000000000" pitchFamily="2" charset="0"/>
                      </a:rPr>
                      <m:t>·</m:t>
                    </m:r>
                    <m:r>
                      <a:rPr lang="es-MX" sz="2000" i="1" dirty="0" smtClean="0">
                        <a:latin typeface="Cambria Math" panose="02040503050406030204" pitchFamily="18" charset="0"/>
                        <a:ea typeface="Roboto" panose="02000000000000000000" pitchFamily="2" charset="0"/>
                      </a:rPr>
                      <m:t>𝑛</m:t>
                    </m:r>
                  </m:oMath>
                </a14:m>
                <a:r>
                  <a:rPr lang="es-MX" sz="2000" dirty="0">
                    <a:latin typeface="+mn-lt"/>
                    <a:ea typeface="Roboto" panose="02000000000000000000" pitchFamily="2" charset="0"/>
                  </a:rPr>
                  <a:t> </a:t>
                </a:r>
                <a:r>
                  <a:rPr lang="es-MX" sz="2000" b="1" dirty="0">
                    <a:latin typeface="+mn-lt"/>
                    <a:ea typeface="Roboto" panose="02000000000000000000" pitchFamily="2" charset="0"/>
                  </a:rPr>
                  <a:t>pares</a:t>
                </a:r>
                <a:r>
                  <a:rPr lang="es-MX" sz="2000" dirty="0">
                    <a:latin typeface="+mn-lt"/>
                    <a:ea typeface="Roboto" panose="02000000000000000000" pitchFamily="2" charset="0"/>
                  </a:rPr>
                  <a:t> es decir </a:t>
                </a:r>
                <a14:m>
                  <m:oMath xmlns:m="http://schemas.openxmlformats.org/officeDocument/2006/math">
                    <m:r>
                      <a:rPr lang="es-MX" sz="2000" i="1" dirty="0" smtClean="0">
                        <a:latin typeface="Cambria Math" panose="02040503050406030204" pitchFamily="18" charset="0"/>
                        <a:ea typeface="Roboto" panose="02000000000000000000" pitchFamily="2" charset="0"/>
                      </a:rPr>
                      <m:t>2 · 2 · </m:t>
                    </m:r>
                    <m:r>
                      <a:rPr lang="es-MX" sz="2000" b="0" i="1" dirty="0" smtClean="0">
                        <a:latin typeface="Cambria Math" panose="02040503050406030204" pitchFamily="18" charset="0"/>
                        <a:ea typeface="Roboto" panose="02000000000000000000" pitchFamily="2" charset="0"/>
                      </a:rPr>
                      <m:t>…</m:t>
                    </m:r>
                    <m:r>
                      <a:rPr lang="es-MX" sz="2000" i="1" dirty="0" smtClean="0">
                        <a:latin typeface="Cambria Math" panose="02040503050406030204" pitchFamily="18" charset="0"/>
                        <a:ea typeface="Roboto" panose="02000000000000000000" pitchFamily="2" charset="0"/>
                      </a:rPr>
                      <m:t> · 2 =</m:t>
                    </m:r>
                    <m:sSup>
                      <m:sSupPr>
                        <m:ctrlPr>
                          <a:rPr lang="es-MX" sz="2000" b="0" i="1" dirty="0" smtClean="0">
                            <a:latin typeface="Cambria Math" panose="02040503050406030204" pitchFamily="18" charset="0"/>
                            <a:ea typeface="Roboto" panose="02000000000000000000" pitchFamily="2" charset="0"/>
                          </a:rPr>
                        </m:ctrlPr>
                      </m:sSupPr>
                      <m:e>
                        <m:r>
                          <a:rPr lang="es-MX" sz="2000" b="0" i="1" dirty="0" smtClean="0">
                            <a:latin typeface="Cambria Math" panose="02040503050406030204" pitchFamily="18" charset="0"/>
                            <a:ea typeface="Roboto" panose="02000000000000000000" pitchFamily="2" charset="0"/>
                          </a:rPr>
                          <m:t>2</m:t>
                        </m:r>
                      </m:e>
                      <m:sup>
                        <m:r>
                          <a:rPr lang="es-MX" sz="2000" i="1" dirty="0">
                            <a:latin typeface="Cambria Math" panose="02040503050406030204" pitchFamily="18" charset="0"/>
                            <a:ea typeface="Roboto" panose="02000000000000000000" pitchFamily="2" charset="0"/>
                          </a:rPr>
                          <m:t>𝑚</m:t>
                        </m:r>
                        <m:r>
                          <a:rPr lang="es-MX" sz="2000" i="1" dirty="0">
                            <a:latin typeface="Cambria Math" panose="02040503050406030204" pitchFamily="18" charset="0"/>
                            <a:ea typeface="Roboto" panose="02000000000000000000" pitchFamily="2" charset="0"/>
                          </a:rPr>
                          <m:t>·</m:t>
                        </m:r>
                        <m:r>
                          <a:rPr lang="es-MX" sz="2000" i="1" dirty="0">
                            <a:latin typeface="Cambria Math" panose="02040503050406030204" pitchFamily="18" charset="0"/>
                            <a:ea typeface="Roboto" panose="02000000000000000000" pitchFamily="2" charset="0"/>
                          </a:rPr>
                          <m:t>𝑛</m:t>
                        </m:r>
                      </m:sup>
                    </m:sSup>
                  </m:oMath>
                </a14:m>
                <a:r>
                  <a:rPr lang="es-MX" sz="2000" dirty="0">
                    <a:latin typeface="+mn-lt"/>
                    <a:ea typeface="Roboto" panose="02000000000000000000" pitchFamily="2" charset="0"/>
                  </a:rPr>
                  <a:t> relaciones.</a:t>
                </a:r>
              </a:p>
              <a:p>
                <a:pPr marL="127000" indent="0">
                  <a:buNone/>
                </a:pPr>
                <a:endParaRPr lang="es-MX" sz="20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𝑛</m:t>
                          </m:r>
                        </m:e>
                        <m:sub>
                          <m:r>
                            <a:rPr lang="es-MX" sz="2000" b="0" i="1" smtClean="0">
                              <a:latin typeface="Cambria Math" panose="02040503050406030204" pitchFamily="18" charset="0"/>
                              <a:ea typeface="Cambria Math" panose="02040503050406030204" pitchFamily="18" charset="0"/>
                            </a:rPr>
                            <m:t>𝑅</m:t>
                          </m:r>
                        </m:sub>
                      </m:sSub>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𝒫</m:t>
                          </m:r>
                          <m:d>
                            <m:dPr>
                              <m:ctrlPr>
                                <a:rPr lang="es-MX" sz="2000" b="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e>
                      </m:d>
                      <m:r>
                        <a:rPr lang="es-MX" sz="2000" b="0" i="1" smtClean="0">
                          <a:latin typeface="Cambria Math" panose="02040503050406030204" pitchFamily="18" charset="0"/>
                          <a:ea typeface="Cambria Math" panose="02040503050406030204" pitchFamily="18" charset="0"/>
                        </a:rPr>
                        <m:t>=</m:t>
                      </m:r>
                      <m:sSup>
                        <m:sSupPr>
                          <m:ctrlPr>
                            <a:rPr lang="es-MX" sz="2000" b="0" i="1" smtClean="0">
                              <a:latin typeface="Cambria Math" panose="02040503050406030204" pitchFamily="18" charset="0"/>
                              <a:ea typeface="Cambria Math" panose="02040503050406030204" pitchFamily="18" charset="0"/>
                            </a:rPr>
                          </m:ctrlPr>
                        </m:sSupPr>
                        <m:e>
                          <m:r>
                            <a:rPr lang="es-MX" sz="2000" b="0" i="1" smtClean="0">
                              <a:latin typeface="Cambria Math" panose="02040503050406030204" pitchFamily="18" charset="0"/>
                              <a:ea typeface="Cambria Math" panose="02040503050406030204" pitchFamily="18" charset="0"/>
                            </a:rPr>
                            <m:t>2</m:t>
                          </m:r>
                        </m:e>
                        <m:sup>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sup>
                      </m:sSup>
                      <m:r>
                        <a:rPr lang="es-MX" sz="2000" b="0" i="1" smtClean="0">
                          <a:latin typeface="Cambria Math" panose="02040503050406030204" pitchFamily="18" charset="0"/>
                          <a:ea typeface="Cambria Math" panose="02040503050406030204" pitchFamily="18" charset="0"/>
                        </a:rPr>
                        <m:t>=</m:t>
                      </m:r>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2</m:t>
                          </m:r>
                        </m:e>
                        <m:sup>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sup>
                      </m:sSup>
                      <m:r>
                        <a:rPr lang="es-MX" sz="2000" b="0" i="1" smtClean="0">
                          <a:latin typeface="Cambria Math" panose="02040503050406030204" pitchFamily="18" charset="0"/>
                          <a:ea typeface="Cambria Math" panose="02040503050406030204" pitchFamily="18" charset="0"/>
                        </a:rPr>
                        <m:t>=</m:t>
                      </m:r>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2</m:t>
                          </m:r>
                        </m:e>
                        <m:sup>
                          <m:r>
                            <a:rPr lang="es-MX" sz="2000" b="0" i="1" smtClean="0">
                              <a:latin typeface="Cambria Math" panose="02040503050406030204" pitchFamily="18" charset="0"/>
                              <a:ea typeface="Cambria Math" panose="02040503050406030204" pitchFamily="18" charset="0"/>
                            </a:rPr>
                            <m:t>𝑚</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𝑛</m:t>
                          </m:r>
                        </m:sup>
                      </m:sSup>
                    </m:oMath>
                  </m:oMathPara>
                </a14:m>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r>
                  <a:rPr lang="es-CO" sz="2000" b="1" dirty="0">
                    <a:latin typeface="+mn-lt"/>
                  </a:rPr>
                  <a:t>Sobre un mismo conjunto </a:t>
                </a:r>
                <a14:m>
                  <m:oMath xmlns:m="http://schemas.openxmlformats.org/officeDocument/2006/math">
                    <m:r>
                      <a:rPr lang="es-MX" sz="2000" b="1" i="0" smtClean="0">
                        <a:latin typeface="Cambria Math" panose="02040503050406030204" pitchFamily="18" charset="0"/>
                        <a:ea typeface="Roboto" panose="02000000000000000000" pitchFamily="2" charset="0"/>
                      </a:rPr>
                      <m:t>(</m:t>
                    </m:r>
                    <m:d>
                      <m:dPr>
                        <m:begChr m:val="|"/>
                        <m:endChr m:val="|"/>
                        <m:ctrlPr>
                          <a:rPr lang="es-MX" sz="2000" b="1" i="1" smtClean="0">
                            <a:latin typeface="Cambria Math" panose="02040503050406030204" pitchFamily="18" charset="0"/>
                            <a:ea typeface="Roboto" panose="02000000000000000000" pitchFamily="2" charset="0"/>
                          </a:rPr>
                        </m:ctrlPr>
                      </m:dPr>
                      <m:e>
                        <m:r>
                          <a:rPr lang="es-MX" sz="2000" b="1" i="1">
                            <a:latin typeface="Cambria Math" panose="02040503050406030204" pitchFamily="18" charset="0"/>
                            <a:ea typeface="Roboto" panose="02000000000000000000" pitchFamily="2" charset="0"/>
                          </a:rPr>
                          <m:t>𝑨</m:t>
                        </m:r>
                      </m:e>
                    </m:d>
                    <m:r>
                      <a:rPr lang="es-MX" sz="2000" b="1" i="1">
                        <a:latin typeface="Cambria Math" panose="02040503050406030204" pitchFamily="18" charset="0"/>
                        <a:ea typeface="Roboto" panose="02000000000000000000" pitchFamily="2" charset="0"/>
                      </a:rPr>
                      <m:t>=</m:t>
                    </m:r>
                    <m:r>
                      <a:rPr lang="es-MX" sz="2000" b="1" i="1" smtClean="0">
                        <a:latin typeface="Cambria Math" panose="02040503050406030204" pitchFamily="18" charset="0"/>
                        <a:ea typeface="Roboto" panose="02000000000000000000" pitchFamily="2" charset="0"/>
                      </a:rPr>
                      <m:t>𝒏</m:t>
                    </m:r>
                    <m:r>
                      <a:rPr lang="es-MX" sz="2000" b="1" i="1" smtClean="0">
                        <a:latin typeface="Cambria Math" panose="02040503050406030204" pitchFamily="18" charset="0"/>
                        <a:ea typeface="Roboto" panose="02000000000000000000" pitchFamily="2" charset="0"/>
                      </a:rPr>
                      <m:t>)</m:t>
                    </m:r>
                  </m:oMath>
                </a14:m>
                <a:r>
                  <a:rPr lang="es-CO" sz="2000" b="1" dirty="0">
                    <a:latin typeface="+mn-lt"/>
                  </a:rPr>
                  <a:t>: </a:t>
                </a:r>
                <a14:m>
                  <m:oMath xmlns:m="http://schemas.openxmlformats.org/officeDocument/2006/math">
                    <m:sSub>
                      <m:sSubPr>
                        <m:ctrlPr>
                          <a:rPr lang="es-MX" sz="2000" i="1">
                            <a:latin typeface="Cambria Math" panose="02040503050406030204" pitchFamily="18" charset="0"/>
                            <a:ea typeface="Cambria Math" panose="02040503050406030204" pitchFamily="18" charset="0"/>
                          </a:rPr>
                        </m:ctrlPr>
                      </m:sSubPr>
                      <m:e>
                        <m:r>
                          <a:rPr lang="es-MX" sz="2000" i="1">
                            <a:latin typeface="Cambria Math" panose="02040503050406030204" pitchFamily="18" charset="0"/>
                            <a:ea typeface="Cambria Math" panose="02040503050406030204" pitchFamily="18" charset="0"/>
                          </a:rPr>
                          <m:t>𝑛</m:t>
                        </m:r>
                      </m:e>
                      <m:sub>
                        <m:r>
                          <a:rPr lang="es-MX" sz="2000" i="1">
                            <a:latin typeface="Cambria Math" panose="02040503050406030204" pitchFamily="18" charset="0"/>
                            <a:ea typeface="Cambria Math" panose="02040503050406030204" pitchFamily="18" charset="0"/>
                          </a:rPr>
                          <m:t>𝑅</m:t>
                        </m:r>
                      </m:sub>
                    </m:sSub>
                    <m:r>
                      <a:rPr lang="es-MX" sz="2000" i="1">
                        <a:latin typeface="Cambria Math" panose="02040503050406030204" pitchFamily="18" charset="0"/>
                        <a:ea typeface="Cambria Math" panose="02040503050406030204" pitchFamily="18" charset="0"/>
                      </a:rPr>
                      <m:t>=</m:t>
                    </m:r>
                    <m:sSup>
                      <m:sSupPr>
                        <m:ctrlPr>
                          <a:rPr lang="es-MX" sz="2000" b="0" i="1" smtClean="0">
                            <a:latin typeface="Cambria Math" panose="02040503050406030204" pitchFamily="18" charset="0"/>
                            <a:ea typeface="Cambria Math" panose="02040503050406030204" pitchFamily="18" charset="0"/>
                          </a:rPr>
                        </m:ctrlPr>
                      </m:sSupPr>
                      <m:e>
                        <m:r>
                          <a:rPr lang="es-MX" sz="2000" b="0" i="1" smtClean="0">
                            <a:latin typeface="Cambria Math" panose="02040503050406030204" pitchFamily="18" charset="0"/>
                            <a:ea typeface="Cambria Math" panose="02040503050406030204" pitchFamily="18" charset="0"/>
                          </a:rPr>
                          <m:t>2</m:t>
                        </m:r>
                      </m:e>
                      <m:sup>
                        <m:sSup>
                          <m:sSupPr>
                            <m:ctrlPr>
                              <a:rPr lang="es-MX" sz="2000" b="0" i="1" smtClean="0">
                                <a:latin typeface="Cambria Math" panose="02040503050406030204" pitchFamily="18" charset="0"/>
                                <a:ea typeface="Cambria Math" panose="02040503050406030204" pitchFamily="18" charset="0"/>
                              </a:rPr>
                            </m:ctrlPr>
                          </m:sSupPr>
                          <m:e>
                            <m:r>
                              <a:rPr lang="es-MX" sz="2000" b="0" i="1" smtClean="0">
                                <a:latin typeface="Cambria Math" panose="02040503050406030204" pitchFamily="18" charset="0"/>
                                <a:ea typeface="Cambria Math" panose="02040503050406030204" pitchFamily="18" charset="0"/>
                              </a:rPr>
                              <m:t>𝑛</m:t>
                            </m:r>
                          </m:e>
                          <m:sup>
                            <m:r>
                              <a:rPr lang="es-MX" sz="2000" b="0" i="1" smtClean="0">
                                <a:latin typeface="Cambria Math" panose="02040503050406030204" pitchFamily="18" charset="0"/>
                                <a:ea typeface="Cambria Math" panose="02040503050406030204" pitchFamily="18" charset="0"/>
                              </a:rPr>
                              <m:t>2</m:t>
                            </m:r>
                          </m:sup>
                        </m:sSup>
                      </m:sup>
                    </m:sSup>
                  </m:oMath>
                </a14:m>
                <a:endParaRPr lang="es-CO" sz="2000" b="1" dirty="0">
                  <a:latin typeface="+mn-lt"/>
                </a:endParaRPr>
              </a:p>
              <a:p>
                <a:pPr marL="127000" indent="0">
                  <a:buNone/>
                </a:pPr>
                <a:endParaRPr lang="es-MX" sz="2000" b="1" dirty="0">
                  <a:latin typeface="+mn-lt"/>
                  <a:ea typeface="Roboto" panose="02000000000000000000" pitchFamily="2" charset="0"/>
                </a:endParaRPr>
              </a:p>
              <a:p>
                <a:pPr marL="127000" indent="0">
                  <a:buNone/>
                </a:pPr>
                <a:r>
                  <a:rPr lang="es-MX" sz="2000" b="1" dirty="0">
                    <a:latin typeface="+mn-lt"/>
                    <a:ea typeface="Roboto" panose="02000000000000000000" pitchFamily="2" charset="0"/>
                  </a:rPr>
                  <a:t>Ejemplo</a:t>
                </a:r>
                <a:r>
                  <a:rPr lang="es-MX" sz="2000" dirty="0">
                    <a:latin typeface="+mn-lt"/>
                    <a:ea typeface="Roboto" panose="02000000000000000000" pitchFamily="2" charset="0"/>
                  </a:rPr>
                  <a:t>: Sea </a:t>
                </a:r>
                <a14:m>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0,1</m:t>
                        </m:r>
                      </m:e>
                    </m:d>
                  </m:oMath>
                </a14:m>
                <a:r>
                  <a:rPr lang="es-MX" sz="2000" dirty="0">
                    <a:latin typeface="+mn-lt"/>
                    <a:ea typeface="Roboto" panose="02000000000000000000" pitchFamily="2" charset="0"/>
                  </a:rPr>
                  <a:t> y </a:t>
                </a:r>
                <a14:m>
                  <m:oMath xmlns:m="http://schemas.openxmlformats.org/officeDocument/2006/math">
                    <m:d>
                      <m:dPr>
                        <m:begChr m:val="|"/>
                        <m:endChr m:val="|"/>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𝐵</m:t>
                        </m:r>
                      </m:e>
                    </m:d>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e>
                    </m:d>
                  </m:oMath>
                </a14:m>
                <a:r>
                  <a:rPr lang="es-MX" sz="2000" dirty="0">
                    <a:latin typeface="+mn-lt"/>
                    <a:ea typeface="Roboto" panose="02000000000000000000" pitchFamily="2" charset="0"/>
                  </a:rPr>
                  <a:t> tenemos que </a:t>
                </a:r>
                <a14:m>
                  <m:oMath xmlns:m="http://schemas.openxmlformats.org/officeDocument/2006/math">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d>
                      <m:dPr>
                        <m:begChr m:val="{"/>
                        <m:endChr m:val="}"/>
                        <m:ctrlPr>
                          <a:rPr lang="es-MX" sz="2000" b="0" i="1" smtClean="0">
                            <a:latin typeface="Cambria Math" panose="02040503050406030204" pitchFamily="18" charset="0"/>
                            <a:ea typeface="Cambria Math" panose="02040503050406030204" pitchFamily="18" charset="0"/>
                          </a:rPr>
                        </m:ctrlPr>
                      </m:dPr>
                      <m:e>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0,</m:t>
                            </m:r>
                            <m:r>
                              <a:rPr lang="es-MX" sz="2000" b="0" i="1" smtClean="0">
                                <a:latin typeface="Cambria Math" panose="02040503050406030204" pitchFamily="18" charset="0"/>
                                <a:ea typeface="Cambria Math" panose="02040503050406030204" pitchFamily="18" charset="0"/>
                              </a:rPr>
                              <m:t>𝑎</m:t>
                            </m:r>
                          </m:e>
                        </m:d>
                        <m:r>
                          <a:rPr lang="es-MX" sz="2000" b="0" i="1" smtClean="0">
                            <a:latin typeface="Cambria Math" panose="02040503050406030204" pitchFamily="18" charset="0"/>
                            <a:ea typeface="Cambria Math" panose="02040503050406030204" pitchFamily="18" charset="0"/>
                          </a:rPr>
                          <m:t>,(1,</m:t>
                        </m:r>
                        <m:r>
                          <a:rPr lang="es-MX" sz="2000" b="0" i="1" smtClean="0">
                            <a:latin typeface="Cambria Math" panose="02040503050406030204" pitchFamily="18" charset="0"/>
                            <a:ea typeface="Cambria Math" panose="02040503050406030204" pitchFamily="18" charset="0"/>
                          </a:rPr>
                          <m:t>𝑎</m:t>
                        </m:r>
                        <m:r>
                          <a:rPr lang="es-MX" sz="2000" b="0" i="1" smtClean="0">
                            <a:latin typeface="Cambria Math" panose="02040503050406030204" pitchFamily="18" charset="0"/>
                            <a:ea typeface="Cambria Math" panose="02040503050406030204" pitchFamily="18" charset="0"/>
                          </a:rPr>
                          <m:t>)</m:t>
                        </m:r>
                      </m:e>
                    </m:d>
                  </m:oMath>
                </a14:m>
                <a:endParaRPr lang="es-MX" sz="20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424720" y="1297854"/>
                <a:ext cx="11522441" cy="4262291"/>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3" name="Tabla 4">
                <a:extLst>
                  <a:ext uri="{FF2B5EF4-FFF2-40B4-BE49-F238E27FC236}">
                    <a16:creationId xmlns:a16="http://schemas.microsoft.com/office/drawing/2014/main" id="{CD7A9079-FEFC-44BD-BA03-F2A8FBA46FF0}"/>
                  </a:ext>
                </a:extLst>
              </p:cNvPr>
              <p:cNvGraphicFramePr>
                <a:graphicFrameLocks noGrp="1"/>
              </p:cNvGraphicFramePr>
              <p:nvPr>
                <p:extLst>
                  <p:ext uri="{D42A27DB-BD31-4B8C-83A1-F6EECF244321}">
                    <p14:modId xmlns:p14="http://schemas.microsoft.com/office/powerpoint/2010/main" val="3396223688"/>
                  </p:ext>
                </p:extLst>
              </p:nvPr>
            </p:nvGraphicFramePr>
            <p:xfrm>
              <a:off x="1044630" y="4591570"/>
              <a:ext cx="3373918" cy="1981200"/>
            </p:xfrm>
            <a:graphic>
              <a:graphicData uri="http://schemas.openxmlformats.org/drawingml/2006/table">
                <a:tbl>
                  <a:tblPr firstRow="1" bandRow="1">
                    <a:tableStyleId>{AD6A3598-7CB8-4345-8D95-17CE05F158A0}</a:tableStyleId>
                  </a:tblPr>
                  <a:tblGrid>
                    <a:gridCol w="867855">
                      <a:extLst>
                        <a:ext uri="{9D8B030D-6E8A-4147-A177-3AD203B41FA5}">
                          <a16:colId xmlns:a16="http://schemas.microsoft.com/office/drawing/2014/main" val="189137133"/>
                        </a:ext>
                      </a:extLst>
                    </a:gridCol>
                    <a:gridCol w="867855">
                      <a:extLst>
                        <a:ext uri="{9D8B030D-6E8A-4147-A177-3AD203B41FA5}">
                          <a16:colId xmlns:a16="http://schemas.microsoft.com/office/drawing/2014/main" val="4062754952"/>
                        </a:ext>
                      </a:extLst>
                    </a:gridCol>
                    <a:gridCol w="1638208">
                      <a:extLst>
                        <a:ext uri="{9D8B030D-6E8A-4147-A177-3AD203B41FA5}">
                          <a16:colId xmlns:a16="http://schemas.microsoft.com/office/drawing/2014/main" val="1665238720"/>
                        </a:ext>
                      </a:extLst>
                    </a:gridCol>
                  </a:tblGrid>
                  <a:tr h="370840">
                    <a:tc>
                      <a:txBody>
                        <a:bodyPr/>
                        <a:lstStyle/>
                        <a:p>
                          <a14:m>
                            <m:oMathPara xmlns:m="http://schemas.openxmlformats.org/officeDocument/2006/math">
                              <m:oMathParaPr>
                                <m:jc m:val="centerGroup"/>
                              </m:oMathParaPr>
                              <m:oMath xmlns:m="http://schemas.openxmlformats.org/officeDocument/2006/math">
                                <m:d>
                                  <m:dPr>
                                    <m:ctrlPr>
                                      <a:rPr lang="es-MX" sz="2000" b="1" i="1" smtClean="0">
                                        <a:latin typeface="Cambria Math" panose="02040503050406030204" pitchFamily="18" charset="0"/>
                                        <a:ea typeface="Cambria Math" panose="02040503050406030204" pitchFamily="18" charset="0"/>
                                      </a:rPr>
                                    </m:ctrlPr>
                                  </m:dPr>
                                  <m:e>
                                    <m:r>
                                      <a:rPr lang="es-MX" sz="2000" b="1" i="1" smtClean="0">
                                        <a:latin typeface="Cambria Math" panose="02040503050406030204" pitchFamily="18" charset="0"/>
                                        <a:ea typeface="Cambria Math" panose="02040503050406030204" pitchFamily="18" charset="0"/>
                                      </a:rPr>
                                      <m:t>𝟎</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𝒂</m:t>
                                    </m:r>
                                  </m:e>
                                </m:d>
                              </m:oMath>
                            </m:oMathPara>
                          </a14:m>
                          <a:endParaRPr lang="es-CO"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lang="es-MX" sz="2000" b="1" i="1" smtClean="0">
                                        <a:latin typeface="Cambria Math" panose="02040503050406030204" pitchFamily="18" charset="0"/>
                                        <a:ea typeface="Cambria Math" panose="02040503050406030204" pitchFamily="18" charset="0"/>
                                      </a:rPr>
                                    </m:ctrlPr>
                                  </m:dPr>
                                  <m:e>
                                    <m:r>
                                      <a:rPr lang="es-MX" sz="2000" b="1" i="1" smtClean="0">
                                        <a:latin typeface="Cambria Math" panose="02040503050406030204" pitchFamily="18" charset="0"/>
                                        <a:ea typeface="Cambria Math" panose="02040503050406030204" pitchFamily="18" charset="0"/>
                                      </a:rPr>
                                      <m:t>𝟏</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𝒂</m:t>
                                    </m:r>
                                  </m:e>
                                </m:d>
                              </m:oMath>
                            </m:oMathPara>
                          </a14:m>
                          <a:endParaRPr lang="es-CO"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𝑹𝒆𝒍𝒂𝒄𝒊</m:t>
                                </m:r>
                                <m:r>
                                  <a:rPr lang="es-MX" sz="2000" b="1" i="1" smtClean="0">
                                    <a:latin typeface="Cambria Math" panose="02040503050406030204" pitchFamily="18" charset="0"/>
                                    <a:ea typeface="Cambria Math" panose="02040503050406030204" pitchFamily="18" charset="0"/>
                                  </a:rPr>
                                  <m:t>ó</m:t>
                                </m:r>
                                <m:r>
                                  <a:rPr lang="es-MX" sz="2000" b="1" i="1" smtClean="0">
                                    <a:latin typeface="Cambria Math" panose="02040503050406030204" pitchFamily="18" charset="0"/>
                                    <a:ea typeface="Cambria Math" panose="02040503050406030204" pitchFamily="18" charset="0"/>
                                  </a:rPr>
                                  <m:t>𝒏</m:t>
                                </m:r>
                              </m:oMath>
                            </m:oMathPara>
                          </a14:m>
                          <a:endParaRPr lang="es-CO"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82335696"/>
                      </a:ext>
                    </a:extLst>
                  </a:tr>
                  <a:tr h="370840">
                    <a:tc>
                      <a:txBody>
                        <a:bodyPr/>
                        <a:lstStyle/>
                        <a:p>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0</m:t>
                                </m:r>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0</m:t>
                                </m:r>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Para xmlns:m="http://schemas.openxmlformats.org/officeDocument/2006/math">
                              <m:oMathParaPr>
                                <m:jc m:val="centerGroup"/>
                              </m:oMathParaPr>
                              <m:oMath xmlns:m="http://schemas.openxmlformats.org/officeDocument/2006/math">
                                <m:r>
                                  <a:rPr lang="es-MX" sz="2000" i="1" dirty="0" smtClean="0">
                                    <a:latin typeface="Cambria Math" panose="02040503050406030204" pitchFamily="18" charset="0"/>
                                    <a:ea typeface="Roboto" panose="02000000000000000000" pitchFamily="2" charset="0"/>
                                  </a:rPr>
                                  <m:t>∅</m:t>
                                </m:r>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6054270"/>
                      </a:ext>
                    </a:extLst>
                  </a:tr>
                  <a:tr h="370840">
                    <a:tc>
                      <a:txBody>
                        <a:bodyPr/>
                        <a:lstStyle/>
                        <a:p>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0</m:t>
                                </m:r>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1</m:t>
                                </m:r>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Para xmlns:m="http://schemas.openxmlformats.org/officeDocument/2006/math">
                              <m:oMathParaPr>
                                <m:jc m:val="centerGroup"/>
                              </m:oMathParaPr>
                              <m:oMath xmlns:m="http://schemas.openxmlformats.org/officeDocument/2006/math">
                                <m:d>
                                  <m:dPr>
                                    <m:begChr m:val="{"/>
                                    <m:endChr m:val="}"/>
                                    <m:ctrlPr>
                                      <a:rPr lang="es-MX" sz="2000" b="0" i="1" dirty="0" smtClean="0">
                                        <a:latin typeface="Cambria Math" panose="02040503050406030204" pitchFamily="18" charset="0"/>
                                        <a:ea typeface="Roboto" panose="02000000000000000000" pitchFamily="2" charset="0"/>
                                      </a:rPr>
                                    </m:ctrlPr>
                                  </m:dPr>
                                  <m:e>
                                    <m:r>
                                      <a:rPr lang="es-MX" sz="2000" b="0" i="1" dirty="0" smtClean="0">
                                        <a:latin typeface="Cambria Math" panose="02040503050406030204" pitchFamily="18" charset="0"/>
                                        <a:ea typeface="Roboto" panose="02000000000000000000" pitchFamily="2" charset="0"/>
                                      </a:rPr>
                                      <m:t>(0,</m:t>
                                    </m:r>
                                    <m:r>
                                      <a:rPr lang="es-MX" sz="2000" b="0" i="1" dirty="0" smtClean="0">
                                        <a:latin typeface="Cambria Math" panose="02040503050406030204" pitchFamily="18" charset="0"/>
                                        <a:ea typeface="Roboto" panose="02000000000000000000" pitchFamily="2" charset="0"/>
                                      </a:rPr>
                                      <m:t>𝑎</m:t>
                                    </m:r>
                                    <m:r>
                                      <a:rPr lang="es-MX" sz="2000" b="0" i="1" dirty="0" smtClean="0">
                                        <a:latin typeface="Cambria Math" panose="02040503050406030204" pitchFamily="18" charset="0"/>
                                        <a:ea typeface="Roboto" panose="02000000000000000000" pitchFamily="2" charset="0"/>
                                      </a:rPr>
                                      <m:t>)</m:t>
                                    </m:r>
                                  </m:e>
                                </m:d>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0231590"/>
                      </a:ext>
                    </a:extLst>
                  </a:tr>
                  <a:tr h="370840">
                    <a:tc>
                      <a:txBody>
                        <a:bodyPr/>
                        <a:lstStyle/>
                        <a:p>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1</m:t>
                                </m:r>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0</m:t>
                                </m:r>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Para xmlns:m="http://schemas.openxmlformats.org/officeDocument/2006/math">
                              <m:oMathParaPr>
                                <m:jc m:val="centerGroup"/>
                              </m:oMathParaPr>
                              <m:oMath xmlns:m="http://schemas.openxmlformats.org/officeDocument/2006/math">
                                <m:d>
                                  <m:dPr>
                                    <m:begChr m:val="{"/>
                                    <m:endChr m:val="}"/>
                                    <m:ctrlPr>
                                      <a:rPr lang="es-MX" sz="2000" b="0" i="1" dirty="0" smtClean="0">
                                        <a:latin typeface="Cambria Math" panose="02040503050406030204" pitchFamily="18" charset="0"/>
                                        <a:ea typeface="Roboto" panose="02000000000000000000" pitchFamily="2" charset="0"/>
                                      </a:rPr>
                                    </m:ctrlPr>
                                  </m:dPr>
                                  <m:e>
                                    <m:r>
                                      <a:rPr lang="es-MX" sz="2000" b="0" i="1" dirty="0" smtClean="0">
                                        <a:latin typeface="Cambria Math" panose="02040503050406030204" pitchFamily="18" charset="0"/>
                                        <a:ea typeface="Roboto" panose="02000000000000000000" pitchFamily="2" charset="0"/>
                                      </a:rPr>
                                      <m:t>(</m:t>
                                    </m:r>
                                    <m:r>
                                      <a:rPr lang="es-MX" sz="2000" b="0" i="1" dirty="0" smtClean="0">
                                        <a:latin typeface="Cambria Math" panose="02040503050406030204" pitchFamily="18" charset="0"/>
                                        <a:ea typeface="Roboto" panose="02000000000000000000" pitchFamily="2" charset="0"/>
                                      </a:rPr>
                                      <m:t>1</m:t>
                                    </m:r>
                                    <m:r>
                                      <a:rPr lang="es-MX" sz="2000" b="0" i="1" dirty="0" smtClean="0">
                                        <a:latin typeface="Cambria Math" panose="02040503050406030204" pitchFamily="18" charset="0"/>
                                        <a:ea typeface="Roboto" panose="02000000000000000000" pitchFamily="2" charset="0"/>
                                      </a:rPr>
                                      <m:t>,</m:t>
                                    </m:r>
                                    <m:r>
                                      <a:rPr lang="es-MX" sz="2000" b="0" i="1" dirty="0" smtClean="0">
                                        <a:latin typeface="Cambria Math" panose="02040503050406030204" pitchFamily="18" charset="0"/>
                                        <a:ea typeface="Roboto" panose="02000000000000000000" pitchFamily="2" charset="0"/>
                                      </a:rPr>
                                      <m:t>𝑎</m:t>
                                    </m:r>
                                    <m:r>
                                      <a:rPr lang="es-MX" sz="2000" b="0" i="1" dirty="0" smtClean="0">
                                        <a:latin typeface="Cambria Math" panose="02040503050406030204" pitchFamily="18" charset="0"/>
                                        <a:ea typeface="Roboto" panose="02000000000000000000" pitchFamily="2" charset="0"/>
                                      </a:rPr>
                                      <m:t>)</m:t>
                                    </m:r>
                                  </m:e>
                                </m:d>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4176515"/>
                      </a:ext>
                    </a:extLst>
                  </a:tr>
                  <a:tr h="370840">
                    <a:tc>
                      <a:txBody>
                        <a:bodyPr/>
                        <a:lstStyle/>
                        <a:p>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1</m:t>
                                </m:r>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1</m:t>
                                </m:r>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Para xmlns:m="http://schemas.openxmlformats.org/officeDocument/2006/math">
                              <m:oMathParaPr>
                                <m:jc m:val="centerGroup"/>
                              </m:oMathParaPr>
                              <m:oMath xmlns:m="http://schemas.openxmlformats.org/officeDocument/2006/math">
                                <m:d>
                                  <m:dPr>
                                    <m:begChr m:val="{"/>
                                    <m:endChr m:val="}"/>
                                    <m:ctrlPr>
                                      <a:rPr lang="es-MX" sz="2000" b="0" i="1" dirty="0" smtClean="0">
                                        <a:latin typeface="Cambria Math" panose="02040503050406030204" pitchFamily="18" charset="0"/>
                                        <a:ea typeface="Roboto" panose="02000000000000000000" pitchFamily="2" charset="0"/>
                                      </a:rPr>
                                    </m:ctrlPr>
                                  </m:dPr>
                                  <m:e>
                                    <m:d>
                                      <m:dPr>
                                        <m:ctrlPr>
                                          <a:rPr lang="es-MX" sz="2000" b="0" i="1" dirty="0" smtClean="0">
                                            <a:latin typeface="Cambria Math" panose="02040503050406030204" pitchFamily="18" charset="0"/>
                                            <a:ea typeface="Roboto" panose="02000000000000000000" pitchFamily="2" charset="0"/>
                                          </a:rPr>
                                        </m:ctrlPr>
                                      </m:dPr>
                                      <m:e>
                                        <m:r>
                                          <a:rPr lang="es-MX" sz="2000" b="0" i="1" dirty="0" smtClean="0">
                                            <a:latin typeface="Cambria Math" panose="02040503050406030204" pitchFamily="18" charset="0"/>
                                            <a:ea typeface="Roboto" panose="02000000000000000000" pitchFamily="2" charset="0"/>
                                          </a:rPr>
                                          <m:t>0,</m:t>
                                        </m:r>
                                        <m:r>
                                          <a:rPr lang="es-MX" sz="2000" b="0" i="1" dirty="0" smtClean="0">
                                            <a:latin typeface="Cambria Math" panose="02040503050406030204" pitchFamily="18" charset="0"/>
                                            <a:ea typeface="Roboto" panose="02000000000000000000" pitchFamily="2" charset="0"/>
                                          </a:rPr>
                                          <m:t>𝑎</m:t>
                                        </m:r>
                                      </m:e>
                                    </m:d>
                                    <m:r>
                                      <a:rPr lang="es-MX" sz="2000" b="0" i="1" dirty="0" smtClean="0">
                                        <a:latin typeface="Cambria Math" panose="02040503050406030204" pitchFamily="18" charset="0"/>
                                        <a:ea typeface="Roboto" panose="02000000000000000000" pitchFamily="2" charset="0"/>
                                      </a:rPr>
                                      <m:t>,</m:t>
                                    </m:r>
                                    <m:d>
                                      <m:dPr>
                                        <m:ctrlPr>
                                          <a:rPr lang="es-MX" sz="2000" b="0" i="1" dirty="0" smtClean="0">
                                            <a:latin typeface="Cambria Math" panose="02040503050406030204" pitchFamily="18" charset="0"/>
                                            <a:ea typeface="Roboto" panose="02000000000000000000" pitchFamily="2" charset="0"/>
                                          </a:rPr>
                                        </m:ctrlPr>
                                      </m:dPr>
                                      <m:e>
                                        <m:r>
                                          <a:rPr lang="es-MX" sz="2000" b="0" i="1" dirty="0" smtClean="0">
                                            <a:latin typeface="Cambria Math" panose="02040503050406030204" pitchFamily="18" charset="0"/>
                                            <a:ea typeface="Roboto" panose="02000000000000000000" pitchFamily="2" charset="0"/>
                                          </a:rPr>
                                          <m:t>1</m:t>
                                        </m:r>
                                        <m:r>
                                          <a:rPr lang="es-MX" sz="2000" b="0" i="1" dirty="0" smtClean="0">
                                            <a:latin typeface="Cambria Math" panose="02040503050406030204" pitchFamily="18" charset="0"/>
                                            <a:ea typeface="Roboto" panose="02000000000000000000" pitchFamily="2" charset="0"/>
                                          </a:rPr>
                                          <m:t>,</m:t>
                                        </m:r>
                                        <m:r>
                                          <a:rPr lang="es-MX" sz="2000" b="0" i="1" dirty="0" smtClean="0">
                                            <a:latin typeface="Cambria Math" panose="02040503050406030204" pitchFamily="18" charset="0"/>
                                            <a:ea typeface="Roboto" panose="02000000000000000000" pitchFamily="2" charset="0"/>
                                          </a:rPr>
                                          <m:t>𝑎</m:t>
                                        </m:r>
                                      </m:e>
                                    </m:d>
                                  </m:e>
                                </m:d>
                              </m:oMath>
                            </m:oMathPara>
                          </a14:m>
                          <a:endParaRPr lang="es-CO"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425675"/>
                      </a:ext>
                    </a:extLst>
                  </a:tr>
                </a:tbl>
              </a:graphicData>
            </a:graphic>
          </p:graphicFrame>
        </mc:Choice>
        <mc:Fallback>
          <p:graphicFrame>
            <p:nvGraphicFramePr>
              <p:cNvPr id="3" name="Tabla 4">
                <a:extLst>
                  <a:ext uri="{FF2B5EF4-FFF2-40B4-BE49-F238E27FC236}">
                    <a16:creationId xmlns:a16="http://schemas.microsoft.com/office/drawing/2014/main" id="{CD7A9079-FEFC-44BD-BA03-F2A8FBA46FF0}"/>
                  </a:ext>
                </a:extLst>
              </p:cNvPr>
              <p:cNvGraphicFramePr>
                <a:graphicFrameLocks noGrp="1"/>
              </p:cNvGraphicFramePr>
              <p:nvPr>
                <p:extLst>
                  <p:ext uri="{D42A27DB-BD31-4B8C-83A1-F6EECF244321}">
                    <p14:modId xmlns:p14="http://schemas.microsoft.com/office/powerpoint/2010/main" val="3396223688"/>
                  </p:ext>
                </p:extLst>
              </p:nvPr>
            </p:nvGraphicFramePr>
            <p:xfrm>
              <a:off x="1044630" y="4591570"/>
              <a:ext cx="3373918" cy="1981200"/>
            </p:xfrm>
            <a:graphic>
              <a:graphicData uri="http://schemas.openxmlformats.org/drawingml/2006/table">
                <a:tbl>
                  <a:tblPr firstRow="1" bandRow="1">
                    <a:tableStyleId>{AD6A3598-7CB8-4345-8D95-17CE05F158A0}</a:tableStyleId>
                  </a:tblPr>
                  <a:tblGrid>
                    <a:gridCol w="867855">
                      <a:extLst>
                        <a:ext uri="{9D8B030D-6E8A-4147-A177-3AD203B41FA5}">
                          <a16:colId xmlns:a16="http://schemas.microsoft.com/office/drawing/2014/main" val="189137133"/>
                        </a:ext>
                      </a:extLst>
                    </a:gridCol>
                    <a:gridCol w="867855">
                      <a:extLst>
                        <a:ext uri="{9D8B030D-6E8A-4147-A177-3AD203B41FA5}">
                          <a16:colId xmlns:a16="http://schemas.microsoft.com/office/drawing/2014/main" val="4062754952"/>
                        </a:ext>
                      </a:extLst>
                    </a:gridCol>
                    <a:gridCol w="1638208">
                      <a:extLst>
                        <a:ext uri="{9D8B030D-6E8A-4147-A177-3AD203B41FA5}">
                          <a16:colId xmlns:a16="http://schemas.microsoft.com/office/drawing/2014/main" val="1665238720"/>
                        </a:ext>
                      </a:extLst>
                    </a:gridCol>
                  </a:tblGrid>
                  <a:tr h="39624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699" t="-1538" r="-288811" b="-404615"/>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1408" t="-1538" r="-190845" b="-404615"/>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6320" t="-1538" r="-743" b="-404615"/>
                          </a:stretch>
                        </a:blipFill>
                      </a:tcPr>
                    </a:tc>
                    <a:extLst>
                      <a:ext uri="{0D108BD9-81ED-4DB2-BD59-A6C34878D82A}">
                        <a16:rowId xmlns:a16="http://schemas.microsoft.com/office/drawing/2014/main" val="2482335696"/>
                      </a:ext>
                    </a:extLst>
                  </a:tr>
                  <a:tr h="39624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99" t="-101538" r="-288811" b="-304615"/>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408" t="-101538" r="-190845" b="-304615"/>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6320" t="-101538" r="-743" b="-304615"/>
                          </a:stretch>
                        </a:blipFill>
                      </a:tcPr>
                    </a:tc>
                    <a:extLst>
                      <a:ext uri="{0D108BD9-81ED-4DB2-BD59-A6C34878D82A}">
                        <a16:rowId xmlns:a16="http://schemas.microsoft.com/office/drawing/2014/main" val="3696054270"/>
                      </a:ext>
                    </a:extLst>
                  </a:tr>
                  <a:tr h="39624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99" t="-198485" r="-288811" b="-200000"/>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408" t="-198485" r="-190845" b="-200000"/>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6320" t="-198485" r="-743" b="-200000"/>
                          </a:stretch>
                        </a:blipFill>
                      </a:tcPr>
                    </a:tc>
                    <a:extLst>
                      <a:ext uri="{0D108BD9-81ED-4DB2-BD59-A6C34878D82A}">
                        <a16:rowId xmlns:a16="http://schemas.microsoft.com/office/drawing/2014/main" val="960231590"/>
                      </a:ext>
                    </a:extLst>
                  </a:tr>
                  <a:tr h="39624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99" t="-303077" r="-288811" b="-103077"/>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408" t="-303077" r="-190845" b="-103077"/>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6320" t="-303077" r="-743" b="-103077"/>
                          </a:stretch>
                        </a:blipFill>
                      </a:tcPr>
                    </a:tc>
                    <a:extLst>
                      <a:ext uri="{0D108BD9-81ED-4DB2-BD59-A6C34878D82A}">
                        <a16:rowId xmlns:a16="http://schemas.microsoft.com/office/drawing/2014/main" val="4084176515"/>
                      </a:ext>
                    </a:extLst>
                  </a:tr>
                  <a:tr h="39624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99" t="-403077" r="-288811" b="-3077"/>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408" t="-403077" r="-190845" b="-3077"/>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6320" t="-403077" r="-743" b="-3077"/>
                          </a:stretch>
                        </a:blipFill>
                      </a:tcPr>
                    </a:tc>
                    <a:extLst>
                      <a:ext uri="{0D108BD9-81ED-4DB2-BD59-A6C34878D82A}">
                        <a16:rowId xmlns:a16="http://schemas.microsoft.com/office/drawing/2014/main" val="364425675"/>
                      </a:ext>
                    </a:extLst>
                  </a:tr>
                </a:tbl>
              </a:graphicData>
            </a:graphic>
          </p:graphicFrame>
        </mc:Fallback>
      </mc:AlternateContent>
    </p:spTree>
    <p:extLst>
      <p:ext uri="{BB962C8B-B14F-4D97-AF65-F5344CB8AC3E}">
        <p14:creationId xmlns:p14="http://schemas.microsoft.com/office/powerpoint/2010/main" val="926696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7703" y="96038"/>
            <a:ext cx="8792947"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09732" y="750087"/>
            <a:ext cx="10008886"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 1: “es un componente de”</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18947" y="1226513"/>
                <a:ext cx="11463321" cy="82566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Relación entre colores primarios y secundarios (modelo de pigmentos RYB):</a:t>
                </a:r>
              </a:p>
              <a:p>
                <a:pPr marL="285750" indent="-285750">
                  <a:buFont typeface="Arial" panose="020B0604020202020204" pitchFamily="34" charset="0"/>
                  <a:buChar char="•"/>
                </a:pP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𝑥</m:t>
                        </m:r>
                      </m:e>
                      <m:e>
                        <m:r>
                          <a:rPr lang="es-MX" sz="2000" b="0" i="1" smtClean="0">
                            <a:solidFill>
                              <a:schemeClr val="tx1"/>
                            </a:solidFill>
                            <a:latin typeface="Cambria Math" panose="02040503050406030204" pitchFamily="18" charset="0"/>
                            <a:ea typeface="Roboto" panose="02000000000000000000" pitchFamily="2" charset="0"/>
                          </a:rPr>
                          <m:t>𝑥</m:t>
                        </m:r>
                        <m:r>
                          <a:rPr lang="es-MX" sz="2000" b="0" i="1"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es</m:t>
                        </m:r>
                        <m:r>
                          <a:rPr lang="es-MX" sz="2000" b="0" i="0"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un</m:t>
                        </m:r>
                        <m:r>
                          <a:rPr lang="es-MX" sz="2000" b="0" i="0"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color</m:t>
                        </m:r>
                        <m:r>
                          <a:rPr lang="es-MX" sz="2000" b="0" i="0"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primario</m:t>
                        </m:r>
                      </m:e>
                    </m:d>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𝑎𝑧𝑢𝑙</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𝑟𝑜𝑗𝑜</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𝑎𝑚𝑎𝑟𝑖𝑙𝑙𝑜</m:t>
                        </m:r>
                      </m:e>
                    </m:d>
                  </m:oMath>
                </a14:m>
                <a:endParaRPr lang="es-CO" sz="2000" dirty="0">
                  <a:solidFill>
                    <a:schemeClr val="tx1"/>
                  </a:solidFill>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𝐵</m:t>
                    </m:r>
                    <m:r>
                      <a:rPr lang="es-MX" sz="2000" i="1">
                        <a:solidFill>
                          <a:schemeClr val="tx1"/>
                        </a:solidFill>
                        <a:latin typeface="Cambria Math" panose="02040503050406030204" pitchFamily="18" charset="0"/>
                        <a:ea typeface="Roboto" panose="02000000000000000000" pitchFamily="2" charset="0"/>
                      </a:rPr>
                      <m:t>=</m:t>
                    </m:r>
                    <m:d>
                      <m:dPr>
                        <m:begChr m:val="{"/>
                        <m:endChr m:val="}"/>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𝑦</m:t>
                        </m:r>
                      </m:e>
                      <m:e>
                        <m:r>
                          <a:rPr lang="es-MX" sz="2000" b="0" i="1" smtClean="0">
                            <a:solidFill>
                              <a:schemeClr val="tx1"/>
                            </a:solidFill>
                            <a:latin typeface="Cambria Math" panose="02040503050406030204" pitchFamily="18" charset="0"/>
                            <a:ea typeface="Roboto" panose="02000000000000000000" pitchFamily="2" charset="0"/>
                          </a:rPr>
                          <m:t>𝑦</m:t>
                        </m:r>
                        <m:r>
                          <a:rPr lang="es-MX" sz="2000" b="0" i="1"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es</m:t>
                        </m:r>
                        <m:r>
                          <a:rPr lang="es-MX" sz="2000" b="0" i="0"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un</m:t>
                        </m:r>
                        <m:r>
                          <a:rPr lang="es-MX" sz="2000" b="0" i="0"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color</m:t>
                        </m:r>
                        <m:r>
                          <a:rPr lang="es-MX" sz="2000" b="0" i="0"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secundario</m:t>
                        </m:r>
                      </m:e>
                    </m:d>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𝑣𝑒𝑟𝑑𝑒</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𝑚𝑜𝑟𝑎𝑑𝑜</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𝑛𝑎𝑟𝑎𝑛𝑑𝑎</m:t>
                        </m:r>
                      </m:e>
                    </m:d>
                  </m:oMath>
                </a14:m>
                <a:endParaRPr lang="es-MX" sz="20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18947" y="1226513"/>
                <a:ext cx="11463321" cy="825667"/>
              </a:xfrm>
              <a:prstGeom prst="rect">
                <a:avLst/>
              </a:prstGeom>
              <a:blipFill>
                <a:blip r:embed="rId3"/>
                <a:stretch>
                  <a:fillRect l="-213" b="-62500"/>
                </a:stretch>
              </a:blipFill>
              <a:ln>
                <a:noFill/>
              </a:ln>
            </p:spPr>
            <p:txBody>
              <a:bodyPr/>
              <a:lstStyle/>
              <a:p>
                <a:r>
                  <a:rPr lang="es-CO">
                    <a:noFill/>
                  </a:rPr>
                  <a:t> </a:t>
                </a:r>
              </a:p>
            </p:txBody>
          </p:sp>
        </mc:Fallback>
      </mc:AlternateContent>
      <p:grpSp>
        <p:nvGrpSpPr>
          <p:cNvPr id="1029" name="Grupo 1028">
            <a:extLst>
              <a:ext uri="{FF2B5EF4-FFF2-40B4-BE49-F238E27FC236}">
                <a16:creationId xmlns:a16="http://schemas.microsoft.com/office/drawing/2014/main" id="{17273D25-6F98-473C-9F29-358A377F8A4F}"/>
              </a:ext>
            </a:extLst>
          </p:cNvPr>
          <p:cNvGrpSpPr/>
          <p:nvPr/>
        </p:nvGrpSpPr>
        <p:grpSpPr>
          <a:xfrm>
            <a:off x="620849" y="3273656"/>
            <a:ext cx="3051958" cy="3064329"/>
            <a:chOff x="1527223" y="2412497"/>
            <a:chExt cx="3051958" cy="3064329"/>
          </a:xfrm>
        </p:grpSpPr>
        <p:cxnSp>
          <p:nvCxnSpPr>
            <p:cNvPr id="10" name="Conector recto de flecha 9">
              <a:extLst>
                <a:ext uri="{FF2B5EF4-FFF2-40B4-BE49-F238E27FC236}">
                  <a16:creationId xmlns:a16="http://schemas.microsoft.com/office/drawing/2014/main" id="{818BDE6F-71A1-4D4D-B4F7-A8171F2B8FCA}"/>
                </a:ext>
              </a:extLst>
            </p:cNvPr>
            <p:cNvCxnSpPr>
              <a:cxnSpLocks/>
            </p:cNvCxnSpPr>
            <p:nvPr/>
          </p:nvCxnSpPr>
          <p:spPr>
            <a:xfrm flipV="1">
              <a:off x="2552700" y="3067050"/>
              <a:ext cx="1081088" cy="614363"/>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C1719D03-AACF-4668-98EC-454D2F822EC1}"/>
                </a:ext>
              </a:extLst>
            </p:cNvPr>
            <p:cNvCxnSpPr>
              <a:cxnSpLocks/>
            </p:cNvCxnSpPr>
            <p:nvPr/>
          </p:nvCxnSpPr>
          <p:spPr>
            <a:xfrm flipV="1">
              <a:off x="2514601" y="4486275"/>
              <a:ext cx="1123950" cy="142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EA3F0C7C-3061-4683-85C3-BC3EAA960AAF}"/>
                </a:ext>
              </a:extLst>
            </p:cNvPr>
            <p:cNvCxnSpPr>
              <a:cxnSpLocks/>
            </p:cNvCxnSpPr>
            <p:nvPr/>
          </p:nvCxnSpPr>
          <p:spPr>
            <a:xfrm>
              <a:off x="2543176" y="3838575"/>
              <a:ext cx="1090612" cy="4857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83146392-1EAF-47C4-A508-CFEAB5BD5DCE}"/>
                </a:ext>
              </a:extLst>
            </p:cNvPr>
            <p:cNvCxnSpPr>
              <a:cxnSpLocks/>
            </p:cNvCxnSpPr>
            <p:nvPr/>
          </p:nvCxnSpPr>
          <p:spPr>
            <a:xfrm>
              <a:off x="2509838" y="3014663"/>
              <a:ext cx="1109662" cy="595312"/>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E8C67CDE-ADF2-4A57-A852-549270A41055}"/>
                </a:ext>
              </a:extLst>
            </p:cNvPr>
            <p:cNvCxnSpPr>
              <a:cxnSpLocks/>
            </p:cNvCxnSpPr>
            <p:nvPr/>
          </p:nvCxnSpPr>
          <p:spPr>
            <a:xfrm flipV="1">
              <a:off x="2528888" y="3786188"/>
              <a:ext cx="1076325" cy="519112"/>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49829C52-C917-4815-AC2A-0E583E17F3E2}"/>
                    </a:ext>
                  </a:extLst>
                </p:cNvPr>
                <p:cNvSpPr txBox="1"/>
                <p:nvPr/>
              </p:nvSpPr>
              <p:spPr>
                <a:xfrm>
                  <a:off x="1759206" y="5076716"/>
                  <a:ext cx="70386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𝑨</m:t>
                        </m:r>
                      </m:oMath>
                    </m:oMathPara>
                  </a14:m>
                  <a:endParaRPr lang="es-CO" sz="1600" b="1" dirty="0">
                    <a:solidFill>
                      <a:schemeClr val="tx1"/>
                    </a:solidFill>
                  </a:endParaRPr>
                </a:p>
              </p:txBody>
            </p:sp>
          </mc:Choice>
          <mc:Fallback>
            <p:sp>
              <p:nvSpPr>
                <p:cNvPr id="23" name="CuadroTexto 22">
                  <a:extLst>
                    <a:ext uri="{FF2B5EF4-FFF2-40B4-BE49-F238E27FC236}">
                      <a16:creationId xmlns:a16="http://schemas.microsoft.com/office/drawing/2014/main" id="{49829C52-C917-4815-AC2A-0E583E17F3E2}"/>
                    </a:ext>
                  </a:extLst>
                </p:cNvPr>
                <p:cNvSpPr txBox="1">
                  <a:spLocks noRot="1" noChangeAspect="1" noMove="1" noResize="1" noEditPoints="1" noAdjustHandles="1" noChangeArrowheads="1" noChangeShapeType="1" noTextEdit="1"/>
                </p:cNvSpPr>
                <p:nvPr/>
              </p:nvSpPr>
              <p:spPr>
                <a:xfrm>
                  <a:off x="1759206" y="5076716"/>
                  <a:ext cx="703865" cy="400110"/>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2D747249-DB66-4CD8-9652-92FD31F71728}"/>
                    </a:ext>
                  </a:extLst>
                </p:cNvPr>
                <p:cNvSpPr txBox="1"/>
                <p:nvPr/>
              </p:nvSpPr>
              <p:spPr>
                <a:xfrm>
                  <a:off x="3673845" y="5060264"/>
                  <a:ext cx="70386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𝑩</m:t>
                        </m:r>
                      </m:oMath>
                    </m:oMathPara>
                  </a14:m>
                  <a:endParaRPr lang="es-CO" sz="1600" b="1" dirty="0">
                    <a:solidFill>
                      <a:schemeClr val="tx1"/>
                    </a:solidFill>
                  </a:endParaRPr>
                </a:p>
              </p:txBody>
            </p:sp>
          </mc:Choice>
          <mc:Fallback>
            <p:sp>
              <p:nvSpPr>
                <p:cNvPr id="18" name="CuadroTexto 17">
                  <a:extLst>
                    <a:ext uri="{FF2B5EF4-FFF2-40B4-BE49-F238E27FC236}">
                      <a16:creationId xmlns:a16="http://schemas.microsoft.com/office/drawing/2014/main" id="{2D747249-DB66-4CD8-9652-92FD31F71728}"/>
                    </a:ext>
                  </a:extLst>
                </p:cNvPr>
                <p:cNvSpPr txBox="1">
                  <a:spLocks noRot="1" noChangeAspect="1" noMove="1" noResize="1" noEditPoints="1" noAdjustHandles="1" noChangeArrowheads="1" noChangeShapeType="1" noTextEdit="1"/>
                </p:cNvSpPr>
                <p:nvPr/>
              </p:nvSpPr>
              <p:spPr>
                <a:xfrm>
                  <a:off x="3673845" y="5060264"/>
                  <a:ext cx="703865" cy="400110"/>
                </a:xfrm>
                <a:prstGeom prst="rect">
                  <a:avLst/>
                </a:prstGeom>
                <a:blipFill>
                  <a:blip r:embed="rId5"/>
                  <a:stretch>
                    <a:fillRect/>
                  </a:stretch>
                </a:blipFill>
              </p:spPr>
              <p:txBody>
                <a:bodyPr/>
                <a:lstStyle/>
                <a:p>
                  <a:r>
                    <a:rPr lang="es-CO">
                      <a:noFill/>
                    </a:rPr>
                    <a:t> </a:t>
                  </a:r>
                </a:p>
              </p:txBody>
            </p:sp>
          </mc:Fallback>
        </mc:AlternateContent>
        <p:grpSp>
          <p:nvGrpSpPr>
            <p:cNvPr id="44" name="Grupo 43">
              <a:extLst>
                <a:ext uri="{FF2B5EF4-FFF2-40B4-BE49-F238E27FC236}">
                  <a16:creationId xmlns:a16="http://schemas.microsoft.com/office/drawing/2014/main" id="{F38BE02A-8DB4-43F9-A2B6-462C57BE000F}"/>
                </a:ext>
              </a:extLst>
            </p:cNvPr>
            <p:cNvGrpSpPr/>
            <p:nvPr/>
          </p:nvGrpSpPr>
          <p:grpSpPr>
            <a:xfrm>
              <a:off x="1527223" y="2412497"/>
              <a:ext cx="1228725" cy="2584788"/>
              <a:chOff x="1451023" y="2412497"/>
              <a:chExt cx="1228725" cy="2584788"/>
            </a:xfrm>
          </p:grpSpPr>
          <p:sp>
            <p:nvSpPr>
              <p:cNvPr id="25" name="Elipse 24">
                <a:extLst>
                  <a:ext uri="{FF2B5EF4-FFF2-40B4-BE49-F238E27FC236}">
                    <a16:creationId xmlns:a16="http://schemas.microsoft.com/office/drawing/2014/main" id="{063EC38F-117A-4DC2-B863-F4414222DD40}"/>
                  </a:ext>
                </a:extLst>
              </p:cNvPr>
              <p:cNvSpPr/>
              <p:nvPr/>
            </p:nvSpPr>
            <p:spPr>
              <a:xfrm>
                <a:off x="1451023" y="2412497"/>
                <a:ext cx="1228725" cy="258478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a:extLst>
                  <a:ext uri="{FF2B5EF4-FFF2-40B4-BE49-F238E27FC236}">
                    <a16:creationId xmlns:a16="http://schemas.microsoft.com/office/drawing/2014/main" id="{38E82B0A-B44D-46F2-92B8-2F888C211035}"/>
                  </a:ext>
                </a:extLst>
              </p:cNvPr>
              <p:cNvPicPr>
                <a:picLocks noChangeAspect="1"/>
              </p:cNvPicPr>
              <p:nvPr/>
            </p:nvPicPr>
            <p:blipFill>
              <a:blip r:embed="rId6"/>
              <a:stretch>
                <a:fillRect/>
              </a:stretch>
            </p:blipFill>
            <p:spPr>
              <a:xfrm>
                <a:off x="1738392" y="2666341"/>
                <a:ext cx="647323" cy="615553"/>
              </a:xfrm>
              <a:prstGeom prst="rect">
                <a:avLst/>
              </a:prstGeom>
            </p:spPr>
          </p:pic>
          <p:pic>
            <p:nvPicPr>
              <p:cNvPr id="29" name="Imagen 28">
                <a:extLst>
                  <a:ext uri="{FF2B5EF4-FFF2-40B4-BE49-F238E27FC236}">
                    <a16:creationId xmlns:a16="http://schemas.microsoft.com/office/drawing/2014/main" id="{B761B762-E2C2-4CDB-8577-C4B31C8CEEFA}"/>
                  </a:ext>
                </a:extLst>
              </p:cNvPr>
              <p:cNvPicPr>
                <a:picLocks noChangeAspect="1"/>
              </p:cNvPicPr>
              <p:nvPr/>
            </p:nvPicPr>
            <p:blipFill>
              <a:blip r:embed="rId7"/>
              <a:stretch>
                <a:fillRect/>
              </a:stretch>
            </p:blipFill>
            <p:spPr>
              <a:xfrm>
                <a:off x="1774133" y="3424979"/>
                <a:ext cx="611582" cy="627467"/>
              </a:xfrm>
              <a:prstGeom prst="rect">
                <a:avLst/>
              </a:prstGeom>
            </p:spPr>
          </p:pic>
          <p:pic>
            <p:nvPicPr>
              <p:cNvPr id="31" name="Imagen 30">
                <a:extLst>
                  <a:ext uri="{FF2B5EF4-FFF2-40B4-BE49-F238E27FC236}">
                    <a16:creationId xmlns:a16="http://schemas.microsoft.com/office/drawing/2014/main" id="{6CCA13A7-9FA1-4F89-A73D-A2BE6502ADF7}"/>
                  </a:ext>
                </a:extLst>
              </p:cNvPr>
              <p:cNvPicPr>
                <a:picLocks noChangeAspect="1"/>
              </p:cNvPicPr>
              <p:nvPr/>
            </p:nvPicPr>
            <p:blipFill>
              <a:blip r:embed="rId8"/>
              <a:stretch>
                <a:fillRect/>
              </a:stretch>
            </p:blipFill>
            <p:spPr>
              <a:xfrm>
                <a:off x="1775012" y="4097761"/>
                <a:ext cx="595697" cy="639381"/>
              </a:xfrm>
              <a:prstGeom prst="rect">
                <a:avLst/>
              </a:prstGeom>
            </p:spPr>
          </p:pic>
        </p:grpSp>
        <p:grpSp>
          <p:nvGrpSpPr>
            <p:cNvPr id="45" name="Grupo 44">
              <a:extLst>
                <a:ext uri="{FF2B5EF4-FFF2-40B4-BE49-F238E27FC236}">
                  <a16:creationId xmlns:a16="http://schemas.microsoft.com/office/drawing/2014/main" id="{0F3E1703-E31E-40EE-AF73-865F53D4E09E}"/>
                </a:ext>
              </a:extLst>
            </p:cNvPr>
            <p:cNvGrpSpPr/>
            <p:nvPr/>
          </p:nvGrpSpPr>
          <p:grpSpPr>
            <a:xfrm>
              <a:off x="3350456" y="2424725"/>
              <a:ext cx="1228725" cy="2584788"/>
              <a:chOff x="3411416" y="2424725"/>
              <a:chExt cx="1228725" cy="2584788"/>
            </a:xfrm>
          </p:grpSpPr>
          <p:sp>
            <p:nvSpPr>
              <p:cNvPr id="20" name="Elipse 19">
                <a:extLst>
                  <a:ext uri="{FF2B5EF4-FFF2-40B4-BE49-F238E27FC236}">
                    <a16:creationId xmlns:a16="http://schemas.microsoft.com/office/drawing/2014/main" id="{B1BBF8BB-A61B-43F9-A9F6-95BFFB8C2387}"/>
                  </a:ext>
                </a:extLst>
              </p:cNvPr>
              <p:cNvSpPr/>
              <p:nvPr/>
            </p:nvSpPr>
            <p:spPr>
              <a:xfrm>
                <a:off x="3411416" y="2424725"/>
                <a:ext cx="1228725" cy="258478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3" name="Imagen 32">
                <a:extLst>
                  <a:ext uri="{FF2B5EF4-FFF2-40B4-BE49-F238E27FC236}">
                    <a16:creationId xmlns:a16="http://schemas.microsoft.com/office/drawing/2014/main" id="{2DC7EBF3-1B24-490B-88D0-7058606A7EC8}"/>
                  </a:ext>
                </a:extLst>
              </p:cNvPr>
              <p:cNvPicPr>
                <a:picLocks noChangeAspect="1"/>
              </p:cNvPicPr>
              <p:nvPr/>
            </p:nvPicPr>
            <p:blipFill>
              <a:blip r:embed="rId9"/>
              <a:stretch>
                <a:fillRect/>
              </a:stretch>
            </p:blipFill>
            <p:spPr>
              <a:xfrm>
                <a:off x="3748946" y="3405649"/>
                <a:ext cx="615553" cy="615553"/>
              </a:xfrm>
              <a:prstGeom prst="rect">
                <a:avLst/>
              </a:prstGeom>
            </p:spPr>
          </p:pic>
          <p:pic>
            <p:nvPicPr>
              <p:cNvPr id="35" name="Imagen 34">
                <a:extLst>
                  <a:ext uri="{FF2B5EF4-FFF2-40B4-BE49-F238E27FC236}">
                    <a16:creationId xmlns:a16="http://schemas.microsoft.com/office/drawing/2014/main" id="{A77F7F92-DD37-4615-AB1B-72B6846ED6A7}"/>
                  </a:ext>
                </a:extLst>
              </p:cNvPr>
              <p:cNvPicPr>
                <a:picLocks noChangeAspect="1"/>
              </p:cNvPicPr>
              <p:nvPr/>
            </p:nvPicPr>
            <p:blipFill>
              <a:blip r:embed="rId10"/>
              <a:stretch>
                <a:fillRect/>
              </a:stretch>
            </p:blipFill>
            <p:spPr>
              <a:xfrm>
                <a:off x="3742989" y="4131317"/>
                <a:ext cx="623495" cy="619524"/>
              </a:xfrm>
              <a:prstGeom prst="rect">
                <a:avLst/>
              </a:prstGeom>
            </p:spPr>
          </p:pic>
          <p:pic>
            <p:nvPicPr>
              <p:cNvPr id="37" name="Imagen 36">
                <a:extLst>
                  <a:ext uri="{FF2B5EF4-FFF2-40B4-BE49-F238E27FC236}">
                    <a16:creationId xmlns:a16="http://schemas.microsoft.com/office/drawing/2014/main" id="{AF3C68D2-AE38-42E5-B07B-C516485CCF3A}"/>
                  </a:ext>
                </a:extLst>
              </p:cNvPr>
              <p:cNvPicPr>
                <a:picLocks noChangeAspect="1"/>
              </p:cNvPicPr>
              <p:nvPr/>
            </p:nvPicPr>
            <p:blipFill>
              <a:blip r:embed="rId11"/>
              <a:stretch>
                <a:fillRect/>
              </a:stretch>
            </p:blipFill>
            <p:spPr>
              <a:xfrm>
                <a:off x="3737950" y="2661614"/>
                <a:ext cx="611582" cy="635410"/>
              </a:xfrm>
              <a:prstGeom prst="rect">
                <a:avLst/>
              </a:prstGeom>
            </p:spPr>
          </p:pic>
        </p:grpSp>
        <p:cxnSp>
          <p:nvCxnSpPr>
            <p:cNvPr id="56" name="Conector recto de flecha 55">
              <a:extLst>
                <a:ext uri="{FF2B5EF4-FFF2-40B4-BE49-F238E27FC236}">
                  <a16:creationId xmlns:a16="http://schemas.microsoft.com/office/drawing/2014/main" id="{19B2B865-A8EF-431C-9283-C054B2A80790}"/>
                </a:ext>
              </a:extLst>
            </p:cNvPr>
            <p:cNvCxnSpPr>
              <a:cxnSpLocks/>
            </p:cNvCxnSpPr>
            <p:nvPr/>
          </p:nvCxnSpPr>
          <p:spPr>
            <a:xfrm>
              <a:off x="2510790" y="2881313"/>
              <a:ext cx="1127760" cy="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0" name="CuadroTexto 69">
                <a:extLst>
                  <a:ext uri="{FF2B5EF4-FFF2-40B4-BE49-F238E27FC236}">
                    <a16:creationId xmlns:a16="http://schemas.microsoft.com/office/drawing/2014/main" id="{548E2D51-F173-41C7-9022-D5EC2B06616B}"/>
                  </a:ext>
                </a:extLst>
              </p:cNvPr>
              <p:cNvSpPr txBox="1"/>
              <p:nvPr/>
            </p:nvSpPr>
            <p:spPr>
              <a:xfrm>
                <a:off x="4267315" y="2713048"/>
                <a:ext cx="7898344" cy="3245889"/>
              </a:xfrm>
              <a:prstGeom prst="rect">
                <a:avLst/>
              </a:prstGeom>
              <a:noFill/>
            </p:spPr>
            <p:txBody>
              <a:bodyPr wrap="square" rtlCol="0">
                <a:spAutoFit/>
              </a:bodyPr>
              <a:lstStyle/>
              <a:p>
                <a:pPr marL="285750" indent="-285750">
                  <a:buFont typeface="Arial" panose="020B0604020202020204" pitchFamily="34" charset="0"/>
                  <a:buChar char="•"/>
                </a:pPr>
                <a:endParaRPr lang="es-CO" sz="1800" dirty="0">
                  <a:solidFill>
                    <a:schemeClr val="tx1"/>
                  </a:solidFill>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1800" b="0" i="1" smtClean="0">
                        <a:solidFill>
                          <a:schemeClr val="tx1"/>
                        </a:solidFill>
                        <a:latin typeface="Cambria Math" panose="02040503050406030204" pitchFamily="18" charset="0"/>
                        <a:ea typeface="Roboto" panose="02000000000000000000" pitchFamily="2" charset="0"/>
                      </a:rPr>
                      <m:t>𝐴</m:t>
                    </m:r>
                    <m:r>
                      <a:rPr lang="es-MX" sz="1800" b="0" i="1" smtClean="0">
                        <a:solidFill>
                          <a:schemeClr val="tx1"/>
                        </a:solidFill>
                        <a:latin typeface="Cambria Math" panose="02040503050406030204" pitchFamily="18" charset="0"/>
                        <a:ea typeface="Roboto" panose="02000000000000000000" pitchFamily="2" charset="0"/>
                      </a:rPr>
                      <m:t>×</m:t>
                    </m:r>
                    <m:r>
                      <a:rPr lang="es-MX" sz="1800" i="1">
                        <a:solidFill>
                          <a:schemeClr val="tx1"/>
                        </a:solidFill>
                        <a:latin typeface="Cambria Math" panose="02040503050406030204" pitchFamily="18" charset="0"/>
                        <a:ea typeface="Roboto" panose="02000000000000000000" pitchFamily="2" charset="0"/>
                      </a:rPr>
                      <m:t>𝐵</m:t>
                    </m:r>
                    <m:r>
                      <a:rPr lang="es-MX" sz="1800" b="0" i="1" smtClean="0">
                        <a:solidFill>
                          <a:schemeClr val="tx1"/>
                        </a:solidFill>
                        <a:latin typeface="Cambria Math" panose="02040503050406030204" pitchFamily="18" charset="0"/>
                        <a:ea typeface="Roboto" panose="02000000000000000000" pitchFamily="2" charset="0"/>
                      </a:rPr>
                      <m:t>=</m:t>
                    </m:r>
                    <m:d>
                      <m:dPr>
                        <m:begChr m:val="{"/>
                        <m:endChr m:val="}"/>
                        <m:ctrlPr>
                          <a:rPr lang="es-MX" sz="1800" b="0" i="1" smtClean="0">
                            <a:solidFill>
                              <a:schemeClr val="tx1"/>
                            </a:solidFill>
                            <a:latin typeface="Cambria Math" panose="02040503050406030204" pitchFamily="18" charset="0"/>
                            <a:ea typeface="Roboto" panose="02000000000000000000" pitchFamily="2" charset="0"/>
                          </a:rPr>
                        </m:ctrlPr>
                      </m:dPr>
                      <m:e>
                        <m:eqArr>
                          <m:eqArrPr>
                            <m:ctrlPr>
                              <a:rPr lang="es-MX" sz="1800" i="1">
                                <a:latin typeface="Cambria Math" panose="02040503050406030204" pitchFamily="18" charset="0"/>
                              </a:rPr>
                            </m:ctrlPr>
                          </m:eqArrPr>
                          <m:e>
                            <m:d>
                              <m:dPr>
                                <m:ctrlPr>
                                  <a:rPr lang="es-MX" sz="1800" i="1">
                                    <a:latin typeface="Cambria Math" panose="02040503050406030204" pitchFamily="18" charset="0"/>
                                  </a:rPr>
                                </m:ctrlPr>
                              </m:dPr>
                              <m:e>
                                <m:r>
                                  <a:rPr lang="es-MX" sz="1800" i="1">
                                    <a:latin typeface="Cambria Math" panose="02040503050406030204" pitchFamily="18" charset="0"/>
                                  </a:rPr>
                                  <m:t>𝑎𝑧𝑢𝑙</m:t>
                                </m:r>
                                <m:r>
                                  <a:rPr lang="es-MX" sz="1800" i="1">
                                    <a:latin typeface="Cambria Math" panose="02040503050406030204" pitchFamily="18" charset="0"/>
                                  </a:rPr>
                                  <m:t>,</m:t>
                                </m:r>
                                <m:r>
                                  <a:rPr lang="es-MX" sz="1800" i="1">
                                    <a:latin typeface="Cambria Math" panose="02040503050406030204" pitchFamily="18" charset="0"/>
                                  </a:rPr>
                                  <m:t>𝑣𝑒𝑟𝑑𝑒</m:t>
                                </m:r>
                              </m:e>
                            </m:d>
                            <m:r>
                              <a:rPr lang="es-MX" sz="1800" i="1">
                                <a:latin typeface="Cambria Math" panose="02040503050406030204" pitchFamily="18" charset="0"/>
                              </a:rPr>
                              <m:t>,</m:t>
                            </m:r>
                            <m:d>
                              <m:dPr>
                                <m:ctrlPr>
                                  <a:rPr lang="es-MX" sz="1800" i="1">
                                    <a:latin typeface="Cambria Math" panose="02040503050406030204" pitchFamily="18" charset="0"/>
                                  </a:rPr>
                                </m:ctrlPr>
                              </m:dPr>
                              <m:e>
                                <m:r>
                                  <a:rPr lang="es-MX" sz="1800" i="1">
                                    <a:latin typeface="Cambria Math" panose="02040503050406030204" pitchFamily="18" charset="0"/>
                                  </a:rPr>
                                  <m:t>𝑎𝑧𝑢𝑙</m:t>
                                </m:r>
                                <m:r>
                                  <a:rPr lang="es-MX" sz="1800" i="1">
                                    <a:latin typeface="Cambria Math" panose="02040503050406030204" pitchFamily="18" charset="0"/>
                                  </a:rPr>
                                  <m:t>,</m:t>
                                </m:r>
                                <m:r>
                                  <a:rPr lang="es-MX" sz="1800" i="1">
                                    <a:latin typeface="Cambria Math" panose="02040503050406030204" pitchFamily="18" charset="0"/>
                                  </a:rPr>
                                  <m:t>𝑚𝑜𝑟𝑎𝑑𝑜</m:t>
                                </m:r>
                              </m:e>
                            </m:d>
                            <m:r>
                              <a:rPr lang="es-MX" sz="1800" i="1">
                                <a:latin typeface="Cambria Math" panose="02040503050406030204" pitchFamily="18" charset="0"/>
                              </a:rPr>
                              <m:t>,</m:t>
                            </m:r>
                            <m:d>
                              <m:dPr>
                                <m:ctrlPr>
                                  <a:rPr lang="es-MX" sz="1800" i="1">
                                    <a:latin typeface="Cambria Math" panose="02040503050406030204" pitchFamily="18" charset="0"/>
                                  </a:rPr>
                                </m:ctrlPr>
                              </m:dPr>
                              <m:e>
                                <m:r>
                                  <a:rPr lang="es-MX" sz="1800" i="1">
                                    <a:latin typeface="Cambria Math" panose="02040503050406030204" pitchFamily="18" charset="0"/>
                                  </a:rPr>
                                  <m:t>𝑎𝑧𝑢𝑙</m:t>
                                </m:r>
                                <m:r>
                                  <a:rPr lang="es-MX" sz="1800" i="1">
                                    <a:latin typeface="Cambria Math" panose="02040503050406030204" pitchFamily="18" charset="0"/>
                                  </a:rPr>
                                  <m:t>,</m:t>
                                </m:r>
                                <m:r>
                                  <a:rPr lang="es-MX" sz="1800" b="0" i="1" smtClean="0">
                                    <a:latin typeface="Cambria Math" panose="02040503050406030204" pitchFamily="18" charset="0"/>
                                  </a:rPr>
                                  <m:t>𝑛𝑎𝑟𝑎𝑛𝑗𝑎</m:t>
                                </m:r>
                              </m:e>
                            </m:d>
                            <m:r>
                              <a:rPr lang="es-MX" sz="1800" b="0" i="1" smtClean="0">
                                <a:latin typeface="Cambria Math" panose="02040503050406030204" pitchFamily="18" charset="0"/>
                              </a:rPr>
                              <m:t>,</m:t>
                            </m:r>
                          </m:e>
                          <m:e>
                            <m:d>
                              <m:dPr>
                                <m:ctrlPr>
                                  <a:rPr lang="es-MX" sz="1800" i="1">
                                    <a:latin typeface="Cambria Math" panose="02040503050406030204" pitchFamily="18" charset="0"/>
                                  </a:rPr>
                                </m:ctrlPr>
                              </m:dPr>
                              <m:e>
                                <m:r>
                                  <a:rPr lang="es-MX" sz="1800" i="1">
                                    <a:latin typeface="Cambria Math" panose="02040503050406030204" pitchFamily="18" charset="0"/>
                                  </a:rPr>
                                  <m:t>𝑟𝑜𝑗𝑜</m:t>
                                </m:r>
                                <m:r>
                                  <a:rPr lang="es-MX" sz="1800" i="1">
                                    <a:latin typeface="Cambria Math" panose="02040503050406030204" pitchFamily="18" charset="0"/>
                                  </a:rPr>
                                  <m:t>,</m:t>
                                </m:r>
                                <m:r>
                                  <a:rPr lang="es-MX" sz="1800" b="0" i="1" smtClean="0">
                                    <a:latin typeface="Cambria Math" panose="02040503050406030204" pitchFamily="18" charset="0"/>
                                  </a:rPr>
                                  <m:t>𝑣𝑒𝑟𝑑𝑒</m:t>
                                </m:r>
                              </m:e>
                            </m:d>
                            <m:r>
                              <a:rPr lang="es-MX" sz="1800" b="0" i="1" smtClean="0">
                                <a:latin typeface="Cambria Math" panose="02040503050406030204" pitchFamily="18" charset="0"/>
                              </a:rPr>
                              <m:t>,</m:t>
                            </m:r>
                            <m:d>
                              <m:dPr>
                                <m:ctrlPr>
                                  <a:rPr lang="es-MX" sz="1800" i="1">
                                    <a:latin typeface="Cambria Math" panose="02040503050406030204" pitchFamily="18" charset="0"/>
                                  </a:rPr>
                                </m:ctrlPr>
                              </m:dPr>
                              <m:e>
                                <m:r>
                                  <a:rPr lang="es-MX" sz="1800" i="1">
                                    <a:latin typeface="Cambria Math" panose="02040503050406030204" pitchFamily="18" charset="0"/>
                                  </a:rPr>
                                  <m:t>𝑟𝑜𝑗𝑜</m:t>
                                </m:r>
                                <m:r>
                                  <a:rPr lang="es-MX" sz="1800" i="1">
                                    <a:latin typeface="Cambria Math" panose="02040503050406030204" pitchFamily="18" charset="0"/>
                                  </a:rPr>
                                  <m:t>,</m:t>
                                </m:r>
                                <m:r>
                                  <a:rPr lang="es-MX" sz="1800" i="1">
                                    <a:latin typeface="Cambria Math" panose="02040503050406030204" pitchFamily="18" charset="0"/>
                                  </a:rPr>
                                  <m:t>𝑚𝑜𝑟𝑎𝑑𝑜</m:t>
                                </m:r>
                              </m:e>
                            </m:d>
                            <m:r>
                              <a:rPr lang="es-MX" sz="1800" i="1">
                                <a:latin typeface="Cambria Math" panose="02040503050406030204" pitchFamily="18" charset="0"/>
                              </a:rPr>
                              <m:t>,</m:t>
                            </m:r>
                            <m:d>
                              <m:dPr>
                                <m:ctrlPr>
                                  <a:rPr lang="es-MX" sz="1800" i="1">
                                    <a:latin typeface="Cambria Math" panose="02040503050406030204" pitchFamily="18" charset="0"/>
                                  </a:rPr>
                                </m:ctrlPr>
                              </m:dPr>
                              <m:e>
                                <m:r>
                                  <a:rPr lang="es-MX" sz="1800" i="1">
                                    <a:latin typeface="Cambria Math" panose="02040503050406030204" pitchFamily="18" charset="0"/>
                                  </a:rPr>
                                  <m:t>𝑟𝑜𝑗𝑜</m:t>
                                </m:r>
                                <m:r>
                                  <a:rPr lang="es-MX" sz="1800" i="1">
                                    <a:latin typeface="Cambria Math" panose="02040503050406030204" pitchFamily="18" charset="0"/>
                                  </a:rPr>
                                  <m:t>,</m:t>
                                </m:r>
                                <m:r>
                                  <a:rPr lang="es-MX" sz="1800" i="1">
                                    <a:latin typeface="Cambria Math" panose="02040503050406030204" pitchFamily="18" charset="0"/>
                                  </a:rPr>
                                  <m:t>𝑛𝑎𝑟𝑎𝑛𝑗𝑎</m:t>
                                </m:r>
                              </m:e>
                            </m:d>
                            <m:r>
                              <a:rPr lang="es-MX" sz="1800" i="1">
                                <a:latin typeface="Cambria Math" panose="02040503050406030204" pitchFamily="18" charset="0"/>
                              </a:rPr>
                              <m:t>,</m:t>
                            </m:r>
                          </m:e>
                          <m:e>
                            <m:d>
                              <m:dPr>
                                <m:ctrlPr>
                                  <a:rPr lang="es-MX" sz="1800" i="1">
                                    <a:latin typeface="Cambria Math" panose="02040503050406030204" pitchFamily="18" charset="0"/>
                                  </a:rPr>
                                </m:ctrlPr>
                              </m:dPr>
                              <m:e>
                                <m:r>
                                  <a:rPr lang="es-MX" sz="1800" i="1">
                                    <a:latin typeface="Cambria Math" panose="02040503050406030204" pitchFamily="18" charset="0"/>
                                  </a:rPr>
                                  <m:t>𝑎𝑚𝑎𝑟𝑖𝑙𝑙𝑜</m:t>
                                </m:r>
                                <m:r>
                                  <a:rPr lang="es-MX" sz="1800" i="1">
                                    <a:latin typeface="Cambria Math" panose="02040503050406030204" pitchFamily="18" charset="0"/>
                                  </a:rPr>
                                  <m:t>,</m:t>
                                </m:r>
                                <m:r>
                                  <a:rPr lang="es-MX" sz="1800" i="1">
                                    <a:latin typeface="Cambria Math" panose="02040503050406030204" pitchFamily="18" charset="0"/>
                                  </a:rPr>
                                  <m:t>𝑣𝑒𝑟𝑑𝑒</m:t>
                                </m:r>
                              </m:e>
                            </m:d>
                            <m:r>
                              <a:rPr lang="es-MX" sz="1800" b="0" i="1" smtClean="0">
                                <a:latin typeface="Cambria Math" panose="02040503050406030204" pitchFamily="18" charset="0"/>
                              </a:rPr>
                              <m:t>,</m:t>
                            </m:r>
                            <m:d>
                              <m:dPr>
                                <m:ctrlPr>
                                  <a:rPr lang="es-MX" sz="1800" i="1">
                                    <a:latin typeface="Cambria Math" panose="02040503050406030204" pitchFamily="18" charset="0"/>
                                  </a:rPr>
                                </m:ctrlPr>
                              </m:dPr>
                              <m:e>
                                <m:r>
                                  <a:rPr lang="es-MX" sz="1800" i="1">
                                    <a:latin typeface="Cambria Math" panose="02040503050406030204" pitchFamily="18" charset="0"/>
                                  </a:rPr>
                                  <m:t>𝑎𝑚𝑎𝑟𝑖𝑙𝑙𝑜</m:t>
                                </m:r>
                                <m:r>
                                  <a:rPr lang="es-MX" sz="1800" i="1">
                                    <a:latin typeface="Cambria Math" panose="02040503050406030204" pitchFamily="18" charset="0"/>
                                  </a:rPr>
                                  <m:t>,</m:t>
                                </m:r>
                                <m:r>
                                  <a:rPr lang="es-MX" sz="1800" b="0" i="1" smtClean="0">
                                    <a:latin typeface="Cambria Math" panose="02040503050406030204" pitchFamily="18" charset="0"/>
                                  </a:rPr>
                                  <m:t>𝑚𝑜𝑟𝑎𝑑𝑜</m:t>
                                </m:r>
                              </m:e>
                            </m:d>
                            <m:r>
                              <a:rPr lang="es-MX" sz="1800" i="1">
                                <a:latin typeface="Cambria Math" panose="02040503050406030204" pitchFamily="18" charset="0"/>
                              </a:rPr>
                              <m:t>,</m:t>
                            </m:r>
                            <m:d>
                              <m:dPr>
                                <m:ctrlPr>
                                  <a:rPr lang="es-MX" sz="1800" i="1">
                                    <a:latin typeface="Cambria Math" panose="02040503050406030204" pitchFamily="18" charset="0"/>
                                  </a:rPr>
                                </m:ctrlPr>
                              </m:dPr>
                              <m:e>
                                <m:r>
                                  <a:rPr lang="es-MX" sz="1800" i="1">
                                    <a:latin typeface="Cambria Math" panose="02040503050406030204" pitchFamily="18" charset="0"/>
                                  </a:rPr>
                                  <m:t>𝑎𝑚𝑎𝑟𝑖𝑙𝑙𝑜</m:t>
                                </m:r>
                                <m:r>
                                  <a:rPr lang="es-MX" sz="1800" i="1">
                                    <a:latin typeface="Cambria Math" panose="02040503050406030204" pitchFamily="18" charset="0"/>
                                  </a:rPr>
                                  <m:t>,</m:t>
                                </m:r>
                                <m:r>
                                  <a:rPr lang="es-MX" sz="1800" i="1">
                                    <a:latin typeface="Cambria Math" panose="02040503050406030204" pitchFamily="18" charset="0"/>
                                  </a:rPr>
                                  <m:t>𝑛𝑎𝑟𝑎𝑛𝑗𝑎</m:t>
                                </m:r>
                              </m:e>
                            </m:d>
                          </m:e>
                        </m:eqArr>
                      </m:e>
                    </m:d>
                  </m:oMath>
                </a14:m>
                <a:endParaRPr lang="es-MX" sz="1800" b="0" dirty="0">
                  <a:solidFill>
                    <a:schemeClr val="tx1"/>
                  </a:solidFill>
                  <a:ea typeface="Roboto" panose="02000000000000000000" pitchFamily="2" charset="0"/>
                </a:endParaRPr>
              </a:p>
              <a:p>
                <a:endParaRPr lang="es-MX" sz="1800" dirty="0">
                  <a:solidFill>
                    <a:schemeClr val="tx1"/>
                  </a:solidFill>
                  <a:ea typeface="Roboto" panose="02000000000000000000" pitchFamily="2" charset="0"/>
                </a:endParaRPr>
              </a:p>
              <a:p>
                <a:r>
                  <a:rPr lang="es-MX" sz="1800" dirty="0">
                    <a:solidFill>
                      <a:schemeClr val="tx1"/>
                    </a:solidFill>
                    <a:ea typeface="Roboto" panose="02000000000000000000" pitchFamily="2" charset="0"/>
                  </a:rPr>
                  <a:t>Al definir la </a:t>
                </a:r>
                <a:r>
                  <a:rPr lang="es-MX" dirty="0">
                    <a:ea typeface="Roboto" panose="02000000000000000000" pitchFamily="2" charset="0"/>
                  </a:rPr>
                  <a:t>propiedad</a:t>
                </a:r>
                <a:r>
                  <a:rPr lang="es-MX" sz="1800" dirty="0">
                    <a:solidFill>
                      <a:schemeClr val="tx1"/>
                    </a:solidFill>
                    <a:ea typeface="Roboto" panose="02000000000000000000" pitchFamily="2" charset="0"/>
                  </a:rPr>
                  <a:t> </a:t>
                </a:r>
                <a14:m>
                  <m:oMath xmlns:m="http://schemas.openxmlformats.org/officeDocument/2006/math">
                    <m:r>
                      <a:rPr lang="es-MX" sz="1800" b="1" i="1" smtClean="0">
                        <a:solidFill>
                          <a:schemeClr val="tx1"/>
                        </a:solidFill>
                        <a:latin typeface="Cambria Math" panose="02040503050406030204" pitchFamily="18" charset="0"/>
                        <a:ea typeface="Roboto" panose="02000000000000000000" pitchFamily="2" charset="0"/>
                      </a:rPr>
                      <m:t>𝑷</m:t>
                    </m:r>
                    <m:d>
                      <m:dPr>
                        <m:ctrlPr>
                          <a:rPr lang="es-MX" sz="1800" b="1" i="1" smtClean="0">
                            <a:solidFill>
                              <a:schemeClr val="tx1"/>
                            </a:solidFill>
                            <a:latin typeface="Cambria Math" panose="02040503050406030204" pitchFamily="18" charset="0"/>
                            <a:ea typeface="Roboto" panose="02000000000000000000" pitchFamily="2" charset="0"/>
                          </a:rPr>
                        </m:ctrlPr>
                      </m:dPr>
                      <m:e>
                        <m:r>
                          <a:rPr lang="es-MX" sz="1800" b="1" i="1" smtClean="0">
                            <a:solidFill>
                              <a:schemeClr val="tx1"/>
                            </a:solidFill>
                            <a:latin typeface="Cambria Math" panose="02040503050406030204" pitchFamily="18" charset="0"/>
                            <a:ea typeface="Roboto" panose="02000000000000000000" pitchFamily="2" charset="0"/>
                          </a:rPr>
                          <m:t>𝒙</m:t>
                        </m:r>
                        <m:r>
                          <a:rPr lang="es-MX" sz="1800" b="1" i="1" smtClean="0">
                            <a:solidFill>
                              <a:schemeClr val="tx1"/>
                            </a:solidFill>
                            <a:latin typeface="Cambria Math" panose="02040503050406030204" pitchFamily="18" charset="0"/>
                            <a:ea typeface="Roboto" panose="02000000000000000000" pitchFamily="2" charset="0"/>
                          </a:rPr>
                          <m:t>,</m:t>
                        </m:r>
                        <m:r>
                          <a:rPr lang="es-MX" sz="1800" b="1" i="1" smtClean="0">
                            <a:solidFill>
                              <a:schemeClr val="tx1"/>
                            </a:solidFill>
                            <a:latin typeface="Cambria Math" panose="02040503050406030204" pitchFamily="18" charset="0"/>
                            <a:ea typeface="Roboto" panose="02000000000000000000" pitchFamily="2" charset="0"/>
                          </a:rPr>
                          <m:t>𝒚</m:t>
                        </m:r>
                      </m:e>
                    </m:d>
                    <m:r>
                      <a:rPr lang="es-MX" sz="1800" b="1" i="1" smtClean="0">
                        <a:solidFill>
                          <a:schemeClr val="tx1"/>
                        </a:solidFill>
                        <a:latin typeface="Cambria Math" panose="02040503050406030204" pitchFamily="18" charset="0"/>
                        <a:ea typeface="Roboto" panose="02000000000000000000" pitchFamily="2" charset="0"/>
                      </a:rPr>
                      <m:t>:</m:t>
                    </m:r>
                    <m:r>
                      <a:rPr lang="es-MX" sz="1800" b="1" i="1" smtClean="0">
                        <a:solidFill>
                          <a:schemeClr val="tx1"/>
                        </a:solidFill>
                        <a:latin typeface="Cambria Math" panose="02040503050406030204" pitchFamily="18" charset="0"/>
                        <a:ea typeface="Roboto" panose="02000000000000000000" pitchFamily="2" charset="0"/>
                      </a:rPr>
                      <m:t>𝒙</m:t>
                    </m:r>
                    <m:r>
                      <a:rPr lang="es-MX" sz="1800" b="1" i="1" smtClean="0">
                        <a:solidFill>
                          <a:schemeClr val="tx1"/>
                        </a:solidFill>
                        <a:latin typeface="Cambria Math" panose="02040503050406030204" pitchFamily="18" charset="0"/>
                        <a:ea typeface="Roboto" panose="02000000000000000000" pitchFamily="2" charset="0"/>
                      </a:rPr>
                      <m:t> </m:t>
                    </m:r>
                    <m:r>
                      <a:rPr lang="es-MX" sz="1800" b="1" i="0" smtClean="0">
                        <a:solidFill>
                          <a:schemeClr val="tx1"/>
                        </a:solidFill>
                        <a:latin typeface="Cambria Math" panose="02040503050406030204" pitchFamily="18" charset="0"/>
                        <a:ea typeface="Roboto" panose="02000000000000000000" pitchFamily="2" charset="0"/>
                      </a:rPr>
                      <m:t>𝐞𝐬</m:t>
                    </m:r>
                    <m:r>
                      <a:rPr lang="es-MX" sz="1800" b="1" i="0" smtClean="0">
                        <a:solidFill>
                          <a:schemeClr val="tx1"/>
                        </a:solidFill>
                        <a:latin typeface="Cambria Math" panose="02040503050406030204" pitchFamily="18" charset="0"/>
                        <a:ea typeface="Roboto" panose="02000000000000000000" pitchFamily="2" charset="0"/>
                      </a:rPr>
                      <m:t> </m:t>
                    </m:r>
                    <m:r>
                      <a:rPr lang="es-MX" sz="1800" b="1" i="0" smtClean="0">
                        <a:solidFill>
                          <a:schemeClr val="tx1"/>
                        </a:solidFill>
                        <a:latin typeface="Cambria Math" panose="02040503050406030204" pitchFamily="18" charset="0"/>
                        <a:ea typeface="Roboto" panose="02000000000000000000" pitchFamily="2" charset="0"/>
                      </a:rPr>
                      <m:t>𝐮𝐧</m:t>
                    </m:r>
                    <m:r>
                      <a:rPr lang="es-MX" sz="1800" b="1" i="0" smtClean="0">
                        <a:solidFill>
                          <a:schemeClr val="tx1"/>
                        </a:solidFill>
                        <a:latin typeface="Cambria Math" panose="02040503050406030204" pitchFamily="18" charset="0"/>
                        <a:ea typeface="Roboto" panose="02000000000000000000" pitchFamily="2" charset="0"/>
                      </a:rPr>
                      <m:t> </m:t>
                    </m:r>
                    <m:r>
                      <a:rPr lang="es-MX" sz="1800" b="1" i="0" smtClean="0">
                        <a:solidFill>
                          <a:schemeClr val="tx1"/>
                        </a:solidFill>
                        <a:latin typeface="Cambria Math" panose="02040503050406030204" pitchFamily="18" charset="0"/>
                        <a:ea typeface="Roboto" panose="02000000000000000000" pitchFamily="2" charset="0"/>
                      </a:rPr>
                      <m:t>𝐜𝐨𝐦𝐩𝐨𝐧𝐞𝐧𝐭𝐞</m:t>
                    </m:r>
                    <m:r>
                      <a:rPr lang="es-MX" sz="1800" b="1" i="0" smtClean="0">
                        <a:solidFill>
                          <a:schemeClr val="tx1"/>
                        </a:solidFill>
                        <a:latin typeface="Cambria Math" panose="02040503050406030204" pitchFamily="18" charset="0"/>
                        <a:ea typeface="Roboto" panose="02000000000000000000" pitchFamily="2" charset="0"/>
                      </a:rPr>
                      <m:t> </m:t>
                    </m:r>
                    <m:r>
                      <a:rPr lang="es-MX" sz="1800" b="1" i="0" smtClean="0">
                        <a:solidFill>
                          <a:schemeClr val="tx1"/>
                        </a:solidFill>
                        <a:latin typeface="Cambria Math" panose="02040503050406030204" pitchFamily="18" charset="0"/>
                        <a:ea typeface="Roboto" panose="02000000000000000000" pitchFamily="2" charset="0"/>
                      </a:rPr>
                      <m:t>𝐝𝐞</m:t>
                    </m:r>
                    <m:r>
                      <a:rPr lang="es-MX" sz="1800" b="1" i="0" smtClean="0">
                        <a:solidFill>
                          <a:schemeClr val="tx1"/>
                        </a:solidFill>
                        <a:latin typeface="Cambria Math" panose="02040503050406030204" pitchFamily="18" charset="0"/>
                        <a:ea typeface="Roboto" panose="02000000000000000000" pitchFamily="2" charset="0"/>
                      </a:rPr>
                      <m:t> </m:t>
                    </m:r>
                    <m:r>
                      <a:rPr lang="es-MX" sz="1800" b="1" i="1" smtClean="0">
                        <a:solidFill>
                          <a:schemeClr val="tx1"/>
                        </a:solidFill>
                        <a:latin typeface="Cambria Math" panose="02040503050406030204" pitchFamily="18" charset="0"/>
                        <a:ea typeface="Roboto" panose="02000000000000000000" pitchFamily="2" charset="0"/>
                      </a:rPr>
                      <m:t>𝒚</m:t>
                    </m:r>
                  </m:oMath>
                </a14:m>
                <a:r>
                  <a:rPr lang="es-MX" sz="1800" dirty="0">
                    <a:solidFill>
                      <a:schemeClr val="tx1"/>
                    </a:solidFill>
                    <a:ea typeface="Roboto" panose="02000000000000000000" pitchFamily="2" charset="0"/>
                  </a:rPr>
                  <a:t> tenemos que la relación </a:t>
                </a:r>
                <a14:m>
                  <m:oMath xmlns:m="http://schemas.openxmlformats.org/officeDocument/2006/math">
                    <m:r>
                      <a:rPr lang="es-MX" sz="1800" b="1" i="1" smtClean="0">
                        <a:solidFill>
                          <a:schemeClr val="tx1"/>
                        </a:solidFill>
                        <a:latin typeface="Cambria Math" panose="02040503050406030204" pitchFamily="18" charset="0"/>
                        <a:ea typeface="Roboto" panose="02000000000000000000" pitchFamily="2" charset="0"/>
                      </a:rPr>
                      <m:t>𝑹</m:t>
                    </m:r>
                    <m:d>
                      <m:dPr>
                        <m:ctrlPr>
                          <a:rPr lang="es-MX" sz="1800" b="1" i="1">
                            <a:solidFill>
                              <a:schemeClr val="tx1"/>
                            </a:solidFill>
                            <a:latin typeface="Cambria Math" panose="02040503050406030204" pitchFamily="18" charset="0"/>
                            <a:ea typeface="Roboto" panose="02000000000000000000" pitchFamily="2" charset="0"/>
                          </a:rPr>
                        </m:ctrlPr>
                      </m:dPr>
                      <m:e>
                        <m:r>
                          <a:rPr lang="es-MX" sz="1800" b="1" i="1">
                            <a:solidFill>
                              <a:schemeClr val="tx1"/>
                            </a:solidFill>
                            <a:latin typeface="Cambria Math" panose="02040503050406030204" pitchFamily="18" charset="0"/>
                            <a:ea typeface="Roboto" panose="02000000000000000000" pitchFamily="2" charset="0"/>
                          </a:rPr>
                          <m:t>𝒙</m:t>
                        </m:r>
                        <m:r>
                          <a:rPr lang="es-MX" sz="1800" b="1" i="1">
                            <a:solidFill>
                              <a:schemeClr val="tx1"/>
                            </a:solidFill>
                            <a:latin typeface="Cambria Math" panose="02040503050406030204" pitchFamily="18" charset="0"/>
                            <a:ea typeface="Roboto" panose="02000000000000000000" pitchFamily="2" charset="0"/>
                          </a:rPr>
                          <m:t>,</m:t>
                        </m:r>
                        <m:r>
                          <a:rPr lang="es-MX" sz="1800" b="1" i="1">
                            <a:solidFill>
                              <a:schemeClr val="tx1"/>
                            </a:solidFill>
                            <a:latin typeface="Cambria Math" panose="02040503050406030204" pitchFamily="18" charset="0"/>
                            <a:ea typeface="Roboto" panose="02000000000000000000" pitchFamily="2" charset="0"/>
                          </a:rPr>
                          <m:t>𝒚</m:t>
                        </m:r>
                      </m:e>
                    </m:d>
                    <m:r>
                      <a:rPr lang="es-MX" sz="1800" i="1">
                        <a:solidFill>
                          <a:schemeClr val="tx1"/>
                        </a:solidFill>
                        <a:latin typeface="Cambria Math" panose="02040503050406030204" pitchFamily="18" charset="0"/>
                        <a:ea typeface="Roboto" panose="02000000000000000000" pitchFamily="2" charset="0"/>
                      </a:rPr>
                      <m:t> </m:t>
                    </m:r>
                  </m:oMath>
                </a14:m>
                <a:r>
                  <a:rPr lang="es-MX" sz="1800" dirty="0">
                    <a:solidFill>
                      <a:schemeClr val="tx1"/>
                    </a:solidFill>
                    <a:ea typeface="Roboto" panose="02000000000000000000" pitchFamily="2" charset="0"/>
                  </a:rPr>
                  <a:t>se puede representar como:</a:t>
                </a:r>
              </a:p>
              <a:p>
                <a:endParaRPr lang="es-MX" sz="1800" b="0" dirty="0">
                  <a:solidFill>
                    <a:schemeClr val="tx1"/>
                  </a:solidFill>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800" i="1">
                          <a:latin typeface="Cambria Math" panose="02040503050406030204" pitchFamily="18" charset="0"/>
                        </a:rPr>
                        <m:t>𝑅</m:t>
                      </m:r>
                      <m:r>
                        <a:rPr lang="es-MX" sz="1800" i="1">
                          <a:latin typeface="Cambria Math" panose="02040503050406030204" pitchFamily="18" charset="0"/>
                        </a:rPr>
                        <m:t>=</m:t>
                      </m:r>
                      <m:d>
                        <m:dPr>
                          <m:begChr m:val="{"/>
                          <m:endChr m:val="}"/>
                          <m:ctrlPr>
                            <a:rPr lang="es-MX" sz="1800" i="1">
                              <a:latin typeface="Cambria Math" panose="02040503050406030204" pitchFamily="18" charset="0"/>
                            </a:rPr>
                          </m:ctrlPr>
                        </m:dPr>
                        <m:e>
                          <m:eqArr>
                            <m:eqArrPr>
                              <m:ctrlPr>
                                <a:rPr lang="es-MX" sz="1800" i="1">
                                  <a:latin typeface="Cambria Math" panose="02040503050406030204" pitchFamily="18" charset="0"/>
                                </a:rPr>
                              </m:ctrlPr>
                            </m:eqArrPr>
                            <m:e>
                              <m:d>
                                <m:dPr>
                                  <m:ctrlPr>
                                    <a:rPr lang="es-MX" sz="1800" i="1">
                                      <a:latin typeface="Cambria Math" panose="02040503050406030204" pitchFamily="18" charset="0"/>
                                    </a:rPr>
                                  </m:ctrlPr>
                                </m:dPr>
                                <m:e>
                                  <m:r>
                                    <a:rPr lang="es-MX" sz="1800" i="1">
                                      <a:latin typeface="Cambria Math" panose="02040503050406030204" pitchFamily="18" charset="0"/>
                                    </a:rPr>
                                    <m:t>𝑎𝑧𝑢𝑙</m:t>
                                  </m:r>
                                  <m:r>
                                    <a:rPr lang="es-MX" sz="1800" i="1">
                                      <a:latin typeface="Cambria Math" panose="02040503050406030204" pitchFamily="18" charset="0"/>
                                    </a:rPr>
                                    <m:t>,</m:t>
                                  </m:r>
                                  <m:r>
                                    <a:rPr lang="es-MX" sz="1800" i="1">
                                      <a:latin typeface="Cambria Math" panose="02040503050406030204" pitchFamily="18" charset="0"/>
                                    </a:rPr>
                                    <m:t>𝑣𝑒𝑟𝑑𝑒</m:t>
                                  </m:r>
                                </m:e>
                              </m:d>
                              <m:r>
                                <a:rPr lang="es-MX" sz="1800" i="1">
                                  <a:latin typeface="Cambria Math" panose="02040503050406030204" pitchFamily="18" charset="0"/>
                                </a:rPr>
                                <m:t>,</m:t>
                              </m:r>
                              <m:d>
                                <m:dPr>
                                  <m:ctrlPr>
                                    <a:rPr lang="es-MX" sz="1800" i="1">
                                      <a:latin typeface="Cambria Math" panose="02040503050406030204" pitchFamily="18" charset="0"/>
                                    </a:rPr>
                                  </m:ctrlPr>
                                </m:dPr>
                                <m:e>
                                  <m:r>
                                    <a:rPr lang="es-MX" sz="1800" i="1">
                                      <a:latin typeface="Cambria Math" panose="02040503050406030204" pitchFamily="18" charset="0"/>
                                    </a:rPr>
                                    <m:t>𝑎𝑧𝑢𝑙</m:t>
                                  </m:r>
                                  <m:r>
                                    <a:rPr lang="es-MX" sz="1800" i="1">
                                      <a:latin typeface="Cambria Math" panose="02040503050406030204" pitchFamily="18" charset="0"/>
                                    </a:rPr>
                                    <m:t>,</m:t>
                                  </m:r>
                                  <m:r>
                                    <a:rPr lang="es-MX" sz="1800" i="1">
                                      <a:latin typeface="Cambria Math" panose="02040503050406030204" pitchFamily="18" charset="0"/>
                                    </a:rPr>
                                    <m:t>𝑚𝑜𝑟𝑎𝑑𝑜</m:t>
                                  </m:r>
                                </m:e>
                              </m:d>
                              <m:r>
                                <a:rPr lang="es-MX" sz="1800" i="1">
                                  <a:latin typeface="Cambria Math" panose="02040503050406030204" pitchFamily="18" charset="0"/>
                                </a:rPr>
                                <m:t>,</m:t>
                              </m:r>
                            </m:e>
                            <m:e>
                              <m:eqArr>
                                <m:eqArrPr>
                                  <m:ctrlPr>
                                    <a:rPr lang="es-MX" sz="1800" i="1">
                                      <a:latin typeface="Cambria Math" panose="02040503050406030204" pitchFamily="18" charset="0"/>
                                    </a:rPr>
                                  </m:ctrlPr>
                                </m:eqArrPr>
                                <m:e>
                                  <m:d>
                                    <m:dPr>
                                      <m:ctrlPr>
                                        <a:rPr lang="es-MX" sz="1800" i="1">
                                          <a:latin typeface="Cambria Math" panose="02040503050406030204" pitchFamily="18" charset="0"/>
                                        </a:rPr>
                                      </m:ctrlPr>
                                    </m:dPr>
                                    <m:e>
                                      <m:r>
                                        <a:rPr lang="es-MX" sz="1800" i="1">
                                          <a:latin typeface="Cambria Math" panose="02040503050406030204" pitchFamily="18" charset="0"/>
                                        </a:rPr>
                                        <m:t>𝑟𝑜𝑗𝑜</m:t>
                                      </m:r>
                                      <m:r>
                                        <a:rPr lang="es-MX" sz="1800" i="1">
                                          <a:latin typeface="Cambria Math" panose="02040503050406030204" pitchFamily="18" charset="0"/>
                                        </a:rPr>
                                        <m:t>,</m:t>
                                      </m:r>
                                      <m:r>
                                        <a:rPr lang="es-MX" sz="1800" i="1">
                                          <a:latin typeface="Cambria Math" panose="02040503050406030204" pitchFamily="18" charset="0"/>
                                        </a:rPr>
                                        <m:t>𝑚𝑜𝑟𝑎𝑑𝑜</m:t>
                                      </m:r>
                                    </m:e>
                                  </m:d>
                                  <m:r>
                                    <a:rPr lang="es-MX" sz="1800" i="1">
                                      <a:latin typeface="Cambria Math" panose="02040503050406030204" pitchFamily="18" charset="0"/>
                                    </a:rPr>
                                    <m:t>,</m:t>
                                  </m:r>
                                  <m:d>
                                    <m:dPr>
                                      <m:ctrlPr>
                                        <a:rPr lang="es-MX" sz="1800" i="1">
                                          <a:latin typeface="Cambria Math" panose="02040503050406030204" pitchFamily="18" charset="0"/>
                                        </a:rPr>
                                      </m:ctrlPr>
                                    </m:dPr>
                                    <m:e>
                                      <m:r>
                                        <a:rPr lang="es-MX" sz="1800" i="1">
                                          <a:latin typeface="Cambria Math" panose="02040503050406030204" pitchFamily="18" charset="0"/>
                                        </a:rPr>
                                        <m:t>𝑟𝑜𝑗𝑜</m:t>
                                      </m:r>
                                      <m:r>
                                        <a:rPr lang="es-MX" sz="1800" i="1">
                                          <a:latin typeface="Cambria Math" panose="02040503050406030204" pitchFamily="18" charset="0"/>
                                        </a:rPr>
                                        <m:t>,</m:t>
                                      </m:r>
                                      <m:r>
                                        <a:rPr lang="es-MX" sz="1800" i="1">
                                          <a:latin typeface="Cambria Math" panose="02040503050406030204" pitchFamily="18" charset="0"/>
                                        </a:rPr>
                                        <m:t>𝑛𝑎𝑟𝑎𝑛𝑗𝑎</m:t>
                                      </m:r>
                                    </m:e>
                                  </m:d>
                                  <m:r>
                                    <a:rPr lang="es-MX" sz="1800" i="1">
                                      <a:latin typeface="Cambria Math" panose="02040503050406030204" pitchFamily="18" charset="0"/>
                                    </a:rPr>
                                    <m:t>,</m:t>
                                  </m:r>
                                </m:e>
                                <m:e>
                                  <m:d>
                                    <m:dPr>
                                      <m:ctrlPr>
                                        <a:rPr lang="es-MX" sz="1800" i="1">
                                          <a:latin typeface="Cambria Math" panose="02040503050406030204" pitchFamily="18" charset="0"/>
                                        </a:rPr>
                                      </m:ctrlPr>
                                    </m:dPr>
                                    <m:e>
                                      <m:r>
                                        <a:rPr lang="es-MX" sz="1800" i="1">
                                          <a:latin typeface="Cambria Math" panose="02040503050406030204" pitchFamily="18" charset="0"/>
                                        </a:rPr>
                                        <m:t>𝑎𝑚𝑎𝑟𝑖𝑙𝑙𝑜</m:t>
                                      </m:r>
                                      <m:r>
                                        <a:rPr lang="es-MX" sz="1800" i="1">
                                          <a:latin typeface="Cambria Math" panose="02040503050406030204" pitchFamily="18" charset="0"/>
                                        </a:rPr>
                                        <m:t>,</m:t>
                                      </m:r>
                                      <m:r>
                                        <a:rPr lang="es-MX" sz="1800" i="1">
                                          <a:latin typeface="Cambria Math" panose="02040503050406030204" pitchFamily="18" charset="0"/>
                                        </a:rPr>
                                        <m:t>𝑣𝑒𝑟𝑑𝑒</m:t>
                                      </m:r>
                                    </m:e>
                                  </m:d>
                                  <m:r>
                                    <a:rPr lang="es-MX" sz="1800" i="1">
                                      <a:latin typeface="Cambria Math" panose="02040503050406030204" pitchFamily="18" charset="0"/>
                                    </a:rPr>
                                    <m:t>,</m:t>
                                  </m:r>
                                  <m:d>
                                    <m:dPr>
                                      <m:ctrlPr>
                                        <a:rPr lang="es-MX" sz="1800" i="1">
                                          <a:latin typeface="Cambria Math" panose="02040503050406030204" pitchFamily="18" charset="0"/>
                                        </a:rPr>
                                      </m:ctrlPr>
                                    </m:dPr>
                                    <m:e>
                                      <m:r>
                                        <a:rPr lang="es-MX" sz="1800" i="1">
                                          <a:latin typeface="Cambria Math" panose="02040503050406030204" pitchFamily="18" charset="0"/>
                                        </a:rPr>
                                        <m:t>𝑎𝑚𝑎𝑟𝑖𝑙𝑙𝑜</m:t>
                                      </m:r>
                                      <m:r>
                                        <a:rPr lang="es-MX" sz="1800" i="1">
                                          <a:latin typeface="Cambria Math" panose="02040503050406030204" pitchFamily="18" charset="0"/>
                                        </a:rPr>
                                        <m:t>,</m:t>
                                      </m:r>
                                      <m:r>
                                        <a:rPr lang="es-MX" sz="1800" i="1">
                                          <a:latin typeface="Cambria Math" panose="02040503050406030204" pitchFamily="18" charset="0"/>
                                        </a:rPr>
                                        <m:t>𝑛𝑎𝑟𝑎𝑛𝑗𝑎</m:t>
                                      </m:r>
                                    </m:e>
                                  </m:d>
                                </m:e>
                              </m:eqArr>
                            </m:e>
                          </m:eqArr>
                        </m:e>
                      </m:d>
                    </m:oMath>
                  </m:oMathPara>
                </a14:m>
                <a:endParaRPr lang="es-CO" sz="1800" dirty="0">
                  <a:solidFill>
                    <a:schemeClr val="tx1"/>
                  </a:solidFill>
                  <a:ea typeface="Roboto" panose="02000000000000000000" pitchFamily="2" charset="0"/>
                </a:endParaRPr>
              </a:p>
            </p:txBody>
          </p:sp>
        </mc:Choice>
        <mc:Fallback>
          <p:sp>
            <p:nvSpPr>
              <p:cNvPr id="70" name="CuadroTexto 69">
                <a:extLst>
                  <a:ext uri="{FF2B5EF4-FFF2-40B4-BE49-F238E27FC236}">
                    <a16:creationId xmlns:a16="http://schemas.microsoft.com/office/drawing/2014/main" id="{548E2D51-F173-41C7-9022-D5EC2B06616B}"/>
                  </a:ext>
                </a:extLst>
              </p:cNvPr>
              <p:cNvSpPr txBox="1">
                <a:spLocks noRot="1" noChangeAspect="1" noMove="1" noResize="1" noEditPoints="1" noAdjustHandles="1" noChangeArrowheads="1" noChangeShapeType="1" noTextEdit="1"/>
              </p:cNvSpPr>
              <p:nvPr/>
            </p:nvSpPr>
            <p:spPr>
              <a:xfrm>
                <a:off x="4267315" y="2713048"/>
                <a:ext cx="7898344" cy="3245889"/>
              </a:xfrm>
              <a:prstGeom prst="rect">
                <a:avLst/>
              </a:prstGeom>
              <a:blipFill>
                <a:blip r:embed="rId12"/>
                <a:stretch>
                  <a:fillRect l="-617"/>
                </a:stretch>
              </a:blipFill>
            </p:spPr>
            <p:txBody>
              <a:bodyPr/>
              <a:lstStyle/>
              <a:p>
                <a:r>
                  <a:rPr lang="es-CO">
                    <a:noFill/>
                  </a:rPr>
                  <a:t> </a:t>
                </a:r>
              </a:p>
            </p:txBody>
          </p:sp>
        </mc:Fallback>
      </mc:AlternateContent>
    </p:spTree>
    <p:extLst>
      <p:ext uri="{BB962C8B-B14F-4D97-AF65-F5344CB8AC3E}">
        <p14:creationId xmlns:p14="http://schemas.microsoft.com/office/powerpoint/2010/main" val="4132676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09733" y="96038"/>
            <a:ext cx="881091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09732" y="750087"/>
            <a:ext cx="10008886"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a:t>
            </a:r>
            <a:r>
              <a:rPr lang="es-MX" b="1" dirty="0">
                <a:solidFill>
                  <a:schemeClr val="tx1"/>
                </a:solidFill>
              </a:rPr>
              <a:t> 2</a:t>
            </a:r>
            <a:endParaRPr lang="es-MX" dirty="0">
              <a:solidFill>
                <a:schemeClr val="tx1"/>
              </a:solidFill>
            </a:endParaRPr>
          </a:p>
          <a:p>
            <a:pPr marL="0" indent="0">
              <a:buFont typeface="Roboto"/>
              <a:buNone/>
            </a:pPr>
            <a:endParaRPr lang="es-MX" sz="2400" dirty="0">
              <a:solidFill>
                <a:schemeClr val="tx1"/>
              </a:solidFill>
            </a:endParaRPr>
          </a:p>
          <a:p>
            <a:pPr indent="0">
              <a:buFont typeface="Roboto"/>
              <a:buNone/>
            </a:pPr>
            <a:endParaRPr lang="es-MX" sz="2400" dirty="0">
              <a:solidFill>
                <a:schemeClr val="tx1"/>
              </a:solidFill>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45473" y="1259914"/>
                <a:ext cx="5582361" cy="42796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Sea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={0,1,2}</m:t>
                    </m:r>
                  </m:oMath>
                </a14:m>
                <a:r>
                  <a:rPr lang="es-MX" sz="2000" dirty="0">
                    <a:latin typeface="+mn-lt"/>
                    <a:ea typeface="Roboto" panose="02000000000000000000" pitchFamily="2" charset="0"/>
                  </a:rPr>
                  <a:t> y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𝐵</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𝑎</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𝑏</m:t>
                        </m:r>
                      </m:e>
                    </m:d>
                  </m:oMath>
                </a14:m>
                <a:r>
                  <a:rPr lang="es-MX" sz="2000" dirty="0">
                    <a:latin typeface="+mn-lt"/>
                    <a:ea typeface="Roboto" panose="02000000000000000000" pitchFamily="2" charset="0"/>
                  </a:rPr>
                  <a:t>. Entonces </a:t>
                </a:r>
              </a:p>
              <a:p>
                <a:pPr marL="127000" indent="0">
                  <a:buNone/>
                </a:pPr>
                <a:endParaRPr lang="es-MX" sz="2000" dirty="0">
                  <a:latin typeface="+mn-lt"/>
                  <a:ea typeface="Roboto" panose="02000000000000000000" pitchFamily="2" charset="0"/>
                </a:endParaRPr>
              </a:p>
              <a:p>
                <a:pPr marL="127000" indent="0" algn="ctr">
                  <a:buNone/>
                </a:pP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𝑅</m:t>
                    </m:r>
                    <m:r>
                      <a:rPr lang="es-MX" sz="2000" b="0" i="1" smtClean="0">
                        <a:solidFill>
                          <a:schemeClr val="tx1"/>
                        </a:solidFill>
                        <a:latin typeface="Cambria Math" panose="02040503050406030204" pitchFamily="18" charset="0"/>
                        <a:ea typeface="Roboto" panose="02000000000000000000" pitchFamily="2" charset="0"/>
                      </a:rPr>
                      <m:t>= </m:t>
                    </m:r>
                    <m:d>
                      <m:dPr>
                        <m:begChr m:val="{"/>
                        <m:endChr m:val="}"/>
                        <m:ctrlPr>
                          <a:rPr lang="es-MX" sz="2000" i="1">
                            <a:solidFill>
                              <a:schemeClr val="tx1"/>
                            </a:solidFill>
                            <a:latin typeface="Cambria Math" panose="02040503050406030204" pitchFamily="18" charset="0"/>
                            <a:ea typeface="Roboto" panose="02000000000000000000" pitchFamily="2" charset="0"/>
                          </a:rPr>
                        </m:ctrlPr>
                      </m:dPr>
                      <m:e>
                        <m:d>
                          <m:dPr>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0,</m:t>
                            </m:r>
                            <m:r>
                              <a:rPr lang="es-MX" sz="2000" b="0" i="1" smtClean="0">
                                <a:solidFill>
                                  <a:schemeClr val="tx1"/>
                                </a:solidFill>
                                <a:latin typeface="Cambria Math" panose="02040503050406030204" pitchFamily="18" charset="0"/>
                                <a:ea typeface="Roboto" panose="02000000000000000000" pitchFamily="2" charset="0"/>
                              </a:rPr>
                              <m:t>𝑎</m:t>
                            </m:r>
                          </m:e>
                        </m:d>
                        <m:r>
                          <a:rPr lang="es-MX" sz="2000" i="1">
                            <a:solidFill>
                              <a:schemeClr val="tx1"/>
                            </a:solidFill>
                            <a:latin typeface="Cambria Math" panose="02040503050406030204" pitchFamily="18" charset="0"/>
                            <a:ea typeface="Roboto" panose="02000000000000000000" pitchFamily="2" charset="0"/>
                          </a:rPr>
                          <m:t>,</m:t>
                        </m:r>
                        <m:d>
                          <m:dPr>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0,</m:t>
                            </m:r>
                            <m:r>
                              <a:rPr lang="es-MX" sz="2000" b="0" i="1" smtClean="0">
                                <a:solidFill>
                                  <a:schemeClr val="tx1"/>
                                </a:solidFill>
                                <a:latin typeface="Cambria Math" panose="02040503050406030204" pitchFamily="18" charset="0"/>
                                <a:ea typeface="Roboto" panose="02000000000000000000" pitchFamily="2" charset="0"/>
                              </a:rPr>
                              <m:t>𝑏</m:t>
                            </m:r>
                          </m:e>
                        </m:d>
                        <m:r>
                          <a:rPr lang="es-MX" sz="2000" b="0" i="1" smtClean="0">
                            <a:solidFill>
                              <a:schemeClr val="tx1"/>
                            </a:solidFill>
                            <a:latin typeface="Cambria Math" panose="02040503050406030204" pitchFamily="18" charset="0"/>
                            <a:ea typeface="Roboto" panose="02000000000000000000" pitchFamily="2" charset="0"/>
                          </a:rPr>
                          <m:t>,</m:t>
                        </m:r>
                        <m:d>
                          <m:dPr>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1,</m:t>
                            </m:r>
                            <m:r>
                              <a:rPr lang="es-MX" sz="2000" b="0" i="1" smtClean="0">
                                <a:solidFill>
                                  <a:schemeClr val="tx1"/>
                                </a:solidFill>
                                <a:latin typeface="Cambria Math" panose="02040503050406030204" pitchFamily="18" charset="0"/>
                                <a:ea typeface="Roboto" panose="02000000000000000000" pitchFamily="2" charset="0"/>
                              </a:rPr>
                              <m:t>𝑎</m:t>
                            </m:r>
                          </m:e>
                        </m:d>
                        <m:r>
                          <a:rPr lang="es-MX" sz="2000" b="0" i="1" smtClean="0">
                            <a:solidFill>
                              <a:schemeClr val="tx1"/>
                            </a:solidFill>
                            <a:latin typeface="Cambria Math" panose="02040503050406030204" pitchFamily="18" charset="0"/>
                            <a:ea typeface="Roboto" panose="02000000000000000000" pitchFamily="2" charset="0"/>
                          </a:rPr>
                          <m:t>,</m:t>
                        </m:r>
                        <m:d>
                          <m:dPr>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2,</m:t>
                            </m:r>
                            <m:r>
                              <a:rPr lang="es-MX" sz="2000" b="0" i="1" smtClean="0">
                                <a:solidFill>
                                  <a:schemeClr val="tx1"/>
                                </a:solidFill>
                                <a:latin typeface="Cambria Math" panose="02040503050406030204" pitchFamily="18" charset="0"/>
                                <a:ea typeface="Roboto" panose="02000000000000000000" pitchFamily="2" charset="0"/>
                              </a:rPr>
                              <m:t>𝑏</m:t>
                            </m:r>
                          </m:e>
                        </m:d>
                      </m:e>
                    </m:d>
                  </m:oMath>
                </a14:m>
                <a:r>
                  <a:rPr lang="es-MX" sz="2000" dirty="0">
                    <a:latin typeface="+mn-lt"/>
                    <a:ea typeface="Roboto" panose="02000000000000000000" pitchFamily="2" charset="0"/>
                  </a:rPr>
                  <a:t> </a:t>
                </a:r>
              </a:p>
              <a:p>
                <a:pPr marL="127000" indent="0">
                  <a:buNone/>
                </a:pPr>
                <a:endParaRPr lang="es-MX" sz="2000" dirty="0">
                  <a:latin typeface="+mn-lt"/>
                  <a:ea typeface="Roboto" panose="02000000000000000000" pitchFamily="2" charset="0"/>
                </a:endParaRPr>
              </a:p>
              <a:p>
                <a:pPr marL="127000" indent="0">
                  <a:buNone/>
                </a:pPr>
                <a:r>
                  <a:rPr lang="es-MX" sz="2000" dirty="0">
                    <a:latin typeface="+mn-lt"/>
                    <a:ea typeface="Roboto" panose="02000000000000000000" pitchFamily="2" charset="0"/>
                  </a:rPr>
                  <a:t>Es una relación de </a:t>
                </a:r>
                <a14:m>
                  <m:oMath xmlns:m="http://schemas.openxmlformats.org/officeDocument/2006/math">
                    <m:r>
                      <a:rPr lang="es-MX" sz="2000" i="1">
                        <a:solidFill>
                          <a:schemeClr val="tx1"/>
                        </a:solidFill>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de </a:t>
                </a:r>
                <a14:m>
                  <m:oMath xmlns:m="http://schemas.openxmlformats.org/officeDocument/2006/math">
                    <m:r>
                      <a:rPr lang="es-MX" sz="2000" i="1">
                        <a:solidFill>
                          <a:schemeClr val="tx1"/>
                        </a:solidFill>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Por ejemplo, </a:t>
                </a:r>
                <a14:m>
                  <m:oMath xmlns:m="http://schemas.openxmlformats.org/officeDocument/2006/math">
                    <m:r>
                      <a:rPr lang="es-MX" sz="2000" i="1">
                        <a:latin typeface="Cambria Math" panose="02040503050406030204" pitchFamily="18" charset="0"/>
                        <a:ea typeface="Roboto" panose="02000000000000000000" pitchFamily="2" charset="0"/>
                      </a:rPr>
                      <m:t>0</m:t>
                    </m:r>
                    <m:r>
                      <m:rPr>
                        <m:lit/>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𝑅</m:t>
                    </m:r>
                    <m:r>
                      <m:rPr>
                        <m:lit/>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𝑎</m:t>
                    </m:r>
                  </m:oMath>
                </a14:m>
                <a:r>
                  <a:rPr lang="es-MX" sz="2000" dirty="0">
                    <a:latin typeface="+mn-lt"/>
                    <a:ea typeface="Roboto" panose="02000000000000000000" pitchFamily="2" charset="0"/>
                  </a:rPr>
                  <a:t>, pero que </a:t>
                </a:r>
                <a14:m>
                  <m:oMath xmlns:m="http://schemas.openxmlformats.org/officeDocument/2006/math">
                    <m:r>
                      <a:rPr lang="es-MX" sz="2000" b="0" i="1" smtClean="0">
                        <a:latin typeface="Cambria Math" panose="02040503050406030204" pitchFamily="18" charset="0"/>
                        <a:ea typeface="Roboto" panose="02000000000000000000" pitchFamily="2" charset="0"/>
                      </a:rPr>
                      <m:t>¬</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1</m:t>
                        </m:r>
                        <m:r>
                          <a:rPr lang="es-MX" sz="2000" b="0" i="1" smtClean="0">
                            <a:latin typeface="Cambria Math" panose="02040503050406030204" pitchFamily="18" charset="0"/>
                            <a:ea typeface="Roboto" panose="02000000000000000000" pitchFamily="2" charset="0"/>
                          </a:rPr>
                          <m:t>𝑅𝑏</m:t>
                        </m:r>
                      </m:e>
                    </m:d>
                  </m:oMath>
                </a14:m>
                <a:r>
                  <a:rPr lang="es-MX" sz="2000" dirty="0">
                    <a:latin typeface="+mn-lt"/>
                    <a:ea typeface="Roboto" panose="02000000000000000000" pitchFamily="2" charset="0"/>
                  </a:rPr>
                  <a:t>.</a:t>
                </a:r>
              </a:p>
              <a:p>
                <a14:m>
                  <m:oMath xmlns:m="http://schemas.openxmlformats.org/officeDocument/2006/math">
                    <m:r>
                      <a:rPr lang="es-MX" sz="2000" b="1" i="1" dirty="0" smtClean="0">
                        <a:latin typeface="Cambria Math" panose="02040503050406030204" pitchFamily="18" charset="0"/>
                        <a:ea typeface="Roboto" panose="02000000000000000000" pitchFamily="2" charset="0"/>
                      </a:rPr>
                      <m:t>𝑹</m:t>
                    </m:r>
                  </m:oMath>
                </a14:m>
                <a:r>
                  <a:rPr lang="es-MX" sz="2000" b="1" dirty="0">
                    <a:latin typeface="+mn-lt"/>
                    <a:ea typeface="Roboto" panose="02000000000000000000" pitchFamily="2" charset="0"/>
                  </a:rPr>
                  <a:t> no se describe con ninguna propiedad </a:t>
                </a:r>
                <a14:m>
                  <m:oMath xmlns:m="http://schemas.openxmlformats.org/officeDocument/2006/math">
                    <m:r>
                      <a:rPr lang="es-MX" sz="2000" b="1" i="1" dirty="0" smtClean="0">
                        <a:latin typeface="Cambria Math" panose="02040503050406030204" pitchFamily="18" charset="0"/>
                        <a:ea typeface="Roboto" panose="02000000000000000000" pitchFamily="2" charset="0"/>
                      </a:rPr>
                      <m:t>𝑷</m:t>
                    </m:r>
                  </m:oMath>
                </a14:m>
                <a:r>
                  <a:rPr lang="es-MX" sz="2000" dirty="0">
                    <a:latin typeface="+mn-lt"/>
                    <a:ea typeface="Roboto" panose="02000000000000000000" pitchFamily="2" charset="0"/>
                  </a:rPr>
                  <a:t>: es una lista de pares,  y aun así es una relación (cualquier subconjunto de </a:t>
                </a:r>
                <a14:m>
                  <m:oMath xmlns:m="http://schemas.openxmlformats.org/officeDocument/2006/math">
                    <m:r>
                      <a:rPr lang="es-MX" sz="2000" i="1" dirty="0" smtClean="0">
                        <a:latin typeface="Cambria Math" panose="02040503050406030204" pitchFamily="18" charset="0"/>
                        <a:ea typeface="Roboto" panose="02000000000000000000" pitchFamily="2" charset="0"/>
                      </a:rPr>
                      <m:t>𝐴</m:t>
                    </m:r>
                    <m:r>
                      <a:rPr lang="es-MX" sz="2000" i="1" dirty="0" smtClean="0">
                        <a:latin typeface="Cambria Math" panose="02040503050406030204" pitchFamily="18" charset="0"/>
                        <a:ea typeface="Roboto" panose="02000000000000000000" pitchFamily="2" charset="0"/>
                      </a:rPr>
                      <m:t> × </m:t>
                    </m:r>
                    <m:r>
                      <a:rPr lang="es-MX" sz="2000" i="1" dirty="0" smtClean="0">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lo es).</a:t>
                </a:r>
              </a:p>
              <a:p>
                <a:r>
                  <a:rPr lang="es-MX" sz="2000" dirty="0">
                    <a:latin typeface="+mn-lt"/>
                    <a:ea typeface="Roboto" panose="02000000000000000000" pitchFamily="2" charset="0"/>
                  </a:rPr>
                  <a:t>Pregunta: ¿es </a:t>
                </a:r>
                <a14:m>
                  <m:oMath xmlns:m="http://schemas.openxmlformats.org/officeDocument/2006/math">
                    <m:r>
                      <a:rPr lang="es-MX" sz="2000" i="1" dirty="0" smtClean="0">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una función de </a:t>
                </a:r>
                <a14:m>
                  <m:oMath xmlns:m="http://schemas.openxmlformats.org/officeDocument/2006/math">
                    <m:r>
                      <a:rPr lang="es-MX" sz="2000" i="1" dirty="0"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en </a:t>
                </a:r>
                <a14:m>
                  <m:oMath xmlns:m="http://schemas.openxmlformats.org/officeDocument/2006/math">
                    <m:r>
                      <a:rPr lang="es-MX" sz="2000" i="1" dirty="0" smtClean="0">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(lo retomamos al final de la clase)</a:t>
                </a: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45473" y="1259914"/>
                <a:ext cx="5582361" cy="4279680"/>
              </a:xfrm>
              <a:prstGeom prst="rect">
                <a:avLst/>
              </a:prstGeom>
              <a:blipFill>
                <a:blip r:embed="rId3"/>
                <a:stretch>
                  <a:fillRect/>
                </a:stretch>
              </a:blipFill>
              <a:ln>
                <a:noFill/>
              </a:ln>
            </p:spPr>
            <p:txBody>
              <a:bodyPr/>
              <a:lstStyle/>
              <a:p>
                <a:r>
                  <a:rPr lang="es-CO">
                    <a:noFill/>
                  </a:rPr>
                  <a:t> </a:t>
                </a:r>
              </a:p>
            </p:txBody>
          </p:sp>
        </mc:Fallback>
      </mc:AlternateContent>
      <p:pic>
        <p:nvPicPr>
          <p:cNvPr id="5" name="Imagen 4">
            <a:extLst>
              <a:ext uri="{FF2B5EF4-FFF2-40B4-BE49-F238E27FC236}">
                <a16:creationId xmlns:a16="http://schemas.microsoft.com/office/drawing/2014/main" id="{F256DDE9-F81F-4E60-9C06-4CE1B625D81F}"/>
              </a:ext>
            </a:extLst>
          </p:cNvPr>
          <p:cNvPicPr>
            <a:picLocks noChangeAspect="1"/>
          </p:cNvPicPr>
          <p:nvPr/>
        </p:nvPicPr>
        <p:blipFill>
          <a:blip r:embed="rId4"/>
          <a:stretch>
            <a:fillRect/>
          </a:stretch>
        </p:blipFill>
        <p:spPr>
          <a:xfrm>
            <a:off x="6284577" y="1699587"/>
            <a:ext cx="2286337" cy="3220538"/>
          </a:xfrm>
          <a:prstGeom prst="rect">
            <a:avLst/>
          </a:prstGeom>
        </p:spPr>
      </p:pic>
      <p:pic>
        <p:nvPicPr>
          <p:cNvPr id="8" name="Imagen 7">
            <a:extLst>
              <a:ext uri="{FF2B5EF4-FFF2-40B4-BE49-F238E27FC236}">
                <a16:creationId xmlns:a16="http://schemas.microsoft.com/office/drawing/2014/main" id="{3300FE10-BC55-456F-B466-D4649E35778F}"/>
              </a:ext>
            </a:extLst>
          </p:cNvPr>
          <p:cNvPicPr>
            <a:picLocks noChangeAspect="1"/>
          </p:cNvPicPr>
          <p:nvPr/>
        </p:nvPicPr>
        <p:blipFill>
          <a:blip r:embed="rId5"/>
          <a:stretch>
            <a:fillRect/>
          </a:stretch>
        </p:blipFill>
        <p:spPr>
          <a:xfrm>
            <a:off x="8927657" y="1920104"/>
            <a:ext cx="2709839" cy="2723808"/>
          </a:xfrm>
          <a:prstGeom prst="rect">
            <a:avLst/>
          </a:prstGeom>
        </p:spPr>
      </p:pic>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8E4A4444-2978-4BBC-AA14-61937DA12406}"/>
                  </a:ext>
                </a:extLst>
              </p:cNvPr>
              <p:cNvSpPr txBox="1"/>
              <p:nvPr/>
            </p:nvSpPr>
            <p:spPr>
              <a:xfrm>
                <a:off x="383691" y="5753970"/>
                <a:ext cx="11280824" cy="707886"/>
              </a:xfrm>
              <a:prstGeom prst="rect">
                <a:avLst/>
              </a:prstGeom>
              <a:solidFill>
                <a:schemeClr val="bg1">
                  <a:lumMod val="95000"/>
                </a:schemeClr>
              </a:solidFill>
            </p:spPr>
            <p:txBody>
              <a:bodyPr wrap="square">
                <a:spAutoFit/>
              </a:bodyPr>
              <a:lstStyle/>
              <a:p>
                <a:r>
                  <a:rPr lang="es-CO" sz="2000" dirty="0">
                    <a:ea typeface="Roboto" panose="02000000000000000000" pitchFamily="2" charset="0"/>
                  </a:rPr>
                  <a:t>Las relaciones son más generales que las funciones. Una función es una relación donde exactamente un elemento de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𝐵</m:t>
                    </m:r>
                  </m:oMath>
                </a14:m>
                <a:r>
                  <a:rPr lang="es-CO" sz="2000" dirty="0">
                    <a:ea typeface="Roboto" panose="02000000000000000000" pitchFamily="2" charset="0"/>
                  </a:rPr>
                  <a:t> está relacionado con cada elemento de </a:t>
                </a:r>
                <a14:m>
                  <m:oMath xmlns:m="http://schemas.openxmlformats.org/officeDocument/2006/math">
                    <m:r>
                      <a:rPr lang="es-MX" sz="2000" i="1">
                        <a:solidFill>
                          <a:schemeClr val="tx1"/>
                        </a:solidFill>
                        <a:latin typeface="Cambria Math" panose="02040503050406030204" pitchFamily="18" charset="0"/>
                        <a:ea typeface="Roboto" panose="02000000000000000000" pitchFamily="2" charset="0"/>
                      </a:rPr>
                      <m:t>𝐴</m:t>
                    </m:r>
                  </m:oMath>
                </a14:m>
                <a:r>
                  <a:rPr lang="es-CO" sz="2000" dirty="0">
                    <a:ea typeface="Roboto" panose="02000000000000000000" pitchFamily="2" charset="0"/>
                  </a:rPr>
                  <a:t>.</a:t>
                </a:r>
              </a:p>
            </p:txBody>
          </p:sp>
        </mc:Choice>
        <mc:Fallback>
          <p:sp>
            <p:nvSpPr>
              <p:cNvPr id="30" name="CuadroTexto 29">
                <a:extLst>
                  <a:ext uri="{FF2B5EF4-FFF2-40B4-BE49-F238E27FC236}">
                    <a16:creationId xmlns:a16="http://schemas.microsoft.com/office/drawing/2014/main" id="{8E4A4444-2978-4BBC-AA14-61937DA12406}"/>
                  </a:ext>
                </a:extLst>
              </p:cNvPr>
              <p:cNvSpPr txBox="1">
                <a:spLocks noRot="1" noChangeAspect="1" noMove="1" noResize="1" noEditPoints="1" noAdjustHandles="1" noChangeArrowheads="1" noChangeShapeType="1" noTextEdit="1"/>
              </p:cNvSpPr>
              <p:nvPr/>
            </p:nvSpPr>
            <p:spPr>
              <a:xfrm>
                <a:off x="383691" y="5753970"/>
                <a:ext cx="11280824" cy="707886"/>
              </a:xfrm>
              <a:prstGeom prst="rect">
                <a:avLst/>
              </a:prstGeom>
              <a:blipFill>
                <a:blip r:embed="rId6"/>
                <a:stretch>
                  <a:fillRect l="-595" t="-5172" b="-14655"/>
                </a:stretch>
              </a:blipFill>
            </p:spPr>
            <p:txBody>
              <a:bodyPr/>
              <a:lstStyle/>
              <a:p>
                <a:r>
                  <a:rPr lang="es-CO">
                    <a:noFill/>
                  </a:rPr>
                  <a:t> </a:t>
                </a:r>
              </a:p>
            </p:txBody>
          </p:sp>
        </mc:Fallback>
      </mc:AlternateContent>
    </p:spTree>
    <p:extLst>
      <p:ext uri="{BB962C8B-B14F-4D97-AF65-F5344CB8AC3E}">
        <p14:creationId xmlns:p14="http://schemas.microsoft.com/office/powerpoint/2010/main" val="3154940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62607" y="96038"/>
            <a:ext cx="885804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362607" y="923508"/>
            <a:ext cx="987292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 3</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46417" y="3670831"/>
                <a:ext cx="11499165" cy="324367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Sea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el conjunto de municipios de Colombia, y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el conjunto de los 32 departamentos de Colombia. Definimos una relación </a:t>
                </a:r>
                <a14:m>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oMath>
                </a14:m>
                <a:r>
                  <a:rPr lang="es-MX" sz="2000" dirty="0">
                    <a:latin typeface="+mn-lt"/>
                    <a:ea typeface="Roboto" panose="02000000000000000000" pitchFamily="2" charset="0"/>
                  </a:rPr>
                  <a:t>, tal que:</a:t>
                </a:r>
              </a:p>
              <a:p>
                <a:pPr marL="127000" indent="0">
                  <a:buNone/>
                </a:pPr>
                <a:endParaRPr lang="es-MX" sz="20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e>
                          </m:d>
                          <m:r>
                            <a:rPr lang="es-MX" sz="2000" b="0" i="1" smtClean="0">
                              <a:latin typeface="Cambria Math" panose="02040503050406030204" pitchFamily="18" charset="0"/>
                              <a:ea typeface="Roboto" panose="02000000000000000000" pitchFamily="2"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 </m:t>
                          </m:r>
                        </m:e>
                        <m:e>
                          <m:r>
                            <a:rPr lang="es-MX" sz="2000" b="0" i="0"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la</m:t>
                          </m:r>
                          <m:r>
                            <a:rPr lang="es-MX" sz="2000" b="0" i="0"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ciudad</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pertenece</m:t>
                          </m:r>
                          <m:r>
                            <a:rPr lang="es-MX" sz="2000" b="0" i="0"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al</m:t>
                          </m:r>
                          <m:r>
                            <a:rPr lang="es-MX" sz="2000" b="0" i="0"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departamento</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𝑏</m:t>
                          </m:r>
                        </m:e>
                      </m:d>
                    </m:oMath>
                  </m:oMathPara>
                </a14:m>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r>
                  <a:rPr lang="es-MX" sz="2000" dirty="0">
                    <a:latin typeface="+mn-lt"/>
                    <a:ea typeface="Roboto" panose="02000000000000000000" pitchFamily="2" charset="0"/>
                  </a:rPr>
                  <a:t>Según lo anterior, algunos de los pares </a:t>
                </a:r>
                <a14:m>
                  <m:oMath xmlns:m="http://schemas.openxmlformats.org/officeDocument/2006/math">
                    <m:r>
                      <a:rPr lang="es-MX" sz="2000" i="1" dirty="0" smtClean="0">
                        <a:latin typeface="Cambria Math" panose="02040503050406030204" pitchFamily="18" charset="0"/>
                        <a:ea typeface="Roboto" panose="02000000000000000000" pitchFamily="2" charset="0"/>
                      </a:rPr>
                      <m:t>(</m:t>
                    </m:r>
                    <m:r>
                      <a:rPr lang="es-MX" sz="2000" i="1" dirty="0" smtClean="0">
                        <a:latin typeface="Cambria Math" panose="02040503050406030204" pitchFamily="18" charset="0"/>
                        <a:ea typeface="Roboto" panose="02000000000000000000" pitchFamily="2" charset="0"/>
                      </a:rPr>
                      <m:t>𝑚𝑢𝑛𝑖𝑐𝑖𝑝𝑖𝑜</m:t>
                    </m:r>
                    <m:r>
                      <a:rPr lang="es-MX" sz="2000" i="1" dirty="0" smtClean="0">
                        <a:latin typeface="Cambria Math" panose="02040503050406030204" pitchFamily="18" charset="0"/>
                        <a:ea typeface="Roboto" panose="02000000000000000000" pitchFamily="2" charset="0"/>
                      </a:rPr>
                      <m:t>, </m:t>
                    </m:r>
                    <m:r>
                      <a:rPr lang="es-MX" sz="2000" i="1" dirty="0" smtClean="0">
                        <a:latin typeface="Cambria Math" panose="02040503050406030204" pitchFamily="18" charset="0"/>
                        <a:ea typeface="Roboto" panose="02000000000000000000" pitchFamily="2" charset="0"/>
                      </a:rPr>
                      <m:t>𝑑𝑒𝑝𝑎𝑟𝑡𝑎𝑚𝑒𝑛𝑡𝑜</m:t>
                    </m:r>
                    <m:r>
                      <a:rPr lang="es-MX" sz="2000" i="1" dirty="0" smtClean="0">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que pertenecen a la relación </a:t>
                </a:r>
                <a14:m>
                  <m:oMath xmlns:m="http://schemas.openxmlformats.org/officeDocument/2006/math">
                    <m:r>
                      <a:rPr lang="es-MX" sz="2000" i="1" dirty="0" smtClean="0">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son:</a:t>
                </a:r>
              </a:p>
              <a:p>
                <a:pPr marL="127000" indent="0">
                  <a:buNone/>
                </a:pPr>
                <a:endParaRPr lang="es-MX" sz="20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𝑅𝑖𝑜𝑛𝑒𝑔𝑟𝑜</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𝐴𝑛𝑡𝑖𝑜𝑞𝑢𝑖𝑎</m:t>
                              </m:r>
                            </m:e>
                          </m:d>
                          <m:r>
                            <a:rPr lang="es-MX" sz="2000" b="0" i="1" smtClean="0">
                              <a:latin typeface="Cambria Math" panose="02040503050406030204" pitchFamily="18" charset="0"/>
                              <a:ea typeface="Roboto" panose="02000000000000000000" pitchFamily="2" charset="0"/>
                            </a:rPr>
                            <m:t>,</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𝑀𝑒𝑑𝑒𝑙𝑙𝑖𝑛</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𝐴𝑛𝑡𝑖𝑜𝑞𝑢𝑖𝑎</m:t>
                              </m:r>
                            </m:e>
                          </m:d>
                          <m:r>
                            <a:rPr lang="es-MX" sz="2000" b="0" i="1" smtClean="0">
                              <a:latin typeface="Cambria Math" panose="02040503050406030204" pitchFamily="18" charset="0"/>
                              <a:ea typeface="Roboto" panose="02000000000000000000" pitchFamily="2" charset="0"/>
                            </a:rPr>
                            <m:t>,</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𝐶𝑎𝑙𝑖</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𝑉𝑎𝑙𝑙𝑒</m:t>
                              </m:r>
                            </m:e>
                          </m:d>
                          <m:r>
                            <a:rPr lang="es-MX" sz="2000" b="0" i="1" smtClean="0">
                              <a:latin typeface="Cambria Math" panose="02040503050406030204" pitchFamily="18" charset="0"/>
                              <a:ea typeface="Roboto" panose="02000000000000000000" pitchFamily="2" charset="0"/>
                            </a:rPr>
                            <m:t>,</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𝑌𝑢𝑚𝑏𝑜</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𝑉𝑎𝑙𝑙𝑒</m:t>
                              </m:r>
                            </m:e>
                          </m:d>
                          <m:r>
                            <a:rPr lang="es-MX" sz="2000" b="0" i="1" smtClean="0">
                              <a:latin typeface="Cambria Math" panose="02040503050406030204" pitchFamily="18" charset="0"/>
                              <a:ea typeface="Roboto" panose="02000000000000000000" pitchFamily="2" charset="0"/>
                            </a:rPr>
                            <m:t>,…</m:t>
                          </m:r>
                        </m:e>
                      </m:d>
                    </m:oMath>
                  </m:oMathPara>
                </a14:m>
                <a:endParaRPr lang="es-MX" sz="20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46417" y="3670831"/>
                <a:ext cx="11499165" cy="3243674"/>
              </a:xfrm>
              <a:prstGeom prst="rect">
                <a:avLst/>
              </a:prstGeom>
              <a:blipFill>
                <a:blip r:embed="rId3"/>
                <a:stretch>
                  <a:fillRect/>
                </a:stretch>
              </a:blipFill>
              <a:ln>
                <a:noFill/>
              </a:ln>
            </p:spPr>
            <p:txBody>
              <a:bodyPr/>
              <a:lstStyle/>
              <a:p>
                <a:r>
                  <a:rPr lang="es-CO">
                    <a:noFill/>
                  </a:rPr>
                  <a:t> </a:t>
                </a:r>
              </a:p>
            </p:txBody>
          </p:sp>
        </mc:Fallback>
      </mc:AlternateContent>
      <p:pic>
        <p:nvPicPr>
          <p:cNvPr id="2052" name="Picture 4">
            <a:extLst>
              <a:ext uri="{FF2B5EF4-FFF2-40B4-BE49-F238E27FC236}">
                <a16:creationId xmlns:a16="http://schemas.microsoft.com/office/drawing/2014/main" id="{52D32997-D4A5-499B-A137-164D3CC281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4453" y="1417749"/>
            <a:ext cx="2068818" cy="215928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8542938C-6BEA-4252-BC09-86B4CD5201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187" y="1174610"/>
            <a:ext cx="2210774" cy="2496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6060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9953" y="96038"/>
            <a:ext cx="8790697"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9953" y="761329"/>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 4 – Relación “Ganador del Premio Turing” </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156184" y="1292272"/>
                <a:ext cx="11573361" cy="48044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rPr>
                  <a:t>Dados los conjuntos:</a:t>
                </a:r>
              </a:p>
              <a:p>
                <a:r>
                  <a:rPr lang="es-MX" sz="2000" b="1" dirty="0">
                    <a:latin typeface="+mn-lt"/>
                  </a:rPr>
                  <a:t>Personas</a:t>
                </a:r>
                <a:r>
                  <a:rPr lang="es-MX" sz="2000" b="0" dirty="0">
                    <a:latin typeface="+mn-lt"/>
                  </a:rPr>
                  <a:t>: </a:t>
                </a:r>
                <a14:m>
                  <m:oMath xmlns:m="http://schemas.openxmlformats.org/officeDocument/2006/math">
                    <m:r>
                      <a:rPr lang="es-MX" sz="2000" b="0" i="1" smtClean="0">
                        <a:latin typeface="Cambria Math" panose="02040503050406030204" pitchFamily="18" charset="0"/>
                      </a:rPr>
                      <m:t>𝐴</m:t>
                    </m:r>
                    <m:r>
                      <a:rPr lang="es-MX" sz="2000" b="0" i="1" smtClean="0">
                        <a:latin typeface="Cambria Math" panose="02040503050406030204" pitchFamily="18" charset="0"/>
                      </a:rPr>
                      <m:t>=</m:t>
                    </m:r>
                    <m:d>
                      <m:dPr>
                        <m:begChr m:val="{"/>
                        <m:endChr m:val="}"/>
                        <m:ctrlPr>
                          <a:rPr lang="es-MX" sz="2000" b="0" i="1" smtClean="0">
                            <a:latin typeface="Cambria Math" panose="02040503050406030204" pitchFamily="18" charset="0"/>
                          </a:rPr>
                        </m:ctrlPr>
                      </m:dPr>
                      <m:e>
                        <m:r>
                          <m:rPr>
                            <m:sty m:val="p"/>
                          </m:rPr>
                          <a:rPr lang="es-MX" sz="2000" i="0">
                            <a:latin typeface="Cambria Math" panose="02040503050406030204" pitchFamily="18" charset="0"/>
                          </a:rPr>
                          <m:t>Ron</m:t>
                        </m:r>
                        <m:r>
                          <a:rPr lang="es-MX" sz="2000" i="0">
                            <a:latin typeface="Cambria Math" panose="02040503050406030204" pitchFamily="18" charset="0"/>
                          </a:rPr>
                          <m:t> </m:t>
                        </m:r>
                        <m:r>
                          <m:rPr>
                            <m:sty m:val="p"/>
                          </m:rPr>
                          <a:rPr lang="es-MX" sz="2000" i="0">
                            <a:latin typeface="Cambria Math" panose="02040503050406030204" pitchFamily="18" charset="0"/>
                          </a:rPr>
                          <m:t>Rivest</m:t>
                        </m:r>
                        <m:r>
                          <a:rPr lang="es-MX" sz="2000" i="0">
                            <a:latin typeface="Cambria Math" panose="02040503050406030204" pitchFamily="18" charset="0"/>
                          </a:rPr>
                          <m:t>, </m:t>
                        </m:r>
                        <m:r>
                          <m:rPr>
                            <m:sty m:val="p"/>
                          </m:rPr>
                          <a:rPr lang="es-MX" sz="2000" i="0">
                            <a:latin typeface="Cambria Math" panose="02040503050406030204" pitchFamily="18" charset="0"/>
                          </a:rPr>
                          <m:t>Adi</m:t>
                        </m:r>
                        <m:r>
                          <a:rPr lang="es-MX" sz="2000" i="0">
                            <a:latin typeface="Cambria Math" panose="02040503050406030204" pitchFamily="18" charset="0"/>
                          </a:rPr>
                          <m:t> </m:t>
                        </m:r>
                        <m:r>
                          <m:rPr>
                            <m:sty m:val="p"/>
                          </m:rPr>
                          <a:rPr lang="es-MX" sz="2000" i="0">
                            <a:latin typeface="Cambria Math" panose="02040503050406030204" pitchFamily="18" charset="0"/>
                          </a:rPr>
                          <m:t>Shamir</m:t>
                        </m:r>
                        <m:r>
                          <a:rPr lang="es-MX" sz="2000" i="0">
                            <a:latin typeface="Cambria Math" panose="02040503050406030204" pitchFamily="18" charset="0"/>
                          </a:rPr>
                          <m:t>, </m:t>
                        </m:r>
                        <m:r>
                          <m:rPr>
                            <m:sty m:val="p"/>
                          </m:rPr>
                          <a:rPr lang="es-MX" sz="2000" i="0">
                            <a:latin typeface="Cambria Math" panose="02040503050406030204" pitchFamily="18" charset="0"/>
                          </a:rPr>
                          <m:t>Len</m:t>
                        </m:r>
                        <m:r>
                          <a:rPr lang="es-MX" sz="2000" i="0">
                            <a:latin typeface="Cambria Math" panose="02040503050406030204" pitchFamily="18" charset="0"/>
                          </a:rPr>
                          <m:t> </m:t>
                        </m:r>
                        <m:r>
                          <m:rPr>
                            <m:sty m:val="p"/>
                          </m:rPr>
                          <a:rPr lang="es-MX" sz="2000" i="0">
                            <a:latin typeface="Cambria Math" panose="02040503050406030204" pitchFamily="18" charset="0"/>
                          </a:rPr>
                          <m:t>Adleman</m:t>
                        </m:r>
                        <m:r>
                          <a:rPr lang="es-MX" sz="2000" i="0">
                            <a:latin typeface="Cambria Math" panose="02040503050406030204" pitchFamily="18" charset="0"/>
                          </a:rPr>
                          <m:t>, </m:t>
                        </m:r>
                        <m:r>
                          <m:rPr>
                            <m:sty m:val="p"/>
                          </m:rPr>
                          <a:rPr lang="es-MX" sz="2000" i="0">
                            <a:latin typeface="Cambria Math" panose="02040503050406030204" pitchFamily="18" charset="0"/>
                          </a:rPr>
                          <m:t>Alan</m:t>
                        </m:r>
                        <m:r>
                          <a:rPr lang="es-MX" sz="2000" i="0">
                            <a:latin typeface="Cambria Math" panose="02040503050406030204" pitchFamily="18" charset="0"/>
                          </a:rPr>
                          <m:t> </m:t>
                        </m:r>
                        <m:r>
                          <m:rPr>
                            <m:sty m:val="p"/>
                          </m:rPr>
                          <a:rPr lang="es-MX" sz="2000" i="0">
                            <a:latin typeface="Cambria Math" panose="02040503050406030204" pitchFamily="18" charset="0"/>
                          </a:rPr>
                          <m:t>Kay</m:t>
                        </m:r>
                        <m:r>
                          <a:rPr lang="es-MX" sz="2000" i="0">
                            <a:latin typeface="Cambria Math" panose="02040503050406030204" pitchFamily="18" charset="0"/>
                          </a:rPr>
                          <m:t>, ...</m:t>
                        </m:r>
                      </m:e>
                    </m:d>
                  </m:oMath>
                </a14:m>
                <a:endParaRPr lang="es-MX" sz="2000" b="0" dirty="0">
                  <a:latin typeface="+mn-lt"/>
                </a:endParaRPr>
              </a:p>
              <a:p>
                <a:r>
                  <a:rPr lang="es-MX" sz="2000" b="1" dirty="0">
                    <a:latin typeface="+mn-lt"/>
                  </a:rPr>
                  <a:t>Años</a:t>
                </a:r>
                <a:r>
                  <a:rPr lang="es-MX" sz="2000" dirty="0">
                    <a:latin typeface="+mn-lt"/>
                  </a:rPr>
                  <a:t>: </a:t>
                </a:r>
                <a14:m>
                  <m:oMath xmlns:m="http://schemas.openxmlformats.org/officeDocument/2006/math">
                    <m:r>
                      <a:rPr lang="es-MX" sz="2000" b="0" i="1" smtClean="0">
                        <a:latin typeface="Cambria Math" panose="02040503050406030204" pitchFamily="18" charset="0"/>
                      </a:rPr>
                      <m:t>𝐵</m:t>
                    </m:r>
                    <m:r>
                      <a:rPr lang="es-MX" sz="2000" b="0" i="1" smtClean="0">
                        <a:latin typeface="Cambria Math" panose="02040503050406030204" pitchFamily="18" charset="0"/>
                      </a:rPr>
                      <m:t>=</m:t>
                    </m:r>
                    <m:d>
                      <m:dPr>
                        <m:begChr m:val="{"/>
                        <m:endChr m:val="}"/>
                        <m:ctrlPr>
                          <a:rPr lang="es-MX" sz="2000" b="0" i="1" smtClean="0">
                            <a:latin typeface="Cambria Math" panose="02040503050406030204" pitchFamily="18" charset="0"/>
                          </a:rPr>
                        </m:ctrlPr>
                      </m:dPr>
                      <m:e>
                        <m:r>
                          <a:rPr lang="es-MX" sz="2000" i="1">
                            <a:latin typeface="Cambria Math" panose="02040503050406030204" pitchFamily="18" charset="0"/>
                          </a:rPr>
                          <m:t>2002, 2003, 2004, 2005, 2006</m:t>
                        </m:r>
                      </m:e>
                    </m:d>
                  </m:oMath>
                </a14:m>
                <a:endParaRPr lang="es-MX" sz="2000" b="0" dirty="0">
                  <a:latin typeface="+mn-lt"/>
                </a:endParaRPr>
              </a:p>
              <a:p>
                <a:r>
                  <a:rPr lang="es-MX" sz="2000" b="1" dirty="0">
                    <a:latin typeface="+mn-lt"/>
                  </a:rPr>
                  <a:t>Propiedad</a:t>
                </a:r>
                <a:r>
                  <a:rPr lang="es-MX" sz="2000" dirty="0">
                    <a:latin typeface="+mn-lt"/>
                  </a:rPr>
                  <a:t>:</a:t>
                </a:r>
                <a:r>
                  <a:rPr lang="es-MX" sz="1800" dirty="0">
                    <a:latin typeface="+mn-lt"/>
                  </a:rPr>
                  <a:t> </a:t>
                </a:r>
                <a14:m>
                  <m:oMath xmlns:m="http://schemas.openxmlformats.org/officeDocument/2006/math">
                    <m:r>
                      <a:rPr lang="es-MX" sz="2000" b="1" i="1" smtClean="0">
                        <a:latin typeface="Cambria Math" panose="02040503050406030204" pitchFamily="18" charset="0"/>
                      </a:rPr>
                      <m:t>𝑻</m:t>
                    </m:r>
                    <m:r>
                      <a:rPr lang="es-MX" sz="2000" b="1" i="1" smtClean="0">
                        <a:latin typeface="Cambria Math" panose="02040503050406030204" pitchFamily="18" charset="0"/>
                      </a:rPr>
                      <m:t>(</m:t>
                    </m:r>
                    <m:r>
                      <a:rPr lang="es-MX" sz="2000" b="1" i="1" smtClean="0">
                        <a:latin typeface="Cambria Math" panose="02040503050406030204" pitchFamily="18" charset="0"/>
                      </a:rPr>
                      <m:t>𝒙</m:t>
                    </m:r>
                    <m:r>
                      <a:rPr lang="es-MX" sz="2000" b="1" i="1" smtClean="0">
                        <a:latin typeface="Cambria Math" panose="02040503050406030204" pitchFamily="18" charset="0"/>
                      </a:rPr>
                      <m:t>,</m:t>
                    </m:r>
                    <m:r>
                      <a:rPr lang="es-MX" sz="2000" b="1" i="1" smtClean="0">
                        <a:latin typeface="Cambria Math" panose="02040503050406030204" pitchFamily="18" charset="0"/>
                      </a:rPr>
                      <m:t>𝒚</m:t>
                    </m:r>
                    <m:r>
                      <a:rPr lang="es-MX" sz="2000" b="1" i="1" smtClean="0">
                        <a:latin typeface="Cambria Math" panose="02040503050406030204" pitchFamily="18" charset="0"/>
                      </a:rPr>
                      <m:t>)</m:t>
                    </m:r>
                    <m:r>
                      <a:rPr lang="es-MX" sz="2000" b="0" i="1" smtClean="0">
                        <a:latin typeface="Cambria Math" panose="02040503050406030204" pitchFamily="18" charset="0"/>
                      </a:rPr>
                      <m:t>:</m:t>
                    </m:r>
                    <m:r>
                      <a:rPr lang="es-MX" sz="2000" i="1">
                        <a:latin typeface="Cambria Math" panose="02040503050406030204" pitchFamily="18" charset="0"/>
                      </a:rPr>
                      <m:t>"</m:t>
                    </m:r>
                    <m:r>
                      <m:rPr>
                        <m:sty m:val="p"/>
                      </m:rPr>
                      <a:rPr lang="es-MX" sz="2000" b="0" i="0" smtClean="0">
                        <a:latin typeface="Cambria Math" panose="02040503050406030204" pitchFamily="18" charset="0"/>
                      </a:rPr>
                      <m:t>La</m:t>
                    </m:r>
                    <m:r>
                      <a:rPr lang="es-MX" sz="2000" b="0" i="0" smtClean="0">
                        <a:latin typeface="Cambria Math" panose="02040503050406030204" pitchFamily="18" charset="0"/>
                      </a:rPr>
                      <m:t> </m:t>
                    </m:r>
                    <m:r>
                      <m:rPr>
                        <m:sty m:val="p"/>
                      </m:rPr>
                      <a:rPr lang="es-MX" sz="2000" b="0" i="0" smtClean="0">
                        <a:latin typeface="Cambria Math" panose="02040503050406030204" pitchFamily="18" charset="0"/>
                      </a:rPr>
                      <m:t>persona</m:t>
                    </m:r>
                    <m:r>
                      <a:rPr lang="es-MX" sz="2000" b="0" i="1" smtClean="0">
                        <a:latin typeface="Cambria Math" panose="02040503050406030204" pitchFamily="18" charset="0"/>
                      </a:rPr>
                      <m:t> </m:t>
                    </m:r>
                    <m:r>
                      <a:rPr lang="es-MX" sz="2000" b="0" i="1" smtClean="0">
                        <a:latin typeface="Cambria Math" panose="02040503050406030204" pitchFamily="18" charset="0"/>
                      </a:rPr>
                      <m:t>𝑥</m:t>
                    </m:r>
                    <m:r>
                      <a:rPr lang="es-MX" sz="2000" b="0" i="1" smtClean="0">
                        <a:latin typeface="Cambria Math" panose="02040503050406030204" pitchFamily="18" charset="0"/>
                      </a:rPr>
                      <m:t> </m:t>
                    </m:r>
                    <m:r>
                      <m:rPr>
                        <m:sty m:val="p"/>
                      </m:rPr>
                      <a:rPr lang="es-MX" sz="2000" b="0" i="0" smtClean="0">
                        <a:latin typeface="Cambria Math" panose="02040503050406030204" pitchFamily="18" charset="0"/>
                      </a:rPr>
                      <m:t>gano</m:t>
                    </m:r>
                    <m:r>
                      <a:rPr lang="es-MX" sz="2000" b="0" i="0" smtClean="0">
                        <a:latin typeface="Cambria Math" panose="02040503050406030204" pitchFamily="18" charset="0"/>
                      </a:rPr>
                      <m:t> </m:t>
                    </m:r>
                    <m:r>
                      <m:rPr>
                        <m:sty m:val="p"/>
                      </m:rPr>
                      <a:rPr lang="es-MX" sz="2000" b="0" i="0" smtClean="0">
                        <a:latin typeface="Cambria Math" panose="02040503050406030204" pitchFamily="18" charset="0"/>
                      </a:rPr>
                      <m:t>el</m:t>
                    </m:r>
                    <m:r>
                      <a:rPr lang="es-MX" sz="2000" b="0" i="0" smtClean="0">
                        <a:latin typeface="Cambria Math" panose="02040503050406030204" pitchFamily="18" charset="0"/>
                      </a:rPr>
                      <m:t> </m:t>
                    </m:r>
                    <m:r>
                      <m:rPr>
                        <m:sty m:val="p"/>
                      </m:rPr>
                      <a:rPr lang="es-MX" sz="2000" b="0" i="0" smtClean="0">
                        <a:latin typeface="Cambria Math" panose="02040503050406030204" pitchFamily="18" charset="0"/>
                      </a:rPr>
                      <m:t>premio</m:t>
                    </m:r>
                    <m:r>
                      <a:rPr lang="es-MX" sz="2000" b="0" i="0" smtClean="0">
                        <a:latin typeface="Cambria Math" panose="02040503050406030204" pitchFamily="18" charset="0"/>
                      </a:rPr>
                      <m:t> </m:t>
                    </m:r>
                    <m:r>
                      <m:rPr>
                        <m:sty m:val="p"/>
                      </m:rPr>
                      <a:rPr lang="es-MX" sz="2000" b="0" i="0" smtClean="0">
                        <a:latin typeface="Cambria Math" panose="02040503050406030204" pitchFamily="18" charset="0"/>
                      </a:rPr>
                      <m:t>Turing</m:t>
                    </m:r>
                    <m:r>
                      <a:rPr lang="es-MX" sz="2000" b="0" i="0" smtClean="0">
                        <a:latin typeface="Cambria Math" panose="02040503050406030204" pitchFamily="18" charset="0"/>
                      </a:rPr>
                      <m:t> </m:t>
                    </m:r>
                    <m:r>
                      <m:rPr>
                        <m:sty m:val="p"/>
                      </m:rPr>
                      <a:rPr lang="es-MX" sz="2000" b="0" i="0" smtClean="0">
                        <a:latin typeface="Cambria Math" panose="02040503050406030204" pitchFamily="18" charset="0"/>
                      </a:rPr>
                      <m:t>en</m:t>
                    </m:r>
                    <m:r>
                      <a:rPr lang="es-MX" sz="2000" b="0" i="0" smtClean="0">
                        <a:latin typeface="Cambria Math" panose="02040503050406030204" pitchFamily="18" charset="0"/>
                      </a:rPr>
                      <m:t> </m:t>
                    </m:r>
                    <m:r>
                      <m:rPr>
                        <m:sty m:val="p"/>
                      </m:rPr>
                      <a:rPr lang="es-MX" sz="2000" b="0" i="0" smtClean="0">
                        <a:latin typeface="Cambria Math" panose="02040503050406030204" pitchFamily="18" charset="0"/>
                      </a:rPr>
                      <m:t>el</m:t>
                    </m:r>
                    <m:r>
                      <a:rPr lang="es-MX" sz="2000" b="0" i="0" smtClean="0">
                        <a:latin typeface="Cambria Math" panose="02040503050406030204" pitchFamily="18" charset="0"/>
                      </a:rPr>
                      <m:t> </m:t>
                    </m:r>
                    <m:r>
                      <m:rPr>
                        <m:sty m:val="p"/>
                      </m:rPr>
                      <a:rPr lang="es-MX" sz="2000" b="0" i="0" smtClean="0">
                        <a:latin typeface="Cambria Math" panose="02040503050406030204" pitchFamily="18" charset="0"/>
                      </a:rPr>
                      <m:t>a</m:t>
                    </m:r>
                    <m:r>
                      <a:rPr lang="es-MX" sz="2000" b="0" i="0" smtClean="0">
                        <a:latin typeface="Cambria Math" panose="02040503050406030204" pitchFamily="18" charset="0"/>
                      </a:rPr>
                      <m:t>ñ</m:t>
                    </m:r>
                    <m:r>
                      <m:rPr>
                        <m:sty m:val="p"/>
                      </m:rPr>
                      <a:rPr lang="es-MX" sz="2000" b="0" i="0" smtClean="0">
                        <a:latin typeface="Cambria Math" panose="02040503050406030204" pitchFamily="18" charset="0"/>
                      </a:rPr>
                      <m:t>o</m:t>
                    </m:r>
                    <m:r>
                      <a:rPr lang="es-MX" sz="2000" b="0" i="1" smtClean="0">
                        <a:latin typeface="Cambria Math" panose="02040503050406030204" pitchFamily="18" charset="0"/>
                      </a:rPr>
                      <m:t> </m:t>
                    </m:r>
                    <m:r>
                      <a:rPr lang="es-MX" sz="2000" b="0" i="1" smtClean="0">
                        <a:latin typeface="Cambria Math" panose="02040503050406030204" pitchFamily="18" charset="0"/>
                      </a:rPr>
                      <m:t>𝑦</m:t>
                    </m:r>
                    <m:r>
                      <a:rPr lang="es-MX" sz="2000" b="0" i="1" smtClean="0">
                        <a:latin typeface="Cambria Math" panose="02040503050406030204" pitchFamily="18" charset="0"/>
                      </a:rPr>
                      <m:t>"</m:t>
                    </m:r>
                  </m:oMath>
                </a14:m>
                <a:r>
                  <a:rPr lang="es-MX" sz="2000" dirty="0">
                    <a:latin typeface="+mn-lt"/>
                  </a:rPr>
                  <a:t> </a:t>
                </a:r>
              </a:p>
              <a:p>
                <a:pPr marL="127000" indent="0">
                  <a:buNone/>
                </a:pPr>
                <a:endParaRPr lang="es-MX" sz="1800" dirty="0">
                  <a:latin typeface="+mn-lt"/>
                  <a:ea typeface="Roboto" panose="02000000000000000000" pitchFamily="2" charset="0"/>
                </a:endParaRPr>
              </a:p>
              <a:p>
                <a:pPr marL="584200" lvl="1" indent="0">
                  <a:buNone/>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𝑥</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𝑦</m:t>
                              </m:r>
                            </m:e>
                          </m:d>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𝐴</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𝐵</m:t>
                          </m:r>
                        </m:e>
                        <m:e>
                          <m:r>
                            <a:rPr lang="es-MX" sz="2000" i="1">
                              <a:latin typeface="Cambria Math" panose="02040503050406030204" pitchFamily="18" charset="0"/>
                              <a:ea typeface="Roboto" panose="02000000000000000000" pitchFamily="2" charset="0"/>
                            </a:rPr>
                            <m:t>𝑇</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𝑥</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𝑦</m:t>
                          </m:r>
                          <m:r>
                            <a:rPr lang="es-MX" sz="2000" i="1">
                              <a:latin typeface="Cambria Math" panose="02040503050406030204" pitchFamily="18" charset="0"/>
                              <a:ea typeface="Roboto" panose="02000000000000000000" pitchFamily="2" charset="0"/>
                            </a:rPr>
                            <m:t>)</m:t>
                          </m:r>
                        </m:e>
                      </m:d>
                    </m:oMath>
                  </m:oMathPara>
                </a14:m>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584200" lvl="1" indent="0">
                  <a:buNone/>
                </a:pPr>
                <a14:m>
                  <m:oMathPara xmlns:m="http://schemas.openxmlformats.org/officeDocument/2006/math">
                    <m:oMathParaPr>
                      <m:jc m:val="left"/>
                    </m:oMathParaPr>
                    <m:oMath xmlns:m="http://schemas.openxmlformats.org/officeDocument/2006/math">
                      <m:r>
                        <a:rPr lang="es-MX" sz="2000" i="1">
                          <a:latin typeface="Cambria Math" panose="02040503050406030204" pitchFamily="18" charset="0"/>
                          <a:ea typeface="Roboto" panose="02000000000000000000" pitchFamily="2" charset="0"/>
                        </a:rPr>
                        <m:t>𝑅</m:t>
                      </m:r>
                      <m:r>
                        <a:rPr lang="es-MX" sz="2000" i="1">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ea typeface="Roboto" panose="02000000000000000000" pitchFamily="2" charset="0"/>
                            </a:rPr>
                          </m:ctrlPr>
                        </m:dPr>
                        <m:e>
                          <m:eqArr>
                            <m:eqArrPr>
                              <m:ctrlPr>
                                <a:rPr lang="es-CO" sz="2000" i="1">
                                  <a:latin typeface="Cambria Math" panose="02040503050406030204" pitchFamily="18" charset="0"/>
                                  <a:ea typeface="Roboto" panose="02000000000000000000" pitchFamily="2" charset="0"/>
                                </a:rPr>
                              </m:ctrlPr>
                            </m:eqArrPr>
                            <m:e>
                              <m:r>
                                <m:rPr>
                                  <m:nor/>
                                </m:rPr>
                                <a:rPr lang="es-CO" sz="2000">
                                  <a:latin typeface="+mn-lt"/>
                                  <a:ea typeface="Roboto" panose="02000000000000000000" pitchFamily="2" charset="0"/>
                                </a:rPr>
                                <m:t>(</m:t>
                              </m:r>
                              <m:r>
                                <m:rPr>
                                  <m:nor/>
                                </m:rPr>
                                <a:rPr lang="es-CO" sz="2000">
                                  <a:latin typeface="+mn-lt"/>
                                  <a:ea typeface="Roboto" panose="02000000000000000000" pitchFamily="2" charset="0"/>
                                </a:rPr>
                                <m:t>Ron</m:t>
                              </m:r>
                              <m:r>
                                <m:rPr>
                                  <m:nor/>
                                </m:rPr>
                                <a:rPr lang="es-CO" sz="2000">
                                  <a:latin typeface="+mn-lt"/>
                                  <a:ea typeface="Roboto" panose="02000000000000000000" pitchFamily="2" charset="0"/>
                                </a:rPr>
                                <m:t> </m:t>
                              </m:r>
                              <m:r>
                                <m:rPr>
                                  <m:nor/>
                                </m:rPr>
                                <a:rPr lang="es-CO" sz="2000">
                                  <a:latin typeface="+mn-lt"/>
                                  <a:ea typeface="Roboto" panose="02000000000000000000" pitchFamily="2" charset="0"/>
                                </a:rPr>
                                <m:t>Rivest</m:t>
                              </m:r>
                              <m:r>
                                <m:rPr>
                                  <m:nor/>
                                </m:rPr>
                                <a:rPr lang="es-CO" sz="2000">
                                  <a:latin typeface="+mn-lt"/>
                                  <a:ea typeface="Roboto" panose="02000000000000000000" pitchFamily="2" charset="0"/>
                                </a:rPr>
                                <m:t>, 2002), (</m:t>
                              </m:r>
                              <m:r>
                                <m:rPr>
                                  <m:nor/>
                                </m:rPr>
                                <a:rPr lang="es-CO" sz="2000">
                                  <a:latin typeface="+mn-lt"/>
                                  <a:ea typeface="Roboto" panose="02000000000000000000" pitchFamily="2" charset="0"/>
                                </a:rPr>
                                <m:t>Adi</m:t>
                              </m:r>
                              <m:r>
                                <m:rPr>
                                  <m:nor/>
                                </m:rPr>
                                <a:rPr lang="es-CO" sz="2000">
                                  <a:latin typeface="+mn-lt"/>
                                  <a:ea typeface="Roboto" panose="02000000000000000000" pitchFamily="2" charset="0"/>
                                </a:rPr>
                                <m:t> </m:t>
                              </m:r>
                              <m:r>
                                <m:rPr>
                                  <m:nor/>
                                </m:rPr>
                                <a:rPr lang="es-CO" sz="2000">
                                  <a:latin typeface="+mn-lt"/>
                                  <a:ea typeface="Roboto" panose="02000000000000000000" pitchFamily="2" charset="0"/>
                                </a:rPr>
                                <m:t>Shamir</m:t>
                              </m:r>
                              <m:r>
                                <m:rPr>
                                  <m:nor/>
                                </m:rPr>
                                <a:rPr lang="es-CO" sz="2000">
                                  <a:latin typeface="+mn-lt"/>
                                  <a:ea typeface="Roboto" panose="02000000000000000000" pitchFamily="2" charset="0"/>
                                </a:rPr>
                                <m:t>, 2002), </m:t>
                              </m:r>
                            </m:e>
                            <m:e>
                              <m:r>
                                <m:rPr>
                                  <m:nor/>
                                </m:rPr>
                                <a:rPr lang="es-CO" sz="2000">
                                  <a:latin typeface="+mn-lt"/>
                                  <a:ea typeface="Roboto" panose="02000000000000000000" pitchFamily="2" charset="0"/>
                                </a:rPr>
                                <m:t>(</m:t>
                              </m:r>
                              <m:r>
                                <m:rPr>
                                  <m:nor/>
                                </m:rPr>
                                <a:rPr lang="es-CO" sz="2000">
                                  <a:latin typeface="+mn-lt"/>
                                  <a:ea typeface="Roboto" panose="02000000000000000000" pitchFamily="2" charset="0"/>
                                </a:rPr>
                                <m:t>Len</m:t>
                              </m:r>
                              <m:r>
                                <m:rPr>
                                  <m:nor/>
                                </m:rPr>
                                <a:rPr lang="es-CO" sz="2000">
                                  <a:latin typeface="+mn-lt"/>
                                  <a:ea typeface="Roboto" panose="02000000000000000000" pitchFamily="2" charset="0"/>
                                </a:rPr>
                                <m:t> </m:t>
                              </m:r>
                              <m:r>
                                <m:rPr>
                                  <m:nor/>
                                </m:rPr>
                                <a:rPr lang="es-CO" sz="2000">
                                  <a:latin typeface="+mn-lt"/>
                                  <a:ea typeface="Roboto" panose="02000000000000000000" pitchFamily="2" charset="0"/>
                                </a:rPr>
                                <m:t>Adleman</m:t>
                              </m:r>
                              <m:r>
                                <m:rPr>
                                  <m:nor/>
                                </m:rPr>
                                <a:rPr lang="es-CO" sz="2000">
                                  <a:latin typeface="+mn-lt"/>
                                  <a:ea typeface="Roboto" panose="02000000000000000000" pitchFamily="2" charset="0"/>
                                </a:rPr>
                                <m:t>, 2002), (</m:t>
                              </m:r>
                              <m:r>
                                <m:rPr>
                                  <m:nor/>
                                </m:rPr>
                                <a:rPr lang="es-CO" sz="2000">
                                  <a:latin typeface="+mn-lt"/>
                                  <a:ea typeface="Roboto" panose="02000000000000000000" pitchFamily="2" charset="0"/>
                                </a:rPr>
                                <m:t>Alan</m:t>
                              </m:r>
                              <m:r>
                                <m:rPr>
                                  <m:nor/>
                                </m:rPr>
                                <a:rPr lang="es-CO" sz="2000">
                                  <a:latin typeface="+mn-lt"/>
                                  <a:ea typeface="Roboto" panose="02000000000000000000" pitchFamily="2" charset="0"/>
                                </a:rPr>
                                <m:t> </m:t>
                              </m:r>
                              <m:r>
                                <m:rPr>
                                  <m:nor/>
                                </m:rPr>
                                <a:rPr lang="es-CO" sz="2000">
                                  <a:latin typeface="+mn-lt"/>
                                  <a:ea typeface="Roboto" panose="02000000000000000000" pitchFamily="2" charset="0"/>
                                </a:rPr>
                                <m:t>Kay</m:t>
                              </m:r>
                              <m:r>
                                <m:rPr>
                                  <m:nor/>
                                </m:rPr>
                                <a:rPr lang="es-CO" sz="2000">
                                  <a:latin typeface="+mn-lt"/>
                                  <a:ea typeface="Roboto" panose="02000000000000000000" pitchFamily="2" charset="0"/>
                                </a:rPr>
                                <m:t>, 2003), </m:t>
                              </m:r>
                            </m:e>
                            <m:e>
                              <m:r>
                                <m:rPr>
                                  <m:nor/>
                                </m:rPr>
                                <a:rPr lang="es-CO" sz="2000">
                                  <a:latin typeface="+mn-lt"/>
                                  <a:ea typeface="Roboto" panose="02000000000000000000" pitchFamily="2" charset="0"/>
                                </a:rPr>
                                <m:t>(</m:t>
                              </m:r>
                              <m:r>
                                <m:rPr>
                                  <m:nor/>
                                </m:rPr>
                                <a:rPr lang="es-CO" sz="2000">
                                  <a:latin typeface="+mn-lt"/>
                                  <a:ea typeface="Roboto" panose="02000000000000000000" pitchFamily="2" charset="0"/>
                                </a:rPr>
                                <m:t>Vint</m:t>
                              </m:r>
                              <m:r>
                                <m:rPr>
                                  <m:nor/>
                                </m:rPr>
                                <a:rPr lang="es-CO" sz="2000">
                                  <a:latin typeface="+mn-lt"/>
                                  <a:ea typeface="Roboto" panose="02000000000000000000" pitchFamily="2" charset="0"/>
                                </a:rPr>
                                <m:t> </m:t>
                              </m:r>
                              <m:r>
                                <m:rPr>
                                  <m:nor/>
                                </m:rPr>
                                <a:rPr lang="es-CO" sz="2000">
                                  <a:latin typeface="+mn-lt"/>
                                  <a:ea typeface="Roboto" panose="02000000000000000000" pitchFamily="2" charset="0"/>
                                </a:rPr>
                                <m:t>Cerf</m:t>
                              </m:r>
                              <m:r>
                                <m:rPr>
                                  <m:nor/>
                                </m:rPr>
                                <a:rPr lang="es-CO" sz="2000">
                                  <a:latin typeface="+mn-lt"/>
                                  <a:ea typeface="Roboto" panose="02000000000000000000" pitchFamily="2" charset="0"/>
                                </a:rPr>
                                <m:t>, 2004), (</m:t>
                              </m:r>
                              <m:r>
                                <m:rPr>
                                  <m:nor/>
                                </m:rPr>
                                <a:rPr lang="es-CO" sz="2000">
                                  <a:latin typeface="+mn-lt"/>
                                  <a:ea typeface="Roboto" panose="02000000000000000000" pitchFamily="2" charset="0"/>
                                </a:rPr>
                                <m:t>Robert</m:t>
                              </m:r>
                              <m:r>
                                <m:rPr>
                                  <m:nor/>
                                </m:rPr>
                                <a:rPr lang="es-CO" sz="2000">
                                  <a:latin typeface="+mn-lt"/>
                                  <a:ea typeface="Roboto" panose="02000000000000000000" pitchFamily="2" charset="0"/>
                                </a:rPr>
                                <m:t> </m:t>
                              </m:r>
                              <m:r>
                                <m:rPr>
                                  <m:nor/>
                                </m:rPr>
                                <a:rPr lang="es-CO" sz="2000">
                                  <a:latin typeface="+mn-lt"/>
                                  <a:ea typeface="Roboto" panose="02000000000000000000" pitchFamily="2" charset="0"/>
                                </a:rPr>
                                <m:t>Kahn</m:t>
                              </m:r>
                              <m:r>
                                <m:rPr>
                                  <m:nor/>
                                </m:rPr>
                                <a:rPr lang="es-CO" sz="2000">
                                  <a:latin typeface="+mn-lt"/>
                                  <a:ea typeface="Roboto" panose="02000000000000000000" pitchFamily="2" charset="0"/>
                                </a:rPr>
                                <m:t>, 2004), </m:t>
                              </m:r>
                            </m:e>
                            <m:e>
                              <m:r>
                                <m:rPr>
                                  <m:nor/>
                                </m:rPr>
                                <a:rPr lang="es-CO" sz="2000">
                                  <a:latin typeface="+mn-lt"/>
                                  <a:ea typeface="Roboto" panose="02000000000000000000" pitchFamily="2" charset="0"/>
                                </a:rPr>
                                <m:t>(</m:t>
                              </m:r>
                              <m:r>
                                <m:rPr>
                                  <m:nor/>
                                </m:rPr>
                                <a:rPr lang="es-CO" sz="2000">
                                  <a:latin typeface="+mn-lt"/>
                                  <a:ea typeface="Roboto" panose="02000000000000000000" pitchFamily="2" charset="0"/>
                                </a:rPr>
                                <m:t>Peter</m:t>
                              </m:r>
                              <m:r>
                                <m:rPr>
                                  <m:nor/>
                                </m:rPr>
                                <a:rPr lang="es-CO" sz="2000">
                                  <a:latin typeface="+mn-lt"/>
                                  <a:ea typeface="Roboto" panose="02000000000000000000" pitchFamily="2" charset="0"/>
                                </a:rPr>
                                <m:t> </m:t>
                              </m:r>
                              <m:r>
                                <m:rPr>
                                  <m:nor/>
                                </m:rPr>
                                <a:rPr lang="es-CO" sz="2000">
                                  <a:latin typeface="+mn-lt"/>
                                  <a:ea typeface="Roboto" panose="02000000000000000000" pitchFamily="2" charset="0"/>
                                </a:rPr>
                                <m:t>Naur</m:t>
                              </m:r>
                              <m:r>
                                <m:rPr>
                                  <m:nor/>
                                </m:rPr>
                                <a:rPr lang="es-CO" sz="2000">
                                  <a:latin typeface="+mn-lt"/>
                                  <a:ea typeface="Roboto" panose="02000000000000000000" pitchFamily="2" charset="0"/>
                                </a:rPr>
                                <m:t>, 2005), (</m:t>
                              </m:r>
                              <m:r>
                                <m:rPr>
                                  <m:nor/>
                                </m:rPr>
                                <a:rPr lang="es-CO" sz="2000">
                                  <a:latin typeface="+mn-lt"/>
                                  <a:ea typeface="Roboto" panose="02000000000000000000" pitchFamily="2" charset="0"/>
                                </a:rPr>
                                <m:t>Frances</m:t>
                              </m:r>
                              <m:r>
                                <m:rPr>
                                  <m:nor/>
                                </m:rPr>
                                <a:rPr lang="es-CO" sz="2000">
                                  <a:latin typeface="+mn-lt"/>
                                  <a:ea typeface="Roboto" panose="02000000000000000000" pitchFamily="2" charset="0"/>
                                </a:rPr>
                                <m:t> </m:t>
                              </m:r>
                              <m:r>
                                <m:rPr>
                                  <m:nor/>
                                </m:rPr>
                                <a:rPr lang="es-CO" sz="2000">
                                  <a:latin typeface="+mn-lt"/>
                                  <a:ea typeface="Roboto" panose="02000000000000000000" pitchFamily="2" charset="0"/>
                                </a:rPr>
                                <m:t>Allen</m:t>
                              </m:r>
                              <m:r>
                                <m:rPr>
                                  <m:nor/>
                                </m:rPr>
                                <a:rPr lang="es-CO" sz="2000">
                                  <a:latin typeface="+mn-lt"/>
                                  <a:ea typeface="Roboto" panose="02000000000000000000" pitchFamily="2" charset="0"/>
                                </a:rPr>
                                <m:t>, 2006)</m:t>
                              </m:r>
                            </m:e>
                          </m:eqArr>
                        </m:e>
                      </m:d>
                    </m:oMath>
                  </m:oMathPara>
                </a14:m>
                <a:endParaRPr lang="es-MX" sz="1800" i="1" dirty="0">
                  <a:latin typeface="+mn-lt"/>
                  <a:ea typeface="Roboto" panose="02000000000000000000" pitchFamily="2" charset="0"/>
                </a:endParaRPr>
              </a:p>
              <a:p>
                <a:pPr marL="127000" indent="0">
                  <a:buNone/>
                </a:pPr>
                <a:endParaRPr lang="es-MX" sz="1800" dirty="0">
                  <a:latin typeface="+mn-lt"/>
                  <a:ea typeface="Roboto" panose="02000000000000000000" pitchFamily="2" charset="0"/>
                </a:endParaRPr>
              </a:p>
              <a:p>
                <a:pPr marL="127000" indent="0">
                  <a:buNone/>
                </a:pPr>
                <a:r>
                  <a:rPr lang="es-MX" sz="2000" b="1" dirty="0">
                    <a:latin typeface="+mn-lt"/>
                    <a:ea typeface="Roboto" panose="02000000000000000000" pitchFamily="2" charset="0"/>
                  </a:rPr>
                  <a:t>Pregunta</a:t>
                </a:r>
                <a:r>
                  <a:rPr lang="es-MX" sz="2000" dirty="0">
                    <a:latin typeface="+mn-lt"/>
                    <a:ea typeface="Roboto" panose="02000000000000000000" pitchFamily="2" charset="0"/>
                  </a:rPr>
                  <a:t>: ¿cuántas personas se relacionan con 2002? ¿Y con cuántos años se relaciona cada persona?</a:t>
                </a: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156184" y="1292272"/>
                <a:ext cx="11573361" cy="4804400"/>
              </a:xfrm>
              <a:prstGeom prst="rect">
                <a:avLst/>
              </a:prstGeom>
              <a:blipFill>
                <a:blip r:embed="rId3"/>
                <a:stretch>
                  <a:fillRect/>
                </a:stretch>
              </a:blipFill>
              <a:ln>
                <a:noFill/>
              </a:ln>
            </p:spPr>
            <p:txBody>
              <a:bodyPr/>
              <a:lstStyle/>
              <a:p>
                <a:r>
                  <a:rPr lang="es-CO">
                    <a:noFill/>
                  </a:rPr>
                  <a:t> </a:t>
                </a:r>
              </a:p>
            </p:txBody>
          </p:sp>
        </mc:Fallback>
      </mc:AlternateContent>
      <p:pic>
        <p:nvPicPr>
          <p:cNvPr id="1026" name="Picture 2" descr="ACM A.M. Turing Award - Heidelberg Laureate Forum">
            <a:extLst>
              <a:ext uri="{FF2B5EF4-FFF2-40B4-BE49-F238E27FC236}">
                <a16:creationId xmlns:a16="http://schemas.microsoft.com/office/drawing/2014/main" id="{8399ABE3-A5BA-46E1-A699-64142D49FA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2501" y="941375"/>
            <a:ext cx="3016755" cy="23211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partment of Computer Science, Department of Molecular Biology">
            <a:extLst>
              <a:ext uri="{FF2B5EF4-FFF2-40B4-BE49-F238E27FC236}">
                <a16:creationId xmlns:a16="http://schemas.microsoft.com/office/drawing/2014/main" id="{8AF13E44-6E64-4C70-A92C-71EACFD043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4862" y="3442563"/>
            <a:ext cx="1920951" cy="150716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lan Kay: A Visionary Who Revolutionised Computing and Education">
            <a:extLst>
              <a:ext uri="{FF2B5EF4-FFF2-40B4-BE49-F238E27FC236}">
                <a16:creationId xmlns:a16="http://schemas.microsoft.com/office/drawing/2014/main" id="{7323F9A6-7930-4EC8-B6DC-1B95E6378F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51334" y="3429000"/>
            <a:ext cx="2282689" cy="1507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4790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220652" y="96038"/>
            <a:ext cx="899999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Relaciones</a:t>
            </a:r>
            <a:endParaRPr dirty="0"/>
          </a:p>
        </p:txBody>
      </p:sp>
      <p:sp>
        <p:nvSpPr>
          <p:cNvPr id="20" name="CuadroTexto 19">
            <a:extLst>
              <a:ext uri="{FF2B5EF4-FFF2-40B4-BE49-F238E27FC236}">
                <a16:creationId xmlns:a16="http://schemas.microsoft.com/office/drawing/2014/main" id="{EC981F08-C206-4A60-8BF8-5D902A118C7A}"/>
              </a:ext>
            </a:extLst>
          </p:cNvPr>
          <p:cNvSpPr txBox="1"/>
          <p:nvPr/>
        </p:nvSpPr>
        <p:spPr>
          <a:xfrm>
            <a:off x="220652" y="874445"/>
            <a:ext cx="11283092" cy="492443"/>
          </a:xfrm>
          <a:prstGeom prst="rect">
            <a:avLst/>
          </a:prstGeom>
          <a:noFill/>
        </p:spPr>
        <p:txBody>
          <a:bodyPr wrap="square" rtlCol="0">
            <a:spAutoFit/>
          </a:bodyPr>
          <a:lstStyle/>
          <a:p>
            <a:r>
              <a:rPr lang="es-MX" sz="2600" b="1" dirty="0">
                <a:ea typeface="Roboto" panose="02000000000000000000" pitchFamily="2" charset="0"/>
              </a:rPr>
              <a:t>Ejercicio de repaso</a:t>
            </a:r>
          </a:p>
        </p:txBody>
      </p:sp>
      <mc:AlternateContent xmlns:mc="http://schemas.openxmlformats.org/markup-compatibility/2006">
        <mc:Choice xmlns:a14="http://schemas.microsoft.com/office/drawing/2010/main" Requires="a14">
          <p:sp>
            <p:nvSpPr>
              <p:cNvPr id="8" name="Google Shape;310;p34">
                <a:extLst>
                  <a:ext uri="{FF2B5EF4-FFF2-40B4-BE49-F238E27FC236}">
                    <a16:creationId xmlns:a16="http://schemas.microsoft.com/office/drawing/2014/main" id="{F6716F76-3AFE-471D-B156-0250FFA69F6E}"/>
                  </a:ext>
                </a:extLst>
              </p:cNvPr>
              <p:cNvSpPr txBox="1">
                <a:spLocks/>
              </p:cNvSpPr>
              <p:nvPr/>
            </p:nvSpPr>
            <p:spPr>
              <a:xfrm>
                <a:off x="220652" y="1366887"/>
                <a:ext cx="11571955" cy="50181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Para las siguientes relaciones de </a:t>
                </a:r>
                <a14:m>
                  <m:oMath xmlns:m="http://schemas.openxmlformats.org/officeDocument/2006/math">
                    <m:r>
                      <a:rPr lang="es-MX" sz="2000" b="0" i="1" smtClean="0">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de </a:t>
                </a:r>
                <a14:m>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0,1,2,3,4</m:t>
                        </m:r>
                      </m:e>
                    </m:d>
                  </m:oMath>
                </a14:m>
                <a:r>
                  <a:rPr lang="es-MX" sz="2000" dirty="0">
                    <a:latin typeface="+mn-lt"/>
                    <a:ea typeface="Roboto" panose="02000000000000000000" pitchFamily="2" charset="0"/>
                  </a:rPr>
                  <a:t> a </a:t>
                </a:r>
                <a14:m>
                  <m:oMath xmlns:m="http://schemas.openxmlformats.org/officeDocument/2006/math">
                    <m:r>
                      <a:rPr lang="es-MX" sz="2000" b="0" i="1" smtClean="0">
                        <a:latin typeface="Cambria Math" panose="02040503050406030204" pitchFamily="18" charset="0"/>
                        <a:ea typeface="Roboto" panose="02000000000000000000" pitchFamily="2" charset="0"/>
                      </a:rPr>
                      <m:t>𝐵</m:t>
                    </m:r>
                    <m:r>
                      <a:rPr lang="es-MX" sz="2000" b="0" i="1" smtClean="0">
                        <a:latin typeface="Cambria Math" panose="02040503050406030204" pitchFamily="18" charset="0"/>
                        <a:ea typeface="Roboto" panose="02000000000000000000" pitchFamily="2" charset="0"/>
                      </a:rPr>
                      <m:t>={0,1,2,3}</m:t>
                    </m:r>
                  </m:oMath>
                </a14:m>
                <a:r>
                  <a:rPr lang="es-MX" sz="2000" dirty="0">
                    <a:latin typeface="+mn-lt"/>
                    <a:ea typeface="Roboto" panose="02000000000000000000" pitchFamily="2" charset="0"/>
                  </a:rPr>
                  <a:t>, donde </a:t>
                </a:r>
                <a14:m>
                  <m:oMath xmlns:m="http://schemas.openxmlformats.org/officeDocument/2006/math">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si y solo si:  </a:t>
                </a:r>
                <a:endParaRPr lang="es-MX" sz="2000" b="0" i="1" dirty="0">
                  <a:latin typeface="+mn-lt"/>
                  <a:ea typeface="Roboto" panose="02000000000000000000" pitchFamily="2" charset="0"/>
                </a:endParaRPr>
              </a:p>
              <a:p>
                <a:pPr marL="584200" indent="-457200">
                  <a:buFont typeface="+mj-lt"/>
                  <a:buAutoNum type="arabicPeriod"/>
                </a:pPr>
                <a14:m>
                  <m:oMath xmlns:m="http://schemas.openxmlformats.org/officeDocument/2006/math">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oMath>
                </a14:m>
                <a:endParaRPr lang="es-MX" sz="2000" i="1" dirty="0">
                  <a:latin typeface="Cambria Math" panose="02040503050406030204" pitchFamily="18" charset="0"/>
                  <a:ea typeface="Roboto" panose="02000000000000000000" pitchFamily="2" charset="0"/>
                </a:endParaRPr>
              </a:p>
              <a:p>
                <a:pPr marL="584200" indent="-457200">
                  <a:buFont typeface="+mj-lt"/>
                  <a:buAutoNum type="arabicPeriod"/>
                </a:pPr>
                <a14:m>
                  <m:oMath xmlns:m="http://schemas.openxmlformats.org/officeDocument/2006/math">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r>
                      <a:rPr lang="es-MX" sz="2000" b="0" i="1" smtClean="0">
                        <a:latin typeface="Cambria Math" panose="02040503050406030204" pitchFamily="18" charset="0"/>
                        <a:ea typeface="Roboto" panose="02000000000000000000" pitchFamily="2" charset="0"/>
                      </a:rPr>
                      <m:t>=4</m:t>
                    </m:r>
                  </m:oMath>
                </a14:m>
                <a:endParaRPr lang="es-MX" sz="2000" b="0" i="1" dirty="0">
                  <a:latin typeface="Cambria Math" panose="02040503050406030204" pitchFamily="18" charset="0"/>
                  <a:ea typeface="Roboto" panose="02000000000000000000" pitchFamily="2" charset="0"/>
                </a:endParaRPr>
              </a:p>
              <a:p>
                <a:pPr marL="584200" indent="-457200">
                  <a:buFont typeface="+mj-lt"/>
                  <a:buAutoNum type="arabicPeriod"/>
                </a:pPr>
                <a14:m>
                  <m:oMath xmlns:m="http://schemas.openxmlformats.org/officeDocument/2006/math">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&gt;</m:t>
                    </m:r>
                    <m:r>
                      <a:rPr lang="es-MX" sz="2000" b="0" i="1" smtClean="0">
                        <a:latin typeface="Cambria Math" panose="02040503050406030204" pitchFamily="18" charset="0"/>
                        <a:ea typeface="Roboto" panose="02000000000000000000" pitchFamily="2" charset="0"/>
                      </a:rPr>
                      <m:t>𝑏</m:t>
                    </m:r>
                  </m:oMath>
                </a14:m>
                <a:endParaRPr lang="es-MX" sz="2000" b="0" i="1" dirty="0">
                  <a:latin typeface="Cambria Math" panose="02040503050406030204" pitchFamily="18" charset="0"/>
                  <a:ea typeface="Roboto" panose="02000000000000000000" pitchFamily="2" charset="0"/>
                </a:endParaRPr>
              </a:p>
              <a:p>
                <a:pPr marL="584200" indent="-457200">
                  <a:buFont typeface="+mj-lt"/>
                  <a:buAutoNum type="arabicPeriod"/>
                </a:pPr>
                <a14:m>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e>
                    </m:d>
                    <m:r>
                      <a:rPr lang="es-MX" sz="2000" b="0" i="1" smtClean="0">
                        <a:latin typeface="Cambria Math" panose="02040503050406030204" pitchFamily="18" charset="0"/>
                        <a:ea typeface="Roboto" panose="02000000000000000000" pitchFamily="2" charset="0"/>
                      </a:rPr>
                      <m:t>𝑏</m:t>
                    </m:r>
                    <m:r>
                      <a:rPr lang="es-MX" sz="2000" b="0" i="1" smtClean="0">
                        <a:latin typeface="Cambria Math" panose="02040503050406030204" pitchFamily="18" charset="0"/>
                        <a:ea typeface="Roboto" panose="02000000000000000000" pitchFamily="2" charset="0"/>
                      </a:rPr>
                      <m:t>    </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divide</m:t>
                        </m:r>
                        <m:r>
                          <a:rPr lang="es-MX" sz="2000" b="0" i="0"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a</m:t>
                        </m:r>
                        <m:r>
                          <a:rPr lang="es-MX" sz="2000" b="0" i="1" smtClean="0">
                            <a:latin typeface="Cambria Math" panose="02040503050406030204" pitchFamily="18" charset="0"/>
                            <a:ea typeface="Roboto" panose="02000000000000000000" pitchFamily="2" charset="0"/>
                          </a:rPr>
                          <m:t> </m:t>
                        </m:r>
                        <m:r>
                          <a:rPr lang="es-MX" sz="2000" i="1">
                            <a:latin typeface="Cambria Math" panose="02040503050406030204" pitchFamily="18" charset="0"/>
                            <a:ea typeface="Roboto" panose="02000000000000000000" pitchFamily="2" charset="0"/>
                          </a:rPr>
                          <m:t>𝑏</m:t>
                        </m:r>
                        <m:r>
                          <a:rPr lang="es-MX" sz="2000" b="0" i="1"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con</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≠0</m:t>
                        </m:r>
                      </m:e>
                    </m:d>
                  </m:oMath>
                </a14:m>
                <a:r>
                  <a:rPr lang="es-MX" sz="2000" b="0" i="1" dirty="0">
                    <a:latin typeface="Cambria Math" panose="02040503050406030204" pitchFamily="18" charset="0"/>
                    <a:ea typeface="Roboto" panose="02000000000000000000" pitchFamily="2" charset="0"/>
                  </a:rPr>
                  <a:t> </a:t>
                </a:r>
              </a:p>
              <a:p>
                <a:pPr marL="584200" indent="-457200">
                  <a:buFont typeface="+mj-lt"/>
                  <a:buAutoNum type="arabicPeriod"/>
                </a:pPr>
                <a:endParaRPr lang="es-MX" sz="2000" i="1" dirty="0">
                  <a:latin typeface="Cambria Math" panose="02040503050406030204" pitchFamily="18" charset="0"/>
                  <a:ea typeface="Roboto" panose="02000000000000000000" pitchFamily="2" charset="0"/>
                </a:endParaRPr>
              </a:p>
              <a:p>
                <a:pPr marL="127000" indent="0">
                  <a:buNone/>
                </a:pPr>
                <a:r>
                  <a:rPr lang="es-MX" sz="2000" dirty="0">
                    <a:latin typeface="+mn-lt"/>
                    <a:ea typeface="Roboto" panose="02000000000000000000" pitchFamily="2" charset="0"/>
                  </a:rPr>
                  <a:t>Se pide:</a:t>
                </a:r>
              </a:p>
              <a:p>
                <a:r>
                  <a:rPr lang="es-MX" sz="2000" dirty="0">
                    <a:latin typeface="+mn-lt"/>
                    <a:ea typeface="Roboto" panose="02000000000000000000" pitchFamily="2" charset="0"/>
                  </a:rPr>
                  <a:t>Listar los pares ordenados</a:t>
                </a:r>
              </a:p>
              <a:p>
                <a:r>
                  <a:rPr lang="es-MX" sz="2000" dirty="0">
                    <a:latin typeface="+mn-lt"/>
                    <a:ea typeface="Roboto" panose="02000000000000000000" pitchFamily="2" charset="0"/>
                  </a:rPr>
                  <a:t>Realizar la representación de las relaciones como tabla.</a:t>
                </a:r>
              </a:p>
              <a:p>
                <a:r>
                  <a:rPr lang="es-MX" sz="2000" dirty="0">
                    <a:latin typeface="+mn-lt"/>
                    <a:ea typeface="Roboto" panose="02000000000000000000" pitchFamily="2" charset="0"/>
                  </a:rPr>
                  <a:t>Realizar el  diagrama de flechas</a:t>
                </a:r>
              </a:p>
              <a:p>
                <a:r>
                  <a:rPr lang="es-MX" sz="2000" dirty="0">
                    <a:latin typeface="+mn-lt"/>
                    <a:ea typeface="Roboto" panose="02000000000000000000" pitchFamily="2" charset="0"/>
                  </a:rPr>
                  <a:t>Hacer la tabla matricial</a:t>
                </a:r>
              </a:p>
              <a:p>
                <a:r>
                  <a:rPr lang="es-MX" sz="2000" dirty="0">
                    <a:latin typeface="+mn-lt"/>
                    <a:ea typeface="Roboto" panose="02000000000000000000" pitchFamily="2" charset="0"/>
                  </a:rPr>
                  <a:t>Hacer la matriz binaria.</a:t>
                </a:r>
                <a:endParaRPr lang="es-MX" sz="2000" b="0" i="1" dirty="0">
                  <a:latin typeface="Cambria Math" panose="02040503050406030204" pitchFamily="18" charset="0"/>
                  <a:ea typeface="Roboto" panose="02000000000000000000" pitchFamily="2" charset="0"/>
                </a:endParaRPr>
              </a:p>
              <a:p>
                <a:pPr marL="584200" indent="-457200">
                  <a:buFont typeface="+mj-lt"/>
                  <a:buAutoNum type="arabicPeriod"/>
                </a:pPr>
                <a:endParaRPr lang="es-MX" sz="2000" i="1" dirty="0">
                  <a:latin typeface="Cambria Math" panose="02040503050406030204" pitchFamily="18" charset="0"/>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8" name="Google Shape;310;p34">
                <a:extLst>
                  <a:ext uri="{FF2B5EF4-FFF2-40B4-BE49-F238E27FC236}">
                    <a16:creationId xmlns:a16="http://schemas.microsoft.com/office/drawing/2014/main" id="{F6716F76-3AFE-471D-B156-0250FFA69F6E}"/>
                  </a:ext>
                </a:extLst>
              </p:cNvPr>
              <p:cNvSpPr txBox="1">
                <a:spLocks noRot="1" noChangeAspect="1" noMove="1" noResize="1" noEditPoints="1" noAdjustHandles="1" noChangeArrowheads="1" noChangeShapeType="1" noTextEdit="1"/>
              </p:cNvSpPr>
              <p:nvPr/>
            </p:nvSpPr>
            <p:spPr>
              <a:xfrm>
                <a:off x="220652" y="1366887"/>
                <a:ext cx="11571955" cy="5018147"/>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692531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220652" y="96038"/>
            <a:ext cx="899999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Relaciones</a:t>
            </a:r>
            <a:endParaRPr dirty="0"/>
          </a:p>
        </p:txBody>
      </p:sp>
      <mc:AlternateContent xmlns:mc="http://schemas.openxmlformats.org/markup-compatibility/2006">
        <mc:Choice xmlns:a14="http://schemas.microsoft.com/office/drawing/2010/main" Requires="a14">
          <p:sp>
            <p:nvSpPr>
              <p:cNvPr id="4" name="Google Shape;310;p34">
                <a:extLst>
                  <a:ext uri="{FF2B5EF4-FFF2-40B4-BE49-F238E27FC236}">
                    <a16:creationId xmlns:a16="http://schemas.microsoft.com/office/drawing/2014/main" id="{4B63BCAC-785A-45B3-BC32-BFE1449FF61B}"/>
                  </a:ext>
                </a:extLst>
              </p:cNvPr>
              <p:cNvSpPr txBox="1">
                <a:spLocks/>
              </p:cNvSpPr>
              <p:nvPr/>
            </p:nvSpPr>
            <p:spPr>
              <a:xfrm>
                <a:off x="220652" y="1332516"/>
                <a:ext cx="11750696" cy="10240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14:m>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0,1,2,3,4</m:t>
                        </m:r>
                      </m:e>
                    </m:d>
                  </m:oMath>
                </a14:m>
                <a:r>
                  <a:rPr lang="es-MX" sz="2000" dirty="0">
                    <a:latin typeface="+mn-lt"/>
                    <a:ea typeface="Roboto" panose="02000000000000000000" pitchFamily="2" charset="0"/>
                  </a:rPr>
                  <a:t> y </a:t>
                </a:r>
                <a14:m>
                  <m:oMath xmlns:m="http://schemas.openxmlformats.org/officeDocument/2006/math">
                    <m:r>
                      <a:rPr lang="es-MX" sz="2000" b="0" i="1" smtClean="0">
                        <a:latin typeface="Cambria Math" panose="02040503050406030204" pitchFamily="18" charset="0"/>
                        <a:ea typeface="Roboto" panose="02000000000000000000" pitchFamily="2" charset="0"/>
                      </a:rPr>
                      <m:t>𝐵</m:t>
                    </m:r>
                    <m:r>
                      <a:rPr lang="es-MX" sz="2000" b="0" i="1" smtClean="0">
                        <a:latin typeface="Cambria Math" panose="02040503050406030204" pitchFamily="18" charset="0"/>
                        <a:ea typeface="Roboto" panose="02000000000000000000" pitchFamily="2" charset="0"/>
                      </a:rPr>
                      <m:t>={0,1,2,3}</m:t>
                    </m:r>
                  </m:oMath>
                </a14:m>
                <a:r>
                  <a:rPr lang="es-MX" sz="2000" dirty="0">
                    <a:latin typeface="+mn-lt"/>
                    <a:ea typeface="Roboto" panose="02000000000000000000" pitchFamily="2" charset="0"/>
                  </a:rPr>
                  <a:t> </a:t>
                </a:r>
                <a:endParaRPr lang="es-MX" sz="2000" b="0" i="1" dirty="0">
                  <a:latin typeface="Cambria Math" panose="02040503050406030204" pitchFamily="18" charset="0"/>
                  <a:ea typeface="Roboto" panose="02000000000000000000" pitchFamily="2" charset="0"/>
                </a:endParaRPr>
              </a:p>
              <a:p>
                <a:pPr/>
                <a14:m>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𝐵</m:t>
                        </m:r>
                      </m:e>
                    </m:d>
                    <m:r>
                      <a:rPr lang="es-MX" sz="2000" i="1">
                        <a:latin typeface="Cambria Math" panose="02040503050406030204" pitchFamily="18" charset="0"/>
                        <a:ea typeface="Roboto" panose="02000000000000000000" pitchFamily="2" charset="0"/>
                      </a:rPr>
                      <m:t>𝑎</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𝑏</m:t>
                    </m:r>
                    <m:r>
                      <a:rPr lang="es-MX" sz="2000" i="1">
                        <a:latin typeface="Cambria Math" panose="02040503050406030204" pitchFamily="18" charset="0"/>
                        <a:ea typeface="Roboto" panose="02000000000000000000" pitchFamily="2" charset="0"/>
                      </a:rPr>
                      <m:t>}</m:t>
                    </m:r>
                  </m:oMath>
                </a14:m>
                <a:endParaRPr lang="es-MX" sz="2000" i="1" dirty="0">
                  <a:latin typeface="Cambria Math" panose="02040503050406030204" pitchFamily="18" charset="0"/>
                  <a:ea typeface="Roboto" panose="02000000000000000000" pitchFamily="2" charset="0"/>
                </a:endParaRPr>
              </a:p>
              <a:p>
                <a:pPr marL="584200" indent="-457200">
                  <a:buFont typeface="+mj-lt"/>
                  <a:buAutoNum type="arabicPeriod"/>
                </a:pPr>
                <a:endParaRPr lang="es-MX" sz="2000" i="1" dirty="0">
                  <a:latin typeface="Cambria Math" panose="02040503050406030204" pitchFamily="18" charset="0"/>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4" name="Google Shape;310;p34">
                <a:extLst>
                  <a:ext uri="{FF2B5EF4-FFF2-40B4-BE49-F238E27FC236}">
                    <a16:creationId xmlns:a16="http://schemas.microsoft.com/office/drawing/2014/main" id="{4B63BCAC-785A-45B3-BC32-BFE1449FF61B}"/>
                  </a:ext>
                </a:extLst>
              </p:cNvPr>
              <p:cNvSpPr txBox="1">
                <a:spLocks noRot="1" noChangeAspect="1" noMove="1" noResize="1" noEditPoints="1" noAdjustHandles="1" noChangeArrowheads="1" noChangeShapeType="1" noTextEdit="1"/>
              </p:cNvSpPr>
              <p:nvPr/>
            </p:nvSpPr>
            <p:spPr>
              <a:xfrm>
                <a:off x="220652" y="1332516"/>
                <a:ext cx="11750696" cy="1024098"/>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378D13E3-D5EC-438E-BA9B-213A1A8E8038}"/>
                  </a:ext>
                </a:extLst>
              </p:cNvPr>
              <p:cNvSpPr txBox="1"/>
              <p:nvPr/>
            </p:nvSpPr>
            <p:spPr>
              <a:xfrm>
                <a:off x="220652" y="840073"/>
                <a:ext cx="11283092" cy="492443"/>
              </a:xfrm>
              <a:prstGeom prst="rect">
                <a:avLst/>
              </a:prstGeom>
              <a:noFill/>
            </p:spPr>
            <p:txBody>
              <a:bodyPr wrap="square" rtlCol="0">
                <a:spAutoFit/>
              </a:bodyPr>
              <a:lstStyle/>
              <a:p>
                <a:r>
                  <a:rPr lang="es-MX" sz="2600" b="1" dirty="0">
                    <a:ea typeface="Roboto" panose="02000000000000000000" pitchFamily="2" charset="0"/>
                  </a:rPr>
                  <a:t>Ejercicio de repaso — Relación 1: </a:t>
                </a:r>
                <a14:m>
                  <m:oMath xmlns:m="http://schemas.openxmlformats.org/officeDocument/2006/math">
                    <m:r>
                      <a:rPr lang="es-MX" sz="2600" b="1" i="1" dirty="0" smtClean="0">
                        <a:latin typeface="Cambria Math" panose="02040503050406030204" pitchFamily="18" charset="0"/>
                        <a:ea typeface="Roboto" panose="02000000000000000000" pitchFamily="2" charset="0"/>
                      </a:rPr>
                      <m:t>𝒂</m:t>
                    </m:r>
                    <m:r>
                      <a:rPr lang="es-MX" sz="2600" b="1" i="1" dirty="0" smtClean="0">
                        <a:latin typeface="Cambria Math" panose="02040503050406030204" pitchFamily="18" charset="0"/>
                        <a:ea typeface="Roboto" panose="02000000000000000000" pitchFamily="2" charset="0"/>
                      </a:rPr>
                      <m:t> = </m:t>
                    </m:r>
                    <m:r>
                      <a:rPr lang="es-MX" sz="2600" b="1" i="1" dirty="0" smtClean="0">
                        <a:latin typeface="Cambria Math" panose="02040503050406030204" pitchFamily="18" charset="0"/>
                        <a:ea typeface="Roboto" panose="02000000000000000000" pitchFamily="2" charset="0"/>
                      </a:rPr>
                      <m:t>𝒃</m:t>
                    </m:r>
                  </m:oMath>
                </a14:m>
                <a:endParaRPr lang="es-MX" sz="2600" b="1" dirty="0">
                  <a:ea typeface="Roboto" panose="02000000000000000000" pitchFamily="2" charset="0"/>
                </a:endParaRPr>
              </a:p>
            </p:txBody>
          </p:sp>
        </mc:Choice>
        <mc:Fallback>
          <p:sp>
            <p:nvSpPr>
              <p:cNvPr id="5" name="CuadroTexto 4">
                <a:extLst>
                  <a:ext uri="{FF2B5EF4-FFF2-40B4-BE49-F238E27FC236}">
                    <a16:creationId xmlns:a16="http://schemas.microsoft.com/office/drawing/2014/main" id="{378D13E3-D5EC-438E-BA9B-213A1A8E8038}"/>
                  </a:ext>
                </a:extLst>
              </p:cNvPr>
              <p:cNvSpPr txBox="1">
                <a:spLocks noRot="1" noChangeAspect="1" noMove="1" noResize="1" noEditPoints="1" noAdjustHandles="1" noChangeArrowheads="1" noChangeShapeType="1" noTextEdit="1"/>
              </p:cNvSpPr>
              <p:nvPr/>
            </p:nvSpPr>
            <p:spPr>
              <a:xfrm>
                <a:off x="220652" y="840073"/>
                <a:ext cx="11283092" cy="492443"/>
              </a:xfrm>
              <a:prstGeom prst="rect">
                <a:avLst/>
              </a:prstGeom>
              <a:blipFill>
                <a:blip r:embed="rId4"/>
                <a:stretch>
                  <a:fillRect l="-972" t="-9877" b="-30864"/>
                </a:stretch>
              </a:blipFill>
            </p:spPr>
            <p:txBody>
              <a:bodyPr/>
              <a:lstStyle/>
              <a:p>
                <a:r>
                  <a:rPr lang="es-CO">
                    <a:noFill/>
                  </a:rPr>
                  <a:t> </a:t>
                </a:r>
              </a:p>
            </p:txBody>
          </p:sp>
        </mc:Fallback>
      </mc:AlternateContent>
    </p:spTree>
    <p:extLst>
      <p:ext uri="{BB962C8B-B14F-4D97-AF65-F5344CB8AC3E}">
        <p14:creationId xmlns:p14="http://schemas.microsoft.com/office/powerpoint/2010/main" val="332459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220652" y="96038"/>
            <a:ext cx="899999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Relaciones</a:t>
            </a:r>
            <a:endParaRPr dirty="0"/>
          </a:p>
        </p:txBody>
      </p:sp>
      <mc:AlternateContent xmlns:mc="http://schemas.openxmlformats.org/markup-compatibility/2006">
        <mc:Choice xmlns:a14="http://schemas.microsoft.com/office/drawing/2010/main" Requires="a14">
          <p:sp>
            <p:nvSpPr>
              <p:cNvPr id="4" name="Google Shape;310;p34">
                <a:extLst>
                  <a:ext uri="{FF2B5EF4-FFF2-40B4-BE49-F238E27FC236}">
                    <a16:creationId xmlns:a16="http://schemas.microsoft.com/office/drawing/2014/main" id="{4B63BCAC-785A-45B3-BC32-BFE1449FF61B}"/>
                  </a:ext>
                </a:extLst>
              </p:cNvPr>
              <p:cNvSpPr txBox="1">
                <a:spLocks/>
              </p:cNvSpPr>
              <p:nvPr/>
            </p:nvSpPr>
            <p:spPr>
              <a:xfrm>
                <a:off x="220652" y="1332516"/>
                <a:ext cx="11750696" cy="10240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14:m>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0,1,2,3,4</m:t>
                        </m:r>
                      </m:e>
                    </m:d>
                  </m:oMath>
                </a14:m>
                <a:r>
                  <a:rPr lang="es-MX" sz="2000" dirty="0">
                    <a:latin typeface="+mn-lt"/>
                    <a:ea typeface="Roboto" panose="02000000000000000000" pitchFamily="2" charset="0"/>
                  </a:rPr>
                  <a:t> y </a:t>
                </a:r>
                <a14:m>
                  <m:oMath xmlns:m="http://schemas.openxmlformats.org/officeDocument/2006/math">
                    <m:r>
                      <a:rPr lang="es-MX" sz="2000" b="0" i="1" smtClean="0">
                        <a:latin typeface="Cambria Math" panose="02040503050406030204" pitchFamily="18" charset="0"/>
                        <a:ea typeface="Roboto" panose="02000000000000000000" pitchFamily="2" charset="0"/>
                      </a:rPr>
                      <m:t>𝐵</m:t>
                    </m:r>
                    <m:r>
                      <a:rPr lang="es-MX" sz="2000" b="0" i="1" smtClean="0">
                        <a:latin typeface="Cambria Math" panose="02040503050406030204" pitchFamily="18" charset="0"/>
                        <a:ea typeface="Roboto" panose="02000000000000000000" pitchFamily="2" charset="0"/>
                      </a:rPr>
                      <m:t>={0,1,2,3}</m:t>
                    </m:r>
                  </m:oMath>
                </a14:m>
                <a:r>
                  <a:rPr lang="es-MX" sz="2000" dirty="0">
                    <a:latin typeface="+mn-lt"/>
                    <a:ea typeface="Roboto" panose="02000000000000000000" pitchFamily="2" charset="0"/>
                  </a:rPr>
                  <a:t> </a:t>
                </a:r>
                <a:endParaRPr lang="es-MX" sz="2000" b="0" i="1" dirty="0">
                  <a:latin typeface="Cambria Math" panose="02040503050406030204" pitchFamily="18" charset="0"/>
                  <a:ea typeface="Roboto" panose="02000000000000000000" pitchFamily="2" charset="0"/>
                </a:endParaRPr>
              </a:p>
              <a:p>
                <a:pPr/>
                <a14:m>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𝐵</m:t>
                        </m:r>
                      </m:e>
                    </m:d>
                    <m:r>
                      <a:rPr lang="es-MX" sz="2000" i="1">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r>
                      <a:rPr lang="es-MX" sz="2000" i="1">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4</m:t>
                    </m:r>
                    <m:r>
                      <a:rPr lang="es-MX" sz="2000" i="1">
                        <a:latin typeface="Cambria Math" panose="02040503050406030204" pitchFamily="18" charset="0"/>
                        <a:ea typeface="Roboto" panose="02000000000000000000" pitchFamily="2" charset="0"/>
                      </a:rPr>
                      <m:t>}</m:t>
                    </m:r>
                  </m:oMath>
                </a14:m>
                <a:endParaRPr lang="es-MX" sz="2000" i="1" dirty="0">
                  <a:latin typeface="Cambria Math" panose="02040503050406030204" pitchFamily="18" charset="0"/>
                  <a:ea typeface="Roboto" panose="02000000000000000000" pitchFamily="2" charset="0"/>
                </a:endParaRPr>
              </a:p>
              <a:p>
                <a:pPr marL="584200" indent="-457200">
                  <a:buFont typeface="+mj-lt"/>
                  <a:buAutoNum type="arabicPeriod"/>
                </a:pPr>
                <a:endParaRPr lang="es-MX" sz="2000" i="1" dirty="0">
                  <a:latin typeface="Cambria Math" panose="02040503050406030204" pitchFamily="18" charset="0"/>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4" name="Google Shape;310;p34">
                <a:extLst>
                  <a:ext uri="{FF2B5EF4-FFF2-40B4-BE49-F238E27FC236}">
                    <a16:creationId xmlns:a16="http://schemas.microsoft.com/office/drawing/2014/main" id="{4B63BCAC-785A-45B3-BC32-BFE1449FF61B}"/>
                  </a:ext>
                </a:extLst>
              </p:cNvPr>
              <p:cNvSpPr txBox="1">
                <a:spLocks noRot="1" noChangeAspect="1" noMove="1" noResize="1" noEditPoints="1" noAdjustHandles="1" noChangeArrowheads="1" noChangeShapeType="1" noTextEdit="1"/>
              </p:cNvSpPr>
              <p:nvPr/>
            </p:nvSpPr>
            <p:spPr>
              <a:xfrm>
                <a:off x="220652" y="1332516"/>
                <a:ext cx="11750696" cy="1024098"/>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378D13E3-D5EC-438E-BA9B-213A1A8E8038}"/>
                  </a:ext>
                </a:extLst>
              </p:cNvPr>
              <p:cNvSpPr txBox="1"/>
              <p:nvPr/>
            </p:nvSpPr>
            <p:spPr>
              <a:xfrm>
                <a:off x="220652" y="840073"/>
                <a:ext cx="11283092" cy="492443"/>
              </a:xfrm>
              <a:prstGeom prst="rect">
                <a:avLst/>
              </a:prstGeom>
              <a:noFill/>
            </p:spPr>
            <p:txBody>
              <a:bodyPr wrap="square" rtlCol="0">
                <a:spAutoFit/>
              </a:bodyPr>
              <a:lstStyle/>
              <a:p>
                <a:r>
                  <a:rPr lang="es-MX" sz="2600" b="1" dirty="0">
                    <a:ea typeface="Roboto" panose="02000000000000000000" pitchFamily="2" charset="0"/>
                  </a:rPr>
                  <a:t>Ejercicio de repaso — Relación 2: </a:t>
                </a:r>
                <a14:m>
                  <m:oMath xmlns:m="http://schemas.openxmlformats.org/officeDocument/2006/math">
                    <m:r>
                      <a:rPr lang="es-MX" sz="2600" b="1" i="1" dirty="0" smtClean="0">
                        <a:latin typeface="Cambria Math" panose="02040503050406030204" pitchFamily="18" charset="0"/>
                        <a:ea typeface="Roboto" panose="02000000000000000000" pitchFamily="2" charset="0"/>
                      </a:rPr>
                      <m:t>𝒂</m:t>
                    </m:r>
                    <m:r>
                      <a:rPr lang="es-MX" sz="2600" b="1" i="1" dirty="0" smtClean="0">
                        <a:latin typeface="Cambria Math" panose="02040503050406030204" pitchFamily="18" charset="0"/>
                        <a:ea typeface="Roboto" panose="02000000000000000000" pitchFamily="2" charset="0"/>
                      </a:rPr>
                      <m:t> + </m:t>
                    </m:r>
                    <m:r>
                      <a:rPr lang="es-MX" sz="2600" b="1" i="1" dirty="0" smtClean="0">
                        <a:latin typeface="Cambria Math" panose="02040503050406030204" pitchFamily="18" charset="0"/>
                        <a:ea typeface="Roboto" panose="02000000000000000000" pitchFamily="2" charset="0"/>
                      </a:rPr>
                      <m:t>𝒃</m:t>
                    </m:r>
                    <m:r>
                      <a:rPr lang="es-MX" sz="2600" b="1" i="1" dirty="0" smtClean="0">
                        <a:latin typeface="Cambria Math" panose="02040503050406030204" pitchFamily="18" charset="0"/>
                        <a:ea typeface="Roboto" panose="02000000000000000000" pitchFamily="2" charset="0"/>
                      </a:rPr>
                      <m:t> = </m:t>
                    </m:r>
                    <m:r>
                      <a:rPr lang="es-MX" sz="2600" b="1" i="1" dirty="0" smtClean="0">
                        <a:latin typeface="Cambria Math" panose="02040503050406030204" pitchFamily="18" charset="0"/>
                        <a:ea typeface="Roboto" panose="02000000000000000000" pitchFamily="2" charset="0"/>
                      </a:rPr>
                      <m:t>𝟒</m:t>
                    </m:r>
                  </m:oMath>
                </a14:m>
                <a:endParaRPr lang="es-MX" sz="2600" b="1" dirty="0">
                  <a:ea typeface="Roboto" panose="02000000000000000000" pitchFamily="2" charset="0"/>
                </a:endParaRPr>
              </a:p>
            </p:txBody>
          </p:sp>
        </mc:Choice>
        <mc:Fallback>
          <p:sp>
            <p:nvSpPr>
              <p:cNvPr id="5" name="CuadroTexto 4">
                <a:extLst>
                  <a:ext uri="{FF2B5EF4-FFF2-40B4-BE49-F238E27FC236}">
                    <a16:creationId xmlns:a16="http://schemas.microsoft.com/office/drawing/2014/main" id="{378D13E3-D5EC-438E-BA9B-213A1A8E8038}"/>
                  </a:ext>
                </a:extLst>
              </p:cNvPr>
              <p:cNvSpPr txBox="1">
                <a:spLocks noRot="1" noChangeAspect="1" noMove="1" noResize="1" noEditPoints="1" noAdjustHandles="1" noChangeArrowheads="1" noChangeShapeType="1" noTextEdit="1"/>
              </p:cNvSpPr>
              <p:nvPr/>
            </p:nvSpPr>
            <p:spPr>
              <a:xfrm>
                <a:off x="220652" y="840073"/>
                <a:ext cx="11283092" cy="492443"/>
              </a:xfrm>
              <a:prstGeom prst="rect">
                <a:avLst/>
              </a:prstGeom>
              <a:blipFill>
                <a:blip r:embed="rId4"/>
                <a:stretch>
                  <a:fillRect l="-972" t="-9877" b="-30864"/>
                </a:stretch>
              </a:blipFill>
            </p:spPr>
            <p:txBody>
              <a:bodyPr/>
              <a:lstStyle/>
              <a:p>
                <a:r>
                  <a:rPr lang="es-CO">
                    <a:noFill/>
                  </a:rPr>
                  <a:t> </a:t>
                </a:r>
              </a:p>
            </p:txBody>
          </p:sp>
        </mc:Fallback>
      </mc:AlternateContent>
    </p:spTree>
    <p:extLst>
      <p:ext uri="{BB962C8B-B14F-4D97-AF65-F5344CB8AC3E}">
        <p14:creationId xmlns:p14="http://schemas.microsoft.com/office/powerpoint/2010/main" val="3179409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220652" y="96038"/>
            <a:ext cx="899999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Relaciones</a:t>
            </a:r>
            <a:endParaRPr dirty="0"/>
          </a:p>
        </p:txBody>
      </p:sp>
      <mc:AlternateContent xmlns:mc="http://schemas.openxmlformats.org/markup-compatibility/2006">
        <mc:Choice xmlns:a14="http://schemas.microsoft.com/office/drawing/2010/main" Requires="a14">
          <p:sp>
            <p:nvSpPr>
              <p:cNvPr id="4" name="Google Shape;310;p34">
                <a:extLst>
                  <a:ext uri="{FF2B5EF4-FFF2-40B4-BE49-F238E27FC236}">
                    <a16:creationId xmlns:a16="http://schemas.microsoft.com/office/drawing/2014/main" id="{4B63BCAC-785A-45B3-BC32-BFE1449FF61B}"/>
                  </a:ext>
                </a:extLst>
              </p:cNvPr>
              <p:cNvSpPr txBox="1">
                <a:spLocks/>
              </p:cNvSpPr>
              <p:nvPr/>
            </p:nvSpPr>
            <p:spPr>
              <a:xfrm>
                <a:off x="220652" y="1332516"/>
                <a:ext cx="11750696" cy="10240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14:m>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0,1,2,3,4</m:t>
                        </m:r>
                      </m:e>
                    </m:d>
                  </m:oMath>
                </a14:m>
                <a:r>
                  <a:rPr lang="es-MX" sz="2000" dirty="0">
                    <a:latin typeface="+mn-lt"/>
                    <a:ea typeface="Roboto" panose="02000000000000000000" pitchFamily="2" charset="0"/>
                  </a:rPr>
                  <a:t> y </a:t>
                </a:r>
                <a14:m>
                  <m:oMath xmlns:m="http://schemas.openxmlformats.org/officeDocument/2006/math">
                    <m:r>
                      <a:rPr lang="es-MX" sz="2000" b="0" i="1" smtClean="0">
                        <a:latin typeface="Cambria Math" panose="02040503050406030204" pitchFamily="18" charset="0"/>
                        <a:ea typeface="Roboto" panose="02000000000000000000" pitchFamily="2" charset="0"/>
                      </a:rPr>
                      <m:t>𝐵</m:t>
                    </m:r>
                    <m:r>
                      <a:rPr lang="es-MX" sz="2000" b="0" i="1" smtClean="0">
                        <a:latin typeface="Cambria Math" panose="02040503050406030204" pitchFamily="18" charset="0"/>
                        <a:ea typeface="Roboto" panose="02000000000000000000" pitchFamily="2" charset="0"/>
                      </a:rPr>
                      <m:t>={0,1,2,3}</m:t>
                    </m:r>
                  </m:oMath>
                </a14:m>
                <a:r>
                  <a:rPr lang="es-MX" sz="2000" dirty="0">
                    <a:latin typeface="+mn-lt"/>
                    <a:ea typeface="Roboto" panose="02000000000000000000" pitchFamily="2" charset="0"/>
                  </a:rPr>
                  <a:t> </a:t>
                </a:r>
                <a:endParaRPr lang="es-MX" sz="2000" b="0" i="1" dirty="0">
                  <a:latin typeface="Cambria Math" panose="02040503050406030204" pitchFamily="18" charset="0"/>
                  <a:ea typeface="Roboto" panose="02000000000000000000" pitchFamily="2" charset="0"/>
                </a:endParaRPr>
              </a:p>
              <a:p>
                <a:pPr/>
                <a14:m>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𝐵</m:t>
                        </m:r>
                      </m:e>
                    </m:d>
                    <m:r>
                      <a:rPr lang="es-MX" sz="2000" i="1">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&gt;</m:t>
                    </m:r>
                    <m:r>
                      <a:rPr lang="es-MX" sz="2000" i="1">
                        <a:latin typeface="Cambria Math" panose="02040503050406030204" pitchFamily="18" charset="0"/>
                        <a:ea typeface="Roboto" panose="02000000000000000000" pitchFamily="2" charset="0"/>
                      </a:rPr>
                      <m:t>𝑏</m:t>
                    </m:r>
                    <m:r>
                      <a:rPr lang="es-MX" sz="2000" i="1">
                        <a:latin typeface="Cambria Math" panose="02040503050406030204" pitchFamily="18" charset="0"/>
                        <a:ea typeface="Roboto" panose="02000000000000000000" pitchFamily="2" charset="0"/>
                      </a:rPr>
                      <m:t>}</m:t>
                    </m:r>
                  </m:oMath>
                </a14:m>
                <a:endParaRPr lang="es-MX" sz="2000" i="1" dirty="0">
                  <a:latin typeface="Cambria Math" panose="02040503050406030204" pitchFamily="18" charset="0"/>
                  <a:ea typeface="Roboto" panose="02000000000000000000" pitchFamily="2" charset="0"/>
                </a:endParaRPr>
              </a:p>
              <a:p>
                <a:pPr marL="584200" indent="-457200">
                  <a:buFont typeface="+mj-lt"/>
                  <a:buAutoNum type="arabicPeriod"/>
                </a:pPr>
                <a:endParaRPr lang="es-MX" sz="2000" i="1" dirty="0">
                  <a:latin typeface="Cambria Math" panose="02040503050406030204" pitchFamily="18" charset="0"/>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4" name="Google Shape;310;p34">
                <a:extLst>
                  <a:ext uri="{FF2B5EF4-FFF2-40B4-BE49-F238E27FC236}">
                    <a16:creationId xmlns:a16="http://schemas.microsoft.com/office/drawing/2014/main" id="{4B63BCAC-785A-45B3-BC32-BFE1449FF61B}"/>
                  </a:ext>
                </a:extLst>
              </p:cNvPr>
              <p:cNvSpPr txBox="1">
                <a:spLocks noRot="1" noChangeAspect="1" noMove="1" noResize="1" noEditPoints="1" noAdjustHandles="1" noChangeArrowheads="1" noChangeShapeType="1" noTextEdit="1"/>
              </p:cNvSpPr>
              <p:nvPr/>
            </p:nvSpPr>
            <p:spPr>
              <a:xfrm>
                <a:off x="220652" y="1332516"/>
                <a:ext cx="11750696" cy="1024098"/>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378D13E3-D5EC-438E-BA9B-213A1A8E8038}"/>
                  </a:ext>
                </a:extLst>
              </p:cNvPr>
              <p:cNvSpPr txBox="1"/>
              <p:nvPr/>
            </p:nvSpPr>
            <p:spPr>
              <a:xfrm>
                <a:off x="220652" y="840073"/>
                <a:ext cx="11283092" cy="492443"/>
              </a:xfrm>
              <a:prstGeom prst="rect">
                <a:avLst/>
              </a:prstGeom>
              <a:noFill/>
            </p:spPr>
            <p:txBody>
              <a:bodyPr wrap="square" rtlCol="0">
                <a:spAutoFit/>
              </a:bodyPr>
              <a:lstStyle/>
              <a:p>
                <a:r>
                  <a:rPr lang="es-MX" sz="2600" b="1" dirty="0">
                    <a:ea typeface="Roboto" panose="02000000000000000000" pitchFamily="2" charset="0"/>
                  </a:rPr>
                  <a:t>Ejercicio de repaso — Relación 3: </a:t>
                </a:r>
                <a14:m>
                  <m:oMath xmlns:m="http://schemas.openxmlformats.org/officeDocument/2006/math">
                    <m:r>
                      <a:rPr lang="es-MX" sz="2600" b="1" i="1" dirty="0" smtClean="0">
                        <a:latin typeface="Cambria Math" panose="02040503050406030204" pitchFamily="18" charset="0"/>
                        <a:ea typeface="Roboto" panose="02000000000000000000" pitchFamily="2" charset="0"/>
                      </a:rPr>
                      <m:t>𝒂</m:t>
                    </m:r>
                    <m:r>
                      <a:rPr lang="es-MX" sz="2600" b="1" i="1" dirty="0" smtClean="0">
                        <a:latin typeface="Cambria Math" panose="02040503050406030204" pitchFamily="18" charset="0"/>
                        <a:ea typeface="Roboto" panose="02000000000000000000" pitchFamily="2" charset="0"/>
                      </a:rPr>
                      <m:t>&gt;</m:t>
                    </m:r>
                    <m:r>
                      <a:rPr lang="es-MX" sz="2600" b="1" i="1" dirty="0" smtClean="0">
                        <a:latin typeface="Cambria Math" panose="02040503050406030204" pitchFamily="18" charset="0"/>
                        <a:ea typeface="Roboto" panose="02000000000000000000" pitchFamily="2" charset="0"/>
                      </a:rPr>
                      <m:t>𝒃</m:t>
                    </m:r>
                  </m:oMath>
                </a14:m>
                <a:endParaRPr lang="es-MX" sz="2600" b="1" dirty="0">
                  <a:ea typeface="Roboto" panose="02000000000000000000" pitchFamily="2" charset="0"/>
                </a:endParaRPr>
              </a:p>
            </p:txBody>
          </p:sp>
        </mc:Choice>
        <mc:Fallback>
          <p:sp>
            <p:nvSpPr>
              <p:cNvPr id="5" name="CuadroTexto 4">
                <a:extLst>
                  <a:ext uri="{FF2B5EF4-FFF2-40B4-BE49-F238E27FC236}">
                    <a16:creationId xmlns:a16="http://schemas.microsoft.com/office/drawing/2014/main" id="{378D13E3-D5EC-438E-BA9B-213A1A8E8038}"/>
                  </a:ext>
                </a:extLst>
              </p:cNvPr>
              <p:cNvSpPr txBox="1">
                <a:spLocks noRot="1" noChangeAspect="1" noMove="1" noResize="1" noEditPoints="1" noAdjustHandles="1" noChangeArrowheads="1" noChangeShapeType="1" noTextEdit="1"/>
              </p:cNvSpPr>
              <p:nvPr/>
            </p:nvSpPr>
            <p:spPr>
              <a:xfrm>
                <a:off x="220652" y="840073"/>
                <a:ext cx="11283092" cy="492443"/>
              </a:xfrm>
              <a:prstGeom prst="rect">
                <a:avLst/>
              </a:prstGeom>
              <a:blipFill>
                <a:blip r:embed="rId4"/>
                <a:stretch>
                  <a:fillRect l="-972" t="-9877" b="-30864"/>
                </a:stretch>
              </a:blipFill>
            </p:spPr>
            <p:txBody>
              <a:bodyPr/>
              <a:lstStyle/>
              <a:p>
                <a:r>
                  <a:rPr lang="es-CO">
                    <a:noFill/>
                  </a:rPr>
                  <a:t> </a:t>
                </a:r>
              </a:p>
            </p:txBody>
          </p:sp>
        </mc:Fallback>
      </mc:AlternateContent>
    </p:spTree>
    <p:extLst>
      <p:ext uri="{BB962C8B-B14F-4D97-AF65-F5344CB8AC3E}">
        <p14:creationId xmlns:p14="http://schemas.microsoft.com/office/powerpoint/2010/main" val="1708446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220652" y="96038"/>
            <a:ext cx="899999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Relaciones</a:t>
            </a:r>
            <a:endParaRPr dirty="0"/>
          </a:p>
        </p:txBody>
      </p:sp>
      <mc:AlternateContent xmlns:mc="http://schemas.openxmlformats.org/markup-compatibility/2006">
        <mc:Choice xmlns:a14="http://schemas.microsoft.com/office/drawing/2010/main" Requires="a14">
          <p:sp>
            <p:nvSpPr>
              <p:cNvPr id="4" name="Google Shape;310;p34">
                <a:extLst>
                  <a:ext uri="{FF2B5EF4-FFF2-40B4-BE49-F238E27FC236}">
                    <a16:creationId xmlns:a16="http://schemas.microsoft.com/office/drawing/2014/main" id="{4B63BCAC-785A-45B3-BC32-BFE1449FF61B}"/>
                  </a:ext>
                </a:extLst>
              </p:cNvPr>
              <p:cNvSpPr txBox="1">
                <a:spLocks/>
              </p:cNvSpPr>
              <p:nvPr/>
            </p:nvSpPr>
            <p:spPr>
              <a:xfrm>
                <a:off x="220652" y="1332516"/>
                <a:ext cx="11750696" cy="10240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14:m>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0,1,2,3,4</m:t>
                        </m:r>
                      </m:e>
                    </m:d>
                  </m:oMath>
                </a14:m>
                <a:r>
                  <a:rPr lang="es-MX" sz="2000" dirty="0">
                    <a:latin typeface="+mn-lt"/>
                    <a:ea typeface="Roboto" panose="02000000000000000000" pitchFamily="2" charset="0"/>
                  </a:rPr>
                  <a:t> y </a:t>
                </a:r>
                <a14:m>
                  <m:oMath xmlns:m="http://schemas.openxmlformats.org/officeDocument/2006/math">
                    <m:r>
                      <a:rPr lang="es-MX" sz="2000" b="0" i="1" smtClean="0">
                        <a:latin typeface="Cambria Math" panose="02040503050406030204" pitchFamily="18" charset="0"/>
                        <a:ea typeface="Roboto" panose="02000000000000000000" pitchFamily="2" charset="0"/>
                      </a:rPr>
                      <m:t>𝐵</m:t>
                    </m:r>
                    <m:r>
                      <a:rPr lang="es-MX" sz="2000" b="0" i="1" smtClean="0">
                        <a:latin typeface="Cambria Math" panose="02040503050406030204" pitchFamily="18" charset="0"/>
                        <a:ea typeface="Roboto" panose="02000000000000000000" pitchFamily="2" charset="0"/>
                      </a:rPr>
                      <m:t>={0,1,2,3}</m:t>
                    </m:r>
                  </m:oMath>
                </a14:m>
                <a:r>
                  <a:rPr lang="es-MX" sz="2000" dirty="0">
                    <a:latin typeface="+mn-lt"/>
                    <a:ea typeface="Roboto" panose="02000000000000000000" pitchFamily="2" charset="0"/>
                  </a:rPr>
                  <a:t> </a:t>
                </a:r>
                <a:endParaRPr lang="es-MX" sz="2000" b="0" i="1" dirty="0">
                  <a:latin typeface="Cambria Math" panose="02040503050406030204" pitchFamily="18" charset="0"/>
                  <a:ea typeface="Roboto" panose="02000000000000000000" pitchFamily="2" charset="0"/>
                </a:endParaRPr>
              </a:p>
              <a:p>
                <a:pPr/>
                <a14:m>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𝐵</m:t>
                        </m:r>
                      </m:e>
                    </m:d>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≠0 ∧</m:t>
                    </m:r>
                    <m:r>
                      <a:rPr lang="es-MX" sz="2000" i="1">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𝑏</m:t>
                    </m:r>
                    <m:r>
                      <a:rPr lang="es-MX" sz="2000" i="1">
                        <a:latin typeface="Cambria Math" panose="02040503050406030204" pitchFamily="18" charset="0"/>
                        <a:ea typeface="Roboto" panose="02000000000000000000" pitchFamily="2" charset="0"/>
                      </a:rPr>
                      <m:t>}</m:t>
                    </m:r>
                  </m:oMath>
                </a14:m>
                <a:endParaRPr lang="es-MX" sz="2000" i="1" dirty="0">
                  <a:latin typeface="Cambria Math" panose="02040503050406030204" pitchFamily="18" charset="0"/>
                  <a:ea typeface="Roboto" panose="02000000000000000000" pitchFamily="2" charset="0"/>
                </a:endParaRPr>
              </a:p>
              <a:p>
                <a:pPr marL="584200" indent="-457200">
                  <a:buFont typeface="+mj-lt"/>
                  <a:buAutoNum type="arabicPeriod"/>
                </a:pPr>
                <a:endParaRPr lang="es-MX" sz="2000" i="1" dirty="0">
                  <a:latin typeface="Cambria Math" panose="02040503050406030204" pitchFamily="18" charset="0"/>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4" name="Google Shape;310;p34">
                <a:extLst>
                  <a:ext uri="{FF2B5EF4-FFF2-40B4-BE49-F238E27FC236}">
                    <a16:creationId xmlns:a16="http://schemas.microsoft.com/office/drawing/2014/main" id="{4B63BCAC-785A-45B3-BC32-BFE1449FF61B}"/>
                  </a:ext>
                </a:extLst>
              </p:cNvPr>
              <p:cNvSpPr txBox="1">
                <a:spLocks noRot="1" noChangeAspect="1" noMove="1" noResize="1" noEditPoints="1" noAdjustHandles="1" noChangeArrowheads="1" noChangeShapeType="1" noTextEdit="1"/>
              </p:cNvSpPr>
              <p:nvPr/>
            </p:nvSpPr>
            <p:spPr>
              <a:xfrm>
                <a:off x="220652" y="1332516"/>
                <a:ext cx="11750696" cy="1024098"/>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378D13E3-D5EC-438E-BA9B-213A1A8E8038}"/>
                  </a:ext>
                </a:extLst>
              </p:cNvPr>
              <p:cNvSpPr txBox="1"/>
              <p:nvPr/>
            </p:nvSpPr>
            <p:spPr>
              <a:xfrm>
                <a:off x="220652" y="840073"/>
                <a:ext cx="11283092" cy="523220"/>
              </a:xfrm>
              <a:prstGeom prst="rect">
                <a:avLst/>
              </a:prstGeom>
              <a:noFill/>
            </p:spPr>
            <p:txBody>
              <a:bodyPr wrap="square" rtlCol="0">
                <a:spAutoFit/>
              </a:bodyPr>
              <a:lstStyle/>
              <a:p>
                <a:r>
                  <a:rPr lang="es-MX" sz="2600" b="1" dirty="0">
                    <a:ea typeface="Roboto" panose="02000000000000000000" pitchFamily="2" charset="0"/>
                  </a:rPr>
                  <a:t>Ejercicio de repaso — Relación 4:</a:t>
                </a:r>
                <a14:m>
                  <m:oMath xmlns:m="http://schemas.openxmlformats.org/officeDocument/2006/math">
                    <m:r>
                      <a:rPr lang="es-MX" sz="2800" b="1" i="0" smtClean="0">
                        <a:latin typeface="Cambria Math" panose="02040503050406030204" pitchFamily="18" charset="0"/>
                        <a:ea typeface="Roboto" panose="02000000000000000000" pitchFamily="2" charset="0"/>
                      </a:rPr>
                      <m:t> </m:t>
                    </m:r>
                    <m:d>
                      <m:dPr>
                        <m:begChr m:val=""/>
                        <m:endChr m:val="|"/>
                        <m:ctrlPr>
                          <a:rPr lang="es-MX" sz="2800" b="1" i="1">
                            <a:latin typeface="Cambria Math" panose="02040503050406030204" pitchFamily="18" charset="0"/>
                            <a:ea typeface="Roboto" panose="02000000000000000000" pitchFamily="2" charset="0"/>
                          </a:rPr>
                        </m:ctrlPr>
                      </m:dPr>
                      <m:e>
                        <m:r>
                          <a:rPr lang="es-MX" sz="2800" b="1" i="1">
                            <a:latin typeface="Cambria Math" panose="02040503050406030204" pitchFamily="18" charset="0"/>
                            <a:ea typeface="Roboto" panose="02000000000000000000" pitchFamily="2" charset="0"/>
                          </a:rPr>
                          <m:t>𝒂</m:t>
                        </m:r>
                      </m:e>
                    </m:d>
                    <m:r>
                      <a:rPr lang="es-MX" sz="2800" b="1" i="1">
                        <a:latin typeface="Cambria Math" panose="02040503050406030204" pitchFamily="18" charset="0"/>
                        <a:ea typeface="Roboto" panose="02000000000000000000" pitchFamily="2" charset="0"/>
                      </a:rPr>
                      <m:t>𝒃</m:t>
                    </m:r>
                  </m:oMath>
                </a14:m>
                <a:endParaRPr lang="es-MX" sz="2600" b="1" dirty="0">
                  <a:ea typeface="Roboto" panose="02000000000000000000" pitchFamily="2" charset="0"/>
                </a:endParaRPr>
              </a:p>
            </p:txBody>
          </p:sp>
        </mc:Choice>
        <mc:Fallback>
          <p:sp>
            <p:nvSpPr>
              <p:cNvPr id="5" name="CuadroTexto 4">
                <a:extLst>
                  <a:ext uri="{FF2B5EF4-FFF2-40B4-BE49-F238E27FC236}">
                    <a16:creationId xmlns:a16="http://schemas.microsoft.com/office/drawing/2014/main" id="{378D13E3-D5EC-438E-BA9B-213A1A8E8038}"/>
                  </a:ext>
                </a:extLst>
              </p:cNvPr>
              <p:cNvSpPr txBox="1">
                <a:spLocks noRot="1" noChangeAspect="1" noMove="1" noResize="1" noEditPoints="1" noAdjustHandles="1" noChangeArrowheads="1" noChangeShapeType="1" noTextEdit="1"/>
              </p:cNvSpPr>
              <p:nvPr/>
            </p:nvSpPr>
            <p:spPr>
              <a:xfrm>
                <a:off x="220652" y="840073"/>
                <a:ext cx="11283092" cy="523220"/>
              </a:xfrm>
              <a:prstGeom prst="rect">
                <a:avLst/>
              </a:prstGeom>
              <a:blipFill>
                <a:blip r:embed="rId4"/>
                <a:stretch>
                  <a:fillRect l="-972" t="-4651" b="-27907"/>
                </a:stretch>
              </a:blipFill>
            </p:spPr>
            <p:txBody>
              <a:bodyPr/>
              <a:lstStyle/>
              <a:p>
                <a:r>
                  <a:rPr lang="es-CO">
                    <a:noFill/>
                  </a:rPr>
                  <a:t> </a:t>
                </a:r>
              </a:p>
            </p:txBody>
          </p:sp>
        </mc:Fallback>
      </mc:AlternateContent>
    </p:spTree>
    <p:extLst>
      <p:ext uri="{BB962C8B-B14F-4D97-AF65-F5344CB8AC3E}">
        <p14:creationId xmlns:p14="http://schemas.microsoft.com/office/powerpoint/2010/main" val="758112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44702" y="96038"/>
            <a:ext cx="877594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44702" y="911500"/>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Definición: Relación sobre un solo conjunto</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77277" y="1442442"/>
                <a:ext cx="11637445" cy="467813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Una relación sobre </a:t>
                </a:r>
                <a14:m>
                  <m:oMath xmlns:m="http://schemas.openxmlformats.org/officeDocument/2006/math">
                    <m:r>
                      <a:rPr lang="es-MX" sz="2000" i="1" dirty="0"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es una relación de </a:t>
                </a:r>
                <a14:m>
                  <m:oMath xmlns:m="http://schemas.openxmlformats.org/officeDocument/2006/math">
                    <m:r>
                      <a:rPr lang="es-MX" sz="2000" i="1" dirty="0"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en </a:t>
                </a:r>
                <a14:m>
                  <m:oMath xmlns:m="http://schemas.openxmlformats.org/officeDocument/2006/math">
                    <m:r>
                      <a:rPr lang="es-MX" sz="2000" i="1" dirty="0"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un subconjunto de </a:t>
                </a:r>
                <a14:m>
                  <m:oMath xmlns:m="http://schemas.openxmlformats.org/officeDocument/2006/math">
                    <m:r>
                      <a:rPr lang="es-MX" sz="2000" i="1" dirty="0" smtClean="0">
                        <a:latin typeface="Cambria Math" panose="02040503050406030204" pitchFamily="18" charset="0"/>
                        <a:ea typeface="Roboto" panose="02000000000000000000" pitchFamily="2" charset="0"/>
                      </a:rPr>
                      <m:t>𝐴</m:t>
                    </m:r>
                    <m:r>
                      <a:rPr lang="es-MX" sz="2000" i="1" dirty="0" smtClean="0">
                        <a:latin typeface="Cambria Math" panose="02040503050406030204" pitchFamily="18" charset="0"/>
                        <a:ea typeface="Roboto" panose="02000000000000000000" pitchFamily="2" charset="0"/>
                      </a:rPr>
                      <m:t> × </m:t>
                    </m:r>
                    <m:r>
                      <a:rPr lang="es-MX" sz="2000" i="1" dirty="0"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a:t>
                </a:r>
              </a:p>
              <a:p>
                <a:pPr marL="127000" indent="0">
                  <a:buNone/>
                </a:pPr>
                <a:endParaRPr lang="es-MX" sz="20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i="1" smtClean="0">
                          <a:latin typeface="Cambria Math" panose="02040503050406030204" pitchFamily="18" charset="0"/>
                          <a:ea typeface="Roboto" panose="02000000000000000000" pitchFamily="2" charset="0"/>
                        </a:rPr>
                        <m:t>𝑅</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m:rPr>
                          <m:sty m:val="p"/>
                        </m:rPr>
                        <a:rPr lang="es-MX" sz="2000" i="1">
                          <a:latin typeface="Cambria Math" panose="02040503050406030204" pitchFamily="18" charset="0"/>
                          <a:ea typeface="Cambria Math" panose="02040503050406030204" pitchFamily="18" charset="0"/>
                        </a:rPr>
                        <m:t>A</m:t>
                      </m:r>
                    </m:oMath>
                  </m:oMathPara>
                </a14:m>
                <a:endParaRPr lang="es-MX" sz="2000" dirty="0">
                  <a:latin typeface="+mn-lt"/>
                  <a:ea typeface="Roboto" panose="02000000000000000000" pitchFamily="2" charset="0"/>
                </a:endParaRPr>
              </a:p>
              <a:p>
                <a:pPr marL="127000" indent="0">
                  <a:buNone/>
                </a:pPr>
                <a:r>
                  <a:rPr lang="es-MX" sz="2000" dirty="0">
                    <a:latin typeface="+mn-lt"/>
                    <a:ea typeface="Roboto" panose="02000000000000000000" pitchFamily="2" charset="0"/>
                  </a:rPr>
                  <a:t>Es el caso particular </a:t>
                </a:r>
                <a14:m>
                  <m:oMath xmlns:m="http://schemas.openxmlformats.org/officeDocument/2006/math">
                    <m:r>
                      <a:rPr lang="es-MX" sz="2000" i="1" dirty="0" smtClean="0">
                        <a:latin typeface="Cambria Math" panose="02040503050406030204" pitchFamily="18" charset="0"/>
                        <a:ea typeface="Roboto" panose="02000000000000000000" pitchFamily="2" charset="0"/>
                      </a:rPr>
                      <m:t>𝐵</m:t>
                    </m:r>
                    <m:r>
                      <a:rPr lang="es-MX" sz="2000" i="1" dirty="0" smtClean="0">
                        <a:latin typeface="Cambria Math" panose="02040503050406030204" pitchFamily="18" charset="0"/>
                        <a:ea typeface="Roboto" panose="02000000000000000000" pitchFamily="2" charset="0"/>
                      </a:rPr>
                      <m:t> = </m:t>
                    </m:r>
                    <m:r>
                      <a:rPr lang="es-MX" sz="2000" i="1" dirty="0"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los dos elementos del par provienen del mismo conjunto.</a:t>
                </a:r>
              </a:p>
              <a:p>
                <a:pPr marL="127000" indent="0">
                  <a:buNone/>
                </a:pPr>
                <a:r>
                  <a:rPr lang="es-MX" sz="2000" dirty="0">
                    <a:latin typeface="+mn-lt"/>
                    <a:ea typeface="Roboto" panose="02000000000000000000" pitchFamily="2" charset="0"/>
                  </a:rPr>
                  <a:t>Cuando los pares se eligen mediante una propiedad </a:t>
                </a:r>
                <a14:m>
                  <m:oMath xmlns:m="http://schemas.openxmlformats.org/officeDocument/2006/math">
                    <m:r>
                      <a:rPr lang="es-MX" sz="2000" b="0" i="1" smtClean="0">
                        <a:latin typeface="Cambria Math" panose="02040503050406030204" pitchFamily="18" charset="0"/>
                        <a:ea typeface="Cambria Math" panose="02040503050406030204" pitchFamily="18" charset="0"/>
                      </a:rPr>
                      <m:t>𝑃</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𝑦</m:t>
                        </m:r>
                      </m:e>
                    </m:d>
                  </m:oMath>
                </a14:m>
                <a:r>
                  <a:rPr lang="es-MX" sz="2000" dirty="0">
                    <a:latin typeface="+mn-lt"/>
                    <a:ea typeface="Roboto" panose="02000000000000000000" pitchFamily="2" charset="0"/>
                  </a:rPr>
                  <a:t>:</a:t>
                </a:r>
              </a:p>
              <a:p>
                <a:pPr marL="127000" indent="0">
                  <a:buNone/>
                </a:pPr>
                <a:endParaRPr lang="es-MX" sz="20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e>
                        <m:e>
                          <m:r>
                            <a:rPr lang="es-MX" sz="2000" b="0" i="1" smtClean="0">
                              <a:latin typeface="Cambria Math" panose="02040503050406030204" pitchFamily="18" charset="0"/>
                              <a:ea typeface="Cambria Math" panose="02040503050406030204" pitchFamily="18" charset="0"/>
                            </a:rPr>
                            <m:t>𝑃</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𝑦</m:t>
                              </m:r>
                            </m:e>
                          </m:d>
                        </m:e>
                      </m:d>
                    </m:oMath>
                  </m:oMathPara>
                </a14:m>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r>
                  <a:rPr lang="es-MX" sz="2000" b="1" dirty="0">
                    <a:latin typeface="+mn-lt"/>
                    <a:ea typeface="Roboto" panose="02000000000000000000" pitchFamily="2" charset="0"/>
                  </a:rPr>
                  <a:t>Ejemplos vistos</a:t>
                </a:r>
                <a:r>
                  <a:rPr lang="es-MX" sz="2000" dirty="0">
                    <a:latin typeface="+mn-lt"/>
                    <a:ea typeface="Roboto" panose="02000000000000000000" pitchFamily="2" charset="0"/>
                  </a:rPr>
                  <a:t>:</a:t>
                </a:r>
              </a:p>
              <a:p>
                <a:r>
                  <a:rPr lang="es-MX" sz="2000" b="1" dirty="0">
                    <a:latin typeface="+mn-lt"/>
                    <a:ea typeface="Roboto" panose="02000000000000000000" pitchFamily="2" charset="0"/>
                  </a:rPr>
                  <a:t>Red social</a:t>
                </a:r>
                <a:r>
                  <a:rPr lang="es-MX" sz="2000" dirty="0">
                    <a:latin typeface="+mn-lt"/>
                    <a:ea typeface="Roboto" panose="02000000000000000000" pitchFamily="2" charset="0"/>
                  </a:rPr>
                  <a:t>: </a:t>
                </a:r>
                <a14:m>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𝑝𝑒𝑟𝑠𝑜𝑛𝑎𝑠</m:t>
                    </m:r>
                  </m:oMath>
                </a14:m>
                <a:r>
                  <a:rPr lang="es-MX" sz="2000" dirty="0">
                    <a:latin typeface="+mn-lt"/>
                    <a:ea typeface="Roboto" panose="02000000000000000000" pitchFamily="2" charset="0"/>
                  </a:rPr>
                  <a:t>, </a:t>
                </a:r>
                <a14:m>
                  <m:oMath xmlns:m="http://schemas.openxmlformats.org/officeDocument/2006/math">
                    <m:r>
                      <a:rPr lang="es-MX" sz="2000" i="1">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𝑅𝑦</m:t>
                    </m:r>
                  </m:oMath>
                </a14:m>
                <a:r>
                  <a:rPr lang="es-MX" sz="2000" dirty="0">
                    <a:latin typeface="+mn-lt"/>
                    <a:ea typeface="Roboto" panose="02000000000000000000" pitchFamily="2" charset="0"/>
                  </a:rPr>
                  <a:t> si </a:t>
                </a:r>
                <a14:m>
                  <m:oMath xmlns:m="http://schemas.openxmlformats.org/officeDocument/2006/math">
                    <m:r>
                      <a:rPr lang="es-MX" sz="2000" i="1">
                        <a:latin typeface="Cambria Math" panose="02040503050406030204" pitchFamily="18" charset="0"/>
                        <a:ea typeface="Roboto" panose="02000000000000000000" pitchFamily="2" charset="0"/>
                      </a:rPr>
                      <m:t>𝑥</m:t>
                    </m:r>
                  </m:oMath>
                </a14:m>
                <a:r>
                  <a:rPr lang="es-MX" sz="2000" dirty="0">
                    <a:latin typeface="+mn-lt"/>
                    <a:ea typeface="Roboto" panose="02000000000000000000" pitchFamily="2" charset="0"/>
                  </a:rPr>
                  <a:t> conoce a </a:t>
                </a:r>
                <a14:m>
                  <m:oMath xmlns:m="http://schemas.openxmlformats.org/officeDocument/2006/math">
                    <m:r>
                      <a:rPr lang="es-MX" sz="2000" b="0" i="1" smtClean="0">
                        <a:latin typeface="Cambria Math" panose="02040503050406030204" pitchFamily="18" charset="0"/>
                        <a:ea typeface="Roboto" panose="02000000000000000000" pitchFamily="2" charset="0"/>
                      </a:rPr>
                      <m:t>𝑦</m:t>
                    </m:r>
                  </m:oMath>
                </a14:m>
                <a:endParaRPr lang="es-MX" sz="2000" dirty="0">
                  <a:latin typeface="+mn-lt"/>
                  <a:ea typeface="Roboto" panose="02000000000000000000" pitchFamily="2" charset="0"/>
                </a:endParaRPr>
              </a:p>
              <a:p>
                <a:r>
                  <a:rPr lang="es-MX" sz="2000" b="1" dirty="0">
                    <a:latin typeface="+mn-lt"/>
                    <a:ea typeface="Roboto" panose="02000000000000000000" pitchFamily="2" charset="0"/>
                  </a:rPr>
                  <a:t>Rutas de bus</a:t>
                </a:r>
                <a:r>
                  <a:rPr lang="es-MX" sz="2000" dirty="0">
                    <a:latin typeface="+mn-lt"/>
                    <a:ea typeface="Roboto" panose="02000000000000000000" pitchFamily="2" charset="0"/>
                  </a:rPr>
                  <a:t>: </a:t>
                </a:r>
                <a14:m>
                  <m:oMath xmlns:m="http://schemas.openxmlformats.org/officeDocument/2006/math">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𝑝𝑎𝑟𝑎𝑑𝑎𝑠</m:t>
                    </m:r>
                  </m:oMath>
                </a14:m>
                <a:r>
                  <a:rPr lang="es-MX" sz="2000" dirty="0">
                    <a:latin typeface="+mn-lt"/>
                    <a:ea typeface="Roboto" panose="02000000000000000000" pitchFamily="2" charset="0"/>
                  </a:rPr>
                  <a:t>, </a:t>
                </a:r>
                <a14:m>
                  <m:oMath xmlns:m="http://schemas.openxmlformats.org/officeDocument/2006/math">
                    <m:r>
                      <a:rPr lang="es-MX" sz="2000" i="1">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𝑅𝑦</m:t>
                    </m:r>
                  </m:oMath>
                </a14:m>
                <a:r>
                  <a:rPr lang="es-MX" sz="2000" dirty="0">
                    <a:latin typeface="+mn-lt"/>
                    <a:ea typeface="Roboto" panose="02000000000000000000" pitchFamily="2" charset="0"/>
                  </a:rPr>
                  <a:t> si hay un tramo directo de </a:t>
                </a:r>
                <a14:m>
                  <m:oMath xmlns:m="http://schemas.openxmlformats.org/officeDocument/2006/math">
                    <m:r>
                      <a:rPr lang="es-MX" sz="2000" i="1">
                        <a:latin typeface="Cambria Math" panose="02040503050406030204" pitchFamily="18" charset="0"/>
                        <a:ea typeface="Roboto" panose="02000000000000000000" pitchFamily="2" charset="0"/>
                      </a:rPr>
                      <m:t>𝑥</m:t>
                    </m:r>
                  </m:oMath>
                </a14:m>
                <a:r>
                  <a:rPr lang="es-MX" sz="2000" dirty="0">
                    <a:latin typeface="+mn-lt"/>
                    <a:ea typeface="Roboto" panose="02000000000000000000" pitchFamily="2" charset="0"/>
                  </a:rPr>
                  <a:t> a </a:t>
                </a:r>
                <a14:m>
                  <m:oMath xmlns:m="http://schemas.openxmlformats.org/officeDocument/2006/math">
                    <m:r>
                      <a:rPr lang="es-MX" sz="2000" b="0" i="1" smtClean="0">
                        <a:latin typeface="Cambria Math" panose="02040503050406030204" pitchFamily="18" charset="0"/>
                        <a:ea typeface="Roboto" panose="02000000000000000000" pitchFamily="2" charset="0"/>
                      </a:rPr>
                      <m:t>𝑦</m:t>
                    </m:r>
                  </m:oMath>
                </a14:m>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277277" y="1442442"/>
                <a:ext cx="11637445" cy="4678139"/>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798664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93487" y="96038"/>
            <a:ext cx="872716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78972" y="775553"/>
            <a:ext cx="9794504"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 5</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49827" y="1502232"/>
                <a:ext cx="4394188" cy="15825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Sea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={1,2,3,4}</m:t>
                    </m:r>
                  </m:oMath>
                </a14:m>
                <a:r>
                  <a:rPr lang="es-MX" sz="2000" dirty="0">
                    <a:latin typeface="+mn-lt"/>
                    <a:ea typeface="Roboto" panose="02000000000000000000" pitchFamily="2" charset="0"/>
                  </a:rPr>
                  <a:t> determine:</a:t>
                </a:r>
              </a:p>
              <a:p>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𝐴</m:t>
                    </m:r>
                  </m:oMath>
                </a14:m>
                <a:endParaRPr lang="es-MX" sz="2000" dirty="0">
                  <a:latin typeface="+mn-lt"/>
                  <a:ea typeface="Roboto" panose="02000000000000000000" pitchFamily="2" charset="0"/>
                </a:endParaRPr>
              </a:p>
              <a:p>
                <a:r>
                  <a:rPr lang="es-MX" sz="2000" dirty="0">
                    <a:latin typeface="+mn-lt"/>
                    <a:ea typeface="Roboto" panose="02000000000000000000" pitchFamily="2" charset="0"/>
                  </a:rPr>
                  <a:t>Los pares ordenados de la relación </a:t>
                </a:r>
                <a14:m>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e>
                        </m:d>
                      </m:e>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divide</m:t>
                        </m:r>
                        <m:r>
                          <a:rPr lang="es-MX" sz="2000" b="0" i="0"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a</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𝑏</m:t>
                        </m:r>
                      </m:e>
                    </m:d>
                  </m:oMath>
                </a14:m>
                <a:endParaRPr lang="es-MX" sz="20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49827" y="1502232"/>
                <a:ext cx="4394188" cy="1582547"/>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9E1730F1-D299-4C83-BF6A-5700830D82D0}"/>
                  </a:ext>
                </a:extLst>
              </p:cNvPr>
              <p:cNvSpPr txBox="1"/>
              <p:nvPr/>
            </p:nvSpPr>
            <p:spPr>
              <a:xfrm>
                <a:off x="5215324" y="2067347"/>
                <a:ext cx="6609117" cy="12330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𝐴</m:t>
                      </m:r>
                      <m:r>
                        <a:rPr lang="es-MX" sz="2000" b="0" i="1" smtClean="0">
                          <a:latin typeface="Cambria Math" panose="02040503050406030204" pitchFamily="18" charset="0"/>
                        </a:rPr>
                        <m:t>×</m:t>
                      </m:r>
                      <m:r>
                        <a:rPr lang="es-MX" sz="2000" b="0" i="1" smtClean="0">
                          <a:latin typeface="Cambria Math" panose="02040503050406030204" pitchFamily="18" charset="0"/>
                        </a:rPr>
                        <m:t>𝐴</m:t>
                      </m:r>
                      <m:r>
                        <a:rPr lang="es-MX" sz="2000" b="0" i="1" smtClean="0">
                          <a:latin typeface="Cambria Math" panose="02040503050406030204" pitchFamily="18" charset="0"/>
                        </a:rPr>
                        <m:t>=</m:t>
                      </m:r>
                      <m:d>
                        <m:dPr>
                          <m:begChr m:val="{"/>
                          <m:endChr m:val="}"/>
                          <m:ctrlPr>
                            <a:rPr lang="es-MX" sz="2000" b="0" i="1" smtClean="0">
                              <a:latin typeface="Cambria Math" panose="02040503050406030204" pitchFamily="18" charset="0"/>
                            </a:rPr>
                          </m:ctrlPr>
                        </m:dPr>
                        <m:e>
                          <m:r>
                            <a:rPr lang="es-MX" sz="2000" b="0" i="1" smtClean="0">
                              <a:latin typeface="Cambria Math" panose="02040503050406030204" pitchFamily="18" charset="0"/>
                            </a:rPr>
                            <m:t>1,2,3,4</m:t>
                          </m:r>
                        </m:e>
                      </m:d>
                      <m:r>
                        <a:rPr lang="es-MX" sz="2000" b="0" i="1" smtClean="0">
                          <a:latin typeface="Cambria Math" panose="02040503050406030204" pitchFamily="18" charset="0"/>
                        </a:rPr>
                        <m:t>×</m:t>
                      </m:r>
                      <m:d>
                        <m:dPr>
                          <m:begChr m:val="{"/>
                          <m:endChr m:val="}"/>
                          <m:ctrlPr>
                            <a:rPr lang="es-MX" sz="2000" b="0" i="1" smtClean="0">
                              <a:latin typeface="Cambria Math" panose="02040503050406030204" pitchFamily="18" charset="0"/>
                            </a:rPr>
                          </m:ctrlPr>
                        </m:dPr>
                        <m:e>
                          <m:r>
                            <a:rPr lang="es-MX" sz="2000" b="0" i="1" smtClean="0">
                              <a:latin typeface="Cambria Math" panose="02040503050406030204" pitchFamily="18" charset="0"/>
                            </a:rPr>
                            <m:t>1,2,3,4</m:t>
                          </m:r>
                        </m:e>
                      </m:d>
                      <m:r>
                        <a:rPr lang="es-MX" sz="2000" b="0" i="1" smtClean="0">
                          <a:latin typeface="Cambria Math" panose="02040503050406030204" pitchFamily="18" charset="0"/>
                        </a:rPr>
                        <m:t>=</m:t>
                      </m:r>
                      <m:d>
                        <m:dPr>
                          <m:begChr m:val="{"/>
                          <m:endChr m:val="}"/>
                          <m:ctrlPr>
                            <a:rPr lang="es-MX" sz="2000" b="0" i="1" smtClean="0">
                              <a:latin typeface="Cambria Math" panose="02040503050406030204" pitchFamily="18" charset="0"/>
                            </a:rPr>
                          </m:ctrlPr>
                        </m:dPr>
                        <m:e>
                          <m:eqArr>
                            <m:eqArrPr>
                              <m:ctrlPr>
                                <a:rPr lang="es-MX" sz="2000" b="0" i="1" smtClean="0">
                                  <a:latin typeface="Cambria Math" panose="02040503050406030204" pitchFamily="18" charset="0"/>
                                </a:rPr>
                              </m:ctrlPr>
                            </m:eqArrPr>
                            <m:e>
                              <m:d>
                                <m:dPr>
                                  <m:ctrlPr>
                                    <a:rPr lang="es-MX" sz="2000" b="1" i="1" smtClean="0">
                                      <a:solidFill>
                                        <a:srgbClr val="002060"/>
                                      </a:solidFill>
                                      <a:latin typeface="Cambria Math" panose="02040503050406030204" pitchFamily="18" charset="0"/>
                                    </a:rPr>
                                  </m:ctrlPr>
                                </m:dPr>
                                <m:e>
                                  <m:r>
                                    <a:rPr lang="es-MX" sz="2000" b="1" i="1" smtClean="0">
                                      <a:solidFill>
                                        <a:srgbClr val="002060"/>
                                      </a:solidFill>
                                      <a:latin typeface="Cambria Math" panose="02040503050406030204" pitchFamily="18" charset="0"/>
                                    </a:rPr>
                                    <m:t>𝟏</m:t>
                                  </m:r>
                                  <m:r>
                                    <a:rPr lang="es-MX" sz="2000" b="1" i="1" smtClean="0">
                                      <a:solidFill>
                                        <a:srgbClr val="002060"/>
                                      </a:solidFill>
                                      <a:latin typeface="Cambria Math" panose="02040503050406030204" pitchFamily="18" charset="0"/>
                                    </a:rPr>
                                    <m:t>,</m:t>
                                  </m:r>
                                  <m:r>
                                    <a:rPr lang="es-MX" sz="2000" b="1" i="1" smtClean="0">
                                      <a:solidFill>
                                        <a:srgbClr val="002060"/>
                                      </a:solidFill>
                                      <a:latin typeface="Cambria Math" panose="02040503050406030204" pitchFamily="18" charset="0"/>
                                    </a:rPr>
                                    <m:t>𝟏</m:t>
                                  </m:r>
                                </m:e>
                              </m:d>
                              <m:r>
                                <a:rPr lang="es-MX" sz="2000" b="1" i="1" smtClean="0">
                                  <a:solidFill>
                                    <a:srgbClr val="002060"/>
                                  </a:solidFill>
                                  <a:latin typeface="Cambria Math" panose="02040503050406030204" pitchFamily="18" charset="0"/>
                                </a:rPr>
                                <m:t>,</m:t>
                              </m:r>
                              <m:d>
                                <m:dPr>
                                  <m:ctrlPr>
                                    <a:rPr lang="es-MX" sz="2000" b="1" i="1">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𝟏</m:t>
                                  </m:r>
                                  <m:r>
                                    <a:rPr lang="es-MX" sz="2000" b="1" i="1">
                                      <a:solidFill>
                                        <a:srgbClr val="002060"/>
                                      </a:solidFill>
                                      <a:latin typeface="Cambria Math" panose="02040503050406030204" pitchFamily="18" charset="0"/>
                                    </a:rPr>
                                    <m:t>,</m:t>
                                  </m:r>
                                  <m:r>
                                    <a:rPr lang="es-MX" sz="2000" b="1" i="1" smtClean="0">
                                      <a:solidFill>
                                        <a:srgbClr val="002060"/>
                                      </a:solidFill>
                                      <a:latin typeface="Cambria Math" panose="02040503050406030204" pitchFamily="18" charset="0"/>
                                    </a:rPr>
                                    <m:t>𝟐</m:t>
                                  </m:r>
                                </m:e>
                              </m:d>
                              <m:r>
                                <a:rPr lang="es-MX" sz="2000" b="1" i="1" smtClean="0">
                                  <a:solidFill>
                                    <a:srgbClr val="002060"/>
                                  </a:solidFill>
                                  <a:latin typeface="Cambria Math" panose="02040503050406030204" pitchFamily="18" charset="0"/>
                                </a:rPr>
                                <m:t>,</m:t>
                              </m:r>
                              <m:d>
                                <m:dPr>
                                  <m:ctrlPr>
                                    <a:rPr lang="es-MX" sz="2000" b="1" i="1">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𝟏</m:t>
                                  </m:r>
                                  <m:r>
                                    <a:rPr lang="es-MX" sz="2000" b="1" i="1">
                                      <a:solidFill>
                                        <a:srgbClr val="002060"/>
                                      </a:solidFill>
                                      <a:latin typeface="Cambria Math" panose="02040503050406030204" pitchFamily="18" charset="0"/>
                                    </a:rPr>
                                    <m:t>,</m:t>
                                  </m:r>
                                  <m:r>
                                    <a:rPr lang="es-MX" sz="2000" b="1" i="1" smtClean="0">
                                      <a:solidFill>
                                        <a:srgbClr val="002060"/>
                                      </a:solidFill>
                                      <a:latin typeface="Cambria Math" panose="02040503050406030204" pitchFamily="18" charset="0"/>
                                    </a:rPr>
                                    <m:t>𝟑</m:t>
                                  </m:r>
                                </m:e>
                              </m:d>
                              <m:r>
                                <a:rPr lang="es-MX" sz="2000" b="1" i="1" smtClean="0">
                                  <a:solidFill>
                                    <a:srgbClr val="002060"/>
                                  </a:solidFill>
                                  <a:latin typeface="Cambria Math" panose="02040503050406030204" pitchFamily="18" charset="0"/>
                                </a:rPr>
                                <m:t>,</m:t>
                              </m:r>
                              <m:d>
                                <m:dPr>
                                  <m:ctrlPr>
                                    <a:rPr lang="es-MX" sz="2000" b="1" i="1">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𝟏</m:t>
                                  </m:r>
                                  <m:r>
                                    <a:rPr lang="es-MX" sz="2000" b="1" i="1">
                                      <a:solidFill>
                                        <a:srgbClr val="002060"/>
                                      </a:solidFill>
                                      <a:latin typeface="Cambria Math" panose="02040503050406030204" pitchFamily="18" charset="0"/>
                                    </a:rPr>
                                    <m:t>,</m:t>
                                  </m:r>
                                  <m:r>
                                    <a:rPr lang="es-MX" sz="2000" b="1" i="1" smtClean="0">
                                      <a:solidFill>
                                        <a:srgbClr val="002060"/>
                                      </a:solidFill>
                                      <a:latin typeface="Cambria Math" panose="02040503050406030204" pitchFamily="18" charset="0"/>
                                    </a:rPr>
                                    <m:t>𝟒</m:t>
                                  </m:r>
                                </m:e>
                              </m:d>
                            </m:e>
                            <m:e>
                              <m:d>
                                <m:dPr>
                                  <m:ctrlPr>
                                    <a:rPr lang="es-MX" sz="2000" i="1">
                                      <a:latin typeface="Cambria Math" panose="02040503050406030204" pitchFamily="18" charset="0"/>
                                    </a:rPr>
                                  </m:ctrlPr>
                                </m:dPr>
                                <m:e>
                                  <m:r>
                                    <a:rPr lang="es-MX" sz="2000" b="0" i="1" smtClean="0">
                                      <a:latin typeface="Cambria Math" panose="02040503050406030204" pitchFamily="18" charset="0"/>
                                    </a:rPr>
                                    <m:t>2</m:t>
                                  </m:r>
                                  <m:r>
                                    <a:rPr lang="es-MX" sz="2000" i="1">
                                      <a:latin typeface="Cambria Math" panose="02040503050406030204" pitchFamily="18" charset="0"/>
                                    </a:rPr>
                                    <m:t>,1</m:t>
                                  </m:r>
                                </m:e>
                              </m:d>
                              <m:r>
                                <a:rPr lang="es-MX" sz="2000" i="1">
                                  <a:latin typeface="Cambria Math" panose="02040503050406030204" pitchFamily="18" charset="0"/>
                                </a:rPr>
                                <m:t>,</m:t>
                              </m:r>
                              <m:d>
                                <m:dPr>
                                  <m:ctrlPr>
                                    <a:rPr lang="es-MX" sz="2000" b="1" i="1" smtClean="0">
                                      <a:solidFill>
                                        <a:srgbClr val="002060"/>
                                      </a:solidFill>
                                      <a:latin typeface="Cambria Math" panose="02040503050406030204" pitchFamily="18" charset="0"/>
                                    </a:rPr>
                                  </m:ctrlPr>
                                </m:dPr>
                                <m:e>
                                  <m:r>
                                    <a:rPr lang="es-MX" sz="2000" b="1" i="1" smtClean="0">
                                      <a:solidFill>
                                        <a:srgbClr val="002060"/>
                                      </a:solidFill>
                                      <a:latin typeface="Cambria Math" panose="02040503050406030204" pitchFamily="18" charset="0"/>
                                    </a:rPr>
                                    <m:t>𝟐</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𝟐</m:t>
                                  </m:r>
                                </m:e>
                              </m:d>
                              <m:r>
                                <a:rPr lang="es-MX" sz="2000" i="1">
                                  <a:latin typeface="Cambria Math" panose="02040503050406030204" pitchFamily="18" charset="0"/>
                                </a:rPr>
                                <m:t>,</m:t>
                              </m:r>
                              <m:d>
                                <m:dPr>
                                  <m:ctrlPr>
                                    <a:rPr lang="es-MX" sz="2000" i="1">
                                      <a:latin typeface="Cambria Math" panose="02040503050406030204" pitchFamily="18" charset="0"/>
                                    </a:rPr>
                                  </m:ctrlPr>
                                </m:dPr>
                                <m:e>
                                  <m:r>
                                    <a:rPr lang="es-MX" sz="2000" b="0" i="1" smtClean="0">
                                      <a:latin typeface="Cambria Math" panose="02040503050406030204" pitchFamily="18" charset="0"/>
                                    </a:rPr>
                                    <m:t>2</m:t>
                                  </m:r>
                                  <m:r>
                                    <a:rPr lang="es-MX" sz="2000" i="1">
                                      <a:latin typeface="Cambria Math" panose="02040503050406030204" pitchFamily="18" charset="0"/>
                                    </a:rPr>
                                    <m:t>,3</m:t>
                                  </m:r>
                                </m:e>
                              </m:d>
                              <m:r>
                                <a:rPr lang="es-MX" sz="2000" i="1">
                                  <a:latin typeface="Cambria Math" panose="02040503050406030204" pitchFamily="18" charset="0"/>
                                </a:rPr>
                                <m:t>,</m:t>
                              </m:r>
                              <m:d>
                                <m:dPr>
                                  <m:ctrlPr>
                                    <a:rPr lang="es-MX" sz="2000" b="1" i="1" smtClean="0">
                                      <a:solidFill>
                                        <a:srgbClr val="002060"/>
                                      </a:solidFill>
                                      <a:latin typeface="Cambria Math" panose="02040503050406030204" pitchFamily="18" charset="0"/>
                                    </a:rPr>
                                  </m:ctrlPr>
                                </m:dPr>
                                <m:e>
                                  <m:r>
                                    <a:rPr lang="es-MX" sz="2000" b="1" i="1" smtClean="0">
                                      <a:solidFill>
                                        <a:srgbClr val="002060"/>
                                      </a:solidFill>
                                      <a:latin typeface="Cambria Math" panose="02040503050406030204" pitchFamily="18" charset="0"/>
                                    </a:rPr>
                                    <m:t>𝟐</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𝟒</m:t>
                                  </m:r>
                                </m:e>
                              </m:d>
                            </m:e>
                            <m:e>
                              <m:d>
                                <m:dPr>
                                  <m:ctrlPr>
                                    <a:rPr lang="es-MX" sz="2000" i="1">
                                      <a:latin typeface="Cambria Math" panose="02040503050406030204" pitchFamily="18" charset="0"/>
                                    </a:rPr>
                                  </m:ctrlPr>
                                </m:dPr>
                                <m:e>
                                  <m:r>
                                    <a:rPr lang="es-MX" sz="2000" b="0" i="1" smtClean="0">
                                      <a:latin typeface="Cambria Math" panose="02040503050406030204" pitchFamily="18" charset="0"/>
                                    </a:rPr>
                                    <m:t>3</m:t>
                                  </m:r>
                                  <m:r>
                                    <a:rPr lang="es-MX" sz="2000" i="1">
                                      <a:latin typeface="Cambria Math" panose="02040503050406030204" pitchFamily="18" charset="0"/>
                                    </a:rPr>
                                    <m:t>,1</m:t>
                                  </m:r>
                                </m:e>
                              </m:d>
                              <m:r>
                                <a:rPr lang="es-MX" sz="2000" i="1">
                                  <a:latin typeface="Cambria Math" panose="02040503050406030204" pitchFamily="18" charset="0"/>
                                </a:rPr>
                                <m:t>,</m:t>
                              </m:r>
                              <m:d>
                                <m:dPr>
                                  <m:ctrlPr>
                                    <a:rPr lang="es-MX" sz="2000" i="1">
                                      <a:latin typeface="Cambria Math" panose="02040503050406030204" pitchFamily="18" charset="0"/>
                                    </a:rPr>
                                  </m:ctrlPr>
                                </m:dPr>
                                <m:e>
                                  <m:r>
                                    <a:rPr lang="es-MX" sz="2000" b="0" i="1" smtClean="0">
                                      <a:latin typeface="Cambria Math" panose="02040503050406030204" pitchFamily="18" charset="0"/>
                                    </a:rPr>
                                    <m:t>3</m:t>
                                  </m:r>
                                  <m:r>
                                    <a:rPr lang="es-MX" sz="2000" i="1">
                                      <a:latin typeface="Cambria Math" panose="02040503050406030204" pitchFamily="18" charset="0"/>
                                    </a:rPr>
                                    <m:t>,2</m:t>
                                  </m:r>
                                </m:e>
                              </m:d>
                              <m:r>
                                <a:rPr lang="es-MX" sz="2000" i="1">
                                  <a:latin typeface="Cambria Math" panose="02040503050406030204" pitchFamily="18" charset="0"/>
                                </a:rPr>
                                <m:t>,</m:t>
                              </m:r>
                              <m:d>
                                <m:dPr>
                                  <m:ctrlPr>
                                    <a:rPr lang="es-MX" sz="2000" b="1" i="1" smtClean="0">
                                      <a:solidFill>
                                        <a:srgbClr val="002060"/>
                                      </a:solidFill>
                                      <a:latin typeface="Cambria Math" panose="02040503050406030204" pitchFamily="18" charset="0"/>
                                    </a:rPr>
                                  </m:ctrlPr>
                                </m:dPr>
                                <m:e>
                                  <m:r>
                                    <a:rPr lang="es-MX" sz="2000" b="1" i="1" smtClean="0">
                                      <a:solidFill>
                                        <a:srgbClr val="002060"/>
                                      </a:solidFill>
                                      <a:latin typeface="Cambria Math" panose="02040503050406030204" pitchFamily="18" charset="0"/>
                                    </a:rPr>
                                    <m:t>𝟑</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𝟑</m:t>
                                  </m:r>
                                </m:e>
                              </m:d>
                              <m:r>
                                <a:rPr lang="es-MX" sz="2000" i="1">
                                  <a:latin typeface="Cambria Math" panose="02040503050406030204" pitchFamily="18" charset="0"/>
                                </a:rPr>
                                <m:t>,</m:t>
                              </m:r>
                              <m:d>
                                <m:dPr>
                                  <m:ctrlPr>
                                    <a:rPr lang="es-MX" sz="2000" i="1">
                                      <a:latin typeface="Cambria Math" panose="02040503050406030204" pitchFamily="18" charset="0"/>
                                    </a:rPr>
                                  </m:ctrlPr>
                                </m:dPr>
                                <m:e>
                                  <m:r>
                                    <a:rPr lang="es-MX" sz="2000" b="0" i="1" smtClean="0">
                                      <a:latin typeface="Cambria Math" panose="02040503050406030204" pitchFamily="18" charset="0"/>
                                    </a:rPr>
                                    <m:t>3</m:t>
                                  </m:r>
                                  <m:r>
                                    <a:rPr lang="es-MX" sz="2000" i="1">
                                      <a:latin typeface="Cambria Math" panose="02040503050406030204" pitchFamily="18" charset="0"/>
                                    </a:rPr>
                                    <m:t>,4</m:t>
                                  </m:r>
                                </m:e>
                              </m:d>
                            </m:e>
                            <m:e>
                              <m:d>
                                <m:dPr>
                                  <m:ctrlPr>
                                    <a:rPr lang="es-MX" sz="2000" i="1">
                                      <a:latin typeface="Cambria Math" panose="02040503050406030204" pitchFamily="18" charset="0"/>
                                    </a:rPr>
                                  </m:ctrlPr>
                                </m:dPr>
                                <m:e>
                                  <m:r>
                                    <a:rPr lang="es-MX" sz="2000" b="0" i="1" smtClean="0">
                                      <a:latin typeface="Cambria Math" panose="02040503050406030204" pitchFamily="18" charset="0"/>
                                    </a:rPr>
                                    <m:t>4</m:t>
                                  </m:r>
                                  <m:r>
                                    <a:rPr lang="es-MX" sz="2000" i="1">
                                      <a:latin typeface="Cambria Math" panose="02040503050406030204" pitchFamily="18" charset="0"/>
                                    </a:rPr>
                                    <m:t>,1</m:t>
                                  </m:r>
                                </m:e>
                              </m:d>
                              <m:r>
                                <a:rPr lang="es-MX" sz="2000" i="1">
                                  <a:latin typeface="Cambria Math" panose="02040503050406030204" pitchFamily="18" charset="0"/>
                                </a:rPr>
                                <m:t>,</m:t>
                              </m:r>
                              <m:d>
                                <m:dPr>
                                  <m:ctrlPr>
                                    <a:rPr lang="es-MX" sz="2000" i="1">
                                      <a:latin typeface="Cambria Math" panose="02040503050406030204" pitchFamily="18" charset="0"/>
                                    </a:rPr>
                                  </m:ctrlPr>
                                </m:dPr>
                                <m:e>
                                  <m:r>
                                    <a:rPr lang="es-MX" sz="2000" b="0" i="1" smtClean="0">
                                      <a:latin typeface="Cambria Math" panose="02040503050406030204" pitchFamily="18" charset="0"/>
                                    </a:rPr>
                                    <m:t>4</m:t>
                                  </m:r>
                                  <m:r>
                                    <a:rPr lang="es-MX" sz="2000" i="1">
                                      <a:latin typeface="Cambria Math" panose="02040503050406030204" pitchFamily="18" charset="0"/>
                                    </a:rPr>
                                    <m:t>,2</m:t>
                                  </m:r>
                                </m:e>
                              </m:d>
                              <m:r>
                                <a:rPr lang="es-MX" sz="2000" i="1">
                                  <a:latin typeface="Cambria Math" panose="02040503050406030204" pitchFamily="18" charset="0"/>
                                </a:rPr>
                                <m:t>,</m:t>
                              </m:r>
                              <m:d>
                                <m:dPr>
                                  <m:ctrlPr>
                                    <a:rPr lang="es-MX" sz="2000" i="1">
                                      <a:latin typeface="Cambria Math" panose="02040503050406030204" pitchFamily="18" charset="0"/>
                                    </a:rPr>
                                  </m:ctrlPr>
                                </m:dPr>
                                <m:e>
                                  <m:r>
                                    <a:rPr lang="es-MX" sz="2000" b="0" i="1" smtClean="0">
                                      <a:latin typeface="Cambria Math" panose="02040503050406030204" pitchFamily="18" charset="0"/>
                                    </a:rPr>
                                    <m:t>4</m:t>
                                  </m:r>
                                  <m:r>
                                    <a:rPr lang="es-MX" sz="2000" i="1">
                                      <a:latin typeface="Cambria Math" panose="02040503050406030204" pitchFamily="18" charset="0"/>
                                    </a:rPr>
                                    <m:t>,3</m:t>
                                  </m:r>
                                </m:e>
                              </m:d>
                              <m:r>
                                <a:rPr lang="es-MX" sz="2000" i="1">
                                  <a:latin typeface="Cambria Math" panose="02040503050406030204" pitchFamily="18" charset="0"/>
                                </a:rPr>
                                <m:t>,</m:t>
                              </m:r>
                              <m:d>
                                <m:dPr>
                                  <m:ctrlPr>
                                    <a:rPr lang="es-MX" sz="2000" b="1" i="1" smtClean="0">
                                      <a:solidFill>
                                        <a:srgbClr val="002060"/>
                                      </a:solidFill>
                                      <a:latin typeface="Cambria Math" panose="02040503050406030204" pitchFamily="18" charset="0"/>
                                    </a:rPr>
                                  </m:ctrlPr>
                                </m:dPr>
                                <m:e>
                                  <m:r>
                                    <a:rPr lang="es-MX" sz="2000" b="1" i="1" smtClean="0">
                                      <a:solidFill>
                                        <a:srgbClr val="002060"/>
                                      </a:solidFill>
                                      <a:latin typeface="Cambria Math" panose="02040503050406030204" pitchFamily="18" charset="0"/>
                                    </a:rPr>
                                    <m:t>𝟒</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𝟒</m:t>
                                  </m:r>
                                </m:e>
                              </m:d>
                            </m:e>
                          </m:eqArr>
                        </m:e>
                      </m:d>
                    </m:oMath>
                  </m:oMathPara>
                </a14:m>
                <a:endParaRPr lang="es-CO" sz="2000" dirty="0"/>
              </a:p>
            </p:txBody>
          </p:sp>
        </mc:Choice>
        <mc:Fallback>
          <p:sp>
            <p:nvSpPr>
              <p:cNvPr id="3" name="CuadroTexto 2">
                <a:extLst>
                  <a:ext uri="{FF2B5EF4-FFF2-40B4-BE49-F238E27FC236}">
                    <a16:creationId xmlns:a16="http://schemas.microsoft.com/office/drawing/2014/main" id="{9E1730F1-D299-4C83-BF6A-5700830D82D0}"/>
                  </a:ext>
                </a:extLst>
              </p:cNvPr>
              <p:cNvSpPr txBox="1">
                <a:spLocks noRot="1" noChangeAspect="1" noMove="1" noResize="1" noEditPoints="1" noAdjustHandles="1" noChangeArrowheads="1" noChangeShapeType="1" noTextEdit="1"/>
              </p:cNvSpPr>
              <p:nvPr/>
            </p:nvSpPr>
            <p:spPr>
              <a:xfrm>
                <a:off x="5215324" y="2067347"/>
                <a:ext cx="6609117" cy="1233094"/>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E2635B2B-F183-44B8-A543-E38C2C297818}"/>
                  </a:ext>
                </a:extLst>
              </p:cNvPr>
              <p:cNvSpPr txBox="1"/>
              <p:nvPr/>
            </p:nvSpPr>
            <p:spPr>
              <a:xfrm>
                <a:off x="3159851" y="3976706"/>
                <a:ext cx="636937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000" b="1" i="1" smtClean="0">
                          <a:solidFill>
                            <a:srgbClr val="002060"/>
                          </a:solidFill>
                          <a:latin typeface="Cambria Math" panose="02040503050406030204" pitchFamily="18" charset="0"/>
                        </a:rPr>
                        <m:t>𝑹</m:t>
                      </m:r>
                      <m:r>
                        <a:rPr lang="es-MX" sz="2000" b="1" i="1" smtClean="0">
                          <a:solidFill>
                            <a:srgbClr val="002060"/>
                          </a:solidFill>
                          <a:latin typeface="Cambria Math" panose="02040503050406030204" pitchFamily="18" charset="0"/>
                        </a:rPr>
                        <m:t>=</m:t>
                      </m:r>
                      <m:d>
                        <m:dPr>
                          <m:begChr m:val="{"/>
                          <m:endChr m:val="}"/>
                          <m:ctrlPr>
                            <a:rPr lang="es-MX" sz="2000" b="1" i="1" smtClean="0">
                              <a:solidFill>
                                <a:srgbClr val="002060"/>
                              </a:solidFill>
                              <a:latin typeface="Cambria Math" panose="02040503050406030204" pitchFamily="18" charset="0"/>
                            </a:rPr>
                          </m:ctrlPr>
                        </m:dPr>
                        <m:e>
                          <m:d>
                            <m:dPr>
                              <m:ctrlPr>
                                <a:rPr lang="es-MX" sz="2000" b="1" i="1" smtClean="0">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𝟏</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𝟏</m:t>
                              </m:r>
                            </m:e>
                          </m:d>
                          <m:r>
                            <a:rPr lang="es-MX" sz="2000" b="1" i="1">
                              <a:solidFill>
                                <a:srgbClr val="002060"/>
                              </a:solidFill>
                              <a:latin typeface="Cambria Math" panose="02040503050406030204" pitchFamily="18" charset="0"/>
                            </a:rPr>
                            <m:t>,</m:t>
                          </m:r>
                          <m:d>
                            <m:dPr>
                              <m:ctrlPr>
                                <a:rPr lang="es-MX" sz="2000" b="1" i="1">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𝟏</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𝟐</m:t>
                              </m:r>
                            </m:e>
                          </m:d>
                          <m:r>
                            <a:rPr lang="es-MX" sz="2000" b="1" i="1">
                              <a:solidFill>
                                <a:srgbClr val="002060"/>
                              </a:solidFill>
                              <a:latin typeface="Cambria Math" panose="02040503050406030204" pitchFamily="18" charset="0"/>
                            </a:rPr>
                            <m:t>,</m:t>
                          </m:r>
                          <m:d>
                            <m:dPr>
                              <m:ctrlPr>
                                <a:rPr lang="es-MX" sz="2000" b="1" i="1">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𝟏</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𝟑</m:t>
                              </m:r>
                            </m:e>
                          </m:d>
                          <m:r>
                            <a:rPr lang="es-MX" sz="2000" b="1" i="1">
                              <a:solidFill>
                                <a:srgbClr val="002060"/>
                              </a:solidFill>
                              <a:latin typeface="Cambria Math" panose="02040503050406030204" pitchFamily="18" charset="0"/>
                            </a:rPr>
                            <m:t>,</m:t>
                          </m:r>
                          <m:d>
                            <m:dPr>
                              <m:ctrlPr>
                                <a:rPr lang="es-MX" sz="2000" b="1" i="1">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𝟏</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𝟒</m:t>
                              </m:r>
                            </m:e>
                          </m:d>
                          <m:r>
                            <a:rPr lang="es-MX" sz="2000" b="1" i="1" smtClean="0">
                              <a:solidFill>
                                <a:srgbClr val="002060"/>
                              </a:solidFill>
                              <a:latin typeface="Cambria Math" panose="02040503050406030204" pitchFamily="18" charset="0"/>
                            </a:rPr>
                            <m:t>,</m:t>
                          </m:r>
                          <m:d>
                            <m:dPr>
                              <m:ctrlPr>
                                <a:rPr lang="es-MX" sz="2000" b="1" i="1">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𝟐</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𝟐</m:t>
                              </m:r>
                            </m:e>
                          </m:d>
                          <m:r>
                            <a:rPr lang="es-MX" sz="2000" b="1" i="1" smtClean="0">
                              <a:solidFill>
                                <a:srgbClr val="002060"/>
                              </a:solidFill>
                              <a:latin typeface="Cambria Math" panose="02040503050406030204" pitchFamily="18" charset="0"/>
                            </a:rPr>
                            <m:t>,</m:t>
                          </m:r>
                          <m:d>
                            <m:dPr>
                              <m:ctrlPr>
                                <a:rPr lang="es-MX" sz="2000" b="1" i="1">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𝟐</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𝟒</m:t>
                              </m:r>
                            </m:e>
                          </m:d>
                          <m:r>
                            <a:rPr lang="es-MX" sz="2000" b="1" i="1" smtClean="0">
                              <a:solidFill>
                                <a:srgbClr val="002060"/>
                              </a:solidFill>
                              <a:latin typeface="Cambria Math" panose="02040503050406030204" pitchFamily="18" charset="0"/>
                            </a:rPr>
                            <m:t>,</m:t>
                          </m:r>
                          <m:d>
                            <m:dPr>
                              <m:ctrlPr>
                                <a:rPr lang="es-MX" sz="2000" b="1" i="1">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𝟑</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𝟑</m:t>
                              </m:r>
                            </m:e>
                          </m:d>
                          <m:r>
                            <a:rPr lang="es-MX" sz="2000" b="1" i="1" smtClean="0">
                              <a:solidFill>
                                <a:srgbClr val="002060"/>
                              </a:solidFill>
                              <a:latin typeface="Cambria Math" panose="02040503050406030204" pitchFamily="18" charset="0"/>
                            </a:rPr>
                            <m:t>,</m:t>
                          </m:r>
                          <m:d>
                            <m:dPr>
                              <m:ctrlPr>
                                <a:rPr lang="es-MX" sz="2000" b="1" i="1">
                                  <a:solidFill>
                                    <a:srgbClr val="002060"/>
                                  </a:solidFill>
                                  <a:latin typeface="Cambria Math" panose="02040503050406030204" pitchFamily="18" charset="0"/>
                                </a:rPr>
                              </m:ctrlPr>
                            </m:dPr>
                            <m:e>
                              <m:r>
                                <a:rPr lang="es-MX" sz="2000" b="1" i="1">
                                  <a:solidFill>
                                    <a:srgbClr val="002060"/>
                                  </a:solidFill>
                                  <a:latin typeface="Cambria Math" panose="02040503050406030204" pitchFamily="18" charset="0"/>
                                </a:rPr>
                                <m:t>𝟒</m:t>
                              </m:r>
                              <m:r>
                                <a:rPr lang="es-MX" sz="2000" b="1" i="1">
                                  <a:solidFill>
                                    <a:srgbClr val="002060"/>
                                  </a:solidFill>
                                  <a:latin typeface="Cambria Math" panose="02040503050406030204" pitchFamily="18" charset="0"/>
                                </a:rPr>
                                <m:t>,</m:t>
                              </m:r>
                              <m:r>
                                <a:rPr lang="es-MX" sz="2000" b="1" i="1">
                                  <a:solidFill>
                                    <a:srgbClr val="002060"/>
                                  </a:solidFill>
                                  <a:latin typeface="Cambria Math" panose="02040503050406030204" pitchFamily="18" charset="0"/>
                                </a:rPr>
                                <m:t>𝟒</m:t>
                              </m:r>
                            </m:e>
                          </m:d>
                        </m:e>
                      </m:d>
                    </m:oMath>
                  </m:oMathPara>
                </a14:m>
                <a:endParaRPr lang="es-CO" sz="2000" b="1" dirty="0">
                  <a:solidFill>
                    <a:srgbClr val="002060"/>
                  </a:solidFill>
                </a:endParaRPr>
              </a:p>
            </p:txBody>
          </p:sp>
        </mc:Choice>
        <mc:Fallback>
          <p:sp>
            <p:nvSpPr>
              <p:cNvPr id="13" name="CuadroTexto 12">
                <a:extLst>
                  <a:ext uri="{FF2B5EF4-FFF2-40B4-BE49-F238E27FC236}">
                    <a16:creationId xmlns:a16="http://schemas.microsoft.com/office/drawing/2014/main" id="{E2635B2B-F183-44B8-A543-E38C2C297818}"/>
                  </a:ext>
                </a:extLst>
              </p:cNvPr>
              <p:cNvSpPr txBox="1">
                <a:spLocks noRot="1" noChangeAspect="1" noMove="1" noResize="1" noEditPoints="1" noAdjustHandles="1" noChangeArrowheads="1" noChangeShapeType="1" noTextEdit="1"/>
              </p:cNvSpPr>
              <p:nvPr/>
            </p:nvSpPr>
            <p:spPr>
              <a:xfrm>
                <a:off x="3159851" y="3976706"/>
                <a:ext cx="6369372" cy="307777"/>
              </a:xfrm>
              <a:prstGeom prst="rect">
                <a:avLst/>
              </a:prstGeom>
              <a:blipFill>
                <a:blip r:embed="rId5"/>
                <a:stretch>
                  <a:fillRect l="-383" b="-5882"/>
                </a:stretch>
              </a:blipFill>
            </p:spPr>
            <p:txBody>
              <a:bodyPr/>
              <a:lstStyle/>
              <a:p>
                <a:r>
                  <a:rPr lang="es-CO">
                    <a:noFill/>
                  </a:rPr>
                  <a:t> </a:t>
                </a:r>
              </a:p>
            </p:txBody>
          </p:sp>
        </mc:Fallback>
      </mc:AlternateContent>
      <p:sp>
        <p:nvSpPr>
          <p:cNvPr id="14" name="CuadroTexto 13">
            <a:extLst>
              <a:ext uri="{FF2B5EF4-FFF2-40B4-BE49-F238E27FC236}">
                <a16:creationId xmlns:a16="http://schemas.microsoft.com/office/drawing/2014/main" id="{BD11E40A-FF6C-4913-A2BD-23E9FBA3BFA5}"/>
              </a:ext>
            </a:extLst>
          </p:cNvPr>
          <p:cNvSpPr txBox="1"/>
          <p:nvPr/>
        </p:nvSpPr>
        <p:spPr>
          <a:xfrm>
            <a:off x="5215323" y="1502232"/>
            <a:ext cx="5307377" cy="400110"/>
          </a:xfrm>
          <a:prstGeom prst="rect">
            <a:avLst/>
          </a:prstGeom>
          <a:noFill/>
        </p:spPr>
        <p:txBody>
          <a:bodyPr wrap="square" rtlCol="0">
            <a:spAutoFit/>
          </a:bodyPr>
          <a:lstStyle/>
          <a:p>
            <a:r>
              <a:rPr lang="es-MX" sz="2000" b="1" dirty="0">
                <a:ea typeface="Roboto" panose="02000000000000000000" pitchFamily="2" charset="0"/>
              </a:rPr>
              <a:t>Solución</a:t>
            </a:r>
            <a:r>
              <a:rPr lang="es-MX" sz="2000" dirty="0">
                <a:ea typeface="Roboto" panose="02000000000000000000" pitchFamily="2" charset="0"/>
              </a:rPr>
              <a:t>: </a:t>
            </a:r>
            <a:r>
              <a:rPr lang="es-MX" sz="2000" dirty="0">
                <a:solidFill>
                  <a:schemeClr val="tx1"/>
                </a:solidFill>
                <a:ea typeface="Roboto" panose="02000000000000000000" pitchFamily="2" charset="0"/>
              </a:rPr>
              <a:t>Para producto cartesiano tenemos:</a:t>
            </a:r>
            <a:endParaRPr lang="es-CO" sz="2000" dirty="0">
              <a:solidFill>
                <a:schemeClr val="tx1"/>
              </a:solidFill>
              <a:ea typeface="Roboto" panose="02000000000000000000" pitchFamily="2" charset="0"/>
            </a:endParaRPr>
          </a:p>
        </p:txBody>
      </p:sp>
      <p:pic>
        <p:nvPicPr>
          <p:cNvPr id="11" name="Imagen 10">
            <a:extLst>
              <a:ext uri="{FF2B5EF4-FFF2-40B4-BE49-F238E27FC236}">
                <a16:creationId xmlns:a16="http://schemas.microsoft.com/office/drawing/2014/main" id="{0F9791C2-542C-4DC8-8318-E95D9E73BDFD}"/>
              </a:ext>
            </a:extLst>
          </p:cNvPr>
          <p:cNvPicPr>
            <a:picLocks noChangeAspect="1"/>
          </p:cNvPicPr>
          <p:nvPr/>
        </p:nvPicPr>
        <p:blipFill>
          <a:blip r:embed="rId6"/>
          <a:stretch>
            <a:fillRect/>
          </a:stretch>
        </p:blipFill>
        <p:spPr>
          <a:xfrm>
            <a:off x="965732" y="4441928"/>
            <a:ext cx="1581189" cy="2238163"/>
          </a:xfrm>
          <a:prstGeom prst="rect">
            <a:avLst/>
          </a:prstGeom>
        </p:spPr>
      </p:pic>
      <p:pic>
        <p:nvPicPr>
          <p:cNvPr id="16" name="Imagen 15">
            <a:extLst>
              <a:ext uri="{FF2B5EF4-FFF2-40B4-BE49-F238E27FC236}">
                <a16:creationId xmlns:a16="http://schemas.microsoft.com/office/drawing/2014/main" id="{04519C79-5A2F-4858-B93A-8FC5E2921AB1}"/>
              </a:ext>
            </a:extLst>
          </p:cNvPr>
          <p:cNvPicPr>
            <a:picLocks noChangeAspect="1"/>
          </p:cNvPicPr>
          <p:nvPr/>
        </p:nvPicPr>
        <p:blipFill>
          <a:blip r:embed="rId7"/>
          <a:stretch>
            <a:fillRect/>
          </a:stretch>
        </p:blipFill>
        <p:spPr>
          <a:xfrm>
            <a:off x="3219850" y="4371042"/>
            <a:ext cx="2529521" cy="2238163"/>
          </a:xfrm>
          <a:prstGeom prst="rect">
            <a:avLst/>
          </a:prstGeom>
        </p:spPr>
      </p:pic>
      <p:sp>
        <p:nvSpPr>
          <p:cNvPr id="19" name="CuadroTexto 18">
            <a:extLst>
              <a:ext uri="{FF2B5EF4-FFF2-40B4-BE49-F238E27FC236}">
                <a16:creationId xmlns:a16="http://schemas.microsoft.com/office/drawing/2014/main" id="{B2611AC9-F344-404A-9DF0-3EE791820D06}"/>
              </a:ext>
            </a:extLst>
          </p:cNvPr>
          <p:cNvSpPr txBox="1"/>
          <p:nvPr/>
        </p:nvSpPr>
        <p:spPr>
          <a:xfrm>
            <a:off x="401079" y="3496178"/>
            <a:ext cx="7467933" cy="400110"/>
          </a:xfrm>
          <a:prstGeom prst="rect">
            <a:avLst/>
          </a:prstGeom>
          <a:noFill/>
        </p:spPr>
        <p:txBody>
          <a:bodyPr wrap="square" rtlCol="0">
            <a:spAutoFit/>
          </a:bodyPr>
          <a:lstStyle/>
          <a:p>
            <a:r>
              <a:rPr lang="es-MX" sz="2000" dirty="0">
                <a:solidFill>
                  <a:schemeClr val="tx1"/>
                </a:solidFill>
                <a:ea typeface="Roboto" panose="02000000000000000000" pitchFamily="2" charset="0"/>
              </a:rPr>
              <a:t>Para el caso de la relación el resultado es el siguiente:</a:t>
            </a:r>
            <a:endParaRPr lang="es-CO" sz="2000" dirty="0">
              <a:solidFill>
                <a:schemeClr val="tx1"/>
              </a:solidFill>
              <a:ea typeface="Roboto" panose="02000000000000000000" pitchFamily="2" charset="0"/>
            </a:endParaRPr>
          </a:p>
        </p:txBody>
      </p:sp>
      <p:sp>
        <p:nvSpPr>
          <p:cNvPr id="12" name="CuadroTexto 11">
            <a:extLst>
              <a:ext uri="{FF2B5EF4-FFF2-40B4-BE49-F238E27FC236}">
                <a16:creationId xmlns:a16="http://schemas.microsoft.com/office/drawing/2014/main" id="{07282D28-90E2-4183-A666-14830E12B053}"/>
              </a:ext>
            </a:extLst>
          </p:cNvPr>
          <p:cNvSpPr txBox="1"/>
          <p:nvPr/>
        </p:nvSpPr>
        <p:spPr>
          <a:xfrm>
            <a:off x="6259215" y="5351116"/>
            <a:ext cx="5565226" cy="584775"/>
          </a:xfrm>
          <a:prstGeom prst="rect">
            <a:avLst/>
          </a:prstGeom>
          <a:noFill/>
          <a:ln>
            <a:solidFill>
              <a:schemeClr val="tx1"/>
            </a:solidFill>
          </a:ln>
        </p:spPr>
        <p:txBody>
          <a:bodyPr wrap="square">
            <a:spAutoFit/>
          </a:bodyPr>
          <a:lstStyle/>
          <a:p>
            <a:r>
              <a:rPr lang="es-CO" sz="1600" dirty="0">
                <a:latin typeface="Consolas" panose="020B0609020204030204" pitchFamily="49" charset="0"/>
              </a:rPr>
              <a:t>A = {1, 2, 3, 4}</a:t>
            </a:r>
          </a:p>
          <a:p>
            <a:r>
              <a:rPr lang="es-CO" sz="1600" dirty="0">
                <a:latin typeface="Consolas" panose="020B0609020204030204" pitchFamily="49" charset="0"/>
              </a:rPr>
              <a:t>R = {(a, b) for a in A for b in A if b % a == 0}</a:t>
            </a:r>
          </a:p>
        </p:txBody>
      </p:sp>
      <p:pic>
        <p:nvPicPr>
          <p:cNvPr id="15" name="Picture 10">
            <a:extLst>
              <a:ext uri="{FF2B5EF4-FFF2-40B4-BE49-F238E27FC236}">
                <a16:creationId xmlns:a16="http://schemas.microsoft.com/office/drawing/2014/main" id="{54B0937B-DE4A-4CB5-A234-92A6E58B7DA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01984" y="5048195"/>
            <a:ext cx="444914" cy="441928"/>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261D8015-3274-415B-A4A1-46785C3FCB84}"/>
              </a:ext>
            </a:extLst>
          </p:cNvPr>
          <p:cNvSpPr txBox="1"/>
          <p:nvPr/>
        </p:nvSpPr>
        <p:spPr>
          <a:xfrm>
            <a:off x="8553172" y="6054146"/>
            <a:ext cx="1720304" cy="369332"/>
          </a:xfrm>
          <a:prstGeom prst="rect">
            <a:avLst/>
          </a:prstGeom>
          <a:noFill/>
        </p:spPr>
        <p:txBody>
          <a:bodyPr wrap="square">
            <a:spAutoFit/>
          </a:bodyPr>
          <a:lstStyle/>
          <a:p>
            <a:pPr algn="ctr"/>
            <a:r>
              <a:rPr lang="es-CO" b="1" dirty="0"/>
              <a:t>Codigo </a:t>
            </a:r>
            <a:r>
              <a:rPr lang="es-CO" dirty="0"/>
              <a:t>(</a:t>
            </a:r>
            <a:r>
              <a:rPr lang="es-CO" dirty="0">
                <a:hlinkClick r:id="rId9"/>
              </a:rPr>
              <a:t>link</a:t>
            </a:r>
            <a:r>
              <a:rPr lang="es-CO" dirty="0"/>
              <a:t>)</a:t>
            </a:r>
          </a:p>
        </p:txBody>
      </p:sp>
    </p:spTree>
    <p:extLst>
      <p:ext uri="{BB962C8B-B14F-4D97-AF65-F5344CB8AC3E}">
        <p14:creationId xmlns:p14="http://schemas.microsoft.com/office/powerpoint/2010/main" val="4033563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78971" y="96038"/>
            <a:ext cx="874167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580571" y="750087"/>
            <a:ext cx="9838047"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 6</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78971" y="1226513"/>
                <a:ext cx="10245857" cy="15825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Sea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𝑥</m:t>
                        </m:r>
                      </m:e>
                      <m:e>
                        <m:r>
                          <a:rPr lang="es-MX" sz="2000" b="0" i="1" smtClean="0">
                            <a:solidFill>
                              <a:schemeClr val="tx1"/>
                            </a:solidFill>
                            <a:latin typeface="Cambria Math" panose="02040503050406030204" pitchFamily="18" charset="0"/>
                            <a:ea typeface="Roboto" panose="02000000000000000000" pitchFamily="2" charset="0"/>
                          </a:rPr>
                          <m:t>𝑥</m:t>
                        </m:r>
                        <m:r>
                          <a:rPr lang="es-MX" sz="2000" b="0" i="1"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sea</m:t>
                        </m:r>
                        <m:r>
                          <a:rPr lang="es-MX" sz="2000" b="0" i="0"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una</m:t>
                        </m:r>
                        <m:r>
                          <a:rPr lang="es-MX" sz="2000" b="0" i="0"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hora</m:t>
                        </m:r>
                        <m:r>
                          <a:rPr lang="es-MX" sz="2000" b="0" i="0"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del</m:t>
                        </m:r>
                        <m:r>
                          <a:rPr lang="es-MX" sz="2000" b="0" i="0" smtClean="0">
                            <a:solidFill>
                              <a:schemeClr val="tx1"/>
                            </a:solidFill>
                            <a:latin typeface="Cambria Math" panose="02040503050406030204" pitchFamily="18" charset="0"/>
                            <a:ea typeface="Roboto" panose="02000000000000000000" pitchFamily="2" charset="0"/>
                          </a:rPr>
                          <m:t> </m:t>
                        </m:r>
                        <m:r>
                          <m:rPr>
                            <m:sty m:val="p"/>
                          </m:rPr>
                          <a:rPr lang="es-MX" sz="2000" b="0" i="0" smtClean="0">
                            <a:solidFill>
                              <a:schemeClr val="tx1"/>
                            </a:solidFill>
                            <a:latin typeface="Cambria Math" panose="02040503050406030204" pitchFamily="18" charset="0"/>
                            <a:ea typeface="Roboto" panose="02000000000000000000" pitchFamily="2" charset="0"/>
                          </a:rPr>
                          <m:t>dia</m:t>
                        </m:r>
                      </m:e>
                    </m:d>
                  </m:oMath>
                </a14:m>
                <a:r>
                  <a:rPr lang="es-MX" sz="2000" dirty="0">
                    <a:latin typeface="+mn-lt"/>
                    <a:ea typeface="Roboto" panose="02000000000000000000" pitchFamily="2" charset="0"/>
                  </a:rPr>
                  <a:t> determine los elementos de la relación </a:t>
                </a:r>
                <a:endParaRPr lang="es-MX" sz="2000" b="0" i="1" dirty="0">
                  <a:solidFill>
                    <a:schemeClr val="tx1"/>
                  </a:solidFill>
                  <a:latin typeface="+mn-lt"/>
                  <a:ea typeface="Roboto" panose="02000000000000000000" pitchFamily="2" charset="0"/>
                </a:endParaRPr>
              </a:p>
              <a:p>
                <a:pPr marL="127000" indent="0">
                  <a:buNone/>
                </a:pPr>
                <a:endParaRPr lang="es-MX" sz="2000" b="0" i="1" dirty="0">
                  <a:solidFill>
                    <a:schemeClr val="tx1"/>
                  </a:solidFill>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𝑅</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ea typeface="Roboto" panose="02000000000000000000" pitchFamily="2" charset="0"/>
                            </a:rPr>
                          </m:ctrlPr>
                        </m:dPr>
                        <m:e>
                          <m:d>
                            <m:dPr>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r>
                                <a:rPr lang="es-MX" sz="2000" i="1">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e>
                          </m:d>
                        </m:e>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sea</m:t>
                          </m:r>
                          <m:r>
                            <a:rPr lang="es-MX" sz="2000" b="0" i="0"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una</m:t>
                          </m:r>
                          <m:r>
                            <a:rPr lang="es-MX" sz="2000" b="0" i="0"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hora</m:t>
                          </m:r>
                          <m:r>
                            <a:rPr lang="es-MX" sz="2000" b="0" i="0"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antes</m:t>
                          </m:r>
                          <m:r>
                            <a:rPr lang="es-MX" sz="2000" b="0" i="0"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de</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𝑦</m:t>
                          </m:r>
                        </m:e>
                      </m:d>
                    </m:oMath>
                  </m:oMathPara>
                </a14:m>
                <a:endParaRPr lang="es-MX" sz="20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478971" y="1226513"/>
                <a:ext cx="10245857" cy="1582547"/>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2635B2B-F183-44B8-A543-E38C2C297818}"/>
                  </a:ext>
                </a:extLst>
              </p:cNvPr>
              <p:cNvSpPr txBox="1"/>
              <p:nvPr/>
            </p:nvSpPr>
            <p:spPr>
              <a:xfrm>
                <a:off x="2043826" y="3285486"/>
                <a:ext cx="83747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800" b="0" i="1" smtClean="0">
                          <a:solidFill>
                            <a:schemeClr val="tx1"/>
                          </a:solidFill>
                          <a:latin typeface="Cambria Math" panose="02040503050406030204" pitchFamily="18" charset="0"/>
                        </a:rPr>
                        <m:t>𝑅</m:t>
                      </m:r>
                      <m:r>
                        <a:rPr lang="es-MX" sz="1800" b="0" i="1" smtClean="0">
                          <a:solidFill>
                            <a:schemeClr val="tx1"/>
                          </a:solidFill>
                          <a:latin typeface="Cambria Math" panose="02040503050406030204" pitchFamily="18" charset="0"/>
                        </a:rPr>
                        <m:t>=</m:t>
                      </m:r>
                      <m:d>
                        <m:dPr>
                          <m:begChr m:val="{"/>
                          <m:endChr m:val="}"/>
                          <m:ctrlPr>
                            <a:rPr lang="es-MX" sz="1800" b="0" i="1" smtClean="0">
                              <a:solidFill>
                                <a:schemeClr val="tx1"/>
                              </a:solidFill>
                              <a:latin typeface="Cambria Math" panose="02040503050406030204" pitchFamily="18" charset="0"/>
                            </a:rPr>
                          </m:ctrlPr>
                        </m:dPr>
                        <m:e>
                          <m:d>
                            <m:dPr>
                              <m:ctrlPr>
                                <a:rPr lang="es-MX" sz="1800" i="1">
                                  <a:solidFill>
                                    <a:schemeClr val="tx1"/>
                                  </a:solidFill>
                                  <a:latin typeface="Cambria Math" panose="02040503050406030204" pitchFamily="18" charset="0"/>
                                </a:rPr>
                              </m:ctrlPr>
                            </m:dPr>
                            <m:e>
                              <m:r>
                                <a:rPr lang="es-MX" sz="1800" i="1">
                                  <a:solidFill>
                                    <a:schemeClr val="tx1"/>
                                  </a:solidFill>
                                  <a:latin typeface="Cambria Math" panose="02040503050406030204" pitchFamily="18" charset="0"/>
                                </a:rPr>
                                <m:t>1</m:t>
                              </m:r>
                              <m:r>
                                <a:rPr lang="es-MX" sz="1800" b="0" i="1" smtClean="0">
                                  <a:solidFill>
                                    <a:schemeClr val="tx1"/>
                                  </a:solidFill>
                                  <a:latin typeface="Cambria Math" panose="02040503050406030204" pitchFamily="18" charset="0"/>
                                </a:rPr>
                                <m:t>2</m:t>
                              </m:r>
                              <m:r>
                                <a:rPr lang="es-MX" sz="1800" i="1">
                                  <a:solidFill>
                                    <a:schemeClr val="tx1"/>
                                  </a:solidFill>
                                  <a:latin typeface="Cambria Math" panose="02040503050406030204" pitchFamily="18" charset="0"/>
                                </a:rPr>
                                <m:t>,1</m:t>
                              </m:r>
                            </m:e>
                          </m:d>
                          <m:r>
                            <a:rPr lang="es-MX" sz="1800" i="1">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i="1">
                                  <a:solidFill>
                                    <a:schemeClr val="tx1"/>
                                  </a:solidFill>
                                  <a:latin typeface="Cambria Math" panose="02040503050406030204" pitchFamily="18" charset="0"/>
                                </a:rPr>
                                <m:t>1,2</m:t>
                              </m:r>
                            </m:e>
                          </m:d>
                          <m:r>
                            <a:rPr lang="es-MX" sz="1800" i="1">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2</m:t>
                              </m:r>
                              <m:r>
                                <a:rPr lang="es-MX" sz="1800" i="1">
                                  <a:solidFill>
                                    <a:schemeClr val="tx1"/>
                                  </a:solidFill>
                                  <a:latin typeface="Cambria Math" panose="02040503050406030204" pitchFamily="18" charset="0"/>
                                </a:rPr>
                                <m:t>,3</m:t>
                              </m:r>
                            </m:e>
                          </m:d>
                          <m:r>
                            <a:rPr lang="es-MX" sz="1800" i="1">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3</m:t>
                              </m:r>
                              <m:r>
                                <a:rPr lang="es-MX" sz="1800" i="1">
                                  <a:solidFill>
                                    <a:schemeClr val="tx1"/>
                                  </a:solidFill>
                                  <a:latin typeface="Cambria Math" panose="02040503050406030204" pitchFamily="18" charset="0"/>
                                </a:rPr>
                                <m:t>,4</m:t>
                              </m:r>
                            </m:e>
                          </m:d>
                          <m:r>
                            <a:rPr lang="es-MX" sz="1800" b="0" i="1" smtClean="0">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4</m:t>
                              </m:r>
                              <m:r>
                                <a:rPr lang="es-MX" sz="1800" i="1">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5</m:t>
                              </m:r>
                            </m:e>
                          </m:d>
                          <m:r>
                            <a:rPr lang="es-MX" sz="1800" b="0" i="1" smtClean="0">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5</m:t>
                              </m:r>
                              <m:r>
                                <a:rPr lang="es-MX" sz="1800" i="1">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6</m:t>
                              </m:r>
                            </m:e>
                          </m:d>
                          <m:r>
                            <a:rPr lang="es-MX" sz="1800" b="0" i="1" smtClean="0">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6</m:t>
                              </m:r>
                              <m:r>
                                <a:rPr lang="es-MX" sz="1800" i="1">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7</m:t>
                              </m:r>
                            </m:e>
                          </m:d>
                          <m:r>
                            <a:rPr lang="es-MX" sz="1800" b="0" i="1" smtClean="0">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7</m:t>
                              </m:r>
                              <m:r>
                                <a:rPr lang="es-MX" sz="1800" i="1">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8</m:t>
                              </m:r>
                            </m:e>
                          </m:d>
                          <m:r>
                            <a:rPr lang="es-MX" sz="1800" b="0" i="1" smtClean="0">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8</m:t>
                              </m:r>
                              <m:r>
                                <a:rPr lang="es-MX" sz="1800" i="1">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9</m:t>
                              </m:r>
                            </m:e>
                          </m:d>
                          <m:r>
                            <a:rPr lang="es-MX" sz="1800" b="0" i="1" smtClean="0">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9</m:t>
                              </m:r>
                              <m:r>
                                <a:rPr lang="es-MX" sz="1800" i="1">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10</m:t>
                              </m:r>
                            </m:e>
                          </m:d>
                          <m:r>
                            <a:rPr lang="es-MX" sz="1800" b="0" i="1" smtClean="0">
                              <a:solidFill>
                                <a:schemeClr val="tx1"/>
                              </a:solidFill>
                              <a:latin typeface="Cambria Math" panose="02040503050406030204" pitchFamily="18" charset="0"/>
                            </a:rPr>
                            <m:t>,</m:t>
                          </m:r>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10,11</m:t>
                              </m:r>
                            </m:e>
                          </m:d>
                          <m:r>
                            <a:rPr lang="es-MX" sz="1800" b="0" i="1" smtClean="0">
                              <a:solidFill>
                                <a:schemeClr val="tx1"/>
                              </a:solidFill>
                              <a:latin typeface="Cambria Math" panose="02040503050406030204" pitchFamily="18" charset="0"/>
                            </a:rPr>
                            <m:t>,(11,12)</m:t>
                          </m:r>
                        </m:e>
                      </m:d>
                    </m:oMath>
                  </m:oMathPara>
                </a14:m>
                <a:endParaRPr lang="es-CO" sz="1800" dirty="0">
                  <a:solidFill>
                    <a:schemeClr val="tx1"/>
                  </a:solidFill>
                </a:endParaRPr>
              </a:p>
            </p:txBody>
          </p:sp>
        </mc:Choice>
        <mc:Fallback xmlns="">
          <p:sp>
            <p:nvSpPr>
              <p:cNvPr id="13" name="CuadroTexto 12">
                <a:extLst>
                  <a:ext uri="{FF2B5EF4-FFF2-40B4-BE49-F238E27FC236}">
                    <a16:creationId xmlns:a16="http://schemas.microsoft.com/office/drawing/2014/main" id="{E2635B2B-F183-44B8-A543-E38C2C297818}"/>
                  </a:ext>
                </a:extLst>
              </p:cNvPr>
              <p:cNvSpPr txBox="1">
                <a:spLocks noRot="1" noChangeAspect="1" noMove="1" noResize="1" noEditPoints="1" noAdjustHandles="1" noChangeArrowheads="1" noChangeShapeType="1" noTextEdit="1"/>
              </p:cNvSpPr>
              <p:nvPr/>
            </p:nvSpPr>
            <p:spPr>
              <a:xfrm>
                <a:off x="2043826" y="3285486"/>
                <a:ext cx="8374792" cy="276999"/>
              </a:xfrm>
              <a:prstGeom prst="rect">
                <a:avLst/>
              </a:prstGeom>
              <a:blipFill>
                <a:blip r:embed="rId4"/>
                <a:stretch>
                  <a:fillRect l="-73" t="-2222" b="-35556"/>
                </a:stretch>
              </a:blipFill>
            </p:spPr>
            <p:txBody>
              <a:bodyPr/>
              <a:lstStyle/>
              <a:p>
                <a:r>
                  <a:rPr lang="es-CO">
                    <a:noFill/>
                  </a:rPr>
                  <a:t> </a:t>
                </a:r>
              </a:p>
            </p:txBody>
          </p:sp>
        </mc:Fallback>
      </mc:AlternateContent>
      <p:sp>
        <p:nvSpPr>
          <p:cNvPr id="12" name="CuadroTexto 11">
            <a:extLst>
              <a:ext uri="{FF2B5EF4-FFF2-40B4-BE49-F238E27FC236}">
                <a16:creationId xmlns:a16="http://schemas.microsoft.com/office/drawing/2014/main" id="{C9073915-E7FC-4086-AA27-4DC303726DE6}"/>
              </a:ext>
            </a:extLst>
          </p:cNvPr>
          <p:cNvSpPr txBox="1"/>
          <p:nvPr/>
        </p:nvSpPr>
        <p:spPr>
          <a:xfrm>
            <a:off x="580571" y="2751891"/>
            <a:ext cx="7955598" cy="400110"/>
          </a:xfrm>
          <a:prstGeom prst="rect">
            <a:avLst/>
          </a:prstGeom>
          <a:noFill/>
        </p:spPr>
        <p:txBody>
          <a:bodyPr wrap="square" rtlCol="0">
            <a:spAutoFit/>
          </a:bodyPr>
          <a:lstStyle/>
          <a:p>
            <a:r>
              <a:rPr lang="es-MX" sz="2000" b="1" dirty="0">
                <a:ea typeface="Roboto" panose="02000000000000000000" pitchFamily="2" charset="0"/>
              </a:rPr>
              <a:t>Solución</a:t>
            </a:r>
            <a:r>
              <a:rPr lang="es-MX" sz="2000" dirty="0">
                <a:ea typeface="Roboto" panose="02000000000000000000" pitchFamily="2" charset="0"/>
              </a:rPr>
              <a:t>: </a:t>
            </a:r>
            <a:r>
              <a:rPr lang="es-MX" sz="2000" dirty="0">
                <a:solidFill>
                  <a:schemeClr val="tx1"/>
                </a:solidFill>
                <a:ea typeface="Roboto" panose="02000000000000000000" pitchFamily="2" charset="0"/>
              </a:rPr>
              <a:t>Para el caso tenemos:</a:t>
            </a:r>
            <a:endParaRPr lang="es-CO" sz="2000" dirty="0">
              <a:solidFill>
                <a:schemeClr val="tx1"/>
              </a:solidFill>
              <a:ea typeface="Roboto" panose="02000000000000000000" pitchFamily="2" charset="0"/>
            </a:endParaRPr>
          </a:p>
        </p:txBody>
      </p:sp>
      <p:pic>
        <p:nvPicPr>
          <p:cNvPr id="1026" name="Picture 2" descr="Wall Clock Stock Illustrations – 48,123 Wall Clock Stock ...">
            <a:extLst>
              <a:ext uri="{FF2B5EF4-FFF2-40B4-BE49-F238E27FC236}">
                <a16:creationId xmlns:a16="http://schemas.microsoft.com/office/drawing/2014/main" id="{F25E05D3-D627-46C6-AE25-849AA69545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44346" y="1098730"/>
            <a:ext cx="1948543" cy="1948543"/>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A506566F-DA21-4D9B-AEDA-58E4B2159092}"/>
              </a:ext>
            </a:extLst>
          </p:cNvPr>
          <p:cNvSpPr txBox="1"/>
          <p:nvPr/>
        </p:nvSpPr>
        <p:spPr>
          <a:xfrm>
            <a:off x="7709337" y="4038911"/>
            <a:ext cx="3981397" cy="584775"/>
          </a:xfrm>
          <a:prstGeom prst="rect">
            <a:avLst/>
          </a:prstGeom>
          <a:noFill/>
          <a:ln>
            <a:solidFill>
              <a:schemeClr val="tx1"/>
            </a:solidFill>
          </a:ln>
        </p:spPr>
        <p:txBody>
          <a:bodyPr wrap="square">
            <a:spAutoFit/>
          </a:bodyPr>
          <a:lstStyle/>
          <a:p>
            <a:r>
              <a:rPr lang="es-CO" sz="1600" dirty="0">
                <a:latin typeface="Consolas" panose="020B0609020204030204" pitchFamily="49" charset="0"/>
              </a:rPr>
              <a:t>A = set(</a:t>
            </a:r>
            <a:r>
              <a:rPr lang="es-CO" sz="1600" dirty="0" err="1">
                <a:latin typeface="Consolas" panose="020B0609020204030204" pitchFamily="49" charset="0"/>
              </a:rPr>
              <a:t>range</a:t>
            </a:r>
            <a:r>
              <a:rPr lang="es-CO" sz="1600" dirty="0">
                <a:latin typeface="Consolas" panose="020B0609020204030204" pitchFamily="49" charset="0"/>
              </a:rPr>
              <a:t>(1, 13))</a:t>
            </a:r>
          </a:p>
          <a:p>
            <a:r>
              <a:rPr lang="es-CO" sz="1600" dirty="0">
                <a:latin typeface="Consolas" panose="020B0609020204030204" pitchFamily="49" charset="0"/>
              </a:rPr>
              <a:t>R = {(x, x % 12 + 1) for x in A}</a:t>
            </a:r>
          </a:p>
        </p:txBody>
      </p:sp>
      <p:sp>
        <p:nvSpPr>
          <p:cNvPr id="10" name="CuadroTexto 9">
            <a:extLst>
              <a:ext uri="{FF2B5EF4-FFF2-40B4-BE49-F238E27FC236}">
                <a16:creationId xmlns:a16="http://schemas.microsoft.com/office/drawing/2014/main" id="{C832C58A-18F3-424A-B12E-E9A3C8A1A13C}"/>
              </a:ext>
            </a:extLst>
          </p:cNvPr>
          <p:cNvSpPr txBox="1"/>
          <p:nvPr/>
        </p:nvSpPr>
        <p:spPr>
          <a:xfrm>
            <a:off x="9004524" y="4659984"/>
            <a:ext cx="1720304" cy="369332"/>
          </a:xfrm>
          <a:prstGeom prst="rect">
            <a:avLst/>
          </a:prstGeom>
          <a:noFill/>
        </p:spPr>
        <p:txBody>
          <a:bodyPr wrap="square">
            <a:spAutoFit/>
          </a:bodyPr>
          <a:lstStyle/>
          <a:p>
            <a:pPr algn="ctr"/>
            <a:r>
              <a:rPr lang="es-CO" b="1" dirty="0"/>
              <a:t>Codigo </a:t>
            </a:r>
            <a:r>
              <a:rPr lang="es-CO" dirty="0"/>
              <a:t>(</a:t>
            </a:r>
            <a:r>
              <a:rPr lang="es-CO" dirty="0">
                <a:hlinkClick r:id="rId6"/>
              </a:rPr>
              <a:t>link</a:t>
            </a:r>
            <a:r>
              <a:rPr lang="es-CO" dirty="0"/>
              <a:t>)</a:t>
            </a:r>
          </a:p>
        </p:txBody>
      </p:sp>
      <p:pic>
        <p:nvPicPr>
          <p:cNvPr id="11" name="Picture 10">
            <a:extLst>
              <a:ext uri="{FF2B5EF4-FFF2-40B4-BE49-F238E27FC236}">
                <a16:creationId xmlns:a16="http://schemas.microsoft.com/office/drawing/2014/main" id="{90E625AF-44A9-4EB2-95B2-92BF14964D1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92889" y="3817947"/>
            <a:ext cx="444914" cy="441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4408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4721" y="96038"/>
            <a:ext cx="882251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4722" y="780067"/>
            <a:ext cx="1134255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¿Cuantas relaciones hay?</a:t>
            </a: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24720" y="1302936"/>
                <a:ext cx="11522441" cy="17240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Cada par de </a:t>
                </a:r>
                <a14:m>
                  <m:oMath xmlns:m="http://schemas.openxmlformats.org/officeDocument/2006/math">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 </m:t>
                    </m:r>
                  </m:oMath>
                </a14:m>
                <a:r>
                  <a:rPr lang="es-MX" sz="2000" dirty="0">
                    <a:latin typeface="+mn-lt"/>
                    <a:ea typeface="Roboto" panose="02000000000000000000" pitchFamily="2" charset="0"/>
                  </a:rPr>
                  <a:t>tiene dos opciones, esta o no esta en </a:t>
                </a:r>
                <a14:m>
                  <m:oMath xmlns:m="http://schemas.openxmlformats.org/officeDocument/2006/math">
                    <m:r>
                      <a:rPr lang="es-MX" sz="2000" b="0" i="1" smtClean="0">
                        <a:latin typeface="Cambria Math" panose="02040503050406030204" pitchFamily="18" charset="0"/>
                        <a:ea typeface="Cambria Math" panose="02040503050406030204" pitchFamily="18" charset="0"/>
                      </a:rPr>
                      <m:t>𝑅</m:t>
                    </m:r>
                  </m:oMath>
                </a14:m>
                <a:r>
                  <a:rPr lang="es-MX" sz="2000" dirty="0">
                    <a:latin typeface="+mn-lt"/>
                    <a:ea typeface="Roboto" panose="02000000000000000000" pitchFamily="2" charset="0"/>
                  </a:rPr>
                  <a:t>. Con </a:t>
                </a:r>
                <a14:m>
                  <m:oMath xmlns:m="http://schemas.openxmlformats.org/officeDocument/2006/math">
                    <m:d>
                      <m:dPr>
                        <m:begChr m:val="|"/>
                        <m:endChr m:val="|"/>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𝑚</m:t>
                    </m:r>
                  </m:oMath>
                </a14:m>
                <a:r>
                  <a:rPr lang="es-MX" sz="2000" dirty="0">
                    <a:latin typeface="+mn-lt"/>
                    <a:ea typeface="Roboto" panose="02000000000000000000" pitchFamily="2" charset="0"/>
                  </a:rPr>
                  <a:t> y </a:t>
                </a:r>
                <a14:m>
                  <m:oMath xmlns:m="http://schemas.openxmlformats.org/officeDocument/2006/math">
                    <m:d>
                      <m:dPr>
                        <m:begChr m:val="|"/>
                        <m:endChr m:val="|"/>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e>
                    </m:d>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𝑛</m:t>
                    </m:r>
                    <m:r>
                      <a:rPr lang="es-MX" sz="2000" i="1">
                        <a:latin typeface="Cambria Math" panose="02040503050406030204" pitchFamily="18" charset="0"/>
                        <a:ea typeface="Cambria Math" panose="02040503050406030204" pitchFamily="18" charset="0"/>
                      </a:rPr>
                      <m:t> </m:t>
                    </m:r>
                  </m:oMath>
                </a14:m>
                <a:r>
                  <a:rPr lang="es-MX" sz="2000" dirty="0">
                    <a:latin typeface="+mn-lt"/>
                    <a:ea typeface="Roboto" panose="02000000000000000000" pitchFamily="2" charset="0"/>
                  </a:rPr>
                  <a:t> hay </a:t>
                </a:r>
                <a14:m>
                  <m:oMath xmlns:m="http://schemas.openxmlformats.org/officeDocument/2006/math">
                    <m:r>
                      <a:rPr lang="es-MX" sz="2000" i="1" smtClean="0">
                        <a:latin typeface="Cambria Math" panose="02040503050406030204" pitchFamily="18" charset="0"/>
                        <a:ea typeface="Cambria Math" panose="02040503050406030204" pitchFamily="18" charset="0"/>
                      </a:rPr>
                      <m:t>𝑚</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𝑛</m:t>
                    </m:r>
                  </m:oMath>
                </a14:m>
                <a:r>
                  <a:rPr lang="es-MX" sz="2000" dirty="0">
                    <a:latin typeface="+mn-lt"/>
                    <a:ea typeface="Roboto" panose="02000000000000000000" pitchFamily="2" charset="0"/>
                  </a:rPr>
                  <a:t> lo cual implica </a:t>
                </a:r>
                <a14:m>
                  <m:oMath xmlns:m="http://schemas.openxmlformats.org/officeDocument/2006/math">
                    <m:sSup>
                      <m:sSupPr>
                        <m:ctrlPr>
                          <a:rPr lang="es-MX" sz="2000" b="0" i="1" smtClean="0">
                            <a:latin typeface="Cambria Math" panose="02040503050406030204" pitchFamily="18" charset="0"/>
                            <a:ea typeface="Cambria Math" panose="02040503050406030204" pitchFamily="18" charset="0"/>
                          </a:rPr>
                        </m:ctrlPr>
                      </m:sSupPr>
                      <m:e>
                        <m:r>
                          <a:rPr lang="es-MX" sz="2000" b="0" i="1" smtClean="0">
                            <a:latin typeface="Cambria Math" panose="02040503050406030204" pitchFamily="18" charset="0"/>
                            <a:ea typeface="Cambria Math" panose="02040503050406030204" pitchFamily="18" charset="0"/>
                          </a:rPr>
                          <m:t>2</m:t>
                        </m:r>
                      </m:e>
                      <m:sup>
                        <m:r>
                          <a:rPr lang="es-MX" sz="2000" b="0" i="1" smtClean="0">
                            <a:latin typeface="Cambria Math" panose="02040503050406030204" pitchFamily="18" charset="0"/>
                            <a:ea typeface="Cambria Math" panose="02040503050406030204" pitchFamily="18" charset="0"/>
                          </a:rPr>
                          <m:t>𝑚</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𝑛</m:t>
                        </m:r>
                      </m:sup>
                    </m:sSup>
                  </m:oMath>
                </a14:m>
                <a:r>
                  <a:rPr lang="es-MX" sz="2000" dirty="0">
                    <a:latin typeface="+mn-lt"/>
                    <a:ea typeface="Roboto" panose="02000000000000000000" pitchFamily="2" charset="0"/>
                  </a:rPr>
                  <a:t> posibles relaciones.</a:t>
                </a:r>
              </a:p>
              <a:p>
                <a:r>
                  <a:rPr lang="es-MX" sz="2000" b="1" dirty="0">
                    <a:latin typeface="+mn-lt"/>
                    <a:ea typeface="Roboto" panose="02000000000000000000" pitchFamily="2" charset="0"/>
                  </a:rPr>
                  <a:t>De </a:t>
                </a:r>
                <a14:m>
                  <m:oMath xmlns:m="http://schemas.openxmlformats.org/officeDocument/2006/math">
                    <m:r>
                      <a:rPr lang="es-MX" sz="2000" b="1" i="1">
                        <a:latin typeface="Cambria Math" panose="02040503050406030204" pitchFamily="18" charset="0"/>
                        <a:ea typeface="Roboto" panose="02000000000000000000" pitchFamily="2" charset="0"/>
                      </a:rPr>
                      <m:t>𝑨</m:t>
                    </m:r>
                  </m:oMath>
                </a14:m>
                <a:r>
                  <a:rPr lang="es-MX" sz="2000" b="1" dirty="0">
                    <a:latin typeface="+mn-lt"/>
                    <a:ea typeface="Roboto" panose="02000000000000000000" pitchFamily="2" charset="0"/>
                  </a:rPr>
                  <a:t> en </a:t>
                </a:r>
                <a14:m>
                  <m:oMath xmlns:m="http://schemas.openxmlformats.org/officeDocument/2006/math">
                    <m:r>
                      <a:rPr lang="es-MX" sz="2000" b="1" i="1" smtClean="0">
                        <a:latin typeface="Cambria Math" panose="02040503050406030204" pitchFamily="18" charset="0"/>
                        <a:ea typeface="Roboto" panose="02000000000000000000" pitchFamily="2" charset="0"/>
                      </a:rPr>
                      <m:t>𝑩</m:t>
                    </m:r>
                  </m:oMath>
                </a14:m>
                <a:r>
                  <a:rPr lang="es-MX" sz="2000" dirty="0">
                    <a:latin typeface="+mn-lt"/>
                    <a:ea typeface="Roboto" panose="02000000000000000000" pitchFamily="2" charset="0"/>
                  </a:rPr>
                  <a:t>: </a:t>
                </a:r>
                <a14:m>
                  <m:oMath xmlns:m="http://schemas.openxmlformats.org/officeDocument/2006/math">
                    <m:sSub>
                      <m:sSubPr>
                        <m:ctrlPr>
                          <a:rPr lang="es-MX" sz="2000" i="1">
                            <a:latin typeface="Cambria Math" panose="02040503050406030204" pitchFamily="18" charset="0"/>
                            <a:ea typeface="Cambria Math" panose="02040503050406030204" pitchFamily="18" charset="0"/>
                          </a:rPr>
                        </m:ctrlPr>
                      </m:sSubPr>
                      <m:e>
                        <m:r>
                          <a:rPr lang="es-MX" sz="2000" i="1">
                            <a:latin typeface="Cambria Math" panose="02040503050406030204" pitchFamily="18" charset="0"/>
                            <a:ea typeface="Cambria Math" panose="02040503050406030204" pitchFamily="18" charset="0"/>
                          </a:rPr>
                          <m:t>𝑛</m:t>
                        </m:r>
                      </m:e>
                      <m:sub>
                        <m:r>
                          <a:rPr lang="es-MX" sz="2000" i="1">
                            <a:latin typeface="Cambria Math" panose="02040503050406030204" pitchFamily="18" charset="0"/>
                            <a:ea typeface="Cambria Math" panose="02040503050406030204" pitchFamily="18" charset="0"/>
                          </a:rPr>
                          <m:t>𝑅</m:t>
                        </m:r>
                      </m:sub>
                    </m:sSub>
                    <m:r>
                      <a:rPr lang="es-MX" sz="2000">
                        <a:latin typeface="Cambria Math" panose="02040503050406030204" pitchFamily="18" charset="0"/>
                        <a:ea typeface="Cambria Math" panose="02040503050406030204" pitchFamily="18" charset="0"/>
                      </a:rPr>
                      <m:t>=</m:t>
                    </m:r>
                    <m:d>
                      <m:dPr>
                        <m:begChr m:val="|"/>
                        <m:endChr m:val="|"/>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𝒫</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e>
                        </m:d>
                      </m:e>
                    </m:d>
                    <m:r>
                      <a:rPr lang="es-MX" sz="2000" i="1">
                        <a:latin typeface="Cambria Math" panose="02040503050406030204" pitchFamily="18" charset="0"/>
                        <a:ea typeface="Cambria Math" panose="02040503050406030204" pitchFamily="18" charset="0"/>
                      </a:rPr>
                      <m:t>=</m:t>
                    </m:r>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2</m:t>
                        </m:r>
                      </m:e>
                      <m:sup>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sup>
                    </m:sSup>
                    <m:r>
                      <a:rPr lang="es-MX" sz="2000" i="1">
                        <a:latin typeface="Cambria Math" panose="02040503050406030204" pitchFamily="18" charset="0"/>
                        <a:ea typeface="Cambria Math" panose="02040503050406030204" pitchFamily="18" charset="0"/>
                      </a:rPr>
                      <m:t>=</m:t>
                    </m:r>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2</m:t>
                        </m:r>
                      </m:e>
                      <m:sup>
                        <m:r>
                          <a:rPr lang="es-MX" sz="2000" b="0" i="1" smtClean="0">
                            <a:latin typeface="Cambria Math" panose="02040503050406030204" pitchFamily="18" charset="0"/>
                            <a:ea typeface="Cambria Math" panose="02040503050406030204" pitchFamily="18" charset="0"/>
                          </a:rPr>
                          <m:t>𝑚</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𝑛</m:t>
                        </m:r>
                      </m:sup>
                    </m:sSup>
                  </m:oMath>
                </a14:m>
                <a:endParaRPr lang="es-MX" sz="2000" dirty="0">
                  <a:latin typeface="+mn-lt"/>
                  <a:ea typeface="Roboto" panose="02000000000000000000" pitchFamily="2" charset="0"/>
                </a:endParaRPr>
              </a:p>
              <a:p>
                <a:r>
                  <a:rPr lang="es-MX" sz="2000" b="1" dirty="0">
                    <a:latin typeface="+mn-lt"/>
                    <a:ea typeface="Roboto" panose="02000000000000000000" pitchFamily="2" charset="0"/>
                  </a:rPr>
                  <a:t>Sobre </a:t>
                </a:r>
                <a14:m>
                  <m:oMath xmlns:m="http://schemas.openxmlformats.org/officeDocument/2006/math">
                    <m:r>
                      <a:rPr lang="es-MX" sz="2000" b="1" i="1">
                        <a:latin typeface="Cambria Math" panose="02040503050406030204" pitchFamily="18" charset="0"/>
                        <a:ea typeface="Roboto" panose="02000000000000000000" pitchFamily="2" charset="0"/>
                      </a:rPr>
                      <m:t>𝑨</m:t>
                    </m:r>
                  </m:oMath>
                </a14:m>
                <a:r>
                  <a:rPr lang="es-MX" sz="2000" b="1" dirty="0">
                    <a:latin typeface="+mn-lt"/>
                    <a:ea typeface="Roboto" panose="02000000000000000000" pitchFamily="2" charset="0"/>
                  </a:rPr>
                  <a:t> (</a:t>
                </a:r>
                <a14:m>
                  <m:oMath xmlns:m="http://schemas.openxmlformats.org/officeDocument/2006/math">
                    <m:d>
                      <m:dPr>
                        <m:begChr m:val="|"/>
                        <m:endChr m:val="|"/>
                        <m:ctrlPr>
                          <a:rPr lang="es-MX" sz="2000" b="1" i="1">
                            <a:latin typeface="Cambria Math" panose="02040503050406030204" pitchFamily="18" charset="0"/>
                            <a:ea typeface="Cambria Math" panose="02040503050406030204" pitchFamily="18" charset="0"/>
                          </a:rPr>
                        </m:ctrlPr>
                      </m:dPr>
                      <m:e>
                        <m:r>
                          <a:rPr lang="es-MX" sz="2000" b="1" i="1">
                            <a:latin typeface="Cambria Math" panose="02040503050406030204" pitchFamily="18" charset="0"/>
                            <a:ea typeface="Cambria Math" panose="02040503050406030204" pitchFamily="18" charset="0"/>
                          </a:rPr>
                          <m:t>𝑨</m:t>
                        </m:r>
                      </m:e>
                    </m:d>
                    <m:r>
                      <a:rPr lang="es-MX" sz="2000" b="1" i="1">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𝒏</m:t>
                    </m:r>
                  </m:oMath>
                </a14:m>
                <a:r>
                  <a:rPr lang="es-MX" sz="2000" b="1" dirty="0">
                    <a:latin typeface="+mn-lt"/>
                    <a:ea typeface="Roboto" panose="02000000000000000000" pitchFamily="2" charset="0"/>
                  </a:rPr>
                  <a:t>)</a:t>
                </a:r>
                <a:r>
                  <a:rPr lang="es-MX" sz="2000" dirty="0">
                    <a:latin typeface="+mn-lt"/>
                    <a:ea typeface="Roboto" panose="02000000000000000000" pitchFamily="2" charset="0"/>
                  </a:rPr>
                  <a:t>: </a:t>
                </a:r>
                <a14:m>
                  <m:oMath xmlns:m="http://schemas.openxmlformats.org/officeDocument/2006/math">
                    <m:sSub>
                      <m:sSubPr>
                        <m:ctrlPr>
                          <a:rPr lang="es-MX" sz="2000" b="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𝑛</m:t>
                        </m:r>
                      </m:e>
                      <m:sub>
                        <m:r>
                          <a:rPr lang="es-MX" sz="2000" b="0" i="1" smtClean="0">
                            <a:latin typeface="Cambria Math" panose="02040503050406030204" pitchFamily="18" charset="0"/>
                            <a:ea typeface="Cambria Math" panose="02040503050406030204" pitchFamily="18" charset="0"/>
                          </a:rPr>
                          <m:t>𝑅</m:t>
                        </m:r>
                      </m:sub>
                    </m:sSub>
                    <m:r>
                      <a:rPr lang="es-MX" sz="2000" b="0" i="0" smtClean="0">
                        <a:latin typeface="Cambria Math" panose="02040503050406030204" pitchFamily="18" charset="0"/>
                        <a:ea typeface="Cambria Math" panose="02040503050406030204" pitchFamily="18" charset="0"/>
                      </a:rPr>
                      <m:t>=</m:t>
                    </m:r>
                    <m:d>
                      <m:dPr>
                        <m:begChr m:val="|"/>
                        <m:endChr m:val="|"/>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𝒫</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m:rPr>
                                <m:sty m:val="p"/>
                              </m:rPr>
                              <a:rPr lang="es-MX" sz="2000" i="1">
                                <a:latin typeface="Cambria Math" panose="02040503050406030204" pitchFamily="18" charset="0"/>
                                <a:ea typeface="Cambria Math" panose="02040503050406030204" pitchFamily="18" charset="0"/>
                              </a:rPr>
                              <m:t>A</m:t>
                            </m:r>
                          </m:e>
                        </m:d>
                      </m:e>
                    </m:d>
                    <m:r>
                      <a:rPr lang="es-MX" sz="2000" i="1">
                        <a:latin typeface="Cambria Math" panose="02040503050406030204" pitchFamily="18" charset="0"/>
                        <a:ea typeface="Cambria Math" panose="02040503050406030204" pitchFamily="18" charset="0"/>
                      </a:rPr>
                      <m:t>=</m:t>
                    </m:r>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2</m:t>
                        </m:r>
                      </m:e>
                      <m:sup>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sup>
                    </m:sSup>
                    <m:r>
                      <a:rPr lang="es-MX" sz="2000" i="1">
                        <a:latin typeface="Cambria Math" panose="02040503050406030204" pitchFamily="18" charset="0"/>
                        <a:ea typeface="Cambria Math" panose="02040503050406030204" pitchFamily="18" charset="0"/>
                      </a:rPr>
                      <m:t>=</m:t>
                    </m:r>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2</m:t>
                        </m:r>
                      </m:e>
                      <m:sup>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𝑛</m:t>
                            </m:r>
                          </m:e>
                          <m:sup>
                            <m:r>
                              <a:rPr lang="es-MX" sz="2000" i="1">
                                <a:latin typeface="Cambria Math" panose="02040503050406030204" pitchFamily="18" charset="0"/>
                                <a:ea typeface="Cambria Math" panose="02040503050406030204" pitchFamily="18" charset="0"/>
                              </a:rPr>
                              <m:t>2</m:t>
                            </m:r>
                          </m:sup>
                        </m:sSup>
                      </m:sup>
                    </m:sSup>
                  </m:oMath>
                </a14:m>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424720" y="1302936"/>
                <a:ext cx="11522441" cy="1724043"/>
              </a:xfrm>
              <a:prstGeom prst="rect">
                <a:avLst/>
              </a:prstGeom>
              <a:blipFill>
                <a:blip r:embed="rId3"/>
                <a:stretch>
                  <a:fillRect r="-212" b="-353"/>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5" name="Tabla 2">
                <a:extLst>
                  <a:ext uri="{FF2B5EF4-FFF2-40B4-BE49-F238E27FC236}">
                    <a16:creationId xmlns:a16="http://schemas.microsoft.com/office/drawing/2014/main" id="{19FD5540-DD81-43AB-AA7C-99E3B1C25207}"/>
                  </a:ext>
                </a:extLst>
              </p:cNvPr>
              <p:cNvGraphicFramePr>
                <a:graphicFrameLocks noGrp="1"/>
              </p:cNvGraphicFramePr>
              <p:nvPr>
                <p:extLst>
                  <p:ext uri="{D42A27DB-BD31-4B8C-83A1-F6EECF244321}">
                    <p14:modId xmlns:p14="http://schemas.microsoft.com/office/powerpoint/2010/main" val="2738265725"/>
                  </p:ext>
                </p:extLst>
              </p:nvPr>
            </p:nvGraphicFramePr>
            <p:xfrm>
              <a:off x="502645" y="3086344"/>
              <a:ext cx="11366590" cy="3460262"/>
            </p:xfrm>
            <a:graphic>
              <a:graphicData uri="http://schemas.openxmlformats.org/drawingml/2006/table">
                <a:tbl>
                  <a:tblPr firstRow="1" bandRow="1">
                    <a:tableStyleId>{AD6A3598-7CB8-4345-8D95-17CE05F158A0}</a:tableStyleId>
                  </a:tblPr>
                  <a:tblGrid>
                    <a:gridCol w="3329277">
                      <a:extLst>
                        <a:ext uri="{9D8B030D-6E8A-4147-A177-3AD203B41FA5}">
                          <a16:colId xmlns:a16="http://schemas.microsoft.com/office/drawing/2014/main" val="425169582"/>
                        </a:ext>
                      </a:extLst>
                    </a:gridCol>
                    <a:gridCol w="3213130">
                      <a:extLst>
                        <a:ext uri="{9D8B030D-6E8A-4147-A177-3AD203B41FA5}">
                          <a16:colId xmlns:a16="http://schemas.microsoft.com/office/drawing/2014/main" val="846766345"/>
                        </a:ext>
                      </a:extLst>
                    </a:gridCol>
                    <a:gridCol w="4824183">
                      <a:extLst>
                        <a:ext uri="{9D8B030D-6E8A-4147-A177-3AD203B41FA5}">
                          <a16:colId xmlns:a16="http://schemas.microsoft.com/office/drawing/2014/main" val="3911370269"/>
                        </a:ext>
                      </a:extLst>
                    </a:gridCol>
                  </a:tblGrid>
                  <a:tr h="322500">
                    <a:tc>
                      <a:txBody>
                        <a:bodyPr/>
                        <a:lstStyle/>
                        <a:p>
                          <a:r>
                            <a:rPr lang="es-CO" sz="2000" b="1" dirty="0">
                              <a:latin typeface="+mn-lt"/>
                              <a:ea typeface="Roboto" panose="02000000000000000000" pitchFamily="2" charset="0"/>
                            </a:rPr>
                            <a:t>Contexto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2000" b="1" dirty="0">
                              <a:latin typeface="+mn-lt"/>
                              <a:ea typeface="Roboto" panose="02000000000000000000" pitchFamily="2" charset="0"/>
                            </a:rPr>
                            <a:t>Conjuntos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2000" b="1" dirty="0">
                              <a:latin typeface="+mn-lt"/>
                              <a:ea typeface="Roboto" panose="02000000000000000000" pitchFamily="2" charset="0"/>
                            </a:rPr>
                            <a:t>Numero de relaciones posibles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089420585"/>
                      </a:ext>
                    </a:extLst>
                  </a:tr>
                  <a:tr h="570577">
                    <a:tc>
                      <a:txBody>
                        <a:bodyPr/>
                        <a:lstStyle/>
                        <a:p>
                          <a:r>
                            <a:rPr lang="es-CO" sz="2000" dirty="0">
                              <a:latin typeface="+mn-lt"/>
                              <a:ea typeface="Roboto" panose="02000000000000000000" pitchFamily="2" charset="0"/>
                            </a:rPr>
                            <a:t>Colores primarios y secundarios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14:m>
                            <m:oMath xmlns:m="http://schemas.openxmlformats.org/officeDocument/2006/math">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mn-lt"/>
                                      <a:ea typeface="Roboto" panose="02000000000000000000" pitchFamily="2" charset="0"/>
                                    </a:rPr>
                                    <m:t>𝐴</m:t>
                                  </m:r>
                                </m:e>
                              </m:d>
                              <m:r>
                                <a:rPr lang="es-MX" sz="2000" b="0" i="1" smtClean="0">
                                  <a:solidFill>
                                    <a:schemeClr val="tx1"/>
                                  </a:solidFill>
                                  <a:latin typeface="+mn-lt"/>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3</m:t>
                              </m:r>
                            </m:oMath>
                          </a14:m>
                          <a:endParaRPr lang="es-MX" sz="2000" b="0" i="1" dirty="0">
                            <a:solidFill>
                              <a:schemeClr val="tx1"/>
                            </a:solidFill>
                            <a:latin typeface="Cambria Math" panose="02040503050406030204" pitchFamily="18"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mn-lt"/>
                                  <a:ea typeface="Roboto" panose="02000000000000000000" pitchFamily="2" charset="0"/>
                                </a:rPr>
                                <m:t>𝐵</m:t>
                              </m:r>
                              <m:r>
                                <a:rPr lang="es-MX" sz="2000" b="0" i="1" smtClean="0">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mn-lt"/>
                                  <a:ea typeface="Roboto" panose="02000000000000000000" pitchFamily="2" charset="0"/>
                                </a:rPr>
                                <m:t>=</m:t>
                              </m:r>
                              <m:r>
                                <a:rPr lang="es-MX" sz="2000" i="1" smtClean="0">
                                  <a:solidFill>
                                    <a:schemeClr val="tx1"/>
                                  </a:solidFill>
                                  <a:latin typeface="Cambria Math" panose="02040503050406030204" pitchFamily="18" charset="0"/>
                                  <a:ea typeface="Roboto" panose="02000000000000000000" pitchFamily="2" charset="0"/>
                                </a:rPr>
                                <m:t>3</m:t>
                              </m:r>
                            </m:oMath>
                          </a14:m>
                          <a:endParaRPr lang="es-CO" sz="20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s-MX" sz="2000" b="0" i="1" smtClean="0">
                                        <a:latin typeface="+mn-lt"/>
                                        <a:ea typeface="Roboto" panose="02000000000000000000" pitchFamily="2" charset="0"/>
                                      </a:rPr>
                                    </m:ctrlPr>
                                  </m:sSubPr>
                                  <m:e>
                                    <m:r>
                                      <a:rPr lang="es-MX" sz="2000" b="0" i="1" smtClean="0">
                                        <a:latin typeface="+mn-lt"/>
                                        <a:ea typeface="Roboto" panose="02000000000000000000" pitchFamily="2" charset="0"/>
                                      </a:rPr>
                                      <m:t>𝑛</m:t>
                                    </m:r>
                                  </m:e>
                                  <m:sub>
                                    <m:r>
                                      <a:rPr lang="es-MX" sz="2000" b="0" i="1" smtClean="0">
                                        <a:latin typeface="+mn-lt"/>
                                        <a:ea typeface="Roboto" panose="02000000000000000000" pitchFamily="2" charset="0"/>
                                      </a:rPr>
                                      <m:t>𝑅</m:t>
                                    </m:r>
                                  </m:sub>
                                </m:sSub>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𝐵</m:t>
                                        </m:r>
                                      </m:e>
                                    </m:d>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𝐴</m:t>
                                        </m:r>
                                      </m:e>
                                    </m:d>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𝐵</m:t>
                                        </m:r>
                                      </m:e>
                                    </m:d>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r>
                                      <a:rPr lang="es-MX" sz="2000" b="0" i="1" smtClean="0">
                                        <a:latin typeface="+mn-lt"/>
                                        <a:ea typeface="Roboto" panose="02000000000000000000" pitchFamily="2" charset="0"/>
                                      </a:rPr>
                                      <m:t>3</m:t>
                                    </m:r>
                                    <m:r>
                                      <a:rPr lang="es-MX" sz="2000" b="0" i="1" smtClean="0">
                                        <a:latin typeface="Cambria Math" panose="02040503050406030204" pitchFamily="18" charset="0"/>
                                        <a:ea typeface="Roboto" panose="02000000000000000000" pitchFamily="2" charset="0"/>
                                      </a:rPr>
                                      <m:t>⋅</m:t>
                                    </m:r>
                                    <m:r>
                                      <a:rPr lang="es-MX" sz="2000" b="0" i="1" smtClean="0">
                                        <a:latin typeface="+mn-lt"/>
                                        <a:ea typeface="Roboto" panose="02000000000000000000" pitchFamily="2" charset="0"/>
                                      </a:rPr>
                                      <m:t>3</m:t>
                                    </m:r>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r>
                                      <a:rPr lang="es-MX" sz="2000" b="0" i="1" smtClean="0">
                                        <a:latin typeface="+mn-lt"/>
                                        <a:ea typeface="Roboto" panose="02000000000000000000" pitchFamily="2" charset="0"/>
                                      </a:rPr>
                                      <m:t>9</m:t>
                                    </m:r>
                                  </m:sup>
                                </m:sSup>
                                <m:r>
                                  <a:rPr lang="es-MX" sz="2000" b="0" i="1" smtClean="0">
                                    <a:latin typeface="+mn-lt"/>
                                    <a:ea typeface="Roboto" panose="02000000000000000000" pitchFamily="2" charset="0"/>
                                  </a:rPr>
                                  <m:t>=512</m:t>
                                </m:r>
                              </m:oMath>
                            </m:oMathPara>
                          </a14:m>
                          <a:endParaRPr lang="es-CO" sz="20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1528483"/>
                      </a:ext>
                    </a:extLst>
                  </a:tr>
                  <a:tr h="586082">
                    <a:tc>
                      <a:txBody>
                        <a:bodyPr/>
                        <a:lstStyle/>
                        <a:p>
                          <a:r>
                            <a:rPr lang="es-CO" sz="2000" dirty="0">
                              <a:latin typeface="+mn-lt"/>
                              <a:ea typeface="Roboto" panose="02000000000000000000" pitchFamily="2" charset="0"/>
                            </a:rPr>
                            <a:t>Combinación números y letras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14:m>
                            <m:oMath xmlns:m="http://schemas.openxmlformats.org/officeDocument/2006/math">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𝐴</m:t>
                                  </m:r>
                                </m:e>
                              </m:d>
                              <m:r>
                                <a:rPr lang="es-MX" sz="2000" b="0" i="1" smtClean="0">
                                  <a:solidFill>
                                    <a:schemeClr val="tx1"/>
                                  </a:solidFill>
                                  <a:latin typeface="Cambria Math" panose="02040503050406030204" pitchFamily="18" charset="0"/>
                                  <a:ea typeface="Roboto" panose="02000000000000000000" pitchFamily="2" charset="0"/>
                                </a:rPr>
                                <m:t>=3</m:t>
                              </m:r>
                            </m:oMath>
                          </a14:m>
                          <a:endParaRPr lang="es-MX" sz="2000" b="0" i="1" dirty="0">
                            <a:solidFill>
                              <a:schemeClr val="tx1"/>
                            </a:solidFill>
                            <a:latin typeface="Cambria Math" panose="02040503050406030204" pitchFamily="18"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𝐵</m:t>
                              </m:r>
                              <m:r>
                                <a:rPr lang="es-MX" sz="2000" b="0" i="1" smtClean="0">
                                  <a:solidFill>
                                    <a:schemeClr val="tx1"/>
                                  </a:solidFill>
                                  <a:latin typeface="Cambria Math" panose="02040503050406030204" pitchFamily="18" charset="0"/>
                                  <a:ea typeface="Roboto" panose="02000000000000000000" pitchFamily="2" charset="0"/>
                                </a:rPr>
                                <m:t>|=2</m:t>
                              </m:r>
                            </m:oMath>
                          </a14:m>
                          <a:endParaRPr lang="es-CO" sz="2000" kern="1200" dirty="0">
                            <a:solidFill>
                              <a:srgbClr val="000000"/>
                            </a:solidFill>
                            <a:latin typeface="Arial"/>
                            <a:ea typeface="Roboto" panose="02000000000000000000" pitchFamily="2" charset="0"/>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b>
                                  <m:sSubPr>
                                    <m:ctrlPr>
                                      <a:rPr lang="es-MX" sz="2000" b="0" i="1" smtClean="0">
                                        <a:latin typeface="+mn-lt"/>
                                        <a:ea typeface="Roboto" panose="02000000000000000000" pitchFamily="2" charset="0"/>
                                      </a:rPr>
                                    </m:ctrlPr>
                                  </m:sSubPr>
                                  <m:e>
                                    <m:r>
                                      <a:rPr lang="es-MX" sz="2000" b="0" i="1" smtClean="0">
                                        <a:latin typeface="+mn-lt"/>
                                        <a:ea typeface="Roboto" panose="02000000000000000000" pitchFamily="2" charset="0"/>
                                      </a:rPr>
                                      <m:t>𝑛</m:t>
                                    </m:r>
                                  </m:e>
                                  <m:sub>
                                    <m:r>
                                      <a:rPr lang="es-MX" sz="2000" b="0" i="1" smtClean="0">
                                        <a:latin typeface="+mn-lt"/>
                                        <a:ea typeface="Roboto" panose="02000000000000000000" pitchFamily="2" charset="0"/>
                                      </a:rPr>
                                      <m:t>𝑅</m:t>
                                    </m:r>
                                  </m:sub>
                                </m:sSub>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𝐵</m:t>
                                        </m:r>
                                      </m:e>
                                    </m:d>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𝐴</m:t>
                                        </m:r>
                                      </m:e>
                                    </m:d>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𝐵</m:t>
                                        </m:r>
                                      </m:e>
                                    </m:d>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r>
                                      <a:rPr lang="es-MX" sz="2000" b="0" i="1" smtClean="0">
                                        <a:latin typeface="+mn-lt"/>
                                        <a:ea typeface="Roboto" panose="02000000000000000000" pitchFamily="2" charset="0"/>
                                      </a:rPr>
                                      <m:t>3</m:t>
                                    </m:r>
                                    <m:r>
                                      <a:rPr lang="es-MX" sz="2000" b="0" i="1" smtClean="0">
                                        <a:latin typeface="Cambria Math" panose="02040503050406030204" pitchFamily="18" charset="0"/>
                                        <a:ea typeface="Roboto" panose="02000000000000000000" pitchFamily="2" charset="0"/>
                                      </a:rPr>
                                      <m:t>⋅</m:t>
                                    </m:r>
                                    <m:r>
                                      <a:rPr lang="es-MX" sz="2000" b="0" i="1" smtClean="0">
                                        <a:latin typeface="+mn-lt"/>
                                        <a:ea typeface="Roboto" panose="02000000000000000000" pitchFamily="2" charset="0"/>
                                      </a:rPr>
                                      <m:t>2</m:t>
                                    </m:r>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r>
                                      <a:rPr lang="es-MX" sz="2000" b="0" i="1" smtClean="0">
                                        <a:latin typeface="+mn-lt"/>
                                        <a:ea typeface="Roboto" panose="02000000000000000000" pitchFamily="2" charset="0"/>
                                      </a:rPr>
                                      <m:t>6</m:t>
                                    </m:r>
                                  </m:sup>
                                </m:sSup>
                                <m:r>
                                  <a:rPr lang="es-MX" sz="2000" b="0" i="1" smtClean="0">
                                    <a:latin typeface="+mn-lt"/>
                                    <a:ea typeface="Roboto" panose="02000000000000000000" pitchFamily="2" charset="0"/>
                                  </a:rPr>
                                  <m:t>=64</m:t>
                                </m:r>
                              </m:oMath>
                            </m:oMathPara>
                          </a14:m>
                          <a:endParaRPr lang="es-CO" sz="2000" dirty="0">
                            <a:latin typeface="+mn-lt"/>
                            <a:ea typeface="Roboto" panose="02000000000000000000" pitchFamily="2" charset="0"/>
                          </a:endParaRPr>
                        </a:p>
                        <a:p>
                          <a:endParaRPr lang="es-CO" sz="20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9260177"/>
                      </a:ext>
                    </a:extLst>
                  </a:tr>
                  <a:tr h="570577">
                    <a:tc>
                      <a:txBody>
                        <a:bodyPr/>
                        <a:lstStyle/>
                        <a:p>
                          <a:r>
                            <a:rPr lang="es-CO" sz="2000" dirty="0">
                              <a:latin typeface="+mn-lt"/>
                              <a:ea typeface="Roboto" panose="02000000000000000000" pitchFamily="2" charset="0"/>
                            </a:rPr>
                            <a:t>Ciudades y departamentos de Colombia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14:m>
                            <m:oMath xmlns:m="http://schemas.openxmlformats.org/officeDocument/2006/math">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𝐴</m:t>
                                  </m:r>
                                </m:e>
                              </m:d>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𝑚</m:t>
                              </m:r>
                            </m:oMath>
                          </a14:m>
                          <a:endParaRPr lang="es-MX" sz="2000" b="0" i="1" dirty="0">
                            <a:solidFill>
                              <a:schemeClr val="tx1"/>
                            </a:solidFill>
                            <a:latin typeface="Cambria Math" panose="02040503050406030204" pitchFamily="18" charset="0"/>
                            <a:ea typeface="Roboto" panose="02000000000000000000" pitchFamily="2" charset="0"/>
                          </a:endParaRPr>
                        </a:p>
                        <a:p>
                          <a:pPr marL="285750" indent="-285750">
                            <a:buFont typeface="Arial" panose="020B0604020202020204" pitchFamily="34" charset="0"/>
                            <a:buChar char="•"/>
                          </a:pP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𝐵</m:t>
                              </m:r>
                              <m:r>
                                <a:rPr lang="es-MX" sz="2000" b="0" i="1" smtClean="0">
                                  <a:solidFill>
                                    <a:schemeClr val="tx1"/>
                                  </a:solidFill>
                                  <a:latin typeface="Cambria Math" panose="02040503050406030204" pitchFamily="18" charset="0"/>
                                  <a:ea typeface="Roboto" panose="02000000000000000000" pitchFamily="2" charset="0"/>
                                </a:rPr>
                                <m:t>|=32</m:t>
                              </m:r>
                            </m:oMath>
                          </a14:m>
                          <a:endParaRPr lang="es-CO" sz="2000" kern="1200" dirty="0">
                            <a:solidFill>
                              <a:srgbClr val="000000"/>
                            </a:solidFill>
                            <a:latin typeface="Arial"/>
                            <a:ea typeface="Roboto" panose="02000000000000000000" pitchFamily="2" charset="0"/>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b>
                                  <m:sSubPr>
                                    <m:ctrlPr>
                                      <a:rPr lang="es-MX" sz="2000" b="0" i="1" smtClean="0">
                                        <a:latin typeface="+mn-lt"/>
                                        <a:ea typeface="Roboto" panose="02000000000000000000" pitchFamily="2" charset="0"/>
                                      </a:rPr>
                                    </m:ctrlPr>
                                  </m:sSubPr>
                                  <m:e>
                                    <m:r>
                                      <a:rPr lang="es-MX" sz="2000" b="0" i="1" smtClean="0">
                                        <a:latin typeface="+mn-lt"/>
                                        <a:ea typeface="Roboto" panose="02000000000000000000" pitchFamily="2" charset="0"/>
                                      </a:rPr>
                                      <m:t>𝑛</m:t>
                                    </m:r>
                                  </m:e>
                                  <m:sub>
                                    <m:r>
                                      <a:rPr lang="es-MX" sz="2000" b="0" i="1" smtClean="0">
                                        <a:latin typeface="+mn-lt"/>
                                        <a:ea typeface="Roboto" panose="02000000000000000000" pitchFamily="2" charset="0"/>
                                      </a:rPr>
                                      <m:t>𝑅</m:t>
                                    </m:r>
                                  </m:sub>
                                </m:sSub>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𝐵</m:t>
                                        </m:r>
                                      </m:e>
                                    </m:d>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𝐴</m:t>
                                        </m:r>
                                      </m:e>
                                    </m:d>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𝐵</m:t>
                                        </m:r>
                                      </m:e>
                                    </m:d>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r>
                                      <a:rPr lang="es-MX" sz="2000" b="0" i="1" smtClean="0">
                                        <a:latin typeface="+mn-lt"/>
                                        <a:ea typeface="Roboto" panose="02000000000000000000" pitchFamily="2" charset="0"/>
                                      </a:rPr>
                                      <m:t>32</m:t>
                                    </m:r>
                                    <m:r>
                                      <a:rPr lang="es-MX" sz="2000" b="0" i="1" smtClean="0">
                                        <a:latin typeface="Cambria Math" panose="02040503050406030204" pitchFamily="18" charset="0"/>
                                        <a:ea typeface="Roboto" panose="02000000000000000000" pitchFamily="2" charset="0"/>
                                      </a:rPr>
                                      <m:t>𝑚</m:t>
                                    </m:r>
                                  </m:sup>
                                </m:sSup>
                              </m:oMath>
                            </m:oMathPara>
                          </a14:m>
                          <a:endParaRPr lang="es-CO" sz="20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0102969"/>
                      </a:ext>
                    </a:extLst>
                  </a:tr>
                  <a:tr h="470926">
                    <a:tc>
                      <a:txBody>
                        <a:bodyPr/>
                        <a:lstStyle/>
                        <a:p>
                          <a:r>
                            <a:rPr lang="es-CO" sz="2000" dirty="0">
                              <a:latin typeface="+mn-lt"/>
                              <a:ea typeface="Roboto" panose="02000000000000000000" pitchFamily="2" charset="0"/>
                            </a:rPr>
                            <a:t>Conjunto de números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mn-lt"/>
                                      <a:ea typeface="Roboto" panose="02000000000000000000" pitchFamily="2" charset="0"/>
                                    </a:rPr>
                                    <m:t>𝐴</m:t>
                                  </m:r>
                                </m:e>
                              </m:d>
                              <m:r>
                                <a:rPr lang="es-MX" sz="2000" b="0" i="1" smtClean="0">
                                  <a:solidFill>
                                    <a:schemeClr val="tx1"/>
                                  </a:solidFill>
                                  <a:latin typeface="+mn-lt"/>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{1,2,3,4}</m:t>
                              </m:r>
                            </m:oMath>
                          </a14:m>
                          <a:endParaRPr lang="es-CO" sz="20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b>
                                  <m:sSubPr>
                                    <m:ctrlPr>
                                      <a:rPr lang="es-MX" sz="2000" b="0" i="1" smtClean="0">
                                        <a:latin typeface="+mn-lt"/>
                                        <a:ea typeface="Roboto" panose="02000000000000000000" pitchFamily="2" charset="0"/>
                                      </a:rPr>
                                    </m:ctrlPr>
                                  </m:sSubPr>
                                  <m:e>
                                    <m:r>
                                      <a:rPr lang="es-MX" sz="2000" b="0" i="1" smtClean="0">
                                        <a:latin typeface="+mn-lt"/>
                                        <a:ea typeface="Roboto" panose="02000000000000000000" pitchFamily="2" charset="0"/>
                                      </a:rPr>
                                      <m:t>𝑛</m:t>
                                    </m:r>
                                  </m:e>
                                  <m:sub>
                                    <m:r>
                                      <a:rPr lang="es-MX" sz="2000" b="0" i="1" smtClean="0">
                                        <a:latin typeface="+mn-lt"/>
                                        <a:ea typeface="Roboto" panose="02000000000000000000" pitchFamily="2" charset="0"/>
                                      </a:rPr>
                                      <m:t>𝑅</m:t>
                                    </m:r>
                                  </m:sub>
                                </m:sSub>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𝐴</m:t>
                                        </m:r>
                                        <m:r>
                                          <a:rPr lang="es-MX" sz="2000" b="0" i="1" smtClean="0">
                                            <a:latin typeface="+mn-lt"/>
                                            <a:ea typeface="Roboto" panose="02000000000000000000" pitchFamily="2" charset="0"/>
                                          </a:rPr>
                                          <m:t>×</m:t>
                                        </m:r>
                                        <m:r>
                                          <a:rPr lang="es-MX" sz="2000" b="0" i="1" smtClean="0">
                                            <a:latin typeface="+mn-lt"/>
                                            <a:ea typeface="Roboto" panose="02000000000000000000" pitchFamily="2" charset="0"/>
                                          </a:rPr>
                                          <m:t>𝐴</m:t>
                                        </m:r>
                                      </m:e>
                                    </m:d>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sSup>
                                      <m:sSupPr>
                                        <m:ctrlPr>
                                          <a:rPr lang="es-MX" sz="2000" b="0" i="1" smtClean="0">
                                            <a:latin typeface="+mn-lt"/>
                                            <a:ea typeface="Roboto" panose="02000000000000000000" pitchFamily="2" charset="0"/>
                                          </a:rPr>
                                        </m:ctrlPr>
                                      </m:sSupPr>
                                      <m:e>
                                        <m:d>
                                          <m:dPr>
                                            <m:begChr m:val="|"/>
                                            <m:endChr m:val="|"/>
                                            <m:ctrlPr>
                                              <a:rPr lang="es-MX" sz="2000" b="0" i="1" smtClean="0">
                                                <a:latin typeface="+mn-lt"/>
                                                <a:ea typeface="Roboto" panose="02000000000000000000" pitchFamily="2" charset="0"/>
                                              </a:rPr>
                                            </m:ctrlPr>
                                          </m:dPr>
                                          <m:e>
                                            <m:r>
                                              <a:rPr lang="es-MX" sz="2000" b="0" i="1" smtClean="0">
                                                <a:latin typeface="+mn-lt"/>
                                                <a:ea typeface="Roboto" panose="02000000000000000000" pitchFamily="2" charset="0"/>
                                              </a:rPr>
                                              <m:t>𝐴</m:t>
                                            </m:r>
                                          </m:e>
                                        </m:d>
                                      </m:e>
                                      <m:sup>
                                        <m:r>
                                          <a:rPr lang="es-MX" sz="2000" b="0" i="1" smtClean="0">
                                            <a:latin typeface="+mn-lt"/>
                                            <a:ea typeface="Roboto" panose="02000000000000000000" pitchFamily="2" charset="0"/>
                                          </a:rPr>
                                          <m:t>2</m:t>
                                        </m:r>
                                      </m:sup>
                                    </m:sSup>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4</m:t>
                                        </m:r>
                                      </m:e>
                                      <m:sup>
                                        <m:r>
                                          <a:rPr lang="es-MX" sz="2000" b="0" i="1" smtClean="0">
                                            <a:latin typeface="+mn-lt"/>
                                            <a:ea typeface="Roboto" panose="02000000000000000000" pitchFamily="2" charset="0"/>
                                          </a:rPr>
                                          <m:t>2</m:t>
                                        </m:r>
                                      </m:sup>
                                    </m:sSup>
                                  </m:sup>
                                </m:sSup>
                                <m:r>
                                  <a:rPr lang="es-MX" sz="2000" b="0" i="1" smtClean="0">
                                    <a:latin typeface="+mn-lt"/>
                                    <a:ea typeface="Roboto" panose="02000000000000000000" pitchFamily="2" charset="0"/>
                                  </a:rPr>
                                  <m:t>=</m:t>
                                </m:r>
                                <m:sSup>
                                  <m:sSupPr>
                                    <m:ctrlPr>
                                      <a:rPr lang="es-MX" sz="2000" b="0" i="1" smtClean="0">
                                        <a:latin typeface="+mn-lt"/>
                                        <a:ea typeface="Roboto" panose="02000000000000000000" pitchFamily="2" charset="0"/>
                                      </a:rPr>
                                    </m:ctrlPr>
                                  </m:sSupPr>
                                  <m:e>
                                    <m:r>
                                      <a:rPr lang="es-MX" sz="2000" b="0" i="1" smtClean="0">
                                        <a:latin typeface="+mn-lt"/>
                                        <a:ea typeface="Roboto" panose="02000000000000000000" pitchFamily="2" charset="0"/>
                                      </a:rPr>
                                      <m:t>2</m:t>
                                    </m:r>
                                  </m:e>
                                  <m:sup>
                                    <m:r>
                                      <a:rPr lang="es-MX" sz="2000" b="0" i="1" smtClean="0">
                                        <a:latin typeface="+mn-lt"/>
                                        <a:ea typeface="Roboto" panose="02000000000000000000" pitchFamily="2" charset="0"/>
                                      </a:rPr>
                                      <m:t>16</m:t>
                                    </m:r>
                                  </m:sup>
                                </m:sSup>
                                <m:r>
                                  <a:rPr lang="es-MX" sz="2000" b="0" i="1" smtClean="0">
                                    <a:latin typeface="+mn-lt"/>
                                    <a:ea typeface="Roboto" panose="02000000000000000000" pitchFamily="2" charset="0"/>
                                  </a:rPr>
                                  <m:t>=65536</m:t>
                                </m:r>
                              </m:oMath>
                            </m:oMathPara>
                          </a14:m>
                          <a:endParaRPr lang="es-CO" sz="20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5453111"/>
                      </a:ext>
                    </a:extLst>
                  </a:tr>
                  <a:tr h="470926">
                    <a:tc>
                      <a:txBody>
                        <a:bodyPr/>
                        <a:lstStyle/>
                        <a:p>
                          <a:r>
                            <a:rPr lang="es-CO" sz="2000" dirty="0">
                              <a:latin typeface="+mn-lt"/>
                              <a:ea typeface="Roboto" panose="02000000000000000000" pitchFamily="2" charset="0"/>
                            </a:rPr>
                            <a:t>Horas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𝐴</m:t>
                                  </m:r>
                                </m:e>
                              </m:d>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1,…,12</m:t>
                                  </m:r>
                                </m:e>
                              </m:d>
                            </m:oMath>
                          </a14:m>
                          <a:endParaRPr lang="es-CO" sz="2000" kern="1200" dirty="0">
                            <a:solidFill>
                              <a:srgbClr val="000000"/>
                            </a:solidFill>
                            <a:latin typeface="Arial"/>
                            <a:ea typeface="Roboto" panose="02000000000000000000" pitchFamily="2" charset="0"/>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𝑛</m:t>
                                    </m:r>
                                  </m:e>
                                  <m:sub>
                                    <m:r>
                                      <a:rPr lang="es-MX" sz="2000" b="0" i="1" smtClean="0">
                                        <a:latin typeface="Cambria Math" panose="02040503050406030204" pitchFamily="18" charset="0"/>
                                        <a:ea typeface="Roboto" panose="02000000000000000000" pitchFamily="2" charset="0"/>
                                      </a:rPr>
                                      <m:t>𝑅</m:t>
                                    </m:r>
                                  </m:sub>
                                </m:sSub>
                                <m:r>
                                  <a:rPr lang="es-MX" sz="2000" b="0" i="1" smtClean="0">
                                    <a:latin typeface="Cambria Math" panose="02040503050406030204" pitchFamily="18" charset="0"/>
                                    <a:ea typeface="Roboto" panose="02000000000000000000" pitchFamily="2" charset="0"/>
                                  </a:rPr>
                                  <m:t>=</m:t>
                                </m:r>
                                <m:sSup>
                                  <m:sSupPr>
                                    <m:ctrlPr>
                                      <a:rPr lang="es-MX" sz="2000" b="0" i="1" smtClean="0">
                                        <a:latin typeface="Cambria Math" panose="02040503050406030204" pitchFamily="18" charset="0"/>
                                        <a:ea typeface="Roboto" panose="02000000000000000000" pitchFamily="2" charset="0"/>
                                      </a:rPr>
                                    </m:ctrlPr>
                                  </m:sSupPr>
                                  <m:e>
                                    <m:r>
                                      <a:rPr lang="es-MX" sz="2000" b="0" i="1" smtClean="0">
                                        <a:latin typeface="Cambria Math" panose="02040503050406030204" pitchFamily="18" charset="0"/>
                                        <a:ea typeface="Roboto" panose="02000000000000000000" pitchFamily="2" charset="0"/>
                                      </a:rPr>
                                      <m:t>2</m:t>
                                    </m:r>
                                  </m:e>
                                  <m:sup>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e>
                                    </m:d>
                                  </m:sup>
                                </m:sSup>
                                <m:r>
                                  <a:rPr lang="es-MX" sz="2000" b="0" i="1" smtClean="0">
                                    <a:latin typeface="Cambria Math" panose="02040503050406030204" pitchFamily="18" charset="0"/>
                                    <a:ea typeface="Roboto" panose="02000000000000000000" pitchFamily="2" charset="0"/>
                                  </a:rPr>
                                  <m:t>=</m:t>
                                </m:r>
                                <m:sSup>
                                  <m:sSupPr>
                                    <m:ctrlPr>
                                      <a:rPr lang="es-MX" sz="2000" b="0" i="1" smtClean="0">
                                        <a:latin typeface="Cambria Math" panose="02040503050406030204" pitchFamily="18" charset="0"/>
                                        <a:ea typeface="Roboto" panose="02000000000000000000" pitchFamily="2" charset="0"/>
                                      </a:rPr>
                                    </m:ctrlPr>
                                  </m:sSupPr>
                                  <m:e>
                                    <m:r>
                                      <a:rPr lang="es-MX" sz="2000" b="0" i="1" smtClean="0">
                                        <a:latin typeface="Cambria Math" panose="02040503050406030204" pitchFamily="18" charset="0"/>
                                        <a:ea typeface="Roboto" panose="02000000000000000000" pitchFamily="2" charset="0"/>
                                      </a:rPr>
                                      <m:t>2</m:t>
                                    </m:r>
                                  </m:e>
                                  <m:sup>
                                    <m:sSup>
                                      <m:sSupPr>
                                        <m:ctrlPr>
                                          <a:rPr lang="es-MX" sz="2000" b="0" i="1" smtClean="0">
                                            <a:latin typeface="Cambria Math" panose="02040503050406030204" pitchFamily="18" charset="0"/>
                                            <a:ea typeface="Roboto" panose="02000000000000000000" pitchFamily="2" charset="0"/>
                                          </a:rPr>
                                        </m:ctrlPr>
                                      </m:sSupPr>
                                      <m:e>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𝐴</m:t>
                                            </m:r>
                                          </m:e>
                                        </m:d>
                                      </m:e>
                                      <m:sup>
                                        <m:r>
                                          <a:rPr lang="es-MX" sz="2000" b="0" i="1" smtClean="0">
                                            <a:latin typeface="Cambria Math" panose="02040503050406030204" pitchFamily="18" charset="0"/>
                                            <a:ea typeface="Roboto" panose="02000000000000000000" pitchFamily="2" charset="0"/>
                                          </a:rPr>
                                          <m:t>2</m:t>
                                        </m:r>
                                      </m:sup>
                                    </m:sSup>
                                  </m:sup>
                                </m:sSup>
                                <m:r>
                                  <a:rPr lang="es-MX" sz="2000" b="0" i="1" smtClean="0">
                                    <a:latin typeface="Cambria Math" panose="02040503050406030204" pitchFamily="18" charset="0"/>
                                    <a:ea typeface="Roboto" panose="02000000000000000000" pitchFamily="2" charset="0"/>
                                  </a:rPr>
                                  <m:t>=</m:t>
                                </m:r>
                                <m:sSup>
                                  <m:sSupPr>
                                    <m:ctrlPr>
                                      <a:rPr lang="es-MX" sz="2000" b="0" i="1" smtClean="0">
                                        <a:latin typeface="Cambria Math" panose="02040503050406030204" pitchFamily="18" charset="0"/>
                                        <a:ea typeface="Roboto" panose="02000000000000000000" pitchFamily="2" charset="0"/>
                                      </a:rPr>
                                    </m:ctrlPr>
                                  </m:sSupPr>
                                  <m:e>
                                    <m:r>
                                      <a:rPr lang="es-MX" sz="2000" b="0" i="1" smtClean="0">
                                        <a:latin typeface="Cambria Math" panose="02040503050406030204" pitchFamily="18" charset="0"/>
                                        <a:ea typeface="Roboto" panose="02000000000000000000" pitchFamily="2" charset="0"/>
                                      </a:rPr>
                                      <m:t>2</m:t>
                                    </m:r>
                                  </m:e>
                                  <m:sup>
                                    <m:sSup>
                                      <m:sSupPr>
                                        <m:ctrlPr>
                                          <a:rPr lang="es-MX" sz="2000" b="0" i="1" smtClean="0">
                                            <a:latin typeface="Cambria Math" panose="02040503050406030204" pitchFamily="18" charset="0"/>
                                            <a:ea typeface="Roboto" panose="02000000000000000000" pitchFamily="2" charset="0"/>
                                          </a:rPr>
                                        </m:ctrlPr>
                                      </m:sSupPr>
                                      <m:e>
                                        <m:r>
                                          <a:rPr lang="es-MX" sz="2000" b="0" i="1" smtClean="0">
                                            <a:latin typeface="Cambria Math" panose="02040503050406030204" pitchFamily="18" charset="0"/>
                                            <a:ea typeface="Roboto" panose="02000000000000000000" pitchFamily="2" charset="0"/>
                                          </a:rPr>
                                          <m:t>12</m:t>
                                        </m:r>
                                      </m:e>
                                      <m:sup>
                                        <m:r>
                                          <a:rPr lang="es-MX" sz="2000" b="0" i="1" smtClean="0">
                                            <a:latin typeface="Cambria Math" panose="02040503050406030204" pitchFamily="18" charset="0"/>
                                            <a:ea typeface="Roboto" panose="02000000000000000000" pitchFamily="2" charset="0"/>
                                          </a:rPr>
                                          <m:t>2</m:t>
                                        </m:r>
                                      </m:sup>
                                    </m:sSup>
                                  </m:sup>
                                </m:sSup>
                                <m:r>
                                  <a:rPr lang="es-MX" sz="2000" b="0" i="1" smtClean="0">
                                    <a:latin typeface="Cambria Math" panose="02040503050406030204" pitchFamily="18" charset="0"/>
                                    <a:ea typeface="Roboto" panose="02000000000000000000" pitchFamily="2" charset="0"/>
                                  </a:rPr>
                                  <m:t>=</m:t>
                                </m:r>
                                <m:sSup>
                                  <m:sSupPr>
                                    <m:ctrlPr>
                                      <a:rPr lang="es-MX" sz="2000" b="0" i="1" smtClean="0">
                                        <a:latin typeface="Cambria Math" panose="02040503050406030204" pitchFamily="18" charset="0"/>
                                        <a:ea typeface="Roboto" panose="02000000000000000000" pitchFamily="2" charset="0"/>
                                      </a:rPr>
                                    </m:ctrlPr>
                                  </m:sSupPr>
                                  <m:e>
                                    <m:r>
                                      <a:rPr lang="es-MX" sz="2000" b="0" i="1" smtClean="0">
                                        <a:latin typeface="Cambria Math" panose="02040503050406030204" pitchFamily="18" charset="0"/>
                                        <a:ea typeface="Roboto" panose="02000000000000000000" pitchFamily="2" charset="0"/>
                                      </a:rPr>
                                      <m:t>2</m:t>
                                    </m:r>
                                  </m:e>
                                  <m:sup>
                                    <m:r>
                                      <a:rPr lang="es-MX" sz="2000" b="0" i="1" smtClean="0">
                                        <a:latin typeface="Cambria Math" panose="02040503050406030204" pitchFamily="18" charset="0"/>
                                        <a:ea typeface="Roboto" panose="02000000000000000000" pitchFamily="2" charset="0"/>
                                      </a:rPr>
                                      <m:t>1</m:t>
                                    </m:r>
                                    <m:r>
                                      <a:rPr lang="es-MX" sz="2000" b="0" i="1" smtClean="0">
                                        <a:latin typeface="Cambria Math" panose="02040503050406030204" pitchFamily="18" charset="0"/>
                                        <a:ea typeface="Roboto" panose="02000000000000000000" pitchFamily="2" charset="0"/>
                                      </a:rPr>
                                      <m:t>44</m:t>
                                    </m:r>
                                  </m:sup>
                                </m:sSup>
                              </m:oMath>
                            </m:oMathPara>
                          </a14:m>
                          <a:endParaRPr lang="es-CO" sz="2000" kern="1200" dirty="0">
                            <a:solidFill>
                              <a:srgbClr val="000000"/>
                            </a:solidFill>
                            <a:latin typeface="Arial"/>
                            <a:ea typeface="Roboto" panose="02000000000000000000" pitchFamily="2" charset="0"/>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0452481"/>
                      </a:ext>
                    </a:extLst>
                  </a:tr>
                </a:tbl>
              </a:graphicData>
            </a:graphic>
          </p:graphicFrame>
        </mc:Choice>
        <mc:Fallback>
          <p:graphicFrame>
            <p:nvGraphicFramePr>
              <p:cNvPr id="5" name="Tabla 2">
                <a:extLst>
                  <a:ext uri="{FF2B5EF4-FFF2-40B4-BE49-F238E27FC236}">
                    <a16:creationId xmlns:a16="http://schemas.microsoft.com/office/drawing/2014/main" id="{19FD5540-DD81-43AB-AA7C-99E3B1C25207}"/>
                  </a:ext>
                </a:extLst>
              </p:cNvPr>
              <p:cNvGraphicFramePr>
                <a:graphicFrameLocks noGrp="1"/>
              </p:cNvGraphicFramePr>
              <p:nvPr>
                <p:extLst>
                  <p:ext uri="{D42A27DB-BD31-4B8C-83A1-F6EECF244321}">
                    <p14:modId xmlns:p14="http://schemas.microsoft.com/office/powerpoint/2010/main" val="2738265725"/>
                  </p:ext>
                </p:extLst>
              </p:nvPr>
            </p:nvGraphicFramePr>
            <p:xfrm>
              <a:off x="502645" y="3086344"/>
              <a:ext cx="11366590" cy="3460262"/>
            </p:xfrm>
            <a:graphic>
              <a:graphicData uri="http://schemas.openxmlformats.org/drawingml/2006/table">
                <a:tbl>
                  <a:tblPr firstRow="1" bandRow="1">
                    <a:tableStyleId>{AD6A3598-7CB8-4345-8D95-17CE05F158A0}</a:tableStyleId>
                  </a:tblPr>
                  <a:tblGrid>
                    <a:gridCol w="3329277">
                      <a:extLst>
                        <a:ext uri="{9D8B030D-6E8A-4147-A177-3AD203B41FA5}">
                          <a16:colId xmlns:a16="http://schemas.microsoft.com/office/drawing/2014/main" val="425169582"/>
                        </a:ext>
                      </a:extLst>
                    </a:gridCol>
                    <a:gridCol w="3213130">
                      <a:extLst>
                        <a:ext uri="{9D8B030D-6E8A-4147-A177-3AD203B41FA5}">
                          <a16:colId xmlns:a16="http://schemas.microsoft.com/office/drawing/2014/main" val="846766345"/>
                        </a:ext>
                      </a:extLst>
                    </a:gridCol>
                    <a:gridCol w="4824183">
                      <a:extLst>
                        <a:ext uri="{9D8B030D-6E8A-4147-A177-3AD203B41FA5}">
                          <a16:colId xmlns:a16="http://schemas.microsoft.com/office/drawing/2014/main" val="3911370269"/>
                        </a:ext>
                      </a:extLst>
                    </a:gridCol>
                  </a:tblGrid>
                  <a:tr h="396240">
                    <a:tc>
                      <a:txBody>
                        <a:bodyPr/>
                        <a:lstStyle/>
                        <a:p>
                          <a:r>
                            <a:rPr lang="es-CO" sz="2000" b="1" dirty="0">
                              <a:latin typeface="+mn-lt"/>
                              <a:ea typeface="Roboto" panose="02000000000000000000" pitchFamily="2" charset="0"/>
                            </a:rPr>
                            <a:t>Contexto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2000" b="1" dirty="0">
                              <a:latin typeface="+mn-lt"/>
                              <a:ea typeface="Roboto" panose="02000000000000000000" pitchFamily="2" charset="0"/>
                            </a:rPr>
                            <a:t>Conjuntos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2000" b="1" dirty="0">
                              <a:latin typeface="+mn-lt"/>
                              <a:ea typeface="Roboto" panose="02000000000000000000" pitchFamily="2" charset="0"/>
                            </a:rPr>
                            <a:t>Numero de relaciones posibles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089420585"/>
                      </a:ext>
                    </a:extLst>
                  </a:tr>
                  <a:tr h="701040">
                    <a:tc>
                      <a:txBody>
                        <a:bodyPr/>
                        <a:lstStyle/>
                        <a:p>
                          <a:r>
                            <a:rPr lang="es-CO" sz="2000" dirty="0">
                              <a:latin typeface="+mn-lt"/>
                              <a:ea typeface="Roboto" panose="02000000000000000000" pitchFamily="2" charset="0"/>
                            </a:rPr>
                            <a:t>Colores primarios y secundarios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3985" t="-60870" r="-150664" b="-342609"/>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5732" t="-60870" r="-253" b="-342609"/>
                          </a:stretch>
                        </a:blipFill>
                      </a:tcPr>
                    </a:tc>
                    <a:extLst>
                      <a:ext uri="{0D108BD9-81ED-4DB2-BD59-A6C34878D82A}">
                        <a16:rowId xmlns:a16="http://schemas.microsoft.com/office/drawing/2014/main" val="1361528483"/>
                      </a:ext>
                    </a:extLst>
                  </a:tr>
                  <a:tr h="720090">
                    <a:tc>
                      <a:txBody>
                        <a:bodyPr/>
                        <a:lstStyle/>
                        <a:p>
                          <a:r>
                            <a:rPr lang="es-CO" sz="2000" dirty="0">
                              <a:latin typeface="+mn-lt"/>
                              <a:ea typeface="Roboto" panose="02000000000000000000" pitchFamily="2" charset="0"/>
                            </a:rPr>
                            <a:t>Combinación números y letras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3985" t="-156780" r="-150664" b="-233898"/>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5732" t="-156780" r="-253" b="-233898"/>
                          </a:stretch>
                        </a:blipFill>
                      </a:tcPr>
                    </a:tc>
                    <a:extLst>
                      <a:ext uri="{0D108BD9-81ED-4DB2-BD59-A6C34878D82A}">
                        <a16:rowId xmlns:a16="http://schemas.microsoft.com/office/drawing/2014/main" val="1669260177"/>
                      </a:ext>
                    </a:extLst>
                  </a:tr>
                  <a:tr h="701040">
                    <a:tc>
                      <a:txBody>
                        <a:bodyPr/>
                        <a:lstStyle/>
                        <a:p>
                          <a:r>
                            <a:rPr lang="es-CO" sz="2000" dirty="0">
                              <a:latin typeface="+mn-lt"/>
                              <a:ea typeface="Roboto" panose="02000000000000000000" pitchFamily="2" charset="0"/>
                            </a:rPr>
                            <a:t>Ciudades y departamentos de Colombia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3985" t="-263478" r="-150664" b="-140000"/>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5732" t="-263478" r="-253" b="-140000"/>
                          </a:stretch>
                        </a:blipFill>
                      </a:tcPr>
                    </a:tc>
                    <a:extLst>
                      <a:ext uri="{0D108BD9-81ED-4DB2-BD59-A6C34878D82A}">
                        <a16:rowId xmlns:a16="http://schemas.microsoft.com/office/drawing/2014/main" val="1380102969"/>
                      </a:ext>
                    </a:extLst>
                  </a:tr>
                  <a:tr h="470926">
                    <a:tc>
                      <a:txBody>
                        <a:bodyPr/>
                        <a:lstStyle/>
                        <a:p>
                          <a:r>
                            <a:rPr lang="es-CO" sz="2000" dirty="0">
                              <a:latin typeface="+mn-lt"/>
                              <a:ea typeface="Roboto" panose="02000000000000000000" pitchFamily="2" charset="0"/>
                            </a:rPr>
                            <a:t>Conjunto de números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3985" t="-535897" r="-150664" b="-106410"/>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5732" t="-535897" r="-253" b="-106410"/>
                          </a:stretch>
                        </a:blipFill>
                      </a:tcPr>
                    </a:tc>
                    <a:extLst>
                      <a:ext uri="{0D108BD9-81ED-4DB2-BD59-A6C34878D82A}">
                        <a16:rowId xmlns:a16="http://schemas.microsoft.com/office/drawing/2014/main" val="3105453111"/>
                      </a:ext>
                    </a:extLst>
                  </a:tr>
                  <a:tr h="470926">
                    <a:tc>
                      <a:txBody>
                        <a:bodyPr/>
                        <a:lstStyle/>
                        <a:p>
                          <a:r>
                            <a:rPr lang="es-CO" sz="2000" dirty="0">
                              <a:latin typeface="+mn-lt"/>
                              <a:ea typeface="Roboto" panose="02000000000000000000" pitchFamily="2" charset="0"/>
                            </a:rPr>
                            <a:t>Horas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3985" t="-644156" r="-150664" b="-7792"/>
                          </a:stretch>
                        </a:blip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5732" t="-644156" r="-253" b="-7792"/>
                          </a:stretch>
                        </a:blipFill>
                      </a:tcPr>
                    </a:tc>
                    <a:extLst>
                      <a:ext uri="{0D108BD9-81ED-4DB2-BD59-A6C34878D82A}">
                        <a16:rowId xmlns:a16="http://schemas.microsoft.com/office/drawing/2014/main" val="900452481"/>
                      </a:ext>
                    </a:extLst>
                  </a:tr>
                </a:tbl>
              </a:graphicData>
            </a:graphic>
          </p:graphicFrame>
        </mc:Fallback>
      </mc:AlternateContent>
    </p:spTree>
    <p:extLst>
      <p:ext uri="{BB962C8B-B14F-4D97-AF65-F5344CB8AC3E}">
        <p14:creationId xmlns:p14="http://schemas.microsoft.com/office/powerpoint/2010/main" val="30625341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4721" y="96038"/>
            <a:ext cx="879592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4722" y="780067"/>
            <a:ext cx="1134255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sz="2400" b="1" dirty="0">
                <a:solidFill>
                  <a:schemeClr val="tx1"/>
                </a:solidFill>
                <a:latin typeface="+mn-lt"/>
              </a:rPr>
              <a:t>Dominio y rango de una relación</a:t>
            </a: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p:sp>
        <p:nvSpPr>
          <p:cNvPr id="8" name="Google Shape;310;p34">
            <a:extLst>
              <a:ext uri="{FF2B5EF4-FFF2-40B4-BE49-F238E27FC236}">
                <a16:creationId xmlns:a16="http://schemas.microsoft.com/office/drawing/2014/main" id="{FA035FCB-35A1-4C97-9F92-3E0C37527396}"/>
              </a:ext>
            </a:extLst>
          </p:cNvPr>
          <p:cNvSpPr txBox="1">
            <a:spLocks/>
          </p:cNvSpPr>
          <p:nvPr/>
        </p:nvSpPr>
        <p:spPr>
          <a:xfrm>
            <a:off x="304800" y="1262169"/>
            <a:ext cx="11499955" cy="78761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El dominio y el rango de una relación </a:t>
            </a:r>
            <a:r>
              <a:rPr lang="es-MX" sz="2000" dirty="0">
                <a:latin typeface="+mn-lt"/>
              </a:rPr>
              <a:t>permite describir con precisión qué elementos están realmente involucrados en la relación.</a:t>
            </a:r>
            <a:endParaRPr lang="es-MX" sz="2000" dirty="0">
              <a:latin typeface="+mn-lt"/>
              <a:ea typeface="Roboto" panose="02000000000000000000" pitchFamily="2" charset="0"/>
            </a:endParaRPr>
          </a:p>
        </p:txBody>
      </p:sp>
      <p:grpSp>
        <p:nvGrpSpPr>
          <p:cNvPr id="2" name="Grupo 1">
            <a:extLst>
              <a:ext uri="{FF2B5EF4-FFF2-40B4-BE49-F238E27FC236}">
                <a16:creationId xmlns:a16="http://schemas.microsoft.com/office/drawing/2014/main" id="{2D606B4C-EEF6-41A3-A0C3-65E508FA0DCA}"/>
              </a:ext>
            </a:extLst>
          </p:cNvPr>
          <p:cNvGrpSpPr/>
          <p:nvPr/>
        </p:nvGrpSpPr>
        <p:grpSpPr>
          <a:xfrm>
            <a:off x="304800" y="2065896"/>
            <a:ext cx="11592074" cy="2192917"/>
            <a:chOff x="304800" y="2065896"/>
            <a:chExt cx="11592074" cy="2192917"/>
          </a:xfrm>
        </p:grpSpPr>
        <mc:AlternateContent xmlns:mc="http://schemas.openxmlformats.org/markup-compatibility/2006" xmlns:a14="http://schemas.microsoft.com/office/drawing/2010/main">
          <mc:Choice Requires="a14">
            <p:sp>
              <p:nvSpPr>
                <p:cNvPr id="12" name="Google Shape;310;p34">
                  <a:extLst>
                    <a:ext uri="{FF2B5EF4-FFF2-40B4-BE49-F238E27FC236}">
                      <a16:creationId xmlns:a16="http://schemas.microsoft.com/office/drawing/2014/main" id="{2F548695-71CD-48A6-9B56-9F0F15520A9F}"/>
                    </a:ext>
                  </a:extLst>
                </p:cNvPr>
                <p:cNvSpPr txBox="1">
                  <a:spLocks/>
                </p:cNvSpPr>
                <p:nvPr/>
              </p:nvSpPr>
              <p:spPr>
                <a:xfrm>
                  <a:off x="304800" y="2065896"/>
                  <a:ext cx="11592074" cy="219291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solidFill>
                        <a:schemeClr val="tx1"/>
                      </a:solidFill>
                      <a:latin typeface="+mn-lt"/>
                      <a:ea typeface="Roboto" panose="02000000000000000000" pitchFamily="2" charset="0"/>
                    </a:rPr>
                    <a:t>Dominio</a:t>
                  </a:r>
                  <a:r>
                    <a:rPr lang="es-MX" sz="2000" dirty="0">
                      <a:solidFill>
                        <a:schemeClr val="tx1"/>
                      </a:solidFill>
                      <a:latin typeface="+mn-lt"/>
                      <a:ea typeface="Roboto" panose="02000000000000000000" pitchFamily="2" charset="0"/>
                    </a:rPr>
                    <a:t>:</a:t>
                  </a:r>
                </a:p>
                <a:p>
                  <a:r>
                    <a:rPr lang="es-MX" sz="2000" b="0" dirty="0">
                      <a:latin typeface="+mn-lt"/>
                      <a:ea typeface="Roboto" panose="02000000000000000000" pitchFamily="2" charset="0"/>
                    </a:rPr>
                    <a:t>Es el conjunto de todos los primeros elementos de los pares ordenados en la relación.</a:t>
                  </a:r>
                </a:p>
                <a:p>
                  <a:r>
                    <a:rPr lang="es-MX" sz="2000" dirty="0">
                      <a:latin typeface="+mn-lt"/>
                      <a:ea typeface="Roboto" panose="02000000000000000000" pitchFamily="2" charset="0"/>
                    </a:rPr>
                    <a:t>Dominio (</a:t>
                  </a:r>
                  <a14:m>
                    <m:oMath xmlns:m="http://schemas.openxmlformats.org/officeDocument/2006/math">
                      <m:r>
                        <m:rPr>
                          <m:sty m:val="p"/>
                        </m:rPr>
                        <a:rPr lang="es-MX" sz="2000" b="0" i="0" smtClean="0">
                          <a:latin typeface="Cambria Math" panose="02040503050406030204" pitchFamily="18" charset="0"/>
                          <a:ea typeface="Roboto" panose="02000000000000000000" pitchFamily="2" charset="0"/>
                        </a:rPr>
                        <m:t>dom</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𝑅</m:t>
                      </m:r>
                      <m:r>
                        <a:rPr lang="es-MX" sz="2000" i="1">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de la relación </a:t>
                  </a:r>
                  <a14:m>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oMath>
                  </a14:m>
                  <a:r>
                    <a:rPr lang="es-MX" sz="2000" dirty="0">
                      <a:latin typeface="+mn-lt"/>
                      <a:ea typeface="Roboto" panose="02000000000000000000" pitchFamily="2" charset="0"/>
                    </a:rPr>
                    <a:t>, es un subconjunto de </a:t>
                  </a:r>
                  <a14:m>
                    <m:oMath xmlns:m="http://schemas.openxmlformats.org/officeDocument/2006/math">
                      <m:r>
                        <a:rPr lang="es-MX" sz="2000" i="1">
                          <a:latin typeface="Cambria Math" panose="02040503050406030204" pitchFamily="18" charset="0"/>
                          <a:ea typeface="Cambria Math" panose="02040503050406030204" pitchFamily="18" charset="0"/>
                        </a:rPr>
                        <m:t>𝐴</m:t>
                      </m:r>
                    </m:oMath>
                  </a14:m>
                  <a:r>
                    <a:rPr lang="es-MX" sz="2000" dirty="0">
                      <a:latin typeface="+mn-lt"/>
                      <a:ea typeface="Roboto" panose="02000000000000000000" pitchFamily="2" charset="0"/>
                    </a:rPr>
                    <a:t> (</a:t>
                  </a:r>
                  <a14:m>
                    <m:oMath xmlns:m="http://schemas.openxmlformats.org/officeDocument/2006/math">
                      <m:r>
                        <m:rPr>
                          <m:sty m:val="p"/>
                        </m:rPr>
                        <a:rPr lang="es-MX" sz="2000" b="0" i="0" smtClean="0">
                          <a:latin typeface="Cambria Math" panose="02040503050406030204" pitchFamily="18" charset="0"/>
                          <a:ea typeface="Roboto" panose="02000000000000000000" pitchFamily="2" charset="0"/>
                        </a:rPr>
                        <m:t>dom</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𝑅</m:t>
                      </m:r>
                      <m:r>
                        <a:rPr lang="es-MX" sz="2000" i="1">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Cambria Math" panose="02040503050406030204" pitchFamily="18" charset="0"/>
                        </a:rPr>
                        <m:t>𝐴</m:t>
                      </m:r>
                    </m:oMath>
                  </a14:m>
                  <a:r>
                    <a:rPr lang="es-MX" sz="2000" dirty="0">
                      <a:latin typeface="+mn-lt"/>
                      <a:ea typeface="Roboto" panose="02000000000000000000" pitchFamily="2" charset="0"/>
                    </a:rPr>
                    <a:t>), tal que: </a:t>
                  </a:r>
                </a:p>
                <a:p>
                  <a:pPr marL="127000" indent="0">
                    <a:buNone/>
                  </a:pPr>
                  <a:endParaRPr lang="es-MX" sz="2000" dirty="0">
                    <a:latin typeface="+mn-lt"/>
                    <a:ea typeface="Roboto" panose="02000000000000000000" pitchFamily="2" charset="0"/>
                  </a:endParaRPr>
                </a:p>
              </p:txBody>
            </p:sp>
          </mc:Choice>
          <mc:Fallback xmlns="">
            <p:sp>
              <p:nvSpPr>
                <p:cNvPr id="12" name="Google Shape;310;p34">
                  <a:extLst>
                    <a:ext uri="{FF2B5EF4-FFF2-40B4-BE49-F238E27FC236}">
                      <a16:creationId xmlns:a16="http://schemas.microsoft.com/office/drawing/2014/main" id="{2F548695-71CD-48A6-9B56-9F0F15520A9F}"/>
                    </a:ext>
                  </a:extLst>
                </p:cNvPr>
                <p:cNvSpPr txBox="1">
                  <a:spLocks noRot="1" noChangeAspect="1" noMove="1" noResize="1" noEditPoints="1" noAdjustHandles="1" noChangeArrowheads="1" noChangeShapeType="1" noTextEdit="1"/>
                </p:cNvSpPr>
                <p:nvPr/>
              </p:nvSpPr>
              <p:spPr>
                <a:xfrm>
                  <a:off x="304800" y="2065896"/>
                  <a:ext cx="11592074" cy="2192917"/>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FAC35029-31BE-4BFC-9516-05BEBCD2DBC3}"/>
                    </a:ext>
                  </a:extLst>
                </p:cNvPr>
                <p:cNvSpPr txBox="1"/>
                <p:nvPr/>
              </p:nvSpPr>
              <p:spPr>
                <a:xfrm>
                  <a:off x="2896303" y="3635710"/>
                  <a:ext cx="6456511" cy="460639"/>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sz="2000" smtClean="0">
                            <a:latin typeface="Cambria Math" panose="02040503050406030204" pitchFamily="18" charset="0"/>
                            <a:ea typeface="Roboto" panose="02000000000000000000" pitchFamily="2" charset="0"/>
                          </a:rPr>
                          <m:t>dom</m:t>
                        </m:r>
                        <m:d>
                          <m:dPr>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𝑅</m:t>
                            </m:r>
                          </m:e>
                        </m:d>
                        <m:r>
                          <a:rPr lang="es-MX" sz="2000" b="0" i="1" smtClean="0">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𝛿</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𝑅</m:t>
                        </m:r>
                        <m:r>
                          <a:rPr lang="es-MX" sz="2000" i="1">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e>
                            <m:d>
                              <m:dPr>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𝑥</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𝐴</m:t>
                                </m:r>
                              </m:e>
                            </m:d>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𝑦</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𝑦</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𝑦</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𝑅</m:t>
                                    </m:r>
                                  </m:e>
                                </m:d>
                              </m:e>
                            </m:d>
                          </m:e>
                        </m:d>
                      </m:oMath>
                    </m:oMathPara>
                  </a14:m>
                  <a:endParaRPr lang="es-CO" sz="2000" dirty="0"/>
                </a:p>
              </p:txBody>
            </p:sp>
          </mc:Choice>
          <mc:Fallback xmlns="">
            <p:sp>
              <p:nvSpPr>
                <p:cNvPr id="3" name="CuadroTexto 2">
                  <a:extLst>
                    <a:ext uri="{FF2B5EF4-FFF2-40B4-BE49-F238E27FC236}">
                      <a16:creationId xmlns:a16="http://schemas.microsoft.com/office/drawing/2014/main" id="{FAC35029-31BE-4BFC-9516-05BEBCD2DBC3}"/>
                    </a:ext>
                  </a:extLst>
                </p:cNvPr>
                <p:cNvSpPr txBox="1">
                  <a:spLocks noRot="1" noChangeAspect="1" noMove="1" noResize="1" noEditPoints="1" noAdjustHandles="1" noChangeArrowheads="1" noChangeShapeType="1" noTextEdit="1"/>
                </p:cNvSpPr>
                <p:nvPr/>
              </p:nvSpPr>
              <p:spPr>
                <a:xfrm>
                  <a:off x="2896303" y="3635710"/>
                  <a:ext cx="6456511" cy="460639"/>
                </a:xfrm>
                <a:prstGeom prst="rect">
                  <a:avLst/>
                </a:prstGeom>
                <a:blipFill>
                  <a:blip r:embed="rId4"/>
                  <a:stretch>
                    <a:fillRect/>
                  </a:stretch>
                </a:blipFill>
              </p:spPr>
              <p:txBody>
                <a:bodyPr/>
                <a:lstStyle/>
                <a:p>
                  <a:r>
                    <a:rPr lang="es-CO">
                      <a:noFill/>
                    </a:rPr>
                    <a:t> </a:t>
                  </a:r>
                </a:p>
              </p:txBody>
            </p:sp>
          </mc:Fallback>
        </mc:AlternateContent>
      </p:grpSp>
      <p:grpSp>
        <p:nvGrpSpPr>
          <p:cNvPr id="5" name="Grupo 4">
            <a:extLst>
              <a:ext uri="{FF2B5EF4-FFF2-40B4-BE49-F238E27FC236}">
                <a16:creationId xmlns:a16="http://schemas.microsoft.com/office/drawing/2014/main" id="{DC91C263-8DEC-4963-B040-E98DE28E9125}"/>
              </a:ext>
            </a:extLst>
          </p:cNvPr>
          <p:cNvGrpSpPr/>
          <p:nvPr/>
        </p:nvGrpSpPr>
        <p:grpSpPr>
          <a:xfrm>
            <a:off x="304800" y="4394524"/>
            <a:ext cx="11499955" cy="2080309"/>
            <a:chOff x="879172" y="4499455"/>
            <a:chExt cx="10925583" cy="2080309"/>
          </a:xfrm>
        </p:grpSpPr>
        <mc:AlternateContent xmlns:mc="http://schemas.openxmlformats.org/markup-compatibility/2006" xmlns:a14="http://schemas.microsoft.com/office/drawing/2010/main">
          <mc:Choice Requires="a14">
            <p:sp>
              <p:nvSpPr>
                <p:cNvPr id="11" name="Google Shape;310;p34">
                  <a:extLst>
                    <a:ext uri="{FF2B5EF4-FFF2-40B4-BE49-F238E27FC236}">
                      <a16:creationId xmlns:a16="http://schemas.microsoft.com/office/drawing/2014/main" id="{F38B932A-112A-4260-B1DF-11F714A10529}"/>
                    </a:ext>
                  </a:extLst>
                </p:cNvPr>
                <p:cNvSpPr txBox="1">
                  <a:spLocks/>
                </p:cNvSpPr>
                <p:nvPr/>
              </p:nvSpPr>
              <p:spPr>
                <a:xfrm>
                  <a:off x="879172" y="4499455"/>
                  <a:ext cx="10925583" cy="137902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solidFill>
                        <a:schemeClr val="tx1"/>
                      </a:solidFill>
                      <a:latin typeface="+mn-lt"/>
                      <a:ea typeface="Roboto" panose="02000000000000000000" pitchFamily="2" charset="0"/>
                    </a:rPr>
                    <a:t>Rango</a:t>
                  </a:r>
                  <a:r>
                    <a:rPr lang="es-MX" sz="2000" dirty="0">
                      <a:solidFill>
                        <a:schemeClr val="tx1"/>
                      </a:solidFill>
                      <a:latin typeface="+mn-lt"/>
                      <a:ea typeface="Roboto" panose="02000000000000000000" pitchFamily="2" charset="0"/>
                    </a:rPr>
                    <a:t>:</a:t>
                  </a:r>
                </a:p>
                <a:p>
                  <a:r>
                    <a:rPr lang="es-MX" sz="2000" dirty="0">
                      <a:latin typeface="+mn-lt"/>
                      <a:ea typeface="Roboto" panose="02000000000000000000" pitchFamily="2" charset="0"/>
                    </a:rPr>
                    <a:t>Es el conjunto de todos los segundos elementos de los pares ordenados en la relación.</a:t>
                  </a:r>
                </a:p>
                <a:p>
                  <a:r>
                    <a:rPr lang="es-MX" sz="2000" dirty="0">
                      <a:latin typeface="+mn-lt"/>
                      <a:ea typeface="Roboto" panose="02000000000000000000" pitchFamily="2" charset="0"/>
                    </a:rPr>
                    <a:t>Rango (</a:t>
                  </a:r>
                  <a14:m>
                    <m:oMath xmlns:m="http://schemas.openxmlformats.org/officeDocument/2006/math">
                      <m:r>
                        <m:rPr>
                          <m:sty m:val="p"/>
                        </m:rPr>
                        <a:rPr lang="es-MX" sz="2000" b="0" i="0" smtClean="0">
                          <a:latin typeface="Cambria Math" panose="02040503050406030204" pitchFamily="18" charset="0"/>
                          <a:ea typeface="Roboto" panose="02000000000000000000" pitchFamily="2" charset="0"/>
                        </a:rPr>
                        <m:t>ran</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𝑅</m:t>
                      </m:r>
                      <m:r>
                        <a:rPr lang="es-MX" sz="2000" i="1">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de la relación </a:t>
                  </a:r>
                  <a14:m>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oMath>
                  </a14:m>
                  <a:r>
                    <a:rPr lang="es-MX" sz="2000" dirty="0">
                      <a:latin typeface="+mn-lt"/>
                      <a:ea typeface="Roboto" panose="02000000000000000000" pitchFamily="2" charset="0"/>
                    </a:rPr>
                    <a:t>, es un subconjunto de </a:t>
                  </a:r>
                  <a14:m>
                    <m:oMath xmlns:m="http://schemas.openxmlformats.org/officeDocument/2006/math">
                      <m:r>
                        <a:rPr lang="es-MX" sz="2000" b="0" i="1" smtClean="0">
                          <a:latin typeface="Cambria Math" panose="02040503050406030204" pitchFamily="18" charset="0"/>
                          <a:ea typeface="Cambria Math" panose="02040503050406030204" pitchFamily="18" charset="0"/>
                        </a:rPr>
                        <m:t>𝐵</m:t>
                      </m:r>
                    </m:oMath>
                  </a14:m>
                  <a:r>
                    <a:rPr lang="es-MX" sz="2000" dirty="0">
                      <a:latin typeface="+mn-lt"/>
                      <a:ea typeface="Roboto" panose="02000000000000000000" pitchFamily="2" charset="0"/>
                    </a:rPr>
                    <a:t> (</a:t>
                  </a:r>
                  <a14:m>
                    <m:oMath xmlns:m="http://schemas.openxmlformats.org/officeDocument/2006/math">
                      <m:r>
                        <m:rPr>
                          <m:sty m:val="p"/>
                        </m:rPr>
                        <a:rPr lang="es-MX" sz="2000">
                          <a:latin typeface="Cambria Math" panose="02040503050406030204" pitchFamily="18" charset="0"/>
                          <a:ea typeface="Roboto" panose="02000000000000000000" pitchFamily="2" charset="0"/>
                        </a:rPr>
                        <m:t>ran</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𝑅</m:t>
                      </m:r>
                      <m:r>
                        <a:rPr lang="es-MX" sz="2000" i="1">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Cambria Math" panose="02040503050406030204" pitchFamily="18" charset="0"/>
                        </a:rPr>
                        <m:t>𝐵</m:t>
                      </m:r>
                    </m:oMath>
                  </a14:m>
                  <a:r>
                    <a:rPr lang="es-MX" sz="2000" dirty="0">
                      <a:latin typeface="+mn-lt"/>
                      <a:ea typeface="Roboto" panose="02000000000000000000" pitchFamily="2" charset="0"/>
                    </a:rPr>
                    <a:t>), tal que: </a:t>
                  </a:r>
                </a:p>
              </p:txBody>
            </p:sp>
          </mc:Choice>
          <mc:Fallback xmlns="">
            <p:sp>
              <p:nvSpPr>
                <p:cNvPr id="11" name="Google Shape;310;p34">
                  <a:extLst>
                    <a:ext uri="{FF2B5EF4-FFF2-40B4-BE49-F238E27FC236}">
                      <a16:creationId xmlns:a16="http://schemas.microsoft.com/office/drawing/2014/main" id="{F38B932A-112A-4260-B1DF-11F714A10529}"/>
                    </a:ext>
                  </a:extLst>
                </p:cNvPr>
                <p:cNvSpPr txBox="1">
                  <a:spLocks noRot="1" noChangeAspect="1" noMove="1" noResize="1" noEditPoints="1" noAdjustHandles="1" noChangeArrowheads="1" noChangeShapeType="1" noTextEdit="1"/>
                </p:cNvSpPr>
                <p:nvPr/>
              </p:nvSpPr>
              <p:spPr>
                <a:xfrm>
                  <a:off x="879172" y="4499455"/>
                  <a:ext cx="10925583" cy="1379028"/>
                </a:xfrm>
                <a:prstGeom prst="rect">
                  <a:avLst/>
                </a:prstGeom>
                <a:blipFill>
                  <a:blip r:embed="rId5"/>
                  <a:stretch>
                    <a:fillRect b="-2212"/>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4B888105-2526-4306-95FA-BCED0180B87E}"/>
                    </a:ext>
                  </a:extLst>
                </p:cNvPr>
                <p:cNvSpPr txBox="1"/>
                <p:nvPr/>
              </p:nvSpPr>
              <p:spPr>
                <a:xfrm>
                  <a:off x="3459969" y="6119125"/>
                  <a:ext cx="6015308" cy="460639"/>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sz="2000" b="0" i="0" smtClean="0">
                            <a:latin typeface="Cambria Math" panose="02040503050406030204" pitchFamily="18" charset="0"/>
                            <a:ea typeface="Roboto" panose="02000000000000000000" pitchFamily="2" charset="0"/>
                          </a:rPr>
                          <m:t>ran</m:t>
                        </m:r>
                        <m:d>
                          <m:dPr>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𝑅</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Cambria Math" panose="02040503050406030204" pitchFamily="18" charset="0"/>
                          </a:rPr>
                          <m:t>𝛾</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𝑅</m:t>
                        </m:r>
                        <m:r>
                          <a:rPr lang="es-MX" sz="2000" i="1">
                            <a:latin typeface="Cambria Math" panose="02040503050406030204" pitchFamily="18" charset="0"/>
                            <a:ea typeface="Roboto" panose="02000000000000000000" pitchFamily="2" charset="0"/>
                          </a:rPr>
                          <m:t>)=</m:t>
                        </m:r>
                        <m:d>
                          <m:dPr>
                            <m:begChr m:val="{"/>
                            <m:endChr m:val="}"/>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𝑦</m:t>
                            </m:r>
                          </m:e>
                          <m:e>
                            <m:d>
                              <m:dPr>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𝑦</m:t>
                                </m:r>
                                <m:r>
                                  <a:rPr lang="es-MX" sz="2000" i="1">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𝐵</m:t>
                                </m:r>
                              </m:e>
                            </m:d>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𝑦</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𝑅</m:t>
                                    </m:r>
                                  </m:e>
                                </m:d>
                              </m:e>
                            </m:d>
                          </m:e>
                        </m:d>
                      </m:oMath>
                    </m:oMathPara>
                  </a14:m>
                  <a:endParaRPr lang="es-CO" sz="2000" dirty="0"/>
                </a:p>
              </p:txBody>
            </p:sp>
          </mc:Choice>
          <mc:Fallback xmlns="">
            <p:sp>
              <p:nvSpPr>
                <p:cNvPr id="13" name="CuadroTexto 12">
                  <a:extLst>
                    <a:ext uri="{FF2B5EF4-FFF2-40B4-BE49-F238E27FC236}">
                      <a16:creationId xmlns:a16="http://schemas.microsoft.com/office/drawing/2014/main" id="{4B888105-2526-4306-95FA-BCED0180B87E}"/>
                    </a:ext>
                  </a:extLst>
                </p:cNvPr>
                <p:cNvSpPr txBox="1">
                  <a:spLocks noRot="1" noChangeAspect="1" noMove="1" noResize="1" noEditPoints="1" noAdjustHandles="1" noChangeArrowheads="1" noChangeShapeType="1" noTextEdit="1"/>
                </p:cNvSpPr>
                <p:nvPr/>
              </p:nvSpPr>
              <p:spPr>
                <a:xfrm>
                  <a:off x="3459969" y="6119125"/>
                  <a:ext cx="6015308" cy="460639"/>
                </a:xfrm>
                <a:prstGeom prst="rect">
                  <a:avLst/>
                </a:prstGeom>
                <a:blipFill>
                  <a:blip r:embed="rId6"/>
                  <a:stretch>
                    <a:fillRect/>
                  </a:stretch>
                </a:blipFill>
              </p:spPr>
              <p:txBody>
                <a:bodyPr/>
                <a:lstStyle/>
                <a:p>
                  <a:r>
                    <a:rPr lang="es-CO">
                      <a:noFill/>
                    </a:rPr>
                    <a:t> </a:t>
                  </a:r>
                </a:p>
              </p:txBody>
            </p:sp>
          </mc:Fallback>
        </mc:AlternateContent>
      </p:grpSp>
    </p:spTree>
    <p:extLst>
      <p:ext uri="{BB962C8B-B14F-4D97-AF65-F5344CB8AC3E}">
        <p14:creationId xmlns:p14="http://schemas.microsoft.com/office/powerpoint/2010/main" val="1449028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4721" y="96038"/>
            <a:ext cx="879592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4722" y="780067"/>
            <a:ext cx="1134255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a:t>
            </a: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24721" y="1379231"/>
                <a:ext cx="11522440" cy="21463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Suponga que tiene los siguientes conjuntos y la relación </a:t>
                </a:r>
                <a14:m>
                  <m:oMath xmlns:m="http://schemas.openxmlformats.org/officeDocument/2006/math">
                    <m:r>
                      <a:rPr lang="es-MX" sz="2000" b="0" i="1" smtClean="0">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dada por:</a:t>
                </a:r>
              </a:p>
              <a:p>
                <a:r>
                  <a:rPr lang="es-MX" sz="2000" b="1" dirty="0">
                    <a:solidFill>
                      <a:schemeClr val="tx1"/>
                    </a:solidFill>
                    <a:latin typeface="+mn-lt"/>
                    <a:ea typeface="Roboto" panose="02000000000000000000" pitchFamily="2" charset="0"/>
                  </a:rPr>
                  <a:t>Conjunto de partida</a:t>
                </a:r>
                <a:r>
                  <a:rPr lang="es-MX" sz="2000" b="0" dirty="0">
                    <a:solidFill>
                      <a:schemeClr val="tx1"/>
                    </a:solidFill>
                    <a:latin typeface="+mn-lt"/>
                    <a:ea typeface="Roboto" panose="02000000000000000000" pitchFamily="2" charset="0"/>
                  </a:rPr>
                  <a:t>: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1,2,3,4</m:t>
                        </m:r>
                      </m:e>
                    </m:d>
                  </m:oMath>
                </a14:m>
                <a:endParaRPr lang="es-MX" sz="2000" dirty="0">
                  <a:latin typeface="+mn-lt"/>
                  <a:ea typeface="Roboto" panose="02000000000000000000" pitchFamily="2" charset="0"/>
                </a:endParaRPr>
              </a:p>
              <a:p>
                <a:r>
                  <a:rPr lang="es-MX" sz="2000" b="1" dirty="0">
                    <a:solidFill>
                      <a:schemeClr val="tx1"/>
                    </a:solidFill>
                    <a:latin typeface="+mn-lt"/>
                    <a:ea typeface="Roboto" panose="02000000000000000000" pitchFamily="2" charset="0"/>
                  </a:rPr>
                  <a:t>Conjunto de llegada</a:t>
                </a:r>
                <a:r>
                  <a:rPr lang="es-MX" sz="2000" dirty="0">
                    <a:solidFill>
                      <a:schemeClr val="tx1"/>
                    </a:solidFill>
                    <a:latin typeface="+mn-lt"/>
                    <a:ea typeface="Roboto" panose="02000000000000000000" pitchFamily="2" charset="0"/>
                  </a:rPr>
                  <a:t>: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𝐵</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𝑎</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𝑏</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𝑐</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𝑑</m:t>
                        </m:r>
                      </m:e>
                    </m:d>
                  </m:oMath>
                </a14:m>
                <a:endParaRPr lang="es-MX" sz="2000" dirty="0">
                  <a:latin typeface="+mn-lt"/>
                  <a:ea typeface="Roboto" panose="02000000000000000000" pitchFamily="2" charset="0"/>
                </a:endParaRPr>
              </a:p>
              <a:p>
                <a:r>
                  <a:rPr lang="es-MX" sz="2000" b="1" dirty="0">
                    <a:latin typeface="+mn-lt"/>
                    <a:ea typeface="Roboto" panose="02000000000000000000" pitchFamily="2" charset="0"/>
                  </a:rPr>
                  <a:t>Relación</a:t>
                </a:r>
                <a:r>
                  <a:rPr lang="es-MX" sz="2000" dirty="0">
                    <a:latin typeface="+mn-lt"/>
                    <a:ea typeface="Roboto" panose="02000000000000000000" pitchFamily="2" charset="0"/>
                  </a:rPr>
                  <a:t>: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𝑅</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d>
                          <m:dPr>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1,</m:t>
                            </m:r>
                            <m:r>
                              <a:rPr lang="es-MX" sz="2000" b="0" i="1" smtClean="0">
                                <a:solidFill>
                                  <a:schemeClr val="tx1"/>
                                </a:solidFill>
                                <a:latin typeface="Cambria Math" panose="02040503050406030204" pitchFamily="18" charset="0"/>
                                <a:ea typeface="Roboto" panose="02000000000000000000" pitchFamily="2" charset="0"/>
                              </a:rPr>
                              <m:t>𝑎</m:t>
                            </m:r>
                          </m:e>
                        </m:d>
                        <m:r>
                          <a:rPr lang="es-MX" sz="2000" b="0" i="1" smtClean="0">
                            <a:solidFill>
                              <a:schemeClr val="tx1"/>
                            </a:solidFill>
                            <a:latin typeface="Cambria Math" panose="02040503050406030204" pitchFamily="18" charset="0"/>
                            <a:ea typeface="Roboto" panose="02000000000000000000" pitchFamily="2" charset="0"/>
                          </a:rPr>
                          <m:t>,</m:t>
                        </m:r>
                        <m:d>
                          <m:dPr>
                            <m:ctrlPr>
                              <a:rPr lang="es-MX" sz="2000" i="1">
                                <a:solidFill>
                                  <a:schemeClr val="tx1"/>
                                </a:solidFill>
                                <a:latin typeface="Cambria Math" panose="02040503050406030204" pitchFamily="18" charset="0"/>
                                <a:ea typeface="Roboto" panose="02000000000000000000" pitchFamily="2" charset="0"/>
                              </a:rPr>
                            </m:ctrlPr>
                          </m:dPr>
                          <m:e>
                            <m:r>
                              <a:rPr lang="es-MX" sz="2000" i="1">
                                <a:solidFill>
                                  <a:schemeClr val="tx1"/>
                                </a:solidFill>
                                <a:latin typeface="Cambria Math" panose="02040503050406030204" pitchFamily="18" charset="0"/>
                                <a:ea typeface="Roboto" panose="02000000000000000000" pitchFamily="2" charset="0"/>
                              </a:rPr>
                              <m:t>1,</m:t>
                            </m:r>
                            <m:r>
                              <a:rPr lang="es-MX" sz="2000" b="0" i="1" smtClean="0">
                                <a:solidFill>
                                  <a:schemeClr val="tx1"/>
                                </a:solidFill>
                                <a:latin typeface="Cambria Math" panose="02040503050406030204" pitchFamily="18" charset="0"/>
                                <a:ea typeface="Roboto" panose="02000000000000000000" pitchFamily="2" charset="0"/>
                              </a:rPr>
                              <m:t>𝑐</m:t>
                            </m:r>
                          </m:e>
                        </m:d>
                        <m:r>
                          <a:rPr lang="es-MX" sz="2000" b="0" i="1" smtClean="0">
                            <a:solidFill>
                              <a:schemeClr val="tx1"/>
                            </a:solidFill>
                            <a:latin typeface="Cambria Math" panose="02040503050406030204" pitchFamily="18" charset="0"/>
                            <a:ea typeface="Roboto" panose="02000000000000000000" pitchFamily="2" charset="0"/>
                          </a:rPr>
                          <m:t>,</m:t>
                        </m:r>
                        <m:d>
                          <m:dPr>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2</m:t>
                            </m:r>
                            <m:r>
                              <a:rPr lang="es-MX" sz="2000" i="1">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𝑏</m:t>
                            </m:r>
                          </m:e>
                        </m:d>
                        <m:r>
                          <a:rPr lang="es-MX" sz="2000" b="0" i="1" smtClean="0">
                            <a:solidFill>
                              <a:schemeClr val="tx1"/>
                            </a:solidFill>
                            <a:latin typeface="Cambria Math" panose="02040503050406030204" pitchFamily="18" charset="0"/>
                            <a:ea typeface="Roboto" panose="02000000000000000000" pitchFamily="2" charset="0"/>
                          </a:rPr>
                          <m:t>,</m:t>
                        </m:r>
                        <m:d>
                          <m:dPr>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4</m:t>
                            </m:r>
                            <m:r>
                              <a:rPr lang="es-MX" sz="2000" i="1">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𝑏</m:t>
                            </m:r>
                          </m:e>
                        </m:d>
                      </m:e>
                    </m:d>
                  </m:oMath>
                </a14:m>
                <a:endParaRPr lang="es-MX" sz="2000" dirty="0">
                  <a:latin typeface="+mn-lt"/>
                  <a:ea typeface="Roboto" panose="02000000000000000000" pitchFamily="2" charset="0"/>
                </a:endParaRPr>
              </a:p>
              <a:p>
                <a:pPr marL="127000" indent="0">
                  <a:buNone/>
                </a:pPr>
                <a:r>
                  <a:rPr lang="es-MX" sz="2000" dirty="0">
                    <a:latin typeface="+mn-lt"/>
                    <a:ea typeface="Roboto" panose="02000000000000000000" pitchFamily="2" charset="0"/>
                  </a:rPr>
                  <a:t>Determine el dominio y el rango de la relación.</a:t>
                </a:r>
              </a:p>
              <a:p>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424721" y="1379231"/>
                <a:ext cx="11522440" cy="2146342"/>
              </a:xfrm>
              <a:prstGeom prst="rect">
                <a:avLst/>
              </a:prstGeom>
              <a:blipFill>
                <a:blip r:embed="rId3"/>
                <a:stretch>
                  <a:fillRect b="-2841"/>
                </a:stretch>
              </a:blipFill>
              <a:ln>
                <a:noFill/>
              </a:ln>
            </p:spPr>
            <p:txBody>
              <a:bodyPr/>
              <a:lstStyle/>
              <a:p>
                <a:r>
                  <a:rPr lang="es-CO">
                    <a:noFill/>
                  </a:rPr>
                  <a:t> </a:t>
                </a:r>
              </a:p>
            </p:txBody>
          </p:sp>
        </mc:Fallback>
      </mc:AlternateContent>
      <p:pic>
        <p:nvPicPr>
          <p:cNvPr id="5" name="Imagen 4">
            <a:extLst>
              <a:ext uri="{FF2B5EF4-FFF2-40B4-BE49-F238E27FC236}">
                <a16:creationId xmlns:a16="http://schemas.microsoft.com/office/drawing/2014/main" id="{159289A4-86D6-44DF-BE17-D680DAE8D114}"/>
              </a:ext>
            </a:extLst>
          </p:cNvPr>
          <p:cNvPicPr>
            <a:picLocks noChangeAspect="1"/>
          </p:cNvPicPr>
          <p:nvPr/>
        </p:nvPicPr>
        <p:blipFill>
          <a:blip r:embed="rId4"/>
          <a:stretch>
            <a:fillRect/>
          </a:stretch>
        </p:blipFill>
        <p:spPr>
          <a:xfrm>
            <a:off x="4361352" y="3950540"/>
            <a:ext cx="2413697" cy="2426674"/>
          </a:xfrm>
          <a:prstGeom prst="rect">
            <a:avLst/>
          </a:prstGeom>
        </p:spPr>
      </p:pic>
      <p:grpSp>
        <p:nvGrpSpPr>
          <p:cNvPr id="47" name="Grupo 46">
            <a:extLst>
              <a:ext uri="{FF2B5EF4-FFF2-40B4-BE49-F238E27FC236}">
                <a16:creationId xmlns:a16="http://schemas.microsoft.com/office/drawing/2014/main" id="{59C2E1D2-6C9B-40D2-A0A1-61DDC17FA41F}"/>
              </a:ext>
            </a:extLst>
          </p:cNvPr>
          <p:cNvGrpSpPr/>
          <p:nvPr/>
        </p:nvGrpSpPr>
        <p:grpSpPr>
          <a:xfrm>
            <a:off x="1137045" y="3772214"/>
            <a:ext cx="2616451" cy="2797017"/>
            <a:chOff x="1853571" y="3122895"/>
            <a:chExt cx="2616451" cy="2797017"/>
          </a:xfrm>
        </p:grpSpPr>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515E2538-6C6C-4EB4-8E76-5A1CFAA9A621}"/>
                    </a:ext>
                  </a:extLst>
                </p:cNvPr>
                <p:cNvSpPr txBox="1"/>
                <p:nvPr/>
              </p:nvSpPr>
              <p:spPr>
                <a:xfrm>
                  <a:off x="3650322" y="5519802"/>
                  <a:ext cx="70386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𝑩</m:t>
                        </m:r>
                      </m:oMath>
                    </m:oMathPara>
                  </a14:m>
                  <a:endParaRPr lang="es-CO" sz="1600" b="1" dirty="0">
                    <a:solidFill>
                      <a:schemeClr val="tx1"/>
                    </a:solidFill>
                  </a:endParaRPr>
                </a:p>
              </p:txBody>
            </p:sp>
          </mc:Choice>
          <mc:Fallback xmlns="">
            <p:sp>
              <p:nvSpPr>
                <p:cNvPr id="16" name="CuadroTexto 15">
                  <a:extLst>
                    <a:ext uri="{FF2B5EF4-FFF2-40B4-BE49-F238E27FC236}">
                      <a16:creationId xmlns:a16="http://schemas.microsoft.com/office/drawing/2014/main" id="{515E2538-6C6C-4EB4-8E76-5A1CFAA9A621}"/>
                    </a:ext>
                  </a:extLst>
                </p:cNvPr>
                <p:cNvSpPr txBox="1">
                  <a:spLocks noRot="1" noChangeAspect="1" noMove="1" noResize="1" noEditPoints="1" noAdjustHandles="1" noChangeArrowheads="1" noChangeShapeType="1" noTextEdit="1"/>
                </p:cNvSpPr>
                <p:nvPr/>
              </p:nvSpPr>
              <p:spPr>
                <a:xfrm>
                  <a:off x="3650322" y="5519802"/>
                  <a:ext cx="703865" cy="400110"/>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699CCFB1-A66D-413C-955F-AC7DDDDD2CBC}"/>
                    </a:ext>
                  </a:extLst>
                </p:cNvPr>
                <p:cNvSpPr txBox="1"/>
                <p:nvPr/>
              </p:nvSpPr>
              <p:spPr>
                <a:xfrm>
                  <a:off x="1969404" y="5458148"/>
                  <a:ext cx="70386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tx1"/>
                            </a:solidFill>
                            <a:latin typeface="Cambria Math" panose="02040503050406030204" pitchFamily="18" charset="0"/>
                          </a:rPr>
                          <m:t>𝑨</m:t>
                        </m:r>
                      </m:oMath>
                    </m:oMathPara>
                  </a14:m>
                  <a:endParaRPr lang="es-CO" sz="1600" b="1" dirty="0">
                    <a:solidFill>
                      <a:schemeClr val="tx1"/>
                    </a:solidFill>
                  </a:endParaRPr>
                </a:p>
              </p:txBody>
            </p:sp>
          </mc:Choice>
          <mc:Fallback xmlns="">
            <p:sp>
              <p:nvSpPr>
                <p:cNvPr id="18" name="CuadroTexto 17">
                  <a:extLst>
                    <a:ext uri="{FF2B5EF4-FFF2-40B4-BE49-F238E27FC236}">
                      <a16:creationId xmlns:a16="http://schemas.microsoft.com/office/drawing/2014/main" id="{699CCFB1-A66D-413C-955F-AC7DDDDD2CBC}"/>
                    </a:ext>
                  </a:extLst>
                </p:cNvPr>
                <p:cNvSpPr txBox="1">
                  <a:spLocks noRot="1" noChangeAspect="1" noMove="1" noResize="1" noEditPoints="1" noAdjustHandles="1" noChangeArrowheads="1" noChangeShapeType="1" noTextEdit="1"/>
                </p:cNvSpPr>
                <p:nvPr/>
              </p:nvSpPr>
              <p:spPr>
                <a:xfrm>
                  <a:off x="1969404" y="5458148"/>
                  <a:ext cx="703865" cy="400110"/>
                </a:xfrm>
                <a:prstGeom prst="rect">
                  <a:avLst/>
                </a:prstGeom>
                <a:blipFill>
                  <a:blip r:embed="rId6"/>
                  <a:stretch>
                    <a:fillRect/>
                  </a:stretch>
                </a:blipFill>
              </p:spPr>
              <p:txBody>
                <a:bodyPr/>
                <a:lstStyle/>
                <a:p>
                  <a:r>
                    <a:rPr lang="es-CO">
                      <a:noFill/>
                    </a:rPr>
                    <a:t> </a:t>
                  </a:r>
                </a:p>
              </p:txBody>
            </p:sp>
          </mc:Fallback>
        </mc:AlternateContent>
        <p:grpSp>
          <p:nvGrpSpPr>
            <p:cNvPr id="30" name="Grupo 29">
              <a:extLst>
                <a:ext uri="{FF2B5EF4-FFF2-40B4-BE49-F238E27FC236}">
                  <a16:creationId xmlns:a16="http://schemas.microsoft.com/office/drawing/2014/main" id="{696DC710-7FB4-442C-80C4-634CDD76C3B8}"/>
                </a:ext>
              </a:extLst>
            </p:cNvPr>
            <p:cNvGrpSpPr/>
            <p:nvPr/>
          </p:nvGrpSpPr>
          <p:grpSpPr>
            <a:xfrm>
              <a:off x="3534489" y="3122896"/>
              <a:ext cx="935533" cy="2313589"/>
              <a:chOff x="2371302" y="3160111"/>
              <a:chExt cx="935533" cy="2313589"/>
            </a:xfrm>
          </p:grpSpPr>
          <p:sp>
            <p:nvSpPr>
              <p:cNvPr id="15" name="Elipse 14">
                <a:extLst>
                  <a:ext uri="{FF2B5EF4-FFF2-40B4-BE49-F238E27FC236}">
                    <a16:creationId xmlns:a16="http://schemas.microsoft.com/office/drawing/2014/main" id="{20083016-1FF0-4C4E-A07C-E01ED69C14DE}"/>
                  </a:ext>
                </a:extLst>
              </p:cNvPr>
              <p:cNvSpPr/>
              <p:nvPr/>
            </p:nvSpPr>
            <p:spPr>
              <a:xfrm>
                <a:off x="2371302" y="3160111"/>
                <a:ext cx="935533" cy="23135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3AE09312-E477-4BA8-8876-691650083B2F}"/>
                      </a:ext>
                    </a:extLst>
                  </p:cNvPr>
                  <p:cNvSpPr txBox="1"/>
                  <p:nvPr/>
                </p:nvSpPr>
                <p:spPr>
                  <a:xfrm>
                    <a:off x="2608824" y="3373778"/>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𝒂</m:t>
                          </m:r>
                        </m:oMath>
                      </m:oMathPara>
                    </a14:m>
                    <a:endParaRPr lang="es-CO" sz="1600" b="1" dirty="0">
                      <a:solidFill>
                        <a:schemeClr val="tx1"/>
                      </a:solidFill>
                    </a:endParaRPr>
                  </a:p>
                </p:txBody>
              </p:sp>
            </mc:Choice>
            <mc:Fallback xmlns="">
              <p:sp>
                <p:nvSpPr>
                  <p:cNvPr id="19" name="CuadroTexto 18">
                    <a:extLst>
                      <a:ext uri="{FF2B5EF4-FFF2-40B4-BE49-F238E27FC236}">
                        <a16:creationId xmlns:a16="http://schemas.microsoft.com/office/drawing/2014/main" id="{3AE09312-E477-4BA8-8876-691650083B2F}"/>
                      </a:ext>
                    </a:extLst>
                  </p:cNvPr>
                  <p:cNvSpPr txBox="1">
                    <a:spLocks noRot="1" noChangeAspect="1" noMove="1" noResize="1" noEditPoints="1" noAdjustHandles="1" noChangeArrowheads="1" noChangeShapeType="1" noTextEdit="1"/>
                  </p:cNvSpPr>
                  <p:nvPr/>
                </p:nvSpPr>
                <p:spPr>
                  <a:xfrm>
                    <a:off x="2608824" y="3373778"/>
                    <a:ext cx="403774" cy="400110"/>
                  </a:xfrm>
                  <a:prstGeom prst="rect">
                    <a:avLst/>
                  </a:prstGeom>
                  <a:blipFill>
                    <a:blip r:embed="rId7"/>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917496FB-EFF1-4940-9FA7-14EFE5F78C01}"/>
                      </a:ext>
                    </a:extLst>
                  </p:cNvPr>
                  <p:cNvSpPr txBox="1"/>
                  <p:nvPr/>
                </p:nvSpPr>
                <p:spPr>
                  <a:xfrm>
                    <a:off x="2605645" y="3879581"/>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𝒃</m:t>
                          </m:r>
                        </m:oMath>
                      </m:oMathPara>
                    </a14:m>
                    <a:endParaRPr lang="es-CO" sz="1600" b="1" dirty="0">
                      <a:solidFill>
                        <a:schemeClr val="tx1"/>
                      </a:solidFill>
                    </a:endParaRPr>
                  </a:p>
                </p:txBody>
              </p:sp>
            </mc:Choice>
            <mc:Fallback xmlns="">
              <p:sp>
                <p:nvSpPr>
                  <p:cNvPr id="20" name="CuadroTexto 19">
                    <a:extLst>
                      <a:ext uri="{FF2B5EF4-FFF2-40B4-BE49-F238E27FC236}">
                        <a16:creationId xmlns:a16="http://schemas.microsoft.com/office/drawing/2014/main" id="{917496FB-EFF1-4940-9FA7-14EFE5F78C01}"/>
                      </a:ext>
                    </a:extLst>
                  </p:cNvPr>
                  <p:cNvSpPr txBox="1">
                    <a:spLocks noRot="1" noChangeAspect="1" noMove="1" noResize="1" noEditPoints="1" noAdjustHandles="1" noChangeArrowheads="1" noChangeShapeType="1" noTextEdit="1"/>
                  </p:cNvSpPr>
                  <p:nvPr/>
                </p:nvSpPr>
                <p:spPr>
                  <a:xfrm>
                    <a:off x="2605645" y="3879581"/>
                    <a:ext cx="403774" cy="400110"/>
                  </a:xfrm>
                  <a:prstGeom prst="rect">
                    <a:avLst/>
                  </a:prstGeom>
                  <a:blipFill>
                    <a:blip r:embed="rId8"/>
                    <a:stretch>
                      <a:fillRect l="-151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52C7202-E4BC-4FED-B725-3464D085BF58}"/>
                      </a:ext>
                    </a:extLst>
                  </p:cNvPr>
                  <p:cNvSpPr txBox="1"/>
                  <p:nvPr/>
                </p:nvSpPr>
                <p:spPr>
                  <a:xfrm>
                    <a:off x="2594379" y="4383512"/>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𝒄</m:t>
                          </m:r>
                        </m:oMath>
                      </m:oMathPara>
                    </a14:m>
                    <a:endParaRPr lang="es-CO" sz="1600" b="1" dirty="0">
                      <a:solidFill>
                        <a:schemeClr val="tx1"/>
                      </a:solidFill>
                    </a:endParaRPr>
                  </a:p>
                </p:txBody>
              </p:sp>
            </mc:Choice>
            <mc:Fallback xmlns="">
              <p:sp>
                <p:nvSpPr>
                  <p:cNvPr id="21" name="CuadroTexto 20">
                    <a:extLst>
                      <a:ext uri="{FF2B5EF4-FFF2-40B4-BE49-F238E27FC236}">
                        <a16:creationId xmlns:a16="http://schemas.microsoft.com/office/drawing/2014/main" id="{752C7202-E4BC-4FED-B725-3464D085BF58}"/>
                      </a:ext>
                    </a:extLst>
                  </p:cNvPr>
                  <p:cNvSpPr txBox="1">
                    <a:spLocks noRot="1" noChangeAspect="1" noMove="1" noResize="1" noEditPoints="1" noAdjustHandles="1" noChangeArrowheads="1" noChangeShapeType="1" noTextEdit="1"/>
                  </p:cNvSpPr>
                  <p:nvPr/>
                </p:nvSpPr>
                <p:spPr>
                  <a:xfrm>
                    <a:off x="2594379" y="4383512"/>
                    <a:ext cx="403774" cy="400110"/>
                  </a:xfrm>
                  <a:prstGeom prst="rect">
                    <a:avLst/>
                  </a:prstGeom>
                  <a:blipFill>
                    <a:blip r:embed="rId9"/>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74293DCB-EB37-427C-83FD-221E132B07DC}"/>
                      </a:ext>
                    </a:extLst>
                  </p:cNvPr>
                  <p:cNvSpPr txBox="1"/>
                  <p:nvPr/>
                </p:nvSpPr>
                <p:spPr>
                  <a:xfrm>
                    <a:off x="2603417" y="4885740"/>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𝒅</m:t>
                          </m:r>
                        </m:oMath>
                      </m:oMathPara>
                    </a14:m>
                    <a:endParaRPr lang="es-CO" sz="1600" b="1" dirty="0">
                      <a:solidFill>
                        <a:schemeClr val="tx1"/>
                      </a:solidFill>
                    </a:endParaRPr>
                  </a:p>
                </p:txBody>
              </p:sp>
            </mc:Choice>
            <mc:Fallback xmlns="">
              <p:sp>
                <p:nvSpPr>
                  <p:cNvPr id="24" name="CuadroTexto 23">
                    <a:extLst>
                      <a:ext uri="{FF2B5EF4-FFF2-40B4-BE49-F238E27FC236}">
                        <a16:creationId xmlns:a16="http://schemas.microsoft.com/office/drawing/2014/main" id="{74293DCB-EB37-427C-83FD-221E132B07DC}"/>
                      </a:ext>
                    </a:extLst>
                  </p:cNvPr>
                  <p:cNvSpPr txBox="1">
                    <a:spLocks noRot="1" noChangeAspect="1" noMove="1" noResize="1" noEditPoints="1" noAdjustHandles="1" noChangeArrowheads="1" noChangeShapeType="1" noTextEdit="1"/>
                  </p:cNvSpPr>
                  <p:nvPr/>
                </p:nvSpPr>
                <p:spPr>
                  <a:xfrm>
                    <a:off x="2603417" y="4885740"/>
                    <a:ext cx="403774" cy="400110"/>
                  </a:xfrm>
                  <a:prstGeom prst="rect">
                    <a:avLst/>
                  </a:prstGeom>
                  <a:blipFill>
                    <a:blip r:embed="rId10"/>
                    <a:stretch>
                      <a:fillRect/>
                    </a:stretch>
                  </a:blipFill>
                </p:spPr>
                <p:txBody>
                  <a:bodyPr/>
                  <a:lstStyle/>
                  <a:p>
                    <a:r>
                      <a:rPr lang="es-CO">
                        <a:noFill/>
                      </a:rPr>
                      <a:t> </a:t>
                    </a:r>
                  </a:p>
                </p:txBody>
              </p:sp>
            </mc:Fallback>
          </mc:AlternateContent>
        </p:grpSp>
        <p:grpSp>
          <p:nvGrpSpPr>
            <p:cNvPr id="6" name="Grupo 5">
              <a:extLst>
                <a:ext uri="{FF2B5EF4-FFF2-40B4-BE49-F238E27FC236}">
                  <a16:creationId xmlns:a16="http://schemas.microsoft.com/office/drawing/2014/main" id="{FDCCB6FB-A035-493B-ABD6-EE53C00EAC87}"/>
                </a:ext>
              </a:extLst>
            </p:cNvPr>
            <p:cNvGrpSpPr/>
            <p:nvPr/>
          </p:nvGrpSpPr>
          <p:grpSpPr>
            <a:xfrm>
              <a:off x="1853571" y="3122895"/>
              <a:ext cx="935533" cy="2313589"/>
              <a:chOff x="1204578" y="3160111"/>
              <a:chExt cx="935533" cy="2313589"/>
            </a:xfrm>
          </p:grpSpPr>
          <p:sp>
            <p:nvSpPr>
              <p:cNvPr id="25" name="Elipse 24">
                <a:extLst>
                  <a:ext uri="{FF2B5EF4-FFF2-40B4-BE49-F238E27FC236}">
                    <a16:creationId xmlns:a16="http://schemas.microsoft.com/office/drawing/2014/main" id="{9433B6A9-2FE1-4630-9A48-2D0F84CD2A5E}"/>
                  </a:ext>
                </a:extLst>
              </p:cNvPr>
              <p:cNvSpPr/>
              <p:nvPr/>
            </p:nvSpPr>
            <p:spPr>
              <a:xfrm>
                <a:off x="1204578" y="3160111"/>
                <a:ext cx="935533" cy="23135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0D207E18-0E79-4440-B010-CE71715E3C82}"/>
                      </a:ext>
                    </a:extLst>
                  </p:cNvPr>
                  <p:cNvSpPr txBox="1"/>
                  <p:nvPr/>
                </p:nvSpPr>
                <p:spPr>
                  <a:xfrm>
                    <a:off x="1442100" y="3373778"/>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𝟏</m:t>
                          </m:r>
                        </m:oMath>
                      </m:oMathPara>
                    </a14:m>
                    <a:endParaRPr lang="es-CO" sz="1600" b="1" dirty="0">
                      <a:solidFill>
                        <a:schemeClr val="tx1"/>
                      </a:solidFill>
                    </a:endParaRPr>
                  </a:p>
                </p:txBody>
              </p:sp>
            </mc:Choice>
            <mc:Fallback xmlns="">
              <p:sp>
                <p:nvSpPr>
                  <p:cNvPr id="26" name="CuadroTexto 25">
                    <a:extLst>
                      <a:ext uri="{FF2B5EF4-FFF2-40B4-BE49-F238E27FC236}">
                        <a16:creationId xmlns:a16="http://schemas.microsoft.com/office/drawing/2014/main" id="{0D207E18-0E79-4440-B010-CE71715E3C82}"/>
                      </a:ext>
                    </a:extLst>
                  </p:cNvPr>
                  <p:cNvSpPr txBox="1">
                    <a:spLocks noRot="1" noChangeAspect="1" noMove="1" noResize="1" noEditPoints="1" noAdjustHandles="1" noChangeArrowheads="1" noChangeShapeType="1" noTextEdit="1"/>
                  </p:cNvSpPr>
                  <p:nvPr/>
                </p:nvSpPr>
                <p:spPr>
                  <a:xfrm>
                    <a:off x="1442100" y="3373778"/>
                    <a:ext cx="403774" cy="400110"/>
                  </a:xfrm>
                  <a:prstGeom prst="rect">
                    <a:avLst/>
                  </a:prstGeom>
                  <a:blipFill>
                    <a:blip r:embed="rId11"/>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1356A0E6-145E-4CE2-85D1-D38B1BB45091}"/>
                      </a:ext>
                    </a:extLst>
                  </p:cNvPr>
                  <p:cNvSpPr txBox="1"/>
                  <p:nvPr/>
                </p:nvSpPr>
                <p:spPr>
                  <a:xfrm>
                    <a:off x="1438921" y="3879581"/>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𝟐</m:t>
                          </m:r>
                        </m:oMath>
                      </m:oMathPara>
                    </a14:m>
                    <a:endParaRPr lang="es-CO" sz="1600" b="1" dirty="0">
                      <a:solidFill>
                        <a:schemeClr val="tx1"/>
                      </a:solidFill>
                    </a:endParaRPr>
                  </a:p>
                </p:txBody>
              </p:sp>
            </mc:Choice>
            <mc:Fallback xmlns="">
              <p:sp>
                <p:nvSpPr>
                  <p:cNvPr id="27" name="CuadroTexto 26">
                    <a:extLst>
                      <a:ext uri="{FF2B5EF4-FFF2-40B4-BE49-F238E27FC236}">
                        <a16:creationId xmlns:a16="http://schemas.microsoft.com/office/drawing/2014/main" id="{1356A0E6-145E-4CE2-85D1-D38B1BB45091}"/>
                      </a:ext>
                    </a:extLst>
                  </p:cNvPr>
                  <p:cNvSpPr txBox="1">
                    <a:spLocks noRot="1" noChangeAspect="1" noMove="1" noResize="1" noEditPoints="1" noAdjustHandles="1" noChangeArrowheads="1" noChangeShapeType="1" noTextEdit="1"/>
                  </p:cNvSpPr>
                  <p:nvPr/>
                </p:nvSpPr>
                <p:spPr>
                  <a:xfrm>
                    <a:off x="1438921" y="3879581"/>
                    <a:ext cx="403774" cy="400110"/>
                  </a:xfrm>
                  <a:prstGeom prst="rect">
                    <a:avLst/>
                  </a:prstGeom>
                  <a:blipFill>
                    <a:blip r:embed="rId12"/>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0080B24D-4644-42A9-8CC0-1F755792940B}"/>
                      </a:ext>
                    </a:extLst>
                  </p:cNvPr>
                  <p:cNvSpPr txBox="1"/>
                  <p:nvPr/>
                </p:nvSpPr>
                <p:spPr>
                  <a:xfrm>
                    <a:off x="1427655" y="4383512"/>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𝟑</m:t>
                          </m:r>
                        </m:oMath>
                      </m:oMathPara>
                    </a14:m>
                    <a:endParaRPr lang="es-CO" sz="1600" b="1" dirty="0">
                      <a:solidFill>
                        <a:schemeClr val="tx1"/>
                      </a:solidFill>
                    </a:endParaRPr>
                  </a:p>
                </p:txBody>
              </p:sp>
            </mc:Choice>
            <mc:Fallback xmlns="">
              <p:sp>
                <p:nvSpPr>
                  <p:cNvPr id="28" name="CuadroTexto 27">
                    <a:extLst>
                      <a:ext uri="{FF2B5EF4-FFF2-40B4-BE49-F238E27FC236}">
                        <a16:creationId xmlns:a16="http://schemas.microsoft.com/office/drawing/2014/main" id="{0080B24D-4644-42A9-8CC0-1F755792940B}"/>
                      </a:ext>
                    </a:extLst>
                  </p:cNvPr>
                  <p:cNvSpPr txBox="1">
                    <a:spLocks noRot="1" noChangeAspect="1" noMove="1" noResize="1" noEditPoints="1" noAdjustHandles="1" noChangeArrowheads="1" noChangeShapeType="1" noTextEdit="1"/>
                  </p:cNvSpPr>
                  <p:nvPr/>
                </p:nvSpPr>
                <p:spPr>
                  <a:xfrm>
                    <a:off x="1427655" y="4383512"/>
                    <a:ext cx="403774" cy="400110"/>
                  </a:xfrm>
                  <a:prstGeom prst="rect">
                    <a:avLst/>
                  </a:prstGeom>
                  <a:blipFill>
                    <a:blip r:embed="rId1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99DC82F9-877F-4F55-AE13-171B8B8411B2}"/>
                      </a:ext>
                    </a:extLst>
                  </p:cNvPr>
                  <p:cNvSpPr txBox="1"/>
                  <p:nvPr/>
                </p:nvSpPr>
                <p:spPr>
                  <a:xfrm>
                    <a:off x="1436693" y="4885740"/>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𝟒</m:t>
                          </m:r>
                        </m:oMath>
                      </m:oMathPara>
                    </a14:m>
                    <a:endParaRPr lang="es-CO" sz="1600" b="1" dirty="0">
                      <a:solidFill>
                        <a:schemeClr val="tx1"/>
                      </a:solidFill>
                    </a:endParaRPr>
                  </a:p>
                </p:txBody>
              </p:sp>
            </mc:Choice>
            <mc:Fallback xmlns="">
              <p:sp>
                <p:nvSpPr>
                  <p:cNvPr id="29" name="CuadroTexto 28">
                    <a:extLst>
                      <a:ext uri="{FF2B5EF4-FFF2-40B4-BE49-F238E27FC236}">
                        <a16:creationId xmlns:a16="http://schemas.microsoft.com/office/drawing/2014/main" id="{99DC82F9-877F-4F55-AE13-171B8B8411B2}"/>
                      </a:ext>
                    </a:extLst>
                  </p:cNvPr>
                  <p:cNvSpPr txBox="1">
                    <a:spLocks noRot="1" noChangeAspect="1" noMove="1" noResize="1" noEditPoints="1" noAdjustHandles="1" noChangeArrowheads="1" noChangeShapeType="1" noTextEdit="1"/>
                  </p:cNvSpPr>
                  <p:nvPr/>
                </p:nvSpPr>
                <p:spPr>
                  <a:xfrm>
                    <a:off x="1436693" y="4885740"/>
                    <a:ext cx="403774" cy="400110"/>
                  </a:xfrm>
                  <a:prstGeom prst="rect">
                    <a:avLst/>
                  </a:prstGeom>
                  <a:blipFill>
                    <a:blip r:embed="rId14"/>
                    <a:stretch>
                      <a:fillRect/>
                    </a:stretch>
                  </a:blipFill>
                </p:spPr>
                <p:txBody>
                  <a:bodyPr/>
                  <a:lstStyle/>
                  <a:p>
                    <a:r>
                      <a:rPr lang="es-CO">
                        <a:noFill/>
                      </a:rPr>
                      <a:t> </a:t>
                    </a:r>
                  </a:p>
                </p:txBody>
              </p:sp>
            </mc:Fallback>
          </mc:AlternateContent>
        </p:grpSp>
        <p:cxnSp>
          <p:nvCxnSpPr>
            <p:cNvPr id="36" name="Conector recto de flecha 35">
              <a:extLst>
                <a:ext uri="{FF2B5EF4-FFF2-40B4-BE49-F238E27FC236}">
                  <a16:creationId xmlns:a16="http://schemas.microsoft.com/office/drawing/2014/main" id="{48E554BD-12E0-4E1C-9B2F-A7269E6C25EE}"/>
                </a:ext>
              </a:extLst>
            </p:cNvPr>
            <p:cNvCxnSpPr>
              <a:cxnSpLocks/>
              <a:endCxn id="19" idx="1"/>
            </p:cNvCxnSpPr>
            <p:nvPr/>
          </p:nvCxnSpPr>
          <p:spPr>
            <a:xfrm>
              <a:off x="2494867" y="3536617"/>
              <a:ext cx="1277144" cy="1"/>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DEE25EDD-432F-4429-9ADD-9AD47E42A939}"/>
                </a:ext>
              </a:extLst>
            </p:cNvPr>
            <p:cNvCxnSpPr>
              <a:cxnSpLocks/>
              <a:endCxn id="21" idx="1"/>
            </p:cNvCxnSpPr>
            <p:nvPr/>
          </p:nvCxnSpPr>
          <p:spPr>
            <a:xfrm>
              <a:off x="2501900" y="3600450"/>
              <a:ext cx="1255666" cy="945902"/>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948E16F5-7CA8-494C-8502-27C1FE9E07C4}"/>
                </a:ext>
              </a:extLst>
            </p:cNvPr>
            <p:cNvCxnSpPr>
              <a:cxnSpLocks/>
            </p:cNvCxnSpPr>
            <p:nvPr/>
          </p:nvCxnSpPr>
          <p:spPr>
            <a:xfrm>
              <a:off x="2491688" y="4042420"/>
              <a:ext cx="1277144"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2FF0AD29-8AAD-4C97-B93B-9DE008450D35}"/>
                </a:ext>
              </a:extLst>
            </p:cNvPr>
            <p:cNvCxnSpPr>
              <a:cxnSpLocks/>
              <a:stCxn id="29" idx="3"/>
            </p:cNvCxnSpPr>
            <p:nvPr/>
          </p:nvCxnSpPr>
          <p:spPr>
            <a:xfrm flipV="1">
              <a:off x="2489460" y="4108450"/>
              <a:ext cx="1282440" cy="940129"/>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49" name="CuadroTexto 48">
                <a:extLst>
                  <a:ext uri="{FF2B5EF4-FFF2-40B4-BE49-F238E27FC236}">
                    <a16:creationId xmlns:a16="http://schemas.microsoft.com/office/drawing/2014/main" id="{082CDDE1-12F4-4AC8-AE28-200E4CA4F051}"/>
                  </a:ext>
                </a:extLst>
              </p:cNvPr>
              <p:cNvSpPr txBox="1"/>
              <p:nvPr/>
            </p:nvSpPr>
            <p:spPr>
              <a:xfrm>
                <a:off x="6176068" y="2076080"/>
                <a:ext cx="4334776" cy="307777"/>
              </a:xfrm>
              <a:prstGeom prst="rect">
                <a:avLst/>
              </a:prstGeom>
              <a:solidFill>
                <a:schemeClr val="bg1">
                  <a:lumMod val="95000"/>
                </a:schemeClr>
              </a:solidFill>
            </p:spPr>
            <p:txBody>
              <a:bodyPr wrap="none" lIns="0" tIns="0" rIns="0" bIns="0" rtlCol="0">
                <a:spAutoFit/>
              </a:bodyPr>
              <a:lstStyle/>
              <a:p>
                <a14:m>
                  <m:oMath xmlns:m="http://schemas.openxmlformats.org/officeDocument/2006/math">
                    <m:r>
                      <m:rPr>
                        <m:sty m:val="p"/>
                      </m:rPr>
                      <a:rPr lang="es-MX" sz="2000" b="0" i="0" smtClean="0">
                        <a:solidFill>
                          <a:schemeClr val="tx1"/>
                        </a:solidFill>
                        <a:latin typeface="Cambria Math" panose="02040503050406030204" pitchFamily="18" charset="0"/>
                      </a:rPr>
                      <m:t>dom</m:t>
                    </m:r>
                    <m:d>
                      <m:dPr>
                        <m:ctrlPr>
                          <a:rPr lang="es-MX" sz="2000" b="0" i="1" smtClean="0">
                            <a:solidFill>
                              <a:schemeClr val="tx1"/>
                            </a:solidFill>
                            <a:latin typeface="Cambria Math" panose="02040503050406030204" pitchFamily="18" charset="0"/>
                          </a:rPr>
                        </m:ctrlPr>
                      </m:dPr>
                      <m:e>
                        <m:r>
                          <a:rPr lang="es-MX" sz="2000" b="0" i="1" smtClean="0">
                            <a:solidFill>
                              <a:schemeClr val="tx1"/>
                            </a:solidFill>
                            <a:latin typeface="Cambria Math" panose="02040503050406030204" pitchFamily="18" charset="0"/>
                          </a:rPr>
                          <m:t>𝑅</m:t>
                        </m:r>
                      </m:e>
                    </m:d>
                    <m:r>
                      <a:rPr lang="es-MX" sz="2000" b="0" i="1" smtClean="0">
                        <a:solidFill>
                          <a:schemeClr val="tx1"/>
                        </a:solidFill>
                        <a:latin typeface="Cambria Math" panose="02040503050406030204" pitchFamily="18" charset="0"/>
                      </a:rPr>
                      <m:t>=</m:t>
                    </m:r>
                    <m:d>
                      <m:dPr>
                        <m:begChr m:val="{"/>
                        <m:endChr m:val="}"/>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𝑥</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𝐴</m:t>
                        </m:r>
                      </m:e>
                      <m:e>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𝑦</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𝑦</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𝑅</m:t>
                            </m:r>
                          </m:e>
                        </m:d>
                      </m:e>
                    </m:d>
                  </m:oMath>
                </a14:m>
                <a:r>
                  <a:rPr lang="es-CO" sz="2000" dirty="0">
                    <a:solidFill>
                      <a:schemeClr val="tx1"/>
                    </a:solidFill>
                  </a:rPr>
                  <a:t> </a:t>
                </a:r>
              </a:p>
            </p:txBody>
          </p:sp>
        </mc:Choice>
        <mc:Fallback>
          <p:sp>
            <p:nvSpPr>
              <p:cNvPr id="49" name="CuadroTexto 48">
                <a:extLst>
                  <a:ext uri="{FF2B5EF4-FFF2-40B4-BE49-F238E27FC236}">
                    <a16:creationId xmlns:a16="http://schemas.microsoft.com/office/drawing/2014/main" id="{082CDDE1-12F4-4AC8-AE28-200E4CA4F051}"/>
                  </a:ext>
                </a:extLst>
              </p:cNvPr>
              <p:cNvSpPr txBox="1">
                <a:spLocks noRot="1" noChangeAspect="1" noMove="1" noResize="1" noEditPoints="1" noAdjustHandles="1" noChangeArrowheads="1" noChangeShapeType="1" noTextEdit="1"/>
              </p:cNvSpPr>
              <p:nvPr/>
            </p:nvSpPr>
            <p:spPr>
              <a:xfrm>
                <a:off x="6176068" y="2076080"/>
                <a:ext cx="4334776" cy="307777"/>
              </a:xfrm>
              <a:prstGeom prst="rect">
                <a:avLst/>
              </a:prstGeom>
              <a:blipFill>
                <a:blip r:embed="rId15"/>
                <a:stretch>
                  <a:fillRect l="-2110" b="-26000"/>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52" name="CuadroTexto 51">
                <a:extLst>
                  <a:ext uri="{FF2B5EF4-FFF2-40B4-BE49-F238E27FC236}">
                    <a16:creationId xmlns:a16="http://schemas.microsoft.com/office/drawing/2014/main" id="{D509034D-3D60-4C23-A068-ACBF1F46C796}"/>
                  </a:ext>
                </a:extLst>
              </p:cNvPr>
              <p:cNvSpPr txBox="1"/>
              <p:nvPr/>
            </p:nvSpPr>
            <p:spPr>
              <a:xfrm>
                <a:off x="6155901" y="2649498"/>
                <a:ext cx="4775538" cy="307777"/>
              </a:xfrm>
              <a:prstGeom prst="rect">
                <a:avLst/>
              </a:prstGeom>
              <a:solidFill>
                <a:schemeClr val="bg1">
                  <a:lumMod val="95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sz="2000" b="0" i="0" smtClean="0">
                          <a:solidFill>
                            <a:schemeClr val="tx1"/>
                          </a:solidFill>
                          <a:latin typeface="Cambria Math" panose="02040503050406030204" pitchFamily="18" charset="0"/>
                        </a:rPr>
                        <m:t>ran</m:t>
                      </m:r>
                      <m:d>
                        <m:dPr>
                          <m:ctrlPr>
                            <a:rPr lang="es-MX" sz="2000" b="0" i="1" smtClean="0">
                              <a:solidFill>
                                <a:schemeClr val="tx1"/>
                              </a:solidFill>
                              <a:latin typeface="Cambria Math" panose="02040503050406030204" pitchFamily="18" charset="0"/>
                            </a:rPr>
                          </m:ctrlPr>
                        </m:dPr>
                        <m:e>
                          <m:r>
                            <a:rPr lang="es-MX" sz="2000" b="0" i="1" smtClean="0">
                              <a:solidFill>
                                <a:schemeClr val="tx1"/>
                              </a:solidFill>
                              <a:latin typeface="Cambria Math" panose="02040503050406030204" pitchFamily="18" charset="0"/>
                            </a:rPr>
                            <m:t>𝑅</m:t>
                          </m:r>
                        </m:e>
                      </m:d>
                      <m:r>
                        <a:rPr lang="es-MX" sz="2000" b="0" i="1" smtClean="0">
                          <a:solidFill>
                            <a:schemeClr val="tx1"/>
                          </a:solidFill>
                          <a:latin typeface="Cambria Math" panose="02040503050406030204" pitchFamily="18" charset="0"/>
                        </a:rPr>
                        <m:t>=</m:t>
                      </m:r>
                      <m:d>
                        <m:dPr>
                          <m:begChr m:val="{"/>
                          <m:endChr m:val="}"/>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𝑦</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𝐵</m:t>
                          </m:r>
                        </m:e>
                        <m:e>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𝑦</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𝑅</m:t>
                              </m:r>
                            </m:e>
                          </m:d>
                        </m:e>
                      </m:d>
                    </m:oMath>
                  </m:oMathPara>
                </a14:m>
                <a:endParaRPr lang="es-CO" sz="2000" dirty="0"/>
              </a:p>
            </p:txBody>
          </p:sp>
        </mc:Choice>
        <mc:Fallback>
          <p:sp>
            <p:nvSpPr>
              <p:cNvPr id="52" name="CuadroTexto 51">
                <a:extLst>
                  <a:ext uri="{FF2B5EF4-FFF2-40B4-BE49-F238E27FC236}">
                    <a16:creationId xmlns:a16="http://schemas.microsoft.com/office/drawing/2014/main" id="{D509034D-3D60-4C23-A068-ACBF1F46C796}"/>
                  </a:ext>
                </a:extLst>
              </p:cNvPr>
              <p:cNvSpPr txBox="1">
                <a:spLocks noRot="1" noChangeAspect="1" noMove="1" noResize="1" noEditPoints="1" noAdjustHandles="1" noChangeArrowheads="1" noChangeShapeType="1" noTextEdit="1"/>
              </p:cNvSpPr>
              <p:nvPr/>
            </p:nvSpPr>
            <p:spPr>
              <a:xfrm>
                <a:off x="6155901" y="2649498"/>
                <a:ext cx="4775538" cy="307777"/>
              </a:xfrm>
              <a:prstGeom prst="rect">
                <a:avLst/>
              </a:prstGeom>
              <a:blipFill>
                <a:blip r:embed="rId16"/>
                <a:stretch>
                  <a:fillRect l="-383" b="-26000"/>
                </a:stretch>
              </a:blipFill>
            </p:spPr>
            <p:txBody>
              <a:bodyPr/>
              <a:lstStyle/>
              <a:p>
                <a:r>
                  <a:rPr lang="es-CO">
                    <a:noFill/>
                  </a:rPr>
                  <a:t> </a:t>
                </a:r>
              </a:p>
            </p:txBody>
          </p:sp>
        </mc:Fallback>
      </mc:AlternateContent>
      <p:grpSp>
        <p:nvGrpSpPr>
          <p:cNvPr id="3" name="Grupo 2">
            <a:extLst>
              <a:ext uri="{FF2B5EF4-FFF2-40B4-BE49-F238E27FC236}">
                <a16:creationId xmlns:a16="http://schemas.microsoft.com/office/drawing/2014/main" id="{09BE0BBD-441D-4F3A-8147-5BB330C739EA}"/>
              </a:ext>
            </a:extLst>
          </p:cNvPr>
          <p:cNvGrpSpPr/>
          <p:nvPr/>
        </p:nvGrpSpPr>
        <p:grpSpPr>
          <a:xfrm>
            <a:off x="7327669" y="3972324"/>
            <a:ext cx="4188561" cy="964016"/>
            <a:chOff x="6979111" y="3901092"/>
            <a:chExt cx="4483078" cy="964016"/>
          </a:xfrm>
        </p:grpSpPr>
        <p:sp>
          <p:nvSpPr>
            <p:cNvPr id="50" name="CuadroTexto 49">
              <a:extLst>
                <a:ext uri="{FF2B5EF4-FFF2-40B4-BE49-F238E27FC236}">
                  <a16:creationId xmlns:a16="http://schemas.microsoft.com/office/drawing/2014/main" id="{F8182197-253F-4320-B2A3-60D37852EC52}"/>
                </a:ext>
              </a:extLst>
            </p:cNvPr>
            <p:cNvSpPr txBox="1"/>
            <p:nvPr/>
          </p:nvSpPr>
          <p:spPr>
            <a:xfrm>
              <a:off x="6979111" y="3901092"/>
              <a:ext cx="4483078"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Dominio</a:t>
              </a:r>
              <a:r>
                <a:rPr lang="es-MX" sz="2000" dirty="0">
                  <a:latin typeface="Roboto" panose="02000000000000000000" pitchFamily="2" charset="0"/>
                  <a:ea typeface="Roboto" panose="02000000000000000000" pitchFamily="2" charset="0"/>
                </a:rPr>
                <a:t>:</a:t>
              </a:r>
              <a:endParaRPr lang="es-CO" sz="2000" dirty="0">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BE5C64C8-197F-40F9-B52F-8CEFF0819196}"/>
                    </a:ext>
                  </a:extLst>
                </p:cNvPr>
                <p:cNvSpPr txBox="1"/>
                <p:nvPr/>
              </p:nvSpPr>
              <p:spPr>
                <a:xfrm>
                  <a:off x="8140814" y="4557331"/>
                  <a:ext cx="214169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sz="2000" b="0" i="0" smtClean="0">
                            <a:solidFill>
                              <a:schemeClr val="tx1"/>
                            </a:solidFill>
                            <a:latin typeface="Cambria Math" panose="02040503050406030204" pitchFamily="18" charset="0"/>
                          </a:rPr>
                          <m:t>dom</m:t>
                        </m:r>
                        <m:d>
                          <m:dPr>
                            <m:ctrlPr>
                              <a:rPr lang="es-MX" sz="2000" b="0" i="1" smtClean="0">
                                <a:solidFill>
                                  <a:schemeClr val="tx1"/>
                                </a:solidFill>
                                <a:latin typeface="Cambria Math" panose="02040503050406030204" pitchFamily="18" charset="0"/>
                              </a:rPr>
                            </m:ctrlPr>
                          </m:dPr>
                          <m:e>
                            <m:r>
                              <a:rPr lang="es-MX" sz="2000" b="0" i="1" smtClean="0">
                                <a:solidFill>
                                  <a:schemeClr val="tx1"/>
                                </a:solidFill>
                                <a:latin typeface="Cambria Math" panose="02040503050406030204" pitchFamily="18" charset="0"/>
                              </a:rPr>
                              <m:t>𝑅</m:t>
                            </m:r>
                          </m:e>
                        </m:d>
                        <m:r>
                          <a:rPr lang="es-MX" sz="2000" b="0" i="1" smtClean="0">
                            <a:solidFill>
                              <a:schemeClr val="tx1"/>
                            </a:solidFill>
                            <a:latin typeface="Cambria Math" panose="02040503050406030204" pitchFamily="18"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1,2,4</m:t>
                            </m:r>
                          </m:e>
                        </m:d>
                      </m:oMath>
                    </m:oMathPara>
                  </a14:m>
                  <a:endParaRPr lang="es-CO" sz="2000" dirty="0">
                    <a:solidFill>
                      <a:schemeClr val="tx1"/>
                    </a:solidFill>
                  </a:endParaRPr>
                </a:p>
              </p:txBody>
            </p:sp>
          </mc:Choice>
          <mc:Fallback xmlns="">
            <p:sp>
              <p:nvSpPr>
                <p:cNvPr id="53" name="CuadroTexto 52">
                  <a:extLst>
                    <a:ext uri="{FF2B5EF4-FFF2-40B4-BE49-F238E27FC236}">
                      <a16:creationId xmlns:a16="http://schemas.microsoft.com/office/drawing/2014/main" id="{BE5C64C8-197F-40F9-B52F-8CEFF0819196}"/>
                    </a:ext>
                  </a:extLst>
                </p:cNvPr>
                <p:cNvSpPr txBox="1">
                  <a:spLocks noRot="1" noChangeAspect="1" noMove="1" noResize="1" noEditPoints="1" noAdjustHandles="1" noChangeArrowheads="1" noChangeShapeType="1" noTextEdit="1"/>
                </p:cNvSpPr>
                <p:nvPr/>
              </p:nvSpPr>
              <p:spPr>
                <a:xfrm>
                  <a:off x="8140814" y="4557331"/>
                  <a:ext cx="2141696" cy="307777"/>
                </a:xfrm>
                <a:prstGeom prst="rect">
                  <a:avLst/>
                </a:prstGeom>
                <a:blipFill>
                  <a:blip r:embed="rId17"/>
                  <a:stretch>
                    <a:fillRect l="-2744" b="-5882"/>
                  </a:stretch>
                </a:blipFill>
              </p:spPr>
              <p:txBody>
                <a:bodyPr/>
                <a:lstStyle/>
                <a:p>
                  <a:r>
                    <a:rPr lang="es-CO">
                      <a:noFill/>
                    </a:rPr>
                    <a:t> </a:t>
                  </a:r>
                </a:p>
              </p:txBody>
            </p:sp>
          </mc:Fallback>
        </mc:AlternateContent>
      </p:grpSp>
      <p:grpSp>
        <p:nvGrpSpPr>
          <p:cNvPr id="2" name="Grupo 1">
            <a:extLst>
              <a:ext uri="{FF2B5EF4-FFF2-40B4-BE49-F238E27FC236}">
                <a16:creationId xmlns:a16="http://schemas.microsoft.com/office/drawing/2014/main" id="{B4BA6D09-1CD4-424E-A244-89CD24093D77}"/>
              </a:ext>
            </a:extLst>
          </p:cNvPr>
          <p:cNvGrpSpPr/>
          <p:nvPr/>
        </p:nvGrpSpPr>
        <p:grpSpPr>
          <a:xfrm>
            <a:off x="7395519" y="5324701"/>
            <a:ext cx="4296239" cy="960858"/>
            <a:chOff x="6979111" y="5098553"/>
            <a:chExt cx="4483078" cy="960858"/>
          </a:xfrm>
        </p:grpSpPr>
        <p:sp>
          <p:nvSpPr>
            <p:cNvPr id="51" name="CuadroTexto 50">
              <a:extLst>
                <a:ext uri="{FF2B5EF4-FFF2-40B4-BE49-F238E27FC236}">
                  <a16:creationId xmlns:a16="http://schemas.microsoft.com/office/drawing/2014/main" id="{CE500D50-739C-494A-9066-1BFFB1742D31}"/>
                </a:ext>
              </a:extLst>
            </p:cNvPr>
            <p:cNvSpPr txBox="1"/>
            <p:nvPr/>
          </p:nvSpPr>
          <p:spPr>
            <a:xfrm>
              <a:off x="6979111" y="5098553"/>
              <a:ext cx="4483078" cy="40011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Rango</a:t>
              </a:r>
              <a:r>
                <a:rPr lang="es-MX" sz="2000" dirty="0">
                  <a:latin typeface="Roboto" panose="02000000000000000000" pitchFamily="2" charset="0"/>
                  <a:ea typeface="Roboto" panose="02000000000000000000" pitchFamily="2" charset="0"/>
                </a:rPr>
                <a:t>:</a:t>
              </a:r>
              <a:endParaRPr lang="es-CO" sz="2000" dirty="0">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54" name="CuadroTexto 53">
                  <a:extLst>
                    <a:ext uri="{FF2B5EF4-FFF2-40B4-BE49-F238E27FC236}">
                      <a16:creationId xmlns:a16="http://schemas.microsoft.com/office/drawing/2014/main" id="{AD2C17B7-1C7D-4A57-8129-144E85B9ED1A}"/>
                    </a:ext>
                  </a:extLst>
                </p:cNvPr>
                <p:cNvSpPr txBox="1"/>
                <p:nvPr/>
              </p:nvSpPr>
              <p:spPr>
                <a:xfrm>
                  <a:off x="8153545" y="5751634"/>
                  <a:ext cx="204432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sz="2000" b="0" i="0" smtClean="0">
                            <a:solidFill>
                              <a:schemeClr val="tx1"/>
                            </a:solidFill>
                            <a:latin typeface="Cambria Math" panose="02040503050406030204" pitchFamily="18" charset="0"/>
                          </a:rPr>
                          <m:t>ran</m:t>
                        </m:r>
                        <m:d>
                          <m:dPr>
                            <m:ctrlPr>
                              <a:rPr lang="es-MX" sz="2000" b="0" i="1" smtClean="0">
                                <a:solidFill>
                                  <a:schemeClr val="tx1"/>
                                </a:solidFill>
                                <a:latin typeface="Cambria Math" panose="02040503050406030204" pitchFamily="18" charset="0"/>
                              </a:rPr>
                            </m:ctrlPr>
                          </m:dPr>
                          <m:e>
                            <m:r>
                              <a:rPr lang="es-MX" sz="2000" b="0" i="1" smtClean="0">
                                <a:solidFill>
                                  <a:schemeClr val="tx1"/>
                                </a:solidFill>
                                <a:latin typeface="Cambria Math" panose="02040503050406030204" pitchFamily="18" charset="0"/>
                              </a:rPr>
                              <m:t>𝑅</m:t>
                            </m:r>
                          </m:e>
                        </m:d>
                        <m:r>
                          <a:rPr lang="es-MX" sz="2000" b="0" i="1" smtClean="0">
                            <a:solidFill>
                              <a:schemeClr val="tx1"/>
                            </a:solidFill>
                            <a:latin typeface="Cambria Math" panose="02040503050406030204" pitchFamily="18" charset="0"/>
                          </a:rPr>
                          <m:t>=</m:t>
                        </m:r>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𝑐</m:t>
                            </m:r>
                          </m:e>
                        </m:d>
                      </m:oMath>
                    </m:oMathPara>
                  </a14:m>
                  <a:endParaRPr lang="es-CO" sz="2000" dirty="0">
                    <a:solidFill>
                      <a:schemeClr val="tx1"/>
                    </a:solidFill>
                  </a:endParaRPr>
                </a:p>
              </p:txBody>
            </p:sp>
          </mc:Choice>
          <mc:Fallback xmlns="">
            <p:sp>
              <p:nvSpPr>
                <p:cNvPr id="54" name="CuadroTexto 53">
                  <a:extLst>
                    <a:ext uri="{FF2B5EF4-FFF2-40B4-BE49-F238E27FC236}">
                      <a16:creationId xmlns:a16="http://schemas.microsoft.com/office/drawing/2014/main" id="{AD2C17B7-1C7D-4A57-8129-144E85B9ED1A}"/>
                    </a:ext>
                  </a:extLst>
                </p:cNvPr>
                <p:cNvSpPr txBox="1">
                  <a:spLocks noRot="1" noChangeAspect="1" noMove="1" noResize="1" noEditPoints="1" noAdjustHandles="1" noChangeArrowheads="1" noChangeShapeType="1" noTextEdit="1"/>
                </p:cNvSpPr>
                <p:nvPr/>
              </p:nvSpPr>
              <p:spPr>
                <a:xfrm>
                  <a:off x="8153545" y="5751634"/>
                  <a:ext cx="2044326" cy="307777"/>
                </a:xfrm>
                <a:prstGeom prst="rect">
                  <a:avLst/>
                </a:prstGeom>
                <a:blipFill>
                  <a:blip r:embed="rId18"/>
                  <a:stretch>
                    <a:fillRect l="-1558" b="-8000"/>
                  </a:stretch>
                </a:blipFill>
              </p:spPr>
              <p:txBody>
                <a:bodyPr/>
                <a:lstStyle/>
                <a:p>
                  <a:r>
                    <a:rPr lang="es-CO">
                      <a:noFill/>
                    </a:rPr>
                    <a:t> </a:t>
                  </a:r>
                </a:p>
              </p:txBody>
            </p:sp>
          </mc:Fallback>
        </mc:AlternateContent>
      </p:grpSp>
    </p:spTree>
    <p:extLst>
      <p:ext uri="{BB962C8B-B14F-4D97-AF65-F5344CB8AC3E}">
        <p14:creationId xmlns:p14="http://schemas.microsoft.com/office/powerpoint/2010/main" val="16425670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61383" y="168182"/>
            <a:ext cx="1111286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342276" y="1045538"/>
            <a:ext cx="10850629"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sz="2400" b="1" dirty="0">
                <a:solidFill>
                  <a:schemeClr val="tx1"/>
                </a:solidFill>
                <a:latin typeface="+mn-lt"/>
              </a:rPr>
              <a:t>Inversa de una relación</a:t>
            </a: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8" name="Google Shape;310;p34">
                <a:extLst>
                  <a:ext uri="{FF2B5EF4-FFF2-40B4-BE49-F238E27FC236}">
                    <a16:creationId xmlns:a16="http://schemas.microsoft.com/office/drawing/2014/main" id="{FA035FCB-35A1-4C97-9F92-3E0C37527396}"/>
                  </a:ext>
                </a:extLst>
              </p:cNvPr>
              <p:cNvSpPr txBox="1">
                <a:spLocks/>
              </p:cNvSpPr>
              <p:nvPr/>
            </p:nvSpPr>
            <p:spPr>
              <a:xfrm>
                <a:off x="259829" y="1576480"/>
                <a:ext cx="11787028" cy="511333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La inversión de una relación, consiste esencialmente en "dar la vuelta" o "revertir" la dirección de todas las conexiones de la relación original.  </a:t>
                </a:r>
              </a:p>
              <a:p>
                <a:pPr marL="127000" indent="0">
                  <a:buNone/>
                </a:pPr>
                <a:r>
                  <a:rPr lang="es-MX" sz="2000" b="1" dirty="0">
                    <a:latin typeface="+mn-lt"/>
                    <a:ea typeface="Roboto" panose="02000000000000000000" pitchFamily="2" charset="0"/>
                  </a:rPr>
                  <a:t>Definición formal</a:t>
                </a:r>
                <a:r>
                  <a:rPr lang="es-MX" sz="2000" dirty="0">
                    <a:latin typeface="+mn-lt"/>
                    <a:ea typeface="Roboto" panose="02000000000000000000" pitchFamily="2" charset="0"/>
                  </a:rPr>
                  <a:t>: Sea </a:t>
                </a:r>
                <a14:m>
                  <m:oMath xmlns:m="http://schemas.openxmlformats.org/officeDocument/2006/math">
                    <m:r>
                      <a:rPr lang="es-MX" sz="2000" b="0" i="1" smtClean="0">
                        <a:latin typeface="Cambria Math" panose="02040503050406030204" pitchFamily="18" charset="0"/>
                        <a:ea typeface="Roboto" panose="02000000000000000000" pitchFamily="2" charset="0"/>
                      </a:rPr>
                      <m:t>𝑅</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oMath>
                </a14:m>
                <a:r>
                  <a:rPr lang="es-MX" sz="2000" dirty="0">
                    <a:latin typeface="+mn-lt"/>
                    <a:ea typeface="Roboto" panose="02000000000000000000" pitchFamily="2" charset="0"/>
                  </a:rPr>
                  <a:t> una relación entre los conjuntos </a:t>
                </a:r>
                <a14:m>
                  <m:oMath xmlns:m="http://schemas.openxmlformats.org/officeDocument/2006/math">
                    <m:r>
                      <a:rPr lang="es-MX" sz="2000" i="1">
                        <a:latin typeface="Cambria Math" panose="02040503050406030204" pitchFamily="18" charset="0"/>
                        <a:ea typeface="Cambria Math" panose="02040503050406030204" pitchFamily="18" charset="0"/>
                      </a:rPr>
                      <m:t>𝐴</m:t>
                    </m:r>
                  </m:oMath>
                </a14:m>
                <a:r>
                  <a:rPr lang="es-MX" sz="2000" dirty="0">
                    <a:latin typeface="+mn-lt"/>
                    <a:ea typeface="Roboto" panose="02000000000000000000" pitchFamily="2" charset="0"/>
                  </a:rPr>
                  <a:t> y </a:t>
                </a:r>
                <a14:m>
                  <m:oMath xmlns:m="http://schemas.openxmlformats.org/officeDocument/2006/math">
                    <m:r>
                      <a:rPr lang="es-MX" sz="2000" b="0" i="1" smtClean="0">
                        <a:latin typeface="Cambria Math" panose="02040503050406030204" pitchFamily="18" charset="0"/>
                        <a:ea typeface="Cambria Math" panose="02040503050406030204" pitchFamily="18" charset="0"/>
                      </a:rPr>
                      <m:t>𝐵</m:t>
                    </m:r>
                  </m:oMath>
                </a14:m>
                <a:r>
                  <a:rPr lang="es-MX" sz="2000" dirty="0">
                    <a:latin typeface="+mn-lt"/>
                    <a:ea typeface="Roboto" panose="02000000000000000000" pitchFamily="2" charset="0"/>
                  </a:rPr>
                  <a:t>. La relación inversa de </a:t>
                </a:r>
                <a14:m>
                  <m:oMath xmlns:m="http://schemas.openxmlformats.org/officeDocument/2006/math">
                    <m:r>
                      <a:rPr lang="es-MX" sz="2000" i="1">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denotada como </a:t>
                </a:r>
                <a14:m>
                  <m:oMath xmlns:m="http://schemas.openxmlformats.org/officeDocument/2006/math">
                    <m:sSup>
                      <m:sSupPr>
                        <m:ctrlPr>
                          <a:rPr lang="es-MX" sz="2000" b="0" i="1" smtClean="0">
                            <a:latin typeface="Cambria Math" panose="02040503050406030204" pitchFamily="18" charset="0"/>
                            <a:ea typeface="Roboto" panose="02000000000000000000" pitchFamily="2" charset="0"/>
                          </a:rPr>
                        </m:ctrlPr>
                      </m:sSupPr>
                      <m:e>
                        <m:r>
                          <a:rPr lang="es-MX" sz="2000" i="1">
                            <a:latin typeface="Cambria Math" panose="02040503050406030204" pitchFamily="18" charset="0"/>
                            <a:ea typeface="Roboto" panose="02000000000000000000" pitchFamily="2" charset="0"/>
                          </a:rPr>
                          <m:t>𝑅</m:t>
                        </m:r>
                      </m:e>
                      <m:sup>
                        <m:r>
                          <a:rPr lang="es-MX" sz="2000" b="0" i="1" smtClean="0">
                            <a:latin typeface="Cambria Math" panose="02040503050406030204" pitchFamily="18" charset="0"/>
                            <a:ea typeface="Roboto" panose="02000000000000000000" pitchFamily="2" charset="0"/>
                          </a:rPr>
                          <m:t>−1</m:t>
                        </m:r>
                      </m:sup>
                    </m:sSup>
                  </m:oMath>
                </a14:m>
                <a:r>
                  <a:rPr lang="es-MX" sz="2000" dirty="0">
                    <a:latin typeface="+mn-lt"/>
                    <a:ea typeface="Roboto" panose="02000000000000000000" pitchFamily="2" charset="0"/>
                  </a:rPr>
                  <a:t> invierte el orden de todos los pares ordenados de </a:t>
                </a:r>
                <a14:m>
                  <m:oMath xmlns:m="http://schemas.openxmlformats.org/officeDocument/2006/math">
                    <m:r>
                      <a:rPr lang="es-MX" sz="2000" i="1">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esto es:</a:t>
                </a:r>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r>
                  <a:rPr lang="es-MX" sz="2000" b="1" dirty="0">
                    <a:latin typeface="+mn-lt"/>
                    <a:ea typeface="Roboto" panose="02000000000000000000" pitchFamily="2" charset="0"/>
                  </a:rPr>
                  <a:t>Propiedades útiles</a:t>
                </a:r>
              </a:p>
              <a:p>
                <a:pPr marL="584200" indent="-457200">
                  <a:buFont typeface="+mj-lt"/>
                  <a:buAutoNum type="arabicPeriod"/>
                </a:pPr>
                <a:r>
                  <a:rPr lang="es-MX" sz="2000" dirty="0">
                    <a:latin typeface="+mn-lt"/>
                    <a:ea typeface="Roboto" panose="02000000000000000000" pitchFamily="2" charset="0"/>
                  </a:rPr>
                  <a:t>Doble inversa: </a:t>
                </a:r>
                <a14:m>
                  <m:oMath xmlns:m="http://schemas.openxmlformats.org/officeDocument/2006/math">
                    <m:sSup>
                      <m:sSupPr>
                        <m:ctrlPr>
                          <a:rPr lang="es-MX" sz="2000" b="0" i="1" smtClean="0">
                            <a:latin typeface="Cambria Math" panose="02040503050406030204" pitchFamily="18" charset="0"/>
                            <a:ea typeface="Roboto" panose="02000000000000000000" pitchFamily="2" charset="0"/>
                          </a:rPr>
                        </m:ctrlPr>
                      </m:sSupPr>
                      <m:e>
                        <m:d>
                          <m:dPr>
                            <m:ctrlPr>
                              <a:rPr lang="es-MX" sz="2000" b="0" i="1" smtClean="0">
                                <a:latin typeface="Cambria Math" panose="02040503050406030204" pitchFamily="18" charset="0"/>
                                <a:ea typeface="Roboto" panose="02000000000000000000" pitchFamily="2" charset="0"/>
                              </a:rPr>
                            </m:ctrlPr>
                          </m:dPr>
                          <m:e>
                            <m:sSup>
                              <m:sSupPr>
                                <m:ctrlPr>
                                  <a:rPr lang="es-MX" sz="2000" b="0" i="1" smtClean="0">
                                    <a:latin typeface="Cambria Math" panose="02040503050406030204" pitchFamily="18" charset="0"/>
                                    <a:ea typeface="Roboto" panose="02000000000000000000" pitchFamily="2" charset="0"/>
                                  </a:rPr>
                                </m:ctrlPr>
                              </m:sSupPr>
                              <m:e>
                                <m:r>
                                  <a:rPr lang="es-MX" sz="2000" b="0" i="1" smtClean="0">
                                    <a:latin typeface="Cambria Math" panose="02040503050406030204" pitchFamily="18" charset="0"/>
                                    <a:ea typeface="Roboto" panose="02000000000000000000" pitchFamily="2" charset="0"/>
                                  </a:rPr>
                                  <m:t>𝑅</m:t>
                                </m:r>
                              </m:e>
                              <m:sup>
                                <m:r>
                                  <a:rPr lang="es-MX" sz="2000" b="0" i="1" smtClean="0">
                                    <a:latin typeface="Cambria Math" panose="02040503050406030204" pitchFamily="18" charset="0"/>
                                    <a:ea typeface="Roboto" panose="02000000000000000000" pitchFamily="2" charset="0"/>
                                  </a:rPr>
                                  <m:t>−1</m:t>
                                </m:r>
                              </m:sup>
                            </m:sSup>
                          </m:e>
                        </m:d>
                      </m:e>
                      <m:sup>
                        <m:r>
                          <a:rPr lang="es-MX" sz="2000" b="0" i="1" smtClean="0">
                            <a:latin typeface="Cambria Math" panose="02040503050406030204" pitchFamily="18" charset="0"/>
                            <a:ea typeface="Roboto" panose="02000000000000000000" pitchFamily="2" charset="0"/>
                          </a:rPr>
                          <m:t>−1</m:t>
                        </m:r>
                      </m:sup>
                    </m:sSup>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𝑅</m:t>
                    </m:r>
                  </m:oMath>
                </a14:m>
                <a:endParaRPr lang="es-CO" sz="2000" dirty="0">
                  <a:latin typeface="+mn-lt"/>
                </a:endParaRPr>
              </a:p>
              <a:p>
                <a:pPr marL="584200" indent="-457200">
                  <a:buFont typeface="+mj-lt"/>
                  <a:buAutoNum type="arabicPeriod"/>
                </a:pPr>
                <a:r>
                  <a:rPr lang="es-MX" sz="2000" dirty="0">
                    <a:latin typeface="+mn-lt"/>
                    <a:ea typeface="Roboto" panose="02000000000000000000" pitchFamily="2" charset="0"/>
                  </a:rPr>
                  <a:t>Intercambio del dominio y rango:</a:t>
                </a:r>
              </a:p>
              <a:p>
                <a:pPr marL="584200" indent="-457200">
                  <a:buFont typeface="+mj-lt"/>
                  <a:buAutoNum type="arabicPeriod"/>
                </a:pPr>
                <a:endParaRPr lang="es-MX" sz="2000" dirty="0">
                  <a:latin typeface="+mn-lt"/>
                  <a:ea typeface="Roboto" panose="02000000000000000000" pitchFamily="2" charset="0"/>
                </a:endParaRPr>
              </a:p>
              <a:p>
                <a:pPr marL="584200" indent="-457200">
                  <a:buFont typeface="+mj-lt"/>
                  <a:buAutoNum type="arabicPeriod"/>
                </a:pPr>
                <a:endParaRPr lang="es-MX" sz="2000" dirty="0">
                  <a:latin typeface="+mn-lt"/>
                  <a:ea typeface="Roboto" panose="02000000000000000000" pitchFamily="2" charset="0"/>
                </a:endParaRPr>
              </a:p>
              <a:p>
                <a:pPr marL="584200" indent="-457200">
                  <a:buFont typeface="+mj-lt"/>
                  <a:buAutoNum type="arabicPeriod"/>
                </a:pPr>
                <a:r>
                  <a:rPr lang="es-MX" sz="2000" dirty="0">
                    <a:latin typeface="+mn-lt"/>
                    <a:ea typeface="Roboto" panose="02000000000000000000" pitchFamily="2" charset="0"/>
                  </a:rPr>
                  <a:t>Si </a:t>
                </a:r>
                <a14:m>
                  <m:oMath xmlns:m="http://schemas.openxmlformats.org/officeDocument/2006/math">
                    <m:r>
                      <a:rPr lang="es-MX" sz="2000" b="0" i="1" smtClean="0">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es una relación sobre un mismo conjunto </a:t>
                </a:r>
                <a14:m>
                  <m:oMath xmlns:m="http://schemas.openxmlformats.org/officeDocument/2006/math">
                    <m:r>
                      <a:rPr lang="es-MX" sz="2000" b="0" i="1"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entonces </a:t>
                </a:r>
                <a14:m>
                  <m:oMath xmlns:m="http://schemas.openxmlformats.org/officeDocument/2006/math">
                    <m:sSup>
                      <m:sSupPr>
                        <m:ctrlPr>
                          <a:rPr lang="es-MX" sz="2000" i="1">
                            <a:latin typeface="Cambria Math" panose="02040503050406030204" pitchFamily="18" charset="0"/>
                            <a:ea typeface="Roboto" panose="02000000000000000000" pitchFamily="2" charset="0"/>
                          </a:rPr>
                        </m:ctrlPr>
                      </m:sSupPr>
                      <m:e>
                        <m:r>
                          <a:rPr lang="es-MX" sz="2000" i="1">
                            <a:latin typeface="Cambria Math" panose="02040503050406030204" pitchFamily="18" charset="0"/>
                            <a:ea typeface="Roboto" panose="02000000000000000000" pitchFamily="2" charset="0"/>
                          </a:rPr>
                          <m:t>𝑅</m:t>
                        </m:r>
                      </m:e>
                      <m:sup>
                        <m:r>
                          <a:rPr lang="es-MX" sz="2000" i="1">
                            <a:latin typeface="Cambria Math" panose="02040503050406030204" pitchFamily="18" charset="0"/>
                            <a:ea typeface="Roboto" panose="02000000000000000000" pitchFamily="2" charset="0"/>
                          </a:rPr>
                          <m:t>−1</m:t>
                        </m:r>
                      </m:sup>
                    </m:sSup>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oMath>
                </a14:m>
                <a:r>
                  <a:rPr lang="es-MX" sz="2000" dirty="0">
                    <a:latin typeface="+mn-lt"/>
                    <a:ea typeface="Roboto" panose="02000000000000000000" pitchFamily="2" charset="0"/>
                  </a:rPr>
                  <a:t>,  también es una relación sobre </a:t>
                </a:r>
                <a14:m>
                  <m:oMath xmlns:m="http://schemas.openxmlformats.org/officeDocument/2006/math">
                    <m:r>
                      <a:rPr lang="es-MX" sz="2000" i="1">
                        <a:latin typeface="Cambria Math" panose="02040503050406030204" pitchFamily="18" charset="0"/>
                        <a:ea typeface="Roboto" panose="02000000000000000000" pitchFamily="2" charset="0"/>
                      </a:rPr>
                      <m:t>𝐴</m:t>
                    </m:r>
                  </m:oMath>
                </a14:m>
                <a:endParaRPr lang="es-MX" sz="2000" dirty="0">
                  <a:latin typeface="+mn-lt"/>
                  <a:ea typeface="Roboto" panose="02000000000000000000" pitchFamily="2" charset="0"/>
                </a:endParaRPr>
              </a:p>
              <a:p>
                <a:pPr marL="584200" indent="-457200">
                  <a:buFont typeface="+mj-lt"/>
                  <a:buAutoNum type="arabicPeriod"/>
                </a:pPr>
                <a14:m>
                  <m:oMath xmlns:m="http://schemas.openxmlformats.org/officeDocument/2006/math">
                    <m:sSup>
                      <m:sSupPr>
                        <m:ctrlPr>
                          <a:rPr lang="es-MX" sz="2000" b="0" i="1" smtClean="0">
                            <a:latin typeface="Cambria Math" panose="02040503050406030204" pitchFamily="18" charset="0"/>
                            <a:ea typeface="Roboto" panose="02000000000000000000" pitchFamily="2" charset="0"/>
                          </a:rPr>
                        </m:ctrlPr>
                      </m:sSup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𝐵</m:t>
                            </m:r>
                          </m:e>
                        </m:d>
                      </m:e>
                      <m:sup>
                        <m:r>
                          <a:rPr lang="es-MX" sz="2000" b="0" i="1" smtClean="0">
                            <a:latin typeface="Cambria Math" panose="02040503050406030204" pitchFamily="18" charset="0"/>
                            <a:ea typeface="Roboto" panose="02000000000000000000" pitchFamily="2" charset="0"/>
                          </a:rPr>
                          <m:t>−1</m:t>
                        </m:r>
                      </m:sup>
                    </m:sSup>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𝐵</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oMath>
                </a14:m>
                <a:endParaRPr lang="es-MX" sz="2000" dirty="0">
                  <a:latin typeface="+mn-lt"/>
                  <a:ea typeface="Roboto" panose="02000000000000000000" pitchFamily="2" charset="0"/>
                </a:endParaRPr>
              </a:p>
            </p:txBody>
          </p:sp>
        </mc:Choice>
        <mc:Fallback>
          <p:sp>
            <p:nvSpPr>
              <p:cNvPr id="8" name="Google Shape;310;p34">
                <a:extLst>
                  <a:ext uri="{FF2B5EF4-FFF2-40B4-BE49-F238E27FC236}">
                    <a16:creationId xmlns:a16="http://schemas.microsoft.com/office/drawing/2014/main" id="{FA035FCB-35A1-4C97-9F92-3E0C37527396}"/>
                  </a:ext>
                </a:extLst>
              </p:cNvPr>
              <p:cNvSpPr txBox="1">
                <a:spLocks noRot="1" noChangeAspect="1" noMove="1" noResize="1" noEditPoints="1" noAdjustHandles="1" noChangeArrowheads="1" noChangeShapeType="1" noTextEdit="1"/>
              </p:cNvSpPr>
              <p:nvPr/>
            </p:nvSpPr>
            <p:spPr>
              <a:xfrm>
                <a:off x="259829" y="1576480"/>
                <a:ext cx="11787028" cy="5113338"/>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FAC35029-31BE-4BFC-9516-05BEBCD2DBC3}"/>
                  </a:ext>
                </a:extLst>
              </p:cNvPr>
              <p:cNvSpPr txBox="1"/>
              <p:nvPr/>
            </p:nvSpPr>
            <p:spPr>
              <a:xfrm>
                <a:off x="4241794" y="3219774"/>
                <a:ext cx="2773836" cy="3147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MX" sz="2000" b="0" i="1" smtClean="0">
                              <a:latin typeface="Cambria Math" panose="02040503050406030204" pitchFamily="18" charset="0"/>
                              <a:ea typeface="Roboto" panose="02000000000000000000" pitchFamily="2" charset="0"/>
                            </a:rPr>
                          </m:ctrlPr>
                        </m:sSupPr>
                        <m:e>
                          <m:r>
                            <a:rPr lang="es-MX" sz="2000" b="0" i="1" smtClean="0">
                              <a:latin typeface="Cambria Math" panose="02040503050406030204" pitchFamily="18" charset="0"/>
                              <a:ea typeface="Roboto" panose="02000000000000000000" pitchFamily="2" charset="0"/>
                            </a:rPr>
                            <m:t>𝑅</m:t>
                          </m:r>
                        </m:e>
                        <m:sup>
                          <m:r>
                            <a:rPr lang="es-MX" sz="2000" b="0" i="1" smtClean="0">
                              <a:latin typeface="Cambria Math" panose="02040503050406030204" pitchFamily="18" charset="0"/>
                              <a:ea typeface="Roboto" panose="02000000000000000000" pitchFamily="2" charset="0"/>
                            </a:rPr>
                            <m:t>−1</m:t>
                          </m:r>
                        </m:sup>
                      </m:sSup>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𝑦</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e>
                          </m:d>
                        </m:e>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𝑅</m:t>
                          </m:r>
                        </m:e>
                      </m:d>
                    </m:oMath>
                  </m:oMathPara>
                </a14:m>
                <a:endParaRPr lang="es-CO" sz="2000" dirty="0">
                  <a:latin typeface="+mj-lt"/>
                </a:endParaRPr>
              </a:p>
            </p:txBody>
          </p:sp>
        </mc:Choice>
        <mc:Fallback xmlns="">
          <p:sp>
            <p:nvSpPr>
              <p:cNvPr id="3" name="CuadroTexto 2">
                <a:extLst>
                  <a:ext uri="{FF2B5EF4-FFF2-40B4-BE49-F238E27FC236}">
                    <a16:creationId xmlns:a16="http://schemas.microsoft.com/office/drawing/2014/main" id="{FAC35029-31BE-4BFC-9516-05BEBCD2DBC3}"/>
                  </a:ext>
                </a:extLst>
              </p:cNvPr>
              <p:cNvSpPr txBox="1">
                <a:spLocks noRot="1" noChangeAspect="1" noMove="1" noResize="1" noEditPoints="1" noAdjustHandles="1" noChangeArrowheads="1" noChangeShapeType="1" noTextEdit="1"/>
              </p:cNvSpPr>
              <p:nvPr/>
            </p:nvSpPr>
            <p:spPr>
              <a:xfrm>
                <a:off x="4241794" y="3219774"/>
                <a:ext cx="2773836" cy="314766"/>
              </a:xfrm>
              <a:prstGeom prst="rect">
                <a:avLst/>
              </a:prstGeom>
              <a:blipFill>
                <a:blip r:embed="rId4"/>
                <a:stretch>
                  <a:fillRect l="-1758" t="-1923" b="-25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7DCD8CCC-5952-4640-A1FB-2DF1629DE5C9}"/>
                  </a:ext>
                </a:extLst>
              </p:cNvPr>
              <p:cNvSpPr txBox="1"/>
              <p:nvPr/>
            </p:nvSpPr>
            <p:spPr>
              <a:xfrm>
                <a:off x="3461561" y="5407003"/>
                <a:ext cx="518404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sz="2000" b="0" i="0" smtClean="0">
                          <a:latin typeface="Cambria Math" panose="02040503050406030204" pitchFamily="18" charset="0"/>
                          <a:ea typeface="Roboto" panose="02000000000000000000" pitchFamily="2" charset="0"/>
                        </a:rPr>
                        <m:t>dom</m:t>
                      </m:r>
                      <m:d>
                        <m:dPr>
                          <m:ctrlPr>
                            <a:rPr lang="es-MX" sz="2000" b="0" i="1" smtClean="0">
                              <a:latin typeface="Cambria Math" panose="02040503050406030204" pitchFamily="18" charset="0"/>
                              <a:ea typeface="Roboto" panose="02000000000000000000" pitchFamily="2" charset="0"/>
                            </a:rPr>
                          </m:ctrlPr>
                        </m:dPr>
                        <m:e>
                          <m:sSup>
                            <m:sSupPr>
                              <m:ctrlPr>
                                <a:rPr lang="es-MX" sz="2000" i="1" smtClean="0">
                                  <a:latin typeface="Cambria Math" panose="02040503050406030204" pitchFamily="18" charset="0"/>
                                  <a:ea typeface="Roboto" panose="02000000000000000000" pitchFamily="2" charset="0"/>
                                </a:rPr>
                              </m:ctrlPr>
                            </m:sSupPr>
                            <m:e>
                              <m:r>
                                <a:rPr lang="es-MX" sz="2000" i="1">
                                  <a:latin typeface="Cambria Math" panose="02040503050406030204" pitchFamily="18" charset="0"/>
                                  <a:ea typeface="Roboto" panose="02000000000000000000" pitchFamily="2" charset="0"/>
                                </a:rPr>
                                <m:t>𝑅</m:t>
                              </m:r>
                            </m:e>
                            <m:sup>
                              <m:r>
                                <a:rPr lang="es-MX" sz="2000" i="1">
                                  <a:latin typeface="Cambria Math" panose="02040503050406030204" pitchFamily="18" charset="0"/>
                                  <a:ea typeface="Roboto" panose="02000000000000000000" pitchFamily="2" charset="0"/>
                                </a:rPr>
                                <m:t>−1</m:t>
                              </m:r>
                            </m:sup>
                          </m:sSup>
                        </m:e>
                      </m:d>
                      <m:r>
                        <a:rPr lang="es-MX" sz="2000" b="0" i="1" smtClean="0">
                          <a:latin typeface="Cambria Math" panose="02040503050406030204" pitchFamily="18" charset="0"/>
                          <a:ea typeface="Roboto" panose="02000000000000000000" pitchFamily="2" charset="0"/>
                        </a:rPr>
                        <m:t>=</m:t>
                      </m:r>
                      <m:r>
                        <m:rPr>
                          <m:sty m:val="p"/>
                        </m:rPr>
                        <a:rPr lang="es-MX" sz="2000" b="0" i="0" smtClean="0">
                          <a:latin typeface="Cambria Math" panose="02040503050406030204" pitchFamily="18" charset="0"/>
                          <a:ea typeface="Roboto" panose="02000000000000000000" pitchFamily="2" charset="0"/>
                        </a:rPr>
                        <m:t>ran</m:t>
                      </m:r>
                      <m:d>
                        <m:dPr>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𝑅</m:t>
                          </m:r>
                        </m:e>
                      </m:d>
                      <m:r>
                        <a:rPr lang="es-MX" sz="2000" b="0" i="1" smtClean="0">
                          <a:latin typeface="Cambria Math" panose="02040503050406030204" pitchFamily="18" charset="0"/>
                          <a:ea typeface="Roboto" panose="02000000000000000000" pitchFamily="2" charset="0"/>
                        </a:rPr>
                        <m:t>,</m:t>
                      </m:r>
                      <m:r>
                        <m:rPr>
                          <m:lit/>
                        </m:rPr>
                        <a:rPr lang="es-MX" sz="2000" b="0" i="1" smtClean="0">
                          <a:latin typeface="Cambria Math" panose="02040503050406030204" pitchFamily="18" charset="0"/>
                          <a:ea typeface="Roboto" panose="02000000000000000000" pitchFamily="2" charset="0"/>
                        </a:rPr>
                        <m:t>  </m:t>
                      </m:r>
                      <m:r>
                        <m:rPr>
                          <m:sty m:val="p"/>
                        </m:rPr>
                        <a:rPr lang="es-MX" sz="2000" b="0" i="0" smtClean="0">
                          <a:latin typeface="Cambria Math" panose="02040503050406030204" pitchFamily="18" charset="0"/>
                          <a:ea typeface="Roboto" panose="02000000000000000000" pitchFamily="2" charset="0"/>
                        </a:rPr>
                        <m:t>ran</m:t>
                      </m:r>
                      <m:d>
                        <m:dPr>
                          <m:ctrlPr>
                            <a:rPr lang="es-MX" sz="2000" i="1">
                              <a:latin typeface="Cambria Math" panose="02040503050406030204" pitchFamily="18" charset="0"/>
                              <a:ea typeface="Roboto" panose="02000000000000000000" pitchFamily="2" charset="0"/>
                            </a:rPr>
                          </m:ctrlPr>
                        </m:dPr>
                        <m:e>
                          <m:sSup>
                            <m:sSupPr>
                              <m:ctrlPr>
                                <a:rPr lang="es-MX" sz="2000" i="1">
                                  <a:latin typeface="Cambria Math" panose="02040503050406030204" pitchFamily="18" charset="0"/>
                                  <a:ea typeface="Roboto" panose="02000000000000000000" pitchFamily="2" charset="0"/>
                                </a:rPr>
                              </m:ctrlPr>
                            </m:sSupPr>
                            <m:e>
                              <m:r>
                                <a:rPr lang="es-MX" sz="2000" i="1">
                                  <a:latin typeface="Cambria Math" panose="02040503050406030204" pitchFamily="18" charset="0"/>
                                  <a:ea typeface="Roboto" panose="02000000000000000000" pitchFamily="2" charset="0"/>
                                </a:rPr>
                                <m:t>𝑅</m:t>
                              </m:r>
                            </m:e>
                            <m:sup>
                              <m:r>
                                <a:rPr lang="es-MX" sz="2000" i="1">
                                  <a:latin typeface="Cambria Math" panose="02040503050406030204" pitchFamily="18" charset="0"/>
                                  <a:ea typeface="Roboto" panose="02000000000000000000" pitchFamily="2" charset="0"/>
                                </a:rPr>
                                <m:t>−1</m:t>
                              </m:r>
                            </m:sup>
                          </m:sSup>
                        </m:e>
                      </m:d>
                      <m:r>
                        <a:rPr lang="es-MX" sz="2000" i="1">
                          <a:latin typeface="Cambria Math" panose="02040503050406030204" pitchFamily="18" charset="0"/>
                          <a:ea typeface="Roboto" panose="02000000000000000000" pitchFamily="2" charset="0"/>
                        </a:rPr>
                        <m:t>=</m:t>
                      </m:r>
                      <m:r>
                        <m:rPr>
                          <m:sty m:val="p"/>
                        </m:rPr>
                        <a:rPr lang="es-MX" sz="2000" b="0" i="0" smtClean="0">
                          <a:latin typeface="Cambria Math" panose="02040503050406030204" pitchFamily="18" charset="0"/>
                          <a:ea typeface="Roboto" panose="02000000000000000000" pitchFamily="2" charset="0"/>
                        </a:rPr>
                        <m:t>dom</m:t>
                      </m:r>
                      <m:d>
                        <m:dPr>
                          <m:ctrlPr>
                            <a:rPr lang="es-MX" sz="2000" i="1">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𝑅</m:t>
                          </m:r>
                        </m:e>
                      </m:d>
                    </m:oMath>
                  </m:oMathPara>
                </a14:m>
                <a:endParaRPr lang="es-CO" sz="2000" dirty="0">
                  <a:latin typeface="+mj-lt"/>
                </a:endParaRPr>
              </a:p>
            </p:txBody>
          </p:sp>
        </mc:Choice>
        <mc:Fallback xmlns="">
          <p:sp>
            <p:nvSpPr>
              <p:cNvPr id="10" name="CuadroTexto 9">
                <a:extLst>
                  <a:ext uri="{FF2B5EF4-FFF2-40B4-BE49-F238E27FC236}">
                    <a16:creationId xmlns:a16="http://schemas.microsoft.com/office/drawing/2014/main" id="{7DCD8CCC-5952-4640-A1FB-2DF1629DE5C9}"/>
                  </a:ext>
                </a:extLst>
              </p:cNvPr>
              <p:cNvSpPr txBox="1">
                <a:spLocks noRot="1" noChangeAspect="1" noMove="1" noResize="1" noEditPoints="1" noAdjustHandles="1" noChangeArrowheads="1" noChangeShapeType="1" noTextEdit="1"/>
              </p:cNvSpPr>
              <p:nvPr/>
            </p:nvSpPr>
            <p:spPr>
              <a:xfrm>
                <a:off x="3461561" y="5407003"/>
                <a:ext cx="5184048" cy="307777"/>
              </a:xfrm>
              <a:prstGeom prst="rect">
                <a:avLst/>
              </a:prstGeom>
              <a:blipFill>
                <a:blip r:embed="rId5"/>
                <a:stretch>
                  <a:fillRect l="-706" b="-8000"/>
                </a:stretch>
              </a:blipFill>
            </p:spPr>
            <p:txBody>
              <a:bodyPr/>
              <a:lstStyle/>
              <a:p>
                <a:r>
                  <a:rPr lang="es-CO">
                    <a:noFill/>
                  </a:rPr>
                  <a:t> </a:t>
                </a:r>
              </a:p>
            </p:txBody>
          </p:sp>
        </mc:Fallback>
      </mc:AlternateContent>
    </p:spTree>
    <p:extLst>
      <p:ext uri="{BB962C8B-B14F-4D97-AF65-F5344CB8AC3E}">
        <p14:creationId xmlns:p14="http://schemas.microsoft.com/office/powerpoint/2010/main" val="439967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209933" y="157890"/>
            <a:ext cx="8645463" cy="750723"/>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298624" y="757857"/>
            <a:ext cx="11192092"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 7</a:t>
            </a: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134111" y="1285884"/>
                <a:ext cx="11552650" cy="213303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Suponga que tiene los siguientes conjuntos y la relación </a:t>
                </a:r>
                <a14:m>
                  <m:oMath xmlns:m="http://schemas.openxmlformats.org/officeDocument/2006/math">
                    <m:r>
                      <a:rPr lang="es-MX" sz="2000" b="0" i="1" smtClean="0">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dada por:</a:t>
                </a:r>
              </a:p>
              <a:p>
                <a:r>
                  <a:rPr lang="es-MX" sz="2000" b="1" dirty="0">
                    <a:solidFill>
                      <a:schemeClr val="tx1"/>
                    </a:solidFill>
                    <a:latin typeface="+mn-lt"/>
                    <a:ea typeface="Roboto" panose="02000000000000000000" pitchFamily="2" charset="0"/>
                  </a:rPr>
                  <a:t>Conjunto de partida</a:t>
                </a:r>
                <a:r>
                  <a:rPr lang="es-MX" sz="2000" b="0" dirty="0">
                    <a:solidFill>
                      <a:schemeClr val="tx1"/>
                    </a:solidFill>
                    <a:latin typeface="+mn-lt"/>
                    <a:ea typeface="Roboto" panose="02000000000000000000" pitchFamily="2" charset="0"/>
                  </a:rPr>
                  <a:t>: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1,2,3,4</m:t>
                        </m:r>
                      </m:e>
                    </m:d>
                  </m:oMath>
                </a14:m>
                <a:endParaRPr lang="es-MX" sz="2000" dirty="0">
                  <a:latin typeface="+mn-lt"/>
                  <a:ea typeface="Roboto" panose="02000000000000000000" pitchFamily="2" charset="0"/>
                </a:endParaRPr>
              </a:p>
              <a:p>
                <a:r>
                  <a:rPr lang="es-MX" sz="2000" b="1" dirty="0">
                    <a:solidFill>
                      <a:schemeClr val="tx1"/>
                    </a:solidFill>
                    <a:latin typeface="+mn-lt"/>
                    <a:ea typeface="Roboto" panose="02000000000000000000" pitchFamily="2" charset="0"/>
                  </a:rPr>
                  <a:t>Conjunto de llegada</a:t>
                </a:r>
                <a:r>
                  <a:rPr lang="es-MX" sz="2000" dirty="0">
                    <a:solidFill>
                      <a:schemeClr val="tx1"/>
                    </a:solidFill>
                    <a:latin typeface="+mn-lt"/>
                    <a:ea typeface="Roboto" panose="02000000000000000000" pitchFamily="2" charset="0"/>
                  </a:rPr>
                  <a:t>: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𝐵</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𝑎</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𝑏</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𝑐</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𝑑</m:t>
                        </m:r>
                      </m:e>
                    </m:d>
                  </m:oMath>
                </a14:m>
                <a:endParaRPr lang="es-MX" sz="2000" dirty="0">
                  <a:latin typeface="+mn-lt"/>
                  <a:ea typeface="Roboto" panose="02000000000000000000" pitchFamily="2" charset="0"/>
                </a:endParaRPr>
              </a:p>
              <a:p>
                <a:r>
                  <a:rPr lang="es-MX" sz="2000" b="1" dirty="0">
                    <a:latin typeface="+mn-lt"/>
                    <a:ea typeface="Roboto" panose="02000000000000000000" pitchFamily="2" charset="0"/>
                  </a:rPr>
                  <a:t>Relación</a:t>
                </a:r>
                <a:r>
                  <a:rPr lang="es-MX" sz="2000" dirty="0">
                    <a:latin typeface="+mn-lt"/>
                    <a:ea typeface="Roboto" panose="02000000000000000000" pitchFamily="2" charset="0"/>
                  </a:rPr>
                  <a:t>: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𝑅</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d>
                          <m:dPr>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1,</m:t>
                            </m:r>
                            <m:r>
                              <a:rPr lang="es-MX" sz="2000" b="0" i="1" smtClean="0">
                                <a:solidFill>
                                  <a:schemeClr val="tx1"/>
                                </a:solidFill>
                                <a:latin typeface="Cambria Math" panose="02040503050406030204" pitchFamily="18" charset="0"/>
                                <a:ea typeface="Roboto" panose="02000000000000000000" pitchFamily="2" charset="0"/>
                              </a:rPr>
                              <m:t>𝑎</m:t>
                            </m:r>
                          </m:e>
                        </m:d>
                        <m:r>
                          <a:rPr lang="es-MX" sz="2000" b="0" i="1" smtClean="0">
                            <a:solidFill>
                              <a:schemeClr val="tx1"/>
                            </a:solidFill>
                            <a:latin typeface="Cambria Math" panose="02040503050406030204" pitchFamily="18" charset="0"/>
                            <a:ea typeface="Roboto" panose="02000000000000000000" pitchFamily="2" charset="0"/>
                          </a:rPr>
                          <m:t>,</m:t>
                        </m:r>
                        <m:d>
                          <m:dPr>
                            <m:ctrlPr>
                              <a:rPr lang="es-MX" sz="2000" i="1">
                                <a:solidFill>
                                  <a:schemeClr val="tx1"/>
                                </a:solidFill>
                                <a:latin typeface="Cambria Math" panose="02040503050406030204" pitchFamily="18" charset="0"/>
                                <a:ea typeface="Roboto" panose="02000000000000000000" pitchFamily="2" charset="0"/>
                              </a:rPr>
                            </m:ctrlPr>
                          </m:dPr>
                          <m:e>
                            <m:r>
                              <a:rPr lang="es-MX" sz="2000" i="1">
                                <a:solidFill>
                                  <a:schemeClr val="tx1"/>
                                </a:solidFill>
                                <a:latin typeface="Cambria Math" panose="02040503050406030204" pitchFamily="18" charset="0"/>
                                <a:ea typeface="Roboto" panose="02000000000000000000" pitchFamily="2" charset="0"/>
                              </a:rPr>
                              <m:t>1,</m:t>
                            </m:r>
                            <m:r>
                              <a:rPr lang="es-MX" sz="2000" b="0" i="1" smtClean="0">
                                <a:solidFill>
                                  <a:schemeClr val="tx1"/>
                                </a:solidFill>
                                <a:latin typeface="Cambria Math" panose="02040503050406030204" pitchFamily="18" charset="0"/>
                                <a:ea typeface="Roboto" panose="02000000000000000000" pitchFamily="2" charset="0"/>
                              </a:rPr>
                              <m:t>𝑐</m:t>
                            </m:r>
                          </m:e>
                        </m:d>
                        <m:r>
                          <a:rPr lang="es-MX" sz="2000" b="0" i="1" smtClean="0">
                            <a:solidFill>
                              <a:schemeClr val="tx1"/>
                            </a:solidFill>
                            <a:latin typeface="Cambria Math" panose="02040503050406030204" pitchFamily="18" charset="0"/>
                            <a:ea typeface="Roboto" panose="02000000000000000000" pitchFamily="2" charset="0"/>
                          </a:rPr>
                          <m:t>,</m:t>
                        </m:r>
                        <m:d>
                          <m:dPr>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2</m:t>
                            </m:r>
                            <m:r>
                              <a:rPr lang="es-MX" sz="2000" i="1">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𝑏</m:t>
                            </m:r>
                          </m:e>
                        </m:d>
                        <m:r>
                          <a:rPr lang="es-MX" sz="2000" b="0" i="1" smtClean="0">
                            <a:solidFill>
                              <a:schemeClr val="tx1"/>
                            </a:solidFill>
                            <a:latin typeface="Cambria Math" panose="02040503050406030204" pitchFamily="18" charset="0"/>
                            <a:ea typeface="Roboto" panose="02000000000000000000" pitchFamily="2" charset="0"/>
                          </a:rPr>
                          <m:t>,</m:t>
                        </m:r>
                        <m:d>
                          <m:dPr>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4</m:t>
                            </m:r>
                            <m:r>
                              <a:rPr lang="es-MX" sz="2000" i="1">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𝑏</m:t>
                            </m:r>
                          </m:e>
                        </m:d>
                      </m:e>
                    </m:d>
                  </m:oMath>
                </a14:m>
                <a:endParaRPr lang="es-MX" sz="2000" dirty="0">
                  <a:latin typeface="+mn-lt"/>
                  <a:ea typeface="Roboto" panose="02000000000000000000" pitchFamily="2" charset="0"/>
                </a:endParaRPr>
              </a:p>
              <a:p>
                <a:pPr marL="127000" indent="0">
                  <a:buNone/>
                </a:pPr>
                <a:r>
                  <a:rPr lang="es-MX" sz="2000" dirty="0">
                    <a:latin typeface="+mn-lt"/>
                    <a:ea typeface="Roboto" panose="02000000000000000000" pitchFamily="2" charset="0"/>
                  </a:rPr>
                  <a:t>Determine la relación inversa y obtenga el dominio y rango de esta:</a:t>
                </a:r>
              </a:p>
              <a:p>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134111" y="1285884"/>
                <a:ext cx="11552650" cy="2133032"/>
              </a:xfrm>
              <a:prstGeom prst="rect">
                <a:avLst/>
              </a:prstGeom>
              <a:blipFill>
                <a:blip r:embed="rId3"/>
                <a:stretch>
                  <a:fillRect b="-3429"/>
                </a:stretch>
              </a:blipFill>
              <a:ln>
                <a:noFill/>
              </a:ln>
            </p:spPr>
            <p:txBody>
              <a:bodyPr/>
              <a:lstStyle/>
              <a:p>
                <a:r>
                  <a:rPr lang="es-CO">
                    <a:noFill/>
                  </a:rPr>
                  <a:t> </a:t>
                </a:r>
              </a:p>
            </p:txBody>
          </p:sp>
        </mc:Fallback>
      </mc:AlternateContent>
      <p:pic>
        <p:nvPicPr>
          <p:cNvPr id="5" name="Imagen 4">
            <a:extLst>
              <a:ext uri="{FF2B5EF4-FFF2-40B4-BE49-F238E27FC236}">
                <a16:creationId xmlns:a16="http://schemas.microsoft.com/office/drawing/2014/main" id="{159289A4-86D6-44DF-BE17-D680DAE8D114}"/>
              </a:ext>
            </a:extLst>
          </p:cNvPr>
          <p:cNvPicPr>
            <a:picLocks noChangeAspect="1"/>
          </p:cNvPicPr>
          <p:nvPr/>
        </p:nvPicPr>
        <p:blipFill>
          <a:blip r:embed="rId4"/>
          <a:stretch>
            <a:fillRect/>
          </a:stretch>
        </p:blipFill>
        <p:spPr>
          <a:xfrm>
            <a:off x="3895978" y="3665268"/>
            <a:ext cx="2413697" cy="2426674"/>
          </a:xfrm>
          <a:prstGeom prst="rect">
            <a:avLst/>
          </a:prstGeom>
        </p:spPr>
      </p:pic>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F8182197-253F-4320-B2A3-60D37852EC52}"/>
                  </a:ext>
                </a:extLst>
              </p:cNvPr>
              <p:cNvSpPr txBox="1"/>
              <p:nvPr/>
            </p:nvSpPr>
            <p:spPr>
              <a:xfrm>
                <a:off x="1320031" y="6374394"/>
                <a:ext cx="47054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s-MX" sz="1800" b="0" i="0" smtClean="0">
                          <a:solidFill>
                            <a:schemeClr val="tx1"/>
                          </a:solidFill>
                          <a:latin typeface="Cambria Math" panose="02040503050406030204" pitchFamily="18" charset="0"/>
                        </a:rPr>
                        <m:t>dom</m:t>
                      </m:r>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𝑅</m:t>
                          </m:r>
                        </m:e>
                      </m:d>
                      <m:r>
                        <a:rPr lang="es-MX" sz="1800" b="0" i="1" smtClean="0">
                          <a:solidFill>
                            <a:schemeClr val="tx1"/>
                          </a:solidFill>
                          <a:latin typeface="Cambria Math" panose="02040503050406030204" pitchFamily="18"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1,2,4</m:t>
                          </m:r>
                        </m:e>
                      </m:d>
                      <m:r>
                        <a:rPr lang="es-MX" sz="1800" b="0" i="1" smtClean="0">
                          <a:latin typeface="Cambria Math" panose="02040503050406030204" pitchFamily="18" charset="0"/>
                          <a:ea typeface="Roboto" panose="02000000000000000000" pitchFamily="2" charset="0"/>
                        </a:rPr>
                        <m:t>,</m:t>
                      </m:r>
                      <m:r>
                        <m:rPr>
                          <m:lit/>
                        </m:rPr>
                        <a:rPr lang="es-MX" sz="1800" b="0" i="0" smtClean="0">
                          <a:latin typeface="Cambria Math" panose="02040503050406030204" pitchFamily="18" charset="0"/>
                          <a:ea typeface="Roboto" panose="02000000000000000000" pitchFamily="2" charset="0"/>
                        </a:rPr>
                        <m:t>  </m:t>
                      </m:r>
                      <m:r>
                        <m:rPr>
                          <m:sty m:val="p"/>
                        </m:rPr>
                        <a:rPr lang="es-MX" sz="1800" b="0" i="0" smtClean="0">
                          <a:solidFill>
                            <a:schemeClr val="tx1"/>
                          </a:solidFill>
                          <a:latin typeface="Cambria Math" panose="02040503050406030204" pitchFamily="18" charset="0"/>
                        </a:rPr>
                        <m:t>ran</m:t>
                      </m:r>
                      <m:d>
                        <m:dPr>
                          <m:ctrlPr>
                            <a:rPr lang="es-MX" sz="1800" i="1">
                              <a:solidFill>
                                <a:schemeClr val="tx1"/>
                              </a:solidFill>
                              <a:latin typeface="Cambria Math" panose="02040503050406030204" pitchFamily="18" charset="0"/>
                            </a:rPr>
                          </m:ctrlPr>
                        </m:dPr>
                        <m:e>
                          <m:r>
                            <a:rPr lang="es-MX" sz="1800" i="1">
                              <a:solidFill>
                                <a:schemeClr val="tx1"/>
                              </a:solidFill>
                              <a:latin typeface="Cambria Math" panose="02040503050406030204" pitchFamily="18" charset="0"/>
                            </a:rPr>
                            <m:t>𝑅</m:t>
                          </m:r>
                        </m:e>
                      </m:d>
                      <m:r>
                        <a:rPr lang="es-MX" sz="1800" i="1">
                          <a:solidFill>
                            <a:schemeClr val="tx1"/>
                          </a:solidFill>
                          <a:latin typeface="Cambria Math" panose="02040503050406030204" pitchFamily="18" charset="0"/>
                        </a:rPr>
                        <m:t>=</m:t>
                      </m:r>
                      <m:d>
                        <m:dPr>
                          <m:begChr m:val="{"/>
                          <m:endChr m:val="}"/>
                          <m:ctrlPr>
                            <a:rPr lang="es-MX" sz="1800" i="1">
                              <a:latin typeface="Cambria Math" panose="02040503050406030204" pitchFamily="18" charset="0"/>
                              <a:ea typeface="Roboto" panose="02000000000000000000" pitchFamily="2" charset="0"/>
                            </a:rPr>
                          </m:ctrlPr>
                        </m:dPr>
                        <m:e>
                          <m:r>
                            <a:rPr lang="es-MX" sz="1800" i="1">
                              <a:latin typeface="Cambria Math" panose="02040503050406030204" pitchFamily="18" charset="0"/>
                              <a:ea typeface="Roboto" panose="02000000000000000000" pitchFamily="2" charset="0"/>
                            </a:rPr>
                            <m:t>𝑎</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𝑏</m:t>
                          </m:r>
                          <m:r>
                            <a:rPr lang="es-MX" sz="1800" i="1">
                              <a:latin typeface="Cambria Math" panose="02040503050406030204" pitchFamily="18" charset="0"/>
                              <a:ea typeface="Roboto" panose="02000000000000000000" pitchFamily="2" charset="0"/>
                            </a:rPr>
                            <m:t>,</m:t>
                          </m:r>
                          <m:r>
                            <a:rPr lang="es-MX" sz="1800" i="1">
                              <a:latin typeface="Cambria Math" panose="02040503050406030204" pitchFamily="18" charset="0"/>
                              <a:ea typeface="Roboto" panose="02000000000000000000" pitchFamily="2" charset="0"/>
                            </a:rPr>
                            <m:t>𝑐</m:t>
                          </m:r>
                        </m:e>
                      </m:d>
                    </m:oMath>
                  </m:oMathPara>
                </a14:m>
                <a:endParaRPr lang="es-CO" sz="1800" dirty="0">
                  <a:solidFill>
                    <a:schemeClr val="tx1"/>
                  </a:solidFill>
                </a:endParaRPr>
              </a:p>
            </p:txBody>
          </p:sp>
        </mc:Choice>
        <mc:Fallback xmlns="">
          <p:sp>
            <p:nvSpPr>
              <p:cNvPr id="50" name="CuadroTexto 49">
                <a:extLst>
                  <a:ext uri="{FF2B5EF4-FFF2-40B4-BE49-F238E27FC236}">
                    <a16:creationId xmlns:a16="http://schemas.microsoft.com/office/drawing/2014/main" id="{F8182197-253F-4320-B2A3-60D37852EC52}"/>
                  </a:ext>
                </a:extLst>
              </p:cNvPr>
              <p:cNvSpPr txBox="1">
                <a:spLocks noRot="1" noChangeAspect="1" noMove="1" noResize="1" noEditPoints="1" noAdjustHandles="1" noChangeArrowheads="1" noChangeShapeType="1" noTextEdit="1"/>
              </p:cNvSpPr>
              <p:nvPr/>
            </p:nvSpPr>
            <p:spPr>
              <a:xfrm>
                <a:off x="1320031" y="6374394"/>
                <a:ext cx="4705410" cy="369332"/>
              </a:xfrm>
              <a:prstGeom prst="rect">
                <a:avLst/>
              </a:prstGeom>
              <a:blipFill>
                <a:blip r:embed="rId5"/>
                <a:stretch>
                  <a:fillRect/>
                </a:stretch>
              </a:blipFill>
            </p:spPr>
            <p:txBody>
              <a:bodyPr/>
              <a:lstStyle/>
              <a:p>
                <a:r>
                  <a:rPr lang="es-CO">
                    <a:noFill/>
                  </a:rPr>
                  <a:t> </a:t>
                </a:r>
              </a:p>
            </p:txBody>
          </p:sp>
        </mc:Fallback>
      </mc:AlternateContent>
      <p:pic>
        <p:nvPicPr>
          <p:cNvPr id="11" name="Imagen 10">
            <a:extLst>
              <a:ext uri="{FF2B5EF4-FFF2-40B4-BE49-F238E27FC236}">
                <a16:creationId xmlns:a16="http://schemas.microsoft.com/office/drawing/2014/main" id="{D08C274A-1B0F-40B8-A7EA-9AF7C72273A2}"/>
              </a:ext>
            </a:extLst>
          </p:cNvPr>
          <p:cNvPicPr>
            <a:picLocks noChangeAspect="1"/>
          </p:cNvPicPr>
          <p:nvPr/>
        </p:nvPicPr>
        <p:blipFill>
          <a:blip r:embed="rId6"/>
          <a:stretch>
            <a:fillRect/>
          </a:stretch>
        </p:blipFill>
        <p:spPr>
          <a:xfrm>
            <a:off x="9643088" y="3691974"/>
            <a:ext cx="2310129" cy="2272464"/>
          </a:xfrm>
          <a:prstGeom prst="rect">
            <a:avLst/>
          </a:prstGeom>
        </p:spPr>
      </p:pic>
      <mc:AlternateContent xmlns:mc="http://schemas.openxmlformats.org/markup-compatibility/2006" xmlns:a14="http://schemas.microsoft.com/office/drawing/2010/main">
        <mc:Choice Requires="a14">
          <p:sp>
            <p:nvSpPr>
              <p:cNvPr id="65" name="CuadroTexto 64">
                <a:extLst>
                  <a:ext uri="{FF2B5EF4-FFF2-40B4-BE49-F238E27FC236}">
                    <a16:creationId xmlns:a16="http://schemas.microsoft.com/office/drawing/2014/main" id="{19EBEB7F-0E07-4D9D-8065-2528548DE95B}"/>
                  </a:ext>
                </a:extLst>
              </p:cNvPr>
              <p:cNvSpPr txBox="1"/>
              <p:nvPr/>
            </p:nvSpPr>
            <p:spPr>
              <a:xfrm>
                <a:off x="6446948" y="6374374"/>
                <a:ext cx="5329696" cy="369332"/>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r>
                        <m:rPr>
                          <m:sty m:val="p"/>
                        </m:rPr>
                        <a:rPr lang="es-MX" sz="1800" b="0" i="0" smtClean="0">
                          <a:solidFill>
                            <a:schemeClr val="tx1"/>
                          </a:solidFill>
                          <a:latin typeface="Cambria Math" panose="02040503050406030204" pitchFamily="18" charset="0"/>
                        </a:rPr>
                        <m:t>dom</m:t>
                      </m:r>
                      <m:d>
                        <m:dPr>
                          <m:ctrlPr>
                            <a:rPr lang="es-MX" sz="1800" b="0" i="1" smtClean="0">
                              <a:solidFill>
                                <a:schemeClr val="tx1"/>
                              </a:solidFill>
                              <a:latin typeface="Cambria Math" panose="02040503050406030204" pitchFamily="18" charset="0"/>
                            </a:rPr>
                          </m:ctrlPr>
                        </m:dPr>
                        <m:e>
                          <m:sSup>
                            <m:sSupPr>
                              <m:ctrlPr>
                                <a:rPr lang="es-MX" sz="1800" b="0" i="1" smtClean="0">
                                  <a:solidFill>
                                    <a:schemeClr val="tx1"/>
                                  </a:solidFill>
                                  <a:latin typeface="Cambria Math" panose="02040503050406030204" pitchFamily="18" charset="0"/>
                                </a:rPr>
                              </m:ctrlPr>
                            </m:sSupPr>
                            <m:e>
                              <m:r>
                                <a:rPr lang="es-MX" sz="1800" b="0" i="1" smtClean="0">
                                  <a:solidFill>
                                    <a:schemeClr val="tx1"/>
                                  </a:solidFill>
                                  <a:latin typeface="Cambria Math" panose="02040503050406030204" pitchFamily="18" charset="0"/>
                                </a:rPr>
                                <m:t>𝑅</m:t>
                              </m:r>
                            </m:e>
                            <m:sup>
                              <m:r>
                                <a:rPr lang="es-MX" sz="1800" b="0" i="1" smtClean="0">
                                  <a:solidFill>
                                    <a:schemeClr val="tx1"/>
                                  </a:solidFill>
                                  <a:latin typeface="Cambria Math" panose="02040503050406030204" pitchFamily="18" charset="0"/>
                                </a:rPr>
                                <m:t>−1</m:t>
                              </m:r>
                            </m:sup>
                          </m:sSup>
                        </m:e>
                      </m:d>
                      <m:r>
                        <a:rPr lang="es-MX" sz="1800" b="0" i="1" smtClean="0">
                          <a:solidFill>
                            <a:schemeClr val="tx1"/>
                          </a:solidFill>
                          <a:latin typeface="Cambria Math" panose="02040503050406030204" pitchFamily="18" charset="0"/>
                        </a:rPr>
                        <m:t>=</m:t>
                      </m:r>
                      <m:d>
                        <m:dPr>
                          <m:begChr m:val="{"/>
                          <m:endChr m:val="}"/>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𝑎</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𝑏</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𝑐</m:t>
                          </m:r>
                        </m:e>
                      </m:d>
                      <m:r>
                        <a:rPr lang="es-MX" sz="1800" b="0" i="1" smtClean="0">
                          <a:latin typeface="Cambria Math" panose="02040503050406030204" pitchFamily="18" charset="0"/>
                          <a:ea typeface="Roboto" panose="02000000000000000000" pitchFamily="2" charset="0"/>
                        </a:rPr>
                        <m:t>,</m:t>
                      </m:r>
                      <m:r>
                        <m:rPr>
                          <m:lit/>
                        </m:rPr>
                        <a:rPr lang="es-MX" sz="1800" b="0" i="0" smtClean="0">
                          <a:latin typeface="Cambria Math" panose="02040503050406030204" pitchFamily="18" charset="0"/>
                          <a:ea typeface="Roboto" panose="02000000000000000000" pitchFamily="2" charset="0"/>
                        </a:rPr>
                        <m:t>  </m:t>
                      </m:r>
                      <m:r>
                        <m:rPr>
                          <m:sty m:val="p"/>
                        </m:rPr>
                        <a:rPr lang="es-MX" sz="1800" b="0" i="0" smtClean="0">
                          <a:solidFill>
                            <a:schemeClr val="tx1"/>
                          </a:solidFill>
                          <a:latin typeface="Cambria Math" panose="02040503050406030204" pitchFamily="18" charset="0"/>
                        </a:rPr>
                        <m:t>ran</m:t>
                      </m:r>
                      <m:d>
                        <m:dPr>
                          <m:ctrlPr>
                            <a:rPr lang="es-MX" sz="1800" i="1">
                              <a:solidFill>
                                <a:schemeClr val="tx1"/>
                              </a:solidFill>
                              <a:latin typeface="Cambria Math" panose="02040503050406030204" pitchFamily="18" charset="0"/>
                            </a:rPr>
                          </m:ctrlPr>
                        </m:dPr>
                        <m:e>
                          <m:sSup>
                            <m:sSupPr>
                              <m:ctrlPr>
                                <a:rPr lang="es-MX" sz="1800" b="0" i="1" smtClean="0">
                                  <a:solidFill>
                                    <a:schemeClr val="tx1"/>
                                  </a:solidFill>
                                  <a:latin typeface="Cambria Math" panose="02040503050406030204" pitchFamily="18" charset="0"/>
                                </a:rPr>
                              </m:ctrlPr>
                            </m:sSupPr>
                            <m:e>
                              <m:r>
                                <a:rPr lang="es-MX" sz="1800" i="1">
                                  <a:solidFill>
                                    <a:schemeClr val="tx1"/>
                                  </a:solidFill>
                                  <a:latin typeface="Cambria Math" panose="02040503050406030204" pitchFamily="18" charset="0"/>
                                </a:rPr>
                                <m:t>𝑅</m:t>
                              </m:r>
                            </m:e>
                            <m:sup>
                              <m:r>
                                <a:rPr lang="es-MX" sz="1800" b="0" i="1" smtClean="0">
                                  <a:solidFill>
                                    <a:schemeClr val="tx1"/>
                                  </a:solidFill>
                                  <a:latin typeface="Cambria Math" panose="02040503050406030204" pitchFamily="18" charset="0"/>
                                </a:rPr>
                                <m:t>−1</m:t>
                              </m:r>
                            </m:sup>
                          </m:sSup>
                        </m:e>
                      </m:d>
                      <m:r>
                        <a:rPr lang="es-MX" sz="1800" i="1">
                          <a:solidFill>
                            <a:schemeClr val="tx1"/>
                          </a:solidFill>
                          <a:latin typeface="Cambria Math" panose="02040503050406030204" pitchFamily="18" charset="0"/>
                        </a:rPr>
                        <m:t>=</m:t>
                      </m:r>
                      <m:d>
                        <m:dPr>
                          <m:begChr m:val="{"/>
                          <m:endChr m:val="}"/>
                          <m:ctrlPr>
                            <a:rPr lang="es-MX" sz="1800" i="1">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1</m:t>
                          </m:r>
                          <m:r>
                            <a:rPr lang="es-MX" sz="1800" i="1">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2</m:t>
                          </m:r>
                          <m:r>
                            <a:rPr lang="es-MX" sz="1800" i="1">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4</m:t>
                          </m:r>
                        </m:e>
                      </m:d>
                    </m:oMath>
                  </m:oMathPara>
                </a14:m>
                <a:endParaRPr lang="es-CO" sz="1800" dirty="0">
                  <a:solidFill>
                    <a:schemeClr val="tx1"/>
                  </a:solidFill>
                </a:endParaRPr>
              </a:p>
            </p:txBody>
          </p:sp>
        </mc:Choice>
        <mc:Fallback xmlns="">
          <p:sp>
            <p:nvSpPr>
              <p:cNvPr id="65" name="CuadroTexto 64">
                <a:extLst>
                  <a:ext uri="{FF2B5EF4-FFF2-40B4-BE49-F238E27FC236}">
                    <a16:creationId xmlns:a16="http://schemas.microsoft.com/office/drawing/2014/main" id="{19EBEB7F-0E07-4D9D-8065-2528548DE95B}"/>
                  </a:ext>
                </a:extLst>
              </p:cNvPr>
              <p:cNvSpPr txBox="1">
                <a:spLocks noRot="1" noChangeAspect="1" noMove="1" noResize="1" noEditPoints="1" noAdjustHandles="1" noChangeArrowheads="1" noChangeShapeType="1" noTextEdit="1"/>
              </p:cNvSpPr>
              <p:nvPr/>
            </p:nvSpPr>
            <p:spPr>
              <a:xfrm>
                <a:off x="6446948" y="6374374"/>
                <a:ext cx="5329696" cy="369332"/>
              </a:xfrm>
              <a:prstGeom prst="rect">
                <a:avLst/>
              </a:prstGeom>
              <a:blipFill>
                <a:blip r:embed="rId7"/>
                <a:stretch>
                  <a:fillRect/>
                </a:stretch>
              </a:blipFill>
            </p:spPr>
            <p:txBody>
              <a:bodyPr/>
              <a:lstStyle/>
              <a:p>
                <a:r>
                  <a:rPr lang="es-CO">
                    <a:noFill/>
                  </a:rPr>
                  <a:t> </a:t>
                </a:r>
              </a:p>
            </p:txBody>
          </p:sp>
        </mc:Fallback>
      </mc:AlternateContent>
      <p:grpSp>
        <p:nvGrpSpPr>
          <p:cNvPr id="17" name="Grupo 16">
            <a:extLst>
              <a:ext uri="{FF2B5EF4-FFF2-40B4-BE49-F238E27FC236}">
                <a16:creationId xmlns:a16="http://schemas.microsoft.com/office/drawing/2014/main" id="{10FB09B2-094A-4723-8565-3D26F683247C}"/>
              </a:ext>
            </a:extLst>
          </p:cNvPr>
          <p:cNvGrpSpPr/>
          <p:nvPr/>
        </p:nvGrpSpPr>
        <p:grpSpPr>
          <a:xfrm>
            <a:off x="1069050" y="3422735"/>
            <a:ext cx="2616451" cy="3059822"/>
            <a:chOff x="1069050" y="3403685"/>
            <a:chExt cx="2616451" cy="3059822"/>
          </a:xfrm>
        </p:grpSpPr>
        <p:grpSp>
          <p:nvGrpSpPr>
            <p:cNvPr id="35" name="Grupo 34">
              <a:extLst>
                <a:ext uri="{FF2B5EF4-FFF2-40B4-BE49-F238E27FC236}">
                  <a16:creationId xmlns:a16="http://schemas.microsoft.com/office/drawing/2014/main" id="{168564B5-4A60-40C4-BA45-8FE889CFFAE6}"/>
                </a:ext>
              </a:extLst>
            </p:cNvPr>
            <p:cNvGrpSpPr/>
            <p:nvPr/>
          </p:nvGrpSpPr>
          <p:grpSpPr>
            <a:xfrm>
              <a:off x="1069050" y="3666490"/>
              <a:ext cx="2616451" cy="2797017"/>
              <a:chOff x="1853571" y="3122895"/>
              <a:chExt cx="2616451" cy="2797017"/>
            </a:xfrm>
          </p:grpSpPr>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5954CF97-1216-43BA-8B5A-4B80B9E03886}"/>
                      </a:ext>
                    </a:extLst>
                  </p:cNvPr>
                  <p:cNvSpPr txBox="1"/>
                  <p:nvPr/>
                </p:nvSpPr>
                <p:spPr>
                  <a:xfrm>
                    <a:off x="3650322" y="5519802"/>
                    <a:ext cx="70386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accent5"/>
                              </a:solidFill>
                              <a:latin typeface="Cambria Math" panose="02040503050406030204" pitchFamily="18" charset="0"/>
                            </a:rPr>
                            <m:t>𝑩</m:t>
                          </m:r>
                        </m:oMath>
                      </m:oMathPara>
                    </a14:m>
                    <a:endParaRPr lang="es-CO" sz="1600" b="1" dirty="0"/>
                  </a:p>
                </p:txBody>
              </p:sp>
            </mc:Choice>
            <mc:Fallback xmlns="">
              <p:sp>
                <p:nvSpPr>
                  <p:cNvPr id="37" name="CuadroTexto 36">
                    <a:extLst>
                      <a:ext uri="{FF2B5EF4-FFF2-40B4-BE49-F238E27FC236}">
                        <a16:creationId xmlns:a16="http://schemas.microsoft.com/office/drawing/2014/main" id="{5954CF97-1216-43BA-8B5A-4B80B9E03886}"/>
                      </a:ext>
                    </a:extLst>
                  </p:cNvPr>
                  <p:cNvSpPr txBox="1">
                    <a:spLocks noRot="1" noChangeAspect="1" noMove="1" noResize="1" noEditPoints="1" noAdjustHandles="1" noChangeArrowheads="1" noChangeShapeType="1" noTextEdit="1"/>
                  </p:cNvSpPr>
                  <p:nvPr/>
                </p:nvSpPr>
                <p:spPr>
                  <a:xfrm>
                    <a:off x="3650322" y="5519802"/>
                    <a:ext cx="703865" cy="400110"/>
                  </a:xfrm>
                  <a:prstGeom prst="rect">
                    <a:avLst/>
                  </a:prstGeom>
                  <a:blipFill>
                    <a:blip r:embed="rId8"/>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5E81E7F9-51EA-45C7-A66C-00E45C8DC528}"/>
                      </a:ext>
                    </a:extLst>
                  </p:cNvPr>
                  <p:cNvSpPr txBox="1"/>
                  <p:nvPr/>
                </p:nvSpPr>
                <p:spPr>
                  <a:xfrm>
                    <a:off x="1969404" y="5458148"/>
                    <a:ext cx="70386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accent5"/>
                              </a:solidFill>
                              <a:latin typeface="Cambria Math" panose="02040503050406030204" pitchFamily="18" charset="0"/>
                            </a:rPr>
                            <m:t>𝑨</m:t>
                          </m:r>
                        </m:oMath>
                      </m:oMathPara>
                    </a14:m>
                    <a:endParaRPr lang="es-CO" sz="1600" b="1" dirty="0"/>
                  </a:p>
                </p:txBody>
              </p:sp>
            </mc:Choice>
            <mc:Fallback xmlns="">
              <p:sp>
                <p:nvSpPr>
                  <p:cNvPr id="39" name="CuadroTexto 38">
                    <a:extLst>
                      <a:ext uri="{FF2B5EF4-FFF2-40B4-BE49-F238E27FC236}">
                        <a16:creationId xmlns:a16="http://schemas.microsoft.com/office/drawing/2014/main" id="{5E81E7F9-51EA-45C7-A66C-00E45C8DC528}"/>
                      </a:ext>
                    </a:extLst>
                  </p:cNvPr>
                  <p:cNvSpPr txBox="1">
                    <a:spLocks noRot="1" noChangeAspect="1" noMove="1" noResize="1" noEditPoints="1" noAdjustHandles="1" noChangeArrowheads="1" noChangeShapeType="1" noTextEdit="1"/>
                  </p:cNvSpPr>
                  <p:nvPr/>
                </p:nvSpPr>
                <p:spPr>
                  <a:xfrm>
                    <a:off x="1969404" y="5458148"/>
                    <a:ext cx="703865" cy="400110"/>
                  </a:xfrm>
                  <a:prstGeom prst="rect">
                    <a:avLst/>
                  </a:prstGeom>
                  <a:blipFill>
                    <a:blip r:embed="rId9"/>
                    <a:stretch>
                      <a:fillRect/>
                    </a:stretch>
                  </a:blipFill>
                </p:spPr>
                <p:txBody>
                  <a:bodyPr/>
                  <a:lstStyle/>
                  <a:p>
                    <a:r>
                      <a:rPr lang="es-CO">
                        <a:noFill/>
                      </a:rPr>
                      <a:t> </a:t>
                    </a:r>
                  </a:p>
                </p:txBody>
              </p:sp>
            </mc:Fallback>
          </mc:AlternateContent>
          <p:grpSp>
            <p:nvGrpSpPr>
              <p:cNvPr id="40" name="Grupo 39">
                <a:extLst>
                  <a:ext uri="{FF2B5EF4-FFF2-40B4-BE49-F238E27FC236}">
                    <a16:creationId xmlns:a16="http://schemas.microsoft.com/office/drawing/2014/main" id="{6213467F-ED78-4BB2-8BC2-06D1F61684FF}"/>
                  </a:ext>
                </a:extLst>
              </p:cNvPr>
              <p:cNvGrpSpPr/>
              <p:nvPr/>
            </p:nvGrpSpPr>
            <p:grpSpPr>
              <a:xfrm>
                <a:off x="3534489" y="3122896"/>
                <a:ext cx="935533" cy="2313589"/>
                <a:chOff x="2371302" y="3160111"/>
                <a:chExt cx="935533" cy="2313589"/>
              </a:xfrm>
            </p:grpSpPr>
            <p:sp>
              <p:nvSpPr>
                <p:cNvPr id="60" name="Elipse 59">
                  <a:extLst>
                    <a:ext uri="{FF2B5EF4-FFF2-40B4-BE49-F238E27FC236}">
                      <a16:creationId xmlns:a16="http://schemas.microsoft.com/office/drawing/2014/main" id="{03C1BD9A-A798-4B1C-A7EC-539B7442E48A}"/>
                    </a:ext>
                  </a:extLst>
                </p:cNvPr>
                <p:cNvSpPr/>
                <p:nvPr/>
              </p:nvSpPr>
              <p:spPr>
                <a:xfrm>
                  <a:off x="2371302" y="3160111"/>
                  <a:ext cx="935533" cy="23135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EA485442-A2D9-447C-AB26-42CEB9D26DCA}"/>
                        </a:ext>
                      </a:extLst>
                    </p:cNvPr>
                    <p:cNvSpPr txBox="1"/>
                    <p:nvPr/>
                  </p:nvSpPr>
                  <p:spPr>
                    <a:xfrm>
                      <a:off x="2608824" y="3373778"/>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𝒂</m:t>
                            </m:r>
                          </m:oMath>
                        </m:oMathPara>
                      </a14:m>
                      <a:endParaRPr lang="es-CO" sz="1600" b="1" dirty="0">
                        <a:solidFill>
                          <a:schemeClr val="tx1"/>
                        </a:solidFill>
                      </a:endParaRPr>
                    </a:p>
                  </p:txBody>
                </p:sp>
              </mc:Choice>
              <mc:Fallback xmlns="">
                <p:sp>
                  <p:nvSpPr>
                    <p:cNvPr id="61" name="CuadroTexto 60">
                      <a:extLst>
                        <a:ext uri="{FF2B5EF4-FFF2-40B4-BE49-F238E27FC236}">
                          <a16:creationId xmlns:a16="http://schemas.microsoft.com/office/drawing/2014/main" id="{EA485442-A2D9-447C-AB26-42CEB9D26DCA}"/>
                        </a:ext>
                      </a:extLst>
                    </p:cNvPr>
                    <p:cNvSpPr txBox="1">
                      <a:spLocks noRot="1" noChangeAspect="1" noMove="1" noResize="1" noEditPoints="1" noAdjustHandles="1" noChangeArrowheads="1" noChangeShapeType="1" noTextEdit="1"/>
                    </p:cNvSpPr>
                    <p:nvPr/>
                  </p:nvSpPr>
                  <p:spPr>
                    <a:xfrm>
                      <a:off x="2608824" y="3373778"/>
                      <a:ext cx="403774" cy="400110"/>
                    </a:xfrm>
                    <a:prstGeom prst="rect">
                      <a:avLst/>
                    </a:prstGeom>
                    <a:blipFill>
                      <a:blip r:embed="rId10"/>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1199F27B-C97B-4817-AD92-53AF2AC80842}"/>
                        </a:ext>
                      </a:extLst>
                    </p:cNvPr>
                    <p:cNvSpPr txBox="1"/>
                    <p:nvPr/>
                  </p:nvSpPr>
                  <p:spPr>
                    <a:xfrm>
                      <a:off x="2605645" y="3879581"/>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𝒃</m:t>
                            </m:r>
                          </m:oMath>
                        </m:oMathPara>
                      </a14:m>
                      <a:endParaRPr lang="es-CO" sz="1600" b="1" dirty="0">
                        <a:solidFill>
                          <a:schemeClr val="tx1"/>
                        </a:solidFill>
                      </a:endParaRPr>
                    </a:p>
                  </p:txBody>
                </p:sp>
              </mc:Choice>
              <mc:Fallback xmlns="">
                <p:sp>
                  <p:nvSpPr>
                    <p:cNvPr id="62" name="CuadroTexto 61">
                      <a:extLst>
                        <a:ext uri="{FF2B5EF4-FFF2-40B4-BE49-F238E27FC236}">
                          <a16:creationId xmlns:a16="http://schemas.microsoft.com/office/drawing/2014/main" id="{1199F27B-C97B-4817-AD92-53AF2AC80842}"/>
                        </a:ext>
                      </a:extLst>
                    </p:cNvPr>
                    <p:cNvSpPr txBox="1">
                      <a:spLocks noRot="1" noChangeAspect="1" noMove="1" noResize="1" noEditPoints="1" noAdjustHandles="1" noChangeArrowheads="1" noChangeShapeType="1" noTextEdit="1"/>
                    </p:cNvSpPr>
                    <p:nvPr/>
                  </p:nvSpPr>
                  <p:spPr>
                    <a:xfrm>
                      <a:off x="2605645" y="3879581"/>
                      <a:ext cx="403774" cy="400110"/>
                    </a:xfrm>
                    <a:prstGeom prst="rect">
                      <a:avLst/>
                    </a:prstGeom>
                    <a:blipFill>
                      <a:blip r:embed="rId11"/>
                      <a:stretch>
                        <a:fillRect l="-151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16E70488-277B-4AB7-8C8A-F593260779E5}"/>
                        </a:ext>
                      </a:extLst>
                    </p:cNvPr>
                    <p:cNvSpPr txBox="1"/>
                    <p:nvPr/>
                  </p:nvSpPr>
                  <p:spPr>
                    <a:xfrm>
                      <a:off x="2594379" y="4383512"/>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𝒄</m:t>
                            </m:r>
                          </m:oMath>
                        </m:oMathPara>
                      </a14:m>
                      <a:endParaRPr lang="es-CO" sz="1600" b="1" dirty="0">
                        <a:solidFill>
                          <a:schemeClr val="tx1"/>
                        </a:solidFill>
                      </a:endParaRPr>
                    </a:p>
                  </p:txBody>
                </p:sp>
              </mc:Choice>
              <mc:Fallback xmlns="">
                <p:sp>
                  <p:nvSpPr>
                    <p:cNvPr id="63" name="CuadroTexto 62">
                      <a:extLst>
                        <a:ext uri="{FF2B5EF4-FFF2-40B4-BE49-F238E27FC236}">
                          <a16:creationId xmlns:a16="http://schemas.microsoft.com/office/drawing/2014/main" id="{16E70488-277B-4AB7-8C8A-F593260779E5}"/>
                        </a:ext>
                      </a:extLst>
                    </p:cNvPr>
                    <p:cNvSpPr txBox="1">
                      <a:spLocks noRot="1" noChangeAspect="1" noMove="1" noResize="1" noEditPoints="1" noAdjustHandles="1" noChangeArrowheads="1" noChangeShapeType="1" noTextEdit="1"/>
                    </p:cNvSpPr>
                    <p:nvPr/>
                  </p:nvSpPr>
                  <p:spPr>
                    <a:xfrm>
                      <a:off x="2594379" y="4383512"/>
                      <a:ext cx="403774" cy="400110"/>
                    </a:xfrm>
                    <a:prstGeom prst="rect">
                      <a:avLst/>
                    </a:prstGeom>
                    <a:blipFill>
                      <a:blip r:embed="rId12"/>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0A7A6C35-F077-4577-B3A4-571E854D8A78}"/>
                        </a:ext>
                      </a:extLst>
                    </p:cNvPr>
                    <p:cNvSpPr txBox="1"/>
                    <p:nvPr/>
                  </p:nvSpPr>
                  <p:spPr>
                    <a:xfrm>
                      <a:off x="2603417" y="4885740"/>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𝒅</m:t>
                            </m:r>
                          </m:oMath>
                        </m:oMathPara>
                      </a14:m>
                      <a:endParaRPr lang="es-CO" sz="1600" b="1" dirty="0">
                        <a:solidFill>
                          <a:schemeClr val="tx1"/>
                        </a:solidFill>
                      </a:endParaRPr>
                    </a:p>
                  </p:txBody>
                </p:sp>
              </mc:Choice>
              <mc:Fallback xmlns="">
                <p:sp>
                  <p:nvSpPr>
                    <p:cNvPr id="64" name="CuadroTexto 63">
                      <a:extLst>
                        <a:ext uri="{FF2B5EF4-FFF2-40B4-BE49-F238E27FC236}">
                          <a16:creationId xmlns:a16="http://schemas.microsoft.com/office/drawing/2014/main" id="{0A7A6C35-F077-4577-B3A4-571E854D8A78}"/>
                        </a:ext>
                      </a:extLst>
                    </p:cNvPr>
                    <p:cNvSpPr txBox="1">
                      <a:spLocks noRot="1" noChangeAspect="1" noMove="1" noResize="1" noEditPoints="1" noAdjustHandles="1" noChangeArrowheads="1" noChangeShapeType="1" noTextEdit="1"/>
                    </p:cNvSpPr>
                    <p:nvPr/>
                  </p:nvSpPr>
                  <p:spPr>
                    <a:xfrm>
                      <a:off x="2603417" y="4885740"/>
                      <a:ext cx="403774" cy="400110"/>
                    </a:xfrm>
                    <a:prstGeom prst="rect">
                      <a:avLst/>
                    </a:prstGeom>
                    <a:blipFill>
                      <a:blip r:embed="rId13"/>
                      <a:stretch>
                        <a:fillRect/>
                      </a:stretch>
                    </a:blipFill>
                  </p:spPr>
                  <p:txBody>
                    <a:bodyPr/>
                    <a:lstStyle/>
                    <a:p>
                      <a:r>
                        <a:rPr lang="es-CO">
                          <a:noFill/>
                        </a:rPr>
                        <a:t> </a:t>
                      </a:r>
                    </a:p>
                  </p:txBody>
                </p:sp>
              </mc:Fallback>
            </mc:AlternateContent>
          </p:grpSp>
          <p:grpSp>
            <p:nvGrpSpPr>
              <p:cNvPr id="41" name="Grupo 40">
                <a:extLst>
                  <a:ext uri="{FF2B5EF4-FFF2-40B4-BE49-F238E27FC236}">
                    <a16:creationId xmlns:a16="http://schemas.microsoft.com/office/drawing/2014/main" id="{B11E30E4-1EEC-4FF3-9C29-307947B322CE}"/>
                  </a:ext>
                </a:extLst>
              </p:cNvPr>
              <p:cNvGrpSpPr/>
              <p:nvPr/>
            </p:nvGrpSpPr>
            <p:grpSpPr>
              <a:xfrm>
                <a:off x="1853571" y="3122895"/>
                <a:ext cx="935533" cy="2313589"/>
                <a:chOff x="1204578" y="3160111"/>
                <a:chExt cx="935533" cy="2313589"/>
              </a:xfrm>
            </p:grpSpPr>
            <p:sp>
              <p:nvSpPr>
                <p:cNvPr id="55" name="Elipse 54">
                  <a:extLst>
                    <a:ext uri="{FF2B5EF4-FFF2-40B4-BE49-F238E27FC236}">
                      <a16:creationId xmlns:a16="http://schemas.microsoft.com/office/drawing/2014/main" id="{40172DC1-62B5-4157-9CC2-E068565C5E63}"/>
                    </a:ext>
                  </a:extLst>
                </p:cNvPr>
                <p:cNvSpPr/>
                <p:nvPr/>
              </p:nvSpPr>
              <p:spPr>
                <a:xfrm>
                  <a:off x="1204578" y="3160111"/>
                  <a:ext cx="935533" cy="23135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621FAFC5-55C0-41B6-9E82-1883B7349289}"/>
                        </a:ext>
                      </a:extLst>
                    </p:cNvPr>
                    <p:cNvSpPr txBox="1"/>
                    <p:nvPr/>
                  </p:nvSpPr>
                  <p:spPr>
                    <a:xfrm>
                      <a:off x="1442100" y="3373778"/>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𝟏</m:t>
                            </m:r>
                          </m:oMath>
                        </m:oMathPara>
                      </a14:m>
                      <a:endParaRPr lang="es-CO" sz="1600" b="1" dirty="0">
                        <a:solidFill>
                          <a:schemeClr val="tx1"/>
                        </a:solidFill>
                      </a:endParaRPr>
                    </a:p>
                  </p:txBody>
                </p:sp>
              </mc:Choice>
              <mc:Fallback xmlns="">
                <p:sp>
                  <p:nvSpPr>
                    <p:cNvPr id="56" name="CuadroTexto 55">
                      <a:extLst>
                        <a:ext uri="{FF2B5EF4-FFF2-40B4-BE49-F238E27FC236}">
                          <a16:creationId xmlns:a16="http://schemas.microsoft.com/office/drawing/2014/main" id="{621FAFC5-55C0-41B6-9E82-1883B7349289}"/>
                        </a:ext>
                      </a:extLst>
                    </p:cNvPr>
                    <p:cNvSpPr txBox="1">
                      <a:spLocks noRot="1" noChangeAspect="1" noMove="1" noResize="1" noEditPoints="1" noAdjustHandles="1" noChangeArrowheads="1" noChangeShapeType="1" noTextEdit="1"/>
                    </p:cNvSpPr>
                    <p:nvPr/>
                  </p:nvSpPr>
                  <p:spPr>
                    <a:xfrm>
                      <a:off x="1442100" y="3373778"/>
                      <a:ext cx="403774" cy="400110"/>
                    </a:xfrm>
                    <a:prstGeom prst="rect">
                      <a:avLst/>
                    </a:prstGeom>
                    <a:blipFill>
                      <a:blip r:embed="rId1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7" name="CuadroTexto 56">
                      <a:extLst>
                        <a:ext uri="{FF2B5EF4-FFF2-40B4-BE49-F238E27FC236}">
                          <a16:creationId xmlns:a16="http://schemas.microsoft.com/office/drawing/2014/main" id="{64B90D1A-B938-4B3D-AE78-F52BF9A91F3B}"/>
                        </a:ext>
                      </a:extLst>
                    </p:cNvPr>
                    <p:cNvSpPr txBox="1"/>
                    <p:nvPr/>
                  </p:nvSpPr>
                  <p:spPr>
                    <a:xfrm>
                      <a:off x="1438921" y="3879581"/>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𝟐</m:t>
                            </m:r>
                          </m:oMath>
                        </m:oMathPara>
                      </a14:m>
                      <a:endParaRPr lang="es-CO" sz="1600" b="1" dirty="0">
                        <a:solidFill>
                          <a:schemeClr val="tx1"/>
                        </a:solidFill>
                      </a:endParaRPr>
                    </a:p>
                  </p:txBody>
                </p:sp>
              </mc:Choice>
              <mc:Fallback xmlns="">
                <p:sp>
                  <p:nvSpPr>
                    <p:cNvPr id="57" name="CuadroTexto 56">
                      <a:extLst>
                        <a:ext uri="{FF2B5EF4-FFF2-40B4-BE49-F238E27FC236}">
                          <a16:creationId xmlns:a16="http://schemas.microsoft.com/office/drawing/2014/main" id="{64B90D1A-B938-4B3D-AE78-F52BF9A91F3B}"/>
                        </a:ext>
                      </a:extLst>
                    </p:cNvPr>
                    <p:cNvSpPr txBox="1">
                      <a:spLocks noRot="1" noChangeAspect="1" noMove="1" noResize="1" noEditPoints="1" noAdjustHandles="1" noChangeArrowheads="1" noChangeShapeType="1" noTextEdit="1"/>
                    </p:cNvSpPr>
                    <p:nvPr/>
                  </p:nvSpPr>
                  <p:spPr>
                    <a:xfrm>
                      <a:off x="1438921" y="3879581"/>
                      <a:ext cx="403774" cy="400110"/>
                    </a:xfrm>
                    <a:prstGeom prst="rect">
                      <a:avLst/>
                    </a:prstGeom>
                    <a:blipFill>
                      <a:blip r:embed="rId1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DFB0E83A-227F-4202-8AC5-05B2BED35D63}"/>
                        </a:ext>
                      </a:extLst>
                    </p:cNvPr>
                    <p:cNvSpPr txBox="1"/>
                    <p:nvPr/>
                  </p:nvSpPr>
                  <p:spPr>
                    <a:xfrm>
                      <a:off x="1427655" y="4383512"/>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𝟑</m:t>
                            </m:r>
                          </m:oMath>
                        </m:oMathPara>
                      </a14:m>
                      <a:endParaRPr lang="es-CO" sz="1600" b="1" dirty="0">
                        <a:solidFill>
                          <a:schemeClr val="tx1"/>
                        </a:solidFill>
                      </a:endParaRPr>
                    </a:p>
                  </p:txBody>
                </p:sp>
              </mc:Choice>
              <mc:Fallback xmlns="">
                <p:sp>
                  <p:nvSpPr>
                    <p:cNvPr id="58" name="CuadroTexto 57">
                      <a:extLst>
                        <a:ext uri="{FF2B5EF4-FFF2-40B4-BE49-F238E27FC236}">
                          <a16:creationId xmlns:a16="http://schemas.microsoft.com/office/drawing/2014/main" id="{DFB0E83A-227F-4202-8AC5-05B2BED35D63}"/>
                        </a:ext>
                      </a:extLst>
                    </p:cNvPr>
                    <p:cNvSpPr txBox="1">
                      <a:spLocks noRot="1" noChangeAspect="1" noMove="1" noResize="1" noEditPoints="1" noAdjustHandles="1" noChangeArrowheads="1" noChangeShapeType="1" noTextEdit="1"/>
                    </p:cNvSpPr>
                    <p:nvPr/>
                  </p:nvSpPr>
                  <p:spPr>
                    <a:xfrm>
                      <a:off x="1427655" y="4383512"/>
                      <a:ext cx="403774" cy="400110"/>
                    </a:xfrm>
                    <a:prstGeom prst="rect">
                      <a:avLst/>
                    </a:prstGeom>
                    <a:blipFill>
                      <a:blip r:embed="rId1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9" name="CuadroTexto 58">
                      <a:extLst>
                        <a:ext uri="{FF2B5EF4-FFF2-40B4-BE49-F238E27FC236}">
                          <a16:creationId xmlns:a16="http://schemas.microsoft.com/office/drawing/2014/main" id="{201034CE-99CF-4209-9D7F-2A07237689AD}"/>
                        </a:ext>
                      </a:extLst>
                    </p:cNvPr>
                    <p:cNvSpPr txBox="1"/>
                    <p:nvPr/>
                  </p:nvSpPr>
                  <p:spPr>
                    <a:xfrm>
                      <a:off x="1436693" y="4885740"/>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𝟒</m:t>
                            </m:r>
                          </m:oMath>
                        </m:oMathPara>
                      </a14:m>
                      <a:endParaRPr lang="es-CO" sz="1600" b="1" dirty="0">
                        <a:solidFill>
                          <a:schemeClr val="tx1"/>
                        </a:solidFill>
                      </a:endParaRPr>
                    </a:p>
                  </p:txBody>
                </p:sp>
              </mc:Choice>
              <mc:Fallback xmlns="">
                <p:sp>
                  <p:nvSpPr>
                    <p:cNvPr id="59" name="CuadroTexto 58">
                      <a:extLst>
                        <a:ext uri="{FF2B5EF4-FFF2-40B4-BE49-F238E27FC236}">
                          <a16:creationId xmlns:a16="http://schemas.microsoft.com/office/drawing/2014/main" id="{201034CE-99CF-4209-9D7F-2A07237689AD}"/>
                        </a:ext>
                      </a:extLst>
                    </p:cNvPr>
                    <p:cNvSpPr txBox="1">
                      <a:spLocks noRot="1" noChangeAspect="1" noMove="1" noResize="1" noEditPoints="1" noAdjustHandles="1" noChangeArrowheads="1" noChangeShapeType="1" noTextEdit="1"/>
                    </p:cNvSpPr>
                    <p:nvPr/>
                  </p:nvSpPr>
                  <p:spPr>
                    <a:xfrm>
                      <a:off x="1436693" y="4885740"/>
                      <a:ext cx="403774" cy="400110"/>
                    </a:xfrm>
                    <a:prstGeom prst="rect">
                      <a:avLst/>
                    </a:prstGeom>
                    <a:blipFill>
                      <a:blip r:embed="rId17"/>
                      <a:stretch>
                        <a:fillRect/>
                      </a:stretch>
                    </a:blipFill>
                  </p:spPr>
                  <p:txBody>
                    <a:bodyPr/>
                    <a:lstStyle/>
                    <a:p>
                      <a:r>
                        <a:rPr lang="es-CO">
                          <a:noFill/>
                        </a:rPr>
                        <a:t> </a:t>
                      </a:r>
                    </a:p>
                  </p:txBody>
                </p:sp>
              </mc:Fallback>
            </mc:AlternateContent>
          </p:grpSp>
          <p:cxnSp>
            <p:nvCxnSpPr>
              <p:cNvPr id="42" name="Conector recto de flecha 41">
                <a:extLst>
                  <a:ext uri="{FF2B5EF4-FFF2-40B4-BE49-F238E27FC236}">
                    <a16:creationId xmlns:a16="http://schemas.microsoft.com/office/drawing/2014/main" id="{27B7AE5D-CB62-4282-9CC8-E20BD7989EB2}"/>
                  </a:ext>
                </a:extLst>
              </p:cNvPr>
              <p:cNvCxnSpPr>
                <a:cxnSpLocks/>
                <a:endCxn id="61" idx="1"/>
              </p:cNvCxnSpPr>
              <p:nvPr/>
            </p:nvCxnSpPr>
            <p:spPr>
              <a:xfrm>
                <a:off x="2494867" y="3536617"/>
                <a:ext cx="1277144" cy="1"/>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0A7F4B23-D580-4F9F-B1AF-F24AEC24C793}"/>
                  </a:ext>
                </a:extLst>
              </p:cNvPr>
              <p:cNvCxnSpPr>
                <a:cxnSpLocks/>
                <a:endCxn id="63" idx="1"/>
              </p:cNvCxnSpPr>
              <p:nvPr/>
            </p:nvCxnSpPr>
            <p:spPr>
              <a:xfrm>
                <a:off x="2501900" y="3600450"/>
                <a:ext cx="1255666" cy="945902"/>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3555477B-DE26-446E-97BB-D145EC51EF29}"/>
                  </a:ext>
                </a:extLst>
              </p:cNvPr>
              <p:cNvCxnSpPr>
                <a:cxnSpLocks/>
              </p:cNvCxnSpPr>
              <p:nvPr/>
            </p:nvCxnSpPr>
            <p:spPr>
              <a:xfrm>
                <a:off x="2491688" y="4042420"/>
                <a:ext cx="1277144" cy="1"/>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9045F14A-FD04-46A6-B3D7-E3E732B3F6FF}"/>
                  </a:ext>
                </a:extLst>
              </p:cNvPr>
              <p:cNvCxnSpPr>
                <a:cxnSpLocks/>
                <a:stCxn id="59" idx="3"/>
              </p:cNvCxnSpPr>
              <p:nvPr/>
            </p:nvCxnSpPr>
            <p:spPr>
              <a:xfrm flipV="1">
                <a:off x="2489460" y="4108450"/>
                <a:ext cx="1282440" cy="9401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upo 12">
              <a:extLst>
                <a:ext uri="{FF2B5EF4-FFF2-40B4-BE49-F238E27FC236}">
                  <a16:creationId xmlns:a16="http://schemas.microsoft.com/office/drawing/2014/main" id="{C8584F0B-0ED1-4734-A15A-0B34AE5E0CB5}"/>
                </a:ext>
              </a:extLst>
            </p:cNvPr>
            <p:cNvGrpSpPr/>
            <p:nvPr/>
          </p:nvGrpSpPr>
          <p:grpSpPr>
            <a:xfrm>
              <a:off x="2031227" y="3403685"/>
              <a:ext cx="656306" cy="978928"/>
              <a:chOff x="2031227" y="3403685"/>
              <a:chExt cx="656306" cy="978928"/>
            </a:xfrm>
          </p:grpSpPr>
          <p:sp>
            <p:nvSpPr>
              <p:cNvPr id="12" name="Arco 11">
                <a:extLst>
                  <a:ext uri="{FF2B5EF4-FFF2-40B4-BE49-F238E27FC236}">
                    <a16:creationId xmlns:a16="http://schemas.microsoft.com/office/drawing/2014/main" id="{E09B0946-3D76-478F-9885-F418E12EFBEC}"/>
                  </a:ext>
                </a:extLst>
              </p:cNvPr>
              <p:cNvSpPr/>
              <p:nvPr/>
            </p:nvSpPr>
            <p:spPr>
              <a:xfrm rot="19737687">
                <a:off x="2031227" y="3793519"/>
                <a:ext cx="656306" cy="589094"/>
              </a:xfrm>
              <a:prstGeom prst="arc">
                <a:avLst>
                  <a:gd name="adj1" fmla="val 15245008"/>
                  <a:gd name="adj2" fmla="val 0"/>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67" name="CuadroTexto 66">
                    <a:extLst>
                      <a:ext uri="{FF2B5EF4-FFF2-40B4-BE49-F238E27FC236}">
                        <a16:creationId xmlns:a16="http://schemas.microsoft.com/office/drawing/2014/main" id="{B3961F8E-8D4C-402B-B6F7-9737A04AD183}"/>
                      </a:ext>
                    </a:extLst>
                  </p:cNvPr>
                  <p:cNvSpPr txBox="1"/>
                  <p:nvPr/>
                </p:nvSpPr>
                <p:spPr>
                  <a:xfrm>
                    <a:off x="2196615" y="3403685"/>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𝑹</m:t>
                          </m:r>
                        </m:oMath>
                      </m:oMathPara>
                    </a14:m>
                    <a:endParaRPr lang="es-CO" sz="1600" b="1" dirty="0">
                      <a:solidFill>
                        <a:schemeClr val="tx1"/>
                      </a:solidFill>
                    </a:endParaRPr>
                  </a:p>
                </p:txBody>
              </p:sp>
            </mc:Choice>
            <mc:Fallback xmlns="">
              <p:sp>
                <p:nvSpPr>
                  <p:cNvPr id="67" name="CuadroTexto 66">
                    <a:extLst>
                      <a:ext uri="{FF2B5EF4-FFF2-40B4-BE49-F238E27FC236}">
                        <a16:creationId xmlns:a16="http://schemas.microsoft.com/office/drawing/2014/main" id="{B3961F8E-8D4C-402B-B6F7-9737A04AD183}"/>
                      </a:ext>
                    </a:extLst>
                  </p:cNvPr>
                  <p:cNvSpPr txBox="1">
                    <a:spLocks noRot="1" noChangeAspect="1" noMove="1" noResize="1" noEditPoints="1" noAdjustHandles="1" noChangeArrowheads="1" noChangeShapeType="1" noTextEdit="1"/>
                  </p:cNvSpPr>
                  <p:nvPr/>
                </p:nvSpPr>
                <p:spPr>
                  <a:xfrm>
                    <a:off x="2196615" y="3403685"/>
                    <a:ext cx="403774" cy="400110"/>
                  </a:xfrm>
                  <a:prstGeom prst="rect">
                    <a:avLst/>
                  </a:prstGeom>
                  <a:blipFill>
                    <a:blip r:embed="rId18"/>
                    <a:stretch>
                      <a:fillRect/>
                    </a:stretch>
                  </a:blipFill>
                </p:spPr>
                <p:txBody>
                  <a:bodyPr/>
                  <a:lstStyle/>
                  <a:p>
                    <a:r>
                      <a:rPr lang="es-CO">
                        <a:noFill/>
                      </a:rPr>
                      <a:t> </a:t>
                    </a:r>
                  </a:p>
                </p:txBody>
              </p:sp>
            </mc:Fallback>
          </mc:AlternateContent>
        </p:grpSp>
      </p:grpSp>
      <p:grpSp>
        <p:nvGrpSpPr>
          <p:cNvPr id="22" name="Grupo 21">
            <a:extLst>
              <a:ext uri="{FF2B5EF4-FFF2-40B4-BE49-F238E27FC236}">
                <a16:creationId xmlns:a16="http://schemas.microsoft.com/office/drawing/2014/main" id="{2C40070C-291F-4394-92AB-0EB6D3E3DA86}"/>
              </a:ext>
            </a:extLst>
          </p:cNvPr>
          <p:cNvGrpSpPr/>
          <p:nvPr/>
        </p:nvGrpSpPr>
        <p:grpSpPr>
          <a:xfrm>
            <a:off x="6794989" y="3381889"/>
            <a:ext cx="2616451" cy="3091113"/>
            <a:chOff x="6794989" y="3362839"/>
            <a:chExt cx="2616451" cy="3091113"/>
          </a:xfrm>
        </p:grpSpPr>
        <p:grpSp>
          <p:nvGrpSpPr>
            <p:cNvPr id="47" name="Grupo 46">
              <a:extLst>
                <a:ext uri="{FF2B5EF4-FFF2-40B4-BE49-F238E27FC236}">
                  <a16:creationId xmlns:a16="http://schemas.microsoft.com/office/drawing/2014/main" id="{59C2E1D2-6C9B-40D2-A0A1-61DDC17FA41F}"/>
                </a:ext>
              </a:extLst>
            </p:cNvPr>
            <p:cNvGrpSpPr/>
            <p:nvPr/>
          </p:nvGrpSpPr>
          <p:grpSpPr>
            <a:xfrm>
              <a:off x="6794989" y="3656935"/>
              <a:ext cx="2616451" cy="2797017"/>
              <a:chOff x="1853571" y="3122895"/>
              <a:chExt cx="2616451" cy="2797017"/>
            </a:xfrm>
          </p:grpSpPr>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515E2538-6C6C-4EB4-8E76-5A1CFAA9A621}"/>
                      </a:ext>
                    </a:extLst>
                  </p:cNvPr>
                  <p:cNvSpPr txBox="1"/>
                  <p:nvPr/>
                </p:nvSpPr>
                <p:spPr>
                  <a:xfrm>
                    <a:off x="3650322" y="5519802"/>
                    <a:ext cx="70386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accent5"/>
                              </a:solidFill>
                              <a:latin typeface="Cambria Math" panose="02040503050406030204" pitchFamily="18" charset="0"/>
                            </a:rPr>
                            <m:t>𝑩</m:t>
                          </m:r>
                        </m:oMath>
                      </m:oMathPara>
                    </a14:m>
                    <a:endParaRPr lang="es-CO" sz="1600" b="1" dirty="0"/>
                  </a:p>
                </p:txBody>
              </p:sp>
            </mc:Choice>
            <mc:Fallback xmlns="">
              <p:sp>
                <p:nvSpPr>
                  <p:cNvPr id="16" name="CuadroTexto 15">
                    <a:extLst>
                      <a:ext uri="{FF2B5EF4-FFF2-40B4-BE49-F238E27FC236}">
                        <a16:creationId xmlns:a16="http://schemas.microsoft.com/office/drawing/2014/main" id="{515E2538-6C6C-4EB4-8E76-5A1CFAA9A621}"/>
                      </a:ext>
                    </a:extLst>
                  </p:cNvPr>
                  <p:cNvSpPr txBox="1">
                    <a:spLocks noRot="1" noChangeAspect="1" noMove="1" noResize="1" noEditPoints="1" noAdjustHandles="1" noChangeArrowheads="1" noChangeShapeType="1" noTextEdit="1"/>
                  </p:cNvSpPr>
                  <p:nvPr/>
                </p:nvSpPr>
                <p:spPr>
                  <a:xfrm>
                    <a:off x="3650322" y="5519802"/>
                    <a:ext cx="703865" cy="400110"/>
                  </a:xfrm>
                  <a:prstGeom prst="rect">
                    <a:avLst/>
                  </a:prstGeom>
                  <a:blipFill>
                    <a:blip r:embed="rId19"/>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699CCFB1-A66D-413C-955F-AC7DDDDD2CBC}"/>
                      </a:ext>
                    </a:extLst>
                  </p:cNvPr>
                  <p:cNvSpPr txBox="1"/>
                  <p:nvPr/>
                </p:nvSpPr>
                <p:spPr>
                  <a:xfrm>
                    <a:off x="1969404" y="5458148"/>
                    <a:ext cx="70386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000" b="1" i="1" smtClean="0">
                              <a:solidFill>
                                <a:schemeClr val="accent5"/>
                              </a:solidFill>
                              <a:latin typeface="Cambria Math" panose="02040503050406030204" pitchFamily="18" charset="0"/>
                            </a:rPr>
                            <m:t>𝑨</m:t>
                          </m:r>
                        </m:oMath>
                      </m:oMathPara>
                    </a14:m>
                    <a:endParaRPr lang="es-CO" sz="1600" b="1" dirty="0"/>
                  </a:p>
                </p:txBody>
              </p:sp>
            </mc:Choice>
            <mc:Fallback xmlns="">
              <p:sp>
                <p:nvSpPr>
                  <p:cNvPr id="18" name="CuadroTexto 17">
                    <a:extLst>
                      <a:ext uri="{FF2B5EF4-FFF2-40B4-BE49-F238E27FC236}">
                        <a16:creationId xmlns:a16="http://schemas.microsoft.com/office/drawing/2014/main" id="{699CCFB1-A66D-413C-955F-AC7DDDDD2CBC}"/>
                      </a:ext>
                    </a:extLst>
                  </p:cNvPr>
                  <p:cNvSpPr txBox="1">
                    <a:spLocks noRot="1" noChangeAspect="1" noMove="1" noResize="1" noEditPoints="1" noAdjustHandles="1" noChangeArrowheads="1" noChangeShapeType="1" noTextEdit="1"/>
                  </p:cNvSpPr>
                  <p:nvPr/>
                </p:nvSpPr>
                <p:spPr>
                  <a:xfrm>
                    <a:off x="1969404" y="5458148"/>
                    <a:ext cx="703865" cy="400110"/>
                  </a:xfrm>
                  <a:prstGeom prst="rect">
                    <a:avLst/>
                  </a:prstGeom>
                  <a:blipFill>
                    <a:blip r:embed="rId20"/>
                    <a:stretch>
                      <a:fillRect/>
                    </a:stretch>
                  </a:blipFill>
                </p:spPr>
                <p:txBody>
                  <a:bodyPr/>
                  <a:lstStyle/>
                  <a:p>
                    <a:r>
                      <a:rPr lang="es-CO">
                        <a:noFill/>
                      </a:rPr>
                      <a:t> </a:t>
                    </a:r>
                  </a:p>
                </p:txBody>
              </p:sp>
            </mc:Fallback>
          </mc:AlternateContent>
          <p:grpSp>
            <p:nvGrpSpPr>
              <p:cNvPr id="30" name="Grupo 29">
                <a:extLst>
                  <a:ext uri="{FF2B5EF4-FFF2-40B4-BE49-F238E27FC236}">
                    <a16:creationId xmlns:a16="http://schemas.microsoft.com/office/drawing/2014/main" id="{696DC710-7FB4-442C-80C4-634CDD76C3B8}"/>
                  </a:ext>
                </a:extLst>
              </p:cNvPr>
              <p:cNvGrpSpPr/>
              <p:nvPr/>
            </p:nvGrpSpPr>
            <p:grpSpPr>
              <a:xfrm>
                <a:off x="3534489" y="3122896"/>
                <a:ext cx="935533" cy="2313589"/>
                <a:chOff x="2371302" y="3160111"/>
                <a:chExt cx="935533" cy="2313589"/>
              </a:xfrm>
            </p:grpSpPr>
            <p:sp>
              <p:nvSpPr>
                <p:cNvPr id="15" name="Elipse 14">
                  <a:extLst>
                    <a:ext uri="{FF2B5EF4-FFF2-40B4-BE49-F238E27FC236}">
                      <a16:creationId xmlns:a16="http://schemas.microsoft.com/office/drawing/2014/main" id="{20083016-1FF0-4C4E-A07C-E01ED69C14DE}"/>
                    </a:ext>
                  </a:extLst>
                </p:cNvPr>
                <p:cNvSpPr/>
                <p:nvPr/>
              </p:nvSpPr>
              <p:spPr>
                <a:xfrm>
                  <a:off x="2371302" y="3160111"/>
                  <a:ext cx="935533" cy="23135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3AE09312-E477-4BA8-8876-691650083B2F}"/>
                        </a:ext>
                      </a:extLst>
                    </p:cNvPr>
                    <p:cNvSpPr txBox="1"/>
                    <p:nvPr/>
                  </p:nvSpPr>
                  <p:spPr>
                    <a:xfrm>
                      <a:off x="2608824" y="3373778"/>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𝒂</m:t>
                            </m:r>
                          </m:oMath>
                        </m:oMathPara>
                      </a14:m>
                      <a:endParaRPr lang="es-CO" sz="1600" b="1" dirty="0">
                        <a:solidFill>
                          <a:schemeClr val="tx1"/>
                        </a:solidFill>
                      </a:endParaRPr>
                    </a:p>
                  </p:txBody>
                </p:sp>
              </mc:Choice>
              <mc:Fallback xmlns="">
                <p:sp>
                  <p:nvSpPr>
                    <p:cNvPr id="19" name="CuadroTexto 18">
                      <a:extLst>
                        <a:ext uri="{FF2B5EF4-FFF2-40B4-BE49-F238E27FC236}">
                          <a16:creationId xmlns:a16="http://schemas.microsoft.com/office/drawing/2014/main" id="{3AE09312-E477-4BA8-8876-691650083B2F}"/>
                        </a:ext>
                      </a:extLst>
                    </p:cNvPr>
                    <p:cNvSpPr txBox="1">
                      <a:spLocks noRot="1" noChangeAspect="1" noMove="1" noResize="1" noEditPoints="1" noAdjustHandles="1" noChangeArrowheads="1" noChangeShapeType="1" noTextEdit="1"/>
                    </p:cNvSpPr>
                    <p:nvPr/>
                  </p:nvSpPr>
                  <p:spPr>
                    <a:xfrm>
                      <a:off x="2608824" y="3373778"/>
                      <a:ext cx="403774" cy="400110"/>
                    </a:xfrm>
                    <a:prstGeom prst="rect">
                      <a:avLst/>
                    </a:prstGeom>
                    <a:blipFill>
                      <a:blip r:embed="rId21"/>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917496FB-EFF1-4940-9FA7-14EFE5F78C01}"/>
                        </a:ext>
                      </a:extLst>
                    </p:cNvPr>
                    <p:cNvSpPr txBox="1"/>
                    <p:nvPr/>
                  </p:nvSpPr>
                  <p:spPr>
                    <a:xfrm>
                      <a:off x="2605645" y="3879581"/>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𝒃</m:t>
                            </m:r>
                          </m:oMath>
                        </m:oMathPara>
                      </a14:m>
                      <a:endParaRPr lang="es-CO" sz="1600" b="1" dirty="0">
                        <a:solidFill>
                          <a:schemeClr val="tx1"/>
                        </a:solidFill>
                      </a:endParaRPr>
                    </a:p>
                  </p:txBody>
                </p:sp>
              </mc:Choice>
              <mc:Fallback xmlns="">
                <p:sp>
                  <p:nvSpPr>
                    <p:cNvPr id="20" name="CuadroTexto 19">
                      <a:extLst>
                        <a:ext uri="{FF2B5EF4-FFF2-40B4-BE49-F238E27FC236}">
                          <a16:creationId xmlns:a16="http://schemas.microsoft.com/office/drawing/2014/main" id="{917496FB-EFF1-4940-9FA7-14EFE5F78C01}"/>
                        </a:ext>
                      </a:extLst>
                    </p:cNvPr>
                    <p:cNvSpPr txBox="1">
                      <a:spLocks noRot="1" noChangeAspect="1" noMove="1" noResize="1" noEditPoints="1" noAdjustHandles="1" noChangeArrowheads="1" noChangeShapeType="1" noTextEdit="1"/>
                    </p:cNvSpPr>
                    <p:nvPr/>
                  </p:nvSpPr>
                  <p:spPr>
                    <a:xfrm>
                      <a:off x="2605645" y="3879581"/>
                      <a:ext cx="403774" cy="400110"/>
                    </a:xfrm>
                    <a:prstGeom prst="rect">
                      <a:avLst/>
                    </a:prstGeom>
                    <a:blipFill>
                      <a:blip r:embed="rId22"/>
                      <a:stretch>
                        <a:fillRect l="-151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52C7202-E4BC-4FED-B725-3464D085BF58}"/>
                        </a:ext>
                      </a:extLst>
                    </p:cNvPr>
                    <p:cNvSpPr txBox="1"/>
                    <p:nvPr/>
                  </p:nvSpPr>
                  <p:spPr>
                    <a:xfrm>
                      <a:off x="2594379" y="4383512"/>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𝒄</m:t>
                            </m:r>
                          </m:oMath>
                        </m:oMathPara>
                      </a14:m>
                      <a:endParaRPr lang="es-CO" sz="1600" b="1" dirty="0">
                        <a:solidFill>
                          <a:schemeClr val="tx1"/>
                        </a:solidFill>
                      </a:endParaRPr>
                    </a:p>
                  </p:txBody>
                </p:sp>
              </mc:Choice>
              <mc:Fallback xmlns="">
                <p:sp>
                  <p:nvSpPr>
                    <p:cNvPr id="21" name="CuadroTexto 20">
                      <a:extLst>
                        <a:ext uri="{FF2B5EF4-FFF2-40B4-BE49-F238E27FC236}">
                          <a16:creationId xmlns:a16="http://schemas.microsoft.com/office/drawing/2014/main" id="{752C7202-E4BC-4FED-B725-3464D085BF58}"/>
                        </a:ext>
                      </a:extLst>
                    </p:cNvPr>
                    <p:cNvSpPr txBox="1">
                      <a:spLocks noRot="1" noChangeAspect="1" noMove="1" noResize="1" noEditPoints="1" noAdjustHandles="1" noChangeArrowheads="1" noChangeShapeType="1" noTextEdit="1"/>
                    </p:cNvSpPr>
                    <p:nvPr/>
                  </p:nvSpPr>
                  <p:spPr>
                    <a:xfrm>
                      <a:off x="2594379" y="4383512"/>
                      <a:ext cx="403774" cy="400110"/>
                    </a:xfrm>
                    <a:prstGeom prst="rect">
                      <a:avLst/>
                    </a:prstGeom>
                    <a:blipFill>
                      <a:blip r:embed="rId2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74293DCB-EB37-427C-83FD-221E132B07DC}"/>
                        </a:ext>
                      </a:extLst>
                    </p:cNvPr>
                    <p:cNvSpPr txBox="1"/>
                    <p:nvPr/>
                  </p:nvSpPr>
                  <p:spPr>
                    <a:xfrm>
                      <a:off x="2603417" y="4885740"/>
                      <a:ext cx="403774" cy="40011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s-MX" sz="2000" b="1" i="1" smtClean="0">
                                <a:solidFill>
                                  <a:schemeClr val="tx1"/>
                                </a:solidFill>
                                <a:latin typeface="Cambria Math" panose="02040503050406030204" pitchFamily="18" charset="0"/>
                              </a:rPr>
                              <m:t>𝒅</m:t>
                            </m:r>
                          </m:oMath>
                        </m:oMathPara>
                      </a14:m>
                      <a:endParaRPr lang="es-CO" sz="1600" b="1" dirty="0">
                        <a:solidFill>
                          <a:schemeClr val="tx1"/>
                        </a:solidFill>
                      </a:endParaRPr>
                    </a:p>
                  </p:txBody>
                </p:sp>
              </mc:Choice>
              <mc:Fallback xmlns="">
                <p:sp>
                  <p:nvSpPr>
                    <p:cNvPr id="24" name="CuadroTexto 23">
                      <a:extLst>
                        <a:ext uri="{FF2B5EF4-FFF2-40B4-BE49-F238E27FC236}">
                          <a16:creationId xmlns:a16="http://schemas.microsoft.com/office/drawing/2014/main" id="{74293DCB-EB37-427C-83FD-221E132B07DC}"/>
                        </a:ext>
                      </a:extLst>
                    </p:cNvPr>
                    <p:cNvSpPr txBox="1">
                      <a:spLocks noRot="1" noChangeAspect="1" noMove="1" noResize="1" noEditPoints="1" noAdjustHandles="1" noChangeArrowheads="1" noChangeShapeType="1" noTextEdit="1"/>
                    </p:cNvSpPr>
                    <p:nvPr/>
                  </p:nvSpPr>
                  <p:spPr>
                    <a:xfrm>
                      <a:off x="2603417" y="4885740"/>
                      <a:ext cx="403774" cy="400110"/>
                    </a:xfrm>
                    <a:prstGeom prst="rect">
                      <a:avLst/>
                    </a:prstGeom>
                    <a:blipFill>
                      <a:blip r:embed="rId24"/>
                      <a:stretch>
                        <a:fillRect/>
                      </a:stretch>
                    </a:blipFill>
                  </p:spPr>
                  <p:txBody>
                    <a:bodyPr/>
                    <a:lstStyle/>
                    <a:p>
                      <a:r>
                        <a:rPr lang="es-CO">
                          <a:noFill/>
                        </a:rPr>
                        <a:t> </a:t>
                      </a:r>
                    </a:p>
                  </p:txBody>
                </p:sp>
              </mc:Fallback>
            </mc:AlternateContent>
          </p:grpSp>
          <p:grpSp>
            <p:nvGrpSpPr>
              <p:cNvPr id="6" name="Grupo 5">
                <a:extLst>
                  <a:ext uri="{FF2B5EF4-FFF2-40B4-BE49-F238E27FC236}">
                    <a16:creationId xmlns:a16="http://schemas.microsoft.com/office/drawing/2014/main" id="{FDCCB6FB-A035-493B-ABD6-EE53C00EAC87}"/>
                  </a:ext>
                </a:extLst>
              </p:cNvPr>
              <p:cNvGrpSpPr/>
              <p:nvPr/>
            </p:nvGrpSpPr>
            <p:grpSpPr>
              <a:xfrm>
                <a:off x="1853571" y="3122895"/>
                <a:ext cx="935533" cy="2313589"/>
                <a:chOff x="1204578" y="3160111"/>
                <a:chExt cx="935533" cy="2313589"/>
              </a:xfrm>
            </p:grpSpPr>
            <p:sp>
              <p:nvSpPr>
                <p:cNvPr id="25" name="Elipse 24">
                  <a:extLst>
                    <a:ext uri="{FF2B5EF4-FFF2-40B4-BE49-F238E27FC236}">
                      <a16:creationId xmlns:a16="http://schemas.microsoft.com/office/drawing/2014/main" id="{9433B6A9-2FE1-4630-9A48-2D0F84CD2A5E}"/>
                    </a:ext>
                  </a:extLst>
                </p:cNvPr>
                <p:cNvSpPr/>
                <p:nvPr/>
              </p:nvSpPr>
              <p:spPr>
                <a:xfrm>
                  <a:off x="1204578" y="3160111"/>
                  <a:ext cx="935533" cy="23135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0D207E18-0E79-4440-B010-CE71715E3C82}"/>
                        </a:ext>
                      </a:extLst>
                    </p:cNvPr>
                    <p:cNvSpPr txBox="1"/>
                    <p:nvPr/>
                  </p:nvSpPr>
                  <p:spPr>
                    <a:xfrm>
                      <a:off x="1442100" y="3373778"/>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𝟏</m:t>
                            </m:r>
                          </m:oMath>
                        </m:oMathPara>
                      </a14:m>
                      <a:endParaRPr lang="es-CO" sz="1600" b="1" dirty="0">
                        <a:solidFill>
                          <a:schemeClr val="tx1"/>
                        </a:solidFill>
                      </a:endParaRPr>
                    </a:p>
                  </p:txBody>
                </p:sp>
              </mc:Choice>
              <mc:Fallback xmlns="">
                <p:sp>
                  <p:nvSpPr>
                    <p:cNvPr id="26" name="CuadroTexto 25">
                      <a:extLst>
                        <a:ext uri="{FF2B5EF4-FFF2-40B4-BE49-F238E27FC236}">
                          <a16:creationId xmlns:a16="http://schemas.microsoft.com/office/drawing/2014/main" id="{0D207E18-0E79-4440-B010-CE71715E3C82}"/>
                        </a:ext>
                      </a:extLst>
                    </p:cNvPr>
                    <p:cNvSpPr txBox="1">
                      <a:spLocks noRot="1" noChangeAspect="1" noMove="1" noResize="1" noEditPoints="1" noAdjustHandles="1" noChangeArrowheads="1" noChangeShapeType="1" noTextEdit="1"/>
                    </p:cNvSpPr>
                    <p:nvPr/>
                  </p:nvSpPr>
                  <p:spPr>
                    <a:xfrm>
                      <a:off x="1442100" y="3373778"/>
                      <a:ext cx="403774" cy="400110"/>
                    </a:xfrm>
                    <a:prstGeom prst="rect">
                      <a:avLst/>
                    </a:prstGeom>
                    <a:blipFill>
                      <a:blip r:embed="rId2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1356A0E6-145E-4CE2-85D1-D38B1BB45091}"/>
                        </a:ext>
                      </a:extLst>
                    </p:cNvPr>
                    <p:cNvSpPr txBox="1"/>
                    <p:nvPr/>
                  </p:nvSpPr>
                  <p:spPr>
                    <a:xfrm>
                      <a:off x="1438921" y="3879581"/>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𝟐</m:t>
                            </m:r>
                          </m:oMath>
                        </m:oMathPara>
                      </a14:m>
                      <a:endParaRPr lang="es-CO" sz="1600" b="1" dirty="0">
                        <a:solidFill>
                          <a:schemeClr val="tx1"/>
                        </a:solidFill>
                      </a:endParaRPr>
                    </a:p>
                  </p:txBody>
                </p:sp>
              </mc:Choice>
              <mc:Fallback xmlns="">
                <p:sp>
                  <p:nvSpPr>
                    <p:cNvPr id="27" name="CuadroTexto 26">
                      <a:extLst>
                        <a:ext uri="{FF2B5EF4-FFF2-40B4-BE49-F238E27FC236}">
                          <a16:creationId xmlns:a16="http://schemas.microsoft.com/office/drawing/2014/main" id="{1356A0E6-145E-4CE2-85D1-D38B1BB45091}"/>
                        </a:ext>
                      </a:extLst>
                    </p:cNvPr>
                    <p:cNvSpPr txBox="1">
                      <a:spLocks noRot="1" noChangeAspect="1" noMove="1" noResize="1" noEditPoints="1" noAdjustHandles="1" noChangeArrowheads="1" noChangeShapeType="1" noTextEdit="1"/>
                    </p:cNvSpPr>
                    <p:nvPr/>
                  </p:nvSpPr>
                  <p:spPr>
                    <a:xfrm>
                      <a:off x="1438921" y="3879581"/>
                      <a:ext cx="403774" cy="400110"/>
                    </a:xfrm>
                    <a:prstGeom prst="rect">
                      <a:avLst/>
                    </a:prstGeom>
                    <a:blipFill>
                      <a:blip r:embed="rId2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0080B24D-4644-42A9-8CC0-1F755792940B}"/>
                        </a:ext>
                      </a:extLst>
                    </p:cNvPr>
                    <p:cNvSpPr txBox="1"/>
                    <p:nvPr/>
                  </p:nvSpPr>
                  <p:spPr>
                    <a:xfrm>
                      <a:off x="1427655" y="4383512"/>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𝟑</m:t>
                            </m:r>
                          </m:oMath>
                        </m:oMathPara>
                      </a14:m>
                      <a:endParaRPr lang="es-CO" sz="1600" b="1" dirty="0">
                        <a:solidFill>
                          <a:schemeClr val="tx1"/>
                        </a:solidFill>
                      </a:endParaRPr>
                    </a:p>
                  </p:txBody>
                </p:sp>
              </mc:Choice>
              <mc:Fallback xmlns="">
                <p:sp>
                  <p:nvSpPr>
                    <p:cNvPr id="28" name="CuadroTexto 27">
                      <a:extLst>
                        <a:ext uri="{FF2B5EF4-FFF2-40B4-BE49-F238E27FC236}">
                          <a16:creationId xmlns:a16="http://schemas.microsoft.com/office/drawing/2014/main" id="{0080B24D-4644-42A9-8CC0-1F755792940B}"/>
                        </a:ext>
                      </a:extLst>
                    </p:cNvPr>
                    <p:cNvSpPr txBox="1">
                      <a:spLocks noRot="1" noChangeAspect="1" noMove="1" noResize="1" noEditPoints="1" noAdjustHandles="1" noChangeArrowheads="1" noChangeShapeType="1" noTextEdit="1"/>
                    </p:cNvSpPr>
                    <p:nvPr/>
                  </p:nvSpPr>
                  <p:spPr>
                    <a:xfrm>
                      <a:off x="1427655" y="4383512"/>
                      <a:ext cx="403774" cy="400110"/>
                    </a:xfrm>
                    <a:prstGeom prst="rect">
                      <a:avLst/>
                    </a:prstGeom>
                    <a:blipFill>
                      <a:blip r:embed="rId27"/>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99DC82F9-877F-4F55-AE13-171B8B8411B2}"/>
                        </a:ext>
                      </a:extLst>
                    </p:cNvPr>
                    <p:cNvSpPr txBox="1"/>
                    <p:nvPr/>
                  </p:nvSpPr>
                  <p:spPr>
                    <a:xfrm>
                      <a:off x="1436693" y="4885740"/>
                      <a:ext cx="403774" cy="400110"/>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a:rPr lang="es-MX" sz="2000" b="1" i="1" smtClean="0">
                                <a:solidFill>
                                  <a:schemeClr val="tx1"/>
                                </a:solidFill>
                                <a:latin typeface="Cambria Math" panose="02040503050406030204" pitchFamily="18" charset="0"/>
                              </a:rPr>
                              <m:t>𝟒</m:t>
                            </m:r>
                          </m:oMath>
                        </m:oMathPara>
                      </a14:m>
                      <a:endParaRPr lang="es-CO" sz="1600" b="1" dirty="0">
                        <a:solidFill>
                          <a:schemeClr val="tx1"/>
                        </a:solidFill>
                      </a:endParaRPr>
                    </a:p>
                  </p:txBody>
                </p:sp>
              </mc:Choice>
              <mc:Fallback xmlns="">
                <p:sp>
                  <p:nvSpPr>
                    <p:cNvPr id="29" name="CuadroTexto 28">
                      <a:extLst>
                        <a:ext uri="{FF2B5EF4-FFF2-40B4-BE49-F238E27FC236}">
                          <a16:creationId xmlns:a16="http://schemas.microsoft.com/office/drawing/2014/main" id="{99DC82F9-877F-4F55-AE13-171B8B8411B2}"/>
                        </a:ext>
                      </a:extLst>
                    </p:cNvPr>
                    <p:cNvSpPr txBox="1">
                      <a:spLocks noRot="1" noChangeAspect="1" noMove="1" noResize="1" noEditPoints="1" noAdjustHandles="1" noChangeArrowheads="1" noChangeShapeType="1" noTextEdit="1"/>
                    </p:cNvSpPr>
                    <p:nvPr/>
                  </p:nvSpPr>
                  <p:spPr>
                    <a:xfrm>
                      <a:off x="1436693" y="4885740"/>
                      <a:ext cx="403774" cy="400110"/>
                    </a:xfrm>
                    <a:prstGeom prst="rect">
                      <a:avLst/>
                    </a:prstGeom>
                    <a:blipFill>
                      <a:blip r:embed="rId28"/>
                      <a:stretch>
                        <a:fillRect/>
                      </a:stretch>
                    </a:blipFill>
                  </p:spPr>
                  <p:txBody>
                    <a:bodyPr/>
                    <a:lstStyle/>
                    <a:p>
                      <a:r>
                        <a:rPr lang="es-CO">
                          <a:noFill/>
                        </a:rPr>
                        <a:t> </a:t>
                      </a:r>
                    </a:p>
                  </p:txBody>
                </p:sp>
              </mc:Fallback>
            </mc:AlternateContent>
          </p:grpSp>
          <p:cxnSp>
            <p:nvCxnSpPr>
              <p:cNvPr id="36" name="Conector recto de flecha 35">
                <a:extLst>
                  <a:ext uri="{FF2B5EF4-FFF2-40B4-BE49-F238E27FC236}">
                    <a16:creationId xmlns:a16="http://schemas.microsoft.com/office/drawing/2014/main" id="{48E554BD-12E0-4E1C-9B2F-A7269E6C25EE}"/>
                  </a:ext>
                </a:extLst>
              </p:cNvPr>
              <p:cNvCxnSpPr>
                <a:cxnSpLocks/>
                <a:endCxn id="19" idx="1"/>
              </p:cNvCxnSpPr>
              <p:nvPr/>
            </p:nvCxnSpPr>
            <p:spPr>
              <a:xfrm>
                <a:off x="2494867" y="3536617"/>
                <a:ext cx="1277144" cy="1"/>
              </a:xfrm>
              <a:prstGeom prst="straightConnector1">
                <a:avLst/>
              </a:prstGeom>
              <a:ln w="28575">
                <a:solidFill>
                  <a:srgbClr val="0020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DEE25EDD-432F-4429-9ADD-9AD47E42A939}"/>
                  </a:ext>
                </a:extLst>
              </p:cNvPr>
              <p:cNvCxnSpPr>
                <a:cxnSpLocks/>
                <a:endCxn id="21" idx="1"/>
              </p:cNvCxnSpPr>
              <p:nvPr/>
            </p:nvCxnSpPr>
            <p:spPr>
              <a:xfrm>
                <a:off x="2501900" y="3600450"/>
                <a:ext cx="1255666" cy="945902"/>
              </a:xfrm>
              <a:prstGeom prst="straightConnector1">
                <a:avLst/>
              </a:prstGeom>
              <a:ln w="28575">
                <a:solidFill>
                  <a:srgbClr val="0020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948E16F5-7CA8-494C-8502-27C1FE9E07C4}"/>
                  </a:ext>
                </a:extLst>
              </p:cNvPr>
              <p:cNvCxnSpPr>
                <a:cxnSpLocks/>
              </p:cNvCxnSpPr>
              <p:nvPr/>
            </p:nvCxnSpPr>
            <p:spPr>
              <a:xfrm>
                <a:off x="2491688" y="4042420"/>
                <a:ext cx="1277144" cy="1"/>
              </a:xfrm>
              <a:prstGeom prst="straightConnector1">
                <a:avLst/>
              </a:prstGeom>
              <a:ln w="28575">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2FF0AD29-8AAD-4C97-B93B-9DE008450D35}"/>
                  </a:ext>
                </a:extLst>
              </p:cNvPr>
              <p:cNvCxnSpPr>
                <a:cxnSpLocks/>
                <a:stCxn id="29" idx="3"/>
              </p:cNvCxnSpPr>
              <p:nvPr/>
            </p:nvCxnSpPr>
            <p:spPr>
              <a:xfrm flipV="1">
                <a:off x="2489460" y="4108450"/>
                <a:ext cx="1282440" cy="940129"/>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 name="Grupo 13">
              <a:extLst>
                <a:ext uri="{FF2B5EF4-FFF2-40B4-BE49-F238E27FC236}">
                  <a16:creationId xmlns:a16="http://schemas.microsoft.com/office/drawing/2014/main" id="{402F3E69-9A4E-417C-BF64-96A873131DF7}"/>
                </a:ext>
              </a:extLst>
            </p:cNvPr>
            <p:cNvGrpSpPr/>
            <p:nvPr/>
          </p:nvGrpSpPr>
          <p:grpSpPr>
            <a:xfrm>
              <a:off x="7721081" y="3362839"/>
              <a:ext cx="656306" cy="982881"/>
              <a:chOff x="7721081" y="3362839"/>
              <a:chExt cx="656306" cy="982881"/>
            </a:xfrm>
          </p:grpSpPr>
          <p:sp>
            <p:nvSpPr>
              <p:cNvPr id="66" name="Arco 65">
                <a:extLst>
                  <a:ext uri="{FF2B5EF4-FFF2-40B4-BE49-F238E27FC236}">
                    <a16:creationId xmlns:a16="http://schemas.microsoft.com/office/drawing/2014/main" id="{448A838E-DD41-408E-A1CE-3C1FE7ED5058}"/>
                  </a:ext>
                </a:extLst>
              </p:cNvPr>
              <p:cNvSpPr/>
              <p:nvPr/>
            </p:nvSpPr>
            <p:spPr>
              <a:xfrm rot="19219192">
                <a:off x="7721081" y="3756626"/>
                <a:ext cx="656306" cy="589094"/>
              </a:xfrm>
              <a:prstGeom prst="arc">
                <a:avLst>
                  <a:gd name="adj1" fmla="val 15245008"/>
                  <a:gd name="adj2" fmla="val 0"/>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68" name="CuadroTexto 67">
                    <a:extLst>
                      <a:ext uri="{FF2B5EF4-FFF2-40B4-BE49-F238E27FC236}">
                        <a16:creationId xmlns:a16="http://schemas.microsoft.com/office/drawing/2014/main" id="{46766218-10D3-4B15-9A6A-BDA4E5520AD7}"/>
                      </a:ext>
                    </a:extLst>
                  </p:cNvPr>
                  <p:cNvSpPr txBox="1"/>
                  <p:nvPr/>
                </p:nvSpPr>
                <p:spPr>
                  <a:xfrm>
                    <a:off x="7764293" y="3362839"/>
                    <a:ext cx="533562" cy="40709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s-MX" sz="2000" b="1" i="1" smtClean="0">
                                  <a:solidFill>
                                    <a:schemeClr val="tx1"/>
                                  </a:solidFill>
                                  <a:latin typeface="Cambria Math" panose="02040503050406030204" pitchFamily="18" charset="0"/>
                                </a:rPr>
                              </m:ctrlPr>
                            </m:sSupPr>
                            <m:e>
                              <m:r>
                                <a:rPr lang="es-MX" sz="2000" b="1" i="1" smtClean="0">
                                  <a:solidFill>
                                    <a:schemeClr val="tx1"/>
                                  </a:solidFill>
                                  <a:latin typeface="Cambria Math" panose="02040503050406030204" pitchFamily="18" charset="0"/>
                                </a:rPr>
                                <m:t>𝑹</m:t>
                              </m:r>
                            </m:e>
                            <m:sup>
                              <m:r>
                                <a:rPr lang="es-MX" sz="2000" b="1" i="1" smtClean="0">
                                  <a:solidFill>
                                    <a:schemeClr val="tx1"/>
                                  </a:solidFill>
                                  <a:latin typeface="Cambria Math" panose="02040503050406030204" pitchFamily="18" charset="0"/>
                                </a:rPr>
                                <m:t>−</m:t>
                              </m:r>
                              <m:r>
                                <a:rPr lang="es-MX" sz="2000" b="1" i="1" smtClean="0">
                                  <a:solidFill>
                                    <a:schemeClr val="tx1"/>
                                  </a:solidFill>
                                  <a:latin typeface="Cambria Math" panose="02040503050406030204" pitchFamily="18" charset="0"/>
                                </a:rPr>
                                <m:t>𝟏</m:t>
                              </m:r>
                            </m:sup>
                          </m:sSup>
                        </m:oMath>
                      </m:oMathPara>
                    </a14:m>
                    <a:endParaRPr lang="es-CO" sz="1600" b="1" dirty="0">
                      <a:solidFill>
                        <a:schemeClr val="tx1"/>
                      </a:solidFill>
                    </a:endParaRPr>
                  </a:p>
                </p:txBody>
              </p:sp>
            </mc:Choice>
            <mc:Fallback xmlns="">
              <p:sp>
                <p:nvSpPr>
                  <p:cNvPr id="68" name="CuadroTexto 67">
                    <a:extLst>
                      <a:ext uri="{FF2B5EF4-FFF2-40B4-BE49-F238E27FC236}">
                        <a16:creationId xmlns:a16="http://schemas.microsoft.com/office/drawing/2014/main" id="{46766218-10D3-4B15-9A6A-BDA4E5520AD7}"/>
                      </a:ext>
                    </a:extLst>
                  </p:cNvPr>
                  <p:cNvSpPr txBox="1">
                    <a:spLocks noRot="1" noChangeAspect="1" noMove="1" noResize="1" noEditPoints="1" noAdjustHandles="1" noChangeArrowheads="1" noChangeShapeType="1" noTextEdit="1"/>
                  </p:cNvSpPr>
                  <p:nvPr/>
                </p:nvSpPr>
                <p:spPr>
                  <a:xfrm>
                    <a:off x="7764293" y="3362839"/>
                    <a:ext cx="533562" cy="407099"/>
                  </a:xfrm>
                  <a:prstGeom prst="rect">
                    <a:avLst/>
                  </a:prstGeom>
                  <a:blipFill>
                    <a:blip r:embed="rId29"/>
                    <a:stretch>
                      <a:fillRect r="-10345"/>
                    </a:stretch>
                  </a:blipFill>
                </p:spPr>
                <p:txBody>
                  <a:bodyPr/>
                  <a:lstStyle/>
                  <a:p>
                    <a:r>
                      <a:rPr lang="es-CO">
                        <a:noFill/>
                      </a:rPr>
                      <a:t> </a:t>
                    </a:r>
                  </a:p>
                </p:txBody>
              </p:sp>
            </mc:Fallback>
          </mc:AlternateContent>
        </p:grpSp>
      </p:grpSp>
    </p:spTree>
    <p:extLst>
      <p:ext uri="{BB962C8B-B14F-4D97-AF65-F5344CB8AC3E}">
        <p14:creationId xmlns:p14="http://schemas.microsoft.com/office/powerpoint/2010/main" val="381494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4721" y="96038"/>
            <a:ext cx="879592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4722" y="780067"/>
            <a:ext cx="1134255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 8</a:t>
            </a: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24720" y="1301870"/>
                <a:ext cx="11342559" cy="28510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Sea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2,3,4</m:t>
                        </m:r>
                      </m:e>
                    </m:d>
                  </m:oMath>
                </a14:m>
                <a:r>
                  <a:rPr lang="es-MX" sz="2000" dirty="0">
                    <a:latin typeface="+mn-lt"/>
                    <a:ea typeface="Roboto" panose="02000000000000000000" pitchFamily="2" charset="0"/>
                  </a:rPr>
                  <a:t> y </a:t>
                </a:r>
                <a14:m>
                  <m:oMath xmlns:m="http://schemas.openxmlformats.org/officeDocument/2006/math">
                    <m:r>
                      <a:rPr lang="es-MX" sz="2000" i="1">
                        <a:solidFill>
                          <a:schemeClr val="tx1"/>
                        </a:solidFill>
                        <a:latin typeface="Cambria Math" panose="02040503050406030204" pitchFamily="18" charset="0"/>
                        <a:ea typeface="Roboto" panose="02000000000000000000" pitchFamily="2" charset="0"/>
                      </a:rPr>
                      <m:t>𝐵</m:t>
                    </m:r>
                    <m:r>
                      <a:rPr lang="es-MX" sz="2000" i="1">
                        <a:solidFill>
                          <a:schemeClr val="tx1"/>
                        </a:solidFill>
                        <a:latin typeface="Cambria Math" panose="02040503050406030204" pitchFamily="18" charset="0"/>
                        <a:ea typeface="Roboto" panose="02000000000000000000" pitchFamily="2" charset="0"/>
                      </a:rPr>
                      <m:t>=</m:t>
                    </m:r>
                    <m:d>
                      <m:dPr>
                        <m:begChr m:val="{"/>
                        <m:endChr m:val="}"/>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2,6,8</m:t>
                        </m:r>
                      </m:e>
                    </m:d>
                  </m:oMath>
                </a14:m>
                <a:r>
                  <a:rPr lang="es-MX" sz="2000" dirty="0">
                    <a:latin typeface="+mn-lt"/>
                    <a:ea typeface="Roboto" panose="02000000000000000000" pitchFamily="2" charset="0"/>
                  </a:rPr>
                  <a:t> y sea </a:t>
                </a:r>
                <a14:m>
                  <m:oMath xmlns:m="http://schemas.openxmlformats.org/officeDocument/2006/math">
                    <m:r>
                      <a:rPr lang="es-MX" sz="2000" i="1">
                        <a:solidFill>
                          <a:schemeClr val="tx1"/>
                        </a:solidFill>
                        <a:latin typeface="Cambria Math" panose="02040503050406030204" pitchFamily="18" charset="0"/>
                        <a:ea typeface="Roboto" panose="02000000000000000000" pitchFamily="2" charset="0"/>
                      </a:rPr>
                      <m:t>𝑅</m:t>
                    </m:r>
                    <m:r>
                      <a:rPr lang="es-MX" sz="2000" i="1">
                        <a:solidFill>
                          <a:schemeClr val="tx1"/>
                        </a:solidFill>
                        <a:latin typeface="Cambria Math" panose="02040503050406030204" pitchFamily="18" charset="0"/>
                        <a:ea typeface="Roboto" panose="02000000000000000000" pitchFamily="2" charset="0"/>
                      </a:rPr>
                      <m:t> </m:t>
                    </m:r>
                  </m:oMath>
                </a14:m>
                <a:r>
                  <a:rPr lang="es-MX" sz="2000" dirty="0">
                    <a:latin typeface="+mn-lt"/>
                    <a:ea typeface="Roboto" panose="02000000000000000000" pitchFamily="2" charset="0"/>
                  </a:rPr>
                  <a:t>la relación “divide” de </a:t>
                </a:r>
                <a14:m>
                  <m:oMath xmlns:m="http://schemas.openxmlformats.org/officeDocument/2006/math">
                    <m:r>
                      <a:rPr lang="es-MX" sz="2000" i="1">
                        <a:solidFill>
                          <a:schemeClr val="tx1"/>
                        </a:solidFill>
                        <a:latin typeface="Cambria Math" panose="02040503050406030204" pitchFamily="18" charset="0"/>
                        <a:ea typeface="Roboto" panose="02000000000000000000" pitchFamily="2" charset="0"/>
                      </a:rPr>
                      <m:t>𝐴</m:t>
                    </m:r>
                    <m:r>
                      <a:rPr lang="es-MX" sz="2000" i="1">
                        <a:solidFill>
                          <a:schemeClr val="tx1"/>
                        </a:solidFill>
                        <a:latin typeface="Cambria Math" panose="02040503050406030204" pitchFamily="18" charset="0"/>
                        <a:ea typeface="Roboto" panose="02000000000000000000" pitchFamily="2" charset="0"/>
                      </a:rPr>
                      <m:t> </m:t>
                    </m:r>
                  </m:oMath>
                </a14:m>
                <a:r>
                  <a:rPr lang="es-MX" sz="2000" dirty="0">
                    <a:latin typeface="+mn-lt"/>
                    <a:ea typeface="Roboto" panose="02000000000000000000" pitchFamily="2" charset="0"/>
                  </a:rPr>
                  <a:t>a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Para toda </a:t>
                </a:r>
                <a14:m>
                  <m:oMath xmlns:m="http://schemas.openxmlformats.org/officeDocument/2006/math">
                    <m:d>
                      <m:dPr>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𝑥</m:t>
                        </m:r>
                        <m:r>
                          <a:rPr lang="es-MX" sz="2000" i="1">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𝑦</m:t>
                        </m:r>
                      </m:e>
                    </m:d>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a:t>
                </a:r>
              </a:p>
              <a:p>
                <a:pPr marL="127000" indent="0">
                  <a:buNone/>
                </a:pPr>
                <a:endParaRPr lang="es-MX" sz="2000" b="1" dirty="0">
                  <a:solidFill>
                    <a:schemeClr val="tx1"/>
                  </a:solidFill>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𝑥</m:t>
                      </m:r>
                      <m:r>
                        <m:rPr>
                          <m:lit/>
                        </m:rPr>
                        <a:rPr lang="es-MX" sz="2000" b="0" i="1" smtClean="0">
                          <a:solidFill>
                            <a:schemeClr val="tx1"/>
                          </a:solidFill>
                          <a:latin typeface="Cambria Math" panose="02040503050406030204" pitchFamily="18" charset="0"/>
                          <a:ea typeface="Roboto" panose="02000000000000000000" pitchFamily="2" charset="0"/>
                        </a:rPr>
                        <m:t> </m:t>
                      </m:r>
                      <m:r>
                        <a:rPr lang="es-MX" sz="2000" b="0" i="1" smtClean="0">
                          <a:solidFill>
                            <a:schemeClr val="tx1"/>
                          </a:solidFill>
                          <a:latin typeface="Cambria Math" panose="02040503050406030204" pitchFamily="18" charset="0"/>
                          <a:ea typeface="Roboto" panose="02000000000000000000" pitchFamily="2" charset="0"/>
                        </a:rPr>
                        <m:t>𝑅</m:t>
                      </m:r>
                      <m:r>
                        <m:rPr>
                          <m:lit/>
                        </m:rPr>
                        <a:rPr lang="es-MX" sz="2000" b="0" i="1" smtClean="0">
                          <a:solidFill>
                            <a:schemeClr val="tx1"/>
                          </a:solidFill>
                          <a:latin typeface="Cambria Math" panose="02040503050406030204" pitchFamily="18" charset="0"/>
                          <a:ea typeface="Roboto" panose="02000000000000000000" pitchFamily="2" charset="0"/>
                        </a:rPr>
                        <m:t> </m:t>
                      </m:r>
                      <m:r>
                        <a:rPr lang="es-MX" sz="2000" b="0" i="1" smtClean="0">
                          <a:solidFill>
                            <a:schemeClr val="tx1"/>
                          </a:solidFill>
                          <a:latin typeface="Cambria Math" panose="02040503050406030204" pitchFamily="18" charset="0"/>
                          <a:ea typeface="Roboto" panose="02000000000000000000" pitchFamily="2" charset="0"/>
                        </a:rPr>
                        <m:t>𝑦</m:t>
                      </m:r>
                      <m:r>
                        <a:rPr lang="es-MX" sz="2000" b="0" i="1" smtClean="0">
                          <a:solidFill>
                            <a:schemeClr val="tx1"/>
                          </a:solidFill>
                          <a:latin typeface="Cambria Math" panose="02040503050406030204" pitchFamily="18" charset="0"/>
                          <a:ea typeface="Roboto" panose="02000000000000000000" pitchFamily="2" charset="0"/>
                        </a:rPr>
                        <m:t> ⟺</m:t>
                      </m:r>
                      <m:r>
                        <a:rPr lang="es-MX" sz="2000" b="0" i="1" smtClean="0">
                          <a:solidFill>
                            <a:schemeClr val="tx1"/>
                          </a:solidFill>
                          <a:latin typeface="Cambria Math" panose="02040503050406030204" pitchFamily="18" charset="0"/>
                          <a:ea typeface="Cambria Math" panose="02040503050406030204" pitchFamily="18" charset="0"/>
                        </a:rPr>
                        <m:t>𝑥</m:t>
                      </m:r>
                      <m:r>
                        <a:rPr lang="es-MX" sz="2000" b="0" i="1" smtClean="0">
                          <a:solidFill>
                            <a:schemeClr val="tx1"/>
                          </a:solidFill>
                          <a:latin typeface="Cambria Math" panose="02040503050406030204" pitchFamily="18" charset="0"/>
                          <a:ea typeface="Cambria Math" panose="02040503050406030204" pitchFamily="18" charset="0"/>
                        </a:rPr>
                        <m:t>|</m:t>
                      </m:r>
                      <m:r>
                        <a:rPr lang="es-MX" sz="2000" b="0" i="1" smtClean="0">
                          <a:solidFill>
                            <a:schemeClr val="tx1"/>
                          </a:solidFill>
                          <a:latin typeface="Cambria Math" panose="02040503050406030204" pitchFamily="18" charset="0"/>
                          <a:ea typeface="Cambria Math" panose="02040503050406030204" pitchFamily="18" charset="0"/>
                        </a:rPr>
                        <m:t>𝑦</m:t>
                      </m:r>
                      <m:r>
                        <m:rPr>
                          <m:lit/>
                        </m:rPr>
                        <a:rPr lang="es-MX" sz="2000" b="0" i="1" smtClean="0">
                          <a:solidFill>
                            <a:schemeClr val="tx1"/>
                          </a:solidFill>
                          <a:latin typeface="Cambria Math" panose="02040503050406030204" pitchFamily="18" charset="0"/>
                          <a:ea typeface="Cambria Math" panose="02040503050406030204" pitchFamily="18" charset="0"/>
                        </a:rPr>
                        <m:t>          </m:t>
                      </m:r>
                      <m:r>
                        <a:rPr lang="es-MX" sz="2000" b="0" i="1" smtClean="0">
                          <a:solidFill>
                            <a:srgbClr val="002060"/>
                          </a:solidFill>
                          <a:latin typeface="Cambria Math" panose="02040503050406030204" pitchFamily="18" charset="0"/>
                          <a:ea typeface="Cambria Math" panose="02040503050406030204" pitchFamily="18" charset="0"/>
                        </a:rPr>
                        <m:t>𝑥</m:t>
                      </m:r>
                      <m:r>
                        <a:rPr lang="es-MX" sz="2000" b="0" i="1" smtClean="0">
                          <a:solidFill>
                            <a:srgbClr val="002060"/>
                          </a:solidFill>
                          <a:latin typeface="Cambria Math" panose="02040503050406030204" pitchFamily="18" charset="0"/>
                          <a:ea typeface="Cambria Math" panose="02040503050406030204" pitchFamily="18" charset="0"/>
                        </a:rPr>
                        <m:t> </m:t>
                      </m:r>
                      <m:r>
                        <m:rPr>
                          <m:sty m:val="p"/>
                        </m:rPr>
                        <a:rPr lang="es-MX" sz="2000" b="0" i="0" smtClean="0">
                          <a:solidFill>
                            <a:srgbClr val="002060"/>
                          </a:solidFill>
                          <a:latin typeface="Cambria Math" panose="02040503050406030204" pitchFamily="18" charset="0"/>
                          <a:ea typeface="Cambria Math" panose="02040503050406030204" pitchFamily="18" charset="0"/>
                        </a:rPr>
                        <m:t>divide</m:t>
                      </m:r>
                      <m:r>
                        <a:rPr lang="es-MX" sz="2000" b="0" i="1" smtClean="0">
                          <a:solidFill>
                            <a:srgbClr val="002060"/>
                          </a:solidFill>
                          <a:latin typeface="Cambria Math" panose="02040503050406030204" pitchFamily="18" charset="0"/>
                          <a:ea typeface="Cambria Math" panose="02040503050406030204" pitchFamily="18" charset="0"/>
                        </a:rPr>
                        <m:t> </m:t>
                      </m:r>
                      <m:r>
                        <a:rPr lang="es-MX" sz="2000" b="0" i="1" smtClean="0">
                          <a:solidFill>
                            <a:srgbClr val="002060"/>
                          </a:solidFill>
                          <a:latin typeface="Cambria Math" panose="02040503050406030204" pitchFamily="18" charset="0"/>
                          <a:ea typeface="Cambria Math" panose="02040503050406030204" pitchFamily="18" charset="0"/>
                        </a:rPr>
                        <m:t>𝑦</m:t>
                      </m:r>
                    </m:oMath>
                  </m:oMathPara>
                </a14:m>
                <a:endParaRPr lang="es-MX" sz="2000" b="0" dirty="0">
                  <a:solidFill>
                    <a:srgbClr val="002060"/>
                  </a:solidFill>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584200" indent="-457200">
                  <a:buFont typeface="+mj-lt"/>
                  <a:buAutoNum type="alphaLcPeriod"/>
                </a:pPr>
                <a:r>
                  <a:rPr lang="es-MX" sz="2000" dirty="0">
                    <a:latin typeface="+mn-lt"/>
                    <a:ea typeface="Roboto" panose="02000000000000000000" pitchFamily="2" charset="0"/>
                  </a:rPr>
                  <a:t>Establezca explícitamente que pares ordenados están en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y </a:t>
                </a:r>
                <a14:m>
                  <m:oMath xmlns:m="http://schemas.openxmlformats.org/officeDocument/2006/math">
                    <m:sSup>
                      <m:sSupPr>
                        <m:ctrlPr>
                          <a:rPr lang="es-MX" sz="2000" b="0" i="1" smtClean="0">
                            <a:solidFill>
                              <a:schemeClr val="tx1"/>
                            </a:solidFill>
                            <a:latin typeface="Cambria Math" panose="02040503050406030204" pitchFamily="18" charset="0"/>
                            <a:ea typeface="Roboto" panose="02000000000000000000" pitchFamily="2" charset="0"/>
                          </a:rPr>
                        </m:ctrlPr>
                      </m:sSupPr>
                      <m:e>
                        <m:r>
                          <a:rPr lang="es-MX" sz="2000" i="1">
                            <a:solidFill>
                              <a:schemeClr val="tx1"/>
                            </a:solidFill>
                            <a:latin typeface="Cambria Math" panose="02040503050406030204" pitchFamily="18" charset="0"/>
                            <a:ea typeface="Roboto" panose="02000000000000000000" pitchFamily="2" charset="0"/>
                          </a:rPr>
                          <m:t>𝑅</m:t>
                        </m:r>
                      </m:e>
                      <m:sup>
                        <m:r>
                          <a:rPr lang="es-MX" sz="2000" b="0" i="1" smtClean="0">
                            <a:solidFill>
                              <a:schemeClr val="tx1"/>
                            </a:solidFill>
                            <a:latin typeface="Cambria Math" panose="02040503050406030204" pitchFamily="18" charset="0"/>
                            <a:ea typeface="Roboto" panose="02000000000000000000" pitchFamily="2" charset="0"/>
                          </a:rPr>
                          <m:t>−1</m:t>
                        </m:r>
                      </m:sup>
                    </m:sSup>
                  </m:oMath>
                </a14:m>
                <a:r>
                  <a:rPr lang="es-MX" sz="2000" dirty="0">
                    <a:latin typeface="+mn-lt"/>
                    <a:ea typeface="Roboto" panose="02000000000000000000" pitchFamily="2" charset="0"/>
                  </a:rPr>
                  <a:t> y dibuje los diagramas de flechas para </a:t>
                </a:r>
                <a14:m>
                  <m:oMath xmlns:m="http://schemas.openxmlformats.org/officeDocument/2006/math">
                    <m:r>
                      <a:rPr lang="es-MX" sz="2000" i="1">
                        <a:solidFill>
                          <a:schemeClr val="tx1"/>
                        </a:solidFill>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y </a:t>
                </a:r>
                <a14:m>
                  <m:oMath xmlns:m="http://schemas.openxmlformats.org/officeDocument/2006/math">
                    <m:sSup>
                      <m:sSupPr>
                        <m:ctrlPr>
                          <a:rPr lang="es-MX" sz="2000" i="1">
                            <a:solidFill>
                              <a:schemeClr val="tx1"/>
                            </a:solidFill>
                            <a:latin typeface="Cambria Math" panose="02040503050406030204" pitchFamily="18" charset="0"/>
                            <a:ea typeface="Roboto" panose="02000000000000000000" pitchFamily="2" charset="0"/>
                          </a:rPr>
                        </m:ctrlPr>
                      </m:sSupPr>
                      <m:e>
                        <m:r>
                          <a:rPr lang="es-MX" sz="2000" i="1">
                            <a:solidFill>
                              <a:schemeClr val="tx1"/>
                            </a:solidFill>
                            <a:latin typeface="Cambria Math" panose="02040503050406030204" pitchFamily="18" charset="0"/>
                            <a:ea typeface="Roboto" panose="02000000000000000000" pitchFamily="2" charset="0"/>
                          </a:rPr>
                          <m:t>𝑅</m:t>
                        </m:r>
                      </m:e>
                      <m:sup>
                        <m:r>
                          <a:rPr lang="es-MX" sz="2000" i="1">
                            <a:solidFill>
                              <a:schemeClr val="tx1"/>
                            </a:solidFill>
                            <a:latin typeface="Cambria Math" panose="02040503050406030204" pitchFamily="18" charset="0"/>
                            <a:ea typeface="Roboto" panose="02000000000000000000" pitchFamily="2" charset="0"/>
                          </a:rPr>
                          <m:t>−1</m:t>
                        </m:r>
                      </m:sup>
                    </m:sSup>
                  </m:oMath>
                </a14:m>
                <a:r>
                  <a:rPr lang="es-MX" sz="2000" dirty="0">
                    <a:latin typeface="+mn-lt"/>
                    <a:ea typeface="Roboto" panose="02000000000000000000" pitchFamily="2" charset="0"/>
                  </a:rPr>
                  <a:t>.</a:t>
                </a:r>
              </a:p>
              <a:p>
                <a:pPr marL="584200" indent="-457200">
                  <a:buFont typeface="+mj-lt"/>
                  <a:buAutoNum type="alphaLcPeriod"/>
                </a:pPr>
                <a:r>
                  <a:rPr lang="es-MX" sz="2000" dirty="0">
                    <a:latin typeface="+mn-lt"/>
                    <a:ea typeface="Roboto" panose="02000000000000000000" pitchFamily="2" charset="0"/>
                  </a:rPr>
                  <a:t>Describa </a:t>
                </a:r>
                <a14:m>
                  <m:oMath xmlns:m="http://schemas.openxmlformats.org/officeDocument/2006/math">
                    <m:sSup>
                      <m:sSupPr>
                        <m:ctrlPr>
                          <a:rPr lang="es-MX" sz="2000" i="1" smtClean="0">
                            <a:solidFill>
                              <a:schemeClr val="tx1"/>
                            </a:solidFill>
                            <a:latin typeface="Cambria Math" panose="02040503050406030204" pitchFamily="18" charset="0"/>
                            <a:ea typeface="Roboto" panose="02000000000000000000" pitchFamily="2" charset="0"/>
                          </a:rPr>
                        </m:ctrlPr>
                      </m:sSupPr>
                      <m:e>
                        <m:r>
                          <a:rPr lang="es-MX" sz="2000" i="1">
                            <a:solidFill>
                              <a:schemeClr val="tx1"/>
                            </a:solidFill>
                            <a:latin typeface="Cambria Math" panose="02040503050406030204" pitchFamily="18" charset="0"/>
                            <a:ea typeface="Roboto" panose="02000000000000000000" pitchFamily="2" charset="0"/>
                          </a:rPr>
                          <m:t>𝑅</m:t>
                        </m:r>
                      </m:e>
                      <m:sup>
                        <m:r>
                          <a:rPr lang="es-MX" sz="2000" i="1">
                            <a:solidFill>
                              <a:schemeClr val="tx1"/>
                            </a:solidFill>
                            <a:latin typeface="Cambria Math" panose="02040503050406030204" pitchFamily="18" charset="0"/>
                            <a:ea typeface="Roboto" panose="02000000000000000000" pitchFamily="2" charset="0"/>
                          </a:rPr>
                          <m:t>−1</m:t>
                        </m:r>
                      </m:sup>
                    </m:sSup>
                  </m:oMath>
                </a14:m>
                <a:r>
                  <a:rPr lang="es-MX" sz="2000" dirty="0">
                    <a:latin typeface="+mn-lt"/>
                    <a:ea typeface="Roboto" panose="02000000000000000000" pitchFamily="2" charset="0"/>
                  </a:rPr>
                  <a:t> en palabras.</a:t>
                </a:r>
              </a:p>
              <a:p>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424720" y="1301870"/>
                <a:ext cx="11342559" cy="2851030"/>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40743803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4721" y="96038"/>
            <a:ext cx="879592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4722" y="780067"/>
            <a:ext cx="1134255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 8 - Solución</a:t>
            </a: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24720" y="1301870"/>
                <a:ext cx="11552651"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lphaLcPeriod"/>
                </a:pPr>
                <a:r>
                  <a:rPr lang="es-MX" sz="2000" dirty="0">
                    <a:latin typeface="+mn-lt"/>
                    <a:ea typeface="Roboto" panose="02000000000000000000" pitchFamily="2" charset="0"/>
                  </a:rPr>
                  <a:t>Tenemos que para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2,3,4</m:t>
                        </m:r>
                      </m:e>
                    </m:d>
                  </m:oMath>
                </a14:m>
                <a:r>
                  <a:rPr lang="es-MX" sz="2000" b="0" i="1" dirty="0">
                    <a:solidFill>
                      <a:schemeClr val="tx1"/>
                    </a:solidFill>
                    <a:latin typeface="+mn-lt"/>
                    <a:ea typeface="Roboto" panose="02000000000000000000" pitchFamily="2" charset="0"/>
                  </a:rPr>
                  <a:t> </a:t>
                </a:r>
                <a:r>
                  <a:rPr lang="es-MX" sz="2000" dirty="0">
                    <a:latin typeface="+mn-lt"/>
                    <a:ea typeface="Roboto" panose="02000000000000000000" pitchFamily="2" charset="0"/>
                  </a:rPr>
                  <a:t>y </a:t>
                </a:r>
                <a14:m>
                  <m:oMath xmlns:m="http://schemas.openxmlformats.org/officeDocument/2006/math">
                    <m:r>
                      <a:rPr lang="es-MX" sz="2000" i="1">
                        <a:solidFill>
                          <a:schemeClr val="tx1"/>
                        </a:solidFill>
                        <a:latin typeface="Cambria Math" panose="02040503050406030204" pitchFamily="18" charset="0"/>
                        <a:ea typeface="Roboto" panose="02000000000000000000" pitchFamily="2" charset="0"/>
                      </a:rPr>
                      <m:t>𝐵</m:t>
                    </m:r>
                    <m:r>
                      <a:rPr lang="es-MX" sz="2000" i="1">
                        <a:solidFill>
                          <a:schemeClr val="tx1"/>
                        </a:solidFill>
                        <a:latin typeface="Cambria Math" panose="02040503050406030204" pitchFamily="18" charset="0"/>
                        <a:ea typeface="Roboto" panose="02000000000000000000" pitchFamily="2" charset="0"/>
                      </a:rPr>
                      <m:t>=</m:t>
                    </m:r>
                    <m:d>
                      <m:dPr>
                        <m:begChr m:val="{"/>
                        <m:endChr m:val="}"/>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2,6,8</m:t>
                        </m:r>
                      </m:e>
                    </m:d>
                  </m:oMath>
                </a14:m>
                <a:r>
                  <a:rPr lang="es-MX" sz="2000" dirty="0">
                    <a:latin typeface="+mn-lt"/>
                    <a:ea typeface="Roboto" panose="02000000000000000000" pitchFamily="2" charset="0"/>
                  </a:rPr>
                  <a:t>:</a:t>
                </a:r>
              </a:p>
              <a:p>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424720" y="1301870"/>
                <a:ext cx="11552651" cy="530942"/>
              </a:xfrm>
              <a:prstGeom prst="rect">
                <a:avLst/>
              </a:prstGeom>
              <a:blipFill>
                <a:blip r:embed="rId3"/>
                <a:stretch>
                  <a:fillRect b="-13793"/>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3C8D6B1D-3471-4CFD-BE6C-07A5C6F70939}"/>
                  </a:ext>
                </a:extLst>
              </p:cNvPr>
              <p:cNvSpPr txBox="1"/>
              <p:nvPr/>
            </p:nvSpPr>
            <p:spPr>
              <a:xfrm>
                <a:off x="1383548" y="4308204"/>
                <a:ext cx="3430963" cy="369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1800" b="0" i="1" smtClean="0">
                          <a:solidFill>
                            <a:schemeClr val="tx1"/>
                          </a:solidFill>
                          <a:latin typeface="Cambria Math" panose="02040503050406030204" pitchFamily="18" charset="0"/>
                        </a:rPr>
                        <m:t>𝑅</m:t>
                      </m:r>
                      <m:r>
                        <a:rPr lang="es-MX" sz="1800" b="0" i="1" smtClean="0">
                          <a:solidFill>
                            <a:schemeClr val="tx1"/>
                          </a:solidFill>
                          <a:latin typeface="Cambria Math" panose="02040503050406030204" pitchFamily="18" charset="0"/>
                        </a:rPr>
                        <m:t>=</m:t>
                      </m:r>
                      <m:d>
                        <m:dPr>
                          <m:begChr m:val="{"/>
                          <m:endChr m:val="}"/>
                          <m:ctrlPr>
                            <a:rPr lang="es-MX" sz="1800" b="0" i="1" smtClean="0">
                              <a:solidFill>
                                <a:schemeClr val="tx1"/>
                              </a:solidFill>
                              <a:latin typeface="Cambria Math" panose="02040503050406030204" pitchFamily="18" charset="0"/>
                            </a:rPr>
                          </m:ctrlPr>
                        </m:dPr>
                        <m:e>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𝑥</m:t>
                              </m:r>
                              <m:r>
                                <a:rPr lang="es-MX" sz="1800" b="0" i="1" smtClean="0">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𝑦</m:t>
                              </m:r>
                            </m:e>
                          </m:d>
                        </m:e>
                        <m:e>
                          <m:r>
                            <m:rPr>
                              <m:sty m:val="p"/>
                            </m:rPr>
                            <a:rPr lang="es-MX" sz="1800" b="0" i="0" smtClean="0">
                              <a:solidFill>
                                <a:schemeClr val="tx1"/>
                              </a:solidFill>
                              <a:latin typeface="Cambria Math" panose="02040503050406030204" pitchFamily="18" charset="0"/>
                            </a:rPr>
                            <m:t>y</m:t>
                          </m:r>
                          <m:r>
                            <m:rPr>
                              <m:lit/>
                            </m:rPr>
                            <a:rPr lang="es-MX" sz="1800" b="0" i="0" smtClean="0">
                              <a:solidFill>
                                <a:schemeClr val="tx1"/>
                              </a:solidFill>
                              <a:latin typeface="Cambria Math" panose="02040503050406030204" pitchFamily="18" charset="0"/>
                            </a:rPr>
                            <m:t> </m:t>
                          </m:r>
                          <m:r>
                            <m:rPr>
                              <m:sty m:val="p"/>
                            </m:rPr>
                            <a:rPr lang="es-MX" sz="1800" b="0" i="0" smtClean="0">
                              <a:solidFill>
                                <a:schemeClr val="tx1"/>
                              </a:solidFill>
                              <a:latin typeface="Cambria Math" panose="02040503050406030204" pitchFamily="18" charset="0"/>
                            </a:rPr>
                            <m:t>mod</m:t>
                          </m:r>
                          <m:r>
                            <m:rPr>
                              <m:lit/>
                            </m:rPr>
                            <a:rPr lang="es-MX" sz="1800" b="0" i="0" smtClean="0">
                              <a:solidFill>
                                <a:schemeClr val="tx1"/>
                              </a:solidFill>
                              <a:latin typeface="Cambria Math" panose="02040503050406030204" pitchFamily="18" charset="0"/>
                            </a:rPr>
                            <m:t> </m:t>
                          </m:r>
                          <m:r>
                            <a:rPr lang="es-MX" sz="1800" b="0" i="1" smtClean="0">
                              <a:solidFill>
                                <a:schemeClr val="tx1"/>
                              </a:solidFill>
                              <a:latin typeface="Cambria Math" panose="02040503050406030204" pitchFamily="18" charset="0"/>
                            </a:rPr>
                            <m:t>𝑥</m:t>
                          </m:r>
                          <m:r>
                            <a:rPr lang="es-MX" sz="1800" b="0" i="1" smtClean="0">
                              <a:solidFill>
                                <a:schemeClr val="tx1"/>
                              </a:solidFill>
                              <a:latin typeface="Cambria Math" panose="02040503050406030204" pitchFamily="18" charset="0"/>
                            </a:rPr>
                            <m:t>=0</m:t>
                          </m:r>
                        </m:e>
                      </m:d>
                    </m:oMath>
                  </m:oMathPara>
                </a14:m>
                <a:endParaRPr lang="es-CO" sz="1800" dirty="0">
                  <a:solidFill>
                    <a:schemeClr val="tx1"/>
                  </a:solidFill>
                </a:endParaRPr>
              </a:p>
            </p:txBody>
          </p:sp>
        </mc:Choice>
        <mc:Fallback xmlns="">
          <p:sp>
            <p:nvSpPr>
              <p:cNvPr id="5" name="CuadroTexto 4">
                <a:extLst>
                  <a:ext uri="{FF2B5EF4-FFF2-40B4-BE49-F238E27FC236}">
                    <a16:creationId xmlns:a16="http://schemas.microsoft.com/office/drawing/2014/main" id="{3C8D6B1D-3471-4CFD-BE6C-07A5C6F70939}"/>
                  </a:ext>
                </a:extLst>
              </p:cNvPr>
              <p:cNvSpPr txBox="1">
                <a:spLocks noRot="1" noChangeAspect="1" noMove="1" noResize="1" noEditPoints="1" noAdjustHandles="1" noChangeArrowheads="1" noChangeShapeType="1" noTextEdit="1"/>
              </p:cNvSpPr>
              <p:nvPr/>
            </p:nvSpPr>
            <p:spPr>
              <a:xfrm>
                <a:off x="1383548" y="4308204"/>
                <a:ext cx="3430963" cy="369331"/>
              </a:xfrm>
              <a:prstGeom prst="rect">
                <a:avLst/>
              </a:prstGeom>
              <a:blipFill>
                <a:blip r:embed="rId4"/>
                <a:stretch>
                  <a:fillRect b="-666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B7032E9-BAC7-4C4B-A4F9-2AC976330112}"/>
                  </a:ext>
                </a:extLst>
              </p:cNvPr>
              <p:cNvSpPr txBox="1"/>
              <p:nvPr/>
            </p:nvSpPr>
            <p:spPr>
              <a:xfrm>
                <a:off x="6592732" y="4356589"/>
                <a:ext cx="3613086" cy="3755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s-MX" sz="1800" b="0" i="1" smtClean="0">
                              <a:solidFill>
                                <a:schemeClr val="tx1"/>
                              </a:solidFill>
                              <a:latin typeface="Cambria Math" panose="02040503050406030204" pitchFamily="18" charset="0"/>
                            </a:rPr>
                          </m:ctrlPr>
                        </m:sSupPr>
                        <m:e>
                          <m:r>
                            <a:rPr lang="es-MX" sz="1800" b="0" i="1" smtClean="0">
                              <a:solidFill>
                                <a:schemeClr val="tx1"/>
                              </a:solidFill>
                              <a:latin typeface="Cambria Math" panose="02040503050406030204" pitchFamily="18" charset="0"/>
                            </a:rPr>
                            <m:t>𝑅</m:t>
                          </m:r>
                        </m:e>
                        <m:sup>
                          <m:r>
                            <a:rPr lang="es-MX" sz="1800" b="0" i="1" smtClean="0">
                              <a:solidFill>
                                <a:schemeClr val="tx1"/>
                              </a:solidFill>
                              <a:latin typeface="Cambria Math" panose="02040503050406030204" pitchFamily="18" charset="0"/>
                            </a:rPr>
                            <m:t>−1</m:t>
                          </m:r>
                        </m:sup>
                      </m:sSup>
                      <m:r>
                        <a:rPr lang="es-MX" sz="1800" b="0" i="1" smtClean="0">
                          <a:solidFill>
                            <a:schemeClr val="tx1"/>
                          </a:solidFill>
                          <a:latin typeface="Cambria Math" panose="02040503050406030204" pitchFamily="18" charset="0"/>
                        </a:rPr>
                        <m:t>=</m:t>
                      </m:r>
                      <m:d>
                        <m:dPr>
                          <m:begChr m:val="{"/>
                          <m:endChr m:val="}"/>
                          <m:ctrlPr>
                            <a:rPr lang="es-MX" sz="1800" b="0" i="1" smtClean="0">
                              <a:solidFill>
                                <a:schemeClr val="tx1"/>
                              </a:solidFill>
                              <a:latin typeface="Cambria Math" panose="02040503050406030204" pitchFamily="18" charset="0"/>
                            </a:rPr>
                          </m:ctrlPr>
                        </m:dPr>
                        <m:e>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𝑦</m:t>
                              </m:r>
                              <m:r>
                                <a:rPr lang="es-MX" sz="1800" b="0" i="1" smtClean="0">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𝑥</m:t>
                              </m:r>
                            </m:e>
                          </m:d>
                        </m:e>
                        <m:e>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𝑥</m:t>
                              </m:r>
                              <m:r>
                                <a:rPr lang="es-MX" sz="1800" b="0" i="1" smtClean="0">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𝑦</m:t>
                              </m:r>
                            </m:e>
                          </m:d>
                          <m:r>
                            <a:rPr lang="es-MX" sz="1800" b="0" i="1" smtClean="0">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𝑅</m:t>
                          </m:r>
                        </m:e>
                      </m:d>
                    </m:oMath>
                  </m:oMathPara>
                </a14:m>
                <a:endParaRPr lang="es-CO" sz="1800" dirty="0">
                  <a:solidFill>
                    <a:schemeClr val="tx1"/>
                  </a:solidFill>
                </a:endParaRPr>
              </a:p>
            </p:txBody>
          </p:sp>
        </mc:Choice>
        <mc:Fallback xmlns="">
          <p:sp>
            <p:nvSpPr>
              <p:cNvPr id="6" name="CuadroTexto 5">
                <a:extLst>
                  <a:ext uri="{FF2B5EF4-FFF2-40B4-BE49-F238E27FC236}">
                    <a16:creationId xmlns:a16="http://schemas.microsoft.com/office/drawing/2014/main" id="{DB7032E9-BAC7-4C4B-A4F9-2AC976330112}"/>
                  </a:ext>
                </a:extLst>
              </p:cNvPr>
              <p:cNvSpPr txBox="1">
                <a:spLocks noRot="1" noChangeAspect="1" noMove="1" noResize="1" noEditPoints="1" noAdjustHandles="1" noChangeArrowheads="1" noChangeShapeType="1" noTextEdit="1"/>
              </p:cNvSpPr>
              <p:nvPr/>
            </p:nvSpPr>
            <p:spPr>
              <a:xfrm>
                <a:off x="6592732" y="4356589"/>
                <a:ext cx="3613086" cy="375552"/>
              </a:xfrm>
              <a:prstGeom prst="rect">
                <a:avLst/>
              </a:prstGeom>
              <a:blipFill>
                <a:blip r:embed="rId5"/>
                <a:stretch>
                  <a:fillRect b="-655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76D6224B-81F4-4CFC-AAE7-D6163BF9C28C}"/>
                  </a:ext>
                </a:extLst>
              </p:cNvPr>
              <p:cNvSpPr txBox="1">
                <a:spLocks/>
              </p:cNvSpPr>
              <p:nvPr/>
            </p:nvSpPr>
            <p:spPr>
              <a:xfrm>
                <a:off x="499443" y="5290658"/>
                <a:ext cx="11552651" cy="136246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lphaLcPeriod" startAt="2"/>
                </a:pPr>
                <a:r>
                  <a:rPr lang="es-MX" sz="2000" dirty="0">
                    <a:latin typeface="+mn-lt"/>
                    <a:ea typeface="Roboto" panose="02000000000000000000" pitchFamily="2" charset="0"/>
                  </a:rPr>
                  <a:t>Para el caso podemos ver que: Para toda </a:t>
                </a:r>
                <a14:m>
                  <m:oMath xmlns:m="http://schemas.openxmlformats.org/officeDocument/2006/math">
                    <m:d>
                      <m:dPr>
                        <m:ctrlPr>
                          <a:rPr lang="es-MX" sz="2000" i="1">
                            <a:solidFill>
                              <a:schemeClr val="tx1"/>
                            </a:solidFill>
                            <a:latin typeface="Cambria Math" panose="02040503050406030204" pitchFamily="18" charset="0"/>
                            <a:ea typeface="Roboto" panose="02000000000000000000" pitchFamily="2" charset="0"/>
                          </a:rPr>
                        </m:ctrlPr>
                      </m:dPr>
                      <m:e>
                        <m:r>
                          <a:rPr lang="es-MX" sz="2000" i="1">
                            <a:solidFill>
                              <a:schemeClr val="tx1"/>
                            </a:solidFill>
                            <a:latin typeface="Cambria Math" panose="02040503050406030204" pitchFamily="18" charset="0"/>
                            <a:ea typeface="Roboto" panose="02000000000000000000" pitchFamily="2" charset="0"/>
                          </a:rPr>
                          <m:t>𝑥</m:t>
                        </m:r>
                        <m:r>
                          <a:rPr lang="es-MX" sz="2000" i="1">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Roboto" panose="02000000000000000000" pitchFamily="2" charset="0"/>
                          </a:rPr>
                          <m:t>𝑦</m:t>
                        </m:r>
                      </m:e>
                    </m:d>
                    <m:r>
                      <a:rPr lang="es-MX" sz="2000" i="1">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Roboto" panose="02000000000000000000" pitchFamily="2" charset="0"/>
                      </a:rPr>
                      <m:t>𝐴</m:t>
                    </m:r>
                    <m:r>
                      <a:rPr lang="es-MX" sz="2000" i="1">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Roboto" panose="02000000000000000000" pitchFamily="2" charset="0"/>
                      </a:rPr>
                      <m:t>𝐵</m:t>
                    </m:r>
                  </m:oMath>
                </a14:m>
                <a:r>
                  <a:rPr lang="es-MX" sz="2000" dirty="0">
                    <a:latin typeface="+mn-lt"/>
                    <a:ea typeface="Roboto" panose="02000000000000000000" pitchFamily="2" charset="0"/>
                  </a:rPr>
                  <a:t>,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𝑦</m:t>
                    </m:r>
                    <m:r>
                      <m:rPr>
                        <m:lit/>
                      </m:rPr>
                      <a:rPr lang="es-MX" sz="2000" b="0" i="1" smtClean="0">
                        <a:solidFill>
                          <a:schemeClr val="tx1"/>
                        </a:solidFill>
                        <a:latin typeface="Cambria Math" panose="02040503050406030204" pitchFamily="18" charset="0"/>
                        <a:ea typeface="Roboto" panose="02000000000000000000" pitchFamily="2" charset="0"/>
                      </a:rPr>
                      <m:t> </m:t>
                    </m:r>
                    <m:sSup>
                      <m:sSupPr>
                        <m:ctrlPr>
                          <a:rPr lang="es-MX" sz="2000" b="0" i="1" smtClean="0">
                            <a:solidFill>
                              <a:schemeClr val="tx1"/>
                            </a:solidFill>
                            <a:latin typeface="Cambria Math" panose="02040503050406030204" pitchFamily="18" charset="0"/>
                            <a:ea typeface="Roboto" panose="02000000000000000000" pitchFamily="2" charset="0"/>
                          </a:rPr>
                        </m:ctrlPr>
                      </m:sSupPr>
                      <m:e>
                        <m:r>
                          <a:rPr lang="es-MX" sz="2000" b="0" i="1" smtClean="0">
                            <a:solidFill>
                              <a:schemeClr val="tx1"/>
                            </a:solidFill>
                            <a:latin typeface="Cambria Math" panose="02040503050406030204" pitchFamily="18" charset="0"/>
                            <a:ea typeface="Roboto" panose="02000000000000000000" pitchFamily="2" charset="0"/>
                          </a:rPr>
                          <m:t>𝑅</m:t>
                        </m:r>
                      </m:e>
                      <m:sup>
                        <m:r>
                          <a:rPr lang="es-MX" sz="2000" b="0" i="1" smtClean="0">
                            <a:solidFill>
                              <a:schemeClr val="tx1"/>
                            </a:solidFill>
                            <a:latin typeface="Cambria Math" panose="02040503050406030204" pitchFamily="18" charset="0"/>
                            <a:ea typeface="Roboto" panose="02000000000000000000" pitchFamily="2" charset="0"/>
                          </a:rPr>
                          <m:t>−1</m:t>
                        </m:r>
                      </m:sup>
                    </m:sSup>
                    <m:r>
                      <m:rPr>
                        <m:lit/>
                      </m:rPr>
                      <a:rPr lang="es-MX" sz="2000" b="0" i="1" smtClean="0">
                        <a:solidFill>
                          <a:schemeClr val="tx1"/>
                        </a:solidFill>
                        <a:latin typeface="Cambria Math" panose="02040503050406030204" pitchFamily="18" charset="0"/>
                        <a:ea typeface="Roboto" panose="02000000000000000000" pitchFamily="2" charset="0"/>
                      </a:rPr>
                      <m:t> </m:t>
                    </m:r>
                    <m:r>
                      <a:rPr lang="es-MX" sz="2000" b="0" i="1" smtClean="0">
                        <a:solidFill>
                          <a:schemeClr val="tx1"/>
                        </a:solidFill>
                        <a:latin typeface="Cambria Math" panose="02040503050406030204" pitchFamily="18" charset="0"/>
                        <a:ea typeface="Roboto" panose="02000000000000000000" pitchFamily="2" charset="0"/>
                      </a:rPr>
                      <m:t>𝑥</m:t>
                    </m:r>
                    <m:r>
                      <a:rPr lang="es-MX" sz="2000" b="0" i="1" smtClean="0">
                        <a:solidFill>
                          <a:schemeClr val="tx1"/>
                        </a:solidFill>
                        <a:latin typeface="Cambria Math" panose="02040503050406030204" pitchFamily="18" charset="0"/>
                        <a:ea typeface="Roboto" panose="02000000000000000000" pitchFamily="2" charset="0"/>
                      </a:rPr>
                      <m:t> ⟺</m:t>
                    </m:r>
                    <m:r>
                      <a:rPr lang="es-MX" sz="2000" i="1">
                        <a:solidFill>
                          <a:schemeClr val="tx1"/>
                        </a:solidFill>
                        <a:latin typeface="Cambria Math" panose="02040503050406030204" pitchFamily="18" charset="0"/>
                      </a:rPr>
                      <m:t>𝑦</m:t>
                    </m:r>
                    <m:r>
                      <a:rPr lang="es-MX" sz="2000" i="1">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es</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multiplo</m:t>
                    </m:r>
                    <m:r>
                      <a:rPr lang="es-MX" sz="2000">
                        <a:solidFill>
                          <a:schemeClr val="tx1"/>
                        </a:solidFill>
                        <a:latin typeface="Cambria Math" panose="02040503050406030204" pitchFamily="18" charset="0"/>
                      </a:rPr>
                      <m:t> </m:t>
                    </m:r>
                    <m:r>
                      <m:rPr>
                        <m:sty m:val="p"/>
                      </m:rPr>
                      <a:rPr lang="es-MX" sz="2000">
                        <a:solidFill>
                          <a:schemeClr val="tx1"/>
                        </a:solidFill>
                        <a:latin typeface="Cambria Math" panose="02040503050406030204" pitchFamily="18" charset="0"/>
                      </a:rPr>
                      <m:t>de</m:t>
                    </m:r>
                    <m:r>
                      <a:rPr lang="es-MX" sz="2000">
                        <a:solidFill>
                          <a:schemeClr val="tx1"/>
                        </a:solidFill>
                        <a:latin typeface="Cambria Math" panose="02040503050406030204" pitchFamily="18" charset="0"/>
                      </a:rPr>
                      <m:t> </m:t>
                    </m:r>
                    <m:r>
                      <a:rPr lang="es-MX" sz="2000" i="1">
                        <a:solidFill>
                          <a:schemeClr val="tx1"/>
                        </a:solidFill>
                        <a:latin typeface="Cambria Math" panose="02040503050406030204" pitchFamily="18" charset="0"/>
                      </a:rPr>
                      <m:t>𝑥</m:t>
                    </m:r>
                  </m:oMath>
                </a14:m>
                <a:endParaRPr lang="es-MX" sz="2000" dirty="0">
                  <a:latin typeface="+mn-lt"/>
                  <a:ea typeface="Roboto" panose="02000000000000000000" pitchFamily="2" charset="0"/>
                </a:endParaRPr>
              </a:p>
              <a:p>
                <a:pPr marL="584200" indent="-457200">
                  <a:buFont typeface="+mj-lt"/>
                  <a:buAutoNum type="alphaLcPeriod" startAt="2"/>
                </a:pPr>
                <a:endParaRPr lang="es-MX" sz="2000" dirty="0">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sSup>
                        <m:sSupPr>
                          <m:ctrlPr>
                            <a:rPr lang="es-MX" sz="2000" i="1" smtClean="0">
                              <a:solidFill>
                                <a:schemeClr val="tx1"/>
                              </a:solidFill>
                              <a:latin typeface="Cambria Math" panose="02040503050406030204" pitchFamily="18" charset="0"/>
                              <a:ea typeface="Roboto" panose="02000000000000000000" pitchFamily="2" charset="0"/>
                            </a:rPr>
                          </m:ctrlPr>
                        </m:sSupPr>
                        <m:e>
                          <m:r>
                            <a:rPr lang="es-MX" sz="2000" i="1">
                              <a:solidFill>
                                <a:schemeClr val="tx1"/>
                              </a:solidFill>
                              <a:latin typeface="Cambria Math" panose="02040503050406030204" pitchFamily="18" charset="0"/>
                              <a:ea typeface="Roboto" panose="02000000000000000000" pitchFamily="2" charset="0"/>
                            </a:rPr>
                            <m:t>𝑅</m:t>
                          </m:r>
                        </m:e>
                        <m:sup>
                          <m:r>
                            <a:rPr lang="es-MX" sz="2000" i="1">
                              <a:solidFill>
                                <a:schemeClr val="tx1"/>
                              </a:solidFill>
                              <a:latin typeface="Cambria Math" panose="02040503050406030204" pitchFamily="18" charset="0"/>
                              <a:ea typeface="Roboto" panose="02000000000000000000" pitchFamily="2" charset="0"/>
                            </a:rPr>
                            <m:t>−1</m:t>
                          </m:r>
                        </m:sup>
                      </m:sSup>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i="1">
                              <a:solidFill>
                                <a:schemeClr val="tx1"/>
                              </a:solidFill>
                              <a:latin typeface="Cambria Math" panose="02040503050406030204" pitchFamily="18" charset="0"/>
                            </a:rPr>
                          </m:ctrlPr>
                        </m:dPr>
                        <m:e>
                          <m:d>
                            <m:dPr>
                              <m:ctrlPr>
                                <a:rPr lang="es-MX" sz="2000" i="1">
                                  <a:solidFill>
                                    <a:schemeClr val="tx1"/>
                                  </a:solidFill>
                                  <a:latin typeface="Cambria Math" panose="02040503050406030204" pitchFamily="18" charset="0"/>
                                </a:rPr>
                              </m:ctrlPr>
                            </m:dPr>
                            <m:e>
                              <m:r>
                                <a:rPr lang="es-MX" sz="2000" i="1">
                                  <a:solidFill>
                                    <a:schemeClr val="tx1"/>
                                  </a:solidFill>
                                  <a:latin typeface="Cambria Math" panose="02040503050406030204" pitchFamily="18" charset="0"/>
                                </a:rPr>
                                <m:t>𝑦</m:t>
                              </m:r>
                              <m:r>
                                <a:rPr lang="es-MX" sz="2000" i="1">
                                  <a:solidFill>
                                    <a:schemeClr val="tx1"/>
                                  </a:solidFill>
                                  <a:latin typeface="Cambria Math" panose="02040503050406030204" pitchFamily="18" charset="0"/>
                                </a:rPr>
                                <m:t>,</m:t>
                              </m:r>
                              <m:r>
                                <a:rPr lang="es-MX" sz="2000" i="1">
                                  <a:solidFill>
                                    <a:schemeClr val="tx1"/>
                                  </a:solidFill>
                                  <a:latin typeface="Cambria Math" panose="02040503050406030204" pitchFamily="18" charset="0"/>
                                </a:rPr>
                                <m:t>𝑥</m:t>
                              </m:r>
                            </m:e>
                          </m:d>
                        </m:e>
                        <m:e>
                          <m:r>
                            <a:rPr lang="es-MX" sz="2000" b="0" i="1" smtClean="0">
                              <a:solidFill>
                                <a:schemeClr val="tx1"/>
                              </a:solidFill>
                              <a:latin typeface="Cambria Math" panose="02040503050406030204" pitchFamily="18" charset="0"/>
                            </a:rPr>
                            <m:t>𝑦</m:t>
                          </m:r>
                          <m:r>
                            <a:rPr lang="es-MX" sz="2000" b="0" i="1"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es</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multiplo</m:t>
                          </m:r>
                          <m:r>
                            <a:rPr lang="es-MX" sz="2000" b="0" i="0" smtClean="0">
                              <a:solidFill>
                                <a:schemeClr val="tx1"/>
                              </a:solidFill>
                              <a:latin typeface="Cambria Math" panose="02040503050406030204" pitchFamily="18" charset="0"/>
                            </a:rPr>
                            <m:t> </m:t>
                          </m:r>
                          <m:r>
                            <m:rPr>
                              <m:sty m:val="p"/>
                            </m:rPr>
                            <a:rPr lang="es-MX" sz="2000" b="0" i="0" smtClean="0">
                              <a:solidFill>
                                <a:schemeClr val="tx1"/>
                              </a:solidFill>
                              <a:latin typeface="Cambria Math" panose="02040503050406030204" pitchFamily="18" charset="0"/>
                            </a:rPr>
                            <m:t>de</m:t>
                          </m:r>
                          <m:r>
                            <a:rPr lang="es-MX" sz="2000" b="0" i="0" smtClean="0">
                              <a:solidFill>
                                <a:schemeClr val="tx1"/>
                              </a:solidFill>
                              <a:latin typeface="Cambria Math" panose="02040503050406030204" pitchFamily="18" charset="0"/>
                            </a:rPr>
                            <m:t> </m:t>
                          </m:r>
                          <m:r>
                            <a:rPr lang="es-MX" sz="2000" b="0" i="1" smtClean="0">
                              <a:solidFill>
                                <a:schemeClr val="tx1"/>
                              </a:solidFill>
                              <a:latin typeface="Cambria Math" panose="02040503050406030204" pitchFamily="18" charset="0"/>
                            </a:rPr>
                            <m:t>𝑥</m:t>
                          </m:r>
                        </m:e>
                      </m:d>
                    </m:oMath>
                  </m:oMathPara>
                </a14:m>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p:txBody>
          </p:sp>
        </mc:Choice>
        <mc:Fallback xmlns="">
          <p:sp>
            <p:nvSpPr>
              <p:cNvPr id="8" name="Google Shape;310;p34">
                <a:extLst>
                  <a:ext uri="{FF2B5EF4-FFF2-40B4-BE49-F238E27FC236}">
                    <a16:creationId xmlns:a16="http://schemas.microsoft.com/office/drawing/2014/main" id="{76D6224B-81F4-4CFC-AAE7-D6163BF9C28C}"/>
                  </a:ext>
                </a:extLst>
              </p:cNvPr>
              <p:cNvSpPr txBox="1">
                <a:spLocks noRot="1" noChangeAspect="1" noMove="1" noResize="1" noEditPoints="1" noAdjustHandles="1" noChangeArrowheads="1" noChangeShapeType="1" noTextEdit="1"/>
              </p:cNvSpPr>
              <p:nvPr/>
            </p:nvSpPr>
            <p:spPr>
              <a:xfrm>
                <a:off x="499443" y="5290658"/>
                <a:ext cx="11552651" cy="1362469"/>
              </a:xfrm>
              <a:prstGeom prst="rect">
                <a:avLst/>
              </a:prstGeom>
              <a:blipFill>
                <a:blip r:embed="rId6"/>
                <a:stretch>
                  <a:fillRect/>
                </a:stretch>
              </a:blipFill>
              <a:ln>
                <a:noFill/>
              </a:ln>
            </p:spPr>
            <p:txBody>
              <a:bodyPr/>
              <a:lstStyle/>
              <a:p>
                <a:r>
                  <a:rPr lang="es-CO">
                    <a:noFill/>
                  </a:rPr>
                  <a:t> </a:t>
                </a:r>
              </a:p>
            </p:txBody>
          </p:sp>
        </mc:Fallback>
      </mc:AlternateContent>
      <p:pic>
        <p:nvPicPr>
          <p:cNvPr id="9" name="Picture 6" descr="Under the heading, R, there are two sets, namely A and B. Elements under set A are 2, 3, and 4; and, elements under set B are 2, 6, and 8. Five arrows start from the elements in the first set, (A), and end on the elements in the second set, (B). Three arrows start from the number, 2, on the A set and end on the number 2, number 6, and number 8 on the B set. The arrow starts from the number 3 on the A set and ends on the number 6 on the B set. The arrow starts from the number 4 on the A set and ends on the number 8 on the B set. ">
            <a:extLst>
              <a:ext uri="{FF2B5EF4-FFF2-40B4-BE49-F238E27FC236}">
                <a16:creationId xmlns:a16="http://schemas.microsoft.com/office/drawing/2014/main" id="{025C1999-9710-4103-A647-13B3B4182413}"/>
              </a:ext>
            </a:extLst>
          </p:cNvPr>
          <p:cNvPicPr>
            <a:picLocks noChangeAspect="1"/>
          </p:cNvPicPr>
          <p:nvPr/>
        </p:nvPicPr>
        <p:blipFill>
          <a:blip r:embed="rId7"/>
          <a:stretch>
            <a:fillRect/>
          </a:stretch>
        </p:blipFill>
        <p:spPr>
          <a:xfrm>
            <a:off x="1383548" y="2057400"/>
            <a:ext cx="3330980" cy="2071951"/>
          </a:xfrm>
          <a:prstGeom prst="rect">
            <a:avLst/>
          </a:prstGeom>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3FDA52-D5F5-4997-BF92-74E1F3844C94}"/>
                  </a:ext>
                </a:extLst>
              </p:cNvPr>
              <p:cNvSpPr txBox="1"/>
              <p:nvPr/>
            </p:nvSpPr>
            <p:spPr>
              <a:xfrm>
                <a:off x="916650" y="4786592"/>
                <a:ext cx="446748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1800" b="0" i="1" smtClean="0">
                          <a:solidFill>
                            <a:schemeClr val="tx1"/>
                          </a:solidFill>
                          <a:latin typeface="Cambria Math" panose="02040503050406030204" pitchFamily="18" charset="0"/>
                        </a:rPr>
                        <m:t>𝑅</m:t>
                      </m:r>
                      <m:r>
                        <a:rPr lang="es-MX" sz="1800" b="0" i="1" smtClean="0">
                          <a:solidFill>
                            <a:schemeClr val="tx1"/>
                          </a:solidFill>
                          <a:latin typeface="Cambria Math" panose="02040503050406030204" pitchFamily="18" charset="0"/>
                        </a:rPr>
                        <m:t>=</m:t>
                      </m:r>
                      <m:d>
                        <m:dPr>
                          <m:begChr m:val="{"/>
                          <m:endChr m:val="}"/>
                          <m:ctrlPr>
                            <a:rPr lang="es-MX" sz="1800" b="0" i="1" smtClean="0">
                              <a:solidFill>
                                <a:schemeClr val="tx1"/>
                              </a:solidFill>
                              <a:latin typeface="Cambria Math" panose="02040503050406030204" pitchFamily="18" charset="0"/>
                            </a:rPr>
                          </m:ctrlPr>
                        </m:dPr>
                        <m:e>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2,2</m:t>
                              </m:r>
                            </m:e>
                          </m:d>
                          <m:r>
                            <a:rPr lang="es-MX" sz="1800" b="0" i="1" smtClean="0">
                              <a:solidFill>
                                <a:schemeClr val="tx1"/>
                              </a:solidFill>
                              <a:latin typeface="Cambria Math" panose="02040503050406030204" pitchFamily="18" charset="0"/>
                            </a:rPr>
                            <m:t>,</m:t>
                          </m:r>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2,6</m:t>
                              </m:r>
                            </m:e>
                          </m:d>
                          <m:r>
                            <a:rPr lang="es-MX" sz="1800" b="0" i="1" smtClean="0">
                              <a:solidFill>
                                <a:schemeClr val="tx1"/>
                              </a:solidFill>
                              <a:latin typeface="Cambria Math" panose="02040503050406030204" pitchFamily="18" charset="0"/>
                            </a:rPr>
                            <m:t>,</m:t>
                          </m:r>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2,8</m:t>
                              </m:r>
                            </m:e>
                          </m:d>
                          <m:r>
                            <a:rPr lang="es-MX" sz="1800" b="0" i="1" smtClean="0">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3</m:t>
                              </m:r>
                              <m:r>
                                <a:rPr lang="es-MX" sz="1800" i="1">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6</m:t>
                              </m:r>
                            </m:e>
                          </m:d>
                          <m:r>
                            <a:rPr lang="es-MX" sz="1800" i="1">
                              <a:solidFill>
                                <a:schemeClr val="tx1"/>
                              </a:solidFill>
                              <a:latin typeface="Cambria Math" panose="02040503050406030204" pitchFamily="18" charset="0"/>
                            </a:rPr>
                            <m:t>,</m:t>
                          </m:r>
                          <m:r>
                            <a:rPr lang="es-MX" sz="1800" i="1" smtClean="0">
                              <a:solidFill>
                                <a:schemeClr val="tx1"/>
                              </a:solidFill>
                              <a:latin typeface="Cambria Math" panose="02040503050406030204" pitchFamily="18" charset="0"/>
                            </a:rPr>
                            <m:t> </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4</m:t>
                              </m:r>
                              <m:r>
                                <a:rPr lang="es-MX" sz="1800" i="1">
                                  <a:solidFill>
                                    <a:schemeClr val="tx1"/>
                                  </a:solidFill>
                                  <a:latin typeface="Cambria Math" panose="02040503050406030204" pitchFamily="18" charset="0"/>
                                </a:rPr>
                                <m:t>,8</m:t>
                              </m:r>
                            </m:e>
                          </m:d>
                        </m:e>
                      </m:d>
                    </m:oMath>
                  </m:oMathPara>
                </a14:m>
                <a:endParaRPr lang="es-CO" sz="1800" dirty="0">
                  <a:solidFill>
                    <a:schemeClr val="tx1"/>
                  </a:solidFill>
                </a:endParaRPr>
              </a:p>
            </p:txBody>
          </p:sp>
        </mc:Choice>
        <mc:Fallback xmlns="">
          <p:sp>
            <p:nvSpPr>
              <p:cNvPr id="10" name="CuadroTexto 9">
                <a:extLst>
                  <a:ext uri="{FF2B5EF4-FFF2-40B4-BE49-F238E27FC236}">
                    <a16:creationId xmlns:a16="http://schemas.microsoft.com/office/drawing/2014/main" id="{AC3FDA52-D5F5-4997-BF92-74E1F3844C94}"/>
                  </a:ext>
                </a:extLst>
              </p:cNvPr>
              <p:cNvSpPr txBox="1">
                <a:spLocks noRot="1" noChangeAspect="1" noMove="1" noResize="1" noEditPoints="1" noAdjustHandles="1" noChangeArrowheads="1" noChangeShapeType="1" noTextEdit="1"/>
              </p:cNvSpPr>
              <p:nvPr/>
            </p:nvSpPr>
            <p:spPr>
              <a:xfrm>
                <a:off x="916650" y="4786592"/>
                <a:ext cx="4467481" cy="369332"/>
              </a:xfrm>
              <a:prstGeom prst="rect">
                <a:avLst/>
              </a:prstGeom>
              <a:blipFill>
                <a:blip r:embed="rId8"/>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E8BB1BCD-7863-4489-A1AE-2C1B1B29ECD3}"/>
                  </a:ext>
                </a:extLst>
              </p:cNvPr>
              <p:cNvSpPr txBox="1"/>
              <p:nvPr/>
            </p:nvSpPr>
            <p:spPr>
              <a:xfrm>
                <a:off x="6692940" y="4789211"/>
                <a:ext cx="4043416" cy="3755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s-MX" sz="1800" b="0" i="1" smtClean="0">
                              <a:solidFill>
                                <a:schemeClr val="tx1"/>
                              </a:solidFill>
                              <a:latin typeface="Cambria Math" panose="02040503050406030204" pitchFamily="18" charset="0"/>
                            </a:rPr>
                          </m:ctrlPr>
                        </m:sSupPr>
                        <m:e>
                          <m:r>
                            <a:rPr lang="es-MX" sz="1800" b="0" i="1" smtClean="0">
                              <a:solidFill>
                                <a:schemeClr val="tx1"/>
                              </a:solidFill>
                              <a:latin typeface="Cambria Math" panose="02040503050406030204" pitchFamily="18" charset="0"/>
                            </a:rPr>
                            <m:t>𝑅</m:t>
                          </m:r>
                        </m:e>
                        <m:sup>
                          <m:r>
                            <a:rPr lang="es-MX" sz="1800" b="0" i="1" smtClean="0">
                              <a:solidFill>
                                <a:schemeClr val="tx1"/>
                              </a:solidFill>
                              <a:latin typeface="Cambria Math" panose="02040503050406030204" pitchFamily="18" charset="0"/>
                            </a:rPr>
                            <m:t>−1</m:t>
                          </m:r>
                        </m:sup>
                      </m:sSup>
                      <m:r>
                        <a:rPr lang="es-MX" sz="1800" b="0" i="1" smtClean="0">
                          <a:solidFill>
                            <a:schemeClr val="tx1"/>
                          </a:solidFill>
                          <a:latin typeface="Cambria Math" panose="02040503050406030204" pitchFamily="18" charset="0"/>
                        </a:rPr>
                        <m:t>=</m:t>
                      </m:r>
                      <m:d>
                        <m:dPr>
                          <m:begChr m:val="{"/>
                          <m:endChr m:val="}"/>
                          <m:ctrlPr>
                            <a:rPr lang="es-MX" sz="1800" b="0" i="1" smtClean="0">
                              <a:solidFill>
                                <a:schemeClr val="tx1"/>
                              </a:solidFill>
                              <a:latin typeface="Cambria Math" panose="02040503050406030204" pitchFamily="18" charset="0"/>
                            </a:rPr>
                          </m:ctrlPr>
                        </m:dPr>
                        <m:e>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2,2</m:t>
                              </m:r>
                            </m:e>
                          </m:d>
                          <m:r>
                            <a:rPr lang="es-MX" sz="1800" b="0" i="1" smtClean="0">
                              <a:solidFill>
                                <a:schemeClr val="tx1"/>
                              </a:solidFill>
                              <a:latin typeface="Cambria Math" panose="02040503050406030204" pitchFamily="18" charset="0"/>
                            </a:rPr>
                            <m:t>,</m:t>
                          </m:r>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6,2</m:t>
                              </m:r>
                            </m:e>
                          </m:d>
                          <m:r>
                            <a:rPr lang="es-MX" sz="1800" b="0" i="1" smtClean="0">
                              <a:solidFill>
                                <a:schemeClr val="tx1"/>
                              </a:solidFill>
                              <a:latin typeface="Cambria Math" panose="02040503050406030204" pitchFamily="18" charset="0"/>
                            </a:rPr>
                            <m:t>,</m:t>
                          </m:r>
                          <m:d>
                            <m:dPr>
                              <m:ctrlPr>
                                <a:rPr lang="es-MX" sz="1800" b="0" i="1" smtClean="0">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8,2</m:t>
                              </m:r>
                            </m:e>
                          </m:d>
                          <m:r>
                            <a:rPr lang="es-MX" sz="1800" b="0" i="1" smtClean="0">
                              <a:solidFill>
                                <a:schemeClr val="tx1"/>
                              </a:solidFill>
                              <a:latin typeface="Cambria Math" panose="02040503050406030204" pitchFamily="18" charset="0"/>
                            </a:rPr>
                            <m:t>,</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6</m:t>
                              </m:r>
                              <m:r>
                                <a:rPr lang="es-MX" sz="1800" i="1">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3</m:t>
                              </m:r>
                            </m:e>
                          </m:d>
                          <m:r>
                            <a:rPr lang="es-MX" sz="1800" i="1">
                              <a:solidFill>
                                <a:schemeClr val="tx1"/>
                              </a:solidFill>
                              <a:latin typeface="Cambria Math" panose="02040503050406030204" pitchFamily="18" charset="0"/>
                            </a:rPr>
                            <m:t>,</m:t>
                          </m:r>
                          <m:r>
                            <a:rPr lang="es-MX" sz="1800" i="1" smtClean="0">
                              <a:solidFill>
                                <a:schemeClr val="tx1"/>
                              </a:solidFill>
                              <a:latin typeface="Cambria Math" panose="02040503050406030204" pitchFamily="18" charset="0"/>
                            </a:rPr>
                            <m:t> </m:t>
                          </m:r>
                          <m:d>
                            <m:dPr>
                              <m:ctrlPr>
                                <a:rPr lang="es-MX" sz="1800" i="1">
                                  <a:solidFill>
                                    <a:schemeClr val="tx1"/>
                                  </a:solidFill>
                                  <a:latin typeface="Cambria Math" panose="02040503050406030204" pitchFamily="18" charset="0"/>
                                </a:rPr>
                              </m:ctrlPr>
                            </m:dPr>
                            <m:e>
                              <m:r>
                                <a:rPr lang="es-MX" sz="1800" b="0" i="1" smtClean="0">
                                  <a:solidFill>
                                    <a:schemeClr val="tx1"/>
                                  </a:solidFill>
                                  <a:latin typeface="Cambria Math" panose="02040503050406030204" pitchFamily="18" charset="0"/>
                                </a:rPr>
                                <m:t>8</m:t>
                              </m:r>
                              <m:r>
                                <a:rPr lang="es-MX" sz="1800" i="1">
                                  <a:solidFill>
                                    <a:schemeClr val="tx1"/>
                                  </a:solidFill>
                                  <a:latin typeface="Cambria Math" panose="02040503050406030204" pitchFamily="18" charset="0"/>
                                </a:rPr>
                                <m:t>,</m:t>
                              </m:r>
                              <m:r>
                                <a:rPr lang="es-MX" sz="1800" b="0" i="1" smtClean="0">
                                  <a:solidFill>
                                    <a:schemeClr val="tx1"/>
                                  </a:solidFill>
                                  <a:latin typeface="Cambria Math" panose="02040503050406030204" pitchFamily="18" charset="0"/>
                                </a:rPr>
                                <m:t>4</m:t>
                              </m:r>
                            </m:e>
                          </m:d>
                        </m:e>
                      </m:d>
                    </m:oMath>
                  </m:oMathPara>
                </a14:m>
                <a:endParaRPr lang="es-CO" sz="1800" dirty="0">
                  <a:solidFill>
                    <a:schemeClr val="tx1"/>
                  </a:solidFill>
                </a:endParaRPr>
              </a:p>
            </p:txBody>
          </p:sp>
        </mc:Choice>
        <mc:Fallback xmlns="">
          <p:sp>
            <p:nvSpPr>
              <p:cNvPr id="11" name="CuadroTexto 10">
                <a:extLst>
                  <a:ext uri="{FF2B5EF4-FFF2-40B4-BE49-F238E27FC236}">
                    <a16:creationId xmlns:a16="http://schemas.microsoft.com/office/drawing/2014/main" id="{E8BB1BCD-7863-4489-A1AE-2C1B1B29ECD3}"/>
                  </a:ext>
                </a:extLst>
              </p:cNvPr>
              <p:cNvSpPr txBox="1">
                <a:spLocks noRot="1" noChangeAspect="1" noMove="1" noResize="1" noEditPoints="1" noAdjustHandles="1" noChangeArrowheads="1" noChangeShapeType="1" noTextEdit="1"/>
              </p:cNvSpPr>
              <p:nvPr/>
            </p:nvSpPr>
            <p:spPr>
              <a:xfrm>
                <a:off x="6692940" y="4789211"/>
                <a:ext cx="4043416" cy="375552"/>
              </a:xfrm>
              <a:prstGeom prst="rect">
                <a:avLst/>
              </a:prstGeom>
              <a:blipFill>
                <a:blip r:embed="rId9"/>
                <a:stretch>
                  <a:fillRect/>
                </a:stretch>
              </a:blipFill>
            </p:spPr>
            <p:txBody>
              <a:bodyPr/>
              <a:lstStyle/>
              <a:p>
                <a:r>
                  <a:rPr lang="es-CO">
                    <a:noFill/>
                  </a:rPr>
                  <a:t> </a:t>
                </a:r>
              </a:p>
            </p:txBody>
          </p:sp>
        </mc:Fallback>
      </mc:AlternateContent>
      <p:pic>
        <p:nvPicPr>
          <p:cNvPr id="12" name="Picture 4" descr="Under the heading, R^negative 1, there are two sets, namely A and B. Elements under set A are 2, 3, and 4; and, elements under set B are 2, 6, and 8. Five arrows start from the elements in the second set, (B), and end on the elements in the first set, (A). The arrow starts from the number 2 on the B set and ends on the number 2 on the A set. Two arrows start from the number 6 on the B set and end on the number 2 and number 3 on the A set. Two arrows start from the number 8 on the B set and end on the number 2 and number 4 on the A set. ">
            <a:extLst>
              <a:ext uri="{FF2B5EF4-FFF2-40B4-BE49-F238E27FC236}">
                <a16:creationId xmlns:a16="http://schemas.microsoft.com/office/drawing/2014/main" id="{0249D4C9-A32B-4C88-B959-CCBDB873082A}"/>
              </a:ext>
            </a:extLst>
          </p:cNvPr>
          <p:cNvPicPr>
            <a:picLocks noChangeAspect="1"/>
          </p:cNvPicPr>
          <p:nvPr/>
        </p:nvPicPr>
        <p:blipFill>
          <a:blip r:embed="rId10"/>
          <a:stretch>
            <a:fillRect/>
          </a:stretch>
        </p:blipFill>
        <p:spPr>
          <a:xfrm>
            <a:off x="5068650" y="2108201"/>
            <a:ext cx="3248581" cy="2009633"/>
          </a:xfrm>
          <a:prstGeom prst="rect">
            <a:avLst/>
          </a:prstGeom>
        </p:spPr>
      </p:pic>
      <p:pic>
        <p:nvPicPr>
          <p:cNvPr id="13" name="Picture 12" descr="Under the heading, R^negative 1, there are two sets, namely B and A. Elements under set B are 2, 6, and 8; and, elements under set A are 2, 3, and 4. Five arrows start form the elements in the first set, (B), and end on the elements in the second set, (A). The arrow starts from the number 2 on the B set and ends on the number 2 on the A set. Two arrows start from the number 6 on the B set and end on the number 2 and number 3 on the A set. Two arrows start from the number 8 on the B set and end on the number 2 and number 4 on the A set. ">
            <a:extLst>
              <a:ext uri="{FF2B5EF4-FFF2-40B4-BE49-F238E27FC236}">
                <a16:creationId xmlns:a16="http://schemas.microsoft.com/office/drawing/2014/main" id="{250F91C5-2051-456D-9584-7D8A454E0913}"/>
              </a:ext>
            </a:extLst>
          </p:cNvPr>
          <p:cNvPicPr>
            <a:picLocks noChangeAspect="1"/>
          </p:cNvPicPr>
          <p:nvPr/>
        </p:nvPicPr>
        <p:blipFill>
          <a:blip r:embed="rId11"/>
          <a:stretch>
            <a:fillRect/>
          </a:stretch>
        </p:blipFill>
        <p:spPr>
          <a:xfrm>
            <a:off x="8644358" y="2057400"/>
            <a:ext cx="3122921" cy="2060434"/>
          </a:xfrm>
          <a:prstGeom prst="rect">
            <a:avLst/>
          </a:prstGeom>
        </p:spPr>
      </p:pic>
    </p:spTree>
    <p:extLst>
      <p:ext uri="{BB962C8B-B14F-4D97-AF65-F5344CB8AC3E}">
        <p14:creationId xmlns:p14="http://schemas.microsoft.com/office/powerpoint/2010/main" val="163334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24721" y="96038"/>
            <a:ext cx="879592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533400" y="780067"/>
            <a:ext cx="11233879"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 9</a:t>
            </a: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533400" y="1301870"/>
                <a:ext cx="11443971" cy="26986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Se define una relación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de </a:t>
                </a:r>
                <a14:m>
                  <m:oMath xmlns:m="http://schemas.openxmlformats.org/officeDocument/2006/math">
                    <m:r>
                      <a:rPr lang="es-MX" sz="2000" i="1" smtClean="0">
                        <a:solidFill>
                          <a:schemeClr val="tx1"/>
                        </a:solidFill>
                        <a:latin typeface="Cambria Math" panose="02040503050406030204" pitchFamily="18" charset="0"/>
                        <a:ea typeface="Cambria Math" panose="02040503050406030204" pitchFamily="18" charset="0"/>
                      </a:rPr>
                      <m:t>ℝ</m:t>
                    </m:r>
                    <m:r>
                      <a:rPr lang="es-MX" sz="2000" i="1">
                        <a:solidFill>
                          <a:schemeClr val="tx1"/>
                        </a:solidFill>
                        <a:latin typeface="Cambria Math" panose="02040503050406030204" pitchFamily="18" charset="0"/>
                        <a:ea typeface="Roboto" panose="02000000000000000000" pitchFamily="2" charset="0"/>
                      </a:rPr>
                      <m:t> </m:t>
                    </m:r>
                  </m:oMath>
                </a14:m>
                <a:r>
                  <a:rPr lang="es-MX" sz="2000" dirty="0">
                    <a:latin typeface="+mn-lt"/>
                    <a:ea typeface="Roboto" panose="02000000000000000000" pitchFamily="2" charset="0"/>
                  </a:rPr>
                  <a:t>a </a:t>
                </a:r>
                <a14:m>
                  <m:oMath xmlns:m="http://schemas.openxmlformats.org/officeDocument/2006/math">
                    <m:r>
                      <a:rPr lang="es-MX" sz="2000" i="1">
                        <a:solidFill>
                          <a:schemeClr val="tx1"/>
                        </a:solidFill>
                        <a:latin typeface="Cambria Math" panose="02040503050406030204" pitchFamily="18" charset="0"/>
                        <a:ea typeface="Cambria Math" panose="02040503050406030204" pitchFamily="18" charset="0"/>
                      </a:rPr>
                      <m:t>ℝ</m:t>
                    </m:r>
                  </m:oMath>
                </a14:m>
                <a:r>
                  <a:rPr lang="es-MX" sz="2000" dirty="0">
                    <a:latin typeface="+mn-lt"/>
                    <a:ea typeface="Roboto" panose="02000000000000000000" pitchFamily="2" charset="0"/>
                  </a:rPr>
                  <a:t> como sigue. Para toda </a:t>
                </a:r>
                <a14:m>
                  <m:oMath xmlns:m="http://schemas.openxmlformats.org/officeDocument/2006/math">
                    <m:d>
                      <m:dPr>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𝑥</m:t>
                        </m:r>
                        <m:r>
                          <a:rPr lang="es-MX" sz="2000" i="1">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𝑦</m:t>
                        </m:r>
                      </m:e>
                    </m:d>
                    <m:r>
                      <a:rPr lang="es-MX" sz="2000" b="0" i="1" smtClean="0">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Cambria Math" panose="02040503050406030204" pitchFamily="18" charset="0"/>
                      </a:rPr>
                      <m:t>ℝ</m:t>
                    </m:r>
                    <m:r>
                      <a:rPr lang="es-MX" sz="2000" b="0" i="1" smtClean="0">
                        <a:solidFill>
                          <a:schemeClr val="tx1"/>
                        </a:solidFill>
                        <a:latin typeface="Cambria Math" panose="02040503050406030204" pitchFamily="18" charset="0"/>
                        <a:ea typeface="Roboto" panose="02000000000000000000" pitchFamily="2" charset="0"/>
                      </a:rPr>
                      <m:t>×</m:t>
                    </m:r>
                    <m:r>
                      <a:rPr lang="es-MX" sz="2000" i="1">
                        <a:solidFill>
                          <a:schemeClr val="tx1"/>
                        </a:solidFill>
                        <a:latin typeface="Cambria Math" panose="02040503050406030204" pitchFamily="18" charset="0"/>
                        <a:ea typeface="Cambria Math" panose="02040503050406030204" pitchFamily="18" charset="0"/>
                      </a:rPr>
                      <m:t>ℝ</m:t>
                    </m:r>
                  </m:oMath>
                </a14:m>
                <a:r>
                  <a:rPr lang="es-MX" sz="2000" dirty="0">
                    <a:latin typeface="+mn-lt"/>
                    <a:ea typeface="Roboto" panose="02000000000000000000" pitchFamily="2" charset="0"/>
                  </a:rPr>
                  <a:t>,</a:t>
                </a:r>
              </a:p>
              <a:p>
                <a:pPr marL="127000" indent="0">
                  <a:buNone/>
                </a:pPr>
                <a:endParaRPr lang="es-MX" sz="2000" b="1" dirty="0">
                  <a:solidFill>
                    <a:schemeClr val="tx1"/>
                  </a:solidFill>
                  <a:latin typeface="+mn-lt"/>
                  <a:ea typeface="Roboto" panose="02000000000000000000" pitchFamily="2" charset="0"/>
                </a:endParaRPr>
              </a:p>
              <a:p>
                <a:pPr marL="127000" indent="0">
                  <a:buNone/>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𝑥</m:t>
                      </m:r>
                      <m:r>
                        <m:rPr>
                          <m:lit/>
                        </m:rPr>
                        <a:rPr lang="es-MX" sz="2000" b="0" i="1" smtClean="0">
                          <a:solidFill>
                            <a:schemeClr val="tx1"/>
                          </a:solidFill>
                          <a:latin typeface="Cambria Math" panose="02040503050406030204" pitchFamily="18" charset="0"/>
                          <a:ea typeface="Roboto" panose="02000000000000000000" pitchFamily="2" charset="0"/>
                        </a:rPr>
                        <m:t> </m:t>
                      </m:r>
                      <m:r>
                        <a:rPr lang="es-MX" sz="2000" b="0" i="1" smtClean="0">
                          <a:solidFill>
                            <a:schemeClr val="tx1"/>
                          </a:solidFill>
                          <a:latin typeface="Cambria Math" panose="02040503050406030204" pitchFamily="18" charset="0"/>
                          <a:ea typeface="Roboto" panose="02000000000000000000" pitchFamily="2" charset="0"/>
                        </a:rPr>
                        <m:t>𝑅</m:t>
                      </m:r>
                      <m:r>
                        <m:rPr>
                          <m:lit/>
                        </m:rPr>
                        <a:rPr lang="es-MX" sz="2000" b="0" i="1" smtClean="0">
                          <a:solidFill>
                            <a:schemeClr val="tx1"/>
                          </a:solidFill>
                          <a:latin typeface="Cambria Math" panose="02040503050406030204" pitchFamily="18" charset="0"/>
                          <a:ea typeface="Roboto" panose="02000000000000000000" pitchFamily="2" charset="0"/>
                        </a:rPr>
                        <m:t> </m:t>
                      </m:r>
                      <m:r>
                        <a:rPr lang="es-MX" sz="2000" b="0" i="1" smtClean="0">
                          <a:solidFill>
                            <a:schemeClr val="tx1"/>
                          </a:solidFill>
                          <a:latin typeface="Cambria Math" panose="02040503050406030204" pitchFamily="18" charset="0"/>
                          <a:ea typeface="Roboto" panose="02000000000000000000" pitchFamily="2" charset="0"/>
                        </a:rPr>
                        <m:t>𝑦</m:t>
                      </m:r>
                      <m:r>
                        <a:rPr lang="es-MX" sz="2000" b="0" i="1" smtClean="0">
                          <a:solidFill>
                            <a:schemeClr val="tx1"/>
                          </a:solidFill>
                          <a:latin typeface="Cambria Math" panose="02040503050406030204" pitchFamily="18" charset="0"/>
                          <a:ea typeface="Roboto" panose="02000000000000000000" pitchFamily="2" charset="0"/>
                        </a:rPr>
                        <m:t> ⟺</m:t>
                      </m:r>
                      <m:r>
                        <a:rPr lang="es-MX" sz="2000" b="0" i="1" smtClean="0">
                          <a:solidFill>
                            <a:schemeClr val="tx1"/>
                          </a:solidFill>
                          <a:latin typeface="Cambria Math" panose="02040503050406030204" pitchFamily="18" charset="0"/>
                          <a:ea typeface="Cambria Math" panose="02040503050406030204" pitchFamily="18" charset="0"/>
                        </a:rPr>
                        <m:t>𝑦</m:t>
                      </m:r>
                      <m:r>
                        <a:rPr lang="es-MX" sz="2000" b="0" i="1" smtClean="0">
                          <a:solidFill>
                            <a:schemeClr val="tx1"/>
                          </a:solidFill>
                          <a:latin typeface="Cambria Math" panose="02040503050406030204" pitchFamily="18" charset="0"/>
                          <a:ea typeface="Cambria Math" panose="02040503050406030204" pitchFamily="18" charset="0"/>
                        </a:rPr>
                        <m:t>=2</m:t>
                      </m:r>
                      <m:d>
                        <m:dPr>
                          <m:begChr m:val="|"/>
                          <m:endChr m:val="|"/>
                          <m:ctrlPr>
                            <a:rPr lang="es-MX" sz="2000" b="0" i="1" smtClean="0">
                              <a:solidFill>
                                <a:schemeClr val="tx1"/>
                              </a:solidFill>
                              <a:latin typeface="Cambria Math" panose="02040503050406030204" pitchFamily="18" charset="0"/>
                              <a:ea typeface="Cambria Math" panose="02040503050406030204" pitchFamily="18" charset="0"/>
                            </a:rPr>
                          </m:ctrlPr>
                        </m:dPr>
                        <m:e>
                          <m:r>
                            <a:rPr lang="es-MX" sz="2000" b="0" i="1" smtClean="0">
                              <a:solidFill>
                                <a:schemeClr val="tx1"/>
                              </a:solidFill>
                              <a:latin typeface="Cambria Math" panose="02040503050406030204" pitchFamily="18" charset="0"/>
                              <a:ea typeface="Cambria Math" panose="02040503050406030204" pitchFamily="18" charset="0"/>
                            </a:rPr>
                            <m:t>𝑥</m:t>
                          </m:r>
                        </m:e>
                      </m:d>
                    </m:oMath>
                  </m:oMathPara>
                </a14:m>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584200" indent="-457200">
                  <a:buFont typeface="+mj-lt"/>
                  <a:buAutoNum type="alphaLcPeriod"/>
                </a:pPr>
                <a:r>
                  <a:rPr lang="es-MX" sz="2000" dirty="0">
                    <a:latin typeface="+mn-lt"/>
                    <a:ea typeface="Roboto" panose="02000000000000000000" pitchFamily="2" charset="0"/>
                  </a:rPr>
                  <a:t>Dibuje las graficas de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𝑅</m:t>
                    </m:r>
                  </m:oMath>
                </a14:m>
                <a:r>
                  <a:rPr lang="es-MX" sz="2000" dirty="0">
                    <a:latin typeface="+mn-lt"/>
                    <a:ea typeface="Roboto" panose="02000000000000000000" pitchFamily="2" charset="0"/>
                  </a:rPr>
                  <a:t> y </a:t>
                </a:r>
                <a14:m>
                  <m:oMath xmlns:m="http://schemas.openxmlformats.org/officeDocument/2006/math">
                    <m:sSup>
                      <m:sSupPr>
                        <m:ctrlPr>
                          <a:rPr lang="es-MX" sz="2000" b="0" i="1" smtClean="0">
                            <a:solidFill>
                              <a:schemeClr val="tx1"/>
                            </a:solidFill>
                            <a:latin typeface="Cambria Math" panose="02040503050406030204" pitchFamily="18" charset="0"/>
                            <a:ea typeface="Roboto" panose="02000000000000000000" pitchFamily="2" charset="0"/>
                          </a:rPr>
                        </m:ctrlPr>
                      </m:sSupPr>
                      <m:e>
                        <m:r>
                          <a:rPr lang="es-MX" sz="2000" i="1">
                            <a:solidFill>
                              <a:schemeClr val="tx1"/>
                            </a:solidFill>
                            <a:latin typeface="Cambria Math" panose="02040503050406030204" pitchFamily="18" charset="0"/>
                            <a:ea typeface="Roboto" panose="02000000000000000000" pitchFamily="2" charset="0"/>
                          </a:rPr>
                          <m:t>𝑅</m:t>
                        </m:r>
                      </m:e>
                      <m:sup>
                        <m:r>
                          <a:rPr lang="es-MX" sz="2000" b="0" i="1" smtClean="0">
                            <a:solidFill>
                              <a:schemeClr val="tx1"/>
                            </a:solidFill>
                            <a:latin typeface="Cambria Math" panose="02040503050406030204" pitchFamily="18" charset="0"/>
                            <a:ea typeface="Roboto" panose="02000000000000000000" pitchFamily="2" charset="0"/>
                          </a:rPr>
                          <m:t>−1</m:t>
                        </m:r>
                      </m:sup>
                    </m:sSup>
                  </m:oMath>
                </a14:m>
                <a:r>
                  <a:rPr lang="es-MX" sz="2000" dirty="0">
                    <a:latin typeface="+mn-lt"/>
                    <a:ea typeface="Roboto" panose="02000000000000000000" pitchFamily="2" charset="0"/>
                  </a:rPr>
                  <a:t> en el plano cartesiano</a:t>
                </a:r>
              </a:p>
              <a:p>
                <a:pPr marL="584200" indent="-457200">
                  <a:buFont typeface="+mj-lt"/>
                  <a:buAutoNum type="alphaLcPeriod"/>
                </a:pPr>
                <a:r>
                  <a:rPr lang="es-MX" sz="2000" dirty="0">
                    <a:latin typeface="+mn-lt"/>
                    <a:ea typeface="Roboto" panose="02000000000000000000" pitchFamily="2" charset="0"/>
                  </a:rPr>
                  <a:t>¿Es </a:t>
                </a:r>
                <a14:m>
                  <m:oMath xmlns:m="http://schemas.openxmlformats.org/officeDocument/2006/math">
                    <m:sSup>
                      <m:sSupPr>
                        <m:ctrlPr>
                          <a:rPr lang="es-MX" sz="2000" i="1" smtClean="0">
                            <a:solidFill>
                              <a:schemeClr val="tx1"/>
                            </a:solidFill>
                            <a:latin typeface="Cambria Math" panose="02040503050406030204" pitchFamily="18" charset="0"/>
                            <a:ea typeface="Roboto" panose="02000000000000000000" pitchFamily="2" charset="0"/>
                          </a:rPr>
                        </m:ctrlPr>
                      </m:sSupPr>
                      <m:e>
                        <m:r>
                          <a:rPr lang="es-MX" sz="2000" i="1">
                            <a:solidFill>
                              <a:schemeClr val="tx1"/>
                            </a:solidFill>
                            <a:latin typeface="Cambria Math" panose="02040503050406030204" pitchFamily="18" charset="0"/>
                            <a:ea typeface="Roboto" panose="02000000000000000000" pitchFamily="2" charset="0"/>
                          </a:rPr>
                          <m:t>𝑅</m:t>
                        </m:r>
                      </m:e>
                      <m:sup>
                        <m:r>
                          <a:rPr lang="es-MX" sz="2000" i="1">
                            <a:solidFill>
                              <a:schemeClr val="tx1"/>
                            </a:solidFill>
                            <a:latin typeface="Cambria Math" panose="02040503050406030204" pitchFamily="18" charset="0"/>
                            <a:ea typeface="Roboto" panose="02000000000000000000" pitchFamily="2" charset="0"/>
                          </a:rPr>
                          <m:t>−1</m:t>
                        </m:r>
                      </m:sup>
                    </m:sSup>
                  </m:oMath>
                </a14:m>
                <a:r>
                  <a:rPr lang="es-MX" sz="2000" dirty="0">
                    <a:latin typeface="+mn-lt"/>
                    <a:ea typeface="Roboto" panose="02000000000000000000" pitchFamily="2" charset="0"/>
                  </a:rPr>
                  <a:t> una función?</a:t>
                </a:r>
              </a:p>
              <a:p>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533400" y="1301870"/>
                <a:ext cx="11443971" cy="2698630"/>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5938858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14229" y="96038"/>
            <a:ext cx="880642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9960" y="780067"/>
            <a:ext cx="10850629"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Ejemplo 9 - Solución</a:t>
            </a: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14229" y="1301870"/>
            <a:ext cx="11135444"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lphaLcPeriod"/>
            </a:pPr>
            <a:r>
              <a:rPr lang="es-MX" sz="2000" dirty="0">
                <a:latin typeface="+mn-lt"/>
                <a:ea typeface="Roboto" panose="02000000000000000000" pitchFamily="2" charset="0"/>
              </a:rPr>
              <a:t>Tenemos:</a:t>
            </a:r>
          </a:p>
          <a:p>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76D6224B-81F4-4CFC-AAE7-D6163BF9C28C}"/>
                  </a:ext>
                </a:extLst>
              </p:cNvPr>
              <p:cNvSpPr txBox="1">
                <a:spLocks/>
              </p:cNvSpPr>
              <p:nvPr/>
            </p:nvSpPr>
            <p:spPr>
              <a:xfrm>
                <a:off x="414229" y="6141433"/>
                <a:ext cx="11135444"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lphaLcPeriod" startAt="2"/>
                </a:pPr>
                <a14:m>
                  <m:oMath xmlns:m="http://schemas.openxmlformats.org/officeDocument/2006/math">
                    <m:sSup>
                      <m:sSupPr>
                        <m:ctrlPr>
                          <a:rPr lang="es-MX" sz="2000" i="1" smtClean="0">
                            <a:solidFill>
                              <a:schemeClr val="tx1"/>
                            </a:solidFill>
                            <a:latin typeface="Cambria Math" panose="02040503050406030204" pitchFamily="18" charset="0"/>
                            <a:ea typeface="Roboto" panose="02000000000000000000" pitchFamily="2" charset="0"/>
                          </a:rPr>
                        </m:ctrlPr>
                      </m:sSupPr>
                      <m:e>
                        <m:r>
                          <a:rPr lang="es-MX" sz="2000" i="1">
                            <a:solidFill>
                              <a:schemeClr val="tx1"/>
                            </a:solidFill>
                            <a:latin typeface="Cambria Math" panose="02040503050406030204" pitchFamily="18" charset="0"/>
                            <a:ea typeface="Roboto" panose="02000000000000000000" pitchFamily="2" charset="0"/>
                          </a:rPr>
                          <m:t>𝑅</m:t>
                        </m:r>
                      </m:e>
                      <m:sup>
                        <m:r>
                          <a:rPr lang="es-MX" sz="2000" i="1">
                            <a:solidFill>
                              <a:schemeClr val="tx1"/>
                            </a:solidFill>
                            <a:latin typeface="Cambria Math" panose="02040503050406030204" pitchFamily="18" charset="0"/>
                            <a:ea typeface="Roboto" panose="02000000000000000000" pitchFamily="2" charset="0"/>
                          </a:rPr>
                          <m:t>−1</m:t>
                        </m:r>
                      </m:sup>
                    </m:sSup>
                  </m:oMath>
                </a14:m>
                <a:r>
                  <a:rPr lang="es-MX" sz="2000" dirty="0">
                    <a:latin typeface="+mn-lt"/>
                    <a:ea typeface="Roboto" panose="02000000000000000000" pitchFamily="2" charset="0"/>
                  </a:rPr>
                  <a:t> no es una función ya que </a:t>
                </a:r>
                <a14:m>
                  <m:oMath xmlns:m="http://schemas.openxmlformats.org/officeDocument/2006/math">
                    <m:d>
                      <m:dPr>
                        <m:ctrlPr>
                          <a:rPr lang="es-MX" sz="2000" i="1">
                            <a:solidFill>
                              <a:schemeClr val="tx1"/>
                            </a:solidFill>
                            <a:latin typeface="Cambria Math" panose="02040503050406030204" pitchFamily="18" charset="0"/>
                          </a:rPr>
                        </m:ctrlPr>
                      </m:dPr>
                      <m:e>
                        <m:r>
                          <a:rPr lang="es-MX" sz="2000" b="0" i="1" smtClean="0">
                            <a:solidFill>
                              <a:schemeClr val="tx1"/>
                            </a:solidFill>
                            <a:latin typeface="Cambria Math" panose="02040503050406030204" pitchFamily="18" charset="0"/>
                          </a:rPr>
                          <m:t>2</m:t>
                        </m:r>
                        <m:r>
                          <a:rPr lang="es-MX" sz="2000" i="1">
                            <a:solidFill>
                              <a:schemeClr val="tx1"/>
                            </a:solidFill>
                            <a:latin typeface="Cambria Math" panose="02040503050406030204" pitchFamily="18" charset="0"/>
                          </a:rPr>
                          <m:t>,</m:t>
                        </m:r>
                        <m:r>
                          <a:rPr lang="es-MX" sz="2000" b="0" i="1" smtClean="0">
                            <a:solidFill>
                              <a:schemeClr val="tx1"/>
                            </a:solidFill>
                            <a:latin typeface="Cambria Math" panose="02040503050406030204" pitchFamily="18" charset="0"/>
                          </a:rPr>
                          <m:t>1</m:t>
                        </m:r>
                      </m:e>
                    </m:d>
                  </m:oMath>
                </a14:m>
                <a:r>
                  <a:rPr lang="es-MX" sz="2000" dirty="0">
                    <a:latin typeface="+mn-lt"/>
                    <a:ea typeface="Roboto" panose="02000000000000000000" pitchFamily="2" charset="0"/>
                  </a:rPr>
                  <a:t> y </a:t>
                </a:r>
                <a14:m>
                  <m:oMath xmlns:m="http://schemas.openxmlformats.org/officeDocument/2006/math">
                    <m:d>
                      <m:dPr>
                        <m:ctrlPr>
                          <a:rPr lang="es-MX" sz="2000" i="1">
                            <a:solidFill>
                              <a:schemeClr val="tx1"/>
                            </a:solidFill>
                            <a:latin typeface="Cambria Math" panose="02040503050406030204" pitchFamily="18" charset="0"/>
                          </a:rPr>
                        </m:ctrlPr>
                      </m:dPr>
                      <m:e>
                        <m:r>
                          <a:rPr lang="es-MX" sz="2000" i="1">
                            <a:solidFill>
                              <a:schemeClr val="tx1"/>
                            </a:solidFill>
                            <a:latin typeface="Cambria Math" panose="02040503050406030204" pitchFamily="18" charset="0"/>
                          </a:rPr>
                          <m:t>2,</m:t>
                        </m:r>
                        <m:r>
                          <a:rPr lang="es-MX" sz="2000" b="0" i="1" smtClean="0">
                            <a:solidFill>
                              <a:schemeClr val="tx1"/>
                            </a:solidFill>
                            <a:latin typeface="Cambria Math" panose="02040503050406030204" pitchFamily="18" charset="0"/>
                          </a:rPr>
                          <m:t>−</m:t>
                        </m:r>
                        <m:r>
                          <a:rPr lang="es-MX" sz="2000" i="1">
                            <a:solidFill>
                              <a:schemeClr val="tx1"/>
                            </a:solidFill>
                            <a:latin typeface="Cambria Math" panose="02040503050406030204" pitchFamily="18" charset="0"/>
                          </a:rPr>
                          <m:t>1</m:t>
                        </m:r>
                      </m:e>
                    </m:d>
                  </m:oMath>
                </a14:m>
                <a:r>
                  <a:rPr lang="es-MX" sz="2000" dirty="0">
                    <a:latin typeface="+mn-lt"/>
                    <a:ea typeface="Roboto" panose="02000000000000000000" pitchFamily="2" charset="0"/>
                  </a:rPr>
                  <a:t> están en </a:t>
                </a:r>
                <a14:m>
                  <m:oMath xmlns:m="http://schemas.openxmlformats.org/officeDocument/2006/math">
                    <m:sSup>
                      <m:sSupPr>
                        <m:ctrlPr>
                          <a:rPr lang="es-MX" sz="2000" i="1">
                            <a:solidFill>
                              <a:schemeClr val="tx1"/>
                            </a:solidFill>
                            <a:latin typeface="Cambria Math" panose="02040503050406030204" pitchFamily="18" charset="0"/>
                            <a:ea typeface="Roboto" panose="02000000000000000000" pitchFamily="2" charset="0"/>
                          </a:rPr>
                        </m:ctrlPr>
                      </m:sSupPr>
                      <m:e>
                        <m:r>
                          <a:rPr lang="es-MX" sz="2000" i="1">
                            <a:solidFill>
                              <a:schemeClr val="tx1"/>
                            </a:solidFill>
                            <a:latin typeface="Cambria Math" panose="02040503050406030204" pitchFamily="18" charset="0"/>
                            <a:ea typeface="Roboto" panose="02000000000000000000" pitchFamily="2" charset="0"/>
                          </a:rPr>
                          <m:t>𝑅</m:t>
                        </m:r>
                      </m:e>
                      <m:sup>
                        <m:r>
                          <a:rPr lang="es-MX" sz="2000" i="1">
                            <a:solidFill>
                              <a:schemeClr val="tx1"/>
                            </a:solidFill>
                            <a:latin typeface="Cambria Math" panose="02040503050406030204" pitchFamily="18" charset="0"/>
                            <a:ea typeface="Roboto" panose="02000000000000000000" pitchFamily="2" charset="0"/>
                          </a:rPr>
                          <m:t>−1</m:t>
                        </m:r>
                      </m:sup>
                    </m:sSup>
                  </m:oMath>
                </a14:m>
                <a:r>
                  <a:rPr lang="es-MX" sz="2000" dirty="0">
                    <a:latin typeface="+mn-lt"/>
                    <a:ea typeface="Roboto" panose="02000000000000000000" pitchFamily="2" charset="0"/>
                  </a:rPr>
                  <a:t> </a:t>
                </a:r>
              </a:p>
            </p:txBody>
          </p:sp>
        </mc:Choice>
        <mc:Fallback xmlns="">
          <p:sp>
            <p:nvSpPr>
              <p:cNvPr id="8" name="Google Shape;310;p34">
                <a:extLst>
                  <a:ext uri="{FF2B5EF4-FFF2-40B4-BE49-F238E27FC236}">
                    <a16:creationId xmlns:a16="http://schemas.microsoft.com/office/drawing/2014/main" id="{76D6224B-81F4-4CFC-AAE7-D6163BF9C28C}"/>
                  </a:ext>
                </a:extLst>
              </p:cNvPr>
              <p:cNvSpPr txBox="1">
                <a:spLocks noRot="1" noChangeAspect="1" noMove="1" noResize="1" noEditPoints="1" noAdjustHandles="1" noChangeArrowheads="1" noChangeShapeType="1" noTextEdit="1"/>
              </p:cNvSpPr>
              <p:nvPr/>
            </p:nvSpPr>
            <p:spPr>
              <a:xfrm>
                <a:off x="414229" y="6141433"/>
                <a:ext cx="11135444" cy="530942"/>
              </a:xfrm>
              <a:prstGeom prst="rect">
                <a:avLst/>
              </a:prstGeom>
              <a:blipFill>
                <a:blip r:embed="rId3"/>
                <a:stretch>
                  <a:fillRect b="-12500"/>
                </a:stretch>
              </a:blipFill>
              <a:ln>
                <a:noFill/>
              </a:ln>
            </p:spPr>
            <p:txBody>
              <a:bodyPr/>
              <a:lstStyle/>
              <a:p>
                <a:r>
                  <a:rPr lang="es-CO">
                    <a:noFill/>
                  </a:rPr>
                  <a:t> </a:t>
                </a:r>
              </a:p>
            </p:txBody>
          </p:sp>
        </mc:Fallback>
      </mc:AlternateContent>
      <p:grpSp>
        <p:nvGrpSpPr>
          <p:cNvPr id="26" name="Grupo 25">
            <a:extLst>
              <a:ext uri="{FF2B5EF4-FFF2-40B4-BE49-F238E27FC236}">
                <a16:creationId xmlns:a16="http://schemas.microsoft.com/office/drawing/2014/main" id="{F6315DB6-9E26-44A7-BA39-6D21F3933415}"/>
              </a:ext>
            </a:extLst>
          </p:cNvPr>
          <p:cNvGrpSpPr/>
          <p:nvPr/>
        </p:nvGrpSpPr>
        <p:grpSpPr>
          <a:xfrm>
            <a:off x="6056674" y="1894746"/>
            <a:ext cx="4852626" cy="4183187"/>
            <a:chOff x="7217736" y="1207398"/>
            <a:chExt cx="4130838" cy="3579621"/>
          </a:xfrm>
        </p:grpSpPr>
        <p:pic>
          <p:nvPicPr>
            <p:cNvPr id="22" name="Imagen 21">
              <a:extLst>
                <a:ext uri="{FF2B5EF4-FFF2-40B4-BE49-F238E27FC236}">
                  <a16:creationId xmlns:a16="http://schemas.microsoft.com/office/drawing/2014/main" id="{B81D514B-786A-41E0-ABB0-D669DAC41A4B}"/>
                </a:ext>
              </a:extLst>
            </p:cNvPr>
            <p:cNvPicPr>
              <a:picLocks noChangeAspect="1"/>
            </p:cNvPicPr>
            <p:nvPr/>
          </p:nvPicPr>
          <p:blipFill>
            <a:blip r:embed="rId4"/>
            <a:stretch>
              <a:fillRect/>
            </a:stretch>
          </p:blipFill>
          <p:spPr>
            <a:xfrm>
              <a:off x="8171543" y="1207398"/>
              <a:ext cx="3177031" cy="3062199"/>
            </a:xfrm>
            <a:prstGeom prst="rect">
              <a:avLst/>
            </a:prstGeom>
          </p:spPr>
        </p:pic>
        <p:pic>
          <p:nvPicPr>
            <p:cNvPr id="24" name="Imagen 23">
              <a:extLst>
                <a:ext uri="{FF2B5EF4-FFF2-40B4-BE49-F238E27FC236}">
                  <a16:creationId xmlns:a16="http://schemas.microsoft.com/office/drawing/2014/main" id="{62AD44F1-1CCA-4DDF-97C4-5B0B05EC6DBA}"/>
                </a:ext>
              </a:extLst>
            </p:cNvPr>
            <p:cNvPicPr>
              <a:picLocks noChangeAspect="1"/>
            </p:cNvPicPr>
            <p:nvPr/>
          </p:nvPicPr>
          <p:blipFill>
            <a:blip r:embed="rId5"/>
            <a:stretch>
              <a:fillRect/>
            </a:stretch>
          </p:blipFill>
          <p:spPr>
            <a:xfrm>
              <a:off x="7217736" y="3151620"/>
              <a:ext cx="2285178" cy="1635399"/>
            </a:xfrm>
            <a:prstGeom prst="rect">
              <a:avLst/>
            </a:prstGeom>
          </p:spPr>
        </p:pic>
      </p:grpSp>
      <p:grpSp>
        <p:nvGrpSpPr>
          <p:cNvPr id="23" name="Grupo 22">
            <a:extLst>
              <a:ext uri="{FF2B5EF4-FFF2-40B4-BE49-F238E27FC236}">
                <a16:creationId xmlns:a16="http://schemas.microsoft.com/office/drawing/2014/main" id="{5D0008FE-C035-4439-876D-5EE6FEF5057F}"/>
              </a:ext>
            </a:extLst>
          </p:cNvPr>
          <p:cNvGrpSpPr/>
          <p:nvPr/>
        </p:nvGrpSpPr>
        <p:grpSpPr>
          <a:xfrm>
            <a:off x="838200" y="2009142"/>
            <a:ext cx="4568520" cy="3832858"/>
            <a:chOff x="3562045" y="1301869"/>
            <a:chExt cx="3970544" cy="3357617"/>
          </a:xfrm>
        </p:grpSpPr>
        <p:pic>
          <p:nvPicPr>
            <p:cNvPr id="20" name="Imagen 19">
              <a:extLst>
                <a:ext uri="{FF2B5EF4-FFF2-40B4-BE49-F238E27FC236}">
                  <a16:creationId xmlns:a16="http://schemas.microsoft.com/office/drawing/2014/main" id="{959D4596-6DC8-4F6C-8B6F-BD7BC75DB221}"/>
                </a:ext>
              </a:extLst>
            </p:cNvPr>
            <p:cNvPicPr>
              <a:picLocks noChangeAspect="1"/>
            </p:cNvPicPr>
            <p:nvPr/>
          </p:nvPicPr>
          <p:blipFill>
            <a:blip r:embed="rId6"/>
            <a:stretch>
              <a:fillRect/>
            </a:stretch>
          </p:blipFill>
          <p:spPr>
            <a:xfrm>
              <a:off x="4484914" y="1301869"/>
              <a:ext cx="3047675" cy="2877005"/>
            </a:xfrm>
            <a:prstGeom prst="rect">
              <a:avLst/>
            </a:prstGeom>
          </p:spPr>
        </p:pic>
        <p:pic>
          <p:nvPicPr>
            <p:cNvPr id="25" name="Imagen 24">
              <a:extLst>
                <a:ext uri="{FF2B5EF4-FFF2-40B4-BE49-F238E27FC236}">
                  <a16:creationId xmlns:a16="http://schemas.microsoft.com/office/drawing/2014/main" id="{C160C3C5-7E4D-49AE-96C4-E300800F601F}"/>
                </a:ext>
              </a:extLst>
            </p:cNvPr>
            <p:cNvPicPr>
              <a:picLocks noChangeAspect="1"/>
            </p:cNvPicPr>
            <p:nvPr/>
          </p:nvPicPr>
          <p:blipFill>
            <a:blip r:embed="rId7"/>
            <a:stretch>
              <a:fillRect/>
            </a:stretch>
          </p:blipFill>
          <p:spPr>
            <a:xfrm>
              <a:off x="3562045" y="3024087"/>
              <a:ext cx="2224143" cy="1635399"/>
            </a:xfrm>
            <a:prstGeom prst="rect">
              <a:avLst/>
            </a:prstGeom>
          </p:spPr>
        </p:pic>
      </p:grpSp>
    </p:spTree>
    <p:extLst>
      <p:ext uri="{BB962C8B-B14F-4D97-AF65-F5344CB8AC3E}">
        <p14:creationId xmlns:p14="http://schemas.microsoft.com/office/powerpoint/2010/main" val="187244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74205" y="96038"/>
            <a:ext cx="874644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Relaciones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74205" y="898051"/>
            <a:ext cx="10850629"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sz="2400" b="1" dirty="0">
                <a:solidFill>
                  <a:schemeClr val="tx1"/>
                </a:solidFill>
                <a:latin typeface="+mn-lt"/>
              </a:rPr>
              <a:t>Relación identidad</a:t>
            </a: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FA035FCB-35A1-4C97-9F92-3E0C37527396}"/>
                  </a:ext>
                </a:extLst>
              </p:cNvPr>
              <p:cNvSpPr txBox="1">
                <a:spLocks/>
              </p:cNvSpPr>
              <p:nvPr/>
            </p:nvSpPr>
            <p:spPr>
              <a:xfrm>
                <a:off x="391758" y="1428993"/>
                <a:ext cx="11015521" cy="3115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Esta es una relación que solo relaciona cada </a:t>
                </a:r>
                <a:r>
                  <a:rPr lang="es-MX" sz="2000" b="1" dirty="0">
                    <a:latin typeface="+mn-lt"/>
                    <a:ea typeface="Roboto" panose="02000000000000000000" pitchFamily="2" charset="0"/>
                  </a:rPr>
                  <a:t>elemento consigo mismo</a:t>
                </a:r>
                <a:r>
                  <a:rPr lang="es-MX" sz="2000" dirty="0">
                    <a:latin typeface="+mn-lt"/>
                    <a:ea typeface="Roboto" panose="02000000000000000000" pitchFamily="2" charset="0"/>
                  </a:rPr>
                  <a:t>, y con ningún otro.</a:t>
                </a:r>
              </a:p>
              <a:p>
                <a:pPr marL="127000" indent="0">
                  <a:buNone/>
                </a:pPr>
                <a:r>
                  <a:rPr lang="es-MX" sz="2000" b="1" dirty="0">
                    <a:latin typeface="+mn-lt"/>
                    <a:ea typeface="Roboto" panose="02000000000000000000" pitchFamily="2" charset="0"/>
                  </a:rPr>
                  <a:t>Definición formal</a:t>
                </a:r>
                <a:r>
                  <a:rPr lang="es-MX" sz="2000" dirty="0">
                    <a:latin typeface="+mn-lt"/>
                    <a:ea typeface="Roboto" panose="02000000000000000000" pitchFamily="2" charset="0"/>
                  </a:rPr>
                  <a:t>: Dado un conjunto </a:t>
                </a:r>
                <a14:m>
                  <m:oMath xmlns:m="http://schemas.openxmlformats.org/officeDocument/2006/math">
                    <m:r>
                      <a:rPr lang="es-MX" sz="2000" b="0" i="1" smtClean="0">
                        <a:latin typeface="Cambria Math" panose="02040503050406030204" pitchFamily="18" charset="0"/>
                        <a:ea typeface="Cambria Math" panose="02040503050406030204" pitchFamily="18" charset="0"/>
                      </a:rPr>
                      <m:t>𝐴</m:t>
                    </m:r>
                  </m:oMath>
                </a14:m>
                <a:r>
                  <a:rPr lang="es-MX" sz="2000" dirty="0">
                    <a:latin typeface="+mn-lt"/>
                    <a:ea typeface="Roboto" panose="02000000000000000000" pitchFamily="2" charset="0"/>
                  </a:rPr>
                  <a:t>, la relación identidad </a:t>
                </a:r>
                <a14:m>
                  <m:oMath xmlns:m="http://schemas.openxmlformats.org/officeDocument/2006/math">
                    <m:r>
                      <a:rPr lang="es-MX" sz="2000" b="0" i="1">
                        <a:latin typeface="Cambria Math" panose="02040503050406030204" pitchFamily="18" charset="0"/>
                        <a:ea typeface="Cambria Math" panose="02040503050406030204" pitchFamily="18" charset="0"/>
                      </a:rPr>
                      <m:t>𝐴</m:t>
                    </m:r>
                  </m:oMath>
                </a14:m>
                <a:r>
                  <a:rPr lang="es-MX" sz="2000" dirty="0">
                    <a:latin typeface="+mn-lt"/>
                    <a:ea typeface="Roboto" panose="02000000000000000000" pitchFamily="2" charset="0"/>
                  </a:rPr>
                  <a:t>, denotada como </a:t>
                </a:r>
                <a14:m>
                  <m:oMath xmlns:m="http://schemas.openxmlformats.org/officeDocument/2006/math">
                    <m:sSub>
                      <m:sSubPr>
                        <m:ctrlPr>
                          <a:rPr lang="es-MX" sz="200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𝐼</m:t>
                        </m:r>
                      </m:e>
                      <m:sub>
                        <m:r>
                          <a:rPr lang="es-MX" sz="2000" b="0" i="1" smtClean="0">
                            <a:latin typeface="Cambria Math" panose="02040503050406030204" pitchFamily="18" charset="0"/>
                            <a:ea typeface="Cambria Math" panose="02040503050406030204" pitchFamily="18" charset="0"/>
                          </a:rPr>
                          <m:t>𝐴</m:t>
                        </m:r>
                      </m:sub>
                    </m:sSub>
                  </m:oMath>
                </a14:m>
                <a:r>
                  <a:rPr lang="es-MX" sz="2000" dirty="0">
                    <a:latin typeface="+mn-lt"/>
                    <a:ea typeface="Roboto" panose="02000000000000000000" pitchFamily="2" charset="0"/>
                  </a:rPr>
                  <a:t>, </a:t>
                </a:r>
                <a:r>
                  <a:rPr lang="es-MX" sz="2000" dirty="0">
                    <a:latin typeface="+mn-lt"/>
                  </a:rPr>
                  <a:t>es el conjunto de todos los pares ordenados donde cada elemento está relacionado consigo mismo</a:t>
                </a:r>
                <a:r>
                  <a:rPr lang="es-MX" sz="2000" dirty="0">
                    <a:latin typeface="+mn-lt"/>
                    <a:ea typeface="Roboto" panose="02000000000000000000" pitchFamily="2" charset="0"/>
                  </a:rPr>
                  <a:t>, esto es:</a:t>
                </a:r>
              </a:p>
              <a:p>
                <a:pPr marL="127000" indent="0">
                  <a:buNone/>
                </a:pPr>
                <a:endParaRPr lang="es-MX" sz="2000" dirty="0">
                  <a:latin typeface="+mn-lt"/>
                  <a:ea typeface="Roboto" panose="02000000000000000000" pitchFamily="2" charset="0"/>
                </a:endParaRPr>
              </a:p>
              <a:p>
                <a:pPr marL="127000" indent="0">
                  <a:buNone/>
                </a:pPr>
                <a:endParaRPr lang="es-MX" sz="2000" dirty="0">
                  <a:latin typeface="+mn-lt"/>
                  <a:ea typeface="Roboto" panose="02000000000000000000" pitchFamily="2" charset="0"/>
                </a:endParaRPr>
              </a:p>
              <a:p>
                <a:pPr marL="127000" indent="0">
                  <a:buNone/>
                </a:pPr>
                <a:r>
                  <a:rPr lang="es-MX" sz="2000" b="1" dirty="0">
                    <a:latin typeface="+mn-lt"/>
                    <a:ea typeface="Roboto" panose="02000000000000000000" pitchFamily="2" charset="0"/>
                  </a:rPr>
                  <a:t>Ejemplo</a:t>
                </a:r>
                <a:r>
                  <a:rPr lang="es-MX" sz="2000" dirty="0">
                    <a:latin typeface="+mn-lt"/>
                    <a:ea typeface="Roboto" panose="02000000000000000000" pitchFamily="2" charset="0"/>
                  </a:rPr>
                  <a:t>:</a:t>
                </a:r>
              </a:p>
              <a:p>
                <a:pPr marL="127000" indent="0">
                  <a:buNone/>
                </a:pPr>
                <a:r>
                  <a:rPr lang="es-MX" sz="2000" dirty="0">
                    <a:latin typeface="+mn-lt"/>
                    <a:ea typeface="Roboto" panose="02000000000000000000" pitchFamily="2" charset="0"/>
                  </a:rPr>
                  <a:t>Sean los conjuntos </a:t>
                </a:r>
                <a14:m>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𝐴</m:t>
                    </m:r>
                    <m:r>
                      <a:rPr lang="es-MX" sz="2000" b="0" i="1" smtClean="0">
                        <a:solidFill>
                          <a:schemeClr val="tx1"/>
                        </a:solidFill>
                        <a:latin typeface="Cambria Math" panose="02040503050406030204" pitchFamily="18" charset="0"/>
                        <a:ea typeface="Roboto" panose="02000000000000000000" pitchFamily="2" charset="0"/>
                      </a:rPr>
                      <m:t>=</m:t>
                    </m:r>
                    <m:d>
                      <m:dPr>
                        <m:begChr m:val="{"/>
                        <m:endChr m:val="}"/>
                        <m:ctrlPr>
                          <a:rPr lang="es-MX" sz="2000" b="0" i="1" smtClean="0">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𝑎</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𝑏</m:t>
                        </m:r>
                        <m:r>
                          <a:rPr lang="es-MX" sz="2000" b="0" i="1" smtClean="0">
                            <a:solidFill>
                              <a:schemeClr val="tx1"/>
                            </a:solidFill>
                            <a:latin typeface="Cambria Math" panose="02040503050406030204" pitchFamily="18" charset="0"/>
                            <a:ea typeface="Roboto" panose="02000000000000000000" pitchFamily="2" charset="0"/>
                          </a:rPr>
                          <m:t>,</m:t>
                        </m:r>
                        <m:r>
                          <a:rPr lang="es-MX" sz="2000" b="0" i="1" smtClean="0">
                            <a:solidFill>
                              <a:schemeClr val="tx1"/>
                            </a:solidFill>
                            <a:latin typeface="Cambria Math" panose="02040503050406030204" pitchFamily="18" charset="0"/>
                            <a:ea typeface="Roboto" panose="02000000000000000000" pitchFamily="2" charset="0"/>
                          </a:rPr>
                          <m:t>𝑐</m:t>
                        </m:r>
                      </m:e>
                    </m:d>
                  </m:oMath>
                </a14:m>
                <a:r>
                  <a:rPr lang="es-MX" sz="2000" b="0" i="1" dirty="0">
                    <a:solidFill>
                      <a:schemeClr val="tx1"/>
                    </a:solidFill>
                    <a:latin typeface="+mn-lt"/>
                    <a:ea typeface="Roboto" panose="02000000000000000000" pitchFamily="2" charset="0"/>
                  </a:rPr>
                  <a:t> </a:t>
                </a:r>
                <a:r>
                  <a:rPr lang="es-MX" sz="2000" dirty="0">
                    <a:latin typeface="+mn-lt"/>
                    <a:ea typeface="Roboto" panose="02000000000000000000" pitchFamily="2" charset="0"/>
                  </a:rPr>
                  <a:t>y </a:t>
                </a:r>
                <a14:m>
                  <m:oMath xmlns:m="http://schemas.openxmlformats.org/officeDocument/2006/math">
                    <m:r>
                      <a:rPr lang="es-MX" sz="2000" i="1">
                        <a:solidFill>
                          <a:schemeClr val="tx1"/>
                        </a:solidFill>
                        <a:latin typeface="Cambria Math" panose="02040503050406030204" pitchFamily="18" charset="0"/>
                        <a:ea typeface="Roboto" panose="02000000000000000000" pitchFamily="2" charset="0"/>
                      </a:rPr>
                      <m:t>𝐵</m:t>
                    </m:r>
                    <m:r>
                      <a:rPr lang="es-MX" sz="2000" i="1">
                        <a:solidFill>
                          <a:schemeClr val="tx1"/>
                        </a:solidFill>
                        <a:latin typeface="Cambria Math" panose="02040503050406030204" pitchFamily="18" charset="0"/>
                        <a:ea typeface="Roboto" panose="02000000000000000000" pitchFamily="2" charset="0"/>
                      </a:rPr>
                      <m:t>=</m:t>
                    </m:r>
                    <m:d>
                      <m:dPr>
                        <m:begChr m:val="{"/>
                        <m:endChr m:val="}"/>
                        <m:ctrlPr>
                          <a:rPr lang="es-MX" sz="2000" i="1">
                            <a:solidFill>
                              <a:schemeClr val="tx1"/>
                            </a:solidFill>
                            <a:latin typeface="Cambria Math" panose="02040503050406030204" pitchFamily="18" charset="0"/>
                            <a:ea typeface="Roboto" panose="02000000000000000000" pitchFamily="2" charset="0"/>
                          </a:rPr>
                        </m:ctrlPr>
                      </m:dPr>
                      <m:e>
                        <m:r>
                          <a:rPr lang="es-MX" sz="2000" b="0" i="1" smtClean="0">
                            <a:solidFill>
                              <a:schemeClr val="tx1"/>
                            </a:solidFill>
                            <a:latin typeface="Cambria Math" panose="02040503050406030204" pitchFamily="18" charset="0"/>
                            <a:ea typeface="Roboto" panose="02000000000000000000" pitchFamily="2" charset="0"/>
                          </a:rPr>
                          <m:t>1,2,3</m:t>
                        </m:r>
                      </m:e>
                    </m:d>
                  </m:oMath>
                </a14:m>
                <a:r>
                  <a:rPr lang="es-CO" sz="2000" dirty="0">
                    <a:latin typeface="+mn-lt"/>
                  </a:rPr>
                  <a:t>, obtenga la relación identidad para cada uno:</a:t>
                </a:r>
              </a:p>
            </p:txBody>
          </p:sp>
        </mc:Choice>
        <mc:Fallback xmlns="">
          <p:sp>
            <p:nvSpPr>
              <p:cNvPr id="8" name="Google Shape;310;p34">
                <a:extLst>
                  <a:ext uri="{FF2B5EF4-FFF2-40B4-BE49-F238E27FC236}">
                    <a16:creationId xmlns:a16="http://schemas.microsoft.com/office/drawing/2014/main" id="{FA035FCB-35A1-4C97-9F92-3E0C37527396}"/>
                  </a:ext>
                </a:extLst>
              </p:cNvPr>
              <p:cNvSpPr txBox="1">
                <a:spLocks noRot="1" noChangeAspect="1" noMove="1" noResize="1" noEditPoints="1" noAdjustHandles="1" noChangeArrowheads="1" noChangeShapeType="1" noTextEdit="1"/>
              </p:cNvSpPr>
              <p:nvPr/>
            </p:nvSpPr>
            <p:spPr>
              <a:xfrm>
                <a:off x="391758" y="1428993"/>
                <a:ext cx="11015521" cy="3115848"/>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FAC35029-31BE-4BFC-9516-05BEBCD2DBC3}"/>
                  </a:ext>
                </a:extLst>
              </p:cNvPr>
              <p:cNvSpPr txBox="1"/>
              <p:nvPr/>
            </p:nvSpPr>
            <p:spPr>
              <a:xfrm>
                <a:off x="4373723" y="3072287"/>
                <a:ext cx="305173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𝐼</m:t>
                          </m:r>
                        </m:e>
                        <m:sub>
                          <m:r>
                            <a:rPr lang="es-MX" sz="2000" b="0" i="1" smtClean="0">
                              <a:latin typeface="Cambria Math" panose="02040503050406030204" pitchFamily="18" charset="0"/>
                              <a:ea typeface="Roboto" panose="02000000000000000000" pitchFamily="2" charset="0"/>
                            </a:rPr>
                            <m:t>𝐴</m:t>
                          </m:r>
                        </m:sub>
                      </m:sSub>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e>
                          </m:d>
                        </m:e>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Cambria Math" panose="02040503050406030204" pitchFamily="18" charset="0"/>
                            </a:rPr>
                            <m:t>𝑥</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𝑦</m:t>
                          </m:r>
                        </m:e>
                      </m:d>
                    </m:oMath>
                  </m:oMathPara>
                </a14:m>
                <a:endParaRPr lang="es-CO" sz="2000" dirty="0"/>
              </a:p>
            </p:txBody>
          </p:sp>
        </mc:Choice>
        <mc:Fallback xmlns="">
          <p:sp>
            <p:nvSpPr>
              <p:cNvPr id="3" name="CuadroTexto 2">
                <a:extLst>
                  <a:ext uri="{FF2B5EF4-FFF2-40B4-BE49-F238E27FC236}">
                    <a16:creationId xmlns:a16="http://schemas.microsoft.com/office/drawing/2014/main" id="{FAC35029-31BE-4BFC-9516-05BEBCD2DBC3}"/>
                  </a:ext>
                </a:extLst>
              </p:cNvPr>
              <p:cNvSpPr txBox="1">
                <a:spLocks noRot="1" noChangeAspect="1" noMove="1" noResize="1" noEditPoints="1" noAdjustHandles="1" noChangeArrowheads="1" noChangeShapeType="1" noTextEdit="1"/>
              </p:cNvSpPr>
              <p:nvPr/>
            </p:nvSpPr>
            <p:spPr>
              <a:xfrm>
                <a:off x="4373723" y="3072287"/>
                <a:ext cx="3051733" cy="307777"/>
              </a:xfrm>
              <a:prstGeom prst="rect">
                <a:avLst/>
              </a:prstGeom>
              <a:blipFill>
                <a:blip r:embed="rId4"/>
                <a:stretch>
                  <a:fillRect l="-1397" b="-26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7DCD8CCC-5952-4640-A1FB-2DF1629DE5C9}"/>
                  </a:ext>
                </a:extLst>
              </p:cNvPr>
              <p:cNvSpPr txBox="1"/>
              <p:nvPr/>
            </p:nvSpPr>
            <p:spPr>
              <a:xfrm>
                <a:off x="2314895" y="5203308"/>
                <a:ext cx="276530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𝐼</m:t>
                          </m:r>
                        </m:e>
                        <m:sub>
                          <m:r>
                            <a:rPr lang="es-MX" sz="2000" b="0" i="1" smtClean="0">
                              <a:latin typeface="Cambria Math" panose="02040503050406030204" pitchFamily="18" charset="0"/>
                              <a:ea typeface="Roboto" panose="02000000000000000000" pitchFamily="2" charset="0"/>
                            </a:rPr>
                            <m:t>𝐴</m:t>
                          </m:r>
                        </m:sub>
                      </m:sSub>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𝑎</m:t>
                              </m:r>
                            </m:e>
                          </m:d>
                          <m:r>
                            <a:rPr lang="es-MX" sz="2000" b="0" i="1" smtClean="0">
                              <a:latin typeface="Cambria Math" panose="02040503050406030204" pitchFamily="18" charset="0"/>
                              <a:ea typeface="Roboto" panose="02000000000000000000" pitchFamily="2" charset="0"/>
                            </a:rPr>
                            <m:t>,</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𝑏</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𝑏</m:t>
                              </m:r>
                            </m:e>
                          </m:d>
                          <m:r>
                            <a:rPr lang="es-MX" sz="2000" b="0" i="1" smtClean="0">
                              <a:latin typeface="Cambria Math" panose="02040503050406030204" pitchFamily="18" charset="0"/>
                              <a:ea typeface="Roboto" panose="02000000000000000000" pitchFamily="2" charset="0"/>
                            </a:rPr>
                            <m:t>,</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𝑐</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𝑐</m:t>
                              </m:r>
                            </m:e>
                          </m:d>
                        </m:e>
                      </m:d>
                    </m:oMath>
                  </m:oMathPara>
                </a14:m>
                <a:endParaRPr lang="es-CO" sz="2000" dirty="0"/>
              </a:p>
            </p:txBody>
          </p:sp>
        </mc:Choice>
        <mc:Fallback xmlns="">
          <p:sp>
            <p:nvSpPr>
              <p:cNvPr id="10" name="CuadroTexto 9">
                <a:extLst>
                  <a:ext uri="{FF2B5EF4-FFF2-40B4-BE49-F238E27FC236}">
                    <a16:creationId xmlns:a16="http://schemas.microsoft.com/office/drawing/2014/main" id="{7DCD8CCC-5952-4640-A1FB-2DF1629DE5C9}"/>
                  </a:ext>
                </a:extLst>
              </p:cNvPr>
              <p:cNvSpPr txBox="1">
                <a:spLocks noRot="1" noChangeAspect="1" noMove="1" noResize="1" noEditPoints="1" noAdjustHandles="1" noChangeArrowheads="1" noChangeShapeType="1" noTextEdit="1"/>
              </p:cNvSpPr>
              <p:nvPr/>
            </p:nvSpPr>
            <p:spPr>
              <a:xfrm>
                <a:off x="2314895" y="5203308"/>
                <a:ext cx="2765309" cy="307777"/>
              </a:xfrm>
              <a:prstGeom prst="rect">
                <a:avLst/>
              </a:prstGeom>
              <a:blipFill>
                <a:blip r:embed="rId5"/>
                <a:stretch>
                  <a:fillRect l="-1766" b="-18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150A5CD-CA00-442B-8403-DA5ACB2FC721}"/>
                  </a:ext>
                </a:extLst>
              </p:cNvPr>
              <p:cNvSpPr txBox="1"/>
              <p:nvPr/>
            </p:nvSpPr>
            <p:spPr>
              <a:xfrm>
                <a:off x="6307506" y="5205842"/>
                <a:ext cx="268470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ea typeface="Roboto" panose="02000000000000000000" pitchFamily="2" charset="0"/>
                            </a:rPr>
                          </m:ctrlPr>
                        </m:sSubPr>
                        <m:e>
                          <m:r>
                            <a:rPr lang="es-MX" sz="2000" b="0" i="1" smtClean="0">
                              <a:latin typeface="Cambria Math" panose="02040503050406030204" pitchFamily="18" charset="0"/>
                              <a:ea typeface="Roboto" panose="02000000000000000000" pitchFamily="2" charset="0"/>
                            </a:rPr>
                            <m:t>𝐼</m:t>
                          </m:r>
                        </m:e>
                        <m:sub>
                          <m:r>
                            <a:rPr lang="es-MX" sz="2000" b="0" i="1" smtClean="0">
                              <a:latin typeface="Cambria Math" panose="02040503050406030204" pitchFamily="18" charset="0"/>
                              <a:ea typeface="Roboto" panose="02000000000000000000" pitchFamily="2" charset="0"/>
                            </a:rPr>
                            <m:t>𝐵</m:t>
                          </m:r>
                        </m:sub>
                      </m:sSub>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1,1</m:t>
                              </m:r>
                            </m:e>
                          </m:d>
                          <m:r>
                            <a:rPr lang="es-MX" sz="2000" b="0" i="1" smtClean="0">
                              <a:latin typeface="Cambria Math" panose="02040503050406030204" pitchFamily="18" charset="0"/>
                              <a:ea typeface="Roboto" panose="02000000000000000000" pitchFamily="2" charset="0"/>
                            </a:rPr>
                            <m:t>,</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2,2</m:t>
                              </m:r>
                            </m:e>
                          </m:d>
                          <m:r>
                            <a:rPr lang="es-MX" sz="2000" b="0" i="1" smtClean="0">
                              <a:latin typeface="Cambria Math" panose="02040503050406030204" pitchFamily="18" charset="0"/>
                              <a:ea typeface="Roboto" panose="02000000000000000000" pitchFamily="2" charset="0"/>
                            </a:rPr>
                            <m:t>,</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3,3</m:t>
                              </m:r>
                            </m:e>
                          </m:d>
                        </m:e>
                      </m:d>
                    </m:oMath>
                  </m:oMathPara>
                </a14:m>
                <a:endParaRPr lang="es-CO" sz="2000" dirty="0"/>
              </a:p>
            </p:txBody>
          </p:sp>
        </mc:Choice>
        <mc:Fallback xmlns="">
          <p:sp>
            <p:nvSpPr>
              <p:cNvPr id="7" name="CuadroTexto 6">
                <a:extLst>
                  <a:ext uri="{FF2B5EF4-FFF2-40B4-BE49-F238E27FC236}">
                    <a16:creationId xmlns:a16="http://schemas.microsoft.com/office/drawing/2014/main" id="{1150A5CD-CA00-442B-8403-DA5ACB2FC721}"/>
                  </a:ext>
                </a:extLst>
              </p:cNvPr>
              <p:cNvSpPr txBox="1">
                <a:spLocks noRot="1" noChangeAspect="1" noMove="1" noResize="1" noEditPoints="1" noAdjustHandles="1" noChangeArrowheads="1" noChangeShapeType="1" noTextEdit="1"/>
              </p:cNvSpPr>
              <p:nvPr/>
            </p:nvSpPr>
            <p:spPr>
              <a:xfrm>
                <a:off x="6307506" y="5205842"/>
                <a:ext cx="2684709" cy="307777"/>
              </a:xfrm>
              <a:prstGeom prst="rect">
                <a:avLst/>
              </a:prstGeom>
              <a:blipFill>
                <a:blip r:embed="rId6"/>
                <a:stretch>
                  <a:fillRect l="-1364" b="-18000"/>
                </a:stretch>
              </a:blipFill>
            </p:spPr>
            <p:txBody>
              <a:bodyPr/>
              <a:lstStyle/>
              <a:p>
                <a:r>
                  <a:rPr lang="es-CO">
                    <a:noFill/>
                  </a:rPr>
                  <a:t> </a:t>
                </a:r>
              </a:p>
            </p:txBody>
          </p:sp>
        </mc:Fallback>
      </mc:AlternateContent>
    </p:spTree>
    <p:extLst>
      <p:ext uri="{BB962C8B-B14F-4D97-AF65-F5344CB8AC3E}">
        <p14:creationId xmlns:p14="http://schemas.microsoft.com/office/powerpoint/2010/main" val="133706725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28757</TotalTime>
  <Words>3028</Words>
  <Application>Microsoft Office PowerPoint</Application>
  <PresentationFormat>Panorámica</PresentationFormat>
  <Paragraphs>515</Paragraphs>
  <Slides>39</Slides>
  <Notes>39</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39</vt:i4>
      </vt:variant>
    </vt:vector>
  </HeadingPairs>
  <TitlesOfParts>
    <vt:vector size="48" baseType="lpstr">
      <vt:lpstr>Consolas</vt:lpstr>
      <vt:lpstr>Arial</vt:lpstr>
      <vt:lpstr>Roboto</vt:lpstr>
      <vt:lpstr>Calibri</vt:lpstr>
      <vt:lpstr>Calibri Light</vt:lpstr>
      <vt:lpstr>Roboto Slab</vt:lpstr>
      <vt:lpstr>Cambria Math</vt:lpstr>
      <vt:lpstr>Tema de Office</vt:lpstr>
      <vt:lpstr>1_Tema de Office</vt:lpstr>
      <vt:lpstr> Matemáticas Discretas I</vt:lpstr>
      <vt:lpstr>Objetivos</vt:lpstr>
      <vt:lpstr>Introducción</vt:lpstr>
      <vt:lpstr>Introducción</vt:lpstr>
      <vt:lpstr>Introducción</vt:lpstr>
      <vt:lpstr>Introducción</vt:lpstr>
      <vt:lpstr>Introducción</vt:lpstr>
      <vt:lpstr>Introducción</vt:lpstr>
      <vt:lpstr>Conceptos básicos</vt:lpstr>
      <vt:lpstr>Conceptos básicos</vt:lpstr>
      <vt:lpstr>Conceptos básicos</vt:lpstr>
      <vt:lpstr>Conceptos básicos</vt:lpstr>
      <vt:lpstr>Conceptos básicos</vt:lpstr>
      <vt:lpstr>Conceptos básicos</vt:lpstr>
      <vt:lpstr>Conceptos básicos</vt:lpstr>
      <vt:lpstr>Conceptos básicos</vt:lpstr>
      <vt:lpstr>Conceptos básicos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lpstr>Relaciones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Matemáticas Discretas I</dc:title>
  <dc:creator>Usuario</dc:creator>
  <cp:lastModifiedBy>HENRY ALBERTO ARCILA RAMIREZ</cp:lastModifiedBy>
  <cp:revision>388</cp:revision>
  <dcterms:modified xsi:type="dcterms:W3CDTF">2026-10-29T02:57:06Z</dcterms:modified>
</cp:coreProperties>
</file>